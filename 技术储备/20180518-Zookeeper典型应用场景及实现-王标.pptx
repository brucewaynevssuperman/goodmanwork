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83" r:id="rId2"/>
    <p:sldId id="257" r:id="rId3"/>
    <p:sldId id="293" r:id="rId4"/>
    <p:sldId id="284" r:id="rId5"/>
    <p:sldId id="298" r:id="rId6"/>
    <p:sldId id="299" r:id="rId7"/>
    <p:sldId id="300" r:id="rId8"/>
    <p:sldId id="306" r:id="rId9"/>
    <p:sldId id="305" r:id="rId10"/>
    <p:sldId id="309" r:id="rId11"/>
    <p:sldId id="304" r:id="rId12"/>
    <p:sldId id="307" r:id="rId13"/>
    <p:sldId id="290" r:id="rId14"/>
    <p:sldId id="294" r:id="rId15"/>
    <p:sldId id="295" r:id="rId16"/>
    <p:sldId id="296" r:id="rId17"/>
    <p:sldId id="297" r:id="rId18"/>
    <p:sldId id="291" r:id="rId19"/>
    <p:sldId id="301" r:id="rId20"/>
    <p:sldId id="302" r:id="rId21"/>
    <p:sldId id="303" r:id="rId22"/>
    <p:sldId id="310" r:id="rId23"/>
    <p:sldId id="264" r:id="rId24"/>
  </p:sldIdLst>
  <p:sldSz cx="12192000" cy="6858000"/>
  <p:notesSz cx="6858000" cy="9144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372"/>
    <a:srgbClr val="FEB068"/>
    <a:srgbClr val="00B6BF"/>
    <a:srgbClr val="228E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04" autoAdjust="0"/>
    <p:restoredTop sz="92308" autoAdjust="0"/>
  </p:normalViewPr>
  <p:slideViewPr>
    <p:cSldViewPr snapToGrid="0" showGuides="1">
      <p:cViewPr>
        <p:scale>
          <a:sx n="75" d="100"/>
          <a:sy n="75" d="100"/>
        </p:scale>
        <p:origin x="-672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1" d="100"/>
        <a:sy n="91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3D8F82-AC35-4462-81AF-456114E02DB8}" type="datetimeFigureOut">
              <a:rPr lang="zh-CN" altLang="en-US" smtClean="0"/>
              <a:t>2018-5-18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4CAA79-63ED-4D4C-97FF-23192032DF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207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CAA79-63ED-4D4C-97FF-23192032DF9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653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4CAA79-63ED-4D4C-97FF-23192032DF9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56760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4CAA79-63ED-4D4C-97FF-23192032DF9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9848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4CAA79-63ED-4D4C-97FF-23192032DF9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98483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4CAA79-63ED-4D4C-97FF-23192032DF9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98483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4CAA79-63ED-4D4C-97FF-23192032DF9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98483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4CAA79-63ED-4D4C-97FF-23192032DF9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98483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4CAA79-63ED-4D4C-97FF-23192032DF9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98483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4CAA79-63ED-4D4C-97FF-23192032DF9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98483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4CAA79-63ED-4D4C-97FF-23192032DF9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98483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4CAA79-63ED-4D4C-97FF-23192032DF9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98483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4CAA79-63ED-4D4C-97FF-23192032DF9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9848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4CAA79-63ED-4D4C-97FF-23192032DF93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98483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4CAA79-63ED-4D4C-97FF-23192032DF93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98483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4CAA79-63ED-4D4C-97FF-23192032DF93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98483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4CAA79-63ED-4D4C-97FF-23192032DF93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98483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4CAA79-63ED-4D4C-97FF-23192032DF93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98483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4CAA79-63ED-4D4C-97FF-23192032DF93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98483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4CAA79-63ED-4D4C-97FF-23192032DF93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98483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4CAA79-63ED-4D4C-97FF-23192032DF93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98483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4CAA79-63ED-4D4C-97FF-23192032DF93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98483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4CAA79-63ED-4D4C-97FF-23192032DF93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98483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4CAA79-63ED-4D4C-97FF-23192032DF93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5529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13023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76883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9"/>
          <p:cNvSpPr>
            <a:spLocks noGrp="1"/>
          </p:cNvSpPr>
          <p:nvPr>
            <p:ph type="pic" sz="quarter" idx="10"/>
          </p:nvPr>
        </p:nvSpPr>
        <p:spPr>
          <a:xfrm>
            <a:off x="1890032" y="2432707"/>
            <a:ext cx="1585406" cy="1568930"/>
          </a:xfrm>
          <a:custGeom>
            <a:avLst/>
            <a:gdLst>
              <a:gd name="connsiteX0" fmla="*/ 792703 w 1585406"/>
              <a:gd name="connsiteY0" fmla="*/ 0 h 1568930"/>
              <a:gd name="connsiteX1" fmla="*/ 1585406 w 1585406"/>
              <a:gd name="connsiteY1" fmla="*/ 784465 h 1568930"/>
              <a:gd name="connsiteX2" fmla="*/ 792703 w 1585406"/>
              <a:gd name="connsiteY2" fmla="*/ 1568930 h 1568930"/>
              <a:gd name="connsiteX3" fmla="*/ 0 w 1585406"/>
              <a:gd name="connsiteY3" fmla="*/ 784465 h 1568930"/>
              <a:gd name="connsiteX4" fmla="*/ 792703 w 1585406"/>
              <a:gd name="connsiteY4" fmla="*/ 0 h 1568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85406" h="1568930">
                <a:moveTo>
                  <a:pt x="792703" y="0"/>
                </a:moveTo>
                <a:cubicBezTo>
                  <a:pt x="1230501" y="0"/>
                  <a:pt x="1585406" y="351217"/>
                  <a:pt x="1585406" y="784465"/>
                </a:cubicBezTo>
                <a:cubicBezTo>
                  <a:pt x="1585406" y="1217713"/>
                  <a:pt x="1230501" y="1568930"/>
                  <a:pt x="792703" y="1568930"/>
                </a:cubicBezTo>
                <a:cubicBezTo>
                  <a:pt x="354905" y="1568930"/>
                  <a:pt x="0" y="1217713"/>
                  <a:pt x="0" y="784465"/>
                </a:cubicBezTo>
                <a:cubicBezTo>
                  <a:pt x="0" y="351217"/>
                  <a:pt x="354905" y="0"/>
                  <a:pt x="79270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图片占位符 10"/>
          <p:cNvSpPr>
            <a:spLocks noGrp="1"/>
          </p:cNvSpPr>
          <p:nvPr>
            <p:ph type="pic" sz="quarter" idx="11"/>
          </p:nvPr>
        </p:nvSpPr>
        <p:spPr>
          <a:xfrm>
            <a:off x="5322565" y="2432707"/>
            <a:ext cx="1585406" cy="1568930"/>
          </a:xfrm>
          <a:custGeom>
            <a:avLst/>
            <a:gdLst>
              <a:gd name="connsiteX0" fmla="*/ 792703 w 1585406"/>
              <a:gd name="connsiteY0" fmla="*/ 0 h 1568930"/>
              <a:gd name="connsiteX1" fmla="*/ 1585406 w 1585406"/>
              <a:gd name="connsiteY1" fmla="*/ 784465 h 1568930"/>
              <a:gd name="connsiteX2" fmla="*/ 792703 w 1585406"/>
              <a:gd name="connsiteY2" fmla="*/ 1568930 h 1568930"/>
              <a:gd name="connsiteX3" fmla="*/ 0 w 1585406"/>
              <a:gd name="connsiteY3" fmla="*/ 784465 h 1568930"/>
              <a:gd name="connsiteX4" fmla="*/ 792703 w 1585406"/>
              <a:gd name="connsiteY4" fmla="*/ 0 h 1568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85406" h="1568930">
                <a:moveTo>
                  <a:pt x="792703" y="0"/>
                </a:moveTo>
                <a:cubicBezTo>
                  <a:pt x="1230501" y="0"/>
                  <a:pt x="1585406" y="351217"/>
                  <a:pt x="1585406" y="784465"/>
                </a:cubicBezTo>
                <a:cubicBezTo>
                  <a:pt x="1585406" y="1217713"/>
                  <a:pt x="1230501" y="1568930"/>
                  <a:pt x="792703" y="1568930"/>
                </a:cubicBezTo>
                <a:cubicBezTo>
                  <a:pt x="354905" y="1568930"/>
                  <a:pt x="0" y="1217713"/>
                  <a:pt x="0" y="784465"/>
                </a:cubicBezTo>
                <a:cubicBezTo>
                  <a:pt x="0" y="351217"/>
                  <a:pt x="354905" y="0"/>
                  <a:pt x="79270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2"/>
          </p:nvPr>
        </p:nvSpPr>
        <p:spPr>
          <a:xfrm>
            <a:off x="8743553" y="2432707"/>
            <a:ext cx="1585406" cy="1568930"/>
          </a:xfrm>
          <a:custGeom>
            <a:avLst/>
            <a:gdLst>
              <a:gd name="connsiteX0" fmla="*/ 792703 w 1585406"/>
              <a:gd name="connsiteY0" fmla="*/ 0 h 1568930"/>
              <a:gd name="connsiteX1" fmla="*/ 1585406 w 1585406"/>
              <a:gd name="connsiteY1" fmla="*/ 784465 h 1568930"/>
              <a:gd name="connsiteX2" fmla="*/ 792703 w 1585406"/>
              <a:gd name="connsiteY2" fmla="*/ 1568930 h 1568930"/>
              <a:gd name="connsiteX3" fmla="*/ 0 w 1585406"/>
              <a:gd name="connsiteY3" fmla="*/ 784465 h 1568930"/>
              <a:gd name="connsiteX4" fmla="*/ 792703 w 1585406"/>
              <a:gd name="connsiteY4" fmla="*/ 0 h 1568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85406" h="1568930">
                <a:moveTo>
                  <a:pt x="792703" y="0"/>
                </a:moveTo>
                <a:cubicBezTo>
                  <a:pt x="1230501" y="0"/>
                  <a:pt x="1585406" y="351217"/>
                  <a:pt x="1585406" y="784465"/>
                </a:cubicBezTo>
                <a:cubicBezTo>
                  <a:pt x="1585406" y="1217713"/>
                  <a:pt x="1230501" y="1568930"/>
                  <a:pt x="792703" y="1568930"/>
                </a:cubicBezTo>
                <a:cubicBezTo>
                  <a:pt x="354905" y="1568930"/>
                  <a:pt x="0" y="1217713"/>
                  <a:pt x="0" y="784465"/>
                </a:cubicBezTo>
                <a:cubicBezTo>
                  <a:pt x="0" y="351217"/>
                  <a:pt x="354905" y="0"/>
                  <a:pt x="79270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67454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片占位符 11"/>
          <p:cNvSpPr>
            <a:spLocks noGrp="1"/>
          </p:cNvSpPr>
          <p:nvPr>
            <p:ph type="pic" sz="quarter" idx="10"/>
          </p:nvPr>
        </p:nvSpPr>
        <p:spPr>
          <a:xfrm>
            <a:off x="0" y="1810259"/>
            <a:ext cx="4550500" cy="3595494"/>
          </a:xfrm>
          <a:custGeom>
            <a:avLst/>
            <a:gdLst>
              <a:gd name="connsiteX0" fmla="*/ 0 w 4550500"/>
              <a:gd name="connsiteY0" fmla="*/ 0 h 3595494"/>
              <a:gd name="connsiteX1" fmla="*/ 4550500 w 4550500"/>
              <a:gd name="connsiteY1" fmla="*/ 0 h 3595494"/>
              <a:gd name="connsiteX2" fmla="*/ 4550500 w 4550500"/>
              <a:gd name="connsiteY2" fmla="*/ 3595494 h 3595494"/>
              <a:gd name="connsiteX3" fmla="*/ 0 w 4550500"/>
              <a:gd name="connsiteY3" fmla="*/ 3595494 h 3595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50500" h="3595494">
                <a:moveTo>
                  <a:pt x="0" y="0"/>
                </a:moveTo>
                <a:lnTo>
                  <a:pt x="4550500" y="0"/>
                </a:lnTo>
                <a:lnTo>
                  <a:pt x="4550500" y="3595494"/>
                </a:lnTo>
                <a:lnTo>
                  <a:pt x="0" y="359549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1"/>
          </p:nvPr>
        </p:nvSpPr>
        <p:spPr>
          <a:xfrm>
            <a:off x="4599089" y="1810261"/>
            <a:ext cx="1922847" cy="1774131"/>
          </a:xfrm>
          <a:custGeom>
            <a:avLst/>
            <a:gdLst>
              <a:gd name="connsiteX0" fmla="*/ 0 w 1922847"/>
              <a:gd name="connsiteY0" fmla="*/ 0 h 1774131"/>
              <a:gd name="connsiteX1" fmla="*/ 1922847 w 1922847"/>
              <a:gd name="connsiteY1" fmla="*/ 0 h 1774131"/>
              <a:gd name="connsiteX2" fmla="*/ 1922847 w 1922847"/>
              <a:gd name="connsiteY2" fmla="*/ 1774131 h 1774131"/>
              <a:gd name="connsiteX3" fmla="*/ 0 w 1922847"/>
              <a:gd name="connsiteY3" fmla="*/ 1774131 h 1774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2847" h="1774131">
                <a:moveTo>
                  <a:pt x="0" y="0"/>
                </a:moveTo>
                <a:lnTo>
                  <a:pt x="1922847" y="0"/>
                </a:lnTo>
                <a:lnTo>
                  <a:pt x="1922847" y="1774131"/>
                </a:lnTo>
                <a:lnTo>
                  <a:pt x="0" y="177413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6570521" y="3631624"/>
            <a:ext cx="1922847" cy="1774131"/>
          </a:xfrm>
          <a:custGeom>
            <a:avLst/>
            <a:gdLst>
              <a:gd name="connsiteX0" fmla="*/ 0 w 1922847"/>
              <a:gd name="connsiteY0" fmla="*/ 0 h 1774131"/>
              <a:gd name="connsiteX1" fmla="*/ 1922847 w 1922847"/>
              <a:gd name="connsiteY1" fmla="*/ 0 h 1774131"/>
              <a:gd name="connsiteX2" fmla="*/ 1922847 w 1922847"/>
              <a:gd name="connsiteY2" fmla="*/ 1774131 h 1774131"/>
              <a:gd name="connsiteX3" fmla="*/ 0 w 1922847"/>
              <a:gd name="connsiteY3" fmla="*/ 1774131 h 1774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2847" h="1774131">
                <a:moveTo>
                  <a:pt x="0" y="0"/>
                </a:moveTo>
                <a:lnTo>
                  <a:pt x="1922847" y="0"/>
                </a:lnTo>
                <a:lnTo>
                  <a:pt x="1922847" y="1774131"/>
                </a:lnTo>
                <a:lnTo>
                  <a:pt x="0" y="177413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4" name="图片占位符 13"/>
          <p:cNvSpPr>
            <a:spLocks noGrp="1"/>
          </p:cNvSpPr>
          <p:nvPr>
            <p:ph type="pic" sz="quarter" idx="13"/>
          </p:nvPr>
        </p:nvSpPr>
        <p:spPr>
          <a:xfrm>
            <a:off x="8541954" y="1810261"/>
            <a:ext cx="1922847" cy="1774131"/>
          </a:xfrm>
          <a:custGeom>
            <a:avLst/>
            <a:gdLst>
              <a:gd name="connsiteX0" fmla="*/ 0 w 1922847"/>
              <a:gd name="connsiteY0" fmla="*/ 0 h 1774131"/>
              <a:gd name="connsiteX1" fmla="*/ 1922847 w 1922847"/>
              <a:gd name="connsiteY1" fmla="*/ 0 h 1774131"/>
              <a:gd name="connsiteX2" fmla="*/ 1922847 w 1922847"/>
              <a:gd name="connsiteY2" fmla="*/ 1774131 h 1774131"/>
              <a:gd name="connsiteX3" fmla="*/ 0 w 1922847"/>
              <a:gd name="connsiteY3" fmla="*/ 1774131 h 1774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2847" h="1774131">
                <a:moveTo>
                  <a:pt x="0" y="0"/>
                </a:moveTo>
                <a:lnTo>
                  <a:pt x="1922847" y="0"/>
                </a:lnTo>
                <a:lnTo>
                  <a:pt x="1922847" y="1774131"/>
                </a:lnTo>
                <a:lnTo>
                  <a:pt x="0" y="177413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79616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图片占位符 15"/>
          <p:cNvSpPr>
            <a:spLocks noGrp="1"/>
          </p:cNvSpPr>
          <p:nvPr>
            <p:ph type="pic" sz="quarter" idx="10"/>
          </p:nvPr>
        </p:nvSpPr>
        <p:spPr>
          <a:xfrm>
            <a:off x="1250758" y="2060848"/>
            <a:ext cx="1633640" cy="1633640"/>
          </a:xfrm>
          <a:custGeom>
            <a:avLst/>
            <a:gdLst>
              <a:gd name="connsiteX0" fmla="*/ 816820 w 1633640"/>
              <a:gd name="connsiteY0" fmla="*/ 0 h 1633640"/>
              <a:gd name="connsiteX1" fmla="*/ 1633640 w 1633640"/>
              <a:gd name="connsiteY1" fmla="*/ 816820 h 1633640"/>
              <a:gd name="connsiteX2" fmla="*/ 816820 w 1633640"/>
              <a:gd name="connsiteY2" fmla="*/ 1633640 h 1633640"/>
              <a:gd name="connsiteX3" fmla="*/ 0 w 1633640"/>
              <a:gd name="connsiteY3" fmla="*/ 816820 h 1633640"/>
              <a:gd name="connsiteX4" fmla="*/ 816820 w 1633640"/>
              <a:gd name="connsiteY4" fmla="*/ 0 h 1633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3640" h="1633640">
                <a:moveTo>
                  <a:pt x="816820" y="0"/>
                </a:moveTo>
                <a:cubicBezTo>
                  <a:pt x="1267937" y="0"/>
                  <a:pt x="1633640" y="365703"/>
                  <a:pt x="1633640" y="816820"/>
                </a:cubicBezTo>
                <a:cubicBezTo>
                  <a:pt x="1633640" y="1267937"/>
                  <a:pt x="1267937" y="1633640"/>
                  <a:pt x="816820" y="1633640"/>
                </a:cubicBezTo>
                <a:cubicBezTo>
                  <a:pt x="365703" y="1633640"/>
                  <a:pt x="0" y="1267937"/>
                  <a:pt x="0" y="816820"/>
                </a:cubicBezTo>
                <a:cubicBezTo>
                  <a:pt x="0" y="365703"/>
                  <a:pt x="365703" y="0"/>
                  <a:pt x="8168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7" name="图片占位符 16"/>
          <p:cNvSpPr>
            <a:spLocks noGrp="1"/>
          </p:cNvSpPr>
          <p:nvPr>
            <p:ph type="pic" sz="quarter" idx="11"/>
          </p:nvPr>
        </p:nvSpPr>
        <p:spPr>
          <a:xfrm>
            <a:off x="3933456" y="2060848"/>
            <a:ext cx="1633640" cy="1633640"/>
          </a:xfrm>
          <a:custGeom>
            <a:avLst/>
            <a:gdLst>
              <a:gd name="connsiteX0" fmla="*/ 816820 w 1633640"/>
              <a:gd name="connsiteY0" fmla="*/ 0 h 1633640"/>
              <a:gd name="connsiteX1" fmla="*/ 1633640 w 1633640"/>
              <a:gd name="connsiteY1" fmla="*/ 816820 h 1633640"/>
              <a:gd name="connsiteX2" fmla="*/ 816820 w 1633640"/>
              <a:gd name="connsiteY2" fmla="*/ 1633640 h 1633640"/>
              <a:gd name="connsiteX3" fmla="*/ 0 w 1633640"/>
              <a:gd name="connsiteY3" fmla="*/ 816820 h 1633640"/>
              <a:gd name="connsiteX4" fmla="*/ 816820 w 1633640"/>
              <a:gd name="connsiteY4" fmla="*/ 0 h 1633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3640" h="1633640">
                <a:moveTo>
                  <a:pt x="816820" y="0"/>
                </a:moveTo>
                <a:cubicBezTo>
                  <a:pt x="1267937" y="0"/>
                  <a:pt x="1633640" y="365703"/>
                  <a:pt x="1633640" y="816820"/>
                </a:cubicBezTo>
                <a:cubicBezTo>
                  <a:pt x="1633640" y="1267937"/>
                  <a:pt x="1267937" y="1633640"/>
                  <a:pt x="816820" y="1633640"/>
                </a:cubicBezTo>
                <a:cubicBezTo>
                  <a:pt x="365703" y="1633640"/>
                  <a:pt x="0" y="1267937"/>
                  <a:pt x="0" y="816820"/>
                </a:cubicBezTo>
                <a:cubicBezTo>
                  <a:pt x="0" y="365703"/>
                  <a:pt x="365703" y="0"/>
                  <a:pt x="8168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8" name="图片占位符 17"/>
          <p:cNvSpPr>
            <a:spLocks noGrp="1"/>
          </p:cNvSpPr>
          <p:nvPr>
            <p:ph type="pic" sz="quarter" idx="12"/>
          </p:nvPr>
        </p:nvSpPr>
        <p:spPr>
          <a:xfrm>
            <a:off x="6616154" y="2060848"/>
            <a:ext cx="1633640" cy="1633640"/>
          </a:xfrm>
          <a:custGeom>
            <a:avLst/>
            <a:gdLst>
              <a:gd name="connsiteX0" fmla="*/ 816820 w 1633640"/>
              <a:gd name="connsiteY0" fmla="*/ 0 h 1633640"/>
              <a:gd name="connsiteX1" fmla="*/ 1633640 w 1633640"/>
              <a:gd name="connsiteY1" fmla="*/ 816820 h 1633640"/>
              <a:gd name="connsiteX2" fmla="*/ 816820 w 1633640"/>
              <a:gd name="connsiteY2" fmla="*/ 1633640 h 1633640"/>
              <a:gd name="connsiteX3" fmla="*/ 0 w 1633640"/>
              <a:gd name="connsiteY3" fmla="*/ 816820 h 1633640"/>
              <a:gd name="connsiteX4" fmla="*/ 816820 w 1633640"/>
              <a:gd name="connsiteY4" fmla="*/ 0 h 1633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3640" h="1633640">
                <a:moveTo>
                  <a:pt x="816820" y="0"/>
                </a:moveTo>
                <a:cubicBezTo>
                  <a:pt x="1267937" y="0"/>
                  <a:pt x="1633640" y="365703"/>
                  <a:pt x="1633640" y="816820"/>
                </a:cubicBezTo>
                <a:cubicBezTo>
                  <a:pt x="1633640" y="1267937"/>
                  <a:pt x="1267937" y="1633640"/>
                  <a:pt x="816820" y="1633640"/>
                </a:cubicBezTo>
                <a:cubicBezTo>
                  <a:pt x="365703" y="1633640"/>
                  <a:pt x="0" y="1267937"/>
                  <a:pt x="0" y="816820"/>
                </a:cubicBezTo>
                <a:cubicBezTo>
                  <a:pt x="0" y="365703"/>
                  <a:pt x="365703" y="0"/>
                  <a:pt x="8168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9" name="图片占位符 18"/>
          <p:cNvSpPr>
            <a:spLocks noGrp="1"/>
          </p:cNvSpPr>
          <p:nvPr>
            <p:ph type="pic" sz="quarter" idx="13"/>
          </p:nvPr>
        </p:nvSpPr>
        <p:spPr>
          <a:xfrm>
            <a:off x="9298852" y="2060848"/>
            <a:ext cx="1633640" cy="1633640"/>
          </a:xfrm>
          <a:custGeom>
            <a:avLst/>
            <a:gdLst>
              <a:gd name="connsiteX0" fmla="*/ 816820 w 1633640"/>
              <a:gd name="connsiteY0" fmla="*/ 0 h 1633640"/>
              <a:gd name="connsiteX1" fmla="*/ 1633640 w 1633640"/>
              <a:gd name="connsiteY1" fmla="*/ 816820 h 1633640"/>
              <a:gd name="connsiteX2" fmla="*/ 816820 w 1633640"/>
              <a:gd name="connsiteY2" fmla="*/ 1633640 h 1633640"/>
              <a:gd name="connsiteX3" fmla="*/ 0 w 1633640"/>
              <a:gd name="connsiteY3" fmla="*/ 816820 h 1633640"/>
              <a:gd name="connsiteX4" fmla="*/ 816820 w 1633640"/>
              <a:gd name="connsiteY4" fmla="*/ 0 h 1633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3640" h="1633640">
                <a:moveTo>
                  <a:pt x="816820" y="0"/>
                </a:moveTo>
                <a:cubicBezTo>
                  <a:pt x="1267937" y="0"/>
                  <a:pt x="1633640" y="365703"/>
                  <a:pt x="1633640" y="816820"/>
                </a:cubicBezTo>
                <a:cubicBezTo>
                  <a:pt x="1633640" y="1267937"/>
                  <a:pt x="1267937" y="1633640"/>
                  <a:pt x="816820" y="1633640"/>
                </a:cubicBezTo>
                <a:cubicBezTo>
                  <a:pt x="365703" y="1633640"/>
                  <a:pt x="0" y="1267937"/>
                  <a:pt x="0" y="816820"/>
                </a:cubicBezTo>
                <a:cubicBezTo>
                  <a:pt x="0" y="365703"/>
                  <a:pt x="365703" y="0"/>
                  <a:pt x="8168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37015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871864" cy="6858000"/>
          </a:xfrm>
          <a:custGeom>
            <a:avLst/>
            <a:gdLst>
              <a:gd name="connsiteX0" fmla="*/ 0 w 4871864"/>
              <a:gd name="connsiteY0" fmla="*/ 0 h 6858000"/>
              <a:gd name="connsiteX1" fmla="*/ 2472325 w 4871864"/>
              <a:gd name="connsiteY1" fmla="*/ 0 h 6858000"/>
              <a:gd name="connsiteX2" fmla="*/ 4871864 w 4871864"/>
              <a:gd name="connsiteY2" fmla="*/ 3429000 h 6858000"/>
              <a:gd name="connsiteX3" fmla="*/ 2472325 w 4871864"/>
              <a:gd name="connsiteY3" fmla="*/ 6858000 h 6858000"/>
              <a:gd name="connsiteX4" fmla="*/ 0 w 487186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1864" h="6858000">
                <a:moveTo>
                  <a:pt x="0" y="0"/>
                </a:moveTo>
                <a:lnTo>
                  <a:pt x="2472325" y="0"/>
                </a:lnTo>
                <a:lnTo>
                  <a:pt x="4871864" y="3429000"/>
                </a:lnTo>
                <a:lnTo>
                  <a:pt x="2472325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37491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0" y="2395992"/>
            <a:ext cx="3862162" cy="2786743"/>
          </a:xfrm>
          <a:custGeom>
            <a:avLst/>
            <a:gdLst>
              <a:gd name="connsiteX0" fmla="*/ 0 w 3862162"/>
              <a:gd name="connsiteY0" fmla="*/ 0 h 2786743"/>
              <a:gd name="connsiteX1" fmla="*/ 3862162 w 3862162"/>
              <a:gd name="connsiteY1" fmla="*/ 0 h 2786743"/>
              <a:gd name="connsiteX2" fmla="*/ 3862162 w 3862162"/>
              <a:gd name="connsiteY2" fmla="*/ 2786743 h 2786743"/>
              <a:gd name="connsiteX3" fmla="*/ 0 w 3862162"/>
              <a:gd name="connsiteY3" fmla="*/ 2786743 h 2786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62162" h="2786743">
                <a:moveTo>
                  <a:pt x="0" y="0"/>
                </a:moveTo>
                <a:lnTo>
                  <a:pt x="3862162" y="0"/>
                </a:lnTo>
                <a:lnTo>
                  <a:pt x="3862162" y="2786743"/>
                </a:lnTo>
                <a:lnTo>
                  <a:pt x="0" y="278674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25540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8714717" y="4280772"/>
            <a:ext cx="1655572" cy="1655572"/>
          </a:xfrm>
          <a:custGeom>
            <a:avLst/>
            <a:gdLst>
              <a:gd name="connsiteX0" fmla="*/ 827786 w 1655572"/>
              <a:gd name="connsiteY0" fmla="*/ 0 h 1655572"/>
              <a:gd name="connsiteX1" fmla="*/ 1655572 w 1655572"/>
              <a:gd name="connsiteY1" fmla="*/ 827786 h 1655572"/>
              <a:gd name="connsiteX2" fmla="*/ 827786 w 1655572"/>
              <a:gd name="connsiteY2" fmla="*/ 1655572 h 1655572"/>
              <a:gd name="connsiteX3" fmla="*/ 0 w 1655572"/>
              <a:gd name="connsiteY3" fmla="*/ 827786 h 1655572"/>
              <a:gd name="connsiteX4" fmla="*/ 827786 w 1655572"/>
              <a:gd name="connsiteY4" fmla="*/ 0 h 1655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55572" h="1655572">
                <a:moveTo>
                  <a:pt x="827786" y="0"/>
                </a:moveTo>
                <a:cubicBezTo>
                  <a:pt x="1284960" y="0"/>
                  <a:pt x="1655572" y="370612"/>
                  <a:pt x="1655572" y="827786"/>
                </a:cubicBezTo>
                <a:cubicBezTo>
                  <a:pt x="1655572" y="1284960"/>
                  <a:pt x="1284960" y="1655572"/>
                  <a:pt x="827786" y="1655572"/>
                </a:cubicBezTo>
                <a:cubicBezTo>
                  <a:pt x="370612" y="1655572"/>
                  <a:pt x="0" y="1284960"/>
                  <a:pt x="0" y="827786"/>
                </a:cubicBezTo>
                <a:cubicBezTo>
                  <a:pt x="0" y="370612"/>
                  <a:pt x="370612" y="0"/>
                  <a:pt x="82778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81288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0" y="1532185"/>
            <a:ext cx="12192000" cy="2257178"/>
          </a:xfrm>
          <a:custGeom>
            <a:avLst/>
            <a:gdLst>
              <a:gd name="connsiteX0" fmla="*/ 0 w 12192000"/>
              <a:gd name="connsiteY0" fmla="*/ 0 h 2257178"/>
              <a:gd name="connsiteX1" fmla="*/ 12192000 w 12192000"/>
              <a:gd name="connsiteY1" fmla="*/ 0 h 2257178"/>
              <a:gd name="connsiteX2" fmla="*/ 12192000 w 12192000"/>
              <a:gd name="connsiteY2" fmla="*/ 2257178 h 2257178"/>
              <a:gd name="connsiteX3" fmla="*/ 0 w 12192000"/>
              <a:gd name="connsiteY3" fmla="*/ 2257178 h 2257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257178">
                <a:moveTo>
                  <a:pt x="0" y="0"/>
                </a:moveTo>
                <a:lnTo>
                  <a:pt x="12192000" y="0"/>
                </a:lnTo>
                <a:lnTo>
                  <a:pt x="12192000" y="2257178"/>
                </a:lnTo>
                <a:lnTo>
                  <a:pt x="0" y="22571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65210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4407512" y="2425700"/>
            <a:ext cx="3352188" cy="1917700"/>
          </a:xfrm>
          <a:custGeom>
            <a:avLst/>
            <a:gdLst>
              <a:gd name="connsiteX0" fmla="*/ 0 w 3352188"/>
              <a:gd name="connsiteY0" fmla="*/ 0 h 1917700"/>
              <a:gd name="connsiteX1" fmla="*/ 3352188 w 3352188"/>
              <a:gd name="connsiteY1" fmla="*/ 0 h 1917700"/>
              <a:gd name="connsiteX2" fmla="*/ 3352188 w 3352188"/>
              <a:gd name="connsiteY2" fmla="*/ 1917700 h 1917700"/>
              <a:gd name="connsiteX3" fmla="*/ 0 w 3352188"/>
              <a:gd name="connsiteY3" fmla="*/ 1917700 h 191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52188" h="1917700">
                <a:moveTo>
                  <a:pt x="0" y="0"/>
                </a:moveTo>
                <a:lnTo>
                  <a:pt x="3352188" y="0"/>
                </a:lnTo>
                <a:lnTo>
                  <a:pt x="3352188" y="1917700"/>
                </a:lnTo>
                <a:lnTo>
                  <a:pt x="0" y="1917700"/>
                </a:lnTo>
                <a:close/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90735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2114768" y="2366759"/>
            <a:ext cx="2845204" cy="2845206"/>
          </a:xfrm>
          <a:custGeom>
            <a:avLst/>
            <a:gdLst>
              <a:gd name="connsiteX0" fmla="*/ 1422602 w 2845204"/>
              <a:gd name="connsiteY0" fmla="*/ 0 h 2845206"/>
              <a:gd name="connsiteX1" fmla="*/ 2845204 w 2845204"/>
              <a:gd name="connsiteY1" fmla="*/ 1422603 h 2845206"/>
              <a:gd name="connsiteX2" fmla="*/ 1422602 w 2845204"/>
              <a:gd name="connsiteY2" fmla="*/ 2845206 h 2845206"/>
              <a:gd name="connsiteX3" fmla="*/ 0 w 2845204"/>
              <a:gd name="connsiteY3" fmla="*/ 1422603 h 2845206"/>
              <a:gd name="connsiteX4" fmla="*/ 1422602 w 2845204"/>
              <a:gd name="connsiteY4" fmla="*/ 0 h 2845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45204" h="2845206">
                <a:moveTo>
                  <a:pt x="1422602" y="0"/>
                </a:moveTo>
                <a:cubicBezTo>
                  <a:pt x="2208283" y="0"/>
                  <a:pt x="2845204" y="636921"/>
                  <a:pt x="2845204" y="1422603"/>
                </a:cubicBezTo>
                <a:cubicBezTo>
                  <a:pt x="2845204" y="2208285"/>
                  <a:pt x="2208283" y="2845206"/>
                  <a:pt x="1422602" y="2845206"/>
                </a:cubicBezTo>
                <a:cubicBezTo>
                  <a:pt x="636921" y="2845206"/>
                  <a:pt x="0" y="2208285"/>
                  <a:pt x="0" y="1422603"/>
                </a:cubicBezTo>
                <a:cubicBezTo>
                  <a:pt x="0" y="636921"/>
                  <a:pt x="636921" y="0"/>
                  <a:pt x="142260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66570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553026" y="1268413"/>
            <a:ext cx="3889830" cy="3889830"/>
          </a:xfrm>
          <a:custGeom>
            <a:avLst/>
            <a:gdLst>
              <a:gd name="connsiteX0" fmla="*/ 0 w 3889830"/>
              <a:gd name="connsiteY0" fmla="*/ 0 h 3889830"/>
              <a:gd name="connsiteX1" fmla="*/ 3889830 w 3889830"/>
              <a:gd name="connsiteY1" fmla="*/ 0 h 3889830"/>
              <a:gd name="connsiteX2" fmla="*/ 3889830 w 3889830"/>
              <a:gd name="connsiteY2" fmla="*/ 3889830 h 3889830"/>
              <a:gd name="connsiteX3" fmla="*/ 0 w 3889830"/>
              <a:gd name="connsiteY3" fmla="*/ 3889830 h 3889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89830" h="3889830">
                <a:moveTo>
                  <a:pt x="0" y="0"/>
                </a:moveTo>
                <a:lnTo>
                  <a:pt x="3889830" y="0"/>
                </a:lnTo>
                <a:lnTo>
                  <a:pt x="3889830" y="3889830"/>
                </a:lnTo>
                <a:lnTo>
                  <a:pt x="0" y="388983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67404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0720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71" r:id="rId4"/>
    <p:sldLayoutId id="2147483670" r:id="rId5"/>
    <p:sldLayoutId id="2147483669" r:id="rId6"/>
    <p:sldLayoutId id="2147483668" r:id="rId7"/>
    <p:sldLayoutId id="2147483667" r:id="rId8"/>
    <p:sldLayoutId id="2147483666" r:id="rId9"/>
    <p:sldLayoutId id="2147483665" r:id="rId10"/>
    <p:sldLayoutId id="2147483664" r:id="rId11"/>
    <p:sldLayoutId id="2147483663" r:id="rId1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=""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/>
          <p:cNvGrpSpPr/>
          <p:nvPr/>
        </p:nvGrpSpPr>
        <p:grpSpPr>
          <a:xfrm>
            <a:off x="1773308" y="1181099"/>
            <a:ext cx="13425710" cy="4091928"/>
            <a:chOff x="1697108" y="1219199"/>
            <a:chExt cx="13425710" cy="4091928"/>
          </a:xfrm>
        </p:grpSpPr>
        <p:sp>
          <p:nvSpPr>
            <p:cNvPr id="10" name="矩形 9"/>
            <p:cNvSpPr/>
            <p:nvPr/>
          </p:nvSpPr>
          <p:spPr>
            <a:xfrm rot="1800000">
              <a:off x="1697108" y="4403586"/>
              <a:ext cx="13425710" cy="907541"/>
            </a:xfrm>
            <a:custGeom>
              <a:avLst/>
              <a:gdLst>
                <a:gd name="connsiteX0" fmla="*/ 0 w 13677900"/>
                <a:gd name="connsiteY0" fmla="*/ 0 h 897257"/>
                <a:gd name="connsiteX1" fmla="*/ 13677900 w 13677900"/>
                <a:gd name="connsiteY1" fmla="*/ 0 h 897257"/>
                <a:gd name="connsiteX2" fmla="*/ 13677900 w 13677900"/>
                <a:gd name="connsiteY2" fmla="*/ 897257 h 897257"/>
                <a:gd name="connsiteX3" fmla="*/ 0 w 13677900"/>
                <a:gd name="connsiteY3" fmla="*/ 897257 h 897257"/>
                <a:gd name="connsiteX4" fmla="*/ 0 w 13677900"/>
                <a:gd name="connsiteY4" fmla="*/ 0 h 897257"/>
                <a:gd name="connsiteX0" fmla="*/ 0 w 13677900"/>
                <a:gd name="connsiteY0" fmla="*/ 0 h 897257"/>
                <a:gd name="connsiteX1" fmla="*/ 13677900 w 13677900"/>
                <a:gd name="connsiteY1" fmla="*/ 0 h 897257"/>
                <a:gd name="connsiteX2" fmla="*/ 13677900 w 13677900"/>
                <a:gd name="connsiteY2" fmla="*/ 897257 h 897257"/>
                <a:gd name="connsiteX3" fmla="*/ 252190 w 13677900"/>
                <a:gd name="connsiteY3" fmla="*/ 892550 h 897257"/>
                <a:gd name="connsiteX4" fmla="*/ 0 w 13677900"/>
                <a:gd name="connsiteY4" fmla="*/ 897257 h 897257"/>
                <a:gd name="connsiteX5" fmla="*/ 0 w 13677900"/>
                <a:gd name="connsiteY5" fmla="*/ 0 h 897257"/>
                <a:gd name="connsiteX0" fmla="*/ 0 w 13677900"/>
                <a:gd name="connsiteY0" fmla="*/ 10284 h 907541"/>
                <a:gd name="connsiteX1" fmla="*/ 451603 w 13677900"/>
                <a:gd name="connsiteY1" fmla="*/ 0 h 907541"/>
                <a:gd name="connsiteX2" fmla="*/ 13677900 w 13677900"/>
                <a:gd name="connsiteY2" fmla="*/ 10284 h 907541"/>
                <a:gd name="connsiteX3" fmla="*/ 13677900 w 13677900"/>
                <a:gd name="connsiteY3" fmla="*/ 907541 h 907541"/>
                <a:gd name="connsiteX4" fmla="*/ 252190 w 13677900"/>
                <a:gd name="connsiteY4" fmla="*/ 902834 h 907541"/>
                <a:gd name="connsiteX5" fmla="*/ 0 w 13677900"/>
                <a:gd name="connsiteY5" fmla="*/ 907541 h 907541"/>
                <a:gd name="connsiteX6" fmla="*/ 0 w 13677900"/>
                <a:gd name="connsiteY6" fmla="*/ 10284 h 907541"/>
                <a:gd name="connsiteX0" fmla="*/ 0 w 13677900"/>
                <a:gd name="connsiteY0" fmla="*/ 907541 h 907541"/>
                <a:gd name="connsiteX1" fmla="*/ 451603 w 13677900"/>
                <a:gd name="connsiteY1" fmla="*/ 0 h 907541"/>
                <a:gd name="connsiteX2" fmla="*/ 13677900 w 13677900"/>
                <a:gd name="connsiteY2" fmla="*/ 10284 h 907541"/>
                <a:gd name="connsiteX3" fmla="*/ 13677900 w 13677900"/>
                <a:gd name="connsiteY3" fmla="*/ 907541 h 907541"/>
                <a:gd name="connsiteX4" fmla="*/ 252190 w 13677900"/>
                <a:gd name="connsiteY4" fmla="*/ 902834 h 907541"/>
                <a:gd name="connsiteX5" fmla="*/ 0 w 13677900"/>
                <a:gd name="connsiteY5" fmla="*/ 907541 h 907541"/>
                <a:gd name="connsiteX0" fmla="*/ 0 w 13425710"/>
                <a:gd name="connsiteY0" fmla="*/ 902834 h 907541"/>
                <a:gd name="connsiteX1" fmla="*/ 199413 w 13425710"/>
                <a:gd name="connsiteY1" fmla="*/ 0 h 907541"/>
                <a:gd name="connsiteX2" fmla="*/ 13425710 w 13425710"/>
                <a:gd name="connsiteY2" fmla="*/ 10284 h 907541"/>
                <a:gd name="connsiteX3" fmla="*/ 13425710 w 13425710"/>
                <a:gd name="connsiteY3" fmla="*/ 907541 h 907541"/>
                <a:gd name="connsiteX4" fmla="*/ 0 w 13425710"/>
                <a:gd name="connsiteY4" fmla="*/ 902834 h 907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25710" h="907541">
                  <a:moveTo>
                    <a:pt x="0" y="902834"/>
                  </a:moveTo>
                  <a:lnTo>
                    <a:pt x="199413" y="0"/>
                  </a:lnTo>
                  <a:lnTo>
                    <a:pt x="13425710" y="10284"/>
                  </a:lnTo>
                  <a:lnTo>
                    <a:pt x="13425710" y="907541"/>
                  </a:lnTo>
                  <a:lnTo>
                    <a:pt x="0" y="9028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85000"/>
                    <a:alpha val="40000"/>
                  </a:schemeClr>
                </a:gs>
                <a:gs pos="84600">
                  <a:schemeClr val="bg1">
                    <a:lumMod val="95000"/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2371272" y="1219199"/>
              <a:ext cx="667658" cy="66765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4158344" y="1407884"/>
            <a:ext cx="1625600" cy="162560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1729528" y="2002969"/>
            <a:ext cx="13353088" cy="6893833"/>
            <a:chOff x="1763483" y="2002969"/>
            <a:chExt cx="13353088" cy="6893833"/>
          </a:xfrm>
        </p:grpSpPr>
        <p:sp>
          <p:nvSpPr>
            <p:cNvPr id="8" name="矩形 7"/>
            <p:cNvSpPr/>
            <p:nvPr/>
          </p:nvSpPr>
          <p:spPr>
            <a:xfrm rot="1800000">
              <a:off x="1977604" y="4383926"/>
              <a:ext cx="13138967" cy="4512876"/>
            </a:xfrm>
            <a:custGeom>
              <a:avLst/>
              <a:gdLst>
                <a:gd name="connsiteX0" fmla="*/ 0 w 13677900"/>
                <a:gd name="connsiteY0" fmla="*/ 0 h 4499376"/>
                <a:gd name="connsiteX1" fmla="*/ 13677900 w 13677900"/>
                <a:gd name="connsiteY1" fmla="*/ 0 h 4499376"/>
                <a:gd name="connsiteX2" fmla="*/ 13677900 w 13677900"/>
                <a:gd name="connsiteY2" fmla="*/ 4499376 h 4499376"/>
                <a:gd name="connsiteX3" fmla="*/ 0 w 13677900"/>
                <a:gd name="connsiteY3" fmla="*/ 4499376 h 4499376"/>
                <a:gd name="connsiteX4" fmla="*/ 0 w 13677900"/>
                <a:gd name="connsiteY4" fmla="*/ 0 h 4499376"/>
                <a:gd name="connsiteX0" fmla="*/ 0 w 13677900"/>
                <a:gd name="connsiteY0" fmla="*/ 13500 h 4512876"/>
                <a:gd name="connsiteX1" fmla="*/ 1732323 w 13677900"/>
                <a:gd name="connsiteY1" fmla="*/ 0 h 4512876"/>
                <a:gd name="connsiteX2" fmla="*/ 13677900 w 13677900"/>
                <a:gd name="connsiteY2" fmla="*/ 13500 h 4512876"/>
                <a:gd name="connsiteX3" fmla="*/ 13677900 w 13677900"/>
                <a:gd name="connsiteY3" fmla="*/ 4512876 h 4512876"/>
                <a:gd name="connsiteX4" fmla="*/ 0 w 13677900"/>
                <a:gd name="connsiteY4" fmla="*/ 4512876 h 4512876"/>
                <a:gd name="connsiteX5" fmla="*/ 0 w 13677900"/>
                <a:gd name="connsiteY5" fmla="*/ 13500 h 4512876"/>
                <a:gd name="connsiteX0" fmla="*/ 0 w 13677900"/>
                <a:gd name="connsiteY0" fmla="*/ 13500 h 4512876"/>
                <a:gd name="connsiteX1" fmla="*/ 1732323 w 13677900"/>
                <a:gd name="connsiteY1" fmla="*/ 0 h 4512876"/>
                <a:gd name="connsiteX2" fmla="*/ 13677900 w 13677900"/>
                <a:gd name="connsiteY2" fmla="*/ 13500 h 4512876"/>
                <a:gd name="connsiteX3" fmla="*/ 13677900 w 13677900"/>
                <a:gd name="connsiteY3" fmla="*/ 4512876 h 4512876"/>
                <a:gd name="connsiteX4" fmla="*/ 538933 w 13677900"/>
                <a:gd name="connsiteY4" fmla="*/ 4493446 h 4512876"/>
                <a:gd name="connsiteX5" fmla="*/ 0 w 13677900"/>
                <a:gd name="connsiteY5" fmla="*/ 4512876 h 4512876"/>
                <a:gd name="connsiteX6" fmla="*/ 0 w 13677900"/>
                <a:gd name="connsiteY6" fmla="*/ 13500 h 4512876"/>
                <a:gd name="connsiteX0" fmla="*/ 0 w 13677900"/>
                <a:gd name="connsiteY0" fmla="*/ 13500 h 4512876"/>
                <a:gd name="connsiteX1" fmla="*/ 1732323 w 13677900"/>
                <a:gd name="connsiteY1" fmla="*/ 0 h 4512876"/>
                <a:gd name="connsiteX2" fmla="*/ 13677900 w 13677900"/>
                <a:gd name="connsiteY2" fmla="*/ 13500 h 4512876"/>
                <a:gd name="connsiteX3" fmla="*/ 13677900 w 13677900"/>
                <a:gd name="connsiteY3" fmla="*/ 4512876 h 4512876"/>
                <a:gd name="connsiteX4" fmla="*/ 538933 w 13677900"/>
                <a:gd name="connsiteY4" fmla="*/ 4493446 h 4512876"/>
                <a:gd name="connsiteX5" fmla="*/ 0 w 13677900"/>
                <a:gd name="connsiteY5" fmla="*/ 13500 h 4512876"/>
                <a:gd name="connsiteX0" fmla="*/ 0 w 13138967"/>
                <a:gd name="connsiteY0" fmla="*/ 4493446 h 4512876"/>
                <a:gd name="connsiteX1" fmla="*/ 1193390 w 13138967"/>
                <a:gd name="connsiteY1" fmla="*/ 0 h 4512876"/>
                <a:gd name="connsiteX2" fmla="*/ 13138967 w 13138967"/>
                <a:gd name="connsiteY2" fmla="*/ 13500 h 4512876"/>
                <a:gd name="connsiteX3" fmla="*/ 13138967 w 13138967"/>
                <a:gd name="connsiteY3" fmla="*/ 4512876 h 4512876"/>
                <a:gd name="connsiteX4" fmla="*/ 0 w 13138967"/>
                <a:gd name="connsiteY4" fmla="*/ 4493446 h 4512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38967" h="4512876">
                  <a:moveTo>
                    <a:pt x="0" y="4493446"/>
                  </a:moveTo>
                  <a:lnTo>
                    <a:pt x="1193390" y="0"/>
                  </a:lnTo>
                  <a:lnTo>
                    <a:pt x="13138967" y="13500"/>
                  </a:lnTo>
                  <a:lnTo>
                    <a:pt x="13138967" y="4512876"/>
                  </a:lnTo>
                  <a:lnTo>
                    <a:pt x="0" y="4493446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85000"/>
                    <a:alpha val="60000"/>
                  </a:schemeClr>
                </a:gs>
                <a:gs pos="84600">
                  <a:schemeClr val="bg1">
                    <a:lumMod val="95000"/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1763483" y="2002969"/>
              <a:ext cx="3294745" cy="329474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6157888" y="1279694"/>
            <a:ext cx="5262979" cy="144655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>
              <a:defRPr/>
            </a:pPr>
            <a:r>
              <a:rPr lang="en-US" altLang="zh-CN" sz="4400" dirty="0" smtClean="0">
                <a:solidFill>
                  <a:prstClr val="black"/>
                </a:solidFill>
              </a:rPr>
              <a:t>Zookeeper</a:t>
            </a:r>
          </a:p>
          <a:p>
            <a:pPr>
              <a:defRPr/>
            </a:pPr>
            <a:r>
              <a:rPr lang="zh-CN" altLang="en-US" sz="4400" dirty="0" smtClean="0">
                <a:solidFill>
                  <a:prstClr val="black"/>
                </a:solidFill>
              </a:rPr>
              <a:t>典型应用场景及实现</a:t>
            </a:r>
            <a:endParaRPr lang="zh-CN" altLang="en-US" sz="4400" dirty="0">
              <a:solidFill>
                <a:prstClr val="black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997023" y="4702628"/>
            <a:ext cx="9144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6301206" y="4534089"/>
            <a:ext cx="5663730" cy="37305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noProof="0" dirty="0" smtClean="0">
                <a:solidFill>
                  <a:prstClr val="black"/>
                </a:solidFill>
                <a:latin typeface="微软雅黑"/>
                <a:ea typeface="微软雅黑"/>
              </a:rPr>
              <a:t>   </a:t>
            </a:r>
            <a:r>
              <a:rPr lang="en-US" altLang="zh-CN" sz="1200" noProof="0" dirty="0" smtClean="0">
                <a:solidFill>
                  <a:prstClr val="black"/>
                </a:solidFill>
                <a:latin typeface="微软雅黑"/>
                <a:ea typeface="微软雅黑"/>
              </a:rPr>
              <a:t>			</a:t>
            </a:r>
            <a:r>
              <a:rPr lang="zh-CN" altLang="en-US" sz="1600" noProof="0" dirty="0" smtClean="0">
                <a:solidFill>
                  <a:prstClr val="black"/>
                </a:solidFill>
                <a:latin typeface="微软雅黑"/>
                <a:ea typeface="微软雅黑"/>
              </a:rPr>
              <a:t>美的支付成都团队渠道组</a:t>
            </a:r>
            <a:r>
              <a:rPr lang="en-US" altLang="zh-CN" sz="1600" dirty="0" smtClean="0">
                <a:solidFill>
                  <a:prstClr val="black"/>
                </a:solidFill>
                <a:latin typeface="微软雅黑"/>
                <a:ea typeface="微软雅黑"/>
              </a:rPr>
              <a:t>-</a:t>
            </a:r>
            <a:r>
              <a:rPr lang="zh-CN" altLang="en-US" sz="1600" dirty="0" smtClean="0">
                <a:solidFill>
                  <a:prstClr val="black"/>
                </a:solidFill>
                <a:latin typeface="微软雅黑"/>
                <a:ea typeface="微软雅黑"/>
              </a:rPr>
              <a:t>王标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850274" y="4702628"/>
            <a:ext cx="12474999" cy="4416484"/>
            <a:chOff x="850274" y="4702628"/>
            <a:chExt cx="12474999" cy="4416484"/>
          </a:xfrm>
        </p:grpSpPr>
        <p:sp>
          <p:nvSpPr>
            <p:cNvPr id="11" name="矩形 10"/>
            <p:cNvSpPr/>
            <p:nvPr/>
          </p:nvSpPr>
          <p:spPr>
            <a:xfrm rot="1800000">
              <a:off x="850274" y="7513404"/>
              <a:ext cx="12474999" cy="1605708"/>
            </a:xfrm>
            <a:custGeom>
              <a:avLst/>
              <a:gdLst>
                <a:gd name="connsiteX0" fmla="*/ 0 w 13677900"/>
                <a:gd name="connsiteY0" fmla="*/ 0 h 1587113"/>
                <a:gd name="connsiteX1" fmla="*/ 13677900 w 13677900"/>
                <a:gd name="connsiteY1" fmla="*/ 0 h 1587113"/>
                <a:gd name="connsiteX2" fmla="*/ 13677900 w 13677900"/>
                <a:gd name="connsiteY2" fmla="*/ 1587113 h 1587113"/>
                <a:gd name="connsiteX3" fmla="*/ 0 w 13677900"/>
                <a:gd name="connsiteY3" fmla="*/ 1587113 h 1587113"/>
                <a:gd name="connsiteX4" fmla="*/ 0 w 13677900"/>
                <a:gd name="connsiteY4" fmla="*/ 0 h 1587113"/>
                <a:gd name="connsiteX0" fmla="*/ 0 w 13677900"/>
                <a:gd name="connsiteY0" fmla="*/ 0 h 1587113"/>
                <a:gd name="connsiteX1" fmla="*/ 1620651 w 13677900"/>
                <a:gd name="connsiteY1" fmla="*/ 6988 h 1587113"/>
                <a:gd name="connsiteX2" fmla="*/ 13677900 w 13677900"/>
                <a:gd name="connsiteY2" fmla="*/ 0 h 1587113"/>
                <a:gd name="connsiteX3" fmla="*/ 13677900 w 13677900"/>
                <a:gd name="connsiteY3" fmla="*/ 1587113 h 1587113"/>
                <a:gd name="connsiteX4" fmla="*/ 0 w 13677900"/>
                <a:gd name="connsiteY4" fmla="*/ 1587113 h 1587113"/>
                <a:gd name="connsiteX5" fmla="*/ 0 w 13677900"/>
                <a:gd name="connsiteY5" fmla="*/ 0 h 1587113"/>
                <a:gd name="connsiteX0" fmla="*/ 0 w 13677900"/>
                <a:gd name="connsiteY0" fmla="*/ 0 h 1605708"/>
                <a:gd name="connsiteX1" fmla="*/ 1620651 w 13677900"/>
                <a:gd name="connsiteY1" fmla="*/ 6988 h 1605708"/>
                <a:gd name="connsiteX2" fmla="*/ 13677900 w 13677900"/>
                <a:gd name="connsiteY2" fmla="*/ 0 h 1605708"/>
                <a:gd name="connsiteX3" fmla="*/ 13677900 w 13677900"/>
                <a:gd name="connsiteY3" fmla="*/ 1587113 h 1605708"/>
                <a:gd name="connsiteX4" fmla="*/ 1202901 w 13677900"/>
                <a:gd name="connsiteY4" fmla="*/ 1605708 h 1605708"/>
                <a:gd name="connsiteX5" fmla="*/ 0 w 13677900"/>
                <a:gd name="connsiteY5" fmla="*/ 1587113 h 1605708"/>
                <a:gd name="connsiteX6" fmla="*/ 0 w 13677900"/>
                <a:gd name="connsiteY6" fmla="*/ 0 h 1605708"/>
                <a:gd name="connsiteX0" fmla="*/ 0 w 13677900"/>
                <a:gd name="connsiteY0" fmla="*/ 0 h 1605708"/>
                <a:gd name="connsiteX1" fmla="*/ 1620651 w 13677900"/>
                <a:gd name="connsiteY1" fmla="*/ 6988 h 1605708"/>
                <a:gd name="connsiteX2" fmla="*/ 13677900 w 13677900"/>
                <a:gd name="connsiteY2" fmla="*/ 0 h 1605708"/>
                <a:gd name="connsiteX3" fmla="*/ 13677900 w 13677900"/>
                <a:gd name="connsiteY3" fmla="*/ 1587113 h 1605708"/>
                <a:gd name="connsiteX4" fmla="*/ 1202901 w 13677900"/>
                <a:gd name="connsiteY4" fmla="*/ 1605708 h 1605708"/>
                <a:gd name="connsiteX5" fmla="*/ 0 w 13677900"/>
                <a:gd name="connsiteY5" fmla="*/ 0 h 1605708"/>
                <a:gd name="connsiteX0" fmla="*/ 0 w 12474999"/>
                <a:gd name="connsiteY0" fmla="*/ 1605708 h 1605708"/>
                <a:gd name="connsiteX1" fmla="*/ 417750 w 12474999"/>
                <a:gd name="connsiteY1" fmla="*/ 6988 h 1605708"/>
                <a:gd name="connsiteX2" fmla="*/ 12474999 w 12474999"/>
                <a:gd name="connsiteY2" fmla="*/ 0 h 1605708"/>
                <a:gd name="connsiteX3" fmla="*/ 12474999 w 12474999"/>
                <a:gd name="connsiteY3" fmla="*/ 1587113 h 1605708"/>
                <a:gd name="connsiteX4" fmla="*/ 0 w 12474999"/>
                <a:gd name="connsiteY4" fmla="*/ 1605708 h 160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74999" h="1605708">
                  <a:moveTo>
                    <a:pt x="0" y="1605708"/>
                  </a:moveTo>
                  <a:lnTo>
                    <a:pt x="417750" y="6988"/>
                  </a:lnTo>
                  <a:lnTo>
                    <a:pt x="12474999" y="0"/>
                  </a:lnTo>
                  <a:lnTo>
                    <a:pt x="12474999" y="1587113"/>
                  </a:lnTo>
                  <a:lnTo>
                    <a:pt x="0" y="160570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85000"/>
                    <a:alpha val="40000"/>
                  </a:schemeClr>
                </a:gs>
                <a:gs pos="84600">
                  <a:schemeClr val="bg1">
                    <a:lumMod val="95000"/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1269995" y="4702628"/>
              <a:ext cx="1190171" cy="119017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pic>
        <p:nvPicPr>
          <p:cNvPr id="1026" name="Picture 2" descr="D:\Users\wangbiao5\Desktop\zookeeper_small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166" y="2566051"/>
            <a:ext cx="1507050" cy="2136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6048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6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" grpId="0"/>
      <p:bldP spid="1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/>
          <p:cNvGrpSpPr/>
          <p:nvPr/>
        </p:nvGrpSpPr>
        <p:grpSpPr>
          <a:xfrm>
            <a:off x="3927488" y="1371598"/>
            <a:ext cx="10871624" cy="4102647"/>
            <a:chOff x="3927488" y="1371598"/>
            <a:chExt cx="10871624" cy="4102647"/>
          </a:xfrm>
        </p:grpSpPr>
        <p:sp>
          <p:nvSpPr>
            <p:cNvPr id="30" name="矩形 29"/>
            <p:cNvSpPr/>
            <p:nvPr/>
          </p:nvSpPr>
          <p:spPr>
            <a:xfrm rot="1800000">
              <a:off x="3927488" y="3741413"/>
              <a:ext cx="10871624" cy="1732832"/>
            </a:xfrm>
            <a:custGeom>
              <a:avLst/>
              <a:gdLst>
                <a:gd name="connsiteX0" fmla="*/ 0 w 13677900"/>
                <a:gd name="connsiteY0" fmla="*/ 0 h 1718137"/>
                <a:gd name="connsiteX1" fmla="*/ 13677900 w 13677900"/>
                <a:gd name="connsiteY1" fmla="*/ 0 h 1718137"/>
                <a:gd name="connsiteX2" fmla="*/ 13677900 w 13677900"/>
                <a:gd name="connsiteY2" fmla="*/ 1718137 h 1718137"/>
                <a:gd name="connsiteX3" fmla="*/ 0 w 13677900"/>
                <a:gd name="connsiteY3" fmla="*/ 1718137 h 1718137"/>
                <a:gd name="connsiteX4" fmla="*/ 0 w 13677900"/>
                <a:gd name="connsiteY4" fmla="*/ 0 h 1718137"/>
                <a:gd name="connsiteX0" fmla="*/ 0 w 13677900"/>
                <a:gd name="connsiteY0" fmla="*/ 14695 h 1732832"/>
                <a:gd name="connsiteX1" fmla="*/ 3232208 w 13677900"/>
                <a:gd name="connsiteY1" fmla="*/ 0 h 1732832"/>
                <a:gd name="connsiteX2" fmla="*/ 13677900 w 13677900"/>
                <a:gd name="connsiteY2" fmla="*/ 14695 h 1732832"/>
                <a:gd name="connsiteX3" fmla="*/ 13677900 w 13677900"/>
                <a:gd name="connsiteY3" fmla="*/ 1732832 h 1732832"/>
                <a:gd name="connsiteX4" fmla="*/ 0 w 13677900"/>
                <a:gd name="connsiteY4" fmla="*/ 1732832 h 1732832"/>
                <a:gd name="connsiteX5" fmla="*/ 0 w 13677900"/>
                <a:gd name="connsiteY5" fmla="*/ 14695 h 1732832"/>
                <a:gd name="connsiteX0" fmla="*/ 0 w 13677900"/>
                <a:gd name="connsiteY0" fmla="*/ 14695 h 1732832"/>
                <a:gd name="connsiteX1" fmla="*/ 3232208 w 13677900"/>
                <a:gd name="connsiteY1" fmla="*/ 0 h 1732832"/>
                <a:gd name="connsiteX2" fmla="*/ 13677900 w 13677900"/>
                <a:gd name="connsiteY2" fmla="*/ 14695 h 1732832"/>
                <a:gd name="connsiteX3" fmla="*/ 13677900 w 13677900"/>
                <a:gd name="connsiteY3" fmla="*/ 1732832 h 1732832"/>
                <a:gd name="connsiteX4" fmla="*/ 2806276 w 13677900"/>
                <a:gd name="connsiteY4" fmla="*/ 1719713 h 1732832"/>
                <a:gd name="connsiteX5" fmla="*/ 0 w 13677900"/>
                <a:gd name="connsiteY5" fmla="*/ 1732832 h 1732832"/>
                <a:gd name="connsiteX6" fmla="*/ 0 w 13677900"/>
                <a:gd name="connsiteY6" fmla="*/ 14695 h 1732832"/>
                <a:gd name="connsiteX0" fmla="*/ 0 w 13677900"/>
                <a:gd name="connsiteY0" fmla="*/ 14695 h 1732832"/>
                <a:gd name="connsiteX1" fmla="*/ 3232208 w 13677900"/>
                <a:gd name="connsiteY1" fmla="*/ 0 h 1732832"/>
                <a:gd name="connsiteX2" fmla="*/ 13677900 w 13677900"/>
                <a:gd name="connsiteY2" fmla="*/ 14695 h 1732832"/>
                <a:gd name="connsiteX3" fmla="*/ 13677900 w 13677900"/>
                <a:gd name="connsiteY3" fmla="*/ 1732832 h 1732832"/>
                <a:gd name="connsiteX4" fmla="*/ 2806276 w 13677900"/>
                <a:gd name="connsiteY4" fmla="*/ 1719713 h 1732832"/>
                <a:gd name="connsiteX5" fmla="*/ 0 w 13677900"/>
                <a:gd name="connsiteY5" fmla="*/ 14695 h 1732832"/>
                <a:gd name="connsiteX0" fmla="*/ 0 w 10871624"/>
                <a:gd name="connsiteY0" fmla="*/ 1719713 h 1732832"/>
                <a:gd name="connsiteX1" fmla="*/ 425932 w 10871624"/>
                <a:gd name="connsiteY1" fmla="*/ 0 h 1732832"/>
                <a:gd name="connsiteX2" fmla="*/ 10871624 w 10871624"/>
                <a:gd name="connsiteY2" fmla="*/ 14695 h 1732832"/>
                <a:gd name="connsiteX3" fmla="*/ 10871624 w 10871624"/>
                <a:gd name="connsiteY3" fmla="*/ 1732832 h 1732832"/>
                <a:gd name="connsiteX4" fmla="*/ 0 w 10871624"/>
                <a:gd name="connsiteY4" fmla="*/ 1719713 h 1732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871624" h="1732832">
                  <a:moveTo>
                    <a:pt x="0" y="1719713"/>
                  </a:moveTo>
                  <a:lnTo>
                    <a:pt x="425932" y="0"/>
                  </a:lnTo>
                  <a:lnTo>
                    <a:pt x="10871624" y="14695"/>
                  </a:lnTo>
                  <a:lnTo>
                    <a:pt x="10871624" y="1732832"/>
                  </a:lnTo>
                  <a:lnTo>
                    <a:pt x="0" y="1719713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85000"/>
                    <a:alpha val="40000"/>
                  </a:schemeClr>
                </a:gs>
                <a:gs pos="84600">
                  <a:schemeClr val="bg1">
                    <a:lumMod val="95000"/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4209141" y="1371598"/>
              <a:ext cx="1262744" cy="126274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矩形 2"/>
          <p:cNvSpPr/>
          <p:nvPr/>
        </p:nvSpPr>
        <p:spPr>
          <a:xfrm>
            <a:off x="1407882" y="3918852"/>
            <a:ext cx="1712690" cy="1712690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" name="组合 33"/>
          <p:cNvGrpSpPr/>
          <p:nvPr/>
        </p:nvGrpSpPr>
        <p:grpSpPr>
          <a:xfrm>
            <a:off x="1915883" y="2002970"/>
            <a:ext cx="10341635" cy="5677493"/>
            <a:chOff x="1915883" y="2002970"/>
            <a:chExt cx="10341635" cy="5677493"/>
          </a:xfrm>
        </p:grpSpPr>
        <p:sp>
          <p:nvSpPr>
            <p:cNvPr id="31" name="矩形 30"/>
            <p:cNvSpPr/>
            <p:nvPr/>
          </p:nvSpPr>
          <p:spPr>
            <a:xfrm rot="1800000">
              <a:off x="2235718" y="3704028"/>
              <a:ext cx="10021800" cy="3976435"/>
            </a:xfrm>
            <a:custGeom>
              <a:avLst/>
              <a:gdLst>
                <a:gd name="connsiteX0" fmla="*/ 0 w 13677900"/>
                <a:gd name="connsiteY0" fmla="*/ 0 h 3972377"/>
                <a:gd name="connsiteX1" fmla="*/ 13677900 w 13677900"/>
                <a:gd name="connsiteY1" fmla="*/ 0 h 3972377"/>
                <a:gd name="connsiteX2" fmla="*/ 13677900 w 13677900"/>
                <a:gd name="connsiteY2" fmla="*/ 3972377 h 3972377"/>
                <a:gd name="connsiteX3" fmla="*/ 0 w 13677900"/>
                <a:gd name="connsiteY3" fmla="*/ 3972377 h 3972377"/>
                <a:gd name="connsiteX4" fmla="*/ 0 w 13677900"/>
                <a:gd name="connsiteY4" fmla="*/ 0 h 3972377"/>
                <a:gd name="connsiteX0" fmla="*/ 0 w 13677900"/>
                <a:gd name="connsiteY0" fmla="*/ 0 h 3972377"/>
                <a:gd name="connsiteX1" fmla="*/ 13677900 w 13677900"/>
                <a:gd name="connsiteY1" fmla="*/ 0 h 3972377"/>
                <a:gd name="connsiteX2" fmla="*/ 13677900 w 13677900"/>
                <a:gd name="connsiteY2" fmla="*/ 3972377 h 3972377"/>
                <a:gd name="connsiteX3" fmla="*/ 3656100 w 13677900"/>
                <a:gd name="connsiteY3" fmla="*/ 3965562 h 3972377"/>
                <a:gd name="connsiteX4" fmla="*/ 0 w 13677900"/>
                <a:gd name="connsiteY4" fmla="*/ 3972377 h 3972377"/>
                <a:gd name="connsiteX5" fmla="*/ 0 w 13677900"/>
                <a:gd name="connsiteY5" fmla="*/ 0 h 3972377"/>
                <a:gd name="connsiteX0" fmla="*/ 0 w 13677900"/>
                <a:gd name="connsiteY0" fmla="*/ 4058 h 3976435"/>
                <a:gd name="connsiteX1" fmla="*/ 4733999 w 13677900"/>
                <a:gd name="connsiteY1" fmla="*/ 0 h 3976435"/>
                <a:gd name="connsiteX2" fmla="*/ 13677900 w 13677900"/>
                <a:gd name="connsiteY2" fmla="*/ 4058 h 3976435"/>
                <a:gd name="connsiteX3" fmla="*/ 13677900 w 13677900"/>
                <a:gd name="connsiteY3" fmla="*/ 3976435 h 3976435"/>
                <a:gd name="connsiteX4" fmla="*/ 3656100 w 13677900"/>
                <a:gd name="connsiteY4" fmla="*/ 3969620 h 3976435"/>
                <a:gd name="connsiteX5" fmla="*/ 0 w 13677900"/>
                <a:gd name="connsiteY5" fmla="*/ 3976435 h 3976435"/>
                <a:gd name="connsiteX6" fmla="*/ 0 w 13677900"/>
                <a:gd name="connsiteY6" fmla="*/ 4058 h 3976435"/>
                <a:gd name="connsiteX0" fmla="*/ 0 w 13677900"/>
                <a:gd name="connsiteY0" fmla="*/ 3976435 h 3976435"/>
                <a:gd name="connsiteX1" fmla="*/ 4733999 w 13677900"/>
                <a:gd name="connsiteY1" fmla="*/ 0 h 3976435"/>
                <a:gd name="connsiteX2" fmla="*/ 13677900 w 13677900"/>
                <a:gd name="connsiteY2" fmla="*/ 4058 h 3976435"/>
                <a:gd name="connsiteX3" fmla="*/ 13677900 w 13677900"/>
                <a:gd name="connsiteY3" fmla="*/ 3976435 h 3976435"/>
                <a:gd name="connsiteX4" fmla="*/ 3656100 w 13677900"/>
                <a:gd name="connsiteY4" fmla="*/ 3969620 h 3976435"/>
                <a:gd name="connsiteX5" fmla="*/ 0 w 13677900"/>
                <a:gd name="connsiteY5" fmla="*/ 3976435 h 3976435"/>
                <a:gd name="connsiteX0" fmla="*/ 0 w 10021800"/>
                <a:gd name="connsiteY0" fmla="*/ 3969620 h 3976435"/>
                <a:gd name="connsiteX1" fmla="*/ 1077899 w 10021800"/>
                <a:gd name="connsiteY1" fmla="*/ 0 h 3976435"/>
                <a:gd name="connsiteX2" fmla="*/ 10021800 w 10021800"/>
                <a:gd name="connsiteY2" fmla="*/ 4058 h 3976435"/>
                <a:gd name="connsiteX3" fmla="*/ 10021800 w 10021800"/>
                <a:gd name="connsiteY3" fmla="*/ 3976435 h 3976435"/>
                <a:gd name="connsiteX4" fmla="*/ 0 w 10021800"/>
                <a:gd name="connsiteY4" fmla="*/ 3969620 h 3976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21800" h="3976435">
                  <a:moveTo>
                    <a:pt x="0" y="3969620"/>
                  </a:moveTo>
                  <a:lnTo>
                    <a:pt x="1077899" y="0"/>
                  </a:lnTo>
                  <a:lnTo>
                    <a:pt x="10021800" y="4058"/>
                  </a:lnTo>
                  <a:lnTo>
                    <a:pt x="10021800" y="3976435"/>
                  </a:lnTo>
                  <a:lnTo>
                    <a:pt x="0" y="396962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85000"/>
                    <a:alpha val="60000"/>
                  </a:schemeClr>
                </a:gs>
                <a:gs pos="84600">
                  <a:schemeClr val="bg1">
                    <a:lumMod val="95000"/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矩形 1"/>
            <p:cNvSpPr/>
            <p:nvPr/>
          </p:nvSpPr>
          <p:spPr>
            <a:xfrm>
              <a:off x="1915883" y="2002970"/>
              <a:ext cx="2917374" cy="291737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2166546" y="3134505"/>
            <a:ext cx="24160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 smtClean="0">
                <a:solidFill>
                  <a:schemeClr val="bg1"/>
                </a:solidFill>
              </a:rPr>
              <a:t>CONTENT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2295525" y="4092575"/>
            <a:ext cx="9144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组合 34"/>
          <p:cNvGrpSpPr/>
          <p:nvPr/>
        </p:nvGrpSpPr>
        <p:grpSpPr>
          <a:xfrm>
            <a:off x="4874548" y="4963884"/>
            <a:ext cx="7235046" cy="2520778"/>
            <a:chOff x="4874548" y="4963884"/>
            <a:chExt cx="7235046" cy="2520778"/>
          </a:xfrm>
        </p:grpSpPr>
        <p:sp>
          <p:nvSpPr>
            <p:cNvPr id="32" name="矩形 31"/>
            <p:cNvSpPr/>
            <p:nvPr/>
          </p:nvSpPr>
          <p:spPr>
            <a:xfrm rot="1800000">
              <a:off x="4874548" y="6602282"/>
              <a:ext cx="7235046" cy="882380"/>
            </a:xfrm>
            <a:custGeom>
              <a:avLst/>
              <a:gdLst>
                <a:gd name="connsiteX0" fmla="*/ 0 w 13677900"/>
                <a:gd name="connsiteY0" fmla="*/ 0 h 882180"/>
                <a:gd name="connsiteX1" fmla="*/ 13677900 w 13677900"/>
                <a:gd name="connsiteY1" fmla="*/ 0 h 882180"/>
                <a:gd name="connsiteX2" fmla="*/ 13677900 w 13677900"/>
                <a:gd name="connsiteY2" fmla="*/ 882180 h 882180"/>
                <a:gd name="connsiteX3" fmla="*/ 0 w 13677900"/>
                <a:gd name="connsiteY3" fmla="*/ 882180 h 882180"/>
                <a:gd name="connsiteX4" fmla="*/ 0 w 13677900"/>
                <a:gd name="connsiteY4" fmla="*/ 0 h 882180"/>
                <a:gd name="connsiteX0" fmla="*/ 0 w 13677900"/>
                <a:gd name="connsiteY0" fmla="*/ 0 h 882180"/>
                <a:gd name="connsiteX1" fmla="*/ 13677900 w 13677900"/>
                <a:gd name="connsiteY1" fmla="*/ 0 h 882180"/>
                <a:gd name="connsiteX2" fmla="*/ 13677900 w 13677900"/>
                <a:gd name="connsiteY2" fmla="*/ 882180 h 882180"/>
                <a:gd name="connsiteX3" fmla="*/ 6442854 w 13677900"/>
                <a:gd name="connsiteY3" fmla="*/ 872397 h 882180"/>
                <a:gd name="connsiteX4" fmla="*/ 0 w 13677900"/>
                <a:gd name="connsiteY4" fmla="*/ 882180 h 882180"/>
                <a:gd name="connsiteX5" fmla="*/ 0 w 13677900"/>
                <a:gd name="connsiteY5" fmla="*/ 0 h 882180"/>
                <a:gd name="connsiteX0" fmla="*/ 0 w 13677900"/>
                <a:gd name="connsiteY0" fmla="*/ 200 h 882380"/>
                <a:gd name="connsiteX1" fmla="*/ 6704557 w 13677900"/>
                <a:gd name="connsiteY1" fmla="*/ 0 h 882380"/>
                <a:gd name="connsiteX2" fmla="*/ 13677900 w 13677900"/>
                <a:gd name="connsiteY2" fmla="*/ 200 h 882380"/>
                <a:gd name="connsiteX3" fmla="*/ 13677900 w 13677900"/>
                <a:gd name="connsiteY3" fmla="*/ 882380 h 882380"/>
                <a:gd name="connsiteX4" fmla="*/ 6442854 w 13677900"/>
                <a:gd name="connsiteY4" fmla="*/ 872597 h 882380"/>
                <a:gd name="connsiteX5" fmla="*/ 0 w 13677900"/>
                <a:gd name="connsiteY5" fmla="*/ 882380 h 882380"/>
                <a:gd name="connsiteX6" fmla="*/ 0 w 13677900"/>
                <a:gd name="connsiteY6" fmla="*/ 200 h 882380"/>
                <a:gd name="connsiteX0" fmla="*/ 0 w 13677900"/>
                <a:gd name="connsiteY0" fmla="*/ 882380 h 882380"/>
                <a:gd name="connsiteX1" fmla="*/ 6704557 w 13677900"/>
                <a:gd name="connsiteY1" fmla="*/ 0 h 882380"/>
                <a:gd name="connsiteX2" fmla="*/ 13677900 w 13677900"/>
                <a:gd name="connsiteY2" fmla="*/ 200 h 882380"/>
                <a:gd name="connsiteX3" fmla="*/ 13677900 w 13677900"/>
                <a:gd name="connsiteY3" fmla="*/ 882380 h 882380"/>
                <a:gd name="connsiteX4" fmla="*/ 6442854 w 13677900"/>
                <a:gd name="connsiteY4" fmla="*/ 872597 h 882380"/>
                <a:gd name="connsiteX5" fmla="*/ 0 w 13677900"/>
                <a:gd name="connsiteY5" fmla="*/ 882380 h 882380"/>
                <a:gd name="connsiteX0" fmla="*/ 0 w 7235046"/>
                <a:gd name="connsiteY0" fmla="*/ 872597 h 882380"/>
                <a:gd name="connsiteX1" fmla="*/ 261703 w 7235046"/>
                <a:gd name="connsiteY1" fmla="*/ 0 h 882380"/>
                <a:gd name="connsiteX2" fmla="*/ 7235046 w 7235046"/>
                <a:gd name="connsiteY2" fmla="*/ 200 h 882380"/>
                <a:gd name="connsiteX3" fmla="*/ 7235046 w 7235046"/>
                <a:gd name="connsiteY3" fmla="*/ 882380 h 882380"/>
                <a:gd name="connsiteX4" fmla="*/ 0 w 7235046"/>
                <a:gd name="connsiteY4" fmla="*/ 872597 h 882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046" h="882380">
                  <a:moveTo>
                    <a:pt x="0" y="872597"/>
                  </a:moveTo>
                  <a:lnTo>
                    <a:pt x="261703" y="0"/>
                  </a:lnTo>
                  <a:lnTo>
                    <a:pt x="7235046" y="200"/>
                  </a:lnTo>
                  <a:lnTo>
                    <a:pt x="7235046" y="882380"/>
                  </a:lnTo>
                  <a:lnTo>
                    <a:pt x="0" y="872597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85000"/>
                    <a:alpha val="40000"/>
                  </a:schemeClr>
                </a:gs>
                <a:gs pos="84600">
                  <a:schemeClr val="bg1">
                    <a:lumMod val="95000"/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5138055" y="4963884"/>
              <a:ext cx="667658" cy="66765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6629352" y="1760489"/>
            <a:ext cx="3476680" cy="707886"/>
            <a:chOff x="6629352" y="1760489"/>
            <a:chExt cx="3476680" cy="707886"/>
          </a:xfrm>
        </p:grpSpPr>
        <p:sp>
          <p:nvSpPr>
            <p:cNvPr id="11" name="文本框 10"/>
            <p:cNvSpPr txBox="1"/>
            <p:nvPr/>
          </p:nvSpPr>
          <p:spPr>
            <a:xfrm>
              <a:off x="7481596" y="1780122"/>
              <a:ext cx="2624436" cy="523220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en-US" altLang="zh-CN" sz="2800" dirty="0" smtClean="0"/>
                <a:t>Zookeeper</a:t>
              </a:r>
              <a:r>
                <a:rPr lang="zh-CN" altLang="en-US" sz="2800" dirty="0"/>
                <a:t>简介</a:t>
              </a: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6629352" y="1760489"/>
              <a:ext cx="898003" cy="707886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en-US" altLang="zh-CN" sz="4000" dirty="0" smtClean="0">
                  <a:solidFill>
                    <a:schemeClr val="bg1">
                      <a:lumMod val="65000"/>
                    </a:schemeClr>
                  </a:solidFill>
                </a:rPr>
                <a:t>01.</a:t>
              </a:r>
              <a:endParaRPr lang="zh-CN" altLang="en-US" sz="40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6629352" y="2767253"/>
            <a:ext cx="4194826" cy="707886"/>
            <a:chOff x="6629352" y="2767253"/>
            <a:chExt cx="4194826" cy="707886"/>
          </a:xfrm>
        </p:grpSpPr>
        <p:sp>
          <p:nvSpPr>
            <p:cNvPr id="19" name="文本框 18"/>
            <p:cNvSpPr txBox="1"/>
            <p:nvPr/>
          </p:nvSpPr>
          <p:spPr>
            <a:xfrm>
              <a:off x="7481596" y="2786886"/>
              <a:ext cx="3342582" cy="523220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en-US" altLang="zh-CN" sz="2800" dirty="0" smtClean="0"/>
                <a:t>Zookeeper</a:t>
              </a:r>
              <a:r>
                <a:rPr lang="zh-CN" altLang="en-US" sz="2800" dirty="0" smtClean="0"/>
                <a:t>应用场景</a:t>
              </a:r>
              <a:endParaRPr lang="zh-CN" altLang="en-US" sz="2800" dirty="0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6629352" y="2767253"/>
              <a:ext cx="898003" cy="707886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en-US" altLang="zh-CN" sz="4000" dirty="0" smtClean="0">
                  <a:solidFill>
                    <a:schemeClr val="bg1">
                      <a:lumMod val="65000"/>
                    </a:schemeClr>
                  </a:solidFill>
                </a:rPr>
                <a:t>02.</a:t>
              </a:r>
              <a:endParaRPr lang="zh-CN" altLang="en-US" sz="40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6629352" y="3774017"/>
            <a:ext cx="4194826" cy="707886"/>
            <a:chOff x="6629352" y="3774017"/>
            <a:chExt cx="4194826" cy="707886"/>
          </a:xfrm>
        </p:grpSpPr>
        <p:sp>
          <p:nvSpPr>
            <p:cNvPr id="24" name="文本框 23"/>
            <p:cNvSpPr txBox="1"/>
            <p:nvPr/>
          </p:nvSpPr>
          <p:spPr>
            <a:xfrm>
              <a:off x="7481596" y="3793650"/>
              <a:ext cx="3342582" cy="523220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en-US" altLang="zh-CN" sz="2800" dirty="0" smtClean="0"/>
                <a:t>Zookeeper</a:t>
              </a:r>
              <a:r>
                <a:rPr lang="zh-CN" altLang="en-US" sz="2800" dirty="0" smtClean="0"/>
                <a:t>日常使用</a:t>
              </a:r>
              <a:endParaRPr lang="zh-CN" altLang="en-US" sz="2800" dirty="0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6629352" y="3774017"/>
              <a:ext cx="898003" cy="707886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en-US" altLang="zh-CN" sz="4000" dirty="0" smtClean="0">
                  <a:solidFill>
                    <a:schemeClr val="bg1">
                      <a:lumMod val="65000"/>
                    </a:schemeClr>
                  </a:solidFill>
                </a:rPr>
                <a:t>03.</a:t>
              </a:r>
              <a:endParaRPr lang="zh-CN" altLang="en-US" sz="40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7481596" y="4800415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179025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6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 rot="1800000">
            <a:off x="3231017" y="4366767"/>
            <a:ext cx="9304483" cy="1956402"/>
          </a:xfrm>
          <a:custGeom>
            <a:avLst/>
            <a:gdLst>
              <a:gd name="connsiteX0" fmla="*/ 0 w 13677900"/>
              <a:gd name="connsiteY0" fmla="*/ 0 h 1941397"/>
              <a:gd name="connsiteX1" fmla="*/ 13677900 w 13677900"/>
              <a:gd name="connsiteY1" fmla="*/ 0 h 1941397"/>
              <a:gd name="connsiteX2" fmla="*/ 13677900 w 13677900"/>
              <a:gd name="connsiteY2" fmla="*/ 1941397 h 1941397"/>
              <a:gd name="connsiteX3" fmla="*/ 0 w 13677900"/>
              <a:gd name="connsiteY3" fmla="*/ 1941397 h 1941397"/>
              <a:gd name="connsiteX4" fmla="*/ 0 w 13677900"/>
              <a:gd name="connsiteY4" fmla="*/ 0 h 1941397"/>
              <a:gd name="connsiteX0" fmla="*/ 0 w 13677900"/>
              <a:gd name="connsiteY0" fmla="*/ 11087 h 1952484"/>
              <a:gd name="connsiteX1" fmla="*/ 4373417 w 13677900"/>
              <a:gd name="connsiteY1" fmla="*/ 0 h 1952484"/>
              <a:gd name="connsiteX2" fmla="*/ 13677900 w 13677900"/>
              <a:gd name="connsiteY2" fmla="*/ 11087 h 1952484"/>
              <a:gd name="connsiteX3" fmla="*/ 13677900 w 13677900"/>
              <a:gd name="connsiteY3" fmla="*/ 1952484 h 1952484"/>
              <a:gd name="connsiteX4" fmla="*/ 0 w 13677900"/>
              <a:gd name="connsiteY4" fmla="*/ 1952484 h 1952484"/>
              <a:gd name="connsiteX5" fmla="*/ 0 w 13677900"/>
              <a:gd name="connsiteY5" fmla="*/ 11087 h 1952484"/>
              <a:gd name="connsiteX0" fmla="*/ 0 w 13677900"/>
              <a:gd name="connsiteY0" fmla="*/ 11087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6" fmla="*/ 0 w 13677900"/>
              <a:gd name="connsiteY6" fmla="*/ 11087 h 1956402"/>
              <a:gd name="connsiteX0" fmla="*/ 0 w 13677900"/>
              <a:gd name="connsiteY0" fmla="*/ 1952484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0" fmla="*/ 15012 w 9304483"/>
              <a:gd name="connsiteY0" fmla="*/ 1956402 h 1956402"/>
              <a:gd name="connsiteX1" fmla="*/ 0 w 9304483"/>
              <a:gd name="connsiteY1" fmla="*/ 0 h 1956402"/>
              <a:gd name="connsiteX2" fmla="*/ 9304483 w 9304483"/>
              <a:gd name="connsiteY2" fmla="*/ 11087 h 1956402"/>
              <a:gd name="connsiteX3" fmla="*/ 9304483 w 9304483"/>
              <a:gd name="connsiteY3" fmla="*/ 1952484 h 1956402"/>
              <a:gd name="connsiteX4" fmla="*/ 15012 w 9304483"/>
              <a:gd name="connsiteY4" fmla="*/ 1956402 h 1956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483" h="1956402">
                <a:moveTo>
                  <a:pt x="15012" y="1956402"/>
                </a:moveTo>
                <a:lnTo>
                  <a:pt x="0" y="0"/>
                </a:lnTo>
                <a:lnTo>
                  <a:pt x="9304483" y="11087"/>
                </a:lnTo>
                <a:lnTo>
                  <a:pt x="9304483" y="1952484"/>
                </a:lnTo>
                <a:lnTo>
                  <a:pt x="15012" y="1956402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  <a:alpha val="40000"/>
                </a:schemeClr>
              </a:gs>
              <a:gs pos="84600">
                <a:schemeClr val="bg1">
                  <a:lumMod val="95000"/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6" name="矩形 24"/>
          <p:cNvSpPr/>
          <p:nvPr/>
        </p:nvSpPr>
        <p:spPr>
          <a:xfrm rot="1800000">
            <a:off x="7769937" y="4366767"/>
            <a:ext cx="9304483" cy="1956402"/>
          </a:xfrm>
          <a:custGeom>
            <a:avLst/>
            <a:gdLst>
              <a:gd name="connsiteX0" fmla="*/ 0 w 13677900"/>
              <a:gd name="connsiteY0" fmla="*/ 0 h 1941397"/>
              <a:gd name="connsiteX1" fmla="*/ 13677900 w 13677900"/>
              <a:gd name="connsiteY1" fmla="*/ 0 h 1941397"/>
              <a:gd name="connsiteX2" fmla="*/ 13677900 w 13677900"/>
              <a:gd name="connsiteY2" fmla="*/ 1941397 h 1941397"/>
              <a:gd name="connsiteX3" fmla="*/ 0 w 13677900"/>
              <a:gd name="connsiteY3" fmla="*/ 1941397 h 1941397"/>
              <a:gd name="connsiteX4" fmla="*/ 0 w 13677900"/>
              <a:gd name="connsiteY4" fmla="*/ 0 h 1941397"/>
              <a:gd name="connsiteX0" fmla="*/ 0 w 13677900"/>
              <a:gd name="connsiteY0" fmla="*/ 11087 h 1952484"/>
              <a:gd name="connsiteX1" fmla="*/ 4373417 w 13677900"/>
              <a:gd name="connsiteY1" fmla="*/ 0 h 1952484"/>
              <a:gd name="connsiteX2" fmla="*/ 13677900 w 13677900"/>
              <a:gd name="connsiteY2" fmla="*/ 11087 h 1952484"/>
              <a:gd name="connsiteX3" fmla="*/ 13677900 w 13677900"/>
              <a:gd name="connsiteY3" fmla="*/ 1952484 h 1952484"/>
              <a:gd name="connsiteX4" fmla="*/ 0 w 13677900"/>
              <a:gd name="connsiteY4" fmla="*/ 1952484 h 1952484"/>
              <a:gd name="connsiteX5" fmla="*/ 0 w 13677900"/>
              <a:gd name="connsiteY5" fmla="*/ 11087 h 1952484"/>
              <a:gd name="connsiteX0" fmla="*/ 0 w 13677900"/>
              <a:gd name="connsiteY0" fmla="*/ 11087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6" fmla="*/ 0 w 13677900"/>
              <a:gd name="connsiteY6" fmla="*/ 11087 h 1956402"/>
              <a:gd name="connsiteX0" fmla="*/ 0 w 13677900"/>
              <a:gd name="connsiteY0" fmla="*/ 1952484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0" fmla="*/ 15012 w 9304483"/>
              <a:gd name="connsiteY0" fmla="*/ 1956402 h 1956402"/>
              <a:gd name="connsiteX1" fmla="*/ 0 w 9304483"/>
              <a:gd name="connsiteY1" fmla="*/ 0 h 1956402"/>
              <a:gd name="connsiteX2" fmla="*/ 9304483 w 9304483"/>
              <a:gd name="connsiteY2" fmla="*/ 11087 h 1956402"/>
              <a:gd name="connsiteX3" fmla="*/ 9304483 w 9304483"/>
              <a:gd name="connsiteY3" fmla="*/ 1952484 h 1956402"/>
              <a:gd name="connsiteX4" fmla="*/ 15012 w 9304483"/>
              <a:gd name="connsiteY4" fmla="*/ 1956402 h 1956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483" h="1956402">
                <a:moveTo>
                  <a:pt x="15012" y="1956402"/>
                </a:moveTo>
                <a:lnTo>
                  <a:pt x="0" y="0"/>
                </a:lnTo>
                <a:lnTo>
                  <a:pt x="9304483" y="11087"/>
                </a:lnTo>
                <a:lnTo>
                  <a:pt x="9304483" y="1952484"/>
                </a:lnTo>
                <a:lnTo>
                  <a:pt x="15012" y="1956402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  <a:alpha val="40000"/>
                </a:schemeClr>
              </a:gs>
              <a:gs pos="84600">
                <a:schemeClr val="bg1">
                  <a:lumMod val="95000"/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169232" y="446989"/>
            <a:ext cx="2962671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dirty="0" smtClean="0">
                <a:solidFill>
                  <a:prstClr val="black"/>
                </a:solidFill>
                <a:latin typeface="Arial"/>
                <a:ea typeface="微软雅黑"/>
              </a:rPr>
              <a:t>Zookeeper</a:t>
            </a:r>
            <a:r>
              <a:rPr lang="zh-CN" altLang="en-US" sz="3200" dirty="0" smtClean="0">
                <a:solidFill>
                  <a:prstClr val="black"/>
                </a:solidFill>
                <a:latin typeface="Arial"/>
                <a:ea typeface="微软雅黑"/>
              </a:rPr>
              <a:t>简介</a:t>
            </a:r>
            <a:endParaRPr kumimoji="0" lang="zh-CN" altLang="en-US" sz="32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69233" y="1387813"/>
            <a:ext cx="10909781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dirty="0" smtClean="0"/>
              <a:t>Zookeeper</a:t>
            </a:r>
            <a:r>
              <a:rPr lang="zh-CN" altLang="en-US" dirty="0" smtClean="0"/>
              <a:t>是一个典型的发布</a:t>
            </a:r>
            <a:r>
              <a:rPr lang="en-US" altLang="zh-CN" dirty="0" smtClean="0"/>
              <a:t>/</a:t>
            </a:r>
            <a:r>
              <a:rPr lang="zh-CN" altLang="en-US" dirty="0" smtClean="0"/>
              <a:t>订阅模式的分布式数据管理与协调框架，开发人员可以使用它来进行分布式</a:t>
            </a:r>
            <a:endParaRPr lang="en-US" altLang="zh-CN" dirty="0" smtClean="0"/>
          </a:p>
          <a:p>
            <a:pPr algn="just"/>
            <a:r>
              <a:rPr lang="zh-CN" altLang="en-US" dirty="0" smtClean="0"/>
              <a:t>数据的发布与订阅。</a:t>
            </a:r>
            <a:endParaRPr lang="en-US" altLang="zh-CN" dirty="0" smtClean="0"/>
          </a:p>
          <a:p>
            <a:pPr algn="just"/>
            <a:r>
              <a:rPr lang="zh-CN" altLang="en-US" dirty="0" smtClean="0"/>
              <a:t>另一方面，通过对</a:t>
            </a:r>
            <a:r>
              <a:rPr lang="en-US" altLang="zh-CN" dirty="0" smtClean="0"/>
              <a:t>Zookeeper</a:t>
            </a:r>
            <a:r>
              <a:rPr lang="zh-CN" altLang="en-US" dirty="0" smtClean="0"/>
              <a:t>中丰富的数据节点类型进行交叉使用，</a:t>
            </a:r>
            <a:r>
              <a:rPr lang="zh-CN" altLang="en-US" dirty="0"/>
              <a:t>通过</a:t>
            </a:r>
            <a:r>
              <a:rPr lang="en-US" altLang="zh-CN" dirty="0" smtClean="0"/>
              <a:t>Watcher</a:t>
            </a:r>
            <a:r>
              <a:rPr lang="zh-CN" altLang="en-US" dirty="0" smtClean="0"/>
              <a:t>通知机制，可以非常方便</a:t>
            </a:r>
            <a:endParaRPr lang="en-US" altLang="zh-CN" dirty="0" smtClean="0"/>
          </a:p>
          <a:p>
            <a:pPr algn="just"/>
            <a:r>
              <a:rPr lang="zh-CN" altLang="en-US" dirty="0" smtClean="0"/>
              <a:t>地构建一系列分布式应用中都会涉及的核心功能。</a:t>
            </a:r>
            <a:endParaRPr lang="en-US" altLang="zh-CN" dirty="0" smtClean="0"/>
          </a:p>
          <a:p>
            <a:pPr algn="just"/>
            <a:r>
              <a:rPr lang="en-US" altLang="zh-CN" dirty="0" smtClean="0"/>
              <a:t>Zookeeper</a:t>
            </a:r>
            <a:r>
              <a:rPr lang="zh-CN" altLang="en-US" dirty="0" smtClean="0"/>
              <a:t>定位是做分布式协调，而不是储存海量数据。</a:t>
            </a:r>
            <a:endParaRPr lang="en-US" altLang="zh-CN" dirty="0" smtClean="0"/>
          </a:p>
          <a:p>
            <a:pPr algn="just"/>
            <a:endParaRPr lang="en-US" altLang="zh-CN" dirty="0" smtClean="0"/>
          </a:p>
          <a:p>
            <a:pPr algn="just"/>
            <a:r>
              <a:rPr lang="zh-CN" altLang="en-US" dirty="0" smtClean="0"/>
              <a:t>如下所示：</a:t>
            </a:r>
            <a:endParaRPr lang="en-US" altLang="zh-CN" dirty="0" smtClean="0"/>
          </a:p>
          <a:p>
            <a:pPr marL="285750" indent="-285750" algn="just">
              <a:buFont typeface="Wingdings" panose="05000000000000000000" pitchFamily="2" charset="2"/>
              <a:buChar char="l"/>
            </a:pPr>
            <a:r>
              <a:rPr lang="zh-CN" altLang="en-US" dirty="0" smtClean="0"/>
              <a:t>数据发布</a:t>
            </a:r>
            <a:r>
              <a:rPr lang="en-US" altLang="zh-CN" dirty="0" smtClean="0"/>
              <a:t>/</a:t>
            </a:r>
            <a:r>
              <a:rPr lang="zh-CN" altLang="en-US" dirty="0" smtClean="0"/>
              <a:t>订阅</a:t>
            </a:r>
            <a:endParaRPr lang="en-US" altLang="zh-CN" dirty="0" smtClean="0"/>
          </a:p>
          <a:p>
            <a:pPr marL="285750" indent="-285750" algn="just">
              <a:buFont typeface="Wingdings" panose="05000000000000000000" pitchFamily="2" charset="2"/>
              <a:buChar char="l"/>
            </a:pPr>
            <a:r>
              <a:rPr lang="zh-CN" altLang="en-US" dirty="0" smtClean="0"/>
              <a:t>负载均衡</a:t>
            </a:r>
            <a:endParaRPr lang="en-US" altLang="zh-CN" dirty="0"/>
          </a:p>
          <a:p>
            <a:pPr marL="285750" indent="-285750" algn="just">
              <a:buFont typeface="Wingdings" panose="05000000000000000000" pitchFamily="2" charset="2"/>
              <a:buChar char="l"/>
            </a:pPr>
            <a:r>
              <a:rPr lang="zh-CN" altLang="en-US" dirty="0" smtClean="0"/>
              <a:t>命名服务</a:t>
            </a:r>
            <a:endParaRPr lang="en-US" altLang="zh-CN" dirty="0" smtClean="0"/>
          </a:p>
          <a:p>
            <a:pPr marL="285750" indent="-285750" algn="just">
              <a:buFont typeface="Wingdings" panose="05000000000000000000" pitchFamily="2" charset="2"/>
              <a:buChar char="l"/>
            </a:pPr>
            <a:r>
              <a:rPr lang="zh-CN" altLang="en-US" dirty="0" smtClean="0"/>
              <a:t>分布式协调</a:t>
            </a:r>
            <a:r>
              <a:rPr lang="en-US" altLang="zh-CN" dirty="0" smtClean="0"/>
              <a:t>/</a:t>
            </a:r>
            <a:r>
              <a:rPr lang="zh-CN" altLang="en-US" dirty="0" smtClean="0"/>
              <a:t>通知</a:t>
            </a:r>
            <a:endParaRPr lang="en-US" altLang="zh-CN" dirty="0" smtClean="0"/>
          </a:p>
          <a:p>
            <a:pPr marL="285750" indent="-285750" algn="just">
              <a:buFont typeface="Wingdings" panose="05000000000000000000" pitchFamily="2" charset="2"/>
              <a:buChar char="l"/>
            </a:pPr>
            <a:r>
              <a:rPr lang="zh-CN" altLang="en-US" dirty="0" smtClean="0"/>
              <a:t>集群管理</a:t>
            </a:r>
            <a:endParaRPr lang="en-US" altLang="zh-CN" dirty="0" smtClean="0"/>
          </a:p>
          <a:p>
            <a:pPr marL="285750" indent="-285750" algn="just">
              <a:buFont typeface="Wingdings" panose="05000000000000000000" pitchFamily="2" charset="2"/>
              <a:buChar char="l"/>
            </a:pPr>
            <a:r>
              <a:rPr lang="en-US" altLang="zh-CN" dirty="0" smtClean="0"/>
              <a:t>Master</a:t>
            </a:r>
            <a:r>
              <a:rPr lang="zh-CN" altLang="en-US" dirty="0" smtClean="0"/>
              <a:t>选举</a:t>
            </a:r>
            <a:endParaRPr lang="en-US" altLang="zh-CN" dirty="0" smtClean="0"/>
          </a:p>
          <a:p>
            <a:pPr marL="285750" indent="-285750" algn="just">
              <a:buFont typeface="Wingdings" panose="05000000000000000000" pitchFamily="2" charset="2"/>
              <a:buChar char="l"/>
            </a:pPr>
            <a:r>
              <a:rPr lang="zh-CN" altLang="en-US" dirty="0" smtClean="0"/>
              <a:t>分布式锁</a:t>
            </a:r>
            <a:endParaRPr lang="en-US" altLang="zh-CN" dirty="0" smtClean="0"/>
          </a:p>
          <a:p>
            <a:pPr marL="285750" indent="-285750" algn="just">
              <a:buFont typeface="Wingdings" panose="05000000000000000000" pitchFamily="2" charset="2"/>
              <a:buChar char="l"/>
            </a:pPr>
            <a:r>
              <a:rPr lang="zh-CN" altLang="en-US" dirty="0" smtClean="0"/>
              <a:t>分布式队列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69258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 rot="1800000">
            <a:off x="3231017" y="4366767"/>
            <a:ext cx="9304483" cy="1956402"/>
          </a:xfrm>
          <a:custGeom>
            <a:avLst/>
            <a:gdLst>
              <a:gd name="connsiteX0" fmla="*/ 0 w 13677900"/>
              <a:gd name="connsiteY0" fmla="*/ 0 h 1941397"/>
              <a:gd name="connsiteX1" fmla="*/ 13677900 w 13677900"/>
              <a:gd name="connsiteY1" fmla="*/ 0 h 1941397"/>
              <a:gd name="connsiteX2" fmla="*/ 13677900 w 13677900"/>
              <a:gd name="connsiteY2" fmla="*/ 1941397 h 1941397"/>
              <a:gd name="connsiteX3" fmla="*/ 0 w 13677900"/>
              <a:gd name="connsiteY3" fmla="*/ 1941397 h 1941397"/>
              <a:gd name="connsiteX4" fmla="*/ 0 w 13677900"/>
              <a:gd name="connsiteY4" fmla="*/ 0 h 1941397"/>
              <a:gd name="connsiteX0" fmla="*/ 0 w 13677900"/>
              <a:gd name="connsiteY0" fmla="*/ 11087 h 1952484"/>
              <a:gd name="connsiteX1" fmla="*/ 4373417 w 13677900"/>
              <a:gd name="connsiteY1" fmla="*/ 0 h 1952484"/>
              <a:gd name="connsiteX2" fmla="*/ 13677900 w 13677900"/>
              <a:gd name="connsiteY2" fmla="*/ 11087 h 1952484"/>
              <a:gd name="connsiteX3" fmla="*/ 13677900 w 13677900"/>
              <a:gd name="connsiteY3" fmla="*/ 1952484 h 1952484"/>
              <a:gd name="connsiteX4" fmla="*/ 0 w 13677900"/>
              <a:gd name="connsiteY4" fmla="*/ 1952484 h 1952484"/>
              <a:gd name="connsiteX5" fmla="*/ 0 w 13677900"/>
              <a:gd name="connsiteY5" fmla="*/ 11087 h 1952484"/>
              <a:gd name="connsiteX0" fmla="*/ 0 w 13677900"/>
              <a:gd name="connsiteY0" fmla="*/ 11087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6" fmla="*/ 0 w 13677900"/>
              <a:gd name="connsiteY6" fmla="*/ 11087 h 1956402"/>
              <a:gd name="connsiteX0" fmla="*/ 0 w 13677900"/>
              <a:gd name="connsiteY0" fmla="*/ 1952484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0" fmla="*/ 15012 w 9304483"/>
              <a:gd name="connsiteY0" fmla="*/ 1956402 h 1956402"/>
              <a:gd name="connsiteX1" fmla="*/ 0 w 9304483"/>
              <a:gd name="connsiteY1" fmla="*/ 0 h 1956402"/>
              <a:gd name="connsiteX2" fmla="*/ 9304483 w 9304483"/>
              <a:gd name="connsiteY2" fmla="*/ 11087 h 1956402"/>
              <a:gd name="connsiteX3" fmla="*/ 9304483 w 9304483"/>
              <a:gd name="connsiteY3" fmla="*/ 1952484 h 1956402"/>
              <a:gd name="connsiteX4" fmla="*/ 15012 w 9304483"/>
              <a:gd name="connsiteY4" fmla="*/ 1956402 h 1956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483" h="1956402">
                <a:moveTo>
                  <a:pt x="15012" y="1956402"/>
                </a:moveTo>
                <a:lnTo>
                  <a:pt x="0" y="0"/>
                </a:lnTo>
                <a:lnTo>
                  <a:pt x="9304483" y="11087"/>
                </a:lnTo>
                <a:lnTo>
                  <a:pt x="9304483" y="1952484"/>
                </a:lnTo>
                <a:lnTo>
                  <a:pt x="15012" y="1956402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  <a:alpha val="40000"/>
                </a:schemeClr>
              </a:gs>
              <a:gs pos="84600">
                <a:schemeClr val="bg1">
                  <a:lumMod val="95000"/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6" name="矩形 24"/>
          <p:cNvSpPr/>
          <p:nvPr/>
        </p:nvSpPr>
        <p:spPr>
          <a:xfrm rot="1800000">
            <a:off x="7769937" y="4366767"/>
            <a:ext cx="9304483" cy="1956402"/>
          </a:xfrm>
          <a:custGeom>
            <a:avLst/>
            <a:gdLst>
              <a:gd name="connsiteX0" fmla="*/ 0 w 13677900"/>
              <a:gd name="connsiteY0" fmla="*/ 0 h 1941397"/>
              <a:gd name="connsiteX1" fmla="*/ 13677900 w 13677900"/>
              <a:gd name="connsiteY1" fmla="*/ 0 h 1941397"/>
              <a:gd name="connsiteX2" fmla="*/ 13677900 w 13677900"/>
              <a:gd name="connsiteY2" fmla="*/ 1941397 h 1941397"/>
              <a:gd name="connsiteX3" fmla="*/ 0 w 13677900"/>
              <a:gd name="connsiteY3" fmla="*/ 1941397 h 1941397"/>
              <a:gd name="connsiteX4" fmla="*/ 0 w 13677900"/>
              <a:gd name="connsiteY4" fmla="*/ 0 h 1941397"/>
              <a:gd name="connsiteX0" fmla="*/ 0 w 13677900"/>
              <a:gd name="connsiteY0" fmla="*/ 11087 h 1952484"/>
              <a:gd name="connsiteX1" fmla="*/ 4373417 w 13677900"/>
              <a:gd name="connsiteY1" fmla="*/ 0 h 1952484"/>
              <a:gd name="connsiteX2" fmla="*/ 13677900 w 13677900"/>
              <a:gd name="connsiteY2" fmla="*/ 11087 h 1952484"/>
              <a:gd name="connsiteX3" fmla="*/ 13677900 w 13677900"/>
              <a:gd name="connsiteY3" fmla="*/ 1952484 h 1952484"/>
              <a:gd name="connsiteX4" fmla="*/ 0 w 13677900"/>
              <a:gd name="connsiteY4" fmla="*/ 1952484 h 1952484"/>
              <a:gd name="connsiteX5" fmla="*/ 0 w 13677900"/>
              <a:gd name="connsiteY5" fmla="*/ 11087 h 1952484"/>
              <a:gd name="connsiteX0" fmla="*/ 0 w 13677900"/>
              <a:gd name="connsiteY0" fmla="*/ 11087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6" fmla="*/ 0 w 13677900"/>
              <a:gd name="connsiteY6" fmla="*/ 11087 h 1956402"/>
              <a:gd name="connsiteX0" fmla="*/ 0 w 13677900"/>
              <a:gd name="connsiteY0" fmla="*/ 1952484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0" fmla="*/ 15012 w 9304483"/>
              <a:gd name="connsiteY0" fmla="*/ 1956402 h 1956402"/>
              <a:gd name="connsiteX1" fmla="*/ 0 w 9304483"/>
              <a:gd name="connsiteY1" fmla="*/ 0 h 1956402"/>
              <a:gd name="connsiteX2" fmla="*/ 9304483 w 9304483"/>
              <a:gd name="connsiteY2" fmla="*/ 11087 h 1956402"/>
              <a:gd name="connsiteX3" fmla="*/ 9304483 w 9304483"/>
              <a:gd name="connsiteY3" fmla="*/ 1952484 h 1956402"/>
              <a:gd name="connsiteX4" fmla="*/ 15012 w 9304483"/>
              <a:gd name="connsiteY4" fmla="*/ 1956402 h 1956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483" h="1956402">
                <a:moveTo>
                  <a:pt x="15012" y="1956402"/>
                </a:moveTo>
                <a:lnTo>
                  <a:pt x="0" y="0"/>
                </a:lnTo>
                <a:lnTo>
                  <a:pt x="9304483" y="11087"/>
                </a:lnTo>
                <a:lnTo>
                  <a:pt x="9304483" y="1952484"/>
                </a:lnTo>
                <a:lnTo>
                  <a:pt x="15012" y="1956402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  <a:alpha val="40000"/>
                </a:schemeClr>
              </a:gs>
              <a:gs pos="84600">
                <a:schemeClr val="bg1">
                  <a:lumMod val="95000"/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208852" y="423613"/>
            <a:ext cx="2962671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dirty="0" smtClean="0">
                <a:solidFill>
                  <a:prstClr val="black"/>
                </a:solidFill>
                <a:latin typeface="Arial"/>
                <a:ea typeface="微软雅黑"/>
              </a:rPr>
              <a:t>Zookeeper</a:t>
            </a:r>
            <a:r>
              <a:rPr lang="zh-CN" altLang="en-US" sz="3200" dirty="0" smtClean="0">
                <a:solidFill>
                  <a:prstClr val="black"/>
                </a:solidFill>
                <a:latin typeface="Arial"/>
                <a:ea typeface="微软雅黑"/>
              </a:rPr>
              <a:t>简介</a:t>
            </a:r>
            <a:endParaRPr kumimoji="0" lang="zh-CN" altLang="en-US" sz="32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208852" y="1457076"/>
            <a:ext cx="11213326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/>
              <a:t>数据模型</a:t>
            </a:r>
            <a:endParaRPr lang="en-US" altLang="zh-CN" b="1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Zookeeper</a:t>
            </a:r>
            <a:r>
              <a:rPr lang="zh-CN" altLang="en-US" dirty="0" smtClean="0"/>
              <a:t>的视图结构和标准的</a:t>
            </a:r>
            <a:r>
              <a:rPr lang="en-US" altLang="zh-CN" dirty="0" smtClean="0"/>
              <a:t>Unix</a:t>
            </a:r>
            <a:r>
              <a:rPr lang="zh-CN" altLang="en-US" dirty="0" smtClean="0"/>
              <a:t>文件系统非常类似，但没有引入传统文件系统中目录和文件等相关概念，</a:t>
            </a:r>
            <a:endParaRPr lang="en-US" altLang="zh-CN" dirty="0" smtClean="0"/>
          </a:p>
          <a:p>
            <a:r>
              <a:rPr lang="zh-CN" altLang="en-US" dirty="0" smtClean="0"/>
              <a:t>而是使用了“数据节点”概念，即</a:t>
            </a:r>
            <a:r>
              <a:rPr lang="en-US" altLang="zh-CN" dirty="0" err="1" smtClean="0"/>
              <a:t>ZNode</a:t>
            </a:r>
            <a:r>
              <a:rPr lang="en-US" altLang="zh-CN" dirty="0" smtClean="0"/>
              <a:t>.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err="1" smtClean="0"/>
              <a:t>ZNode</a:t>
            </a:r>
            <a:r>
              <a:rPr lang="zh-CN" altLang="en-US" dirty="0" smtClean="0"/>
              <a:t>是</a:t>
            </a:r>
            <a:r>
              <a:rPr lang="en-US" altLang="zh-CN" dirty="0" smtClean="0"/>
              <a:t>zookeeper</a:t>
            </a:r>
            <a:r>
              <a:rPr lang="zh-CN" altLang="en-US" dirty="0" smtClean="0"/>
              <a:t>中数据的最小单元，每个</a:t>
            </a:r>
            <a:r>
              <a:rPr lang="en-US" altLang="zh-CN" dirty="0" err="1" smtClean="0"/>
              <a:t>ZNode</a:t>
            </a:r>
            <a:r>
              <a:rPr lang="zh-CN" altLang="en-US" dirty="0" smtClean="0"/>
              <a:t>上都可以保存数据，同时还可以挂载子节点，因此构成了</a:t>
            </a:r>
            <a:endParaRPr lang="en-US" altLang="zh-CN" dirty="0" smtClean="0"/>
          </a:p>
          <a:p>
            <a:r>
              <a:rPr lang="zh-CN" altLang="en-US" dirty="0"/>
              <a:t>一</a:t>
            </a:r>
            <a:r>
              <a:rPr lang="zh-CN" altLang="en-US" dirty="0" smtClean="0"/>
              <a:t>个层次化的命名空间，称为树。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  <p:pic>
        <p:nvPicPr>
          <p:cNvPr id="7170" name="Picture 2" descr="08595154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8852" y="3721245"/>
            <a:ext cx="4219575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3791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 rot="1800000">
            <a:off x="3231017" y="4366767"/>
            <a:ext cx="9304483" cy="1956402"/>
          </a:xfrm>
          <a:custGeom>
            <a:avLst/>
            <a:gdLst>
              <a:gd name="connsiteX0" fmla="*/ 0 w 13677900"/>
              <a:gd name="connsiteY0" fmla="*/ 0 h 1941397"/>
              <a:gd name="connsiteX1" fmla="*/ 13677900 w 13677900"/>
              <a:gd name="connsiteY1" fmla="*/ 0 h 1941397"/>
              <a:gd name="connsiteX2" fmla="*/ 13677900 w 13677900"/>
              <a:gd name="connsiteY2" fmla="*/ 1941397 h 1941397"/>
              <a:gd name="connsiteX3" fmla="*/ 0 w 13677900"/>
              <a:gd name="connsiteY3" fmla="*/ 1941397 h 1941397"/>
              <a:gd name="connsiteX4" fmla="*/ 0 w 13677900"/>
              <a:gd name="connsiteY4" fmla="*/ 0 h 1941397"/>
              <a:gd name="connsiteX0" fmla="*/ 0 w 13677900"/>
              <a:gd name="connsiteY0" fmla="*/ 11087 h 1952484"/>
              <a:gd name="connsiteX1" fmla="*/ 4373417 w 13677900"/>
              <a:gd name="connsiteY1" fmla="*/ 0 h 1952484"/>
              <a:gd name="connsiteX2" fmla="*/ 13677900 w 13677900"/>
              <a:gd name="connsiteY2" fmla="*/ 11087 h 1952484"/>
              <a:gd name="connsiteX3" fmla="*/ 13677900 w 13677900"/>
              <a:gd name="connsiteY3" fmla="*/ 1952484 h 1952484"/>
              <a:gd name="connsiteX4" fmla="*/ 0 w 13677900"/>
              <a:gd name="connsiteY4" fmla="*/ 1952484 h 1952484"/>
              <a:gd name="connsiteX5" fmla="*/ 0 w 13677900"/>
              <a:gd name="connsiteY5" fmla="*/ 11087 h 1952484"/>
              <a:gd name="connsiteX0" fmla="*/ 0 w 13677900"/>
              <a:gd name="connsiteY0" fmla="*/ 11087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6" fmla="*/ 0 w 13677900"/>
              <a:gd name="connsiteY6" fmla="*/ 11087 h 1956402"/>
              <a:gd name="connsiteX0" fmla="*/ 0 w 13677900"/>
              <a:gd name="connsiteY0" fmla="*/ 1952484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0" fmla="*/ 15012 w 9304483"/>
              <a:gd name="connsiteY0" fmla="*/ 1956402 h 1956402"/>
              <a:gd name="connsiteX1" fmla="*/ 0 w 9304483"/>
              <a:gd name="connsiteY1" fmla="*/ 0 h 1956402"/>
              <a:gd name="connsiteX2" fmla="*/ 9304483 w 9304483"/>
              <a:gd name="connsiteY2" fmla="*/ 11087 h 1956402"/>
              <a:gd name="connsiteX3" fmla="*/ 9304483 w 9304483"/>
              <a:gd name="connsiteY3" fmla="*/ 1952484 h 1956402"/>
              <a:gd name="connsiteX4" fmla="*/ 15012 w 9304483"/>
              <a:gd name="connsiteY4" fmla="*/ 1956402 h 1956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483" h="1956402">
                <a:moveTo>
                  <a:pt x="15012" y="1956402"/>
                </a:moveTo>
                <a:lnTo>
                  <a:pt x="0" y="0"/>
                </a:lnTo>
                <a:lnTo>
                  <a:pt x="9304483" y="11087"/>
                </a:lnTo>
                <a:lnTo>
                  <a:pt x="9304483" y="1952484"/>
                </a:lnTo>
                <a:lnTo>
                  <a:pt x="15012" y="1956402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  <a:alpha val="40000"/>
                </a:schemeClr>
              </a:gs>
              <a:gs pos="84600">
                <a:schemeClr val="bg1">
                  <a:lumMod val="95000"/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6" name="矩形 24"/>
          <p:cNvSpPr/>
          <p:nvPr/>
        </p:nvSpPr>
        <p:spPr>
          <a:xfrm rot="1800000">
            <a:off x="7769937" y="4366767"/>
            <a:ext cx="9304483" cy="1956402"/>
          </a:xfrm>
          <a:custGeom>
            <a:avLst/>
            <a:gdLst>
              <a:gd name="connsiteX0" fmla="*/ 0 w 13677900"/>
              <a:gd name="connsiteY0" fmla="*/ 0 h 1941397"/>
              <a:gd name="connsiteX1" fmla="*/ 13677900 w 13677900"/>
              <a:gd name="connsiteY1" fmla="*/ 0 h 1941397"/>
              <a:gd name="connsiteX2" fmla="*/ 13677900 w 13677900"/>
              <a:gd name="connsiteY2" fmla="*/ 1941397 h 1941397"/>
              <a:gd name="connsiteX3" fmla="*/ 0 w 13677900"/>
              <a:gd name="connsiteY3" fmla="*/ 1941397 h 1941397"/>
              <a:gd name="connsiteX4" fmla="*/ 0 w 13677900"/>
              <a:gd name="connsiteY4" fmla="*/ 0 h 1941397"/>
              <a:gd name="connsiteX0" fmla="*/ 0 w 13677900"/>
              <a:gd name="connsiteY0" fmla="*/ 11087 h 1952484"/>
              <a:gd name="connsiteX1" fmla="*/ 4373417 w 13677900"/>
              <a:gd name="connsiteY1" fmla="*/ 0 h 1952484"/>
              <a:gd name="connsiteX2" fmla="*/ 13677900 w 13677900"/>
              <a:gd name="connsiteY2" fmla="*/ 11087 h 1952484"/>
              <a:gd name="connsiteX3" fmla="*/ 13677900 w 13677900"/>
              <a:gd name="connsiteY3" fmla="*/ 1952484 h 1952484"/>
              <a:gd name="connsiteX4" fmla="*/ 0 w 13677900"/>
              <a:gd name="connsiteY4" fmla="*/ 1952484 h 1952484"/>
              <a:gd name="connsiteX5" fmla="*/ 0 w 13677900"/>
              <a:gd name="connsiteY5" fmla="*/ 11087 h 1952484"/>
              <a:gd name="connsiteX0" fmla="*/ 0 w 13677900"/>
              <a:gd name="connsiteY0" fmla="*/ 11087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6" fmla="*/ 0 w 13677900"/>
              <a:gd name="connsiteY6" fmla="*/ 11087 h 1956402"/>
              <a:gd name="connsiteX0" fmla="*/ 0 w 13677900"/>
              <a:gd name="connsiteY0" fmla="*/ 1952484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0" fmla="*/ 15012 w 9304483"/>
              <a:gd name="connsiteY0" fmla="*/ 1956402 h 1956402"/>
              <a:gd name="connsiteX1" fmla="*/ 0 w 9304483"/>
              <a:gd name="connsiteY1" fmla="*/ 0 h 1956402"/>
              <a:gd name="connsiteX2" fmla="*/ 9304483 w 9304483"/>
              <a:gd name="connsiteY2" fmla="*/ 11087 h 1956402"/>
              <a:gd name="connsiteX3" fmla="*/ 9304483 w 9304483"/>
              <a:gd name="connsiteY3" fmla="*/ 1952484 h 1956402"/>
              <a:gd name="connsiteX4" fmla="*/ 15012 w 9304483"/>
              <a:gd name="connsiteY4" fmla="*/ 1956402 h 1956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483" h="1956402">
                <a:moveTo>
                  <a:pt x="15012" y="1956402"/>
                </a:moveTo>
                <a:lnTo>
                  <a:pt x="0" y="0"/>
                </a:lnTo>
                <a:lnTo>
                  <a:pt x="9304483" y="11087"/>
                </a:lnTo>
                <a:lnTo>
                  <a:pt x="9304483" y="1952484"/>
                </a:lnTo>
                <a:lnTo>
                  <a:pt x="15012" y="1956402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  <a:alpha val="40000"/>
                </a:schemeClr>
              </a:gs>
              <a:gs pos="84600">
                <a:schemeClr val="bg1">
                  <a:lumMod val="95000"/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128784" y="458548"/>
            <a:ext cx="2962671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dirty="0" smtClean="0">
                <a:solidFill>
                  <a:prstClr val="black"/>
                </a:solidFill>
                <a:latin typeface="Arial"/>
                <a:ea typeface="微软雅黑"/>
              </a:rPr>
              <a:t>Zookeeper</a:t>
            </a:r>
            <a:r>
              <a:rPr lang="zh-CN" altLang="en-US" sz="3200" dirty="0" smtClean="0">
                <a:solidFill>
                  <a:prstClr val="black"/>
                </a:solidFill>
                <a:latin typeface="Arial"/>
                <a:ea typeface="微软雅黑"/>
              </a:rPr>
              <a:t>简介</a:t>
            </a:r>
            <a:endParaRPr kumimoji="0" lang="zh-CN" altLang="en-US" sz="32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28784" y="1457075"/>
            <a:ext cx="11495455" cy="6740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/>
              <a:t>节点类型</a:t>
            </a:r>
            <a:endParaRPr lang="en-US" altLang="zh-CN" b="1" dirty="0" smtClean="0"/>
          </a:p>
          <a:p>
            <a:endParaRPr lang="en-US" altLang="zh-CN" dirty="0" smtClean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 smtClean="0"/>
              <a:t>持久节点（</a:t>
            </a:r>
            <a:r>
              <a:rPr lang="en-US" altLang="zh-CN" dirty="0" smtClean="0"/>
              <a:t>PERSISTENT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 smtClean="0"/>
              <a:t>持久节点是</a:t>
            </a:r>
            <a:r>
              <a:rPr lang="en-US" altLang="zh-CN" dirty="0" smtClean="0"/>
              <a:t>Zookeeper</a:t>
            </a:r>
            <a:r>
              <a:rPr lang="zh-CN" altLang="en-US" dirty="0" smtClean="0"/>
              <a:t>中最常见的一种节点类型，该数据节点被创建后，就会一直存在于</a:t>
            </a:r>
            <a:r>
              <a:rPr lang="en-US" altLang="zh-CN" dirty="0" smtClean="0"/>
              <a:t>Zookeeper</a:t>
            </a:r>
            <a:r>
              <a:rPr lang="zh-CN" altLang="en-US" dirty="0" smtClean="0"/>
              <a:t>服务器上，</a:t>
            </a:r>
            <a:endParaRPr lang="en-US" altLang="zh-CN" dirty="0" smtClean="0"/>
          </a:p>
          <a:p>
            <a:r>
              <a:rPr lang="zh-CN" altLang="en-US" dirty="0" smtClean="0"/>
              <a:t>直到有删除操作来主动清除这个节点。</a:t>
            </a:r>
            <a:endParaRPr lang="en-US" altLang="zh-CN" dirty="0" smtClean="0"/>
          </a:p>
          <a:p>
            <a:endParaRPr lang="en-US" altLang="zh-CN" dirty="0" smtClean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 smtClean="0"/>
              <a:t>持久顺序节点</a:t>
            </a:r>
            <a:r>
              <a:rPr lang="zh-CN" altLang="en-US" dirty="0"/>
              <a:t>（</a:t>
            </a:r>
            <a:r>
              <a:rPr lang="en-US" altLang="zh-CN" dirty="0" smtClean="0"/>
              <a:t>PERSISTENT SEQUENTIAL</a:t>
            </a:r>
            <a:r>
              <a:rPr lang="zh-CN" altLang="en-US" dirty="0" smtClean="0"/>
              <a:t>）</a:t>
            </a:r>
            <a:endParaRPr lang="en-US" altLang="zh-CN" dirty="0"/>
          </a:p>
          <a:p>
            <a:r>
              <a:rPr lang="zh-CN" altLang="en-US" dirty="0" smtClean="0"/>
              <a:t>持久顺序节点的基本特性和持久节点是一致的，额外的特性表现在顺序性上。在</a:t>
            </a:r>
            <a:r>
              <a:rPr lang="en-US" altLang="zh-CN" dirty="0" smtClean="0"/>
              <a:t>Zookeeper</a:t>
            </a:r>
            <a:r>
              <a:rPr lang="zh-CN" altLang="en-US" dirty="0" smtClean="0"/>
              <a:t>中，每个父节点都</a:t>
            </a:r>
            <a:endParaRPr lang="en-US" altLang="zh-CN" dirty="0" smtClean="0"/>
          </a:p>
          <a:p>
            <a:r>
              <a:rPr lang="zh-CN" altLang="en-US" dirty="0" smtClean="0"/>
              <a:t>会为它的第一级子节点维护一份顺序，用于记录下每个子节点创建的先后顺序。基于这个顺序特性，在创建子节</a:t>
            </a:r>
            <a:endParaRPr lang="en-US" altLang="zh-CN" dirty="0" smtClean="0"/>
          </a:p>
          <a:p>
            <a:r>
              <a:rPr lang="zh-CN" altLang="en-US" dirty="0" smtClean="0"/>
              <a:t>点的时候，可以设置这个标记，那么在创建节点过程中，</a:t>
            </a:r>
            <a:r>
              <a:rPr lang="en-US" altLang="zh-CN" dirty="0" smtClean="0"/>
              <a:t>Zookeeper</a:t>
            </a:r>
            <a:r>
              <a:rPr lang="zh-CN" altLang="en-US" dirty="0" smtClean="0"/>
              <a:t>会自动为给定节点名加上一个数字后缀，作</a:t>
            </a:r>
            <a:endParaRPr lang="en-US" altLang="zh-CN" dirty="0" smtClean="0"/>
          </a:p>
          <a:p>
            <a:r>
              <a:rPr lang="zh-CN" altLang="en-US" dirty="0" smtClean="0"/>
              <a:t>为一个新的、完整的节点名。另外需要注意的是，这个数字后缀的上限是整型的最大值。</a:t>
            </a:r>
            <a:endParaRPr lang="en-US" altLang="zh-CN" dirty="0" smtClean="0"/>
          </a:p>
          <a:p>
            <a:endParaRPr lang="en-US" altLang="zh-CN" dirty="0" smtClean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 smtClean="0"/>
              <a:t>临时节点</a:t>
            </a:r>
            <a:r>
              <a:rPr lang="en-US" altLang="zh-CN" dirty="0" smtClean="0"/>
              <a:t>(EPHEMERAL)</a:t>
            </a:r>
          </a:p>
          <a:p>
            <a:r>
              <a:rPr lang="zh-CN" altLang="en-US" dirty="0" smtClean="0"/>
              <a:t>和持久节点不同的是，临时节点的生命周期和客户端的会话绑定在一起，如果客户端会话失效，那么这该节点就</a:t>
            </a:r>
            <a:endParaRPr lang="en-US" altLang="zh-CN" dirty="0" smtClean="0"/>
          </a:p>
          <a:p>
            <a:r>
              <a:rPr lang="zh-CN" altLang="en-US" dirty="0" smtClean="0"/>
              <a:t>会被自动清理掉。</a:t>
            </a:r>
            <a:r>
              <a:rPr lang="en-US" altLang="zh-CN" dirty="0" smtClean="0"/>
              <a:t>Zookeeper</a:t>
            </a:r>
            <a:r>
              <a:rPr lang="zh-CN" altLang="en-US" dirty="0" smtClean="0"/>
              <a:t>规定不能基于临时节点来创建子节点，即临时节点只能作为叶子节点。</a:t>
            </a:r>
            <a:endParaRPr lang="en-US" altLang="zh-CN" dirty="0" smtClean="0"/>
          </a:p>
          <a:p>
            <a:endParaRPr lang="en-US" altLang="zh-CN" dirty="0" smtClean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临时顺序</a:t>
            </a:r>
            <a:r>
              <a:rPr lang="zh-CN" altLang="en-US" dirty="0" smtClean="0"/>
              <a:t>节点</a:t>
            </a:r>
            <a:r>
              <a:rPr lang="en-US" altLang="zh-CN" dirty="0" smtClean="0"/>
              <a:t>(</a:t>
            </a:r>
            <a:r>
              <a:rPr lang="en-US" altLang="zh-CN" dirty="0"/>
              <a:t>EPHEMERAL </a:t>
            </a:r>
            <a:r>
              <a:rPr lang="en-US" altLang="zh-CN" dirty="0" smtClean="0"/>
              <a:t> SEQUENTIAL)</a:t>
            </a:r>
          </a:p>
          <a:p>
            <a:r>
              <a:rPr lang="zh-CN" altLang="en-US" dirty="0" smtClean="0"/>
              <a:t>临时顺序节点的基本特性和临时节点也是一致的，在临时节点的基础上，添加了顺序的特性。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20901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 rot="1800000">
            <a:off x="3231017" y="4366767"/>
            <a:ext cx="9304483" cy="1956402"/>
          </a:xfrm>
          <a:custGeom>
            <a:avLst/>
            <a:gdLst>
              <a:gd name="connsiteX0" fmla="*/ 0 w 13677900"/>
              <a:gd name="connsiteY0" fmla="*/ 0 h 1941397"/>
              <a:gd name="connsiteX1" fmla="*/ 13677900 w 13677900"/>
              <a:gd name="connsiteY1" fmla="*/ 0 h 1941397"/>
              <a:gd name="connsiteX2" fmla="*/ 13677900 w 13677900"/>
              <a:gd name="connsiteY2" fmla="*/ 1941397 h 1941397"/>
              <a:gd name="connsiteX3" fmla="*/ 0 w 13677900"/>
              <a:gd name="connsiteY3" fmla="*/ 1941397 h 1941397"/>
              <a:gd name="connsiteX4" fmla="*/ 0 w 13677900"/>
              <a:gd name="connsiteY4" fmla="*/ 0 h 1941397"/>
              <a:gd name="connsiteX0" fmla="*/ 0 w 13677900"/>
              <a:gd name="connsiteY0" fmla="*/ 11087 h 1952484"/>
              <a:gd name="connsiteX1" fmla="*/ 4373417 w 13677900"/>
              <a:gd name="connsiteY1" fmla="*/ 0 h 1952484"/>
              <a:gd name="connsiteX2" fmla="*/ 13677900 w 13677900"/>
              <a:gd name="connsiteY2" fmla="*/ 11087 h 1952484"/>
              <a:gd name="connsiteX3" fmla="*/ 13677900 w 13677900"/>
              <a:gd name="connsiteY3" fmla="*/ 1952484 h 1952484"/>
              <a:gd name="connsiteX4" fmla="*/ 0 w 13677900"/>
              <a:gd name="connsiteY4" fmla="*/ 1952484 h 1952484"/>
              <a:gd name="connsiteX5" fmla="*/ 0 w 13677900"/>
              <a:gd name="connsiteY5" fmla="*/ 11087 h 1952484"/>
              <a:gd name="connsiteX0" fmla="*/ 0 w 13677900"/>
              <a:gd name="connsiteY0" fmla="*/ 11087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6" fmla="*/ 0 w 13677900"/>
              <a:gd name="connsiteY6" fmla="*/ 11087 h 1956402"/>
              <a:gd name="connsiteX0" fmla="*/ 0 w 13677900"/>
              <a:gd name="connsiteY0" fmla="*/ 1952484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0" fmla="*/ 15012 w 9304483"/>
              <a:gd name="connsiteY0" fmla="*/ 1956402 h 1956402"/>
              <a:gd name="connsiteX1" fmla="*/ 0 w 9304483"/>
              <a:gd name="connsiteY1" fmla="*/ 0 h 1956402"/>
              <a:gd name="connsiteX2" fmla="*/ 9304483 w 9304483"/>
              <a:gd name="connsiteY2" fmla="*/ 11087 h 1956402"/>
              <a:gd name="connsiteX3" fmla="*/ 9304483 w 9304483"/>
              <a:gd name="connsiteY3" fmla="*/ 1952484 h 1956402"/>
              <a:gd name="connsiteX4" fmla="*/ 15012 w 9304483"/>
              <a:gd name="connsiteY4" fmla="*/ 1956402 h 1956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483" h="1956402">
                <a:moveTo>
                  <a:pt x="15012" y="1956402"/>
                </a:moveTo>
                <a:lnTo>
                  <a:pt x="0" y="0"/>
                </a:lnTo>
                <a:lnTo>
                  <a:pt x="9304483" y="11087"/>
                </a:lnTo>
                <a:lnTo>
                  <a:pt x="9304483" y="1952484"/>
                </a:lnTo>
                <a:lnTo>
                  <a:pt x="15012" y="1956402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  <a:alpha val="40000"/>
                </a:schemeClr>
              </a:gs>
              <a:gs pos="84600">
                <a:schemeClr val="bg1">
                  <a:lumMod val="95000"/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6" name="矩形 24"/>
          <p:cNvSpPr/>
          <p:nvPr/>
        </p:nvSpPr>
        <p:spPr>
          <a:xfrm rot="1800000">
            <a:off x="7769937" y="4366767"/>
            <a:ext cx="9304483" cy="1956402"/>
          </a:xfrm>
          <a:custGeom>
            <a:avLst/>
            <a:gdLst>
              <a:gd name="connsiteX0" fmla="*/ 0 w 13677900"/>
              <a:gd name="connsiteY0" fmla="*/ 0 h 1941397"/>
              <a:gd name="connsiteX1" fmla="*/ 13677900 w 13677900"/>
              <a:gd name="connsiteY1" fmla="*/ 0 h 1941397"/>
              <a:gd name="connsiteX2" fmla="*/ 13677900 w 13677900"/>
              <a:gd name="connsiteY2" fmla="*/ 1941397 h 1941397"/>
              <a:gd name="connsiteX3" fmla="*/ 0 w 13677900"/>
              <a:gd name="connsiteY3" fmla="*/ 1941397 h 1941397"/>
              <a:gd name="connsiteX4" fmla="*/ 0 w 13677900"/>
              <a:gd name="connsiteY4" fmla="*/ 0 h 1941397"/>
              <a:gd name="connsiteX0" fmla="*/ 0 w 13677900"/>
              <a:gd name="connsiteY0" fmla="*/ 11087 h 1952484"/>
              <a:gd name="connsiteX1" fmla="*/ 4373417 w 13677900"/>
              <a:gd name="connsiteY1" fmla="*/ 0 h 1952484"/>
              <a:gd name="connsiteX2" fmla="*/ 13677900 w 13677900"/>
              <a:gd name="connsiteY2" fmla="*/ 11087 h 1952484"/>
              <a:gd name="connsiteX3" fmla="*/ 13677900 w 13677900"/>
              <a:gd name="connsiteY3" fmla="*/ 1952484 h 1952484"/>
              <a:gd name="connsiteX4" fmla="*/ 0 w 13677900"/>
              <a:gd name="connsiteY4" fmla="*/ 1952484 h 1952484"/>
              <a:gd name="connsiteX5" fmla="*/ 0 w 13677900"/>
              <a:gd name="connsiteY5" fmla="*/ 11087 h 1952484"/>
              <a:gd name="connsiteX0" fmla="*/ 0 w 13677900"/>
              <a:gd name="connsiteY0" fmla="*/ 11087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6" fmla="*/ 0 w 13677900"/>
              <a:gd name="connsiteY6" fmla="*/ 11087 h 1956402"/>
              <a:gd name="connsiteX0" fmla="*/ 0 w 13677900"/>
              <a:gd name="connsiteY0" fmla="*/ 1952484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0" fmla="*/ 15012 w 9304483"/>
              <a:gd name="connsiteY0" fmla="*/ 1956402 h 1956402"/>
              <a:gd name="connsiteX1" fmla="*/ 0 w 9304483"/>
              <a:gd name="connsiteY1" fmla="*/ 0 h 1956402"/>
              <a:gd name="connsiteX2" fmla="*/ 9304483 w 9304483"/>
              <a:gd name="connsiteY2" fmla="*/ 11087 h 1956402"/>
              <a:gd name="connsiteX3" fmla="*/ 9304483 w 9304483"/>
              <a:gd name="connsiteY3" fmla="*/ 1952484 h 1956402"/>
              <a:gd name="connsiteX4" fmla="*/ 15012 w 9304483"/>
              <a:gd name="connsiteY4" fmla="*/ 1956402 h 1956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483" h="1956402">
                <a:moveTo>
                  <a:pt x="15012" y="1956402"/>
                </a:moveTo>
                <a:lnTo>
                  <a:pt x="0" y="0"/>
                </a:lnTo>
                <a:lnTo>
                  <a:pt x="9304483" y="11087"/>
                </a:lnTo>
                <a:lnTo>
                  <a:pt x="9304483" y="1952484"/>
                </a:lnTo>
                <a:lnTo>
                  <a:pt x="15012" y="1956402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  <a:alpha val="40000"/>
                </a:schemeClr>
              </a:gs>
              <a:gs pos="84600">
                <a:schemeClr val="bg1">
                  <a:lumMod val="95000"/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124098" y="444034"/>
            <a:ext cx="2962671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dirty="0" smtClean="0">
                <a:solidFill>
                  <a:prstClr val="black"/>
                </a:solidFill>
                <a:latin typeface="Arial"/>
                <a:ea typeface="微软雅黑"/>
              </a:rPr>
              <a:t>Zookeeper</a:t>
            </a:r>
            <a:r>
              <a:rPr lang="zh-CN" altLang="en-US" sz="3200" dirty="0" smtClean="0">
                <a:solidFill>
                  <a:prstClr val="black"/>
                </a:solidFill>
                <a:latin typeface="Arial"/>
                <a:ea typeface="微软雅黑"/>
              </a:rPr>
              <a:t>简介</a:t>
            </a:r>
            <a:endParaRPr kumimoji="0" lang="zh-CN" altLang="en-US" sz="32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24098" y="1287787"/>
            <a:ext cx="11067902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/>
              <a:t>Watcher</a:t>
            </a:r>
            <a:r>
              <a:rPr lang="zh-CN" altLang="en-US" b="1" dirty="0" smtClean="0"/>
              <a:t>机制</a:t>
            </a:r>
            <a:endParaRPr lang="en-US" altLang="zh-CN" b="1" dirty="0" smtClean="0"/>
          </a:p>
          <a:p>
            <a:endParaRPr lang="en-US" altLang="zh-CN" b="1" dirty="0" smtClean="0"/>
          </a:p>
          <a:p>
            <a:r>
              <a:rPr lang="zh-CN" altLang="en-US" dirty="0" smtClean="0"/>
              <a:t>在</a:t>
            </a:r>
            <a:r>
              <a:rPr lang="en-US" altLang="zh-CN" dirty="0" smtClean="0"/>
              <a:t>Zookeeper</a:t>
            </a:r>
            <a:r>
              <a:rPr lang="zh-CN" altLang="en-US" dirty="0" smtClean="0"/>
              <a:t>中，引入了</a:t>
            </a:r>
            <a:r>
              <a:rPr lang="en-US" altLang="zh-CN" dirty="0" smtClean="0"/>
              <a:t>Watcher</a:t>
            </a:r>
            <a:r>
              <a:rPr lang="zh-CN" altLang="en-US" dirty="0" smtClean="0"/>
              <a:t>机制来实现这种分布式的通知功能。</a:t>
            </a:r>
            <a:endParaRPr lang="en-US" altLang="zh-CN" dirty="0" smtClean="0"/>
          </a:p>
          <a:p>
            <a:r>
              <a:rPr lang="en-US" altLang="zh-CN" dirty="0" smtClean="0"/>
              <a:t>Zookeeper</a:t>
            </a:r>
            <a:r>
              <a:rPr lang="zh-CN" altLang="en-US" dirty="0" smtClean="0"/>
              <a:t>允许客户端向服务端注册一个</a:t>
            </a:r>
            <a:r>
              <a:rPr lang="en-US" altLang="zh-CN" dirty="0" smtClean="0"/>
              <a:t>Watcher</a:t>
            </a:r>
            <a:r>
              <a:rPr lang="zh-CN" altLang="en-US" dirty="0" smtClean="0"/>
              <a:t>监听，当服务端的一些</a:t>
            </a:r>
            <a:r>
              <a:rPr lang="zh-CN" altLang="en-US" dirty="0" smtClean="0"/>
              <a:t>指定</a:t>
            </a:r>
            <a:r>
              <a:rPr lang="zh-CN" altLang="en-US" dirty="0"/>
              <a:t>事件</a:t>
            </a:r>
            <a:r>
              <a:rPr lang="zh-CN" altLang="en-US" dirty="0" smtClean="0"/>
              <a:t>触发</a:t>
            </a:r>
            <a:r>
              <a:rPr lang="zh-CN" altLang="en-US" dirty="0" smtClean="0"/>
              <a:t>了这个</a:t>
            </a:r>
            <a:r>
              <a:rPr lang="en-US" altLang="zh-CN" dirty="0" smtClean="0"/>
              <a:t>Watcher</a:t>
            </a:r>
            <a:r>
              <a:rPr lang="zh-CN" altLang="en-US" dirty="0" smtClean="0"/>
              <a:t>，那么</a:t>
            </a:r>
            <a:endParaRPr lang="en-US" altLang="zh-CN" dirty="0" smtClean="0"/>
          </a:p>
          <a:p>
            <a:r>
              <a:rPr lang="zh-CN" altLang="en-US" dirty="0" smtClean="0"/>
              <a:t>就会向指定客户端发送一个事件通知来实现分布式的通知功能。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/>
              <a:t>Watcher</a:t>
            </a:r>
            <a:r>
              <a:rPr lang="zh-CN" altLang="en-US" dirty="0"/>
              <a:t>事件</a:t>
            </a:r>
            <a:r>
              <a:rPr lang="zh-CN" altLang="en-US" dirty="0" smtClean="0"/>
              <a:t>类型</a:t>
            </a:r>
            <a:endParaRPr lang="en-US" altLang="zh-CN" dirty="0" smtClean="0"/>
          </a:p>
          <a:p>
            <a:pPr marL="285750" indent="-285750" latinLnBrk="1">
              <a:buFont typeface="Wingdings" panose="05000000000000000000" pitchFamily="2" charset="2"/>
              <a:buChar char="l"/>
            </a:pPr>
            <a:r>
              <a:rPr lang="en-US" altLang="zh-CN" dirty="0" smtClean="0"/>
              <a:t>NodeCreated</a:t>
            </a:r>
            <a:r>
              <a:rPr lang="en-US" altLang="zh-CN" dirty="0"/>
              <a:t>                   //</a:t>
            </a:r>
            <a:r>
              <a:rPr lang="zh-CN" altLang="en-US" dirty="0"/>
              <a:t>节点创建  </a:t>
            </a:r>
          </a:p>
          <a:p>
            <a:pPr marL="285750" indent="-285750" latinLnBrk="1">
              <a:buFont typeface="Wingdings" panose="05000000000000000000" pitchFamily="2" charset="2"/>
              <a:buChar char="l"/>
            </a:pPr>
            <a:r>
              <a:rPr lang="en-US" altLang="zh-CN" dirty="0"/>
              <a:t>NodeDataChanged          //</a:t>
            </a:r>
            <a:r>
              <a:rPr lang="zh-CN" altLang="en-US" dirty="0"/>
              <a:t>节点的数据变更  </a:t>
            </a:r>
          </a:p>
          <a:p>
            <a:pPr marL="285750" indent="-285750" latinLnBrk="1">
              <a:buFont typeface="Wingdings" panose="05000000000000000000" pitchFamily="2" charset="2"/>
              <a:buChar char="l"/>
            </a:pPr>
            <a:r>
              <a:rPr lang="en-US" altLang="zh-CN" dirty="0" err="1" smtClean="0"/>
              <a:t>NodeChildrenChanged</a:t>
            </a:r>
            <a:r>
              <a:rPr lang="en-US" altLang="zh-CN" dirty="0"/>
              <a:t>   //</a:t>
            </a:r>
            <a:r>
              <a:rPr lang="zh-CN" altLang="en-US" dirty="0"/>
              <a:t>子节点下的数据变更，个数和组成部分发生变更，不包含内容变更</a:t>
            </a:r>
          </a:p>
          <a:p>
            <a:pPr marL="285750" indent="-285750" latinLnBrk="1">
              <a:buFont typeface="Wingdings" panose="05000000000000000000" pitchFamily="2" charset="2"/>
              <a:buChar char="l"/>
            </a:pPr>
            <a:r>
              <a:rPr lang="en-US" altLang="zh-CN" dirty="0"/>
              <a:t>NodeDeleted                   //</a:t>
            </a:r>
            <a:r>
              <a:rPr lang="zh-CN" altLang="en-US" dirty="0"/>
              <a:t>节点删除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1124098" y="5309156"/>
            <a:ext cx="59597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client.getChildren().usingWatcher(watcher).forPath(path)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13983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 rot="1800000">
            <a:off x="3231017" y="4366767"/>
            <a:ext cx="9304483" cy="1956402"/>
          </a:xfrm>
          <a:custGeom>
            <a:avLst/>
            <a:gdLst>
              <a:gd name="connsiteX0" fmla="*/ 0 w 13677900"/>
              <a:gd name="connsiteY0" fmla="*/ 0 h 1941397"/>
              <a:gd name="connsiteX1" fmla="*/ 13677900 w 13677900"/>
              <a:gd name="connsiteY1" fmla="*/ 0 h 1941397"/>
              <a:gd name="connsiteX2" fmla="*/ 13677900 w 13677900"/>
              <a:gd name="connsiteY2" fmla="*/ 1941397 h 1941397"/>
              <a:gd name="connsiteX3" fmla="*/ 0 w 13677900"/>
              <a:gd name="connsiteY3" fmla="*/ 1941397 h 1941397"/>
              <a:gd name="connsiteX4" fmla="*/ 0 w 13677900"/>
              <a:gd name="connsiteY4" fmla="*/ 0 h 1941397"/>
              <a:gd name="connsiteX0" fmla="*/ 0 w 13677900"/>
              <a:gd name="connsiteY0" fmla="*/ 11087 h 1952484"/>
              <a:gd name="connsiteX1" fmla="*/ 4373417 w 13677900"/>
              <a:gd name="connsiteY1" fmla="*/ 0 h 1952484"/>
              <a:gd name="connsiteX2" fmla="*/ 13677900 w 13677900"/>
              <a:gd name="connsiteY2" fmla="*/ 11087 h 1952484"/>
              <a:gd name="connsiteX3" fmla="*/ 13677900 w 13677900"/>
              <a:gd name="connsiteY3" fmla="*/ 1952484 h 1952484"/>
              <a:gd name="connsiteX4" fmla="*/ 0 w 13677900"/>
              <a:gd name="connsiteY4" fmla="*/ 1952484 h 1952484"/>
              <a:gd name="connsiteX5" fmla="*/ 0 w 13677900"/>
              <a:gd name="connsiteY5" fmla="*/ 11087 h 1952484"/>
              <a:gd name="connsiteX0" fmla="*/ 0 w 13677900"/>
              <a:gd name="connsiteY0" fmla="*/ 11087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6" fmla="*/ 0 w 13677900"/>
              <a:gd name="connsiteY6" fmla="*/ 11087 h 1956402"/>
              <a:gd name="connsiteX0" fmla="*/ 0 w 13677900"/>
              <a:gd name="connsiteY0" fmla="*/ 1952484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0" fmla="*/ 15012 w 9304483"/>
              <a:gd name="connsiteY0" fmla="*/ 1956402 h 1956402"/>
              <a:gd name="connsiteX1" fmla="*/ 0 w 9304483"/>
              <a:gd name="connsiteY1" fmla="*/ 0 h 1956402"/>
              <a:gd name="connsiteX2" fmla="*/ 9304483 w 9304483"/>
              <a:gd name="connsiteY2" fmla="*/ 11087 h 1956402"/>
              <a:gd name="connsiteX3" fmla="*/ 9304483 w 9304483"/>
              <a:gd name="connsiteY3" fmla="*/ 1952484 h 1956402"/>
              <a:gd name="connsiteX4" fmla="*/ 15012 w 9304483"/>
              <a:gd name="connsiteY4" fmla="*/ 1956402 h 1956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483" h="1956402">
                <a:moveTo>
                  <a:pt x="15012" y="1956402"/>
                </a:moveTo>
                <a:lnTo>
                  <a:pt x="0" y="0"/>
                </a:lnTo>
                <a:lnTo>
                  <a:pt x="9304483" y="11087"/>
                </a:lnTo>
                <a:lnTo>
                  <a:pt x="9304483" y="1952484"/>
                </a:lnTo>
                <a:lnTo>
                  <a:pt x="15012" y="1956402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  <a:alpha val="40000"/>
                </a:schemeClr>
              </a:gs>
              <a:gs pos="84600">
                <a:schemeClr val="bg1">
                  <a:lumMod val="95000"/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6" name="矩形 24"/>
          <p:cNvSpPr/>
          <p:nvPr/>
        </p:nvSpPr>
        <p:spPr>
          <a:xfrm rot="1800000">
            <a:off x="7769937" y="4366767"/>
            <a:ext cx="9304483" cy="1956402"/>
          </a:xfrm>
          <a:custGeom>
            <a:avLst/>
            <a:gdLst>
              <a:gd name="connsiteX0" fmla="*/ 0 w 13677900"/>
              <a:gd name="connsiteY0" fmla="*/ 0 h 1941397"/>
              <a:gd name="connsiteX1" fmla="*/ 13677900 w 13677900"/>
              <a:gd name="connsiteY1" fmla="*/ 0 h 1941397"/>
              <a:gd name="connsiteX2" fmla="*/ 13677900 w 13677900"/>
              <a:gd name="connsiteY2" fmla="*/ 1941397 h 1941397"/>
              <a:gd name="connsiteX3" fmla="*/ 0 w 13677900"/>
              <a:gd name="connsiteY3" fmla="*/ 1941397 h 1941397"/>
              <a:gd name="connsiteX4" fmla="*/ 0 w 13677900"/>
              <a:gd name="connsiteY4" fmla="*/ 0 h 1941397"/>
              <a:gd name="connsiteX0" fmla="*/ 0 w 13677900"/>
              <a:gd name="connsiteY0" fmla="*/ 11087 h 1952484"/>
              <a:gd name="connsiteX1" fmla="*/ 4373417 w 13677900"/>
              <a:gd name="connsiteY1" fmla="*/ 0 h 1952484"/>
              <a:gd name="connsiteX2" fmla="*/ 13677900 w 13677900"/>
              <a:gd name="connsiteY2" fmla="*/ 11087 h 1952484"/>
              <a:gd name="connsiteX3" fmla="*/ 13677900 w 13677900"/>
              <a:gd name="connsiteY3" fmla="*/ 1952484 h 1952484"/>
              <a:gd name="connsiteX4" fmla="*/ 0 w 13677900"/>
              <a:gd name="connsiteY4" fmla="*/ 1952484 h 1952484"/>
              <a:gd name="connsiteX5" fmla="*/ 0 w 13677900"/>
              <a:gd name="connsiteY5" fmla="*/ 11087 h 1952484"/>
              <a:gd name="connsiteX0" fmla="*/ 0 w 13677900"/>
              <a:gd name="connsiteY0" fmla="*/ 11087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6" fmla="*/ 0 w 13677900"/>
              <a:gd name="connsiteY6" fmla="*/ 11087 h 1956402"/>
              <a:gd name="connsiteX0" fmla="*/ 0 w 13677900"/>
              <a:gd name="connsiteY0" fmla="*/ 1952484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0" fmla="*/ 15012 w 9304483"/>
              <a:gd name="connsiteY0" fmla="*/ 1956402 h 1956402"/>
              <a:gd name="connsiteX1" fmla="*/ 0 w 9304483"/>
              <a:gd name="connsiteY1" fmla="*/ 0 h 1956402"/>
              <a:gd name="connsiteX2" fmla="*/ 9304483 w 9304483"/>
              <a:gd name="connsiteY2" fmla="*/ 11087 h 1956402"/>
              <a:gd name="connsiteX3" fmla="*/ 9304483 w 9304483"/>
              <a:gd name="connsiteY3" fmla="*/ 1952484 h 1956402"/>
              <a:gd name="connsiteX4" fmla="*/ 15012 w 9304483"/>
              <a:gd name="connsiteY4" fmla="*/ 1956402 h 1956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483" h="1956402">
                <a:moveTo>
                  <a:pt x="15012" y="1956402"/>
                </a:moveTo>
                <a:lnTo>
                  <a:pt x="0" y="0"/>
                </a:lnTo>
                <a:lnTo>
                  <a:pt x="9304483" y="11087"/>
                </a:lnTo>
                <a:lnTo>
                  <a:pt x="9304483" y="1952484"/>
                </a:lnTo>
                <a:lnTo>
                  <a:pt x="15012" y="1956402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  <a:alpha val="40000"/>
                </a:schemeClr>
              </a:gs>
              <a:gs pos="84600">
                <a:schemeClr val="bg1">
                  <a:lumMod val="95000"/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169233" y="446989"/>
            <a:ext cx="2962671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dirty="0" smtClean="0">
                <a:solidFill>
                  <a:prstClr val="black"/>
                </a:solidFill>
                <a:latin typeface="Arial"/>
                <a:ea typeface="微软雅黑"/>
              </a:rPr>
              <a:t>Zookeeper</a:t>
            </a:r>
            <a:r>
              <a:rPr lang="zh-CN" altLang="en-US" sz="3200" dirty="0" smtClean="0">
                <a:solidFill>
                  <a:prstClr val="black"/>
                </a:solidFill>
                <a:latin typeface="Arial"/>
                <a:ea typeface="微软雅黑"/>
              </a:rPr>
              <a:t>简介</a:t>
            </a:r>
            <a:endParaRPr kumimoji="0" lang="zh-CN" altLang="en-US" sz="32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69232" y="1318808"/>
            <a:ext cx="1096954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Zookeeper</a:t>
            </a:r>
            <a:r>
              <a:rPr lang="zh-CN" altLang="en-US" dirty="0" smtClean="0"/>
              <a:t>的</a:t>
            </a:r>
            <a:r>
              <a:rPr lang="en-US" altLang="zh-CN" dirty="0" smtClean="0"/>
              <a:t>Watcher</a:t>
            </a:r>
            <a:r>
              <a:rPr lang="zh-CN" altLang="en-US" dirty="0" smtClean="0"/>
              <a:t>机制主要包括客户端线程、客户端</a:t>
            </a:r>
            <a:r>
              <a:rPr lang="en-US" altLang="zh-CN" dirty="0" err="1" smtClean="0"/>
              <a:t>WatchManager</a:t>
            </a:r>
            <a:r>
              <a:rPr lang="zh-CN" altLang="en-US" dirty="0" smtClean="0"/>
              <a:t>和</a:t>
            </a:r>
            <a:r>
              <a:rPr lang="en-US" altLang="zh-CN" dirty="0" smtClean="0"/>
              <a:t>Zookeeper</a:t>
            </a:r>
            <a:r>
              <a:rPr lang="zh-CN" altLang="en-US" dirty="0" smtClean="0"/>
              <a:t>服务器三部分。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工作流程为：</a:t>
            </a:r>
            <a:endParaRPr lang="en-US" altLang="zh-CN" dirty="0" smtClean="0"/>
          </a:p>
          <a:p>
            <a:r>
              <a:rPr lang="en-US" altLang="zh-CN" dirty="0" smtClean="0"/>
              <a:t>1.</a:t>
            </a:r>
            <a:r>
              <a:rPr lang="zh-CN" altLang="en-US" dirty="0" smtClean="0"/>
              <a:t>客户端在向</a:t>
            </a:r>
            <a:r>
              <a:rPr lang="en-US" altLang="zh-CN" dirty="0" smtClean="0"/>
              <a:t>Zookeeper</a:t>
            </a:r>
            <a:r>
              <a:rPr lang="zh-CN" altLang="en-US" dirty="0" smtClean="0"/>
              <a:t>服务器注册</a:t>
            </a:r>
            <a:r>
              <a:rPr lang="en-US" altLang="zh-CN" dirty="0" smtClean="0"/>
              <a:t>Watcher</a:t>
            </a:r>
            <a:r>
              <a:rPr lang="zh-CN" altLang="en-US" dirty="0" smtClean="0"/>
              <a:t>的同时，会将</a:t>
            </a:r>
            <a:r>
              <a:rPr lang="en-US" altLang="zh-CN" dirty="0" smtClean="0"/>
              <a:t>Watcher</a:t>
            </a:r>
            <a:r>
              <a:rPr lang="zh-CN" altLang="en-US" dirty="0" smtClean="0"/>
              <a:t>对象存储在客户端的</a:t>
            </a:r>
            <a:r>
              <a:rPr lang="en-US" altLang="zh-CN" dirty="0" err="1" smtClean="0"/>
              <a:t>WatchManager</a:t>
            </a:r>
            <a:r>
              <a:rPr lang="zh-CN" altLang="en-US" dirty="0" smtClean="0"/>
              <a:t>中。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>2.</a:t>
            </a:r>
            <a:r>
              <a:rPr lang="zh-CN" altLang="en-US" dirty="0" smtClean="0"/>
              <a:t>当</a:t>
            </a:r>
            <a:r>
              <a:rPr lang="en-US" altLang="zh-CN" dirty="0" smtClean="0"/>
              <a:t>Zookeeper</a:t>
            </a:r>
            <a:r>
              <a:rPr lang="zh-CN" altLang="en-US" dirty="0" smtClean="0"/>
              <a:t>服务器端触发</a:t>
            </a:r>
            <a:r>
              <a:rPr lang="en-US" altLang="zh-CN" dirty="0" smtClean="0"/>
              <a:t>Watcher</a:t>
            </a:r>
            <a:r>
              <a:rPr lang="zh-CN" altLang="en-US" dirty="0" smtClean="0"/>
              <a:t>事件后，会向客户端发送通知</a:t>
            </a:r>
            <a:endParaRPr lang="en-US" altLang="zh-CN" dirty="0" smtClean="0"/>
          </a:p>
          <a:p>
            <a:r>
              <a:rPr lang="en-US" altLang="zh-CN" dirty="0" smtClean="0"/>
              <a:t>3.</a:t>
            </a:r>
            <a:r>
              <a:rPr lang="zh-CN" altLang="en-US" dirty="0" smtClean="0"/>
              <a:t>客户端线程从</a:t>
            </a:r>
            <a:r>
              <a:rPr lang="en-US" altLang="zh-CN" dirty="0" err="1" smtClean="0"/>
              <a:t>WatchManager</a:t>
            </a:r>
            <a:r>
              <a:rPr lang="zh-CN" altLang="en-US" dirty="0" smtClean="0"/>
              <a:t>中取出对应的</a:t>
            </a:r>
            <a:r>
              <a:rPr lang="en-US" altLang="zh-CN" dirty="0" smtClean="0"/>
              <a:t>Watcher</a:t>
            </a:r>
            <a:r>
              <a:rPr lang="zh-CN" altLang="en-US" dirty="0" smtClean="0"/>
              <a:t>对象来执行回调逻辑。</a:t>
            </a:r>
            <a:endParaRPr lang="zh-CN" alt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233" y="3248169"/>
            <a:ext cx="5030289" cy="2995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53309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 rot="1800000">
            <a:off x="3231017" y="4366767"/>
            <a:ext cx="9304483" cy="1956402"/>
          </a:xfrm>
          <a:custGeom>
            <a:avLst/>
            <a:gdLst>
              <a:gd name="connsiteX0" fmla="*/ 0 w 13677900"/>
              <a:gd name="connsiteY0" fmla="*/ 0 h 1941397"/>
              <a:gd name="connsiteX1" fmla="*/ 13677900 w 13677900"/>
              <a:gd name="connsiteY1" fmla="*/ 0 h 1941397"/>
              <a:gd name="connsiteX2" fmla="*/ 13677900 w 13677900"/>
              <a:gd name="connsiteY2" fmla="*/ 1941397 h 1941397"/>
              <a:gd name="connsiteX3" fmla="*/ 0 w 13677900"/>
              <a:gd name="connsiteY3" fmla="*/ 1941397 h 1941397"/>
              <a:gd name="connsiteX4" fmla="*/ 0 w 13677900"/>
              <a:gd name="connsiteY4" fmla="*/ 0 h 1941397"/>
              <a:gd name="connsiteX0" fmla="*/ 0 w 13677900"/>
              <a:gd name="connsiteY0" fmla="*/ 11087 h 1952484"/>
              <a:gd name="connsiteX1" fmla="*/ 4373417 w 13677900"/>
              <a:gd name="connsiteY1" fmla="*/ 0 h 1952484"/>
              <a:gd name="connsiteX2" fmla="*/ 13677900 w 13677900"/>
              <a:gd name="connsiteY2" fmla="*/ 11087 h 1952484"/>
              <a:gd name="connsiteX3" fmla="*/ 13677900 w 13677900"/>
              <a:gd name="connsiteY3" fmla="*/ 1952484 h 1952484"/>
              <a:gd name="connsiteX4" fmla="*/ 0 w 13677900"/>
              <a:gd name="connsiteY4" fmla="*/ 1952484 h 1952484"/>
              <a:gd name="connsiteX5" fmla="*/ 0 w 13677900"/>
              <a:gd name="connsiteY5" fmla="*/ 11087 h 1952484"/>
              <a:gd name="connsiteX0" fmla="*/ 0 w 13677900"/>
              <a:gd name="connsiteY0" fmla="*/ 11087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6" fmla="*/ 0 w 13677900"/>
              <a:gd name="connsiteY6" fmla="*/ 11087 h 1956402"/>
              <a:gd name="connsiteX0" fmla="*/ 0 w 13677900"/>
              <a:gd name="connsiteY0" fmla="*/ 1952484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0" fmla="*/ 15012 w 9304483"/>
              <a:gd name="connsiteY0" fmla="*/ 1956402 h 1956402"/>
              <a:gd name="connsiteX1" fmla="*/ 0 w 9304483"/>
              <a:gd name="connsiteY1" fmla="*/ 0 h 1956402"/>
              <a:gd name="connsiteX2" fmla="*/ 9304483 w 9304483"/>
              <a:gd name="connsiteY2" fmla="*/ 11087 h 1956402"/>
              <a:gd name="connsiteX3" fmla="*/ 9304483 w 9304483"/>
              <a:gd name="connsiteY3" fmla="*/ 1952484 h 1956402"/>
              <a:gd name="connsiteX4" fmla="*/ 15012 w 9304483"/>
              <a:gd name="connsiteY4" fmla="*/ 1956402 h 1956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483" h="1956402">
                <a:moveTo>
                  <a:pt x="15012" y="1956402"/>
                </a:moveTo>
                <a:lnTo>
                  <a:pt x="0" y="0"/>
                </a:lnTo>
                <a:lnTo>
                  <a:pt x="9304483" y="11087"/>
                </a:lnTo>
                <a:lnTo>
                  <a:pt x="9304483" y="1952484"/>
                </a:lnTo>
                <a:lnTo>
                  <a:pt x="15012" y="1956402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  <a:alpha val="40000"/>
                </a:schemeClr>
              </a:gs>
              <a:gs pos="84600">
                <a:schemeClr val="bg1">
                  <a:lumMod val="95000"/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6" name="矩形 24"/>
          <p:cNvSpPr/>
          <p:nvPr/>
        </p:nvSpPr>
        <p:spPr>
          <a:xfrm rot="1800000">
            <a:off x="7769937" y="4366767"/>
            <a:ext cx="9304483" cy="1956402"/>
          </a:xfrm>
          <a:custGeom>
            <a:avLst/>
            <a:gdLst>
              <a:gd name="connsiteX0" fmla="*/ 0 w 13677900"/>
              <a:gd name="connsiteY0" fmla="*/ 0 h 1941397"/>
              <a:gd name="connsiteX1" fmla="*/ 13677900 w 13677900"/>
              <a:gd name="connsiteY1" fmla="*/ 0 h 1941397"/>
              <a:gd name="connsiteX2" fmla="*/ 13677900 w 13677900"/>
              <a:gd name="connsiteY2" fmla="*/ 1941397 h 1941397"/>
              <a:gd name="connsiteX3" fmla="*/ 0 w 13677900"/>
              <a:gd name="connsiteY3" fmla="*/ 1941397 h 1941397"/>
              <a:gd name="connsiteX4" fmla="*/ 0 w 13677900"/>
              <a:gd name="connsiteY4" fmla="*/ 0 h 1941397"/>
              <a:gd name="connsiteX0" fmla="*/ 0 w 13677900"/>
              <a:gd name="connsiteY0" fmla="*/ 11087 h 1952484"/>
              <a:gd name="connsiteX1" fmla="*/ 4373417 w 13677900"/>
              <a:gd name="connsiteY1" fmla="*/ 0 h 1952484"/>
              <a:gd name="connsiteX2" fmla="*/ 13677900 w 13677900"/>
              <a:gd name="connsiteY2" fmla="*/ 11087 h 1952484"/>
              <a:gd name="connsiteX3" fmla="*/ 13677900 w 13677900"/>
              <a:gd name="connsiteY3" fmla="*/ 1952484 h 1952484"/>
              <a:gd name="connsiteX4" fmla="*/ 0 w 13677900"/>
              <a:gd name="connsiteY4" fmla="*/ 1952484 h 1952484"/>
              <a:gd name="connsiteX5" fmla="*/ 0 w 13677900"/>
              <a:gd name="connsiteY5" fmla="*/ 11087 h 1952484"/>
              <a:gd name="connsiteX0" fmla="*/ 0 w 13677900"/>
              <a:gd name="connsiteY0" fmla="*/ 11087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6" fmla="*/ 0 w 13677900"/>
              <a:gd name="connsiteY6" fmla="*/ 11087 h 1956402"/>
              <a:gd name="connsiteX0" fmla="*/ 0 w 13677900"/>
              <a:gd name="connsiteY0" fmla="*/ 1952484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0" fmla="*/ 15012 w 9304483"/>
              <a:gd name="connsiteY0" fmla="*/ 1956402 h 1956402"/>
              <a:gd name="connsiteX1" fmla="*/ 0 w 9304483"/>
              <a:gd name="connsiteY1" fmla="*/ 0 h 1956402"/>
              <a:gd name="connsiteX2" fmla="*/ 9304483 w 9304483"/>
              <a:gd name="connsiteY2" fmla="*/ 11087 h 1956402"/>
              <a:gd name="connsiteX3" fmla="*/ 9304483 w 9304483"/>
              <a:gd name="connsiteY3" fmla="*/ 1952484 h 1956402"/>
              <a:gd name="connsiteX4" fmla="*/ 15012 w 9304483"/>
              <a:gd name="connsiteY4" fmla="*/ 1956402 h 1956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483" h="1956402">
                <a:moveTo>
                  <a:pt x="15012" y="1956402"/>
                </a:moveTo>
                <a:lnTo>
                  <a:pt x="0" y="0"/>
                </a:lnTo>
                <a:lnTo>
                  <a:pt x="9304483" y="11087"/>
                </a:lnTo>
                <a:lnTo>
                  <a:pt x="9304483" y="1952484"/>
                </a:lnTo>
                <a:lnTo>
                  <a:pt x="15012" y="1956402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  <a:alpha val="40000"/>
                </a:schemeClr>
              </a:gs>
              <a:gs pos="84600">
                <a:schemeClr val="bg1">
                  <a:lumMod val="95000"/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155696" y="459265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noProof="0" dirty="0" smtClean="0">
                <a:solidFill>
                  <a:prstClr val="black"/>
                </a:solidFill>
                <a:latin typeface="Arial"/>
                <a:ea typeface="微软雅黑"/>
              </a:rPr>
              <a:t>数据发布与订阅</a:t>
            </a:r>
            <a:endParaRPr kumimoji="0" lang="zh-CN" altLang="en-US" sz="32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7" name="Picture 2" descr="/user-guide/images/zookeeper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4857" y="1614796"/>
            <a:ext cx="5807830" cy="3345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dubbo-archituctur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909" y="1651722"/>
            <a:ext cx="4962578" cy="3308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496457" y="5471886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 smtClean="0"/>
              <a:t>Dubbo</a:t>
            </a:r>
            <a:r>
              <a:rPr lang="zh-CN" altLang="en-US" dirty="0" smtClean="0"/>
              <a:t>架构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026165" y="5471886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Z</a:t>
            </a:r>
            <a:r>
              <a:rPr lang="en-US" altLang="zh-CN" dirty="0" smtClean="0"/>
              <a:t>ookeeper</a:t>
            </a:r>
            <a:r>
              <a:rPr lang="zh-CN" altLang="en-US" dirty="0" smtClean="0"/>
              <a:t>注册中心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57849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 rot="1800000">
            <a:off x="3231017" y="4366767"/>
            <a:ext cx="9304483" cy="1956402"/>
          </a:xfrm>
          <a:custGeom>
            <a:avLst/>
            <a:gdLst>
              <a:gd name="connsiteX0" fmla="*/ 0 w 13677900"/>
              <a:gd name="connsiteY0" fmla="*/ 0 h 1941397"/>
              <a:gd name="connsiteX1" fmla="*/ 13677900 w 13677900"/>
              <a:gd name="connsiteY1" fmla="*/ 0 h 1941397"/>
              <a:gd name="connsiteX2" fmla="*/ 13677900 w 13677900"/>
              <a:gd name="connsiteY2" fmla="*/ 1941397 h 1941397"/>
              <a:gd name="connsiteX3" fmla="*/ 0 w 13677900"/>
              <a:gd name="connsiteY3" fmla="*/ 1941397 h 1941397"/>
              <a:gd name="connsiteX4" fmla="*/ 0 w 13677900"/>
              <a:gd name="connsiteY4" fmla="*/ 0 h 1941397"/>
              <a:gd name="connsiteX0" fmla="*/ 0 w 13677900"/>
              <a:gd name="connsiteY0" fmla="*/ 11087 h 1952484"/>
              <a:gd name="connsiteX1" fmla="*/ 4373417 w 13677900"/>
              <a:gd name="connsiteY1" fmla="*/ 0 h 1952484"/>
              <a:gd name="connsiteX2" fmla="*/ 13677900 w 13677900"/>
              <a:gd name="connsiteY2" fmla="*/ 11087 h 1952484"/>
              <a:gd name="connsiteX3" fmla="*/ 13677900 w 13677900"/>
              <a:gd name="connsiteY3" fmla="*/ 1952484 h 1952484"/>
              <a:gd name="connsiteX4" fmla="*/ 0 w 13677900"/>
              <a:gd name="connsiteY4" fmla="*/ 1952484 h 1952484"/>
              <a:gd name="connsiteX5" fmla="*/ 0 w 13677900"/>
              <a:gd name="connsiteY5" fmla="*/ 11087 h 1952484"/>
              <a:gd name="connsiteX0" fmla="*/ 0 w 13677900"/>
              <a:gd name="connsiteY0" fmla="*/ 11087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6" fmla="*/ 0 w 13677900"/>
              <a:gd name="connsiteY6" fmla="*/ 11087 h 1956402"/>
              <a:gd name="connsiteX0" fmla="*/ 0 w 13677900"/>
              <a:gd name="connsiteY0" fmla="*/ 1952484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0" fmla="*/ 15012 w 9304483"/>
              <a:gd name="connsiteY0" fmla="*/ 1956402 h 1956402"/>
              <a:gd name="connsiteX1" fmla="*/ 0 w 9304483"/>
              <a:gd name="connsiteY1" fmla="*/ 0 h 1956402"/>
              <a:gd name="connsiteX2" fmla="*/ 9304483 w 9304483"/>
              <a:gd name="connsiteY2" fmla="*/ 11087 h 1956402"/>
              <a:gd name="connsiteX3" fmla="*/ 9304483 w 9304483"/>
              <a:gd name="connsiteY3" fmla="*/ 1952484 h 1956402"/>
              <a:gd name="connsiteX4" fmla="*/ 15012 w 9304483"/>
              <a:gd name="connsiteY4" fmla="*/ 1956402 h 1956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483" h="1956402">
                <a:moveTo>
                  <a:pt x="15012" y="1956402"/>
                </a:moveTo>
                <a:lnTo>
                  <a:pt x="0" y="0"/>
                </a:lnTo>
                <a:lnTo>
                  <a:pt x="9304483" y="11087"/>
                </a:lnTo>
                <a:lnTo>
                  <a:pt x="9304483" y="1952484"/>
                </a:lnTo>
                <a:lnTo>
                  <a:pt x="15012" y="1956402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  <a:alpha val="40000"/>
                </a:schemeClr>
              </a:gs>
              <a:gs pos="84600">
                <a:schemeClr val="bg1">
                  <a:lumMod val="95000"/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6" name="矩形 24"/>
          <p:cNvSpPr/>
          <p:nvPr/>
        </p:nvSpPr>
        <p:spPr>
          <a:xfrm rot="1800000">
            <a:off x="7769937" y="4366767"/>
            <a:ext cx="9304483" cy="1956402"/>
          </a:xfrm>
          <a:custGeom>
            <a:avLst/>
            <a:gdLst>
              <a:gd name="connsiteX0" fmla="*/ 0 w 13677900"/>
              <a:gd name="connsiteY0" fmla="*/ 0 h 1941397"/>
              <a:gd name="connsiteX1" fmla="*/ 13677900 w 13677900"/>
              <a:gd name="connsiteY1" fmla="*/ 0 h 1941397"/>
              <a:gd name="connsiteX2" fmla="*/ 13677900 w 13677900"/>
              <a:gd name="connsiteY2" fmla="*/ 1941397 h 1941397"/>
              <a:gd name="connsiteX3" fmla="*/ 0 w 13677900"/>
              <a:gd name="connsiteY3" fmla="*/ 1941397 h 1941397"/>
              <a:gd name="connsiteX4" fmla="*/ 0 w 13677900"/>
              <a:gd name="connsiteY4" fmla="*/ 0 h 1941397"/>
              <a:gd name="connsiteX0" fmla="*/ 0 w 13677900"/>
              <a:gd name="connsiteY0" fmla="*/ 11087 h 1952484"/>
              <a:gd name="connsiteX1" fmla="*/ 4373417 w 13677900"/>
              <a:gd name="connsiteY1" fmla="*/ 0 h 1952484"/>
              <a:gd name="connsiteX2" fmla="*/ 13677900 w 13677900"/>
              <a:gd name="connsiteY2" fmla="*/ 11087 h 1952484"/>
              <a:gd name="connsiteX3" fmla="*/ 13677900 w 13677900"/>
              <a:gd name="connsiteY3" fmla="*/ 1952484 h 1952484"/>
              <a:gd name="connsiteX4" fmla="*/ 0 w 13677900"/>
              <a:gd name="connsiteY4" fmla="*/ 1952484 h 1952484"/>
              <a:gd name="connsiteX5" fmla="*/ 0 w 13677900"/>
              <a:gd name="connsiteY5" fmla="*/ 11087 h 1952484"/>
              <a:gd name="connsiteX0" fmla="*/ 0 w 13677900"/>
              <a:gd name="connsiteY0" fmla="*/ 11087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6" fmla="*/ 0 w 13677900"/>
              <a:gd name="connsiteY6" fmla="*/ 11087 h 1956402"/>
              <a:gd name="connsiteX0" fmla="*/ 0 w 13677900"/>
              <a:gd name="connsiteY0" fmla="*/ 1952484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0" fmla="*/ 15012 w 9304483"/>
              <a:gd name="connsiteY0" fmla="*/ 1956402 h 1956402"/>
              <a:gd name="connsiteX1" fmla="*/ 0 w 9304483"/>
              <a:gd name="connsiteY1" fmla="*/ 0 h 1956402"/>
              <a:gd name="connsiteX2" fmla="*/ 9304483 w 9304483"/>
              <a:gd name="connsiteY2" fmla="*/ 11087 h 1956402"/>
              <a:gd name="connsiteX3" fmla="*/ 9304483 w 9304483"/>
              <a:gd name="connsiteY3" fmla="*/ 1952484 h 1956402"/>
              <a:gd name="connsiteX4" fmla="*/ 15012 w 9304483"/>
              <a:gd name="connsiteY4" fmla="*/ 1956402 h 1956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483" h="1956402">
                <a:moveTo>
                  <a:pt x="15012" y="1956402"/>
                </a:moveTo>
                <a:lnTo>
                  <a:pt x="0" y="0"/>
                </a:lnTo>
                <a:lnTo>
                  <a:pt x="9304483" y="11087"/>
                </a:lnTo>
                <a:lnTo>
                  <a:pt x="9304483" y="1952484"/>
                </a:lnTo>
                <a:lnTo>
                  <a:pt x="15012" y="1956402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  <a:alpha val="40000"/>
                </a:schemeClr>
              </a:gs>
              <a:gs pos="84600">
                <a:schemeClr val="bg1">
                  <a:lumMod val="95000"/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155697" y="459265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noProof="0" dirty="0" smtClean="0">
                <a:solidFill>
                  <a:prstClr val="black"/>
                </a:solidFill>
                <a:latin typeface="Arial"/>
                <a:ea typeface="微软雅黑"/>
              </a:rPr>
              <a:t>数据发布与订阅</a:t>
            </a:r>
            <a:endParaRPr kumimoji="0" lang="zh-CN" altLang="en-US" sz="32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55697" y="1294537"/>
            <a:ext cx="11277446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1.</a:t>
            </a:r>
            <a:r>
              <a:rPr lang="zh-CN" altLang="en-US" dirty="0" smtClean="0"/>
              <a:t>服务提供者</a:t>
            </a:r>
            <a:endParaRPr lang="en-US" altLang="zh-CN" dirty="0" smtClean="0"/>
          </a:p>
          <a:p>
            <a:r>
              <a:rPr lang="zh-CN" altLang="en-US" dirty="0" smtClean="0"/>
              <a:t>服务提供者在初始化启动的时候，会首先在</a:t>
            </a:r>
            <a:r>
              <a:rPr lang="en-US" altLang="zh-CN" dirty="0" err="1" smtClean="0"/>
              <a:t>zk</a:t>
            </a:r>
            <a:r>
              <a:rPr lang="zh-CN" altLang="en-US" dirty="0" smtClean="0"/>
              <a:t>的</a:t>
            </a:r>
            <a:r>
              <a:rPr lang="en-US" altLang="zh-CN" dirty="0" smtClean="0"/>
              <a:t>/</a:t>
            </a:r>
            <a:r>
              <a:rPr lang="en-US" altLang="zh-CN" dirty="0" err="1" smtClean="0"/>
              <a:t>dubbo</a:t>
            </a:r>
            <a:r>
              <a:rPr lang="en-US" altLang="zh-CN" dirty="0" smtClean="0"/>
              <a:t>/</a:t>
            </a:r>
            <a:r>
              <a:rPr lang="en-US" altLang="zh-CN" dirty="0" err="1" smtClean="0"/>
              <a:t>com.foo.BarService</a:t>
            </a:r>
            <a:r>
              <a:rPr lang="en-US" altLang="zh-CN" dirty="0" smtClean="0"/>
              <a:t>/providers</a:t>
            </a:r>
            <a:r>
              <a:rPr lang="zh-CN" altLang="en-US" dirty="0" smtClean="0"/>
              <a:t>节点下创建一个子节点</a:t>
            </a:r>
            <a:endParaRPr lang="en-US" altLang="zh-CN" dirty="0" smtClean="0"/>
          </a:p>
          <a:p>
            <a:r>
              <a:rPr lang="zh-CN" altLang="en-US" dirty="0" smtClean="0"/>
              <a:t>，并写入自己的</a:t>
            </a:r>
            <a:r>
              <a:rPr lang="en-US" altLang="zh-CN" dirty="0" smtClean="0"/>
              <a:t>URL</a:t>
            </a:r>
            <a:r>
              <a:rPr lang="zh-CN" altLang="en-US" dirty="0" smtClean="0"/>
              <a:t>地址，这就代表了“</a:t>
            </a:r>
            <a:r>
              <a:rPr lang="en-US" altLang="zh-CN" dirty="0" err="1" smtClean="0"/>
              <a:t>com.foo.BarService</a:t>
            </a:r>
            <a:r>
              <a:rPr lang="zh-CN" altLang="en-US" dirty="0" smtClean="0"/>
              <a:t>”这个服务的一个提供折</a:t>
            </a:r>
            <a:endParaRPr lang="en-US" altLang="zh-CN" dirty="0" smtClean="0"/>
          </a:p>
          <a:p>
            <a:r>
              <a:rPr lang="en-US" altLang="zh-CN" dirty="0" smtClean="0"/>
              <a:t>2.</a:t>
            </a:r>
            <a:r>
              <a:rPr lang="zh-CN" altLang="en-US" dirty="0" smtClean="0"/>
              <a:t>服务消费者</a:t>
            </a:r>
            <a:endParaRPr lang="en-US" altLang="zh-CN" dirty="0" smtClean="0"/>
          </a:p>
          <a:p>
            <a:r>
              <a:rPr lang="zh-CN" altLang="en-US" dirty="0" smtClean="0"/>
              <a:t>服务消费者会在启动的时候，读取并订阅</a:t>
            </a:r>
            <a:r>
              <a:rPr lang="en-US" altLang="zh-CN" dirty="0" err="1" smtClean="0"/>
              <a:t>zk</a:t>
            </a:r>
            <a:r>
              <a:rPr lang="zh-CN" altLang="en-US" dirty="0" smtClean="0"/>
              <a:t>上</a:t>
            </a:r>
            <a:r>
              <a:rPr lang="en-US" altLang="zh-CN" dirty="0" smtClean="0"/>
              <a:t>/</a:t>
            </a:r>
            <a:r>
              <a:rPr lang="en-US" altLang="zh-CN" dirty="0" err="1" smtClean="0"/>
              <a:t>dubbo</a:t>
            </a:r>
            <a:r>
              <a:rPr lang="en-US" altLang="zh-CN" dirty="0" smtClean="0"/>
              <a:t>/</a:t>
            </a:r>
            <a:r>
              <a:rPr lang="en-US" altLang="zh-CN" dirty="0" err="1" smtClean="0"/>
              <a:t>com.foo.BarService</a:t>
            </a:r>
            <a:r>
              <a:rPr lang="en-US" altLang="zh-CN" dirty="0" smtClean="0"/>
              <a:t>/providers</a:t>
            </a:r>
            <a:r>
              <a:rPr lang="zh-CN" altLang="en-US" dirty="0" smtClean="0"/>
              <a:t>节点下的所有子节点，并</a:t>
            </a:r>
            <a:endParaRPr lang="en-US" altLang="zh-CN" dirty="0" smtClean="0"/>
          </a:p>
          <a:p>
            <a:r>
              <a:rPr lang="zh-CN" altLang="en-US" dirty="0" smtClean="0"/>
              <a:t>解析出所有提供者的</a:t>
            </a:r>
            <a:r>
              <a:rPr lang="en-US" altLang="zh-CN" dirty="0" smtClean="0"/>
              <a:t>URL</a:t>
            </a:r>
            <a:r>
              <a:rPr lang="zh-CN" altLang="en-US" dirty="0" smtClean="0"/>
              <a:t>地址来作为该服务地址列表，然后开始发起正常调用。</a:t>
            </a:r>
            <a:endParaRPr lang="en-US" altLang="zh-CN" dirty="0" smtClean="0"/>
          </a:p>
          <a:p>
            <a:r>
              <a:rPr lang="zh-CN" altLang="en-US" dirty="0" smtClean="0"/>
              <a:t>同时，服务消费者还会在</a:t>
            </a:r>
            <a:r>
              <a:rPr lang="en-US" altLang="zh-CN" dirty="0" err="1" smtClean="0"/>
              <a:t>zk</a:t>
            </a:r>
            <a:r>
              <a:rPr lang="zh-CN" altLang="en-US" dirty="0" smtClean="0"/>
              <a:t>的</a:t>
            </a:r>
            <a:r>
              <a:rPr lang="en-US" altLang="zh-CN" dirty="0" smtClean="0"/>
              <a:t>/</a:t>
            </a:r>
            <a:r>
              <a:rPr lang="en-US" altLang="zh-CN" dirty="0" err="1" smtClean="0"/>
              <a:t>dubbo</a:t>
            </a:r>
            <a:r>
              <a:rPr lang="en-US" altLang="zh-CN" dirty="0" smtClean="0"/>
              <a:t>/</a:t>
            </a:r>
            <a:r>
              <a:rPr lang="en-US" altLang="zh-CN" dirty="0" err="1" smtClean="0"/>
              <a:t>com.foo.BarService</a:t>
            </a:r>
            <a:r>
              <a:rPr lang="en-US" altLang="zh-CN" dirty="0" smtClean="0"/>
              <a:t>/consumers</a:t>
            </a:r>
            <a:r>
              <a:rPr lang="zh-CN" altLang="en-US" dirty="0" smtClean="0"/>
              <a:t>节点下创建一个临时节点，并写入自己</a:t>
            </a:r>
            <a:endParaRPr lang="en-US" altLang="zh-CN" dirty="0" smtClean="0"/>
          </a:p>
          <a:p>
            <a:r>
              <a:rPr lang="zh-CN" altLang="en-US" dirty="0" smtClean="0"/>
              <a:t>的</a:t>
            </a:r>
            <a:r>
              <a:rPr lang="en-US" altLang="zh-CN" dirty="0" smtClean="0"/>
              <a:t>URL</a:t>
            </a:r>
            <a:r>
              <a:rPr lang="zh-CN" altLang="en-US" dirty="0" smtClean="0"/>
              <a:t>地址，这就代表了“</a:t>
            </a:r>
            <a:r>
              <a:rPr lang="en-US" altLang="zh-CN" dirty="0" err="1" smtClean="0"/>
              <a:t>com.foo.BarService</a:t>
            </a:r>
            <a:r>
              <a:rPr lang="zh-CN" altLang="en-US" dirty="0" smtClean="0"/>
              <a:t>”这个服务的一个消费者</a:t>
            </a:r>
            <a:endParaRPr lang="en-US" altLang="zh-CN" dirty="0" smtClean="0"/>
          </a:p>
          <a:p>
            <a:r>
              <a:rPr lang="en-US" altLang="zh-CN" dirty="0" smtClean="0"/>
              <a:t>3.</a:t>
            </a:r>
            <a:r>
              <a:rPr lang="zh-CN" altLang="en-US" dirty="0" smtClean="0"/>
              <a:t>监控中心</a:t>
            </a:r>
            <a:endParaRPr lang="en-US" altLang="zh-CN" dirty="0" smtClean="0"/>
          </a:p>
          <a:p>
            <a:r>
              <a:rPr lang="zh-CN" altLang="en-US" dirty="0" smtClean="0"/>
              <a:t>监控中心是</a:t>
            </a:r>
            <a:r>
              <a:rPr lang="en-US" altLang="zh-CN" dirty="0" err="1" smtClean="0"/>
              <a:t>Dubbo</a:t>
            </a:r>
            <a:r>
              <a:rPr lang="zh-CN" altLang="en-US" dirty="0" smtClean="0"/>
              <a:t>中服务治理体系的重要一部分，其需要知道一个服务的所有提供者和订阅者及其变化情况。</a:t>
            </a:r>
            <a:endParaRPr lang="en-US" altLang="zh-CN" dirty="0" smtClean="0"/>
          </a:p>
          <a:p>
            <a:r>
              <a:rPr lang="zh-CN" altLang="en-US" dirty="0" smtClean="0"/>
              <a:t>监控中心在启动的时候，会通过</a:t>
            </a:r>
            <a:r>
              <a:rPr lang="en-US" altLang="zh-CN" dirty="0" err="1" smtClean="0"/>
              <a:t>zk</a:t>
            </a:r>
            <a:r>
              <a:rPr lang="zh-CN" altLang="en-US" dirty="0" smtClean="0"/>
              <a:t>的</a:t>
            </a:r>
            <a:r>
              <a:rPr lang="en-US" altLang="zh-CN" dirty="0" smtClean="0"/>
              <a:t>/</a:t>
            </a:r>
            <a:r>
              <a:rPr lang="en-US" altLang="zh-CN" dirty="0" err="1" smtClean="0"/>
              <a:t>dubbo</a:t>
            </a:r>
            <a:r>
              <a:rPr lang="en-US" altLang="zh-CN" dirty="0" smtClean="0"/>
              <a:t>/</a:t>
            </a:r>
            <a:r>
              <a:rPr lang="en-US" altLang="zh-CN" dirty="0" err="1" smtClean="0"/>
              <a:t>com.foo.BarService</a:t>
            </a:r>
            <a:r>
              <a:rPr lang="zh-CN" altLang="en-US" dirty="0" smtClean="0"/>
              <a:t>节点来获取所有提供者和消费者的</a:t>
            </a:r>
            <a:r>
              <a:rPr lang="en-US" altLang="zh-CN" dirty="0" smtClean="0"/>
              <a:t>URL</a:t>
            </a:r>
            <a:r>
              <a:rPr lang="zh-CN" altLang="en-US" dirty="0" smtClean="0"/>
              <a:t>地址，</a:t>
            </a:r>
            <a:endParaRPr lang="en-US" altLang="zh-CN" dirty="0" smtClean="0"/>
          </a:p>
          <a:p>
            <a:r>
              <a:rPr lang="zh-CN" altLang="en-US" dirty="0" smtClean="0"/>
              <a:t>并注册</a:t>
            </a:r>
            <a:r>
              <a:rPr lang="en-US" altLang="zh-CN" dirty="0" smtClean="0"/>
              <a:t>Watcher</a:t>
            </a:r>
            <a:r>
              <a:rPr lang="zh-CN" altLang="en-US" dirty="0" smtClean="0"/>
              <a:t>来监听其子节点变化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zh-CN" altLang="en-US" dirty="0"/>
              <a:t>所有提供者在</a:t>
            </a:r>
            <a:r>
              <a:rPr lang="en-US" altLang="zh-CN" dirty="0" err="1"/>
              <a:t>zk</a:t>
            </a:r>
            <a:r>
              <a:rPr lang="zh-CN" altLang="en-US" dirty="0"/>
              <a:t>上创建的节点都是临时节点，利用的是临时节点的生命周期和客户端会话相关的特性，因此</a:t>
            </a:r>
            <a:endParaRPr lang="en-US" altLang="zh-CN" dirty="0"/>
          </a:p>
          <a:p>
            <a:r>
              <a:rPr lang="zh-CN" altLang="en-US" dirty="0"/>
              <a:t>一旦提供者所在的机器出现故障导致该提供者无法对外提供服务时，该临时节点就会自动从</a:t>
            </a:r>
            <a:r>
              <a:rPr lang="en-US" altLang="zh-CN" dirty="0" err="1"/>
              <a:t>zk</a:t>
            </a:r>
            <a:r>
              <a:rPr lang="zh-CN" altLang="en-US" dirty="0"/>
              <a:t>上删除，这样</a:t>
            </a:r>
            <a:endParaRPr lang="en-US" altLang="zh-CN" dirty="0"/>
          </a:p>
          <a:p>
            <a:r>
              <a:rPr lang="zh-CN" altLang="en-US" dirty="0"/>
              <a:t>服务的消费者和监控中心都能感知服务提供者的变化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846713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 rot="1800000">
            <a:off x="3231017" y="4366767"/>
            <a:ext cx="9304483" cy="1956402"/>
          </a:xfrm>
          <a:custGeom>
            <a:avLst/>
            <a:gdLst>
              <a:gd name="connsiteX0" fmla="*/ 0 w 13677900"/>
              <a:gd name="connsiteY0" fmla="*/ 0 h 1941397"/>
              <a:gd name="connsiteX1" fmla="*/ 13677900 w 13677900"/>
              <a:gd name="connsiteY1" fmla="*/ 0 h 1941397"/>
              <a:gd name="connsiteX2" fmla="*/ 13677900 w 13677900"/>
              <a:gd name="connsiteY2" fmla="*/ 1941397 h 1941397"/>
              <a:gd name="connsiteX3" fmla="*/ 0 w 13677900"/>
              <a:gd name="connsiteY3" fmla="*/ 1941397 h 1941397"/>
              <a:gd name="connsiteX4" fmla="*/ 0 w 13677900"/>
              <a:gd name="connsiteY4" fmla="*/ 0 h 1941397"/>
              <a:gd name="connsiteX0" fmla="*/ 0 w 13677900"/>
              <a:gd name="connsiteY0" fmla="*/ 11087 h 1952484"/>
              <a:gd name="connsiteX1" fmla="*/ 4373417 w 13677900"/>
              <a:gd name="connsiteY1" fmla="*/ 0 h 1952484"/>
              <a:gd name="connsiteX2" fmla="*/ 13677900 w 13677900"/>
              <a:gd name="connsiteY2" fmla="*/ 11087 h 1952484"/>
              <a:gd name="connsiteX3" fmla="*/ 13677900 w 13677900"/>
              <a:gd name="connsiteY3" fmla="*/ 1952484 h 1952484"/>
              <a:gd name="connsiteX4" fmla="*/ 0 w 13677900"/>
              <a:gd name="connsiteY4" fmla="*/ 1952484 h 1952484"/>
              <a:gd name="connsiteX5" fmla="*/ 0 w 13677900"/>
              <a:gd name="connsiteY5" fmla="*/ 11087 h 1952484"/>
              <a:gd name="connsiteX0" fmla="*/ 0 w 13677900"/>
              <a:gd name="connsiteY0" fmla="*/ 11087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6" fmla="*/ 0 w 13677900"/>
              <a:gd name="connsiteY6" fmla="*/ 11087 h 1956402"/>
              <a:gd name="connsiteX0" fmla="*/ 0 w 13677900"/>
              <a:gd name="connsiteY0" fmla="*/ 1952484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0" fmla="*/ 15012 w 9304483"/>
              <a:gd name="connsiteY0" fmla="*/ 1956402 h 1956402"/>
              <a:gd name="connsiteX1" fmla="*/ 0 w 9304483"/>
              <a:gd name="connsiteY1" fmla="*/ 0 h 1956402"/>
              <a:gd name="connsiteX2" fmla="*/ 9304483 w 9304483"/>
              <a:gd name="connsiteY2" fmla="*/ 11087 h 1956402"/>
              <a:gd name="connsiteX3" fmla="*/ 9304483 w 9304483"/>
              <a:gd name="connsiteY3" fmla="*/ 1952484 h 1956402"/>
              <a:gd name="connsiteX4" fmla="*/ 15012 w 9304483"/>
              <a:gd name="connsiteY4" fmla="*/ 1956402 h 1956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483" h="1956402">
                <a:moveTo>
                  <a:pt x="15012" y="1956402"/>
                </a:moveTo>
                <a:lnTo>
                  <a:pt x="0" y="0"/>
                </a:lnTo>
                <a:lnTo>
                  <a:pt x="9304483" y="11087"/>
                </a:lnTo>
                <a:lnTo>
                  <a:pt x="9304483" y="1952484"/>
                </a:lnTo>
                <a:lnTo>
                  <a:pt x="15012" y="1956402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  <a:alpha val="40000"/>
                </a:schemeClr>
              </a:gs>
              <a:gs pos="84600">
                <a:schemeClr val="bg1">
                  <a:lumMod val="95000"/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6" name="矩形 24"/>
          <p:cNvSpPr/>
          <p:nvPr/>
        </p:nvSpPr>
        <p:spPr>
          <a:xfrm rot="1800000">
            <a:off x="7769937" y="4366767"/>
            <a:ext cx="9304483" cy="1956402"/>
          </a:xfrm>
          <a:custGeom>
            <a:avLst/>
            <a:gdLst>
              <a:gd name="connsiteX0" fmla="*/ 0 w 13677900"/>
              <a:gd name="connsiteY0" fmla="*/ 0 h 1941397"/>
              <a:gd name="connsiteX1" fmla="*/ 13677900 w 13677900"/>
              <a:gd name="connsiteY1" fmla="*/ 0 h 1941397"/>
              <a:gd name="connsiteX2" fmla="*/ 13677900 w 13677900"/>
              <a:gd name="connsiteY2" fmla="*/ 1941397 h 1941397"/>
              <a:gd name="connsiteX3" fmla="*/ 0 w 13677900"/>
              <a:gd name="connsiteY3" fmla="*/ 1941397 h 1941397"/>
              <a:gd name="connsiteX4" fmla="*/ 0 w 13677900"/>
              <a:gd name="connsiteY4" fmla="*/ 0 h 1941397"/>
              <a:gd name="connsiteX0" fmla="*/ 0 w 13677900"/>
              <a:gd name="connsiteY0" fmla="*/ 11087 h 1952484"/>
              <a:gd name="connsiteX1" fmla="*/ 4373417 w 13677900"/>
              <a:gd name="connsiteY1" fmla="*/ 0 h 1952484"/>
              <a:gd name="connsiteX2" fmla="*/ 13677900 w 13677900"/>
              <a:gd name="connsiteY2" fmla="*/ 11087 h 1952484"/>
              <a:gd name="connsiteX3" fmla="*/ 13677900 w 13677900"/>
              <a:gd name="connsiteY3" fmla="*/ 1952484 h 1952484"/>
              <a:gd name="connsiteX4" fmla="*/ 0 w 13677900"/>
              <a:gd name="connsiteY4" fmla="*/ 1952484 h 1952484"/>
              <a:gd name="connsiteX5" fmla="*/ 0 w 13677900"/>
              <a:gd name="connsiteY5" fmla="*/ 11087 h 1952484"/>
              <a:gd name="connsiteX0" fmla="*/ 0 w 13677900"/>
              <a:gd name="connsiteY0" fmla="*/ 11087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6" fmla="*/ 0 w 13677900"/>
              <a:gd name="connsiteY6" fmla="*/ 11087 h 1956402"/>
              <a:gd name="connsiteX0" fmla="*/ 0 w 13677900"/>
              <a:gd name="connsiteY0" fmla="*/ 1952484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0" fmla="*/ 15012 w 9304483"/>
              <a:gd name="connsiteY0" fmla="*/ 1956402 h 1956402"/>
              <a:gd name="connsiteX1" fmla="*/ 0 w 9304483"/>
              <a:gd name="connsiteY1" fmla="*/ 0 h 1956402"/>
              <a:gd name="connsiteX2" fmla="*/ 9304483 w 9304483"/>
              <a:gd name="connsiteY2" fmla="*/ 11087 h 1956402"/>
              <a:gd name="connsiteX3" fmla="*/ 9304483 w 9304483"/>
              <a:gd name="connsiteY3" fmla="*/ 1952484 h 1956402"/>
              <a:gd name="connsiteX4" fmla="*/ 15012 w 9304483"/>
              <a:gd name="connsiteY4" fmla="*/ 1956402 h 1956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483" h="1956402">
                <a:moveTo>
                  <a:pt x="15012" y="1956402"/>
                </a:moveTo>
                <a:lnTo>
                  <a:pt x="0" y="0"/>
                </a:lnTo>
                <a:lnTo>
                  <a:pt x="9304483" y="11087"/>
                </a:lnTo>
                <a:lnTo>
                  <a:pt x="9304483" y="1952484"/>
                </a:lnTo>
                <a:lnTo>
                  <a:pt x="15012" y="1956402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  <a:alpha val="40000"/>
                </a:schemeClr>
              </a:gs>
              <a:gs pos="84600">
                <a:schemeClr val="bg1">
                  <a:lumMod val="95000"/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155697" y="459265"/>
            <a:ext cx="3171061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>
              <a:defRPr/>
            </a:pPr>
            <a:r>
              <a:rPr lang="zh-CN" altLang="en-US" sz="3200" dirty="0">
                <a:solidFill>
                  <a:prstClr val="black"/>
                </a:solidFill>
              </a:rPr>
              <a:t>数据发布与订阅</a:t>
            </a:r>
            <a:endParaRPr kumimoji="0" lang="zh-CN" altLang="en-US" sz="32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7" name="Picture 2" descr="http://incdn1.b0.upaiyun.com/2017/06/0b8fe12eb6cb1c0f8e9d0efe51bc3b49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6448" y="1310740"/>
            <a:ext cx="7546975" cy="4326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470098" y="5962650"/>
            <a:ext cx="1633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Canal HA</a:t>
            </a:r>
            <a:r>
              <a:rPr lang="zh-CN" altLang="en-US" dirty="0" smtClean="0"/>
              <a:t>机制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87634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 rot="1800000">
            <a:off x="3231017" y="4366767"/>
            <a:ext cx="9304483" cy="1956402"/>
          </a:xfrm>
          <a:custGeom>
            <a:avLst/>
            <a:gdLst>
              <a:gd name="connsiteX0" fmla="*/ 0 w 13677900"/>
              <a:gd name="connsiteY0" fmla="*/ 0 h 1941397"/>
              <a:gd name="connsiteX1" fmla="*/ 13677900 w 13677900"/>
              <a:gd name="connsiteY1" fmla="*/ 0 h 1941397"/>
              <a:gd name="connsiteX2" fmla="*/ 13677900 w 13677900"/>
              <a:gd name="connsiteY2" fmla="*/ 1941397 h 1941397"/>
              <a:gd name="connsiteX3" fmla="*/ 0 w 13677900"/>
              <a:gd name="connsiteY3" fmla="*/ 1941397 h 1941397"/>
              <a:gd name="connsiteX4" fmla="*/ 0 w 13677900"/>
              <a:gd name="connsiteY4" fmla="*/ 0 h 1941397"/>
              <a:gd name="connsiteX0" fmla="*/ 0 w 13677900"/>
              <a:gd name="connsiteY0" fmla="*/ 11087 h 1952484"/>
              <a:gd name="connsiteX1" fmla="*/ 4373417 w 13677900"/>
              <a:gd name="connsiteY1" fmla="*/ 0 h 1952484"/>
              <a:gd name="connsiteX2" fmla="*/ 13677900 w 13677900"/>
              <a:gd name="connsiteY2" fmla="*/ 11087 h 1952484"/>
              <a:gd name="connsiteX3" fmla="*/ 13677900 w 13677900"/>
              <a:gd name="connsiteY3" fmla="*/ 1952484 h 1952484"/>
              <a:gd name="connsiteX4" fmla="*/ 0 w 13677900"/>
              <a:gd name="connsiteY4" fmla="*/ 1952484 h 1952484"/>
              <a:gd name="connsiteX5" fmla="*/ 0 w 13677900"/>
              <a:gd name="connsiteY5" fmla="*/ 11087 h 1952484"/>
              <a:gd name="connsiteX0" fmla="*/ 0 w 13677900"/>
              <a:gd name="connsiteY0" fmla="*/ 11087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6" fmla="*/ 0 w 13677900"/>
              <a:gd name="connsiteY6" fmla="*/ 11087 h 1956402"/>
              <a:gd name="connsiteX0" fmla="*/ 0 w 13677900"/>
              <a:gd name="connsiteY0" fmla="*/ 1952484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0" fmla="*/ 15012 w 9304483"/>
              <a:gd name="connsiteY0" fmla="*/ 1956402 h 1956402"/>
              <a:gd name="connsiteX1" fmla="*/ 0 w 9304483"/>
              <a:gd name="connsiteY1" fmla="*/ 0 h 1956402"/>
              <a:gd name="connsiteX2" fmla="*/ 9304483 w 9304483"/>
              <a:gd name="connsiteY2" fmla="*/ 11087 h 1956402"/>
              <a:gd name="connsiteX3" fmla="*/ 9304483 w 9304483"/>
              <a:gd name="connsiteY3" fmla="*/ 1952484 h 1956402"/>
              <a:gd name="connsiteX4" fmla="*/ 15012 w 9304483"/>
              <a:gd name="connsiteY4" fmla="*/ 1956402 h 1956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483" h="1956402">
                <a:moveTo>
                  <a:pt x="15012" y="1956402"/>
                </a:moveTo>
                <a:lnTo>
                  <a:pt x="0" y="0"/>
                </a:lnTo>
                <a:lnTo>
                  <a:pt x="9304483" y="11087"/>
                </a:lnTo>
                <a:lnTo>
                  <a:pt x="9304483" y="1952484"/>
                </a:lnTo>
                <a:lnTo>
                  <a:pt x="15012" y="1956402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  <a:alpha val="40000"/>
                </a:schemeClr>
              </a:gs>
              <a:gs pos="84600">
                <a:schemeClr val="bg1">
                  <a:lumMod val="95000"/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6" name="矩形 24"/>
          <p:cNvSpPr/>
          <p:nvPr/>
        </p:nvSpPr>
        <p:spPr>
          <a:xfrm rot="1800000">
            <a:off x="7769937" y="4366767"/>
            <a:ext cx="9304483" cy="1956402"/>
          </a:xfrm>
          <a:custGeom>
            <a:avLst/>
            <a:gdLst>
              <a:gd name="connsiteX0" fmla="*/ 0 w 13677900"/>
              <a:gd name="connsiteY0" fmla="*/ 0 h 1941397"/>
              <a:gd name="connsiteX1" fmla="*/ 13677900 w 13677900"/>
              <a:gd name="connsiteY1" fmla="*/ 0 h 1941397"/>
              <a:gd name="connsiteX2" fmla="*/ 13677900 w 13677900"/>
              <a:gd name="connsiteY2" fmla="*/ 1941397 h 1941397"/>
              <a:gd name="connsiteX3" fmla="*/ 0 w 13677900"/>
              <a:gd name="connsiteY3" fmla="*/ 1941397 h 1941397"/>
              <a:gd name="connsiteX4" fmla="*/ 0 w 13677900"/>
              <a:gd name="connsiteY4" fmla="*/ 0 h 1941397"/>
              <a:gd name="connsiteX0" fmla="*/ 0 w 13677900"/>
              <a:gd name="connsiteY0" fmla="*/ 11087 h 1952484"/>
              <a:gd name="connsiteX1" fmla="*/ 4373417 w 13677900"/>
              <a:gd name="connsiteY1" fmla="*/ 0 h 1952484"/>
              <a:gd name="connsiteX2" fmla="*/ 13677900 w 13677900"/>
              <a:gd name="connsiteY2" fmla="*/ 11087 h 1952484"/>
              <a:gd name="connsiteX3" fmla="*/ 13677900 w 13677900"/>
              <a:gd name="connsiteY3" fmla="*/ 1952484 h 1952484"/>
              <a:gd name="connsiteX4" fmla="*/ 0 w 13677900"/>
              <a:gd name="connsiteY4" fmla="*/ 1952484 h 1952484"/>
              <a:gd name="connsiteX5" fmla="*/ 0 w 13677900"/>
              <a:gd name="connsiteY5" fmla="*/ 11087 h 1952484"/>
              <a:gd name="connsiteX0" fmla="*/ 0 w 13677900"/>
              <a:gd name="connsiteY0" fmla="*/ 11087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6" fmla="*/ 0 w 13677900"/>
              <a:gd name="connsiteY6" fmla="*/ 11087 h 1956402"/>
              <a:gd name="connsiteX0" fmla="*/ 0 w 13677900"/>
              <a:gd name="connsiteY0" fmla="*/ 1952484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0" fmla="*/ 15012 w 9304483"/>
              <a:gd name="connsiteY0" fmla="*/ 1956402 h 1956402"/>
              <a:gd name="connsiteX1" fmla="*/ 0 w 9304483"/>
              <a:gd name="connsiteY1" fmla="*/ 0 h 1956402"/>
              <a:gd name="connsiteX2" fmla="*/ 9304483 w 9304483"/>
              <a:gd name="connsiteY2" fmla="*/ 11087 h 1956402"/>
              <a:gd name="connsiteX3" fmla="*/ 9304483 w 9304483"/>
              <a:gd name="connsiteY3" fmla="*/ 1952484 h 1956402"/>
              <a:gd name="connsiteX4" fmla="*/ 15012 w 9304483"/>
              <a:gd name="connsiteY4" fmla="*/ 1956402 h 1956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483" h="1956402">
                <a:moveTo>
                  <a:pt x="15012" y="1956402"/>
                </a:moveTo>
                <a:lnTo>
                  <a:pt x="0" y="0"/>
                </a:lnTo>
                <a:lnTo>
                  <a:pt x="9304483" y="11087"/>
                </a:lnTo>
                <a:lnTo>
                  <a:pt x="9304483" y="1952484"/>
                </a:lnTo>
                <a:lnTo>
                  <a:pt x="15012" y="1956402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  <a:alpha val="40000"/>
                </a:schemeClr>
              </a:gs>
              <a:gs pos="84600">
                <a:schemeClr val="bg1">
                  <a:lumMod val="95000"/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155697" y="459265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noProof="0" dirty="0" smtClean="0">
                <a:solidFill>
                  <a:prstClr val="black"/>
                </a:solidFill>
                <a:latin typeface="Arial"/>
                <a:ea typeface="微软雅黑"/>
              </a:rPr>
              <a:t>负载均衡</a:t>
            </a:r>
            <a:endParaRPr kumimoji="0" lang="zh-CN" altLang="en-US" sz="32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55697" y="1294537"/>
            <a:ext cx="1045670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1.</a:t>
            </a:r>
            <a:r>
              <a:rPr lang="zh-CN" altLang="en-US" dirty="0" smtClean="0"/>
              <a:t>首先建立</a:t>
            </a:r>
            <a:r>
              <a:rPr lang="en-US" altLang="zh-CN" dirty="0" smtClean="0"/>
              <a:t>servers</a:t>
            </a:r>
            <a:r>
              <a:rPr lang="zh-CN" altLang="en-US" dirty="0" smtClean="0"/>
              <a:t>节点</a:t>
            </a:r>
            <a:endParaRPr lang="en-US" altLang="zh-CN" dirty="0" smtClean="0"/>
          </a:p>
          <a:p>
            <a:r>
              <a:rPr lang="en-US" altLang="zh-CN" dirty="0" smtClean="0"/>
              <a:t>2.</a:t>
            </a:r>
            <a:r>
              <a:rPr lang="zh-CN" altLang="en-US" dirty="0"/>
              <a:t>建立监听器监视</a:t>
            </a:r>
            <a:r>
              <a:rPr lang="en-US" altLang="zh-CN" dirty="0"/>
              <a:t>servers</a:t>
            </a:r>
            <a:r>
              <a:rPr lang="zh-CN" altLang="en-US" dirty="0"/>
              <a:t>子节点的状态（用于在服务器增添时及时同步当前集群中服务器列表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en-US" altLang="zh-CN" dirty="0" smtClean="0"/>
              <a:t>3.</a:t>
            </a:r>
            <a:r>
              <a:rPr lang="zh-CN" altLang="en-US" dirty="0"/>
              <a:t>在每个服务器启动时，在</a:t>
            </a:r>
            <a:r>
              <a:rPr lang="en-US" altLang="zh-CN" dirty="0"/>
              <a:t>servers</a:t>
            </a:r>
            <a:r>
              <a:rPr lang="zh-CN" altLang="en-US" dirty="0"/>
              <a:t>节点下建立子节点</a:t>
            </a:r>
            <a:r>
              <a:rPr lang="en-US" altLang="zh-CN" dirty="0"/>
              <a:t>worker server</a:t>
            </a:r>
            <a:r>
              <a:rPr lang="zh-CN" altLang="en-US" dirty="0"/>
              <a:t>（可以用服务器地址命名</a:t>
            </a:r>
            <a:r>
              <a:rPr lang="zh-CN" altLang="en-US" dirty="0" smtClean="0"/>
              <a:t>），</a:t>
            </a:r>
            <a:endParaRPr lang="en-US" altLang="zh-CN" dirty="0" smtClean="0"/>
          </a:p>
          <a:p>
            <a:r>
              <a:rPr lang="en-US" altLang="zh-CN" dirty="0"/>
              <a:t> </a:t>
            </a:r>
            <a:r>
              <a:rPr lang="en-US" altLang="zh-CN" dirty="0" smtClean="0"/>
              <a:t> </a:t>
            </a:r>
            <a:r>
              <a:rPr lang="zh-CN" altLang="en-US" dirty="0" smtClean="0"/>
              <a:t> 在</a:t>
            </a:r>
            <a:r>
              <a:rPr lang="zh-CN" altLang="en-US" dirty="0"/>
              <a:t>对应的字节点下存入服务器的相关</a:t>
            </a:r>
            <a:r>
              <a:rPr lang="zh-CN" altLang="en-US" dirty="0" smtClean="0"/>
              <a:t>信息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>4.</a:t>
            </a:r>
            <a:r>
              <a:rPr lang="zh-CN" altLang="en-US" dirty="0"/>
              <a:t>可以自定义一个负载均衡算法，在每个请求过来时从</a:t>
            </a:r>
            <a:r>
              <a:rPr lang="en-US" altLang="zh-CN" dirty="0"/>
              <a:t>zookeeper</a:t>
            </a:r>
            <a:r>
              <a:rPr lang="zh-CN" altLang="en-US" dirty="0"/>
              <a:t>服务器中获取当前集群服务器列表</a:t>
            </a:r>
            <a:r>
              <a:rPr lang="zh-CN" altLang="en-US" dirty="0" smtClean="0"/>
              <a:t>，</a:t>
            </a:r>
            <a:endParaRPr lang="en-US" altLang="zh-CN" dirty="0" smtClean="0"/>
          </a:p>
          <a:p>
            <a:r>
              <a:rPr lang="en-US" altLang="zh-CN" dirty="0"/>
              <a:t> </a:t>
            </a:r>
            <a:r>
              <a:rPr lang="en-US" altLang="zh-CN" dirty="0" smtClean="0"/>
              <a:t>  </a:t>
            </a:r>
            <a:r>
              <a:rPr lang="zh-CN" altLang="en-US" dirty="0" smtClean="0"/>
              <a:t>根据</a:t>
            </a:r>
            <a:r>
              <a:rPr lang="zh-CN" altLang="en-US" dirty="0"/>
              <a:t>算法选出其中一个服务器来处理请求</a:t>
            </a:r>
          </a:p>
        </p:txBody>
      </p:sp>
      <p:pic>
        <p:nvPicPr>
          <p:cNvPr id="6146" name="Picture 2" descr="https://img-blog.csdn.net/20170413103831099?watermark/2/text/aHR0cDovL2Jsb2cuY3Nkbi5uZXQvbTBfMzc4ODU5MDg=/font/5a6L5L2T/fontsize/400/fill/I0JBQkFCMA==/dissolve/70/gravity/Cent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573" y="3258085"/>
            <a:ext cx="4362450" cy="2943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6515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 rot="1800000">
            <a:off x="3231017" y="4366767"/>
            <a:ext cx="9304483" cy="1956402"/>
          </a:xfrm>
          <a:custGeom>
            <a:avLst/>
            <a:gdLst>
              <a:gd name="connsiteX0" fmla="*/ 0 w 13677900"/>
              <a:gd name="connsiteY0" fmla="*/ 0 h 1941397"/>
              <a:gd name="connsiteX1" fmla="*/ 13677900 w 13677900"/>
              <a:gd name="connsiteY1" fmla="*/ 0 h 1941397"/>
              <a:gd name="connsiteX2" fmla="*/ 13677900 w 13677900"/>
              <a:gd name="connsiteY2" fmla="*/ 1941397 h 1941397"/>
              <a:gd name="connsiteX3" fmla="*/ 0 w 13677900"/>
              <a:gd name="connsiteY3" fmla="*/ 1941397 h 1941397"/>
              <a:gd name="connsiteX4" fmla="*/ 0 w 13677900"/>
              <a:gd name="connsiteY4" fmla="*/ 0 h 1941397"/>
              <a:gd name="connsiteX0" fmla="*/ 0 w 13677900"/>
              <a:gd name="connsiteY0" fmla="*/ 11087 h 1952484"/>
              <a:gd name="connsiteX1" fmla="*/ 4373417 w 13677900"/>
              <a:gd name="connsiteY1" fmla="*/ 0 h 1952484"/>
              <a:gd name="connsiteX2" fmla="*/ 13677900 w 13677900"/>
              <a:gd name="connsiteY2" fmla="*/ 11087 h 1952484"/>
              <a:gd name="connsiteX3" fmla="*/ 13677900 w 13677900"/>
              <a:gd name="connsiteY3" fmla="*/ 1952484 h 1952484"/>
              <a:gd name="connsiteX4" fmla="*/ 0 w 13677900"/>
              <a:gd name="connsiteY4" fmla="*/ 1952484 h 1952484"/>
              <a:gd name="connsiteX5" fmla="*/ 0 w 13677900"/>
              <a:gd name="connsiteY5" fmla="*/ 11087 h 1952484"/>
              <a:gd name="connsiteX0" fmla="*/ 0 w 13677900"/>
              <a:gd name="connsiteY0" fmla="*/ 11087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6" fmla="*/ 0 w 13677900"/>
              <a:gd name="connsiteY6" fmla="*/ 11087 h 1956402"/>
              <a:gd name="connsiteX0" fmla="*/ 0 w 13677900"/>
              <a:gd name="connsiteY0" fmla="*/ 1952484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0" fmla="*/ 15012 w 9304483"/>
              <a:gd name="connsiteY0" fmla="*/ 1956402 h 1956402"/>
              <a:gd name="connsiteX1" fmla="*/ 0 w 9304483"/>
              <a:gd name="connsiteY1" fmla="*/ 0 h 1956402"/>
              <a:gd name="connsiteX2" fmla="*/ 9304483 w 9304483"/>
              <a:gd name="connsiteY2" fmla="*/ 11087 h 1956402"/>
              <a:gd name="connsiteX3" fmla="*/ 9304483 w 9304483"/>
              <a:gd name="connsiteY3" fmla="*/ 1952484 h 1956402"/>
              <a:gd name="connsiteX4" fmla="*/ 15012 w 9304483"/>
              <a:gd name="connsiteY4" fmla="*/ 1956402 h 1956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483" h="1956402">
                <a:moveTo>
                  <a:pt x="15012" y="1956402"/>
                </a:moveTo>
                <a:lnTo>
                  <a:pt x="0" y="0"/>
                </a:lnTo>
                <a:lnTo>
                  <a:pt x="9304483" y="11087"/>
                </a:lnTo>
                <a:lnTo>
                  <a:pt x="9304483" y="1952484"/>
                </a:lnTo>
                <a:lnTo>
                  <a:pt x="15012" y="1956402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  <a:alpha val="40000"/>
                </a:schemeClr>
              </a:gs>
              <a:gs pos="84600">
                <a:schemeClr val="bg1">
                  <a:lumMod val="95000"/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6" name="矩形 24"/>
          <p:cNvSpPr/>
          <p:nvPr/>
        </p:nvSpPr>
        <p:spPr>
          <a:xfrm rot="1800000">
            <a:off x="7769937" y="4366767"/>
            <a:ext cx="9304483" cy="1956402"/>
          </a:xfrm>
          <a:custGeom>
            <a:avLst/>
            <a:gdLst>
              <a:gd name="connsiteX0" fmla="*/ 0 w 13677900"/>
              <a:gd name="connsiteY0" fmla="*/ 0 h 1941397"/>
              <a:gd name="connsiteX1" fmla="*/ 13677900 w 13677900"/>
              <a:gd name="connsiteY1" fmla="*/ 0 h 1941397"/>
              <a:gd name="connsiteX2" fmla="*/ 13677900 w 13677900"/>
              <a:gd name="connsiteY2" fmla="*/ 1941397 h 1941397"/>
              <a:gd name="connsiteX3" fmla="*/ 0 w 13677900"/>
              <a:gd name="connsiteY3" fmla="*/ 1941397 h 1941397"/>
              <a:gd name="connsiteX4" fmla="*/ 0 w 13677900"/>
              <a:gd name="connsiteY4" fmla="*/ 0 h 1941397"/>
              <a:gd name="connsiteX0" fmla="*/ 0 w 13677900"/>
              <a:gd name="connsiteY0" fmla="*/ 11087 h 1952484"/>
              <a:gd name="connsiteX1" fmla="*/ 4373417 w 13677900"/>
              <a:gd name="connsiteY1" fmla="*/ 0 h 1952484"/>
              <a:gd name="connsiteX2" fmla="*/ 13677900 w 13677900"/>
              <a:gd name="connsiteY2" fmla="*/ 11087 h 1952484"/>
              <a:gd name="connsiteX3" fmla="*/ 13677900 w 13677900"/>
              <a:gd name="connsiteY3" fmla="*/ 1952484 h 1952484"/>
              <a:gd name="connsiteX4" fmla="*/ 0 w 13677900"/>
              <a:gd name="connsiteY4" fmla="*/ 1952484 h 1952484"/>
              <a:gd name="connsiteX5" fmla="*/ 0 w 13677900"/>
              <a:gd name="connsiteY5" fmla="*/ 11087 h 1952484"/>
              <a:gd name="connsiteX0" fmla="*/ 0 w 13677900"/>
              <a:gd name="connsiteY0" fmla="*/ 11087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6" fmla="*/ 0 w 13677900"/>
              <a:gd name="connsiteY6" fmla="*/ 11087 h 1956402"/>
              <a:gd name="connsiteX0" fmla="*/ 0 w 13677900"/>
              <a:gd name="connsiteY0" fmla="*/ 1952484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0" fmla="*/ 15012 w 9304483"/>
              <a:gd name="connsiteY0" fmla="*/ 1956402 h 1956402"/>
              <a:gd name="connsiteX1" fmla="*/ 0 w 9304483"/>
              <a:gd name="connsiteY1" fmla="*/ 0 h 1956402"/>
              <a:gd name="connsiteX2" fmla="*/ 9304483 w 9304483"/>
              <a:gd name="connsiteY2" fmla="*/ 11087 h 1956402"/>
              <a:gd name="connsiteX3" fmla="*/ 9304483 w 9304483"/>
              <a:gd name="connsiteY3" fmla="*/ 1952484 h 1956402"/>
              <a:gd name="connsiteX4" fmla="*/ 15012 w 9304483"/>
              <a:gd name="connsiteY4" fmla="*/ 1956402 h 1956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483" h="1956402">
                <a:moveTo>
                  <a:pt x="15012" y="1956402"/>
                </a:moveTo>
                <a:lnTo>
                  <a:pt x="0" y="0"/>
                </a:lnTo>
                <a:lnTo>
                  <a:pt x="9304483" y="11087"/>
                </a:lnTo>
                <a:lnTo>
                  <a:pt x="9304483" y="1952484"/>
                </a:lnTo>
                <a:lnTo>
                  <a:pt x="15012" y="1956402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  <a:alpha val="40000"/>
                </a:schemeClr>
              </a:gs>
              <a:gs pos="84600">
                <a:schemeClr val="bg1">
                  <a:lumMod val="95000"/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155697" y="459265"/>
            <a:ext cx="2257349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Master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选举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55697" y="1294537"/>
            <a:ext cx="1096967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客户端集群每天都会定时往</a:t>
            </a:r>
            <a:r>
              <a:rPr lang="en-US" altLang="zh-CN" dirty="0" err="1" smtClean="0"/>
              <a:t>zk</a:t>
            </a:r>
            <a:r>
              <a:rPr lang="zh-CN" altLang="en-US" dirty="0" smtClean="0"/>
              <a:t>上创建一个临时节点，如</a:t>
            </a:r>
            <a:r>
              <a:rPr lang="en-US" altLang="zh-CN" dirty="0" err="1" smtClean="0"/>
              <a:t>master_election</a:t>
            </a:r>
            <a:r>
              <a:rPr lang="en-US" altLang="zh-CN" dirty="0" smtClean="0"/>
              <a:t>/2018-05-18/binding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在这个过程中，只有一个客户端能够成功创建这个节点，那么这个客户端所在的机器就成为了</a:t>
            </a:r>
            <a:r>
              <a:rPr lang="en-US" altLang="zh-CN" dirty="0" smtClean="0"/>
              <a:t>Master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同时，其他没有在</a:t>
            </a:r>
            <a:r>
              <a:rPr lang="en-US" altLang="zh-CN" dirty="0" err="1" smtClean="0"/>
              <a:t>zk</a:t>
            </a:r>
            <a:r>
              <a:rPr lang="zh-CN" altLang="en-US" dirty="0" smtClean="0"/>
              <a:t>上成功创建节点的客户端，都会在节点</a:t>
            </a:r>
            <a:r>
              <a:rPr lang="en-US" altLang="zh-CN" dirty="0" smtClean="0"/>
              <a:t>/</a:t>
            </a:r>
            <a:r>
              <a:rPr lang="en-US" altLang="zh-CN" dirty="0" err="1" smtClean="0"/>
              <a:t>master_election</a:t>
            </a:r>
            <a:r>
              <a:rPr lang="en-US" altLang="zh-CN" dirty="0" smtClean="0"/>
              <a:t>/2018-05-18</a:t>
            </a:r>
            <a:r>
              <a:rPr lang="zh-CN" altLang="en-US" dirty="0" smtClean="0"/>
              <a:t>上注册一个子节点</a:t>
            </a:r>
            <a:endParaRPr lang="en-US" altLang="zh-CN" dirty="0" smtClean="0"/>
          </a:p>
          <a:p>
            <a:r>
              <a:rPr lang="zh-CN" altLang="en-US" dirty="0" smtClean="0"/>
              <a:t>变更的</a:t>
            </a:r>
            <a:r>
              <a:rPr lang="en-US" altLang="zh-CN" dirty="0" smtClean="0"/>
              <a:t>Watcher</a:t>
            </a:r>
            <a:r>
              <a:rPr lang="zh-CN" altLang="en-US" dirty="0" smtClean="0"/>
              <a:t>，用于监控当前的</a:t>
            </a:r>
            <a:r>
              <a:rPr lang="en-US" altLang="zh-CN" dirty="0" smtClean="0"/>
              <a:t>Master</a:t>
            </a:r>
            <a:r>
              <a:rPr lang="zh-CN" altLang="en-US" dirty="0" smtClean="0"/>
              <a:t>机器是否存活。</a:t>
            </a:r>
            <a:endParaRPr lang="en-US" altLang="zh-CN" dirty="0" smtClean="0"/>
          </a:p>
          <a:p>
            <a:r>
              <a:rPr lang="zh-CN" altLang="en-US" dirty="0" smtClean="0"/>
              <a:t>一旦发现当前的</a:t>
            </a:r>
            <a:r>
              <a:rPr lang="en-US" altLang="zh-CN" dirty="0" smtClean="0"/>
              <a:t>Master</a:t>
            </a:r>
            <a:r>
              <a:rPr lang="zh-CN" altLang="en-US" dirty="0" smtClean="0"/>
              <a:t>挂了，那么其余的客户端将会重新进行</a:t>
            </a:r>
            <a:r>
              <a:rPr lang="en-US" altLang="zh-CN" dirty="0" smtClean="0"/>
              <a:t>Master</a:t>
            </a:r>
            <a:r>
              <a:rPr lang="zh-CN" altLang="en-US" dirty="0" smtClean="0"/>
              <a:t>选举</a:t>
            </a:r>
            <a:endParaRPr lang="en-US" altLang="zh-CN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697" y="3120654"/>
            <a:ext cx="3238500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82343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4"/>
          <p:cNvSpPr/>
          <p:nvPr/>
        </p:nvSpPr>
        <p:spPr>
          <a:xfrm rot="1800000">
            <a:off x="7769937" y="4366767"/>
            <a:ext cx="9304483" cy="1956402"/>
          </a:xfrm>
          <a:custGeom>
            <a:avLst/>
            <a:gdLst>
              <a:gd name="connsiteX0" fmla="*/ 0 w 13677900"/>
              <a:gd name="connsiteY0" fmla="*/ 0 h 1941397"/>
              <a:gd name="connsiteX1" fmla="*/ 13677900 w 13677900"/>
              <a:gd name="connsiteY1" fmla="*/ 0 h 1941397"/>
              <a:gd name="connsiteX2" fmla="*/ 13677900 w 13677900"/>
              <a:gd name="connsiteY2" fmla="*/ 1941397 h 1941397"/>
              <a:gd name="connsiteX3" fmla="*/ 0 w 13677900"/>
              <a:gd name="connsiteY3" fmla="*/ 1941397 h 1941397"/>
              <a:gd name="connsiteX4" fmla="*/ 0 w 13677900"/>
              <a:gd name="connsiteY4" fmla="*/ 0 h 1941397"/>
              <a:gd name="connsiteX0" fmla="*/ 0 w 13677900"/>
              <a:gd name="connsiteY0" fmla="*/ 11087 h 1952484"/>
              <a:gd name="connsiteX1" fmla="*/ 4373417 w 13677900"/>
              <a:gd name="connsiteY1" fmla="*/ 0 h 1952484"/>
              <a:gd name="connsiteX2" fmla="*/ 13677900 w 13677900"/>
              <a:gd name="connsiteY2" fmla="*/ 11087 h 1952484"/>
              <a:gd name="connsiteX3" fmla="*/ 13677900 w 13677900"/>
              <a:gd name="connsiteY3" fmla="*/ 1952484 h 1952484"/>
              <a:gd name="connsiteX4" fmla="*/ 0 w 13677900"/>
              <a:gd name="connsiteY4" fmla="*/ 1952484 h 1952484"/>
              <a:gd name="connsiteX5" fmla="*/ 0 w 13677900"/>
              <a:gd name="connsiteY5" fmla="*/ 11087 h 1952484"/>
              <a:gd name="connsiteX0" fmla="*/ 0 w 13677900"/>
              <a:gd name="connsiteY0" fmla="*/ 11087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6" fmla="*/ 0 w 13677900"/>
              <a:gd name="connsiteY6" fmla="*/ 11087 h 1956402"/>
              <a:gd name="connsiteX0" fmla="*/ 0 w 13677900"/>
              <a:gd name="connsiteY0" fmla="*/ 1952484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0" fmla="*/ 15012 w 9304483"/>
              <a:gd name="connsiteY0" fmla="*/ 1956402 h 1956402"/>
              <a:gd name="connsiteX1" fmla="*/ 0 w 9304483"/>
              <a:gd name="connsiteY1" fmla="*/ 0 h 1956402"/>
              <a:gd name="connsiteX2" fmla="*/ 9304483 w 9304483"/>
              <a:gd name="connsiteY2" fmla="*/ 11087 h 1956402"/>
              <a:gd name="connsiteX3" fmla="*/ 9304483 w 9304483"/>
              <a:gd name="connsiteY3" fmla="*/ 1952484 h 1956402"/>
              <a:gd name="connsiteX4" fmla="*/ 15012 w 9304483"/>
              <a:gd name="connsiteY4" fmla="*/ 1956402 h 1956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483" h="1956402">
                <a:moveTo>
                  <a:pt x="15012" y="1956402"/>
                </a:moveTo>
                <a:lnTo>
                  <a:pt x="0" y="0"/>
                </a:lnTo>
                <a:lnTo>
                  <a:pt x="9304483" y="11087"/>
                </a:lnTo>
                <a:lnTo>
                  <a:pt x="9304483" y="1952484"/>
                </a:lnTo>
                <a:lnTo>
                  <a:pt x="15012" y="1956402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  <a:alpha val="40000"/>
                </a:schemeClr>
              </a:gs>
              <a:gs pos="84600">
                <a:schemeClr val="bg1">
                  <a:lumMod val="95000"/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214203" y="446989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分布式锁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214203" y="1454046"/>
            <a:ext cx="921277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Java</a:t>
            </a:r>
            <a:r>
              <a:rPr lang="zh-CN" altLang="en-US" dirty="0" smtClean="0"/>
              <a:t>多线程并发工具解决同</a:t>
            </a:r>
            <a:r>
              <a:rPr lang="en-US" altLang="zh-CN" dirty="0" smtClean="0"/>
              <a:t>JVM</a:t>
            </a:r>
            <a:r>
              <a:rPr lang="zh-CN" altLang="en-US" dirty="0" smtClean="0"/>
              <a:t>资源竞争问题，对于跨</a:t>
            </a:r>
            <a:r>
              <a:rPr lang="en-US" altLang="zh-CN" dirty="0" smtClean="0"/>
              <a:t>JVM</a:t>
            </a:r>
            <a:r>
              <a:rPr lang="zh-CN" altLang="en-US" dirty="0" smtClean="0"/>
              <a:t>资源竞争，需要引入分布式锁</a:t>
            </a:r>
            <a:endParaRPr lang="en-US" altLang="zh-CN" dirty="0" smtClean="0"/>
          </a:p>
          <a:p>
            <a:r>
              <a:rPr lang="zh-CN" altLang="en-US" dirty="0" smtClean="0"/>
              <a:t>常用分布式锁实现有</a:t>
            </a:r>
            <a:r>
              <a:rPr lang="en-US" altLang="zh-CN" dirty="0" smtClean="0"/>
              <a:t>:</a:t>
            </a:r>
            <a:r>
              <a:rPr lang="zh-CN" altLang="en-US" dirty="0" smtClean="0"/>
              <a:t>数据库悲观锁、基于</a:t>
            </a:r>
            <a:r>
              <a:rPr lang="en-US" altLang="zh-CN" dirty="0" err="1" smtClean="0"/>
              <a:t>redis</a:t>
            </a:r>
            <a:r>
              <a:rPr lang="zh-CN" altLang="en-US" dirty="0" smtClean="0"/>
              <a:t>实现分布式锁、基于</a:t>
            </a:r>
            <a:r>
              <a:rPr lang="en-US" altLang="zh-CN" dirty="0" err="1" smtClean="0"/>
              <a:t>zk</a:t>
            </a:r>
            <a:r>
              <a:rPr lang="zh-CN" altLang="en-US" dirty="0" smtClean="0"/>
              <a:t>实现分布式锁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锁类型：排他锁</a:t>
            </a:r>
            <a:r>
              <a:rPr lang="zh-CN" altLang="en-US" dirty="0"/>
              <a:t>、</a:t>
            </a:r>
            <a:r>
              <a:rPr lang="zh-CN" altLang="en-US" dirty="0" smtClean="0"/>
              <a:t>共享锁</a:t>
            </a:r>
            <a:endParaRPr lang="zh-CN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380" y="2941390"/>
            <a:ext cx="3448050" cy="1962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1108" y="3158027"/>
            <a:ext cx="3676650" cy="2647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" name="矩形 24"/>
          <p:cNvSpPr/>
          <p:nvPr/>
        </p:nvSpPr>
        <p:spPr>
          <a:xfrm rot="1800000">
            <a:off x="3231017" y="4366767"/>
            <a:ext cx="9304483" cy="1956402"/>
          </a:xfrm>
          <a:custGeom>
            <a:avLst/>
            <a:gdLst>
              <a:gd name="connsiteX0" fmla="*/ 0 w 13677900"/>
              <a:gd name="connsiteY0" fmla="*/ 0 h 1941397"/>
              <a:gd name="connsiteX1" fmla="*/ 13677900 w 13677900"/>
              <a:gd name="connsiteY1" fmla="*/ 0 h 1941397"/>
              <a:gd name="connsiteX2" fmla="*/ 13677900 w 13677900"/>
              <a:gd name="connsiteY2" fmla="*/ 1941397 h 1941397"/>
              <a:gd name="connsiteX3" fmla="*/ 0 w 13677900"/>
              <a:gd name="connsiteY3" fmla="*/ 1941397 h 1941397"/>
              <a:gd name="connsiteX4" fmla="*/ 0 w 13677900"/>
              <a:gd name="connsiteY4" fmla="*/ 0 h 1941397"/>
              <a:gd name="connsiteX0" fmla="*/ 0 w 13677900"/>
              <a:gd name="connsiteY0" fmla="*/ 11087 h 1952484"/>
              <a:gd name="connsiteX1" fmla="*/ 4373417 w 13677900"/>
              <a:gd name="connsiteY1" fmla="*/ 0 h 1952484"/>
              <a:gd name="connsiteX2" fmla="*/ 13677900 w 13677900"/>
              <a:gd name="connsiteY2" fmla="*/ 11087 h 1952484"/>
              <a:gd name="connsiteX3" fmla="*/ 13677900 w 13677900"/>
              <a:gd name="connsiteY3" fmla="*/ 1952484 h 1952484"/>
              <a:gd name="connsiteX4" fmla="*/ 0 w 13677900"/>
              <a:gd name="connsiteY4" fmla="*/ 1952484 h 1952484"/>
              <a:gd name="connsiteX5" fmla="*/ 0 w 13677900"/>
              <a:gd name="connsiteY5" fmla="*/ 11087 h 1952484"/>
              <a:gd name="connsiteX0" fmla="*/ 0 w 13677900"/>
              <a:gd name="connsiteY0" fmla="*/ 11087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6" fmla="*/ 0 w 13677900"/>
              <a:gd name="connsiteY6" fmla="*/ 11087 h 1956402"/>
              <a:gd name="connsiteX0" fmla="*/ 0 w 13677900"/>
              <a:gd name="connsiteY0" fmla="*/ 1952484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0" fmla="*/ 15012 w 9304483"/>
              <a:gd name="connsiteY0" fmla="*/ 1956402 h 1956402"/>
              <a:gd name="connsiteX1" fmla="*/ 0 w 9304483"/>
              <a:gd name="connsiteY1" fmla="*/ 0 h 1956402"/>
              <a:gd name="connsiteX2" fmla="*/ 9304483 w 9304483"/>
              <a:gd name="connsiteY2" fmla="*/ 11087 h 1956402"/>
              <a:gd name="connsiteX3" fmla="*/ 9304483 w 9304483"/>
              <a:gd name="connsiteY3" fmla="*/ 1952484 h 1956402"/>
              <a:gd name="connsiteX4" fmla="*/ 15012 w 9304483"/>
              <a:gd name="connsiteY4" fmla="*/ 1956402 h 1956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483" h="1956402">
                <a:moveTo>
                  <a:pt x="15012" y="1956402"/>
                </a:moveTo>
                <a:lnTo>
                  <a:pt x="0" y="0"/>
                </a:lnTo>
                <a:lnTo>
                  <a:pt x="9304483" y="11087"/>
                </a:lnTo>
                <a:lnTo>
                  <a:pt x="9304483" y="1952484"/>
                </a:lnTo>
                <a:lnTo>
                  <a:pt x="15012" y="1956402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  <a:alpha val="40000"/>
                </a:schemeClr>
              </a:gs>
              <a:gs pos="84600">
                <a:schemeClr val="bg1">
                  <a:lumMod val="95000"/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007507" y="594588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排他锁</a:t>
            </a:r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7330851" y="594588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读写</a:t>
            </a:r>
            <a:r>
              <a:rPr lang="zh-CN" altLang="en-US" dirty="0" smtClean="0"/>
              <a:t>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61317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3" grpId="0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 rot="1800000">
            <a:off x="3111874" y="4366767"/>
            <a:ext cx="9304483" cy="1956402"/>
          </a:xfrm>
          <a:custGeom>
            <a:avLst/>
            <a:gdLst>
              <a:gd name="connsiteX0" fmla="*/ 0 w 13677900"/>
              <a:gd name="connsiteY0" fmla="*/ 0 h 1941397"/>
              <a:gd name="connsiteX1" fmla="*/ 13677900 w 13677900"/>
              <a:gd name="connsiteY1" fmla="*/ 0 h 1941397"/>
              <a:gd name="connsiteX2" fmla="*/ 13677900 w 13677900"/>
              <a:gd name="connsiteY2" fmla="*/ 1941397 h 1941397"/>
              <a:gd name="connsiteX3" fmla="*/ 0 w 13677900"/>
              <a:gd name="connsiteY3" fmla="*/ 1941397 h 1941397"/>
              <a:gd name="connsiteX4" fmla="*/ 0 w 13677900"/>
              <a:gd name="connsiteY4" fmla="*/ 0 h 1941397"/>
              <a:gd name="connsiteX0" fmla="*/ 0 w 13677900"/>
              <a:gd name="connsiteY0" fmla="*/ 11087 h 1952484"/>
              <a:gd name="connsiteX1" fmla="*/ 4373417 w 13677900"/>
              <a:gd name="connsiteY1" fmla="*/ 0 h 1952484"/>
              <a:gd name="connsiteX2" fmla="*/ 13677900 w 13677900"/>
              <a:gd name="connsiteY2" fmla="*/ 11087 h 1952484"/>
              <a:gd name="connsiteX3" fmla="*/ 13677900 w 13677900"/>
              <a:gd name="connsiteY3" fmla="*/ 1952484 h 1952484"/>
              <a:gd name="connsiteX4" fmla="*/ 0 w 13677900"/>
              <a:gd name="connsiteY4" fmla="*/ 1952484 h 1952484"/>
              <a:gd name="connsiteX5" fmla="*/ 0 w 13677900"/>
              <a:gd name="connsiteY5" fmla="*/ 11087 h 1952484"/>
              <a:gd name="connsiteX0" fmla="*/ 0 w 13677900"/>
              <a:gd name="connsiteY0" fmla="*/ 11087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6" fmla="*/ 0 w 13677900"/>
              <a:gd name="connsiteY6" fmla="*/ 11087 h 1956402"/>
              <a:gd name="connsiteX0" fmla="*/ 0 w 13677900"/>
              <a:gd name="connsiteY0" fmla="*/ 1952484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0" fmla="*/ 15012 w 9304483"/>
              <a:gd name="connsiteY0" fmla="*/ 1956402 h 1956402"/>
              <a:gd name="connsiteX1" fmla="*/ 0 w 9304483"/>
              <a:gd name="connsiteY1" fmla="*/ 0 h 1956402"/>
              <a:gd name="connsiteX2" fmla="*/ 9304483 w 9304483"/>
              <a:gd name="connsiteY2" fmla="*/ 11087 h 1956402"/>
              <a:gd name="connsiteX3" fmla="*/ 9304483 w 9304483"/>
              <a:gd name="connsiteY3" fmla="*/ 1952484 h 1956402"/>
              <a:gd name="connsiteX4" fmla="*/ 15012 w 9304483"/>
              <a:gd name="connsiteY4" fmla="*/ 1956402 h 1956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483" h="1956402">
                <a:moveTo>
                  <a:pt x="15012" y="1956402"/>
                </a:moveTo>
                <a:lnTo>
                  <a:pt x="0" y="0"/>
                </a:lnTo>
                <a:lnTo>
                  <a:pt x="9304483" y="11087"/>
                </a:lnTo>
                <a:lnTo>
                  <a:pt x="9304483" y="1952484"/>
                </a:lnTo>
                <a:lnTo>
                  <a:pt x="15012" y="1956402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  <a:alpha val="40000"/>
                </a:schemeClr>
              </a:gs>
              <a:gs pos="84600">
                <a:schemeClr val="bg1">
                  <a:lumMod val="95000"/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6" name="矩形 24"/>
          <p:cNvSpPr/>
          <p:nvPr/>
        </p:nvSpPr>
        <p:spPr>
          <a:xfrm rot="1800000">
            <a:off x="7769937" y="4366767"/>
            <a:ext cx="9304483" cy="1956402"/>
          </a:xfrm>
          <a:custGeom>
            <a:avLst/>
            <a:gdLst>
              <a:gd name="connsiteX0" fmla="*/ 0 w 13677900"/>
              <a:gd name="connsiteY0" fmla="*/ 0 h 1941397"/>
              <a:gd name="connsiteX1" fmla="*/ 13677900 w 13677900"/>
              <a:gd name="connsiteY1" fmla="*/ 0 h 1941397"/>
              <a:gd name="connsiteX2" fmla="*/ 13677900 w 13677900"/>
              <a:gd name="connsiteY2" fmla="*/ 1941397 h 1941397"/>
              <a:gd name="connsiteX3" fmla="*/ 0 w 13677900"/>
              <a:gd name="connsiteY3" fmla="*/ 1941397 h 1941397"/>
              <a:gd name="connsiteX4" fmla="*/ 0 w 13677900"/>
              <a:gd name="connsiteY4" fmla="*/ 0 h 1941397"/>
              <a:gd name="connsiteX0" fmla="*/ 0 w 13677900"/>
              <a:gd name="connsiteY0" fmla="*/ 11087 h 1952484"/>
              <a:gd name="connsiteX1" fmla="*/ 4373417 w 13677900"/>
              <a:gd name="connsiteY1" fmla="*/ 0 h 1952484"/>
              <a:gd name="connsiteX2" fmla="*/ 13677900 w 13677900"/>
              <a:gd name="connsiteY2" fmla="*/ 11087 h 1952484"/>
              <a:gd name="connsiteX3" fmla="*/ 13677900 w 13677900"/>
              <a:gd name="connsiteY3" fmla="*/ 1952484 h 1952484"/>
              <a:gd name="connsiteX4" fmla="*/ 0 w 13677900"/>
              <a:gd name="connsiteY4" fmla="*/ 1952484 h 1952484"/>
              <a:gd name="connsiteX5" fmla="*/ 0 w 13677900"/>
              <a:gd name="connsiteY5" fmla="*/ 11087 h 1952484"/>
              <a:gd name="connsiteX0" fmla="*/ 0 w 13677900"/>
              <a:gd name="connsiteY0" fmla="*/ 11087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6" fmla="*/ 0 w 13677900"/>
              <a:gd name="connsiteY6" fmla="*/ 11087 h 1956402"/>
              <a:gd name="connsiteX0" fmla="*/ 0 w 13677900"/>
              <a:gd name="connsiteY0" fmla="*/ 1952484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0" fmla="*/ 15012 w 9304483"/>
              <a:gd name="connsiteY0" fmla="*/ 1956402 h 1956402"/>
              <a:gd name="connsiteX1" fmla="*/ 0 w 9304483"/>
              <a:gd name="connsiteY1" fmla="*/ 0 h 1956402"/>
              <a:gd name="connsiteX2" fmla="*/ 9304483 w 9304483"/>
              <a:gd name="connsiteY2" fmla="*/ 11087 h 1956402"/>
              <a:gd name="connsiteX3" fmla="*/ 9304483 w 9304483"/>
              <a:gd name="connsiteY3" fmla="*/ 1952484 h 1956402"/>
              <a:gd name="connsiteX4" fmla="*/ 15012 w 9304483"/>
              <a:gd name="connsiteY4" fmla="*/ 1956402 h 1956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483" h="1956402">
                <a:moveTo>
                  <a:pt x="15012" y="1956402"/>
                </a:moveTo>
                <a:lnTo>
                  <a:pt x="0" y="0"/>
                </a:lnTo>
                <a:lnTo>
                  <a:pt x="9304483" y="11087"/>
                </a:lnTo>
                <a:lnTo>
                  <a:pt x="9304483" y="1952484"/>
                </a:lnTo>
                <a:lnTo>
                  <a:pt x="15012" y="1956402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  <a:alpha val="40000"/>
                </a:schemeClr>
              </a:gs>
              <a:gs pos="84600">
                <a:schemeClr val="bg1">
                  <a:lumMod val="95000"/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214203" y="44699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分布式锁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214203" y="1454046"/>
            <a:ext cx="9935156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实现原理：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1.</a:t>
            </a:r>
            <a:r>
              <a:rPr lang="zh-CN" altLang="en-US" dirty="0" smtClean="0"/>
              <a:t>客户端尝试在</a:t>
            </a:r>
            <a:r>
              <a:rPr lang="en-US" altLang="zh-CN" dirty="0" smtClean="0"/>
              <a:t>/</a:t>
            </a:r>
            <a:r>
              <a:rPr lang="en-US" altLang="zh-CN" dirty="0" err="1" smtClean="0"/>
              <a:t>exclusive_lock</a:t>
            </a:r>
            <a:r>
              <a:rPr lang="zh-CN" altLang="en-US" dirty="0" smtClean="0"/>
              <a:t>节点下创建临时子节点</a:t>
            </a:r>
            <a:r>
              <a:rPr lang="en-US" altLang="zh-CN" dirty="0"/>
              <a:t>/</a:t>
            </a:r>
            <a:r>
              <a:rPr lang="en-US" altLang="zh-CN" dirty="0" err="1" smtClean="0"/>
              <a:t>exclusive_lock</a:t>
            </a:r>
            <a:r>
              <a:rPr lang="en-US" altLang="zh-CN" dirty="0" smtClean="0"/>
              <a:t>/lock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2.</a:t>
            </a:r>
            <a:r>
              <a:rPr lang="zh-CN" altLang="en-US" dirty="0" smtClean="0"/>
              <a:t>创建成功的客户端可以认为是获取到了锁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3.</a:t>
            </a:r>
            <a:r>
              <a:rPr lang="zh-CN" altLang="en-US" dirty="0" smtClean="0"/>
              <a:t>如果没有获取到锁的客户端就需要到</a:t>
            </a:r>
            <a:r>
              <a:rPr lang="en-US" altLang="zh-CN" dirty="0"/>
              <a:t>/</a:t>
            </a:r>
            <a:r>
              <a:rPr lang="en-US" altLang="zh-CN" dirty="0" err="1" smtClean="0"/>
              <a:t>exclusive_lock</a:t>
            </a:r>
            <a:r>
              <a:rPr lang="zh-CN" altLang="en-US" dirty="0" smtClean="0"/>
              <a:t>节点上注册一个子节点变更的</a:t>
            </a:r>
            <a:r>
              <a:rPr lang="en-US" altLang="zh-CN" dirty="0" smtClean="0"/>
              <a:t>Watcher</a:t>
            </a:r>
            <a:r>
              <a:rPr lang="zh-CN" altLang="en-US" dirty="0" smtClean="0"/>
              <a:t>监听</a:t>
            </a:r>
            <a:endParaRPr lang="en-US" altLang="zh-CN" dirty="0" smtClean="0"/>
          </a:p>
          <a:p>
            <a:r>
              <a:rPr lang="zh-CN" altLang="en-US" dirty="0" smtClean="0"/>
              <a:t>监听</a:t>
            </a:r>
            <a:r>
              <a:rPr lang="en-US" altLang="zh-CN" dirty="0" smtClean="0"/>
              <a:t>lock</a:t>
            </a:r>
            <a:r>
              <a:rPr lang="zh-CN" altLang="en-US" dirty="0" smtClean="0"/>
              <a:t>节点的变更情况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4.lock</a:t>
            </a:r>
            <a:r>
              <a:rPr lang="zh-CN" altLang="en-US" dirty="0" smtClean="0"/>
              <a:t>节点发生变更，客户端接收到通知后，再次重新发起分布式锁获取，即重复获取锁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732405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 rot="1800000">
            <a:off x="3111874" y="4366767"/>
            <a:ext cx="9304483" cy="1956402"/>
          </a:xfrm>
          <a:custGeom>
            <a:avLst/>
            <a:gdLst>
              <a:gd name="connsiteX0" fmla="*/ 0 w 13677900"/>
              <a:gd name="connsiteY0" fmla="*/ 0 h 1941397"/>
              <a:gd name="connsiteX1" fmla="*/ 13677900 w 13677900"/>
              <a:gd name="connsiteY1" fmla="*/ 0 h 1941397"/>
              <a:gd name="connsiteX2" fmla="*/ 13677900 w 13677900"/>
              <a:gd name="connsiteY2" fmla="*/ 1941397 h 1941397"/>
              <a:gd name="connsiteX3" fmla="*/ 0 w 13677900"/>
              <a:gd name="connsiteY3" fmla="*/ 1941397 h 1941397"/>
              <a:gd name="connsiteX4" fmla="*/ 0 w 13677900"/>
              <a:gd name="connsiteY4" fmla="*/ 0 h 1941397"/>
              <a:gd name="connsiteX0" fmla="*/ 0 w 13677900"/>
              <a:gd name="connsiteY0" fmla="*/ 11087 h 1952484"/>
              <a:gd name="connsiteX1" fmla="*/ 4373417 w 13677900"/>
              <a:gd name="connsiteY1" fmla="*/ 0 h 1952484"/>
              <a:gd name="connsiteX2" fmla="*/ 13677900 w 13677900"/>
              <a:gd name="connsiteY2" fmla="*/ 11087 h 1952484"/>
              <a:gd name="connsiteX3" fmla="*/ 13677900 w 13677900"/>
              <a:gd name="connsiteY3" fmla="*/ 1952484 h 1952484"/>
              <a:gd name="connsiteX4" fmla="*/ 0 w 13677900"/>
              <a:gd name="connsiteY4" fmla="*/ 1952484 h 1952484"/>
              <a:gd name="connsiteX5" fmla="*/ 0 w 13677900"/>
              <a:gd name="connsiteY5" fmla="*/ 11087 h 1952484"/>
              <a:gd name="connsiteX0" fmla="*/ 0 w 13677900"/>
              <a:gd name="connsiteY0" fmla="*/ 11087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6" fmla="*/ 0 w 13677900"/>
              <a:gd name="connsiteY6" fmla="*/ 11087 h 1956402"/>
              <a:gd name="connsiteX0" fmla="*/ 0 w 13677900"/>
              <a:gd name="connsiteY0" fmla="*/ 1952484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0" fmla="*/ 15012 w 9304483"/>
              <a:gd name="connsiteY0" fmla="*/ 1956402 h 1956402"/>
              <a:gd name="connsiteX1" fmla="*/ 0 w 9304483"/>
              <a:gd name="connsiteY1" fmla="*/ 0 h 1956402"/>
              <a:gd name="connsiteX2" fmla="*/ 9304483 w 9304483"/>
              <a:gd name="connsiteY2" fmla="*/ 11087 h 1956402"/>
              <a:gd name="connsiteX3" fmla="*/ 9304483 w 9304483"/>
              <a:gd name="connsiteY3" fmla="*/ 1952484 h 1956402"/>
              <a:gd name="connsiteX4" fmla="*/ 15012 w 9304483"/>
              <a:gd name="connsiteY4" fmla="*/ 1956402 h 1956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483" h="1956402">
                <a:moveTo>
                  <a:pt x="15012" y="1956402"/>
                </a:moveTo>
                <a:lnTo>
                  <a:pt x="0" y="0"/>
                </a:lnTo>
                <a:lnTo>
                  <a:pt x="9304483" y="11087"/>
                </a:lnTo>
                <a:lnTo>
                  <a:pt x="9304483" y="1952484"/>
                </a:lnTo>
                <a:lnTo>
                  <a:pt x="15012" y="1956402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  <a:alpha val="40000"/>
                </a:schemeClr>
              </a:gs>
              <a:gs pos="84600">
                <a:schemeClr val="bg1">
                  <a:lumMod val="95000"/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6" name="矩形 24"/>
          <p:cNvSpPr/>
          <p:nvPr/>
        </p:nvSpPr>
        <p:spPr>
          <a:xfrm rot="1800000">
            <a:off x="7769937" y="4366767"/>
            <a:ext cx="9304483" cy="1956402"/>
          </a:xfrm>
          <a:custGeom>
            <a:avLst/>
            <a:gdLst>
              <a:gd name="connsiteX0" fmla="*/ 0 w 13677900"/>
              <a:gd name="connsiteY0" fmla="*/ 0 h 1941397"/>
              <a:gd name="connsiteX1" fmla="*/ 13677900 w 13677900"/>
              <a:gd name="connsiteY1" fmla="*/ 0 h 1941397"/>
              <a:gd name="connsiteX2" fmla="*/ 13677900 w 13677900"/>
              <a:gd name="connsiteY2" fmla="*/ 1941397 h 1941397"/>
              <a:gd name="connsiteX3" fmla="*/ 0 w 13677900"/>
              <a:gd name="connsiteY3" fmla="*/ 1941397 h 1941397"/>
              <a:gd name="connsiteX4" fmla="*/ 0 w 13677900"/>
              <a:gd name="connsiteY4" fmla="*/ 0 h 1941397"/>
              <a:gd name="connsiteX0" fmla="*/ 0 w 13677900"/>
              <a:gd name="connsiteY0" fmla="*/ 11087 h 1952484"/>
              <a:gd name="connsiteX1" fmla="*/ 4373417 w 13677900"/>
              <a:gd name="connsiteY1" fmla="*/ 0 h 1952484"/>
              <a:gd name="connsiteX2" fmla="*/ 13677900 w 13677900"/>
              <a:gd name="connsiteY2" fmla="*/ 11087 h 1952484"/>
              <a:gd name="connsiteX3" fmla="*/ 13677900 w 13677900"/>
              <a:gd name="connsiteY3" fmla="*/ 1952484 h 1952484"/>
              <a:gd name="connsiteX4" fmla="*/ 0 w 13677900"/>
              <a:gd name="connsiteY4" fmla="*/ 1952484 h 1952484"/>
              <a:gd name="connsiteX5" fmla="*/ 0 w 13677900"/>
              <a:gd name="connsiteY5" fmla="*/ 11087 h 1952484"/>
              <a:gd name="connsiteX0" fmla="*/ 0 w 13677900"/>
              <a:gd name="connsiteY0" fmla="*/ 11087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6" fmla="*/ 0 w 13677900"/>
              <a:gd name="connsiteY6" fmla="*/ 11087 h 1956402"/>
              <a:gd name="connsiteX0" fmla="*/ 0 w 13677900"/>
              <a:gd name="connsiteY0" fmla="*/ 1952484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0" fmla="*/ 15012 w 9304483"/>
              <a:gd name="connsiteY0" fmla="*/ 1956402 h 1956402"/>
              <a:gd name="connsiteX1" fmla="*/ 0 w 9304483"/>
              <a:gd name="connsiteY1" fmla="*/ 0 h 1956402"/>
              <a:gd name="connsiteX2" fmla="*/ 9304483 w 9304483"/>
              <a:gd name="connsiteY2" fmla="*/ 11087 h 1956402"/>
              <a:gd name="connsiteX3" fmla="*/ 9304483 w 9304483"/>
              <a:gd name="connsiteY3" fmla="*/ 1952484 h 1956402"/>
              <a:gd name="connsiteX4" fmla="*/ 15012 w 9304483"/>
              <a:gd name="connsiteY4" fmla="*/ 1956402 h 1956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483" h="1956402">
                <a:moveTo>
                  <a:pt x="15012" y="1956402"/>
                </a:moveTo>
                <a:lnTo>
                  <a:pt x="0" y="0"/>
                </a:lnTo>
                <a:lnTo>
                  <a:pt x="9304483" y="11087"/>
                </a:lnTo>
                <a:lnTo>
                  <a:pt x="9304483" y="1952484"/>
                </a:lnTo>
                <a:lnTo>
                  <a:pt x="15012" y="1956402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  <a:alpha val="40000"/>
                </a:schemeClr>
              </a:gs>
              <a:gs pos="84600">
                <a:schemeClr val="bg1">
                  <a:lumMod val="95000"/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214203" y="44699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分布式锁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214203" y="1454046"/>
            <a:ext cx="1847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035" y="1031765"/>
            <a:ext cx="4908595" cy="4724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332157" y="619093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排他锁流程图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8585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 rot="1800000">
            <a:off x="3111874" y="4366767"/>
            <a:ext cx="9304483" cy="1956402"/>
          </a:xfrm>
          <a:custGeom>
            <a:avLst/>
            <a:gdLst>
              <a:gd name="connsiteX0" fmla="*/ 0 w 13677900"/>
              <a:gd name="connsiteY0" fmla="*/ 0 h 1941397"/>
              <a:gd name="connsiteX1" fmla="*/ 13677900 w 13677900"/>
              <a:gd name="connsiteY1" fmla="*/ 0 h 1941397"/>
              <a:gd name="connsiteX2" fmla="*/ 13677900 w 13677900"/>
              <a:gd name="connsiteY2" fmla="*/ 1941397 h 1941397"/>
              <a:gd name="connsiteX3" fmla="*/ 0 w 13677900"/>
              <a:gd name="connsiteY3" fmla="*/ 1941397 h 1941397"/>
              <a:gd name="connsiteX4" fmla="*/ 0 w 13677900"/>
              <a:gd name="connsiteY4" fmla="*/ 0 h 1941397"/>
              <a:gd name="connsiteX0" fmla="*/ 0 w 13677900"/>
              <a:gd name="connsiteY0" fmla="*/ 11087 h 1952484"/>
              <a:gd name="connsiteX1" fmla="*/ 4373417 w 13677900"/>
              <a:gd name="connsiteY1" fmla="*/ 0 h 1952484"/>
              <a:gd name="connsiteX2" fmla="*/ 13677900 w 13677900"/>
              <a:gd name="connsiteY2" fmla="*/ 11087 h 1952484"/>
              <a:gd name="connsiteX3" fmla="*/ 13677900 w 13677900"/>
              <a:gd name="connsiteY3" fmla="*/ 1952484 h 1952484"/>
              <a:gd name="connsiteX4" fmla="*/ 0 w 13677900"/>
              <a:gd name="connsiteY4" fmla="*/ 1952484 h 1952484"/>
              <a:gd name="connsiteX5" fmla="*/ 0 w 13677900"/>
              <a:gd name="connsiteY5" fmla="*/ 11087 h 1952484"/>
              <a:gd name="connsiteX0" fmla="*/ 0 w 13677900"/>
              <a:gd name="connsiteY0" fmla="*/ 11087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6" fmla="*/ 0 w 13677900"/>
              <a:gd name="connsiteY6" fmla="*/ 11087 h 1956402"/>
              <a:gd name="connsiteX0" fmla="*/ 0 w 13677900"/>
              <a:gd name="connsiteY0" fmla="*/ 1952484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0" fmla="*/ 15012 w 9304483"/>
              <a:gd name="connsiteY0" fmla="*/ 1956402 h 1956402"/>
              <a:gd name="connsiteX1" fmla="*/ 0 w 9304483"/>
              <a:gd name="connsiteY1" fmla="*/ 0 h 1956402"/>
              <a:gd name="connsiteX2" fmla="*/ 9304483 w 9304483"/>
              <a:gd name="connsiteY2" fmla="*/ 11087 h 1956402"/>
              <a:gd name="connsiteX3" fmla="*/ 9304483 w 9304483"/>
              <a:gd name="connsiteY3" fmla="*/ 1952484 h 1956402"/>
              <a:gd name="connsiteX4" fmla="*/ 15012 w 9304483"/>
              <a:gd name="connsiteY4" fmla="*/ 1956402 h 1956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483" h="1956402">
                <a:moveTo>
                  <a:pt x="15012" y="1956402"/>
                </a:moveTo>
                <a:lnTo>
                  <a:pt x="0" y="0"/>
                </a:lnTo>
                <a:lnTo>
                  <a:pt x="9304483" y="11087"/>
                </a:lnTo>
                <a:lnTo>
                  <a:pt x="9304483" y="1952484"/>
                </a:lnTo>
                <a:lnTo>
                  <a:pt x="15012" y="1956402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  <a:alpha val="40000"/>
                </a:schemeClr>
              </a:gs>
              <a:gs pos="84600">
                <a:schemeClr val="bg1">
                  <a:lumMod val="95000"/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6" name="矩形 24"/>
          <p:cNvSpPr/>
          <p:nvPr/>
        </p:nvSpPr>
        <p:spPr>
          <a:xfrm rot="1800000">
            <a:off x="7769937" y="4366767"/>
            <a:ext cx="9304483" cy="1956402"/>
          </a:xfrm>
          <a:custGeom>
            <a:avLst/>
            <a:gdLst>
              <a:gd name="connsiteX0" fmla="*/ 0 w 13677900"/>
              <a:gd name="connsiteY0" fmla="*/ 0 h 1941397"/>
              <a:gd name="connsiteX1" fmla="*/ 13677900 w 13677900"/>
              <a:gd name="connsiteY1" fmla="*/ 0 h 1941397"/>
              <a:gd name="connsiteX2" fmla="*/ 13677900 w 13677900"/>
              <a:gd name="connsiteY2" fmla="*/ 1941397 h 1941397"/>
              <a:gd name="connsiteX3" fmla="*/ 0 w 13677900"/>
              <a:gd name="connsiteY3" fmla="*/ 1941397 h 1941397"/>
              <a:gd name="connsiteX4" fmla="*/ 0 w 13677900"/>
              <a:gd name="connsiteY4" fmla="*/ 0 h 1941397"/>
              <a:gd name="connsiteX0" fmla="*/ 0 w 13677900"/>
              <a:gd name="connsiteY0" fmla="*/ 11087 h 1952484"/>
              <a:gd name="connsiteX1" fmla="*/ 4373417 w 13677900"/>
              <a:gd name="connsiteY1" fmla="*/ 0 h 1952484"/>
              <a:gd name="connsiteX2" fmla="*/ 13677900 w 13677900"/>
              <a:gd name="connsiteY2" fmla="*/ 11087 h 1952484"/>
              <a:gd name="connsiteX3" fmla="*/ 13677900 w 13677900"/>
              <a:gd name="connsiteY3" fmla="*/ 1952484 h 1952484"/>
              <a:gd name="connsiteX4" fmla="*/ 0 w 13677900"/>
              <a:gd name="connsiteY4" fmla="*/ 1952484 h 1952484"/>
              <a:gd name="connsiteX5" fmla="*/ 0 w 13677900"/>
              <a:gd name="connsiteY5" fmla="*/ 11087 h 1952484"/>
              <a:gd name="connsiteX0" fmla="*/ 0 w 13677900"/>
              <a:gd name="connsiteY0" fmla="*/ 11087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6" fmla="*/ 0 w 13677900"/>
              <a:gd name="connsiteY6" fmla="*/ 11087 h 1956402"/>
              <a:gd name="connsiteX0" fmla="*/ 0 w 13677900"/>
              <a:gd name="connsiteY0" fmla="*/ 1952484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0" fmla="*/ 15012 w 9304483"/>
              <a:gd name="connsiteY0" fmla="*/ 1956402 h 1956402"/>
              <a:gd name="connsiteX1" fmla="*/ 0 w 9304483"/>
              <a:gd name="connsiteY1" fmla="*/ 0 h 1956402"/>
              <a:gd name="connsiteX2" fmla="*/ 9304483 w 9304483"/>
              <a:gd name="connsiteY2" fmla="*/ 11087 h 1956402"/>
              <a:gd name="connsiteX3" fmla="*/ 9304483 w 9304483"/>
              <a:gd name="connsiteY3" fmla="*/ 1952484 h 1956402"/>
              <a:gd name="connsiteX4" fmla="*/ 15012 w 9304483"/>
              <a:gd name="connsiteY4" fmla="*/ 1956402 h 1956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483" h="1956402">
                <a:moveTo>
                  <a:pt x="15012" y="1956402"/>
                </a:moveTo>
                <a:lnTo>
                  <a:pt x="0" y="0"/>
                </a:lnTo>
                <a:lnTo>
                  <a:pt x="9304483" y="11087"/>
                </a:lnTo>
                <a:lnTo>
                  <a:pt x="9304483" y="1952484"/>
                </a:lnTo>
                <a:lnTo>
                  <a:pt x="15012" y="1956402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  <a:alpha val="40000"/>
                </a:schemeClr>
              </a:gs>
              <a:gs pos="84600">
                <a:schemeClr val="bg1">
                  <a:lumMod val="95000"/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214203" y="44699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分布式锁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214203" y="1454046"/>
            <a:ext cx="1847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</p:txBody>
      </p:sp>
      <p:sp>
        <p:nvSpPr>
          <p:cNvPr id="3" name="TextBox 2"/>
          <p:cNvSpPr txBox="1"/>
          <p:nvPr/>
        </p:nvSpPr>
        <p:spPr>
          <a:xfrm>
            <a:off x="4332157" y="619093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读写</a:t>
            </a:r>
            <a:r>
              <a:rPr lang="zh-CN" altLang="en-US" dirty="0" smtClean="0"/>
              <a:t>锁流程图</a:t>
            </a:r>
            <a:endParaRPr lang="zh-CN" altLang="en-US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4455" y="739377"/>
            <a:ext cx="5244802" cy="5463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63136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 rot="1800000">
            <a:off x="3111874" y="4366767"/>
            <a:ext cx="9304483" cy="1956402"/>
          </a:xfrm>
          <a:custGeom>
            <a:avLst/>
            <a:gdLst>
              <a:gd name="connsiteX0" fmla="*/ 0 w 13677900"/>
              <a:gd name="connsiteY0" fmla="*/ 0 h 1941397"/>
              <a:gd name="connsiteX1" fmla="*/ 13677900 w 13677900"/>
              <a:gd name="connsiteY1" fmla="*/ 0 h 1941397"/>
              <a:gd name="connsiteX2" fmla="*/ 13677900 w 13677900"/>
              <a:gd name="connsiteY2" fmla="*/ 1941397 h 1941397"/>
              <a:gd name="connsiteX3" fmla="*/ 0 w 13677900"/>
              <a:gd name="connsiteY3" fmla="*/ 1941397 h 1941397"/>
              <a:gd name="connsiteX4" fmla="*/ 0 w 13677900"/>
              <a:gd name="connsiteY4" fmla="*/ 0 h 1941397"/>
              <a:gd name="connsiteX0" fmla="*/ 0 w 13677900"/>
              <a:gd name="connsiteY0" fmla="*/ 11087 h 1952484"/>
              <a:gd name="connsiteX1" fmla="*/ 4373417 w 13677900"/>
              <a:gd name="connsiteY1" fmla="*/ 0 h 1952484"/>
              <a:gd name="connsiteX2" fmla="*/ 13677900 w 13677900"/>
              <a:gd name="connsiteY2" fmla="*/ 11087 h 1952484"/>
              <a:gd name="connsiteX3" fmla="*/ 13677900 w 13677900"/>
              <a:gd name="connsiteY3" fmla="*/ 1952484 h 1952484"/>
              <a:gd name="connsiteX4" fmla="*/ 0 w 13677900"/>
              <a:gd name="connsiteY4" fmla="*/ 1952484 h 1952484"/>
              <a:gd name="connsiteX5" fmla="*/ 0 w 13677900"/>
              <a:gd name="connsiteY5" fmla="*/ 11087 h 1952484"/>
              <a:gd name="connsiteX0" fmla="*/ 0 w 13677900"/>
              <a:gd name="connsiteY0" fmla="*/ 11087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6" fmla="*/ 0 w 13677900"/>
              <a:gd name="connsiteY6" fmla="*/ 11087 h 1956402"/>
              <a:gd name="connsiteX0" fmla="*/ 0 w 13677900"/>
              <a:gd name="connsiteY0" fmla="*/ 1952484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0" fmla="*/ 15012 w 9304483"/>
              <a:gd name="connsiteY0" fmla="*/ 1956402 h 1956402"/>
              <a:gd name="connsiteX1" fmla="*/ 0 w 9304483"/>
              <a:gd name="connsiteY1" fmla="*/ 0 h 1956402"/>
              <a:gd name="connsiteX2" fmla="*/ 9304483 w 9304483"/>
              <a:gd name="connsiteY2" fmla="*/ 11087 h 1956402"/>
              <a:gd name="connsiteX3" fmla="*/ 9304483 w 9304483"/>
              <a:gd name="connsiteY3" fmla="*/ 1952484 h 1956402"/>
              <a:gd name="connsiteX4" fmla="*/ 15012 w 9304483"/>
              <a:gd name="connsiteY4" fmla="*/ 1956402 h 1956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483" h="1956402">
                <a:moveTo>
                  <a:pt x="15012" y="1956402"/>
                </a:moveTo>
                <a:lnTo>
                  <a:pt x="0" y="0"/>
                </a:lnTo>
                <a:lnTo>
                  <a:pt x="9304483" y="11087"/>
                </a:lnTo>
                <a:lnTo>
                  <a:pt x="9304483" y="1952484"/>
                </a:lnTo>
                <a:lnTo>
                  <a:pt x="15012" y="1956402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  <a:alpha val="40000"/>
                </a:schemeClr>
              </a:gs>
              <a:gs pos="84600">
                <a:schemeClr val="bg1">
                  <a:lumMod val="95000"/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6" name="矩形 24"/>
          <p:cNvSpPr/>
          <p:nvPr/>
        </p:nvSpPr>
        <p:spPr>
          <a:xfrm rot="1800000">
            <a:off x="7769937" y="4366767"/>
            <a:ext cx="9304483" cy="1956402"/>
          </a:xfrm>
          <a:custGeom>
            <a:avLst/>
            <a:gdLst>
              <a:gd name="connsiteX0" fmla="*/ 0 w 13677900"/>
              <a:gd name="connsiteY0" fmla="*/ 0 h 1941397"/>
              <a:gd name="connsiteX1" fmla="*/ 13677900 w 13677900"/>
              <a:gd name="connsiteY1" fmla="*/ 0 h 1941397"/>
              <a:gd name="connsiteX2" fmla="*/ 13677900 w 13677900"/>
              <a:gd name="connsiteY2" fmla="*/ 1941397 h 1941397"/>
              <a:gd name="connsiteX3" fmla="*/ 0 w 13677900"/>
              <a:gd name="connsiteY3" fmla="*/ 1941397 h 1941397"/>
              <a:gd name="connsiteX4" fmla="*/ 0 w 13677900"/>
              <a:gd name="connsiteY4" fmla="*/ 0 h 1941397"/>
              <a:gd name="connsiteX0" fmla="*/ 0 w 13677900"/>
              <a:gd name="connsiteY0" fmla="*/ 11087 h 1952484"/>
              <a:gd name="connsiteX1" fmla="*/ 4373417 w 13677900"/>
              <a:gd name="connsiteY1" fmla="*/ 0 h 1952484"/>
              <a:gd name="connsiteX2" fmla="*/ 13677900 w 13677900"/>
              <a:gd name="connsiteY2" fmla="*/ 11087 h 1952484"/>
              <a:gd name="connsiteX3" fmla="*/ 13677900 w 13677900"/>
              <a:gd name="connsiteY3" fmla="*/ 1952484 h 1952484"/>
              <a:gd name="connsiteX4" fmla="*/ 0 w 13677900"/>
              <a:gd name="connsiteY4" fmla="*/ 1952484 h 1952484"/>
              <a:gd name="connsiteX5" fmla="*/ 0 w 13677900"/>
              <a:gd name="connsiteY5" fmla="*/ 11087 h 1952484"/>
              <a:gd name="connsiteX0" fmla="*/ 0 w 13677900"/>
              <a:gd name="connsiteY0" fmla="*/ 11087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6" fmla="*/ 0 w 13677900"/>
              <a:gd name="connsiteY6" fmla="*/ 11087 h 1956402"/>
              <a:gd name="connsiteX0" fmla="*/ 0 w 13677900"/>
              <a:gd name="connsiteY0" fmla="*/ 1952484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0" fmla="*/ 15012 w 9304483"/>
              <a:gd name="connsiteY0" fmla="*/ 1956402 h 1956402"/>
              <a:gd name="connsiteX1" fmla="*/ 0 w 9304483"/>
              <a:gd name="connsiteY1" fmla="*/ 0 h 1956402"/>
              <a:gd name="connsiteX2" fmla="*/ 9304483 w 9304483"/>
              <a:gd name="connsiteY2" fmla="*/ 11087 h 1956402"/>
              <a:gd name="connsiteX3" fmla="*/ 9304483 w 9304483"/>
              <a:gd name="connsiteY3" fmla="*/ 1952484 h 1956402"/>
              <a:gd name="connsiteX4" fmla="*/ 15012 w 9304483"/>
              <a:gd name="connsiteY4" fmla="*/ 1956402 h 1956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483" h="1956402">
                <a:moveTo>
                  <a:pt x="15012" y="1956402"/>
                </a:moveTo>
                <a:lnTo>
                  <a:pt x="0" y="0"/>
                </a:lnTo>
                <a:lnTo>
                  <a:pt x="9304483" y="11087"/>
                </a:lnTo>
                <a:lnTo>
                  <a:pt x="9304483" y="1952484"/>
                </a:lnTo>
                <a:lnTo>
                  <a:pt x="15012" y="1956402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  <a:alpha val="40000"/>
                </a:schemeClr>
              </a:gs>
              <a:gs pos="84600">
                <a:schemeClr val="bg1">
                  <a:lumMod val="95000"/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214203" y="44699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分布式锁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214203" y="1454046"/>
            <a:ext cx="1847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</p:txBody>
      </p:sp>
      <p:sp>
        <p:nvSpPr>
          <p:cNvPr id="3" name="TextBox 2"/>
          <p:cNvSpPr txBox="1"/>
          <p:nvPr/>
        </p:nvSpPr>
        <p:spPr>
          <a:xfrm>
            <a:off x="4332157" y="6190938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读</a:t>
            </a:r>
            <a:r>
              <a:rPr lang="zh-CN" altLang="en-US" dirty="0" smtClean="0"/>
              <a:t>写锁升级版本流程图</a:t>
            </a:r>
            <a:endParaRPr lang="zh-CN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3568" y="1031765"/>
            <a:ext cx="5329232" cy="5110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21074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 rot="1800000">
            <a:off x="3231017" y="4366767"/>
            <a:ext cx="9304483" cy="1956402"/>
          </a:xfrm>
          <a:custGeom>
            <a:avLst/>
            <a:gdLst>
              <a:gd name="connsiteX0" fmla="*/ 0 w 13677900"/>
              <a:gd name="connsiteY0" fmla="*/ 0 h 1941397"/>
              <a:gd name="connsiteX1" fmla="*/ 13677900 w 13677900"/>
              <a:gd name="connsiteY1" fmla="*/ 0 h 1941397"/>
              <a:gd name="connsiteX2" fmla="*/ 13677900 w 13677900"/>
              <a:gd name="connsiteY2" fmla="*/ 1941397 h 1941397"/>
              <a:gd name="connsiteX3" fmla="*/ 0 w 13677900"/>
              <a:gd name="connsiteY3" fmla="*/ 1941397 h 1941397"/>
              <a:gd name="connsiteX4" fmla="*/ 0 w 13677900"/>
              <a:gd name="connsiteY4" fmla="*/ 0 h 1941397"/>
              <a:gd name="connsiteX0" fmla="*/ 0 w 13677900"/>
              <a:gd name="connsiteY0" fmla="*/ 11087 h 1952484"/>
              <a:gd name="connsiteX1" fmla="*/ 4373417 w 13677900"/>
              <a:gd name="connsiteY1" fmla="*/ 0 h 1952484"/>
              <a:gd name="connsiteX2" fmla="*/ 13677900 w 13677900"/>
              <a:gd name="connsiteY2" fmla="*/ 11087 h 1952484"/>
              <a:gd name="connsiteX3" fmla="*/ 13677900 w 13677900"/>
              <a:gd name="connsiteY3" fmla="*/ 1952484 h 1952484"/>
              <a:gd name="connsiteX4" fmla="*/ 0 w 13677900"/>
              <a:gd name="connsiteY4" fmla="*/ 1952484 h 1952484"/>
              <a:gd name="connsiteX5" fmla="*/ 0 w 13677900"/>
              <a:gd name="connsiteY5" fmla="*/ 11087 h 1952484"/>
              <a:gd name="connsiteX0" fmla="*/ 0 w 13677900"/>
              <a:gd name="connsiteY0" fmla="*/ 11087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6" fmla="*/ 0 w 13677900"/>
              <a:gd name="connsiteY6" fmla="*/ 11087 h 1956402"/>
              <a:gd name="connsiteX0" fmla="*/ 0 w 13677900"/>
              <a:gd name="connsiteY0" fmla="*/ 1952484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0" fmla="*/ 15012 w 9304483"/>
              <a:gd name="connsiteY0" fmla="*/ 1956402 h 1956402"/>
              <a:gd name="connsiteX1" fmla="*/ 0 w 9304483"/>
              <a:gd name="connsiteY1" fmla="*/ 0 h 1956402"/>
              <a:gd name="connsiteX2" fmla="*/ 9304483 w 9304483"/>
              <a:gd name="connsiteY2" fmla="*/ 11087 h 1956402"/>
              <a:gd name="connsiteX3" fmla="*/ 9304483 w 9304483"/>
              <a:gd name="connsiteY3" fmla="*/ 1952484 h 1956402"/>
              <a:gd name="connsiteX4" fmla="*/ 15012 w 9304483"/>
              <a:gd name="connsiteY4" fmla="*/ 1956402 h 1956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483" h="1956402">
                <a:moveTo>
                  <a:pt x="15012" y="1956402"/>
                </a:moveTo>
                <a:lnTo>
                  <a:pt x="0" y="0"/>
                </a:lnTo>
                <a:lnTo>
                  <a:pt x="9304483" y="11087"/>
                </a:lnTo>
                <a:lnTo>
                  <a:pt x="9304483" y="1952484"/>
                </a:lnTo>
                <a:lnTo>
                  <a:pt x="15012" y="1956402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  <a:alpha val="40000"/>
                </a:schemeClr>
              </a:gs>
              <a:gs pos="84600">
                <a:schemeClr val="bg1">
                  <a:lumMod val="95000"/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6" name="矩形 24"/>
          <p:cNvSpPr/>
          <p:nvPr/>
        </p:nvSpPr>
        <p:spPr>
          <a:xfrm rot="1800000">
            <a:off x="7769937" y="4366767"/>
            <a:ext cx="9304483" cy="1956402"/>
          </a:xfrm>
          <a:custGeom>
            <a:avLst/>
            <a:gdLst>
              <a:gd name="connsiteX0" fmla="*/ 0 w 13677900"/>
              <a:gd name="connsiteY0" fmla="*/ 0 h 1941397"/>
              <a:gd name="connsiteX1" fmla="*/ 13677900 w 13677900"/>
              <a:gd name="connsiteY1" fmla="*/ 0 h 1941397"/>
              <a:gd name="connsiteX2" fmla="*/ 13677900 w 13677900"/>
              <a:gd name="connsiteY2" fmla="*/ 1941397 h 1941397"/>
              <a:gd name="connsiteX3" fmla="*/ 0 w 13677900"/>
              <a:gd name="connsiteY3" fmla="*/ 1941397 h 1941397"/>
              <a:gd name="connsiteX4" fmla="*/ 0 w 13677900"/>
              <a:gd name="connsiteY4" fmla="*/ 0 h 1941397"/>
              <a:gd name="connsiteX0" fmla="*/ 0 w 13677900"/>
              <a:gd name="connsiteY0" fmla="*/ 11087 h 1952484"/>
              <a:gd name="connsiteX1" fmla="*/ 4373417 w 13677900"/>
              <a:gd name="connsiteY1" fmla="*/ 0 h 1952484"/>
              <a:gd name="connsiteX2" fmla="*/ 13677900 w 13677900"/>
              <a:gd name="connsiteY2" fmla="*/ 11087 h 1952484"/>
              <a:gd name="connsiteX3" fmla="*/ 13677900 w 13677900"/>
              <a:gd name="connsiteY3" fmla="*/ 1952484 h 1952484"/>
              <a:gd name="connsiteX4" fmla="*/ 0 w 13677900"/>
              <a:gd name="connsiteY4" fmla="*/ 1952484 h 1952484"/>
              <a:gd name="connsiteX5" fmla="*/ 0 w 13677900"/>
              <a:gd name="connsiteY5" fmla="*/ 11087 h 1952484"/>
              <a:gd name="connsiteX0" fmla="*/ 0 w 13677900"/>
              <a:gd name="connsiteY0" fmla="*/ 11087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6" fmla="*/ 0 w 13677900"/>
              <a:gd name="connsiteY6" fmla="*/ 11087 h 1956402"/>
              <a:gd name="connsiteX0" fmla="*/ 0 w 13677900"/>
              <a:gd name="connsiteY0" fmla="*/ 1952484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0" fmla="*/ 15012 w 9304483"/>
              <a:gd name="connsiteY0" fmla="*/ 1956402 h 1956402"/>
              <a:gd name="connsiteX1" fmla="*/ 0 w 9304483"/>
              <a:gd name="connsiteY1" fmla="*/ 0 h 1956402"/>
              <a:gd name="connsiteX2" fmla="*/ 9304483 w 9304483"/>
              <a:gd name="connsiteY2" fmla="*/ 11087 h 1956402"/>
              <a:gd name="connsiteX3" fmla="*/ 9304483 w 9304483"/>
              <a:gd name="connsiteY3" fmla="*/ 1952484 h 1956402"/>
              <a:gd name="connsiteX4" fmla="*/ 15012 w 9304483"/>
              <a:gd name="connsiteY4" fmla="*/ 1956402 h 1956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483" h="1956402">
                <a:moveTo>
                  <a:pt x="15012" y="1956402"/>
                </a:moveTo>
                <a:lnTo>
                  <a:pt x="0" y="0"/>
                </a:lnTo>
                <a:lnTo>
                  <a:pt x="9304483" y="11087"/>
                </a:lnTo>
                <a:lnTo>
                  <a:pt x="9304483" y="1952484"/>
                </a:lnTo>
                <a:lnTo>
                  <a:pt x="15012" y="1956402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  <a:alpha val="40000"/>
                </a:schemeClr>
              </a:gs>
              <a:gs pos="84600">
                <a:schemeClr val="bg1">
                  <a:lumMod val="95000"/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74737" y="446989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分布式队列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10429" y="1678898"/>
            <a:ext cx="394210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分布式队列：</a:t>
            </a:r>
            <a:r>
              <a:rPr lang="en-US" altLang="zh-CN" dirty="0" smtClean="0"/>
              <a:t>FIFO</a:t>
            </a:r>
            <a:r>
              <a:rPr lang="zh-CN" altLang="en-US" dirty="0" smtClean="0"/>
              <a:t>模型</a:t>
            </a:r>
            <a:r>
              <a:rPr lang="zh-CN" altLang="en-US" dirty="0"/>
              <a:t>、</a:t>
            </a:r>
            <a:r>
              <a:rPr lang="en-US" altLang="zh-CN" dirty="0" smtClean="0"/>
              <a:t>Barrier</a:t>
            </a:r>
            <a:r>
              <a:rPr lang="zh-CN" altLang="en-US" dirty="0" smtClean="0"/>
              <a:t>模型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601" y="2773218"/>
            <a:ext cx="2867025" cy="2571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9158" y="2120755"/>
            <a:ext cx="4648200" cy="3876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61317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 rot="1800000">
            <a:off x="3231017" y="4366767"/>
            <a:ext cx="9304483" cy="1956402"/>
          </a:xfrm>
          <a:custGeom>
            <a:avLst/>
            <a:gdLst>
              <a:gd name="connsiteX0" fmla="*/ 0 w 13677900"/>
              <a:gd name="connsiteY0" fmla="*/ 0 h 1941397"/>
              <a:gd name="connsiteX1" fmla="*/ 13677900 w 13677900"/>
              <a:gd name="connsiteY1" fmla="*/ 0 h 1941397"/>
              <a:gd name="connsiteX2" fmla="*/ 13677900 w 13677900"/>
              <a:gd name="connsiteY2" fmla="*/ 1941397 h 1941397"/>
              <a:gd name="connsiteX3" fmla="*/ 0 w 13677900"/>
              <a:gd name="connsiteY3" fmla="*/ 1941397 h 1941397"/>
              <a:gd name="connsiteX4" fmla="*/ 0 w 13677900"/>
              <a:gd name="connsiteY4" fmla="*/ 0 h 1941397"/>
              <a:gd name="connsiteX0" fmla="*/ 0 w 13677900"/>
              <a:gd name="connsiteY0" fmla="*/ 11087 h 1952484"/>
              <a:gd name="connsiteX1" fmla="*/ 4373417 w 13677900"/>
              <a:gd name="connsiteY1" fmla="*/ 0 h 1952484"/>
              <a:gd name="connsiteX2" fmla="*/ 13677900 w 13677900"/>
              <a:gd name="connsiteY2" fmla="*/ 11087 h 1952484"/>
              <a:gd name="connsiteX3" fmla="*/ 13677900 w 13677900"/>
              <a:gd name="connsiteY3" fmla="*/ 1952484 h 1952484"/>
              <a:gd name="connsiteX4" fmla="*/ 0 w 13677900"/>
              <a:gd name="connsiteY4" fmla="*/ 1952484 h 1952484"/>
              <a:gd name="connsiteX5" fmla="*/ 0 w 13677900"/>
              <a:gd name="connsiteY5" fmla="*/ 11087 h 1952484"/>
              <a:gd name="connsiteX0" fmla="*/ 0 w 13677900"/>
              <a:gd name="connsiteY0" fmla="*/ 11087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6" fmla="*/ 0 w 13677900"/>
              <a:gd name="connsiteY6" fmla="*/ 11087 h 1956402"/>
              <a:gd name="connsiteX0" fmla="*/ 0 w 13677900"/>
              <a:gd name="connsiteY0" fmla="*/ 1952484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0" fmla="*/ 15012 w 9304483"/>
              <a:gd name="connsiteY0" fmla="*/ 1956402 h 1956402"/>
              <a:gd name="connsiteX1" fmla="*/ 0 w 9304483"/>
              <a:gd name="connsiteY1" fmla="*/ 0 h 1956402"/>
              <a:gd name="connsiteX2" fmla="*/ 9304483 w 9304483"/>
              <a:gd name="connsiteY2" fmla="*/ 11087 h 1956402"/>
              <a:gd name="connsiteX3" fmla="*/ 9304483 w 9304483"/>
              <a:gd name="connsiteY3" fmla="*/ 1952484 h 1956402"/>
              <a:gd name="connsiteX4" fmla="*/ 15012 w 9304483"/>
              <a:gd name="connsiteY4" fmla="*/ 1956402 h 1956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483" h="1956402">
                <a:moveTo>
                  <a:pt x="15012" y="1956402"/>
                </a:moveTo>
                <a:lnTo>
                  <a:pt x="0" y="0"/>
                </a:lnTo>
                <a:lnTo>
                  <a:pt x="9304483" y="11087"/>
                </a:lnTo>
                <a:lnTo>
                  <a:pt x="9304483" y="1952484"/>
                </a:lnTo>
                <a:lnTo>
                  <a:pt x="15012" y="1956402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  <a:alpha val="40000"/>
                </a:schemeClr>
              </a:gs>
              <a:gs pos="84600">
                <a:schemeClr val="bg1">
                  <a:lumMod val="95000"/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6" name="矩形 24"/>
          <p:cNvSpPr/>
          <p:nvPr/>
        </p:nvSpPr>
        <p:spPr>
          <a:xfrm rot="1800000">
            <a:off x="7769937" y="4366767"/>
            <a:ext cx="9304483" cy="1956402"/>
          </a:xfrm>
          <a:custGeom>
            <a:avLst/>
            <a:gdLst>
              <a:gd name="connsiteX0" fmla="*/ 0 w 13677900"/>
              <a:gd name="connsiteY0" fmla="*/ 0 h 1941397"/>
              <a:gd name="connsiteX1" fmla="*/ 13677900 w 13677900"/>
              <a:gd name="connsiteY1" fmla="*/ 0 h 1941397"/>
              <a:gd name="connsiteX2" fmla="*/ 13677900 w 13677900"/>
              <a:gd name="connsiteY2" fmla="*/ 1941397 h 1941397"/>
              <a:gd name="connsiteX3" fmla="*/ 0 w 13677900"/>
              <a:gd name="connsiteY3" fmla="*/ 1941397 h 1941397"/>
              <a:gd name="connsiteX4" fmla="*/ 0 w 13677900"/>
              <a:gd name="connsiteY4" fmla="*/ 0 h 1941397"/>
              <a:gd name="connsiteX0" fmla="*/ 0 w 13677900"/>
              <a:gd name="connsiteY0" fmla="*/ 11087 h 1952484"/>
              <a:gd name="connsiteX1" fmla="*/ 4373417 w 13677900"/>
              <a:gd name="connsiteY1" fmla="*/ 0 h 1952484"/>
              <a:gd name="connsiteX2" fmla="*/ 13677900 w 13677900"/>
              <a:gd name="connsiteY2" fmla="*/ 11087 h 1952484"/>
              <a:gd name="connsiteX3" fmla="*/ 13677900 w 13677900"/>
              <a:gd name="connsiteY3" fmla="*/ 1952484 h 1952484"/>
              <a:gd name="connsiteX4" fmla="*/ 0 w 13677900"/>
              <a:gd name="connsiteY4" fmla="*/ 1952484 h 1952484"/>
              <a:gd name="connsiteX5" fmla="*/ 0 w 13677900"/>
              <a:gd name="connsiteY5" fmla="*/ 11087 h 1952484"/>
              <a:gd name="connsiteX0" fmla="*/ 0 w 13677900"/>
              <a:gd name="connsiteY0" fmla="*/ 11087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6" fmla="*/ 0 w 13677900"/>
              <a:gd name="connsiteY6" fmla="*/ 11087 h 1956402"/>
              <a:gd name="connsiteX0" fmla="*/ 0 w 13677900"/>
              <a:gd name="connsiteY0" fmla="*/ 1952484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0" fmla="*/ 15012 w 9304483"/>
              <a:gd name="connsiteY0" fmla="*/ 1956402 h 1956402"/>
              <a:gd name="connsiteX1" fmla="*/ 0 w 9304483"/>
              <a:gd name="connsiteY1" fmla="*/ 0 h 1956402"/>
              <a:gd name="connsiteX2" fmla="*/ 9304483 w 9304483"/>
              <a:gd name="connsiteY2" fmla="*/ 11087 h 1956402"/>
              <a:gd name="connsiteX3" fmla="*/ 9304483 w 9304483"/>
              <a:gd name="connsiteY3" fmla="*/ 1952484 h 1956402"/>
              <a:gd name="connsiteX4" fmla="*/ 15012 w 9304483"/>
              <a:gd name="connsiteY4" fmla="*/ 1956402 h 1956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483" h="1956402">
                <a:moveTo>
                  <a:pt x="15012" y="1956402"/>
                </a:moveTo>
                <a:lnTo>
                  <a:pt x="0" y="0"/>
                </a:lnTo>
                <a:lnTo>
                  <a:pt x="9304483" y="11087"/>
                </a:lnTo>
                <a:lnTo>
                  <a:pt x="9304483" y="1952484"/>
                </a:lnTo>
                <a:lnTo>
                  <a:pt x="15012" y="1956402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  <a:alpha val="40000"/>
                </a:schemeClr>
              </a:gs>
              <a:gs pos="84600">
                <a:schemeClr val="bg1">
                  <a:lumMod val="95000"/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169232" y="446989"/>
            <a:ext cx="3783408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dirty="0" smtClean="0">
                <a:solidFill>
                  <a:prstClr val="black"/>
                </a:solidFill>
                <a:latin typeface="Arial"/>
                <a:ea typeface="微软雅黑"/>
              </a:rPr>
              <a:t>Zookeeper</a:t>
            </a:r>
            <a:r>
              <a:rPr lang="zh-CN" altLang="en-US" sz="3200" dirty="0" smtClean="0">
                <a:solidFill>
                  <a:prstClr val="black"/>
                </a:solidFill>
                <a:latin typeface="Arial"/>
                <a:ea typeface="微软雅黑"/>
              </a:rPr>
              <a:t>日常使用</a:t>
            </a:r>
            <a:endParaRPr kumimoji="0" lang="zh-CN" altLang="en-US" sz="32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69232" y="1196357"/>
            <a:ext cx="11079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zh-CN" altLang="en-US" b="1" dirty="0" smtClean="0"/>
              <a:t>四字命令</a:t>
            </a:r>
            <a:endParaRPr lang="en-US" altLang="zh-CN" b="1" dirty="0" smtClean="0"/>
          </a:p>
          <a:p>
            <a:pPr algn="just"/>
            <a:endParaRPr lang="en-US" altLang="zh-CN" b="1" dirty="0" smtClean="0"/>
          </a:p>
          <a:p>
            <a:pPr algn="just"/>
            <a:endParaRPr lang="en-US" altLang="zh-CN" dirty="0" smtClean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9829066"/>
              </p:ext>
            </p:extLst>
          </p:nvPr>
        </p:nvGraphicFramePr>
        <p:xfrm>
          <a:off x="1607116" y="1958921"/>
          <a:ext cx="8113566" cy="4389120"/>
        </p:xfrm>
        <a:graphic>
          <a:graphicData uri="http://schemas.openxmlformats.org/drawingml/2006/table">
            <a:tbl>
              <a:tblPr/>
              <a:tblGrid>
                <a:gridCol w="2328365"/>
                <a:gridCol w="5785201"/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b="1" dirty="0" err="1">
                          <a:solidFill>
                            <a:srgbClr val="4F4F4F"/>
                          </a:solidFill>
                          <a:effectLst/>
                          <a:latin typeface="Times New Roman"/>
                        </a:rPr>
                        <a:t>ZooKeeper</a:t>
                      </a:r>
                      <a:r>
                        <a:rPr lang="en-US" b="1" dirty="0">
                          <a:solidFill>
                            <a:srgbClr val="4F4F4F"/>
                          </a:solidFill>
                          <a:effectLst/>
                        </a:rPr>
                        <a:t> </a:t>
                      </a:r>
                      <a:r>
                        <a:rPr lang="zh-CN" altLang="en-US" b="1" dirty="0">
                          <a:solidFill>
                            <a:srgbClr val="4F4F4F"/>
                          </a:solidFill>
                          <a:effectLst/>
                          <a:latin typeface="宋体"/>
                        </a:rPr>
                        <a:t>四字命令</a:t>
                      </a:r>
                      <a:endParaRPr lang="zh-CN" altLang="en-US" b="0" dirty="0">
                        <a:solidFill>
                          <a:srgbClr val="4F4F4F"/>
                        </a:solidFill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 latinLnBrk="1"/>
                      <a:r>
                        <a:rPr lang="zh-CN" altLang="en-US" b="1" dirty="0">
                          <a:solidFill>
                            <a:srgbClr val="4F4F4F"/>
                          </a:solidFill>
                          <a:effectLst/>
                          <a:latin typeface="宋体"/>
                        </a:rPr>
                        <a:t>功能描述</a:t>
                      </a:r>
                      <a:endParaRPr lang="zh-CN" altLang="en-US" b="0" dirty="0">
                        <a:solidFill>
                          <a:srgbClr val="4F4F4F"/>
                        </a:solidFill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en-US" b="0">
                          <a:solidFill>
                            <a:srgbClr val="4F4F4F"/>
                          </a:solidFill>
                          <a:effectLst/>
                        </a:rPr>
                        <a:t>conf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zh-CN" altLang="en-US" b="0">
                          <a:solidFill>
                            <a:srgbClr val="4F4F4F"/>
                          </a:solidFill>
                          <a:effectLst/>
                          <a:latin typeface="宋体"/>
                        </a:rPr>
                        <a:t>输出相关服务配置的详细信息。</a:t>
                      </a:r>
                      <a:endParaRPr lang="zh-CN" altLang="en-US" b="0">
                        <a:solidFill>
                          <a:srgbClr val="4F4F4F"/>
                        </a:solidFill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FEF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en-US" b="0" dirty="0">
                          <a:solidFill>
                            <a:srgbClr val="4F4F4F"/>
                          </a:solidFill>
                          <a:effectLst/>
                        </a:rPr>
                        <a:t>cons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zh-CN" altLang="en-US" b="0" dirty="0">
                          <a:solidFill>
                            <a:srgbClr val="4F4F4F"/>
                          </a:solidFill>
                          <a:effectLst/>
                          <a:latin typeface="宋体"/>
                        </a:rPr>
                        <a:t>列出所有连接到服务器的客户端的完全的连接</a:t>
                      </a:r>
                      <a:r>
                        <a:rPr lang="zh-CN" altLang="en-US" b="0" dirty="0">
                          <a:solidFill>
                            <a:srgbClr val="4F4F4F"/>
                          </a:solidFill>
                          <a:effectLst/>
                        </a:rPr>
                        <a:t> </a:t>
                      </a:r>
                      <a:r>
                        <a:rPr lang="en-US" altLang="zh-CN" b="0" dirty="0">
                          <a:solidFill>
                            <a:srgbClr val="4F4F4F"/>
                          </a:solidFill>
                          <a:effectLst/>
                        </a:rPr>
                        <a:t>/</a:t>
                      </a:r>
                      <a:r>
                        <a:rPr lang="zh-CN" altLang="en-US" b="0" dirty="0">
                          <a:solidFill>
                            <a:srgbClr val="4F4F4F"/>
                          </a:solidFill>
                          <a:effectLst/>
                        </a:rPr>
                        <a:t> </a:t>
                      </a:r>
                      <a:r>
                        <a:rPr lang="zh-CN" altLang="en-US" b="0" dirty="0">
                          <a:solidFill>
                            <a:srgbClr val="4F4F4F"/>
                          </a:solidFill>
                          <a:effectLst/>
                          <a:latin typeface="宋体"/>
                        </a:rPr>
                        <a:t>会话的详细信息。包括“接受</a:t>
                      </a:r>
                      <a:r>
                        <a:rPr lang="zh-CN" altLang="en-US" b="0" dirty="0">
                          <a:solidFill>
                            <a:srgbClr val="4F4F4F"/>
                          </a:solidFill>
                          <a:effectLst/>
                        </a:rPr>
                        <a:t> </a:t>
                      </a:r>
                      <a:r>
                        <a:rPr lang="en-US" altLang="zh-CN" b="0" dirty="0">
                          <a:solidFill>
                            <a:srgbClr val="4F4F4F"/>
                          </a:solidFill>
                          <a:effectLst/>
                        </a:rPr>
                        <a:t>/</a:t>
                      </a:r>
                      <a:r>
                        <a:rPr lang="zh-CN" altLang="en-US" b="0" dirty="0">
                          <a:solidFill>
                            <a:srgbClr val="4F4F4F"/>
                          </a:solidFill>
                          <a:effectLst/>
                        </a:rPr>
                        <a:t> </a:t>
                      </a:r>
                      <a:r>
                        <a:rPr lang="zh-CN" altLang="en-US" b="0" dirty="0">
                          <a:solidFill>
                            <a:srgbClr val="4F4F4F"/>
                          </a:solidFill>
                          <a:effectLst/>
                          <a:latin typeface="宋体"/>
                        </a:rPr>
                        <a:t>发送”的包数量、会话</a:t>
                      </a:r>
                      <a:r>
                        <a:rPr lang="zh-CN" altLang="en-US" b="0" dirty="0">
                          <a:solidFill>
                            <a:srgbClr val="4F4F4F"/>
                          </a:solidFill>
                          <a:effectLst/>
                        </a:rPr>
                        <a:t> </a:t>
                      </a:r>
                      <a:r>
                        <a:rPr lang="en-US" altLang="zh-CN" b="0" dirty="0">
                          <a:solidFill>
                            <a:srgbClr val="4F4F4F"/>
                          </a:solidFill>
                          <a:effectLst/>
                        </a:rPr>
                        <a:t>id</a:t>
                      </a:r>
                      <a:r>
                        <a:rPr lang="zh-CN" altLang="en-US" b="0" dirty="0">
                          <a:solidFill>
                            <a:srgbClr val="4F4F4F"/>
                          </a:solidFill>
                          <a:effectLst/>
                        </a:rPr>
                        <a:t> </a:t>
                      </a:r>
                      <a:r>
                        <a:rPr lang="zh-CN" altLang="en-US" b="0" dirty="0">
                          <a:solidFill>
                            <a:srgbClr val="4F4F4F"/>
                          </a:solidFill>
                          <a:effectLst/>
                          <a:latin typeface="宋体"/>
                        </a:rPr>
                        <a:t>、操作延迟、最后的操作执行等等信息。</a:t>
                      </a:r>
                      <a:endParaRPr lang="zh-CN" altLang="en-US" b="0" dirty="0">
                        <a:solidFill>
                          <a:srgbClr val="4F4F4F"/>
                        </a:solidFill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F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en-US" b="0" dirty="0">
                          <a:solidFill>
                            <a:srgbClr val="4F4F4F"/>
                          </a:solidFill>
                          <a:effectLst/>
                        </a:rPr>
                        <a:t>dump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zh-CN" altLang="en-US" b="0">
                          <a:solidFill>
                            <a:srgbClr val="4F4F4F"/>
                          </a:solidFill>
                          <a:effectLst/>
                          <a:latin typeface="宋体"/>
                        </a:rPr>
                        <a:t>列出未经处理的会话和临时节点。</a:t>
                      </a:r>
                      <a:endParaRPr lang="zh-CN" altLang="en-US" b="0">
                        <a:solidFill>
                          <a:srgbClr val="4F4F4F"/>
                        </a:solidFill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F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en-US" b="0">
                          <a:solidFill>
                            <a:srgbClr val="4F4F4F"/>
                          </a:solidFill>
                          <a:effectLst/>
                        </a:rPr>
                        <a:t>envi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zh-CN" altLang="en-US" b="0">
                          <a:solidFill>
                            <a:srgbClr val="4F4F4F"/>
                          </a:solidFill>
                          <a:effectLst/>
                          <a:latin typeface="宋体"/>
                        </a:rPr>
                        <a:t>输出关于服务环境的详细信息（区别于</a:t>
                      </a:r>
                      <a:r>
                        <a:rPr lang="zh-CN" altLang="en-US" b="0">
                          <a:solidFill>
                            <a:srgbClr val="4F4F4F"/>
                          </a:solidFill>
                          <a:effectLst/>
                        </a:rPr>
                        <a:t> </a:t>
                      </a:r>
                      <a:r>
                        <a:rPr lang="en-US" altLang="zh-CN" b="0">
                          <a:solidFill>
                            <a:srgbClr val="4F4F4F"/>
                          </a:solidFill>
                          <a:effectLst/>
                        </a:rPr>
                        <a:t>conf</a:t>
                      </a:r>
                      <a:r>
                        <a:rPr lang="zh-CN" altLang="en-US" b="0">
                          <a:solidFill>
                            <a:srgbClr val="4F4F4F"/>
                          </a:solidFill>
                          <a:effectLst/>
                        </a:rPr>
                        <a:t> </a:t>
                      </a:r>
                      <a:r>
                        <a:rPr lang="zh-CN" altLang="en-US" b="0">
                          <a:solidFill>
                            <a:srgbClr val="4F4F4F"/>
                          </a:solidFill>
                          <a:effectLst/>
                          <a:latin typeface="宋体"/>
                        </a:rPr>
                        <a:t>命令）。</a:t>
                      </a:r>
                      <a:endParaRPr lang="zh-CN" altLang="en-US" b="0">
                        <a:solidFill>
                          <a:srgbClr val="4F4F4F"/>
                        </a:solidFill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F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en-US" b="0">
                          <a:solidFill>
                            <a:srgbClr val="4F4F4F"/>
                          </a:solidFill>
                          <a:effectLst/>
                        </a:rPr>
                        <a:t>reqs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zh-CN" altLang="en-US" b="0">
                          <a:solidFill>
                            <a:srgbClr val="4F4F4F"/>
                          </a:solidFill>
                          <a:effectLst/>
                          <a:latin typeface="宋体"/>
                        </a:rPr>
                        <a:t>列出未经处理的请求</a:t>
                      </a:r>
                      <a:endParaRPr lang="zh-CN" altLang="en-US" b="0">
                        <a:solidFill>
                          <a:srgbClr val="4F4F4F"/>
                        </a:solidFill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F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en-US" b="0">
                          <a:solidFill>
                            <a:srgbClr val="4F4F4F"/>
                          </a:solidFill>
                          <a:effectLst/>
                        </a:rPr>
                        <a:t>ruok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zh-CN" altLang="en-US" b="0" dirty="0">
                          <a:solidFill>
                            <a:srgbClr val="4F4F4F"/>
                          </a:solidFill>
                          <a:effectLst/>
                          <a:latin typeface="宋体"/>
                        </a:rPr>
                        <a:t>测试服务是否处于正确状态。如果确实如此，那么服务返回“</a:t>
                      </a:r>
                      <a:r>
                        <a:rPr lang="zh-CN" altLang="en-US" b="0" dirty="0">
                          <a:solidFill>
                            <a:srgbClr val="4F4F4F"/>
                          </a:solidFill>
                          <a:effectLst/>
                        </a:rPr>
                        <a:t> </a:t>
                      </a:r>
                      <a:r>
                        <a:rPr lang="en-US" altLang="zh-CN" b="0" dirty="0" err="1">
                          <a:solidFill>
                            <a:srgbClr val="4F4F4F"/>
                          </a:solidFill>
                          <a:effectLst/>
                        </a:rPr>
                        <a:t>imok</a:t>
                      </a:r>
                      <a:r>
                        <a:rPr lang="zh-CN" altLang="en-US" b="0" dirty="0">
                          <a:solidFill>
                            <a:srgbClr val="4F4F4F"/>
                          </a:solidFill>
                          <a:effectLst/>
                        </a:rPr>
                        <a:t> </a:t>
                      </a:r>
                      <a:r>
                        <a:rPr lang="zh-CN" altLang="en-US" b="0" dirty="0">
                          <a:solidFill>
                            <a:srgbClr val="4F4F4F"/>
                          </a:solidFill>
                          <a:effectLst/>
                          <a:latin typeface="宋体"/>
                        </a:rPr>
                        <a:t>”，否则不做任何相应。</a:t>
                      </a:r>
                      <a:endParaRPr lang="zh-CN" altLang="en-US" b="0" dirty="0">
                        <a:solidFill>
                          <a:srgbClr val="4F4F4F"/>
                        </a:solidFill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F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en-US" b="0">
                          <a:solidFill>
                            <a:srgbClr val="4F4F4F"/>
                          </a:solidFill>
                          <a:effectLst/>
                        </a:rPr>
                        <a:t>stat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zh-CN" altLang="en-US" b="0">
                          <a:solidFill>
                            <a:srgbClr val="4F4F4F"/>
                          </a:solidFill>
                          <a:effectLst/>
                          <a:latin typeface="宋体"/>
                        </a:rPr>
                        <a:t>输出关于性能和连接的客户端的列表。</a:t>
                      </a:r>
                      <a:endParaRPr lang="zh-CN" altLang="en-US" b="0">
                        <a:solidFill>
                          <a:srgbClr val="4F4F4F"/>
                        </a:solidFill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F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en-US" b="0">
                          <a:solidFill>
                            <a:srgbClr val="4F4F4F"/>
                          </a:solidFill>
                          <a:effectLst/>
                        </a:rPr>
                        <a:t>wchs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zh-CN" altLang="en-US" b="0">
                          <a:solidFill>
                            <a:srgbClr val="4F4F4F"/>
                          </a:solidFill>
                          <a:effectLst/>
                          <a:latin typeface="宋体"/>
                        </a:rPr>
                        <a:t>列出服务器</a:t>
                      </a:r>
                      <a:r>
                        <a:rPr lang="zh-CN" altLang="en-US" b="0">
                          <a:solidFill>
                            <a:srgbClr val="4F4F4F"/>
                          </a:solidFill>
                          <a:effectLst/>
                        </a:rPr>
                        <a:t> </a:t>
                      </a:r>
                      <a:r>
                        <a:rPr lang="en-US" b="0">
                          <a:solidFill>
                            <a:srgbClr val="4F4F4F"/>
                          </a:solidFill>
                          <a:effectLst/>
                        </a:rPr>
                        <a:t>watch </a:t>
                      </a:r>
                      <a:r>
                        <a:rPr lang="zh-CN" altLang="en-US" b="0">
                          <a:solidFill>
                            <a:srgbClr val="4F4F4F"/>
                          </a:solidFill>
                          <a:effectLst/>
                          <a:latin typeface="宋体"/>
                        </a:rPr>
                        <a:t>的详细信息。</a:t>
                      </a:r>
                      <a:endParaRPr lang="zh-CN" altLang="en-US" b="0">
                        <a:solidFill>
                          <a:srgbClr val="4F4F4F"/>
                        </a:solidFill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F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en-US" b="0">
                          <a:solidFill>
                            <a:srgbClr val="4F4F4F"/>
                          </a:solidFill>
                          <a:effectLst/>
                        </a:rPr>
                        <a:t>wchc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zh-CN" altLang="en-US" b="0">
                          <a:solidFill>
                            <a:srgbClr val="4F4F4F"/>
                          </a:solidFill>
                          <a:effectLst/>
                          <a:latin typeface="宋体"/>
                        </a:rPr>
                        <a:t>通过</a:t>
                      </a:r>
                      <a:r>
                        <a:rPr lang="zh-CN" altLang="en-US" b="0">
                          <a:solidFill>
                            <a:srgbClr val="4F4F4F"/>
                          </a:solidFill>
                          <a:effectLst/>
                        </a:rPr>
                        <a:t> </a:t>
                      </a:r>
                      <a:r>
                        <a:rPr lang="en-US" b="0">
                          <a:solidFill>
                            <a:srgbClr val="4F4F4F"/>
                          </a:solidFill>
                          <a:effectLst/>
                        </a:rPr>
                        <a:t>session </a:t>
                      </a:r>
                      <a:r>
                        <a:rPr lang="zh-CN" altLang="en-US" b="0">
                          <a:solidFill>
                            <a:srgbClr val="4F4F4F"/>
                          </a:solidFill>
                          <a:effectLst/>
                          <a:latin typeface="宋体"/>
                        </a:rPr>
                        <a:t>列出服务器</a:t>
                      </a:r>
                      <a:r>
                        <a:rPr lang="zh-CN" altLang="en-US" b="0">
                          <a:solidFill>
                            <a:srgbClr val="4F4F4F"/>
                          </a:solidFill>
                          <a:effectLst/>
                        </a:rPr>
                        <a:t> </a:t>
                      </a:r>
                      <a:r>
                        <a:rPr lang="en-US" b="0">
                          <a:solidFill>
                            <a:srgbClr val="4F4F4F"/>
                          </a:solidFill>
                          <a:effectLst/>
                        </a:rPr>
                        <a:t>watch </a:t>
                      </a:r>
                      <a:r>
                        <a:rPr lang="zh-CN" altLang="en-US" b="0">
                          <a:solidFill>
                            <a:srgbClr val="4F4F4F"/>
                          </a:solidFill>
                          <a:effectLst/>
                          <a:latin typeface="宋体"/>
                        </a:rPr>
                        <a:t>的详细信息，它的输出是一个与</a:t>
                      </a:r>
                      <a:r>
                        <a:rPr lang="zh-CN" altLang="en-US" b="0">
                          <a:solidFill>
                            <a:srgbClr val="4F4F4F"/>
                          </a:solidFill>
                          <a:effectLst/>
                        </a:rPr>
                        <a:t> </a:t>
                      </a:r>
                      <a:r>
                        <a:rPr lang="en-US" b="0">
                          <a:solidFill>
                            <a:srgbClr val="4F4F4F"/>
                          </a:solidFill>
                          <a:effectLst/>
                        </a:rPr>
                        <a:t>watch </a:t>
                      </a:r>
                      <a:r>
                        <a:rPr lang="zh-CN" altLang="en-US" b="0">
                          <a:solidFill>
                            <a:srgbClr val="4F4F4F"/>
                          </a:solidFill>
                          <a:effectLst/>
                          <a:latin typeface="宋体"/>
                        </a:rPr>
                        <a:t>相关的会话的列表。</a:t>
                      </a:r>
                      <a:endParaRPr lang="zh-CN" altLang="en-US" b="0">
                        <a:solidFill>
                          <a:srgbClr val="4F4F4F"/>
                        </a:solidFill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F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en-US" b="0">
                          <a:solidFill>
                            <a:srgbClr val="4F4F4F"/>
                          </a:solidFill>
                          <a:effectLst/>
                        </a:rPr>
                        <a:t>wchp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zh-CN" altLang="en-US" b="0" dirty="0">
                          <a:solidFill>
                            <a:srgbClr val="4F4F4F"/>
                          </a:solidFill>
                          <a:effectLst/>
                          <a:latin typeface="宋体"/>
                        </a:rPr>
                        <a:t>通过路径列出服务器</a:t>
                      </a:r>
                      <a:r>
                        <a:rPr lang="zh-CN" altLang="en-US" b="0" dirty="0">
                          <a:solidFill>
                            <a:srgbClr val="4F4F4F"/>
                          </a:solidFill>
                          <a:effectLst/>
                        </a:rPr>
                        <a:t> </a:t>
                      </a:r>
                      <a:r>
                        <a:rPr lang="en-US" altLang="zh-CN" b="0" dirty="0">
                          <a:solidFill>
                            <a:srgbClr val="4F4F4F"/>
                          </a:solidFill>
                          <a:effectLst/>
                        </a:rPr>
                        <a:t>watch</a:t>
                      </a:r>
                      <a:r>
                        <a:rPr lang="zh-CN" altLang="en-US" b="0" dirty="0">
                          <a:solidFill>
                            <a:srgbClr val="4F4F4F"/>
                          </a:solidFill>
                          <a:effectLst/>
                        </a:rPr>
                        <a:t> </a:t>
                      </a:r>
                      <a:r>
                        <a:rPr lang="zh-CN" altLang="en-US" b="0" dirty="0">
                          <a:solidFill>
                            <a:srgbClr val="4F4F4F"/>
                          </a:solidFill>
                          <a:effectLst/>
                          <a:latin typeface="宋体"/>
                        </a:rPr>
                        <a:t>的详细信息。它输出一个与</a:t>
                      </a:r>
                      <a:r>
                        <a:rPr lang="zh-CN" altLang="en-US" b="0" dirty="0">
                          <a:solidFill>
                            <a:srgbClr val="4F4F4F"/>
                          </a:solidFill>
                          <a:effectLst/>
                        </a:rPr>
                        <a:t> </a:t>
                      </a:r>
                      <a:r>
                        <a:rPr lang="en-US" altLang="zh-CN" b="0" dirty="0">
                          <a:solidFill>
                            <a:srgbClr val="4F4F4F"/>
                          </a:solidFill>
                          <a:effectLst/>
                        </a:rPr>
                        <a:t>session</a:t>
                      </a:r>
                      <a:r>
                        <a:rPr lang="zh-CN" altLang="en-US" b="0" dirty="0">
                          <a:solidFill>
                            <a:srgbClr val="4F4F4F"/>
                          </a:solidFill>
                          <a:effectLst/>
                        </a:rPr>
                        <a:t> </a:t>
                      </a:r>
                      <a:r>
                        <a:rPr lang="zh-CN" altLang="en-US" b="0" dirty="0">
                          <a:solidFill>
                            <a:srgbClr val="4F4F4F"/>
                          </a:solidFill>
                          <a:effectLst/>
                          <a:latin typeface="宋体"/>
                        </a:rPr>
                        <a:t>相关的路径。</a:t>
                      </a:r>
                      <a:endParaRPr lang="zh-CN" altLang="en-US" b="0" dirty="0">
                        <a:solidFill>
                          <a:srgbClr val="4F4F4F"/>
                        </a:solidFill>
                        <a:effectLst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185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 rot="1800000">
            <a:off x="3231017" y="4366767"/>
            <a:ext cx="9304483" cy="1956402"/>
          </a:xfrm>
          <a:custGeom>
            <a:avLst/>
            <a:gdLst>
              <a:gd name="connsiteX0" fmla="*/ 0 w 13677900"/>
              <a:gd name="connsiteY0" fmla="*/ 0 h 1941397"/>
              <a:gd name="connsiteX1" fmla="*/ 13677900 w 13677900"/>
              <a:gd name="connsiteY1" fmla="*/ 0 h 1941397"/>
              <a:gd name="connsiteX2" fmla="*/ 13677900 w 13677900"/>
              <a:gd name="connsiteY2" fmla="*/ 1941397 h 1941397"/>
              <a:gd name="connsiteX3" fmla="*/ 0 w 13677900"/>
              <a:gd name="connsiteY3" fmla="*/ 1941397 h 1941397"/>
              <a:gd name="connsiteX4" fmla="*/ 0 w 13677900"/>
              <a:gd name="connsiteY4" fmla="*/ 0 h 1941397"/>
              <a:gd name="connsiteX0" fmla="*/ 0 w 13677900"/>
              <a:gd name="connsiteY0" fmla="*/ 11087 h 1952484"/>
              <a:gd name="connsiteX1" fmla="*/ 4373417 w 13677900"/>
              <a:gd name="connsiteY1" fmla="*/ 0 h 1952484"/>
              <a:gd name="connsiteX2" fmla="*/ 13677900 w 13677900"/>
              <a:gd name="connsiteY2" fmla="*/ 11087 h 1952484"/>
              <a:gd name="connsiteX3" fmla="*/ 13677900 w 13677900"/>
              <a:gd name="connsiteY3" fmla="*/ 1952484 h 1952484"/>
              <a:gd name="connsiteX4" fmla="*/ 0 w 13677900"/>
              <a:gd name="connsiteY4" fmla="*/ 1952484 h 1952484"/>
              <a:gd name="connsiteX5" fmla="*/ 0 w 13677900"/>
              <a:gd name="connsiteY5" fmla="*/ 11087 h 1952484"/>
              <a:gd name="connsiteX0" fmla="*/ 0 w 13677900"/>
              <a:gd name="connsiteY0" fmla="*/ 11087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6" fmla="*/ 0 w 13677900"/>
              <a:gd name="connsiteY6" fmla="*/ 11087 h 1956402"/>
              <a:gd name="connsiteX0" fmla="*/ 0 w 13677900"/>
              <a:gd name="connsiteY0" fmla="*/ 1952484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0" fmla="*/ 15012 w 9304483"/>
              <a:gd name="connsiteY0" fmla="*/ 1956402 h 1956402"/>
              <a:gd name="connsiteX1" fmla="*/ 0 w 9304483"/>
              <a:gd name="connsiteY1" fmla="*/ 0 h 1956402"/>
              <a:gd name="connsiteX2" fmla="*/ 9304483 w 9304483"/>
              <a:gd name="connsiteY2" fmla="*/ 11087 h 1956402"/>
              <a:gd name="connsiteX3" fmla="*/ 9304483 w 9304483"/>
              <a:gd name="connsiteY3" fmla="*/ 1952484 h 1956402"/>
              <a:gd name="connsiteX4" fmla="*/ 15012 w 9304483"/>
              <a:gd name="connsiteY4" fmla="*/ 1956402 h 1956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483" h="1956402">
                <a:moveTo>
                  <a:pt x="15012" y="1956402"/>
                </a:moveTo>
                <a:lnTo>
                  <a:pt x="0" y="0"/>
                </a:lnTo>
                <a:lnTo>
                  <a:pt x="9304483" y="11087"/>
                </a:lnTo>
                <a:lnTo>
                  <a:pt x="9304483" y="1952484"/>
                </a:lnTo>
                <a:lnTo>
                  <a:pt x="15012" y="1956402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  <a:alpha val="40000"/>
                </a:schemeClr>
              </a:gs>
              <a:gs pos="84600">
                <a:schemeClr val="bg1">
                  <a:lumMod val="95000"/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6" name="矩形 24"/>
          <p:cNvSpPr/>
          <p:nvPr/>
        </p:nvSpPr>
        <p:spPr>
          <a:xfrm rot="1800000">
            <a:off x="7769937" y="4366767"/>
            <a:ext cx="9304483" cy="1956402"/>
          </a:xfrm>
          <a:custGeom>
            <a:avLst/>
            <a:gdLst>
              <a:gd name="connsiteX0" fmla="*/ 0 w 13677900"/>
              <a:gd name="connsiteY0" fmla="*/ 0 h 1941397"/>
              <a:gd name="connsiteX1" fmla="*/ 13677900 w 13677900"/>
              <a:gd name="connsiteY1" fmla="*/ 0 h 1941397"/>
              <a:gd name="connsiteX2" fmla="*/ 13677900 w 13677900"/>
              <a:gd name="connsiteY2" fmla="*/ 1941397 h 1941397"/>
              <a:gd name="connsiteX3" fmla="*/ 0 w 13677900"/>
              <a:gd name="connsiteY3" fmla="*/ 1941397 h 1941397"/>
              <a:gd name="connsiteX4" fmla="*/ 0 w 13677900"/>
              <a:gd name="connsiteY4" fmla="*/ 0 h 1941397"/>
              <a:gd name="connsiteX0" fmla="*/ 0 w 13677900"/>
              <a:gd name="connsiteY0" fmla="*/ 11087 h 1952484"/>
              <a:gd name="connsiteX1" fmla="*/ 4373417 w 13677900"/>
              <a:gd name="connsiteY1" fmla="*/ 0 h 1952484"/>
              <a:gd name="connsiteX2" fmla="*/ 13677900 w 13677900"/>
              <a:gd name="connsiteY2" fmla="*/ 11087 h 1952484"/>
              <a:gd name="connsiteX3" fmla="*/ 13677900 w 13677900"/>
              <a:gd name="connsiteY3" fmla="*/ 1952484 h 1952484"/>
              <a:gd name="connsiteX4" fmla="*/ 0 w 13677900"/>
              <a:gd name="connsiteY4" fmla="*/ 1952484 h 1952484"/>
              <a:gd name="connsiteX5" fmla="*/ 0 w 13677900"/>
              <a:gd name="connsiteY5" fmla="*/ 11087 h 1952484"/>
              <a:gd name="connsiteX0" fmla="*/ 0 w 13677900"/>
              <a:gd name="connsiteY0" fmla="*/ 11087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6" fmla="*/ 0 w 13677900"/>
              <a:gd name="connsiteY6" fmla="*/ 11087 h 1956402"/>
              <a:gd name="connsiteX0" fmla="*/ 0 w 13677900"/>
              <a:gd name="connsiteY0" fmla="*/ 1952484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0" fmla="*/ 15012 w 9304483"/>
              <a:gd name="connsiteY0" fmla="*/ 1956402 h 1956402"/>
              <a:gd name="connsiteX1" fmla="*/ 0 w 9304483"/>
              <a:gd name="connsiteY1" fmla="*/ 0 h 1956402"/>
              <a:gd name="connsiteX2" fmla="*/ 9304483 w 9304483"/>
              <a:gd name="connsiteY2" fmla="*/ 11087 h 1956402"/>
              <a:gd name="connsiteX3" fmla="*/ 9304483 w 9304483"/>
              <a:gd name="connsiteY3" fmla="*/ 1952484 h 1956402"/>
              <a:gd name="connsiteX4" fmla="*/ 15012 w 9304483"/>
              <a:gd name="connsiteY4" fmla="*/ 1956402 h 1956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483" h="1956402">
                <a:moveTo>
                  <a:pt x="15012" y="1956402"/>
                </a:moveTo>
                <a:lnTo>
                  <a:pt x="0" y="0"/>
                </a:lnTo>
                <a:lnTo>
                  <a:pt x="9304483" y="11087"/>
                </a:lnTo>
                <a:lnTo>
                  <a:pt x="9304483" y="1952484"/>
                </a:lnTo>
                <a:lnTo>
                  <a:pt x="15012" y="1956402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  <a:alpha val="40000"/>
                </a:schemeClr>
              </a:gs>
              <a:gs pos="84600">
                <a:schemeClr val="bg1">
                  <a:lumMod val="95000"/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169232" y="446989"/>
            <a:ext cx="3783408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dirty="0" smtClean="0">
                <a:solidFill>
                  <a:prstClr val="black"/>
                </a:solidFill>
                <a:latin typeface="Arial"/>
                <a:ea typeface="微软雅黑"/>
              </a:rPr>
              <a:t>Zookeeper</a:t>
            </a:r>
            <a:r>
              <a:rPr lang="zh-CN" altLang="en-US" sz="3200" dirty="0" smtClean="0">
                <a:solidFill>
                  <a:prstClr val="black"/>
                </a:solidFill>
                <a:latin typeface="Arial"/>
                <a:ea typeface="微软雅黑"/>
              </a:rPr>
              <a:t>日常使用</a:t>
            </a:r>
            <a:endParaRPr kumimoji="0" lang="zh-CN" altLang="en-US" sz="32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69232" y="1196357"/>
            <a:ext cx="11079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zh-CN" altLang="en-US" b="1" dirty="0" smtClean="0"/>
              <a:t>四字命令</a:t>
            </a:r>
            <a:endParaRPr lang="en-US" altLang="zh-CN" b="1" dirty="0" smtClean="0"/>
          </a:p>
          <a:p>
            <a:pPr algn="just"/>
            <a:endParaRPr lang="en-US" altLang="zh-CN" b="1" dirty="0" smtClean="0"/>
          </a:p>
          <a:p>
            <a:pPr algn="just"/>
            <a:endParaRPr lang="en-US" altLang="zh-CN" dirty="0" smtClean="0"/>
          </a:p>
        </p:txBody>
      </p:sp>
      <p:sp>
        <p:nvSpPr>
          <p:cNvPr id="4" name="矩形 3"/>
          <p:cNvSpPr/>
          <p:nvPr/>
        </p:nvSpPr>
        <p:spPr>
          <a:xfrm>
            <a:off x="1169232" y="1838182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/>
              <a:t>[root@mvxl2807 ~]# echo </a:t>
            </a:r>
            <a:r>
              <a:rPr lang="en-US" altLang="zh-CN" dirty="0" err="1"/>
              <a:t>conf</a:t>
            </a:r>
            <a:r>
              <a:rPr lang="en-US" altLang="zh-CN" dirty="0"/>
              <a:t> | </a:t>
            </a:r>
            <a:r>
              <a:rPr lang="en-US" altLang="zh-CN" dirty="0" err="1"/>
              <a:t>nc</a:t>
            </a:r>
            <a:r>
              <a:rPr lang="en-US" altLang="zh-CN" dirty="0"/>
              <a:t> 10.16.74.59 2181</a:t>
            </a:r>
          </a:p>
          <a:p>
            <a:r>
              <a:rPr lang="en-US" altLang="zh-CN" dirty="0" err="1"/>
              <a:t>clientPort</a:t>
            </a:r>
            <a:r>
              <a:rPr lang="en-US" altLang="zh-CN" dirty="0"/>
              <a:t>=2181</a:t>
            </a:r>
          </a:p>
          <a:p>
            <a:r>
              <a:rPr lang="en-US" altLang="zh-CN" dirty="0" err="1"/>
              <a:t>dataDir</a:t>
            </a:r>
            <a:r>
              <a:rPr lang="en-US" altLang="zh-CN" dirty="0"/>
              <a:t>=/data/zookeeper-3.4.6/zookeeper/version-2</a:t>
            </a:r>
          </a:p>
          <a:p>
            <a:r>
              <a:rPr lang="en-US" altLang="zh-CN" dirty="0" err="1"/>
              <a:t>dataLogDir</a:t>
            </a:r>
            <a:r>
              <a:rPr lang="en-US" altLang="zh-CN" dirty="0"/>
              <a:t>=/data/zookeeper-3.4.6/zookeeper/logs/version-2</a:t>
            </a:r>
          </a:p>
          <a:p>
            <a:r>
              <a:rPr lang="en-US" altLang="zh-CN" dirty="0" err="1"/>
              <a:t>tickTime</a:t>
            </a:r>
            <a:r>
              <a:rPr lang="en-US" altLang="zh-CN" dirty="0"/>
              <a:t>=2000</a:t>
            </a:r>
          </a:p>
          <a:p>
            <a:r>
              <a:rPr lang="en-US" altLang="zh-CN" dirty="0" err="1"/>
              <a:t>maxClientCnxns</a:t>
            </a:r>
            <a:r>
              <a:rPr lang="en-US" altLang="zh-CN" dirty="0"/>
              <a:t>=512</a:t>
            </a:r>
          </a:p>
          <a:p>
            <a:r>
              <a:rPr lang="en-US" altLang="zh-CN" dirty="0" err="1"/>
              <a:t>minSessionTimeout</a:t>
            </a:r>
            <a:r>
              <a:rPr lang="en-US" altLang="zh-CN" dirty="0"/>
              <a:t>=4000</a:t>
            </a:r>
          </a:p>
          <a:p>
            <a:r>
              <a:rPr lang="en-US" altLang="zh-CN" dirty="0" err="1"/>
              <a:t>maxSessionTimeout</a:t>
            </a:r>
            <a:r>
              <a:rPr lang="en-US" altLang="zh-CN" dirty="0"/>
              <a:t>=40000</a:t>
            </a:r>
          </a:p>
          <a:p>
            <a:r>
              <a:rPr lang="en-US" altLang="zh-CN" dirty="0" err="1" smtClean="0"/>
              <a:t>serverId</a:t>
            </a:r>
            <a:r>
              <a:rPr lang="en-US" altLang="zh-CN" dirty="0" smtClean="0"/>
              <a:t>=0</a:t>
            </a:r>
          </a:p>
          <a:p>
            <a:endParaRPr lang="en-US" altLang="zh-CN" dirty="0"/>
          </a:p>
          <a:p>
            <a:r>
              <a:rPr lang="en-US" altLang="zh-CN" dirty="0"/>
              <a:t>[root@mvxl2807 ~]# echo </a:t>
            </a:r>
            <a:r>
              <a:rPr lang="en-US" altLang="zh-CN" dirty="0" err="1"/>
              <a:t>wchs</a:t>
            </a:r>
            <a:r>
              <a:rPr lang="en-US" altLang="zh-CN" dirty="0"/>
              <a:t> | </a:t>
            </a:r>
            <a:r>
              <a:rPr lang="en-US" altLang="zh-CN" dirty="0" err="1"/>
              <a:t>nc</a:t>
            </a:r>
            <a:r>
              <a:rPr lang="en-US" altLang="zh-CN" dirty="0"/>
              <a:t> 10.16.74.59 2181</a:t>
            </a:r>
          </a:p>
          <a:p>
            <a:r>
              <a:rPr lang="en-US" altLang="zh-CN" dirty="0"/>
              <a:t>1 connections watching 181 paths</a:t>
            </a:r>
          </a:p>
          <a:p>
            <a:r>
              <a:rPr lang="en-US" altLang="zh-CN" dirty="0"/>
              <a:t>Total watches:181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17657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 rot="1800000">
            <a:off x="3231017" y="4366767"/>
            <a:ext cx="9304483" cy="1956402"/>
          </a:xfrm>
          <a:custGeom>
            <a:avLst/>
            <a:gdLst>
              <a:gd name="connsiteX0" fmla="*/ 0 w 13677900"/>
              <a:gd name="connsiteY0" fmla="*/ 0 h 1941397"/>
              <a:gd name="connsiteX1" fmla="*/ 13677900 w 13677900"/>
              <a:gd name="connsiteY1" fmla="*/ 0 h 1941397"/>
              <a:gd name="connsiteX2" fmla="*/ 13677900 w 13677900"/>
              <a:gd name="connsiteY2" fmla="*/ 1941397 h 1941397"/>
              <a:gd name="connsiteX3" fmla="*/ 0 w 13677900"/>
              <a:gd name="connsiteY3" fmla="*/ 1941397 h 1941397"/>
              <a:gd name="connsiteX4" fmla="*/ 0 w 13677900"/>
              <a:gd name="connsiteY4" fmla="*/ 0 h 1941397"/>
              <a:gd name="connsiteX0" fmla="*/ 0 w 13677900"/>
              <a:gd name="connsiteY0" fmla="*/ 11087 h 1952484"/>
              <a:gd name="connsiteX1" fmla="*/ 4373417 w 13677900"/>
              <a:gd name="connsiteY1" fmla="*/ 0 h 1952484"/>
              <a:gd name="connsiteX2" fmla="*/ 13677900 w 13677900"/>
              <a:gd name="connsiteY2" fmla="*/ 11087 h 1952484"/>
              <a:gd name="connsiteX3" fmla="*/ 13677900 w 13677900"/>
              <a:gd name="connsiteY3" fmla="*/ 1952484 h 1952484"/>
              <a:gd name="connsiteX4" fmla="*/ 0 w 13677900"/>
              <a:gd name="connsiteY4" fmla="*/ 1952484 h 1952484"/>
              <a:gd name="connsiteX5" fmla="*/ 0 w 13677900"/>
              <a:gd name="connsiteY5" fmla="*/ 11087 h 1952484"/>
              <a:gd name="connsiteX0" fmla="*/ 0 w 13677900"/>
              <a:gd name="connsiteY0" fmla="*/ 11087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6" fmla="*/ 0 w 13677900"/>
              <a:gd name="connsiteY6" fmla="*/ 11087 h 1956402"/>
              <a:gd name="connsiteX0" fmla="*/ 0 w 13677900"/>
              <a:gd name="connsiteY0" fmla="*/ 1952484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0" fmla="*/ 15012 w 9304483"/>
              <a:gd name="connsiteY0" fmla="*/ 1956402 h 1956402"/>
              <a:gd name="connsiteX1" fmla="*/ 0 w 9304483"/>
              <a:gd name="connsiteY1" fmla="*/ 0 h 1956402"/>
              <a:gd name="connsiteX2" fmla="*/ 9304483 w 9304483"/>
              <a:gd name="connsiteY2" fmla="*/ 11087 h 1956402"/>
              <a:gd name="connsiteX3" fmla="*/ 9304483 w 9304483"/>
              <a:gd name="connsiteY3" fmla="*/ 1952484 h 1956402"/>
              <a:gd name="connsiteX4" fmla="*/ 15012 w 9304483"/>
              <a:gd name="connsiteY4" fmla="*/ 1956402 h 1956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483" h="1956402">
                <a:moveTo>
                  <a:pt x="15012" y="1956402"/>
                </a:moveTo>
                <a:lnTo>
                  <a:pt x="0" y="0"/>
                </a:lnTo>
                <a:lnTo>
                  <a:pt x="9304483" y="11087"/>
                </a:lnTo>
                <a:lnTo>
                  <a:pt x="9304483" y="1952484"/>
                </a:lnTo>
                <a:lnTo>
                  <a:pt x="15012" y="1956402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  <a:alpha val="40000"/>
                </a:schemeClr>
              </a:gs>
              <a:gs pos="84600">
                <a:schemeClr val="bg1">
                  <a:lumMod val="95000"/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6" name="矩形 24"/>
          <p:cNvSpPr/>
          <p:nvPr/>
        </p:nvSpPr>
        <p:spPr>
          <a:xfrm rot="1800000">
            <a:off x="7769937" y="4366767"/>
            <a:ext cx="9304483" cy="1956402"/>
          </a:xfrm>
          <a:custGeom>
            <a:avLst/>
            <a:gdLst>
              <a:gd name="connsiteX0" fmla="*/ 0 w 13677900"/>
              <a:gd name="connsiteY0" fmla="*/ 0 h 1941397"/>
              <a:gd name="connsiteX1" fmla="*/ 13677900 w 13677900"/>
              <a:gd name="connsiteY1" fmla="*/ 0 h 1941397"/>
              <a:gd name="connsiteX2" fmla="*/ 13677900 w 13677900"/>
              <a:gd name="connsiteY2" fmla="*/ 1941397 h 1941397"/>
              <a:gd name="connsiteX3" fmla="*/ 0 w 13677900"/>
              <a:gd name="connsiteY3" fmla="*/ 1941397 h 1941397"/>
              <a:gd name="connsiteX4" fmla="*/ 0 w 13677900"/>
              <a:gd name="connsiteY4" fmla="*/ 0 h 1941397"/>
              <a:gd name="connsiteX0" fmla="*/ 0 w 13677900"/>
              <a:gd name="connsiteY0" fmla="*/ 11087 h 1952484"/>
              <a:gd name="connsiteX1" fmla="*/ 4373417 w 13677900"/>
              <a:gd name="connsiteY1" fmla="*/ 0 h 1952484"/>
              <a:gd name="connsiteX2" fmla="*/ 13677900 w 13677900"/>
              <a:gd name="connsiteY2" fmla="*/ 11087 h 1952484"/>
              <a:gd name="connsiteX3" fmla="*/ 13677900 w 13677900"/>
              <a:gd name="connsiteY3" fmla="*/ 1952484 h 1952484"/>
              <a:gd name="connsiteX4" fmla="*/ 0 w 13677900"/>
              <a:gd name="connsiteY4" fmla="*/ 1952484 h 1952484"/>
              <a:gd name="connsiteX5" fmla="*/ 0 w 13677900"/>
              <a:gd name="connsiteY5" fmla="*/ 11087 h 1952484"/>
              <a:gd name="connsiteX0" fmla="*/ 0 w 13677900"/>
              <a:gd name="connsiteY0" fmla="*/ 11087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6" fmla="*/ 0 w 13677900"/>
              <a:gd name="connsiteY6" fmla="*/ 11087 h 1956402"/>
              <a:gd name="connsiteX0" fmla="*/ 0 w 13677900"/>
              <a:gd name="connsiteY0" fmla="*/ 1952484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0" fmla="*/ 15012 w 9304483"/>
              <a:gd name="connsiteY0" fmla="*/ 1956402 h 1956402"/>
              <a:gd name="connsiteX1" fmla="*/ 0 w 9304483"/>
              <a:gd name="connsiteY1" fmla="*/ 0 h 1956402"/>
              <a:gd name="connsiteX2" fmla="*/ 9304483 w 9304483"/>
              <a:gd name="connsiteY2" fmla="*/ 11087 h 1956402"/>
              <a:gd name="connsiteX3" fmla="*/ 9304483 w 9304483"/>
              <a:gd name="connsiteY3" fmla="*/ 1952484 h 1956402"/>
              <a:gd name="connsiteX4" fmla="*/ 15012 w 9304483"/>
              <a:gd name="connsiteY4" fmla="*/ 1956402 h 1956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483" h="1956402">
                <a:moveTo>
                  <a:pt x="15012" y="1956402"/>
                </a:moveTo>
                <a:lnTo>
                  <a:pt x="0" y="0"/>
                </a:lnTo>
                <a:lnTo>
                  <a:pt x="9304483" y="11087"/>
                </a:lnTo>
                <a:lnTo>
                  <a:pt x="9304483" y="1952484"/>
                </a:lnTo>
                <a:lnTo>
                  <a:pt x="15012" y="1956402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  <a:alpha val="40000"/>
                </a:schemeClr>
              </a:gs>
              <a:gs pos="84600">
                <a:schemeClr val="bg1">
                  <a:lumMod val="95000"/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169232" y="444035"/>
            <a:ext cx="3783408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dirty="0" smtClean="0">
                <a:solidFill>
                  <a:prstClr val="black"/>
                </a:solidFill>
                <a:latin typeface="Arial"/>
                <a:ea typeface="微软雅黑"/>
              </a:rPr>
              <a:t>Zookeeper</a:t>
            </a:r>
            <a:r>
              <a:rPr lang="zh-CN" altLang="en-US" sz="3200" dirty="0" smtClean="0">
                <a:solidFill>
                  <a:prstClr val="black"/>
                </a:solidFill>
                <a:latin typeface="Arial"/>
                <a:ea typeface="微软雅黑"/>
              </a:rPr>
              <a:t>日常使用</a:t>
            </a:r>
            <a:endParaRPr kumimoji="0" lang="zh-CN" altLang="en-US" sz="32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345563" y="1034996"/>
            <a:ext cx="1819729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endParaRPr lang="en-US" altLang="zh-CN" b="1" dirty="0" smtClean="0"/>
          </a:p>
          <a:p>
            <a:pPr algn="just"/>
            <a:r>
              <a:rPr lang="zh-CN" altLang="en-US" b="1" dirty="0" smtClean="0"/>
              <a:t>监控工具</a:t>
            </a:r>
            <a:endParaRPr lang="en-US" altLang="zh-CN" b="1" dirty="0" smtClean="0"/>
          </a:p>
          <a:p>
            <a:pPr algn="just"/>
            <a:endParaRPr lang="en-US" altLang="zh-CN" b="1" dirty="0" smtClean="0"/>
          </a:p>
          <a:p>
            <a:pPr marL="285750" indent="-285750" algn="just">
              <a:buFont typeface="Wingdings" panose="05000000000000000000" pitchFamily="2" charset="2"/>
              <a:buChar char="l"/>
            </a:pPr>
            <a:r>
              <a:rPr lang="en-US" altLang="zh-CN" dirty="0" err="1" smtClean="0"/>
              <a:t>ZooInspector</a:t>
            </a:r>
            <a:endParaRPr lang="en-US" altLang="zh-CN" dirty="0" smtClean="0"/>
          </a:p>
          <a:p>
            <a:pPr marL="285750" indent="-285750" algn="just">
              <a:buFont typeface="Wingdings" panose="05000000000000000000" pitchFamily="2" charset="2"/>
              <a:buChar char="l"/>
            </a:pPr>
            <a:endParaRPr lang="en-US" altLang="zh-CN" dirty="0" smtClean="0"/>
          </a:p>
          <a:p>
            <a:pPr marL="285750" indent="-285750" algn="just">
              <a:buFont typeface="Wingdings" panose="05000000000000000000" pitchFamily="2" charset="2"/>
              <a:buChar char="l"/>
            </a:pPr>
            <a:r>
              <a:rPr lang="en-US" altLang="zh-CN" dirty="0" err="1" smtClean="0"/>
              <a:t>Taokeeper</a:t>
            </a:r>
            <a:r>
              <a:rPr lang="en-US" altLang="zh-CN" dirty="0" smtClean="0"/>
              <a:t> </a:t>
            </a:r>
          </a:p>
          <a:p>
            <a:pPr algn="just"/>
            <a:r>
              <a:rPr lang="en-US" altLang="zh-CN" dirty="0"/>
              <a:t> </a:t>
            </a:r>
            <a:endParaRPr lang="en-US" altLang="zh-CN" dirty="0" smtClean="0"/>
          </a:p>
          <a:p>
            <a:pPr marL="285750" indent="-285750" algn="just">
              <a:buFont typeface="Wingdings" panose="05000000000000000000" pitchFamily="2" charset="2"/>
              <a:buChar char="l"/>
            </a:pPr>
            <a:r>
              <a:rPr lang="en-US" altLang="zh-CN" dirty="0"/>
              <a:t>Exhibitor</a:t>
            </a:r>
            <a:br>
              <a:rPr lang="en-US" altLang="zh-CN" dirty="0"/>
            </a:br>
            <a:endParaRPr lang="en-US" altLang="zh-CN" b="1" dirty="0" smtClean="0"/>
          </a:p>
          <a:p>
            <a:pPr algn="just"/>
            <a:endParaRPr lang="en-US" altLang="zh-CN" b="1" dirty="0" smtClean="0"/>
          </a:p>
          <a:p>
            <a:pPr algn="just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542412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 rot="1800000">
            <a:off x="3231017" y="4366767"/>
            <a:ext cx="9304483" cy="1956402"/>
          </a:xfrm>
          <a:custGeom>
            <a:avLst/>
            <a:gdLst>
              <a:gd name="connsiteX0" fmla="*/ 0 w 13677900"/>
              <a:gd name="connsiteY0" fmla="*/ 0 h 1941397"/>
              <a:gd name="connsiteX1" fmla="*/ 13677900 w 13677900"/>
              <a:gd name="connsiteY1" fmla="*/ 0 h 1941397"/>
              <a:gd name="connsiteX2" fmla="*/ 13677900 w 13677900"/>
              <a:gd name="connsiteY2" fmla="*/ 1941397 h 1941397"/>
              <a:gd name="connsiteX3" fmla="*/ 0 w 13677900"/>
              <a:gd name="connsiteY3" fmla="*/ 1941397 h 1941397"/>
              <a:gd name="connsiteX4" fmla="*/ 0 w 13677900"/>
              <a:gd name="connsiteY4" fmla="*/ 0 h 1941397"/>
              <a:gd name="connsiteX0" fmla="*/ 0 w 13677900"/>
              <a:gd name="connsiteY0" fmla="*/ 11087 h 1952484"/>
              <a:gd name="connsiteX1" fmla="*/ 4373417 w 13677900"/>
              <a:gd name="connsiteY1" fmla="*/ 0 h 1952484"/>
              <a:gd name="connsiteX2" fmla="*/ 13677900 w 13677900"/>
              <a:gd name="connsiteY2" fmla="*/ 11087 h 1952484"/>
              <a:gd name="connsiteX3" fmla="*/ 13677900 w 13677900"/>
              <a:gd name="connsiteY3" fmla="*/ 1952484 h 1952484"/>
              <a:gd name="connsiteX4" fmla="*/ 0 w 13677900"/>
              <a:gd name="connsiteY4" fmla="*/ 1952484 h 1952484"/>
              <a:gd name="connsiteX5" fmla="*/ 0 w 13677900"/>
              <a:gd name="connsiteY5" fmla="*/ 11087 h 1952484"/>
              <a:gd name="connsiteX0" fmla="*/ 0 w 13677900"/>
              <a:gd name="connsiteY0" fmla="*/ 11087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6" fmla="*/ 0 w 13677900"/>
              <a:gd name="connsiteY6" fmla="*/ 11087 h 1956402"/>
              <a:gd name="connsiteX0" fmla="*/ 0 w 13677900"/>
              <a:gd name="connsiteY0" fmla="*/ 1952484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0" fmla="*/ 15012 w 9304483"/>
              <a:gd name="connsiteY0" fmla="*/ 1956402 h 1956402"/>
              <a:gd name="connsiteX1" fmla="*/ 0 w 9304483"/>
              <a:gd name="connsiteY1" fmla="*/ 0 h 1956402"/>
              <a:gd name="connsiteX2" fmla="*/ 9304483 w 9304483"/>
              <a:gd name="connsiteY2" fmla="*/ 11087 h 1956402"/>
              <a:gd name="connsiteX3" fmla="*/ 9304483 w 9304483"/>
              <a:gd name="connsiteY3" fmla="*/ 1952484 h 1956402"/>
              <a:gd name="connsiteX4" fmla="*/ 15012 w 9304483"/>
              <a:gd name="connsiteY4" fmla="*/ 1956402 h 1956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483" h="1956402">
                <a:moveTo>
                  <a:pt x="15012" y="1956402"/>
                </a:moveTo>
                <a:lnTo>
                  <a:pt x="0" y="0"/>
                </a:lnTo>
                <a:lnTo>
                  <a:pt x="9304483" y="11087"/>
                </a:lnTo>
                <a:lnTo>
                  <a:pt x="9304483" y="1952484"/>
                </a:lnTo>
                <a:lnTo>
                  <a:pt x="15012" y="1956402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  <a:alpha val="40000"/>
                </a:schemeClr>
              </a:gs>
              <a:gs pos="84600">
                <a:schemeClr val="bg1">
                  <a:lumMod val="95000"/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6" name="矩形 24"/>
          <p:cNvSpPr/>
          <p:nvPr/>
        </p:nvSpPr>
        <p:spPr>
          <a:xfrm rot="1800000">
            <a:off x="7769937" y="4366767"/>
            <a:ext cx="9304483" cy="1956402"/>
          </a:xfrm>
          <a:custGeom>
            <a:avLst/>
            <a:gdLst>
              <a:gd name="connsiteX0" fmla="*/ 0 w 13677900"/>
              <a:gd name="connsiteY0" fmla="*/ 0 h 1941397"/>
              <a:gd name="connsiteX1" fmla="*/ 13677900 w 13677900"/>
              <a:gd name="connsiteY1" fmla="*/ 0 h 1941397"/>
              <a:gd name="connsiteX2" fmla="*/ 13677900 w 13677900"/>
              <a:gd name="connsiteY2" fmla="*/ 1941397 h 1941397"/>
              <a:gd name="connsiteX3" fmla="*/ 0 w 13677900"/>
              <a:gd name="connsiteY3" fmla="*/ 1941397 h 1941397"/>
              <a:gd name="connsiteX4" fmla="*/ 0 w 13677900"/>
              <a:gd name="connsiteY4" fmla="*/ 0 h 1941397"/>
              <a:gd name="connsiteX0" fmla="*/ 0 w 13677900"/>
              <a:gd name="connsiteY0" fmla="*/ 11087 h 1952484"/>
              <a:gd name="connsiteX1" fmla="*/ 4373417 w 13677900"/>
              <a:gd name="connsiteY1" fmla="*/ 0 h 1952484"/>
              <a:gd name="connsiteX2" fmla="*/ 13677900 w 13677900"/>
              <a:gd name="connsiteY2" fmla="*/ 11087 h 1952484"/>
              <a:gd name="connsiteX3" fmla="*/ 13677900 w 13677900"/>
              <a:gd name="connsiteY3" fmla="*/ 1952484 h 1952484"/>
              <a:gd name="connsiteX4" fmla="*/ 0 w 13677900"/>
              <a:gd name="connsiteY4" fmla="*/ 1952484 h 1952484"/>
              <a:gd name="connsiteX5" fmla="*/ 0 w 13677900"/>
              <a:gd name="connsiteY5" fmla="*/ 11087 h 1952484"/>
              <a:gd name="connsiteX0" fmla="*/ 0 w 13677900"/>
              <a:gd name="connsiteY0" fmla="*/ 11087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6" fmla="*/ 0 w 13677900"/>
              <a:gd name="connsiteY6" fmla="*/ 11087 h 1956402"/>
              <a:gd name="connsiteX0" fmla="*/ 0 w 13677900"/>
              <a:gd name="connsiteY0" fmla="*/ 1952484 h 1956402"/>
              <a:gd name="connsiteX1" fmla="*/ 4373417 w 13677900"/>
              <a:gd name="connsiteY1" fmla="*/ 0 h 1956402"/>
              <a:gd name="connsiteX2" fmla="*/ 13677900 w 13677900"/>
              <a:gd name="connsiteY2" fmla="*/ 11087 h 1956402"/>
              <a:gd name="connsiteX3" fmla="*/ 13677900 w 13677900"/>
              <a:gd name="connsiteY3" fmla="*/ 1952484 h 1956402"/>
              <a:gd name="connsiteX4" fmla="*/ 4388429 w 13677900"/>
              <a:gd name="connsiteY4" fmla="*/ 1956402 h 1956402"/>
              <a:gd name="connsiteX5" fmla="*/ 0 w 13677900"/>
              <a:gd name="connsiteY5" fmla="*/ 1952484 h 1956402"/>
              <a:gd name="connsiteX0" fmla="*/ 15012 w 9304483"/>
              <a:gd name="connsiteY0" fmla="*/ 1956402 h 1956402"/>
              <a:gd name="connsiteX1" fmla="*/ 0 w 9304483"/>
              <a:gd name="connsiteY1" fmla="*/ 0 h 1956402"/>
              <a:gd name="connsiteX2" fmla="*/ 9304483 w 9304483"/>
              <a:gd name="connsiteY2" fmla="*/ 11087 h 1956402"/>
              <a:gd name="connsiteX3" fmla="*/ 9304483 w 9304483"/>
              <a:gd name="connsiteY3" fmla="*/ 1952484 h 1956402"/>
              <a:gd name="connsiteX4" fmla="*/ 15012 w 9304483"/>
              <a:gd name="connsiteY4" fmla="*/ 1956402 h 1956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483" h="1956402">
                <a:moveTo>
                  <a:pt x="15012" y="1956402"/>
                </a:moveTo>
                <a:lnTo>
                  <a:pt x="0" y="0"/>
                </a:lnTo>
                <a:lnTo>
                  <a:pt x="9304483" y="11087"/>
                </a:lnTo>
                <a:lnTo>
                  <a:pt x="9304483" y="1952484"/>
                </a:lnTo>
                <a:lnTo>
                  <a:pt x="15012" y="1956402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  <a:alpha val="40000"/>
                </a:schemeClr>
              </a:gs>
              <a:gs pos="84600">
                <a:schemeClr val="bg1">
                  <a:lumMod val="95000"/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169232" y="444035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noProof="0" dirty="0" smtClean="0">
                <a:solidFill>
                  <a:prstClr val="black"/>
                </a:solidFill>
                <a:latin typeface="Arial"/>
                <a:ea typeface="微软雅黑"/>
              </a:rPr>
              <a:t>知识回顾</a:t>
            </a:r>
            <a:endParaRPr kumimoji="0" lang="zh-CN" altLang="en-US" sz="32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232" y="1339705"/>
            <a:ext cx="10489368" cy="4729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05732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0" y="6517253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优秀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Word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www.1ppt.com/word/              Excel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www.1ppt.com/excel/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资料下载：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www.1ppt.com/ziliao/      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范文下载：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www.1ppt.com/fanwen/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试卷下载：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www.1ppt.com/shiti/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教案下载：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www.1ppt.com/jiaoan/  </a:t>
            </a:r>
            <a:r>
              <a:rPr lang="en-US" altLang="zh-CN" sz="100" dirty="0" smtClean="0">
                <a:solidFill>
                  <a:prstClr val="white"/>
                </a:solidFill>
                <a:latin typeface="Calibri"/>
                <a:ea typeface="宋体"/>
              </a:rPr>
              <a:t>      </a:t>
            </a:r>
            <a:endParaRPr lang="en-US" altLang="zh-CN" sz="100" dirty="0">
              <a:solidFill>
                <a:prstClr val="white"/>
              </a:solidFill>
              <a:latin typeface="Calibri"/>
              <a:ea typeface="宋体"/>
            </a:endParaRPr>
          </a:p>
          <a:p>
            <a:r>
              <a:rPr lang="zh-CN" altLang="en-US" sz="100" dirty="0" smtClean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 smtClean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  <a:endParaRPr lang="en-US" altLang="zh-CN" sz="100" dirty="0">
              <a:solidFill>
                <a:prstClr val="white"/>
              </a:solidFill>
              <a:latin typeface="Calibri"/>
              <a:ea typeface="宋体"/>
            </a:endParaRP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  <a:endParaRPr lang="zh-CN" altLang="en-US" sz="100" dirty="0">
              <a:solidFill>
                <a:prstClr val="white"/>
              </a:solidFill>
              <a:latin typeface="Calibri"/>
              <a:ea typeface="宋体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1773308" y="1181099"/>
            <a:ext cx="13425710" cy="4091928"/>
            <a:chOff x="1697108" y="1219199"/>
            <a:chExt cx="13425710" cy="4091928"/>
          </a:xfrm>
        </p:grpSpPr>
        <p:sp>
          <p:nvSpPr>
            <p:cNvPr id="10" name="矩形 9"/>
            <p:cNvSpPr/>
            <p:nvPr/>
          </p:nvSpPr>
          <p:spPr>
            <a:xfrm rot="1800000">
              <a:off x="1697108" y="4403586"/>
              <a:ext cx="13425710" cy="907541"/>
            </a:xfrm>
            <a:custGeom>
              <a:avLst/>
              <a:gdLst>
                <a:gd name="connsiteX0" fmla="*/ 0 w 13677900"/>
                <a:gd name="connsiteY0" fmla="*/ 0 h 897257"/>
                <a:gd name="connsiteX1" fmla="*/ 13677900 w 13677900"/>
                <a:gd name="connsiteY1" fmla="*/ 0 h 897257"/>
                <a:gd name="connsiteX2" fmla="*/ 13677900 w 13677900"/>
                <a:gd name="connsiteY2" fmla="*/ 897257 h 897257"/>
                <a:gd name="connsiteX3" fmla="*/ 0 w 13677900"/>
                <a:gd name="connsiteY3" fmla="*/ 897257 h 897257"/>
                <a:gd name="connsiteX4" fmla="*/ 0 w 13677900"/>
                <a:gd name="connsiteY4" fmla="*/ 0 h 897257"/>
                <a:gd name="connsiteX0" fmla="*/ 0 w 13677900"/>
                <a:gd name="connsiteY0" fmla="*/ 0 h 897257"/>
                <a:gd name="connsiteX1" fmla="*/ 13677900 w 13677900"/>
                <a:gd name="connsiteY1" fmla="*/ 0 h 897257"/>
                <a:gd name="connsiteX2" fmla="*/ 13677900 w 13677900"/>
                <a:gd name="connsiteY2" fmla="*/ 897257 h 897257"/>
                <a:gd name="connsiteX3" fmla="*/ 252190 w 13677900"/>
                <a:gd name="connsiteY3" fmla="*/ 892550 h 897257"/>
                <a:gd name="connsiteX4" fmla="*/ 0 w 13677900"/>
                <a:gd name="connsiteY4" fmla="*/ 897257 h 897257"/>
                <a:gd name="connsiteX5" fmla="*/ 0 w 13677900"/>
                <a:gd name="connsiteY5" fmla="*/ 0 h 897257"/>
                <a:gd name="connsiteX0" fmla="*/ 0 w 13677900"/>
                <a:gd name="connsiteY0" fmla="*/ 10284 h 907541"/>
                <a:gd name="connsiteX1" fmla="*/ 451603 w 13677900"/>
                <a:gd name="connsiteY1" fmla="*/ 0 h 907541"/>
                <a:gd name="connsiteX2" fmla="*/ 13677900 w 13677900"/>
                <a:gd name="connsiteY2" fmla="*/ 10284 h 907541"/>
                <a:gd name="connsiteX3" fmla="*/ 13677900 w 13677900"/>
                <a:gd name="connsiteY3" fmla="*/ 907541 h 907541"/>
                <a:gd name="connsiteX4" fmla="*/ 252190 w 13677900"/>
                <a:gd name="connsiteY4" fmla="*/ 902834 h 907541"/>
                <a:gd name="connsiteX5" fmla="*/ 0 w 13677900"/>
                <a:gd name="connsiteY5" fmla="*/ 907541 h 907541"/>
                <a:gd name="connsiteX6" fmla="*/ 0 w 13677900"/>
                <a:gd name="connsiteY6" fmla="*/ 10284 h 907541"/>
                <a:gd name="connsiteX0" fmla="*/ 0 w 13677900"/>
                <a:gd name="connsiteY0" fmla="*/ 907541 h 907541"/>
                <a:gd name="connsiteX1" fmla="*/ 451603 w 13677900"/>
                <a:gd name="connsiteY1" fmla="*/ 0 h 907541"/>
                <a:gd name="connsiteX2" fmla="*/ 13677900 w 13677900"/>
                <a:gd name="connsiteY2" fmla="*/ 10284 h 907541"/>
                <a:gd name="connsiteX3" fmla="*/ 13677900 w 13677900"/>
                <a:gd name="connsiteY3" fmla="*/ 907541 h 907541"/>
                <a:gd name="connsiteX4" fmla="*/ 252190 w 13677900"/>
                <a:gd name="connsiteY4" fmla="*/ 902834 h 907541"/>
                <a:gd name="connsiteX5" fmla="*/ 0 w 13677900"/>
                <a:gd name="connsiteY5" fmla="*/ 907541 h 907541"/>
                <a:gd name="connsiteX0" fmla="*/ 0 w 13425710"/>
                <a:gd name="connsiteY0" fmla="*/ 902834 h 907541"/>
                <a:gd name="connsiteX1" fmla="*/ 199413 w 13425710"/>
                <a:gd name="connsiteY1" fmla="*/ 0 h 907541"/>
                <a:gd name="connsiteX2" fmla="*/ 13425710 w 13425710"/>
                <a:gd name="connsiteY2" fmla="*/ 10284 h 907541"/>
                <a:gd name="connsiteX3" fmla="*/ 13425710 w 13425710"/>
                <a:gd name="connsiteY3" fmla="*/ 907541 h 907541"/>
                <a:gd name="connsiteX4" fmla="*/ 0 w 13425710"/>
                <a:gd name="connsiteY4" fmla="*/ 902834 h 907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25710" h="907541">
                  <a:moveTo>
                    <a:pt x="0" y="902834"/>
                  </a:moveTo>
                  <a:lnTo>
                    <a:pt x="199413" y="0"/>
                  </a:lnTo>
                  <a:lnTo>
                    <a:pt x="13425710" y="10284"/>
                  </a:lnTo>
                  <a:lnTo>
                    <a:pt x="13425710" y="907541"/>
                  </a:lnTo>
                  <a:lnTo>
                    <a:pt x="0" y="9028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85000"/>
                    <a:alpha val="40000"/>
                  </a:schemeClr>
                </a:gs>
                <a:gs pos="84600">
                  <a:schemeClr val="bg1">
                    <a:lumMod val="95000"/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2371272" y="1219199"/>
              <a:ext cx="667658" cy="66765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4158344" y="1407884"/>
            <a:ext cx="1625600" cy="162560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1763483" y="2002969"/>
            <a:ext cx="13353088" cy="6893833"/>
            <a:chOff x="1763483" y="2002969"/>
            <a:chExt cx="13353088" cy="6893833"/>
          </a:xfrm>
        </p:grpSpPr>
        <p:sp>
          <p:nvSpPr>
            <p:cNvPr id="8" name="矩形 7"/>
            <p:cNvSpPr/>
            <p:nvPr/>
          </p:nvSpPr>
          <p:spPr>
            <a:xfrm rot="1800000">
              <a:off x="1977604" y="4383926"/>
              <a:ext cx="13138967" cy="4512876"/>
            </a:xfrm>
            <a:custGeom>
              <a:avLst/>
              <a:gdLst>
                <a:gd name="connsiteX0" fmla="*/ 0 w 13677900"/>
                <a:gd name="connsiteY0" fmla="*/ 0 h 4499376"/>
                <a:gd name="connsiteX1" fmla="*/ 13677900 w 13677900"/>
                <a:gd name="connsiteY1" fmla="*/ 0 h 4499376"/>
                <a:gd name="connsiteX2" fmla="*/ 13677900 w 13677900"/>
                <a:gd name="connsiteY2" fmla="*/ 4499376 h 4499376"/>
                <a:gd name="connsiteX3" fmla="*/ 0 w 13677900"/>
                <a:gd name="connsiteY3" fmla="*/ 4499376 h 4499376"/>
                <a:gd name="connsiteX4" fmla="*/ 0 w 13677900"/>
                <a:gd name="connsiteY4" fmla="*/ 0 h 4499376"/>
                <a:gd name="connsiteX0" fmla="*/ 0 w 13677900"/>
                <a:gd name="connsiteY0" fmla="*/ 13500 h 4512876"/>
                <a:gd name="connsiteX1" fmla="*/ 1732323 w 13677900"/>
                <a:gd name="connsiteY1" fmla="*/ 0 h 4512876"/>
                <a:gd name="connsiteX2" fmla="*/ 13677900 w 13677900"/>
                <a:gd name="connsiteY2" fmla="*/ 13500 h 4512876"/>
                <a:gd name="connsiteX3" fmla="*/ 13677900 w 13677900"/>
                <a:gd name="connsiteY3" fmla="*/ 4512876 h 4512876"/>
                <a:gd name="connsiteX4" fmla="*/ 0 w 13677900"/>
                <a:gd name="connsiteY4" fmla="*/ 4512876 h 4512876"/>
                <a:gd name="connsiteX5" fmla="*/ 0 w 13677900"/>
                <a:gd name="connsiteY5" fmla="*/ 13500 h 4512876"/>
                <a:gd name="connsiteX0" fmla="*/ 0 w 13677900"/>
                <a:gd name="connsiteY0" fmla="*/ 13500 h 4512876"/>
                <a:gd name="connsiteX1" fmla="*/ 1732323 w 13677900"/>
                <a:gd name="connsiteY1" fmla="*/ 0 h 4512876"/>
                <a:gd name="connsiteX2" fmla="*/ 13677900 w 13677900"/>
                <a:gd name="connsiteY2" fmla="*/ 13500 h 4512876"/>
                <a:gd name="connsiteX3" fmla="*/ 13677900 w 13677900"/>
                <a:gd name="connsiteY3" fmla="*/ 4512876 h 4512876"/>
                <a:gd name="connsiteX4" fmla="*/ 538933 w 13677900"/>
                <a:gd name="connsiteY4" fmla="*/ 4493446 h 4512876"/>
                <a:gd name="connsiteX5" fmla="*/ 0 w 13677900"/>
                <a:gd name="connsiteY5" fmla="*/ 4512876 h 4512876"/>
                <a:gd name="connsiteX6" fmla="*/ 0 w 13677900"/>
                <a:gd name="connsiteY6" fmla="*/ 13500 h 4512876"/>
                <a:gd name="connsiteX0" fmla="*/ 0 w 13677900"/>
                <a:gd name="connsiteY0" fmla="*/ 13500 h 4512876"/>
                <a:gd name="connsiteX1" fmla="*/ 1732323 w 13677900"/>
                <a:gd name="connsiteY1" fmla="*/ 0 h 4512876"/>
                <a:gd name="connsiteX2" fmla="*/ 13677900 w 13677900"/>
                <a:gd name="connsiteY2" fmla="*/ 13500 h 4512876"/>
                <a:gd name="connsiteX3" fmla="*/ 13677900 w 13677900"/>
                <a:gd name="connsiteY3" fmla="*/ 4512876 h 4512876"/>
                <a:gd name="connsiteX4" fmla="*/ 538933 w 13677900"/>
                <a:gd name="connsiteY4" fmla="*/ 4493446 h 4512876"/>
                <a:gd name="connsiteX5" fmla="*/ 0 w 13677900"/>
                <a:gd name="connsiteY5" fmla="*/ 13500 h 4512876"/>
                <a:gd name="connsiteX0" fmla="*/ 0 w 13138967"/>
                <a:gd name="connsiteY0" fmla="*/ 4493446 h 4512876"/>
                <a:gd name="connsiteX1" fmla="*/ 1193390 w 13138967"/>
                <a:gd name="connsiteY1" fmla="*/ 0 h 4512876"/>
                <a:gd name="connsiteX2" fmla="*/ 13138967 w 13138967"/>
                <a:gd name="connsiteY2" fmla="*/ 13500 h 4512876"/>
                <a:gd name="connsiteX3" fmla="*/ 13138967 w 13138967"/>
                <a:gd name="connsiteY3" fmla="*/ 4512876 h 4512876"/>
                <a:gd name="connsiteX4" fmla="*/ 0 w 13138967"/>
                <a:gd name="connsiteY4" fmla="*/ 4493446 h 4512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38967" h="4512876">
                  <a:moveTo>
                    <a:pt x="0" y="4493446"/>
                  </a:moveTo>
                  <a:lnTo>
                    <a:pt x="1193390" y="0"/>
                  </a:lnTo>
                  <a:lnTo>
                    <a:pt x="13138967" y="13500"/>
                  </a:lnTo>
                  <a:lnTo>
                    <a:pt x="13138967" y="4512876"/>
                  </a:lnTo>
                  <a:lnTo>
                    <a:pt x="0" y="4493446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85000"/>
                    <a:alpha val="60000"/>
                  </a:schemeClr>
                </a:gs>
                <a:gs pos="84600">
                  <a:schemeClr val="bg1">
                    <a:lumMod val="95000"/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1763483" y="2002969"/>
              <a:ext cx="3294745" cy="329474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6156158" y="2255191"/>
            <a:ext cx="4031873" cy="120032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THANKS</a:t>
            </a:r>
            <a:endParaRPr kumimoji="0" lang="zh-CN" altLang="en-US" sz="7200" b="1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850274" y="4702628"/>
            <a:ext cx="12474999" cy="4416484"/>
            <a:chOff x="850274" y="4702628"/>
            <a:chExt cx="12474999" cy="4416484"/>
          </a:xfrm>
        </p:grpSpPr>
        <p:sp>
          <p:nvSpPr>
            <p:cNvPr id="11" name="矩形 10"/>
            <p:cNvSpPr/>
            <p:nvPr/>
          </p:nvSpPr>
          <p:spPr>
            <a:xfrm rot="1800000">
              <a:off x="850274" y="7513404"/>
              <a:ext cx="12474999" cy="1605708"/>
            </a:xfrm>
            <a:custGeom>
              <a:avLst/>
              <a:gdLst>
                <a:gd name="connsiteX0" fmla="*/ 0 w 13677900"/>
                <a:gd name="connsiteY0" fmla="*/ 0 h 1587113"/>
                <a:gd name="connsiteX1" fmla="*/ 13677900 w 13677900"/>
                <a:gd name="connsiteY1" fmla="*/ 0 h 1587113"/>
                <a:gd name="connsiteX2" fmla="*/ 13677900 w 13677900"/>
                <a:gd name="connsiteY2" fmla="*/ 1587113 h 1587113"/>
                <a:gd name="connsiteX3" fmla="*/ 0 w 13677900"/>
                <a:gd name="connsiteY3" fmla="*/ 1587113 h 1587113"/>
                <a:gd name="connsiteX4" fmla="*/ 0 w 13677900"/>
                <a:gd name="connsiteY4" fmla="*/ 0 h 1587113"/>
                <a:gd name="connsiteX0" fmla="*/ 0 w 13677900"/>
                <a:gd name="connsiteY0" fmla="*/ 0 h 1587113"/>
                <a:gd name="connsiteX1" fmla="*/ 1620651 w 13677900"/>
                <a:gd name="connsiteY1" fmla="*/ 6988 h 1587113"/>
                <a:gd name="connsiteX2" fmla="*/ 13677900 w 13677900"/>
                <a:gd name="connsiteY2" fmla="*/ 0 h 1587113"/>
                <a:gd name="connsiteX3" fmla="*/ 13677900 w 13677900"/>
                <a:gd name="connsiteY3" fmla="*/ 1587113 h 1587113"/>
                <a:gd name="connsiteX4" fmla="*/ 0 w 13677900"/>
                <a:gd name="connsiteY4" fmla="*/ 1587113 h 1587113"/>
                <a:gd name="connsiteX5" fmla="*/ 0 w 13677900"/>
                <a:gd name="connsiteY5" fmla="*/ 0 h 1587113"/>
                <a:gd name="connsiteX0" fmla="*/ 0 w 13677900"/>
                <a:gd name="connsiteY0" fmla="*/ 0 h 1605708"/>
                <a:gd name="connsiteX1" fmla="*/ 1620651 w 13677900"/>
                <a:gd name="connsiteY1" fmla="*/ 6988 h 1605708"/>
                <a:gd name="connsiteX2" fmla="*/ 13677900 w 13677900"/>
                <a:gd name="connsiteY2" fmla="*/ 0 h 1605708"/>
                <a:gd name="connsiteX3" fmla="*/ 13677900 w 13677900"/>
                <a:gd name="connsiteY3" fmla="*/ 1587113 h 1605708"/>
                <a:gd name="connsiteX4" fmla="*/ 1202901 w 13677900"/>
                <a:gd name="connsiteY4" fmla="*/ 1605708 h 1605708"/>
                <a:gd name="connsiteX5" fmla="*/ 0 w 13677900"/>
                <a:gd name="connsiteY5" fmla="*/ 1587113 h 1605708"/>
                <a:gd name="connsiteX6" fmla="*/ 0 w 13677900"/>
                <a:gd name="connsiteY6" fmla="*/ 0 h 1605708"/>
                <a:gd name="connsiteX0" fmla="*/ 0 w 13677900"/>
                <a:gd name="connsiteY0" fmla="*/ 0 h 1605708"/>
                <a:gd name="connsiteX1" fmla="*/ 1620651 w 13677900"/>
                <a:gd name="connsiteY1" fmla="*/ 6988 h 1605708"/>
                <a:gd name="connsiteX2" fmla="*/ 13677900 w 13677900"/>
                <a:gd name="connsiteY2" fmla="*/ 0 h 1605708"/>
                <a:gd name="connsiteX3" fmla="*/ 13677900 w 13677900"/>
                <a:gd name="connsiteY3" fmla="*/ 1587113 h 1605708"/>
                <a:gd name="connsiteX4" fmla="*/ 1202901 w 13677900"/>
                <a:gd name="connsiteY4" fmla="*/ 1605708 h 1605708"/>
                <a:gd name="connsiteX5" fmla="*/ 0 w 13677900"/>
                <a:gd name="connsiteY5" fmla="*/ 0 h 1605708"/>
                <a:gd name="connsiteX0" fmla="*/ 0 w 12474999"/>
                <a:gd name="connsiteY0" fmla="*/ 1605708 h 1605708"/>
                <a:gd name="connsiteX1" fmla="*/ 417750 w 12474999"/>
                <a:gd name="connsiteY1" fmla="*/ 6988 h 1605708"/>
                <a:gd name="connsiteX2" fmla="*/ 12474999 w 12474999"/>
                <a:gd name="connsiteY2" fmla="*/ 0 h 1605708"/>
                <a:gd name="connsiteX3" fmla="*/ 12474999 w 12474999"/>
                <a:gd name="connsiteY3" fmla="*/ 1587113 h 1605708"/>
                <a:gd name="connsiteX4" fmla="*/ 0 w 12474999"/>
                <a:gd name="connsiteY4" fmla="*/ 1605708 h 160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74999" h="1605708">
                  <a:moveTo>
                    <a:pt x="0" y="1605708"/>
                  </a:moveTo>
                  <a:lnTo>
                    <a:pt x="417750" y="6988"/>
                  </a:lnTo>
                  <a:lnTo>
                    <a:pt x="12474999" y="0"/>
                  </a:lnTo>
                  <a:lnTo>
                    <a:pt x="12474999" y="1587113"/>
                  </a:lnTo>
                  <a:lnTo>
                    <a:pt x="0" y="160570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85000"/>
                    <a:alpha val="40000"/>
                  </a:schemeClr>
                </a:gs>
                <a:gs pos="84600">
                  <a:schemeClr val="bg1">
                    <a:lumMod val="95000"/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1269995" y="4702628"/>
              <a:ext cx="1190171" cy="119017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751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6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</p:tagLst>
</file>

<file path=ppt/theme/theme1.xml><?xml version="1.0" encoding="utf-8"?>
<a:theme xmlns:a="http://schemas.openxmlformats.org/drawingml/2006/main" name="第一PPT，www.1ppt.com">
  <a:themeElements>
    <a:clrScheme name="自定义 8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28EB0"/>
      </a:accent1>
      <a:accent2>
        <a:srgbClr val="00B6BF"/>
      </a:accent2>
      <a:accent3>
        <a:srgbClr val="FEB068"/>
      </a:accent3>
      <a:accent4>
        <a:srgbClr val="FF6372"/>
      </a:accent4>
      <a:accent5>
        <a:srgbClr val="228EB0"/>
      </a:accent5>
      <a:accent6>
        <a:srgbClr val="00B6BF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包图主题2" id="{50CFA792-C506-47E4-B272-6A6183483AB3}" vid="{CC1AE437-2F7F-4319-9F22-408F5F8C346F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包图主题2</Template>
  <TotalTime>1644</TotalTime>
  <Words>1475</Words>
  <Application>Microsoft Office PowerPoint</Application>
  <PresentationFormat>自定义</PresentationFormat>
  <Paragraphs>232</Paragraphs>
  <Slides>23</Slides>
  <Notes>23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4" baseType="lpstr"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www.1ppt.com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简洁彩色扁平化</dc:title>
  <dc:creator>第一PPT</dc:creator>
  <cp:keywords>www.1ppt.com</cp:keywords>
  <dc:description>www.1ppt.com</dc:description>
  <cp:lastModifiedBy>user</cp:lastModifiedBy>
  <cp:revision>372</cp:revision>
  <dcterms:created xsi:type="dcterms:W3CDTF">2017-07-19T00:44:57Z</dcterms:created>
  <dcterms:modified xsi:type="dcterms:W3CDTF">2018-05-18T08:30:03Z</dcterms:modified>
</cp:coreProperties>
</file>
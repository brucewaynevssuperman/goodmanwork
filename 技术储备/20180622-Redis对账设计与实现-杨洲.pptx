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86" r:id="rId2"/>
    <p:sldId id="283" r:id="rId3"/>
    <p:sldId id="257" r:id="rId4"/>
    <p:sldId id="291" r:id="rId5"/>
    <p:sldId id="304" r:id="rId6"/>
    <p:sldId id="290" r:id="rId7"/>
    <p:sldId id="293" r:id="rId8"/>
    <p:sldId id="292" r:id="rId9"/>
    <p:sldId id="300" r:id="rId10"/>
    <p:sldId id="301" r:id="rId11"/>
    <p:sldId id="302" r:id="rId12"/>
    <p:sldId id="310" r:id="rId13"/>
    <p:sldId id="294" r:id="rId14"/>
    <p:sldId id="295" r:id="rId15"/>
    <p:sldId id="296" r:id="rId16"/>
    <p:sldId id="299" r:id="rId17"/>
    <p:sldId id="298" r:id="rId18"/>
    <p:sldId id="306" r:id="rId19"/>
    <p:sldId id="307" r:id="rId20"/>
    <p:sldId id="308" r:id="rId21"/>
    <p:sldId id="309" r:id="rId22"/>
    <p:sldId id="313" r:id="rId23"/>
    <p:sldId id="312" r:id="rId24"/>
    <p:sldId id="323" r:id="rId25"/>
    <p:sldId id="338" r:id="rId26"/>
    <p:sldId id="339" r:id="rId27"/>
    <p:sldId id="321" r:id="rId28"/>
    <p:sldId id="332" r:id="rId29"/>
    <p:sldId id="314" r:id="rId30"/>
    <p:sldId id="324" r:id="rId31"/>
    <p:sldId id="315" r:id="rId32"/>
    <p:sldId id="333" r:id="rId33"/>
    <p:sldId id="326" r:id="rId34"/>
    <p:sldId id="318" r:id="rId35"/>
    <p:sldId id="316" r:id="rId36"/>
    <p:sldId id="334" r:id="rId37"/>
    <p:sldId id="336" r:id="rId38"/>
    <p:sldId id="337" r:id="rId39"/>
    <p:sldId id="320" r:id="rId40"/>
    <p:sldId id="327" r:id="rId41"/>
    <p:sldId id="278" r:id="rId42"/>
    <p:sldId id="281" r:id="rId43"/>
    <p:sldId id="287" r:id="rId44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7B7"/>
    <a:srgbClr val="00A6B6"/>
    <a:srgbClr val="E66B6B"/>
    <a:srgbClr val="FFB352"/>
    <a:srgbClr val="6E4180"/>
    <a:srgbClr val="FFA538"/>
    <a:srgbClr val="6C407D"/>
    <a:srgbClr val="F45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291" autoAdjust="0"/>
  </p:normalViewPr>
  <p:slideViewPr>
    <p:cSldViewPr snapToGrid="0">
      <p:cViewPr varScale="1">
        <p:scale>
          <a:sx n="131" d="100"/>
          <a:sy n="131" d="100"/>
        </p:scale>
        <p:origin x="468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932754-067C-4197-AE4A-179C1A96E58D}" type="doc">
      <dgm:prSet loTypeId="urn:microsoft.com/office/officeart/2005/8/layout/chevron2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8A9E6285-EC69-45C1-80D9-F380FBEAC2EB}">
      <dgm:prSet phldrT="[文本]" custT="1"/>
      <dgm:spPr/>
      <dgm:t>
        <a:bodyPr/>
        <a:lstStyle/>
        <a:p>
          <a:r>
            <a:rPr lang="zh-CN" altLang="en-US" sz="1400" kern="1200" dirty="0">
              <a:solidFill>
                <a:prstClr val="white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rPr>
            <a:t>对账数据</a:t>
          </a:r>
        </a:p>
      </dgm:t>
    </dgm:pt>
    <dgm:pt modelId="{DEC74611-8166-4AD3-9C23-888EA0C266D6}" type="parTrans" cxnId="{B00DFE9C-5968-439E-B72B-10379FCD567E}">
      <dgm:prSet/>
      <dgm:spPr/>
      <dgm:t>
        <a:bodyPr/>
        <a:lstStyle/>
        <a:p>
          <a:endParaRPr lang="zh-CN" altLang="en-US"/>
        </a:p>
      </dgm:t>
    </dgm:pt>
    <dgm:pt modelId="{D11C4B40-4585-4844-A440-AA0752DFEFBE}" type="sibTrans" cxnId="{B00DFE9C-5968-439E-B72B-10379FCD567E}">
      <dgm:prSet/>
      <dgm:spPr/>
      <dgm:t>
        <a:bodyPr/>
        <a:lstStyle/>
        <a:p>
          <a:endParaRPr lang="zh-CN" altLang="en-US"/>
        </a:p>
      </dgm:t>
    </dgm:pt>
    <dgm:pt modelId="{9254B406-6493-40B1-9CD0-670FFE263043}">
      <dgm:prSet phldrT="[文本]" custT="1"/>
      <dgm:spPr/>
      <dgm:t>
        <a:bodyPr/>
        <a:lstStyle/>
        <a:p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通过缓冲区读取并解析对账左方、</a:t>
          </a:r>
          <a:r>
            <a:rPr lang="zh-CN" altLang="en-US" sz="1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rPr>
            <a:t>右方对账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文件，分批次缓存对账数据到</a:t>
          </a:r>
          <a:r>
            <a:rPr lang="en-US" altLang="zh-CN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中</a:t>
          </a:r>
        </a:p>
      </dgm:t>
    </dgm:pt>
    <dgm:pt modelId="{02E92F1C-30D9-4F84-AC75-184C5E7539E6}" type="parTrans" cxnId="{A59FFDC0-E316-4402-9765-5DF735D912D6}">
      <dgm:prSet/>
      <dgm:spPr/>
      <dgm:t>
        <a:bodyPr/>
        <a:lstStyle/>
        <a:p>
          <a:endParaRPr lang="zh-CN" altLang="en-US"/>
        </a:p>
      </dgm:t>
    </dgm:pt>
    <dgm:pt modelId="{578C42F6-5082-4C59-9400-140499C97E91}" type="sibTrans" cxnId="{A59FFDC0-E316-4402-9765-5DF735D912D6}">
      <dgm:prSet/>
      <dgm:spPr/>
      <dgm:t>
        <a:bodyPr/>
        <a:lstStyle/>
        <a:p>
          <a:endParaRPr lang="zh-CN" altLang="en-US"/>
        </a:p>
      </dgm:t>
    </dgm:pt>
    <dgm:pt modelId="{E0D47116-B452-49AD-996F-C235ECB41321}">
      <dgm:prSet phldrT="[文本]" custT="1"/>
      <dgm:spPr/>
      <dgm:t>
        <a:bodyPr/>
        <a:lstStyle/>
        <a:p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流式查询历史对账差异数据、交易流水数据，并分批次缓存到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中（防止重复入库、日切差数据对账）</a:t>
          </a:r>
        </a:p>
      </dgm:t>
    </dgm:pt>
    <dgm:pt modelId="{9B08537D-5772-4784-BF29-5D9D8776DAA3}" type="parTrans" cxnId="{E2AEE8A0-1613-4700-A509-17B72CA238CA}">
      <dgm:prSet/>
      <dgm:spPr/>
      <dgm:t>
        <a:bodyPr/>
        <a:lstStyle/>
        <a:p>
          <a:endParaRPr lang="zh-CN" altLang="en-US"/>
        </a:p>
      </dgm:t>
    </dgm:pt>
    <dgm:pt modelId="{CD6B9295-9E7B-413C-A59B-323ABD811E90}" type="sibTrans" cxnId="{E2AEE8A0-1613-4700-A509-17B72CA238CA}">
      <dgm:prSet/>
      <dgm:spPr/>
      <dgm:t>
        <a:bodyPr/>
        <a:lstStyle/>
        <a:p>
          <a:endParaRPr lang="zh-CN" altLang="en-US"/>
        </a:p>
      </dgm:t>
    </dgm:pt>
    <dgm:pt modelId="{C7409C34-46E4-451E-9C85-F99A3911F779}">
      <dgm:prSet phldrT="[文本]" custT="1"/>
      <dgm:spPr/>
      <dgm:t>
        <a:bodyPr/>
        <a:lstStyle/>
        <a:p>
          <a:r>
            <a:rPr lang="en-US" altLang="zh-CN" sz="1400" dirty="0">
              <a:latin typeface="+mj-ea"/>
              <a:ea typeface="+mj-ea"/>
            </a:rPr>
            <a:t>Redis</a:t>
          </a:r>
          <a:r>
            <a:rPr lang="zh-CN" altLang="en-US" sz="1400" dirty="0">
              <a:latin typeface="+mj-ea"/>
              <a:ea typeface="+mj-ea"/>
            </a:rPr>
            <a:t>对账</a:t>
          </a:r>
        </a:p>
      </dgm:t>
    </dgm:pt>
    <dgm:pt modelId="{14C52A36-C76D-47B8-B91E-242BE071164A}" type="parTrans" cxnId="{10F90E2C-6BC6-4984-A8AC-D2E6AB00D28B}">
      <dgm:prSet/>
      <dgm:spPr/>
      <dgm:t>
        <a:bodyPr/>
        <a:lstStyle/>
        <a:p>
          <a:endParaRPr lang="zh-CN" altLang="en-US"/>
        </a:p>
      </dgm:t>
    </dgm:pt>
    <dgm:pt modelId="{D792EA21-0B09-4D82-81F5-91651DC00AD7}" type="sibTrans" cxnId="{10F90E2C-6BC6-4984-A8AC-D2E6AB00D28B}">
      <dgm:prSet/>
      <dgm:spPr/>
      <dgm:t>
        <a:bodyPr/>
        <a:lstStyle/>
        <a:p>
          <a:endParaRPr lang="zh-CN" altLang="en-US"/>
        </a:p>
      </dgm:t>
    </dgm:pt>
    <dgm:pt modelId="{B07D4035-70FB-47DD-8289-B74636EC322C}">
      <dgm:prSet phldrT="[文本]" custT="1"/>
      <dgm:spPr/>
      <dgm:t>
        <a:bodyPr/>
        <a:lstStyle/>
        <a:p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以订单号和金额为</a:t>
          </a:r>
          <a:r>
            <a:rPr lang="en-US" altLang="zh-CN" sz="1000" dirty="0">
              <a:latin typeface="楷体" panose="02010609060101010101" pitchFamily="49" charset="-122"/>
              <a:ea typeface="楷体" panose="02010609060101010101" pitchFamily="49" charset="-122"/>
            </a:rPr>
            <a:t>key(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金额通过交易类型来取值，支付为正、退款为负</a:t>
          </a:r>
          <a:r>
            <a:rPr lang="en-US" altLang="zh-CN" sz="1000" dirty="0">
              <a:latin typeface="楷体" panose="02010609060101010101" pitchFamily="49" charset="-122"/>
              <a:ea typeface="楷体" panose="02010609060101010101" pitchFamily="49" charset="-122"/>
            </a:rPr>
            <a:t>)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，取</a:t>
          </a:r>
          <a:r>
            <a:rPr lang="en-US" altLang="zh-CN" sz="10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对账左方、右方</a:t>
          </a:r>
          <a:r>
            <a:rPr lang="en-US" altLang="zh-CN" sz="10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集合的交集，即为本次对账账平的数据</a:t>
          </a:r>
        </a:p>
      </dgm:t>
    </dgm:pt>
    <dgm:pt modelId="{294B5EF6-3458-4B52-B86A-D6D6F2F78FAF}" type="parTrans" cxnId="{FFAAC96F-D284-4D7D-BAD0-4D4792A90D52}">
      <dgm:prSet/>
      <dgm:spPr/>
      <dgm:t>
        <a:bodyPr/>
        <a:lstStyle/>
        <a:p>
          <a:endParaRPr lang="zh-CN" altLang="en-US"/>
        </a:p>
      </dgm:t>
    </dgm:pt>
    <dgm:pt modelId="{1054F60A-5ACE-4F61-B621-2D8922E54F31}" type="sibTrans" cxnId="{FFAAC96F-D284-4D7D-BAD0-4D4792A90D52}">
      <dgm:prSet/>
      <dgm:spPr/>
      <dgm:t>
        <a:bodyPr/>
        <a:lstStyle/>
        <a:p>
          <a:endParaRPr lang="zh-CN" altLang="en-US"/>
        </a:p>
      </dgm:t>
    </dgm:pt>
    <dgm:pt modelId="{A30C0C93-CC5B-4380-B9FF-75B398ECAA1C}">
      <dgm:prSet phldrT="[文本]" custT="1"/>
      <dgm:spPr/>
      <dgm:t>
        <a:bodyPr/>
        <a:lstStyle/>
        <a:p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以订单号和金额为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key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，取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对账左方、右方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集合的差集，即为本次对账左有右无、金额不一致集合数据</a:t>
          </a:r>
        </a:p>
      </dgm:t>
    </dgm:pt>
    <dgm:pt modelId="{24E16125-7CED-42E3-A4DA-39EAC535F86D}" type="parTrans" cxnId="{62172514-F073-4B7E-955B-6C136905B7A2}">
      <dgm:prSet/>
      <dgm:spPr/>
      <dgm:t>
        <a:bodyPr/>
        <a:lstStyle/>
        <a:p>
          <a:endParaRPr lang="zh-CN" altLang="en-US"/>
        </a:p>
      </dgm:t>
    </dgm:pt>
    <dgm:pt modelId="{1123F286-E5FC-407E-B710-CF239549248F}" type="sibTrans" cxnId="{62172514-F073-4B7E-955B-6C136905B7A2}">
      <dgm:prSet/>
      <dgm:spPr/>
      <dgm:t>
        <a:bodyPr/>
        <a:lstStyle/>
        <a:p>
          <a:endParaRPr lang="zh-CN" altLang="en-US"/>
        </a:p>
      </dgm:t>
    </dgm:pt>
    <dgm:pt modelId="{927AA99B-722D-4C64-9466-4E761CEB0976}">
      <dgm:prSet phldrT="[文本]" custT="1"/>
      <dgm:spPr/>
      <dgm:t>
        <a:bodyPr/>
        <a:lstStyle/>
        <a:p>
          <a:r>
            <a:rPr lang="zh-CN" altLang="en-US" sz="1400" dirty="0"/>
            <a:t>对账结果</a:t>
          </a:r>
        </a:p>
      </dgm:t>
    </dgm:pt>
    <dgm:pt modelId="{9E49CA8B-0C41-42AF-A7BB-1733FB241792}" type="parTrans" cxnId="{9221214A-923E-4477-A2A6-8D5CB0EC0198}">
      <dgm:prSet/>
      <dgm:spPr/>
      <dgm:t>
        <a:bodyPr/>
        <a:lstStyle/>
        <a:p>
          <a:endParaRPr lang="zh-CN" altLang="en-US"/>
        </a:p>
      </dgm:t>
    </dgm:pt>
    <dgm:pt modelId="{609EEFF9-9C84-4843-854E-BFCB6369FCEA}" type="sibTrans" cxnId="{9221214A-923E-4477-A2A6-8D5CB0EC0198}">
      <dgm:prSet/>
      <dgm:spPr/>
      <dgm:t>
        <a:bodyPr/>
        <a:lstStyle/>
        <a:p>
          <a:endParaRPr lang="zh-CN" altLang="en-US"/>
        </a:p>
      </dgm:t>
    </dgm:pt>
    <dgm:pt modelId="{A93E3ECA-1B5C-4045-9D18-570CD9CE33C0}">
      <dgm:prSet phldrT="[文本]" custT="1"/>
      <dgm:spPr/>
      <dgm:t>
        <a:bodyPr/>
        <a:lstStyle/>
        <a:p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对账出的对账结果信息入库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(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修改对账任务记录、新增对账结果记录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)</a:t>
          </a:r>
          <a:endParaRPr lang="zh-CN" altLang="en-US" sz="1000" dirty="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BADEB4BB-702D-4E96-9A92-966FC1BE7E29}" type="parTrans" cxnId="{CFFB3AF0-5ACE-4287-9933-D62493182743}">
      <dgm:prSet/>
      <dgm:spPr/>
      <dgm:t>
        <a:bodyPr/>
        <a:lstStyle/>
        <a:p>
          <a:endParaRPr lang="zh-CN" altLang="en-US"/>
        </a:p>
      </dgm:t>
    </dgm:pt>
    <dgm:pt modelId="{16CE63B6-A6AC-42EF-AD43-7B7AC3435D41}" type="sibTrans" cxnId="{CFFB3AF0-5ACE-4287-9933-D62493182743}">
      <dgm:prSet/>
      <dgm:spPr/>
      <dgm:t>
        <a:bodyPr/>
        <a:lstStyle/>
        <a:p>
          <a:endParaRPr lang="zh-CN" altLang="en-US"/>
        </a:p>
      </dgm:t>
    </dgm:pt>
    <dgm:pt modelId="{2C61161C-BC31-4EDC-A5F4-6E493F037848}">
      <dgm:prSet phldrT="[文本]" custT="1"/>
      <dgm:spPr/>
      <dgm:t>
        <a:bodyPr/>
        <a:lstStyle/>
        <a:p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对账出的需要新增或修改的差异记录，分批次存入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中，通过发送并消费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MQ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消息，完成对账差异数据的入库</a:t>
          </a:r>
        </a:p>
      </dgm:t>
    </dgm:pt>
    <dgm:pt modelId="{4B0B05C7-F3A9-4E7E-87B3-E6BDA892579A}" type="parTrans" cxnId="{34F5CE81-378B-40EB-A9DA-63FA3C5B693B}">
      <dgm:prSet/>
      <dgm:spPr/>
      <dgm:t>
        <a:bodyPr/>
        <a:lstStyle/>
        <a:p>
          <a:endParaRPr lang="zh-CN" altLang="en-US"/>
        </a:p>
      </dgm:t>
    </dgm:pt>
    <dgm:pt modelId="{A987D5C1-1D27-4ECA-9DF8-520A4B82BC40}" type="sibTrans" cxnId="{34F5CE81-378B-40EB-A9DA-63FA3C5B693B}">
      <dgm:prSet/>
      <dgm:spPr/>
      <dgm:t>
        <a:bodyPr/>
        <a:lstStyle/>
        <a:p>
          <a:endParaRPr lang="zh-CN" altLang="en-US"/>
        </a:p>
      </dgm:t>
    </dgm:pt>
    <dgm:pt modelId="{CE54754A-9BF5-41F9-A892-00EB8518BBA8}">
      <dgm:prSet phldrT="[文本]" custT="1"/>
      <dgm:spPr/>
      <dgm:t>
        <a:bodyPr/>
        <a:lstStyle/>
        <a:p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以订单号和金额为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key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，取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对账右方、左方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集合的差集，即为本次对账左无右有、金额不一致集合数据</a:t>
          </a:r>
        </a:p>
      </dgm:t>
    </dgm:pt>
    <dgm:pt modelId="{28A02EE0-135E-44A9-A369-6C0A8A406B8D}" type="parTrans" cxnId="{8BED344F-E210-48B4-B0BA-EA276B93756E}">
      <dgm:prSet/>
      <dgm:spPr/>
      <dgm:t>
        <a:bodyPr/>
        <a:lstStyle/>
        <a:p>
          <a:endParaRPr lang="zh-CN" altLang="en-US"/>
        </a:p>
      </dgm:t>
    </dgm:pt>
    <dgm:pt modelId="{21DB7EE3-96FE-4AE1-9EED-5C786DB0A35D}" type="sibTrans" cxnId="{8BED344F-E210-48B4-B0BA-EA276B93756E}">
      <dgm:prSet/>
      <dgm:spPr/>
      <dgm:t>
        <a:bodyPr/>
        <a:lstStyle/>
        <a:p>
          <a:endParaRPr lang="zh-CN" altLang="en-US"/>
        </a:p>
      </dgm:t>
    </dgm:pt>
    <dgm:pt modelId="{66D8728F-9543-4501-83E0-B547259AAA04}">
      <dgm:prSet phldrT="[文本]" custT="1"/>
      <dgm:spPr/>
      <dgm:t>
        <a:bodyPr/>
        <a:lstStyle/>
        <a:p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若有金额不一致、渠道无我方有、对账异常等，则做告警处理</a:t>
          </a:r>
        </a:p>
      </dgm:t>
    </dgm:pt>
    <dgm:pt modelId="{93EDD5C3-B5E8-4857-A26F-37E13801E28B}" type="parTrans" cxnId="{687B0C3D-57E5-4296-8FAF-C05DD646BA82}">
      <dgm:prSet/>
      <dgm:spPr/>
      <dgm:t>
        <a:bodyPr/>
        <a:lstStyle/>
        <a:p>
          <a:endParaRPr lang="zh-CN" altLang="en-US"/>
        </a:p>
      </dgm:t>
    </dgm:pt>
    <dgm:pt modelId="{BA8D970D-71EF-4B3D-B637-7E2B5EADCDCC}" type="sibTrans" cxnId="{687B0C3D-57E5-4296-8FAF-C05DD646BA82}">
      <dgm:prSet/>
      <dgm:spPr/>
      <dgm:t>
        <a:bodyPr/>
        <a:lstStyle/>
        <a:p>
          <a:endParaRPr lang="zh-CN" altLang="en-US"/>
        </a:p>
      </dgm:t>
    </dgm:pt>
    <dgm:pt modelId="{988DE99D-C164-4E59-A6C4-8056FDBEC524}">
      <dgm:prSet phldrT="[文本]" custT="1"/>
      <dgm:spPr/>
      <dgm:t>
        <a:bodyPr/>
        <a:lstStyle/>
        <a:p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若渠道有我方无差异数据，则发送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MQ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消息进行补单处理</a:t>
          </a:r>
        </a:p>
      </dgm:t>
    </dgm:pt>
    <dgm:pt modelId="{A3E51763-8685-4077-9ED6-742EDAB96EBC}" type="parTrans" cxnId="{385DAE3A-58EB-4E55-A441-5E0F41133F2D}">
      <dgm:prSet/>
      <dgm:spPr/>
      <dgm:t>
        <a:bodyPr/>
        <a:lstStyle/>
        <a:p>
          <a:endParaRPr lang="zh-CN" altLang="en-US"/>
        </a:p>
      </dgm:t>
    </dgm:pt>
    <dgm:pt modelId="{F78AB04D-F286-427A-B12B-4DB637EFAA93}" type="sibTrans" cxnId="{385DAE3A-58EB-4E55-A441-5E0F41133F2D}">
      <dgm:prSet/>
      <dgm:spPr/>
      <dgm:t>
        <a:bodyPr/>
        <a:lstStyle/>
        <a:p>
          <a:endParaRPr lang="zh-CN" altLang="en-US"/>
        </a:p>
      </dgm:t>
    </dgm:pt>
    <dgm:pt modelId="{24928DAA-ACDB-4073-B29C-BA21853EDEFD}">
      <dgm:prSet phldrT="[文本]" custT="1"/>
      <dgm:spPr/>
      <dgm:t>
        <a:bodyPr/>
        <a:lstStyle/>
        <a:p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以订单号为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key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，取历史差异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集合与本次对账左方、对账右方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集合的差集，再与交易流水</a:t>
          </a:r>
          <a:r>
            <a:rPr lang="en-US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dirty="0">
              <a:latin typeface="楷体" panose="02010609060101010101" pitchFamily="49" charset="-122"/>
              <a:ea typeface="楷体" panose="02010609060101010101" pitchFamily="49" charset="-122"/>
            </a:rPr>
            <a:t>集合取交集，即为日切差对账数据</a:t>
          </a:r>
        </a:p>
      </dgm:t>
    </dgm:pt>
    <dgm:pt modelId="{2C052FE4-9C33-4A6F-8A59-7A73F32E967A}" type="parTrans" cxnId="{89BA24B8-70A9-43AE-A171-F5C2E8CAF499}">
      <dgm:prSet/>
      <dgm:spPr/>
      <dgm:t>
        <a:bodyPr/>
        <a:lstStyle/>
        <a:p>
          <a:endParaRPr lang="zh-CN" altLang="en-US"/>
        </a:p>
      </dgm:t>
    </dgm:pt>
    <dgm:pt modelId="{4BE07D42-1F7A-4FDF-BCFE-554FFF8CDDD9}" type="sibTrans" cxnId="{89BA24B8-70A9-43AE-A171-F5C2E8CAF499}">
      <dgm:prSet/>
      <dgm:spPr/>
      <dgm:t>
        <a:bodyPr/>
        <a:lstStyle/>
        <a:p>
          <a:endParaRPr lang="zh-CN" altLang="en-US"/>
        </a:p>
      </dgm:t>
    </dgm:pt>
    <dgm:pt modelId="{4411584E-6360-4CA3-A680-16BD2004EE53}" type="pres">
      <dgm:prSet presAssocID="{FF932754-067C-4197-AE4A-179C1A96E58D}" presName="linearFlow" presStyleCnt="0">
        <dgm:presLayoutVars>
          <dgm:dir/>
          <dgm:animLvl val="lvl"/>
          <dgm:resizeHandles val="exact"/>
        </dgm:presLayoutVars>
      </dgm:prSet>
      <dgm:spPr/>
    </dgm:pt>
    <dgm:pt modelId="{9D1B1348-B23F-4D05-8C9D-DB381C98BE83}" type="pres">
      <dgm:prSet presAssocID="{8A9E6285-EC69-45C1-80D9-F380FBEAC2EB}" presName="composite" presStyleCnt="0"/>
      <dgm:spPr/>
    </dgm:pt>
    <dgm:pt modelId="{1855F524-2DD4-4BD9-ADCD-6A4A9A72256A}" type="pres">
      <dgm:prSet presAssocID="{8A9E6285-EC69-45C1-80D9-F380FBEAC2EB}" presName="parentText" presStyleLbl="alignNode1" presStyleIdx="0" presStyleCnt="3" custScaleX="110548" custScaleY="107499" custLinFactNeighborY="1268">
        <dgm:presLayoutVars>
          <dgm:chMax val="1"/>
          <dgm:bulletEnabled val="1"/>
        </dgm:presLayoutVars>
      </dgm:prSet>
      <dgm:spPr/>
    </dgm:pt>
    <dgm:pt modelId="{02DEEFDA-F5F9-43CD-8816-B6ACD3C9F72D}" type="pres">
      <dgm:prSet presAssocID="{8A9E6285-EC69-45C1-80D9-F380FBEAC2EB}" presName="descendantText" presStyleLbl="alignAcc1" presStyleIdx="0" presStyleCnt="3" custScaleX="99380" custScaleY="105602" custLinFactNeighborX="1023" custLinFactNeighborY="-2653">
        <dgm:presLayoutVars>
          <dgm:bulletEnabled val="1"/>
        </dgm:presLayoutVars>
      </dgm:prSet>
      <dgm:spPr/>
    </dgm:pt>
    <dgm:pt modelId="{598C5492-A845-4857-9450-1C444EC22E46}" type="pres">
      <dgm:prSet presAssocID="{D11C4B40-4585-4844-A440-AA0752DFEFBE}" presName="sp" presStyleCnt="0"/>
      <dgm:spPr/>
    </dgm:pt>
    <dgm:pt modelId="{6209A463-1F19-462D-975D-56851E364163}" type="pres">
      <dgm:prSet presAssocID="{C7409C34-46E4-451E-9C85-F99A3911F779}" presName="composite" presStyleCnt="0"/>
      <dgm:spPr/>
    </dgm:pt>
    <dgm:pt modelId="{4FF21570-418F-4416-9E7F-685DA8909030}" type="pres">
      <dgm:prSet presAssocID="{C7409C34-46E4-451E-9C85-F99A3911F779}" presName="parentText" presStyleLbl="alignNode1" presStyleIdx="1" presStyleCnt="3" custScaleX="111572" custScaleY="163430" custLinFactNeighborY="701">
        <dgm:presLayoutVars>
          <dgm:chMax val="1"/>
          <dgm:bulletEnabled val="1"/>
        </dgm:presLayoutVars>
      </dgm:prSet>
      <dgm:spPr/>
    </dgm:pt>
    <dgm:pt modelId="{DEFB803D-2878-4F12-928B-7BC44193D079}" type="pres">
      <dgm:prSet presAssocID="{C7409C34-46E4-451E-9C85-F99A3911F779}" presName="descendantText" presStyleLbl="alignAcc1" presStyleIdx="1" presStyleCnt="3" custScaleX="99186" custScaleY="193042" custLinFactNeighborX="982" custLinFactNeighborY="-2362">
        <dgm:presLayoutVars>
          <dgm:bulletEnabled val="1"/>
        </dgm:presLayoutVars>
      </dgm:prSet>
      <dgm:spPr/>
    </dgm:pt>
    <dgm:pt modelId="{A880C743-C117-409F-8D0B-1822A81D3F3E}" type="pres">
      <dgm:prSet presAssocID="{D792EA21-0B09-4D82-81F5-91651DC00AD7}" presName="sp" presStyleCnt="0"/>
      <dgm:spPr/>
    </dgm:pt>
    <dgm:pt modelId="{C07DA597-2E3A-46BE-A3EC-C21396C7B427}" type="pres">
      <dgm:prSet presAssocID="{927AA99B-722D-4C64-9466-4E761CEB0976}" presName="composite" presStyleCnt="0"/>
      <dgm:spPr/>
    </dgm:pt>
    <dgm:pt modelId="{BE608FE6-5940-4426-A889-EAE0249947F8}" type="pres">
      <dgm:prSet presAssocID="{927AA99B-722D-4C64-9466-4E761CEB0976}" presName="parentText" presStyleLbl="alignNode1" presStyleIdx="2" presStyleCnt="3" custScaleX="115756" custScaleY="122884">
        <dgm:presLayoutVars>
          <dgm:chMax val="1"/>
          <dgm:bulletEnabled val="1"/>
        </dgm:presLayoutVars>
      </dgm:prSet>
      <dgm:spPr/>
    </dgm:pt>
    <dgm:pt modelId="{97BE0749-E44A-4D9F-9428-2220A90B4EA7}" type="pres">
      <dgm:prSet presAssocID="{927AA99B-722D-4C64-9466-4E761CEB0976}" presName="descendantText" presStyleLbl="alignAcc1" presStyleIdx="2" presStyleCnt="3" custScaleX="98617" custScaleY="125641" custLinFactNeighborX="1018" custLinFactNeighborY="-6512">
        <dgm:presLayoutVars>
          <dgm:bulletEnabled val="1"/>
        </dgm:presLayoutVars>
      </dgm:prSet>
      <dgm:spPr/>
    </dgm:pt>
  </dgm:ptLst>
  <dgm:cxnLst>
    <dgm:cxn modelId="{709D260D-D190-47C6-AC4C-090A688142F8}" type="presOf" srcId="{C7409C34-46E4-451E-9C85-F99A3911F779}" destId="{4FF21570-418F-4416-9E7F-685DA8909030}" srcOrd="0" destOrd="0" presId="urn:microsoft.com/office/officeart/2005/8/layout/chevron2"/>
    <dgm:cxn modelId="{FB9E3F12-209B-4F81-B85A-F3439491295E}" type="presOf" srcId="{927AA99B-722D-4C64-9466-4E761CEB0976}" destId="{BE608FE6-5940-4426-A889-EAE0249947F8}" srcOrd="0" destOrd="0" presId="urn:microsoft.com/office/officeart/2005/8/layout/chevron2"/>
    <dgm:cxn modelId="{62172514-F073-4B7E-955B-6C136905B7A2}" srcId="{C7409C34-46E4-451E-9C85-F99A3911F779}" destId="{A30C0C93-CC5B-4380-B9FF-75B398ECAA1C}" srcOrd="1" destOrd="0" parTransId="{24E16125-7CED-42E3-A4DA-39EAC535F86D}" sibTransId="{1123F286-E5FC-407E-B710-CF239549248F}"/>
    <dgm:cxn modelId="{383BC615-9A2D-469B-8F77-8889AD2A0049}" type="presOf" srcId="{E0D47116-B452-49AD-996F-C235ECB41321}" destId="{02DEEFDA-F5F9-43CD-8816-B6ACD3C9F72D}" srcOrd="0" destOrd="1" presId="urn:microsoft.com/office/officeart/2005/8/layout/chevron2"/>
    <dgm:cxn modelId="{F6F04D24-B460-49DF-AB74-CAFF46F5912B}" type="presOf" srcId="{CE54754A-9BF5-41F9-A892-00EB8518BBA8}" destId="{DEFB803D-2878-4F12-928B-7BC44193D079}" srcOrd="0" destOrd="2" presId="urn:microsoft.com/office/officeart/2005/8/layout/chevron2"/>
    <dgm:cxn modelId="{10F90E2C-6BC6-4984-A8AC-D2E6AB00D28B}" srcId="{FF932754-067C-4197-AE4A-179C1A96E58D}" destId="{C7409C34-46E4-451E-9C85-F99A3911F779}" srcOrd="1" destOrd="0" parTransId="{14C52A36-C76D-47B8-B91E-242BE071164A}" sibTransId="{D792EA21-0B09-4D82-81F5-91651DC00AD7}"/>
    <dgm:cxn modelId="{385DAE3A-58EB-4E55-A441-5E0F41133F2D}" srcId="{927AA99B-722D-4C64-9466-4E761CEB0976}" destId="{988DE99D-C164-4E59-A6C4-8056FDBEC524}" srcOrd="3" destOrd="0" parTransId="{A3E51763-8685-4077-9ED6-742EDAB96EBC}" sibTransId="{F78AB04D-F286-427A-B12B-4DB637EFAA93}"/>
    <dgm:cxn modelId="{687B0C3D-57E5-4296-8FAF-C05DD646BA82}" srcId="{927AA99B-722D-4C64-9466-4E761CEB0976}" destId="{66D8728F-9543-4501-83E0-B547259AAA04}" srcOrd="2" destOrd="0" parTransId="{93EDD5C3-B5E8-4857-A26F-37E13801E28B}" sibTransId="{BA8D970D-71EF-4B3D-B637-7E2B5EADCDCC}"/>
    <dgm:cxn modelId="{0EF9FB65-96B5-4968-A92C-B0BB23191286}" type="presOf" srcId="{FF932754-067C-4197-AE4A-179C1A96E58D}" destId="{4411584E-6360-4CA3-A680-16BD2004EE53}" srcOrd="0" destOrd="0" presId="urn:microsoft.com/office/officeart/2005/8/layout/chevron2"/>
    <dgm:cxn modelId="{15206968-A090-490D-AD69-3D2845BE8878}" type="presOf" srcId="{B07D4035-70FB-47DD-8289-B74636EC322C}" destId="{DEFB803D-2878-4F12-928B-7BC44193D079}" srcOrd="0" destOrd="0" presId="urn:microsoft.com/office/officeart/2005/8/layout/chevron2"/>
    <dgm:cxn modelId="{1B6FB169-7815-414F-BB9A-60C4BCA96DEA}" type="presOf" srcId="{988DE99D-C164-4E59-A6C4-8056FDBEC524}" destId="{97BE0749-E44A-4D9F-9428-2220A90B4EA7}" srcOrd="0" destOrd="3" presId="urn:microsoft.com/office/officeart/2005/8/layout/chevron2"/>
    <dgm:cxn modelId="{9221214A-923E-4477-A2A6-8D5CB0EC0198}" srcId="{FF932754-067C-4197-AE4A-179C1A96E58D}" destId="{927AA99B-722D-4C64-9466-4E761CEB0976}" srcOrd="2" destOrd="0" parTransId="{9E49CA8B-0C41-42AF-A7BB-1733FB241792}" sibTransId="{609EEFF9-9C84-4843-854E-BFCB6369FCEA}"/>
    <dgm:cxn modelId="{5C0EDC4E-67F2-4C65-9C64-6498F9672F04}" type="presOf" srcId="{9254B406-6493-40B1-9CD0-670FFE263043}" destId="{02DEEFDA-F5F9-43CD-8816-B6ACD3C9F72D}" srcOrd="0" destOrd="0" presId="urn:microsoft.com/office/officeart/2005/8/layout/chevron2"/>
    <dgm:cxn modelId="{8BED344F-E210-48B4-B0BA-EA276B93756E}" srcId="{C7409C34-46E4-451E-9C85-F99A3911F779}" destId="{CE54754A-9BF5-41F9-A892-00EB8518BBA8}" srcOrd="2" destOrd="0" parTransId="{28A02EE0-135E-44A9-A369-6C0A8A406B8D}" sibTransId="{21DB7EE3-96FE-4AE1-9EED-5C786DB0A35D}"/>
    <dgm:cxn modelId="{FFAAC96F-D284-4D7D-BAD0-4D4792A90D52}" srcId="{C7409C34-46E4-451E-9C85-F99A3911F779}" destId="{B07D4035-70FB-47DD-8289-B74636EC322C}" srcOrd="0" destOrd="0" parTransId="{294B5EF6-3458-4B52-B86A-D6D6F2F78FAF}" sibTransId="{1054F60A-5ACE-4F61-B621-2D8922E54F31}"/>
    <dgm:cxn modelId="{F8B8787E-C8D5-4A39-9F98-6D1DFC809BB1}" type="presOf" srcId="{24928DAA-ACDB-4073-B29C-BA21853EDEFD}" destId="{DEFB803D-2878-4F12-928B-7BC44193D079}" srcOrd="0" destOrd="3" presId="urn:microsoft.com/office/officeart/2005/8/layout/chevron2"/>
    <dgm:cxn modelId="{34F5CE81-378B-40EB-A9DA-63FA3C5B693B}" srcId="{927AA99B-722D-4C64-9466-4E761CEB0976}" destId="{2C61161C-BC31-4EDC-A5F4-6E493F037848}" srcOrd="1" destOrd="0" parTransId="{4B0B05C7-F3A9-4E7E-87B3-E6BDA892579A}" sibTransId="{A987D5C1-1D27-4ECA-9DF8-520A4B82BC40}"/>
    <dgm:cxn modelId="{B00DFE9C-5968-439E-B72B-10379FCD567E}" srcId="{FF932754-067C-4197-AE4A-179C1A96E58D}" destId="{8A9E6285-EC69-45C1-80D9-F380FBEAC2EB}" srcOrd="0" destOrd="0" parTransId="{DEC74611-8166-4AD3-9C23-888EA0C266D6}" sibTransId="{D11C4B40-4585-4844-A440-AA0752DFEFBE}"/>
    <dgm:cxn modelId="{E2AEE8A0-1613-4700-A509-17B72CA238CA}" srcId="{8A9E6285-EC69-45C1-80D9-F380FBEAC2EB}" destId="{E0D47116-B452-49AD-996F-C235ECB41321}" srcOrd="1" destOrd="0" parTransId="{9B08537D-5772-4784-BF29-5D9D8776DAA3}" sibTransId="{CD6B9295-9E7B-413C-A59B-323ABD811E90}"/>
    <dgm:cxn modelId="{F477F6A0-BF70-4359-A3A2-1AC611FD9DA9}" type="presOf" srcId="{8A9E6285-EC69-45C1-80D9-F380FBEAC2EB}" destId="{1855F524-2DD4-4BD9-ADCD-6A4A9A72256A}" srcOrd="0" destOrd="0" presId="urn:microsoft.com/office/officeart/2005/8/layout/chevron2"/>
    <dgm:cxn modelId="{DB75E8A6-3507-48E9-8797-291043C8719D}" type="presOf" srcId="{A93E3ECA-1B5C-4045-9D18-570CD9CE33C0}" destId="{97BE0749-E44A-4D9F-9428-2220A90B4EA7}" srcOrd="0" destOrd="0" presId="urn:microsoft.com/office/officeart/2005/8/layout/chevron2"/>
    <dgm:cxn modelId="{6584C5A7-B598-4394-B894-1F9531D5C329}" type="presOf" srcId="{A30C0C93-CC5B-4380-B9FF-75B398ECAA1C}" destId="{DEFB803D-2878-4F12-928B-7BC44193D079}" srcOrd="0" destOrd="1" presId="urn:microsoft.com/office/officeart/2005/8/layout/chevron2"/>
    <dgm:cxn modelId="{89BA24B8-70A9-43AE-A171-F5C2E8CAF499}" srcId="{C7409C34-46E4-451E-9C85-F99A3911F779}" destId="{24928DAA-ACDB-4073-B29C-BA21853EDEFD}" srcOrd="3" destOrd="0" parTransId="{2C052FE4-9C33-4A6F-8A59-7A73F32E967A}" sibTransId="{4BE07D42-1F7A-4FDF-BCFE-554FFF8CDDD9}"/>
    <dgm:cxn modelId="{A59FFDC0-E316-4402-9765-5DF735D912D6}" srcId="{8A9E6285-EC69-45C1-80D9-F380FBEAC2EB}" destId="{9254B406-6493-40B1-9CD0-670FFE263043}" srcOrd="0" destOrd="0" parTransId="{02E92F1C-30D9-4F84-AC75-184C5E7539E6}" sibTransId="{578C42F6-5082-4C59-9400-140499C97E91}"/>
    <dgm:cxn modelId="{C38CEAD2-38E5-496B-888F-363BAC734B5E}" type="presOf" srcId="{66D8728F-9543-4501-83E0-B547259AAA04}" destId="{97BE0749-E44A-4D9F-9428-2220A90B4EA7}" srcOrd="0" destOrd="2" presId="urn:microsoft.com/office/officeart/2005/8/layout/chevron2"/>
    <dgm:cxn modelId="{2B31B3DA-2802-4C46-AC63-0DA6A09F44A8}" type="presOf" srcId="{2C61161C-BC31-4EDC-A5F4-6E493F037848}" destId="{97BE0749-E44A-4D9F-9428-2220A90B4EA7}" srcOrd="0" destOrd="1" presId="urn:microsoft.com/office/officeart/2005/8/layout/chevron2"/>
    <dgm:cxn modelId="{CFFB3AF0-5ACE-4287-9933-D62493182743}" srcId="{927AA99B-722D-4C64-9466-4E761CEB0976}" destId="{A93E3ECA-1B5C-4045-9D18-570CD9CE33C0}" srcOrd="0" destOrd="0" parTransId="{BADEB4BB-702D-4E96-9A92-966FC1BE7E29}" sibTransId="{16CE63B6-A6AC-42EF-AD43-7B7AC3435D41}"/>
    <dgm:cxn modelId="{E04B4D17-1152-426E-B926-6EF700BA85E5}" type="presParOf" srcId="{4411584E-6360-4CA3-A680-16BD2004EE53}" destId="{9D1B1348-B23F-4D05-8C9D-DB381C98BE83}" srcOrd="0" destOrd="0" presId="urn:microsoft.com/office/officeart/2005/8/layout/chevron2"/>
    <dgm:cxn modelId="{8AAB3BB8-423D-4070-B9B2-4C5E65286D40}" type="presParOf" srcId="{9D1B1348-B23F-4D05-8C9D-DB381C98BE83}" destId="{1855F524-2DD4-4BD9-ADCD-6A4A9A72256A}" srcOrd="0" destOrd="0" presId="urn:microsoft.com/office/officeart/2005/8/layout/chevron2"/>
    <dgm:cxn modelId="{055A64F9-8DD7-48B8-9AA2-4CB2F82FA1E1}" type="presParOf" srcId="{9D1B1348-B23F-4D05-8C9D-DB381C98BE83}" destId="{02DEEFDA-F5F9-43CD-8816-B6ACD3C9F72D}" srcOrd="1" destOrd="0" presId="urn:microsoft.com/office/officeart/2005/8/layout/chevron2"/>
    <dgm:cxn modelId="{0642647C-67A0-4775-B693-7368DBBA3321}" type="presParOf" srcId="{4411584E-6360-4CA3-A680-16BD2004EE53}" destId="{598C5492-A845-4857-9450-1C444EC22E46}" srcOrd="1" destOrd="0" presId="urn:microsoft.com/office/officeart/2005/8/layout/chevron2"/>
    <dgm:cxn modelId="{C1CD949C-F9B5-4A89-B2F3-F59254304F88}" type="presParOf" srcId="{4411584E-6360-4CA3-A680-16BD2004EE53}" destId="{6209A463-1F19-462D-975D-56851E364163}" srcOrd="2" destOrd="0" presId="urn:microsoft.com/office/officeart/2005/8/layout/chevron2"/>
    <dgm:cxn modelId="{0ADC8BB9-7607-442D-95D7-636F6E0A0912}" type="presParOf" srcId="{6209A463-1F19-462D-975D-56851E364163}" destId="{4FF21570-418F-4416-9E7F-685DA8909030}" srcOrd="0" destOrd="0" presId="urn:microsoft.com/office/officeart/2005/8/layout/chevron2"/>
    <dgm:cxn modelId="{2E316E2D-7D9C-485F-87A9-5486AECD4061}" type="presParOf" srcId="{6209A463-1F19-462D-975D-56851E364163}" destId="{DEFB803D-2878-4F12-928B-7BC44193D079}" srcOrd="1" destOrd="0" presId="urn:microsoft.com/office/officeart/2005/8/layout/chevron2"/>
    <dgm:cxn modelId="{9671FDCC-F11D-495E-8A23-56B4811EE678}" type="presParOf" srcId="{4411584E-6360-4CA3-A680-16BD2004EE53}" destId="{A880C743-C117-409F-8D0B-1822A81D3F3E}" srcOrd="3" destOrd="0" presId="urn:microsoft.com/office/officeart/2005/8/layout/chevron2"/>
    <dgm:cxn modelId="{EFCB7D3D-67EF-4405-AEB0-BFDB6B684BF5}" type="presParOf" srcId="{4411584E-6360-4CA3-A680-16BD2004EE53}" destId="{C07DA597-2E3A-46BE-A3EC-C21396C7B427}" srcOrd="4" destOrd="0" presId="urn:microsoft.com/office/officeart/2005/8/layout/chevron2"/>
    <dgm:cxn modelId="{1BFA326A-F37A-4D1B-83CD-2C7C1343E8F2}" type="presParOf" srcId="{C07DA597-2E3A-46BE-A3EC-C21396C7B427}" destId="{BE608FE6-5940-4426-A889-EAE0249947F8}" srcOrd="0" destOrd="0" presId="urn:microsoft.com/office/officeart/2005/8/layout/chevron2"/>
    <dgm:cxn modelId="{047AF4A3-6B2A-4ECB-9390-50EDA0D4CF55}" type="presParOf" srcId="{C07DA597-2E3A-46BE-A3EC-C21396C7B427}" destId="{97BE0749-E44A-4D9F-9428-2220A90B4EA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55F524-2DD4-4BD9-ADCD-6A4A9A72256A}">
      <dsp:nvSpPr>
        <dsp:cNvPr id="0" name=""/>
        <dsp:cNvSpPr/>
      </dsp:nvSpPr>
      <dsp:spPr>
        <a:xfrm rot="5400000">
          <a:off x="213078" y="161459"/>
          <a:ext cx="1128071" cy="812047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solidFill>
                <a:prstClr val="white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rPr>
            <a:t>对账数据</a:t>
          </a:r>
        </a:p>
      </dsp:txBody>
      <dsp:txXfrm rot="-5400000">
        <a:off x="371091" y="409471"/>
        <a:ext cx="812047" cy="316024"/>
      </dsp:txXfrm>
    </dsp:sp>
    <dsp:sp modelId="{02DEEFDA-F5F9-43CD-8816-B6ACD3C9F72D}">
      <dsp:nvSpPr>
        <dsp:cNvPr id="0" name=""/>
        <dsp:cNvSpPr/>
      </dsp:nvSpPr>
      <dsp:spPr>
        <a:xfrm rot="5400000">
          <a:off x="3066634" y="-1862609"/>
          <a:ext cx="720307" cy="44455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通过缓冲区读取并解析对账左方、</a:t>
          </a:r>
          <a:r>
            <a:rPr lang="zh-CN" altLang="en-US" sz="1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rPr>
            <a:t>右方对账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文件，分批次缓存对账数据到</a:t>
          </a:r>
          <a:r>
            <a:rPr lang="en-US" altLang="zh-CN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中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流式查询历史对账差异数据、交易流水数据，并分批次缓存到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中（防止重复入库、日切差数据对账）</a:t>
          </a:r>
        </a:p>
      </dsp:txBody>
      <dsp:txXfrm rot="-5400000">
        <a:off x="1204025" y="35162"/>
        <a:ext cx="4410364" cy="649983"/>
      </dsp:txXfrm>
    </dsp:sp>
    <dsp:sp modelId="{4FF21570-418F-4416-9E7F-685DA8909030}">
      <dsp:nvSpPr>
        <dsp:cNvPr id="0" name=""/>
        <dsp:cNvSpPr/>
      </dsp:nvSpPr>
      <dsp:spPr>
        <a:xfrm rot="5400000">
          <a:off x="-93622" y="1444618"/>
          <a:ext cx="1748994" cy="819569"/>
        </a:xfrm>
        <a:prstGeom prst="chevron">
          <a:avLst/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>
              <a:latin typeface="+mj-ea"/>
              <a:ea typeface="+mj-ea"/>
            </a:rPr>
            <a:t>Redis</a:t>
          </a:r>
          <a:r>
            <a:rPr lang="zh-CN" altLang="en-US" sz="1400" kern="1200" dirty="0">
              <a:latin typeface="+mj-ea"/>
              <a:ea typeface="+mj-ea"/>
            </a:rPr>
            <a:t>对账</a:t>
          </a:r>
        </a:p>
      </dsp:txBody>
      <dsp:txXfrm rot="-5400000">
        <a:off x="371091" y="1389691"/>
        <a:ext cx="819569" cy="929425"/>
      </dsp:txXfrm>
    </dsp:sp>
    <dsp:sp modelId="{DEFB803D-2878-4F12-928B-7BC44193D079}">
      <dsp:nvSpPr>
        <dsp:cNvPr id="0" name=""/>
        <dsp:cNvSpPr/>
      </dsp:nvSpPr>
      <dsp:spPr>
        <a:xfrm rot="5400000">
          <a:off x="2757463" y="-572832"/>
          <a:ext cx="1332138" cy="44267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以订单号和金额为</a:t>
          </a:r>
          <a:r>
            <a:rPr lang="en-US" altLang="zh-CN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key(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金额通过交易类型来取值，支付为正、退款为负</a:t>
          </a:r>
          <a:r>
            <a:rPr lang="en-US" altLang="zh-CN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)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，取</a:t>
          </a:r>
          <a:r>
            <a:rPr lang="en-US" altLang="zh-CN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对账左方、右方</a:t>
          </a:r>
          <a:r>
            <a:rPr lang="en-US" altLang="zh-CN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集合的交集，即为本次对账账平的数据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以订单号和金额为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key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，取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对账左方、右方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集合的差集，即为本次对账左有右无、金额不一致集合数据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以订单号和金额为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key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，取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对账右方、左方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集合的差集，即为本次对账左无右有、金额不一致集合数据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以订单号为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key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，取历史差异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集合与本次对账左方、对账右方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集合的差集，再与交易流水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Set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集合取交集，即为日切差对账数据</a:t>
          </a:r>
        </a:p>
      </dsp:txBody>
      <dsp:txXfrm rot="-5400000">
        <a:off x="1210150" y="1039511"/>
        <a:ext cx="4361734" cy="1202078"/>
      </dsp:txXfrm>
    </dsp:sp>
    <dsp:sp modelId="{BE608FE6-5940-4426-A889-EAE0249947F8}">
      <dsp:nvSpPr>
        <dsp:cNvPr id="0" name=""/>
        <dsp:cNvSpPr/>
      </dsp:nvSpPr>
      <dsp:spPr>
        <a:xfrm rot="5400000">
          <a:off x="151482" y="2795196"/>
          <a:ext cx="1289518" cy="850303"/>
        </a:xfrm>
        <a:prstGeom prst="chevron">
          <a:avLst/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对账结果</a:t>
          </a:r>
        </a:p>
      </dsp:txBody>
      <dsp:txXfrm rot="-5400000">
        <a:off x="371090" y="3000741"/>
        <a:ext cx="850303" cy="439215"/>
      </dsp:txXfrm>
    </dsp:sp>
    <dsp:sp modelId="{97BE0749-E44A-4D9F-9428-2220A90B4EA7}">
      <dsp:nvSpPr>
        <dsp:cNvPr id="0" name=""/>
        <dsp:cNvSpPr/>
      </dsp:nvSpPr>
      <dsp:spPr>
        <a:xfrm rot="5400000">
          <a:off x="2992313" y="809411"/>
          <a:ext cx="865961" cy="437196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对账出的对账结果信息入库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(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修改对账任务记录、新增对账结果记录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)</a:t>
          </a:r>
          <a:endParaRPr lang="zh-CN" altLang="en-US" sz="1000" kern="1200" dirty="0">
            <a:latin typeface="楷体" panose="02010609060101010101" pitchFamily="49" charset="-122"/>
            <a:ea typeface="楷体" panose="02010609060101010101" pitchFamily="49" charset="-122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对账出的需要新增或修改的差异记录，分批次存入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Redis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中，通过发送并消费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MQ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消息，完成对账差异数据的入库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若有金额不一致、渠道无我方有、对账异常等，则做告警处理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若渠道有我方无差异数据，则发送</a:t>
          </a:r>
          <a:r>
            <a:rPr lang="en-US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MQ</a:t>
          </a:r>
          <a:r>
            <a:rPr lang="zh-CN" altLang="en-US" sz="1000" kern="1200" dirty="0">
              <a:latin typeface="楷体" panose="02010609060101010101" pitchFamily="49" charset="-122"/>
              <a:ea typeface="楷体" panose="02010609060101010101" pitchFamily="49" charset="-122"/>
            </a:rPr>
            <a:t>消息进行补单处理</a:t>
          </a:r>
        </a:p>
      </dsp:txBody>
      <dsp:txXfrm rot="-5400000">
        <a:off x="1239312" y="2604686"/>
        <a:ext cx="4329691" cy="7814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703B0-7EC7-459F-A126-A90CB6B39B82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22092-480E-4C97-87D2-2B5C4EA50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79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2092-480E-4C97-87D2-2B5C4EA5055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465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对账系统</a:t>
            </a:r>
            <a:r>
              <a:rPr lang="en-US" altLang="zh-CN" dirty="0"/>
              <a:t>V2.0</a:t>
            </a:r>
            <a:r>
              <a:rPr lang="zh-CN" altLang="en-US" dirty="0"/>
              <a:t>、</a:t>
            </a:r>
            <a:r>
              <a:rPr lang="en-US" altLang="zh-CN" dirty="0"/>
              <a:t>V2.1</a:t>
            </a:r>
            <a:r>
              <a:rPr lang="zh-CN" altLang="en-US" dirty="0"/>
              <a:t>的对账效率数据，是在配置</a:t>
            </a:r>
            <a:r>
              <a:rPr lang="en-US" altLang="zh-CN" dirty="0"/>
              <a:t>30</a:t>
            </a:r>
            <a:r>
              <a:rPr lang="zh-CN" altLang="en-US" dirty="0"/>
              <a:t>个线程、开发服务器的测试结果。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2092-480E-4C97-87D2-2B5C4EA505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222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2092-480E-4C97-87D2-2B5C4EA5055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98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2092-480E-4C97-87D2-2B5C4EA5055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487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对账核心暂未添加监控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2092-480E-4C97-87D2-2B5C4EA5055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235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62B6DB2-5B66-4BBE-A756-5D71125F2A29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5EF94B-9B2F-4BAF-BE87-D6B39DC25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228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62B6DB2-5B66-4BBE-A756-5D71125F2A29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5EF94B-9B2F-4BAF-BE87-D6B39DC25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815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62B6DB2-5B66-4BBE-A756-5D71125F2A29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5EF94B-9B2F-4BAF-BE87-D6B39DC25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93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62B6DB2-5B66-4BBE-A756-5D71125F2A29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5EF94B-9B2F-4BAF-BE87-D6B39DC25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760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62B6DB2-5B66-4BBE-A756-5D71125F2A29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5EF94B-9B2F-4BAF-BE87-D6B39DC25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61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62B6DB2-5B66-4BBE-A756-5D71125F2A29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5EF94B-9B2F-4BAF-BE87-D6B39DC25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6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62B6DB2-5B66-4BBE-A756-5D71125F2A29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5EF94B-9B2F-4BAF-BE87-D6B39DC25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0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62B6DB2-5B66-4BBE-A756-5D71125F2A29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5EF94B-9B2F-4BAF-BE87-D6B39DC25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66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62B6DB2-5B66-4BBE-A756-5D71125F2A29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5EF94B-9B2F-4BAF-BE87-D6B39DC25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5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62B6DB2-5B66-4BBE-A756-5D71125F2A29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5EF94B-9B2F-4BAF-BE87-D6B39DC25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95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562B6DB2-5B66-4BBE-A756-5D71125F2A29}" type="datetimeFigureOut">
              <a:rPr lang="zh-CN" altLang="en-US" smtClean="0"/>
              <a:t>2018-6-22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45EF94B-9B2F-4BAF-BE87-D6B39DC25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74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7683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cxnSp>
        <p:nvCxnSpPr>
          <p:cNvPr id="29" name="直接连接符 28"/>
          <p:cNvCxnSpPr/>
          <p:nvPr/>
        </p:nvCxnSpPr>
        <p:spPr>
          <a:xfrm flipH="1">
            <a:off x="6192980" y="-33259"/>
            <a:ext cx="1196227" cy="2868726"/>
          </a:xfrm>
          <a:prstGeom prst="line">
            <a:avLst/>
          </a:prstGeom>
          <a:ln>
            <a:solidFill>
              <a:srgbClr val="EC6C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2737204" y="1758460"/>
            <a:ext cx="4218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A6B6"/>
                </a:solidFill>
                <a:latin typeface="+mj-ea"/>
                <a:ea typeface="+mj-ea"/>
              </a:rPr>
              <a:t>Redis</a:t>
            </a:r>
            <a:r>
              <a:rPr lang="zh-CN" altLang="en-US" sz="2800" b="1" dirty="0">
                <a:solidFill>
                  <a:srgbClr val="00A6B6"/>
                </a:solidFill>
                <a:latin typeface="+mj-ea"/>
                <a:ea typeface="+mj-ea"/>
              </a:rPr>
              <a:t>对账设计与实现</a:t>
            </a: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2303563" y="0"/>
            <a:ext cx="1196227" cy="2868726"/>
          </a:xfrm>
          <a:prstGeom prst="line">
            <a:avLst/>
          </a:prstGeom>
          <a:ln>
            <a:solidFill>
              <a:srgbClr val="FCD9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>
            <a:off x="1585305" y="2273969"/>
            <a:ext cx="1196227" cy="2868726"/>
          </a:xfrm>
          <a:prstGeom prst="line">
            <a:avLst/>
          </a:prstGeom>
          <a:ln>
            <a:solidFill>
              <a:srgbClr val="3CB5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1457206" y="1434363"/>
            <a:ext cx="1196227" cy="2868726"/>
          </a:xfrm>
          <a:prstGeom prst="line">
            <a:avLst/>
          </a:prstGeom>
          <a:ln>
            <a:solidFill>
              <a:srgbClr val="E53B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125856" y="936835"/>
            <a:ext cx="1196227" cy="2868726"/>
          </a:xfrm>
          <a:prstGeom prst="line">
            <a:avLst/>
          </a:prstGeom>
          <a:ln>
            <a:solidFill>
              <a:srgbClr val="FCD9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5840604" y="2298309"/>
            <a:ext cx="1196227" cy="2868726"/>
          </a:xfrm>
          <a:prstGeom prst="line">
            <a:avLst/>
          </a:prstGeom>
          <a:ln>
            <a:solidFill>
              <a:srgbClr val="3CB5B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1528322" y="539346"/>
            <a:ext cx="1196227" cy="2868726"/>
          </a:xfrm>
          <a:prstGeom prst="line">
            <a:avLst/>
          </a:prstGeom>
          <a:ln>
            <a:solidFill>
              <a:srgbClr val="FCD9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463923" y="2366300"/>
            <a:ext cx="1196227" cy="2868726"/>
          </a:xfrm>
          <a:prstGeom prst="line">
            <a:avLst/>
          </a:prstGeom>
          <a:ln>
            <a:solidFill>
              <a:srgbClr val="EC6C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1037068" y="8131"/>
            <a:ext cx="1196227" cy="2868726"/>
          </a:xfrm>
          <a:prstGeom prst="line">
            <a:avLst/>
          </a:prstGeom>
          <a:ln>
            <a:solidFill>
              <a:srgbClr val="3CB5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5806326" y="3379970"/>
            <a:ext cx="1196227" cy="2868726"/>
          </a:xfrm>
          <a:prstGeom prst="line">
            <a:avLst/>
          </a:prstGeom>
          <a:ln>
            <a:solidFill>
              <a:srgbClr val="FCD9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H="1">
            <a:off x="7339569" y="-33259"/>
            <a:ext cx="1196227" cy="2868726"/>
          </a:xfrm>
          <a:prstGeom prst="line">
            <a:avLst/>
          </a:prstGeom>
          <a:ln>
            <a:solidFill>
              <a:srgbClr val="3CB5B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H="1">
            <a:off x="7013604" y="53440"/>
            <a:ext cx="1196227" cy="2868726"/>
          </a:xfrm>
          <a:prstGeom prst="line">
            <a:avLst/>
          </a:prstGeom>
          <a:ln>
            <a:solidFill>
              <a:srgbClr val="E53B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H="1">
            <a:off x="1889996" y="-1241929"/>
            <a:ext cx="1196227" cy="2868726"/>
          </a:xfrm>
          <a:prstGeom prst="line">
            <a:avLst/>
          </a:prstGeom>
          <a:ln>
            <a:solidFill>
              <a:srgbClr val="E53B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>
            <a:off x="5101056" y="2893855"/>
            <a:ext cx="1196227" cy="2868726"/>
          </a:xfrm>
          <a:prstGeom prst="line">
            <a:avLst/>
          </a:prstGeom>
          <a:ln>
            <a:solidFill>
              <a:srgbClr val="E53B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6730734" y="2023088"/>
            <a:ext cx="1196227" cy="2868726"/>
          </a:xfrm>
          <a:prstGeom prst="line">
            <a:avLst/>
          </a:prstGeom>
          <a:ln>
            <a:solidFill>
              <a:srgbClr val="EC6C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3535515" y="2840328"/>
            <a:ext cx="181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杨  洲</a:t>
            </a:r>
          </a:p>
        </p:txBody>
      </p:sp>
    </p:spTree>
    <p:extLst>
      <p:ext uri="{BB962C8B-B14F-4D97-AF65-F5344CB8AC3E}">
        <p14:creationId xmlns:p14="http://schemas.microsoft.com/office/powerpoint/2010/main" val="261899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1259632" y="2306759"/>
            <a:ext cx="7147293" cy="2316349"/>
          </a:xfrm>
          <a:prstGeom prst="rect">
            <a:avLst/>
          </a:prstGeom>
          <a:noFill/>
        </p:spPr>
        <p:txBody>
          <a:bodyPr wrap="square" lIns="91386" tIns="45693" rIns="91386" bIns="45693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微软雅黑"/>
                <a:ea typeface="微软雅黑"/>
              </a:rPr>
              <a:t>       对账，就是核对账目，是指在会计核算中，为保证账簿记录正确可靠，对账簿中的有关数据进行检查和核对的工作。系统自动对账，即根据发生日期的交易，进行逐笔检查订单号、交易金额等是否一致，未达到对账标准的即为未达账项，根据对账差异类型做相应的处理。</a:t>
            </a:r>
            <a:endParaRPr lang="en-US" altLang="zh-CN" sz="1400" dirty="0">
              <a:solidFill>
                <a:prstClr val="black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prstClr val="black"/>
                </a:solidFill>
                <a:latin typeface="微软雅黑"/>
                <a:ea typeface="微软雅黑"/>
              </a:rPr>
              <a:t>       </a:t>
            </a:r>
            <a:r>
              <a:rPr lang="zh-CN" altLang="en-US" sz="1400" dirty="0">
                <a:solidFill>
                  <a:prstClr val="black"/>
                </a:solidFill>
                <a:latin typeface="微软雅黑"/>
                <a:ea typeface="微软雅黑"/>
              </a:rPr>
              <a:t>随着美的支付接入的商户越来越多，日交易量逐渐增大，人工对账已不能满足需求，系统对账的研发尤为迫切。</a:t>
            </a:r>
            <a:endParaRPr lang="zh-CN" altLang="en-US" sz="1400" dirty="0">
              <a:solidFill>
                <a:prstClr val="black"/>
              </a:solidFill>
              <a:latin typeface="微软雅黑"/>
              <a:ea typeface="微软雅黑"/>
              <a:sym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132684" y="622096"/>
            <a:ext cx="1306135" cy="1269327"/>
            <a:chOff x="2132199" y="770251"/>
            <a:chExt cx="1306135" cy="1269327"/>
          </a:xfrm>
        </p:grpSpPr>
        <p:grpSp>
          <p:nvGrpSpPr>
            <p:cNvPr id="6" name="组合 5"/>
            <p:cNvGrpSpPr/>
            <p:nvPr/>
          </p:nvGrpSpPr>
          <p:grpSpPr>
            <a:xfrm>
              <a:off x="2132199" y="770251"/>
              <a:ext cx="1306135" cy="1269327"/>
              <a:chOff x="4345444" y="2542859"/>
              <a:chExt cx="1810550" cy="1811205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10" name="同心圆 9"/>
                <p:cNvSpPr/>
                <p:nvPr/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black"/>
                    </a:solidFill>
                    <a:latin typeface="微软雅黑"/>
                  </a:endParaRPr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微软雅黑"/>
                  </a:endParaRPr>
                </a:p>
              </p:txBody>
            </p:sp>
          </p:grpSp>
          <p:sp>
            <p:nvSpPr>
              <p:cNvPr id="9" name="椭圆 8"/>
              <p:cNvSpPr/>
              <p:nvPr/>
            </p:nvSpPr>
            <p:spPr>
              <a:xfrm>
                <a:off x="4565570" y="2763062"/>
                <a:ext cx="1370298" cy="1370793"/>
              </a:xfrm>
              <a:prstGeom prst="ellipse">
                <a:avLst/>
              </a:prstGeom>
              <a:solidFill>
                <a:srgbClr val="F45159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/>
                </a:endParaRPr>
              </a:p>
            </p:txBody>
          </p:sp>
        </p:grpSp>
        <p:sp>
          <p:nvSpPr>
            <p:cNvPr id="7" name="TextBox 11"/>
            <p:cNvSpPr txBox="1"/>
            <p:nvPr/>
          </p:nvSpPr>
          <p:spPr>
            <a:xfrm>
              <a:off x="2431244" y="1068589"/>
              <a:ext cx="950693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b="1" dirty="0">
                  <a:solidFill>
                    <a:prstClr val="white"/>
                  </a:solidFill>
                  <a:latin typeface="微软雅黑"/>
                  <a:ea typeface="微软雅黑"/>
                </a:rPr>
                <a:t>前 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790865" y="1603223"/>
            <a:ext cx="349446" cy="349446"/>
            <a:chOff x="304800" y="673100"/>
            <a:chExt cx="4000500" cy="4000500"/>
          </a:xfrm>
          <a:effectLst>
            <a:outerShdw blurRad="444500" dist="254000" dir="6840000" algn="tr" rotWithShape="0">
              <a:prstClr val="black">
                <a:alpha val="50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  <a:latin typeface="微软雅黑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  <a:latin typeface="微软雅黑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73219" y="1217239"/>
            <a:ext cx="156292" cy="156292"/>
            <a:chOff x="304800" y="673100"/>
            <a:chExt cx="4000500" cy="4000500"/>
          </a:xfrm>
          <a:effectLst>
            <a:outerShdw blurRad="444500" dist="254000" dir="6840000" algn="tr" rotWithShape="0">
              <a:prstClr val="black">
                <a:alpha val="50000"/>
              </a:prstClr>
            </a:outerShdw>
          </a:effectLst>
        </p:grpSpPr>
        <p:sp>
          <p:nvSpPr>
            <p:cNvPr id="16" name="同心圆 1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  <a:latin typeface="微软雅黑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  <a:latin typeface="微软雅黑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629511" y="1381787"/>
            <a:ext cx="208440" cy="208440"/>
            <a:chOff x="304800" y="673100"/>
            <a:chExt cx="4000500" cy="4000500"/>
          </a:xfrm>
          <a:effectLst>
            <a:outerShdw blurRad="444500" dist="254000" dir="6840000" algn="tr" rotWithShape="0">
              <a:prstClr val="black">
                <a:alpha val="50000"/>
              </a:prstClr>
            </a:outerShdw>
          </a:effectLst>
        </p:grpSpPr>
        <p:sp>
          <p:nvSpPr>
            <p:cNvPr id="19" name="同心圆 1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  <a:latin typeface="微软雅黑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00000"/>
                </a:solidFill>
                <a:latin typeface="微软雅黑"/>
              </a:endParaRPr>
            </a:p>
          </p:txBody>
        </p:sp>
      </p:grpSp>
      <p:sp>
        <p:nvSpPr>
          <p:cNvPr id="21" name="椭圆 20"/>
          <p:cNvSpPr/>
          <p:nvPr/>
        </p:nvSpPr>
        <p:spPr>
          <a:xfrm>
            <a:off x="7794388" y="4443265"/>
            <a:ext cx="500908" cy="500908"/>
          </a:xfrm>
          <a:prstGeom prst="ellipse">
            <a:avLst/>
          </a:prstGeom>
          <a:solidFill>
            <a:srgbClr val="00A7B7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423305" y="3522698"/>
            <a:ext cx="274777" cy="274777"/>
          </a:xfrm>
          <a:prstGeom prst="ellipse">
            <a:avLst/>
          </a:prstGeom>
          <a:solidFill>
            <a:srgbClr val="FFA538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183751" y="4762644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4" name="同心圆 2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微软雅黑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391037" y="769498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7" name="同心圆 2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微软雅黑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411685" y="4151249"/>
            <a:ext cx="408377" cy="408377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0" name="同心圆 2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  <a:latin typeface="微软雅黑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32" name="椭圆 31"/>
          <p:cNvSpPr/>
          <p:nvPr/>
        </p:nvSpPr>
        <p:spPr>
          <a:xfrm>
            <a:off x="6629511" y="4707644"/>
            <a:ext cx="274777" cy="274777"/>
          </a:xfrm>
          <a:prstGeom prst="ellipse">
            <a:avLst/>
          </a:prstGeom>
          <a:solidFill>
            <a:srgbClr val="6C407D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585278" y="4984207"/>
            <a:ext cx="137389" cy="137389"/>
          </a:xfrm>
          <a:prstGeom prst="ellipse">
            <a:avLst/>
          </a:prstGeom>
          <a:solidFill>
            <a:srgbClr val="FFA538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微软雅黑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4668034" y="622093"/>
            <a:ext cx="1306135" cy="1269327"/>
            <a:chOff x="2132199" y="770251"/>
            <a:chExt cx="1306135" cy="1269327"/>
          </a:xfrm>
        </p:grpSpPr>
        <p:grpSp>
          <p:nvGrpSpPr>
            <p:cNvPr id="35" name="组合 34"/>
            <p:cNvGrpSpPr/>
            <p:nvPr/>
          </p:nvGrpSpPr>
          <p:grpSpPr>
            <a:xfrm>
              <a:off x="2132199" y="770251"/>
              <a:ext cx="1306135" cy="1269327"/>
              <a:chOff x="4345444" y="2542859"/>
              <a:chExt cx="1810550" cy="1811205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39" name="同心圆 38"/>
                <p:cNvSpPr/>
                <p:nvPr/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black"/>
                    </a:solidFill>
                    <a:latin typeface="微软雅黑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latin typeface="微软雅黑"/>
                  </a:endParaRPr>
                </a:p>
              </p:txBody>
            </p:sp>
          </p:grpSp>
          <p:sp>
            <p:nvSpPr>
              <p:cNvPr id="38" name="椭圆 37"/>
              <p:cNvSpPr/>
              <p:nvPr/>
            </p:nvSpPr>
            <p:spPr>
              <a:xfrm>
                <a:off x="4565570" y="2763062"/>
                <a:ext cx="1370298" cy="1370793"/>
              </a:xfrm>
              <a:prstGeom prst="ellipse">
                <a:avLst/>
              </a:prstGeom>
              <a:solidFill>
                <a:srgbClr val="00A7B7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/>
                </a:endParaRPr>
              </a:p>
            </p:txBody>
          </p:sp>
        </p:grpSp>
        <p:sp>
          <p:nvSpPr>
            <p:cNvPr id="36" name="TextBox 11"/>
            <p:cNvSpPr txBox="1"/>
            <p:nvPr/>
          </p:nvSpPr>
          <p:spPr>
            <a:xfrm>
              <a:off x="2431244" y="1068589"/>
              <a:ext cx="950693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500" b="1" dirty="0">
                  <a:solidFill>
                    <a:prstClr val="white"/>
                  </a:solidFill>
                  <a:latin typeface="微软雅黑"/>
                  <a:ea typeface="微软雅黑"/>
                </a:rPr>
                <a:t>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8755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 advTm="0">
        <p14:glitter pattern="hexagon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accel="35000" fill="hold" nodeType="withEffect" p14:presetBounceEnd="5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5000">
                                          <p:cBhvr additive="base">
                                            <p:cTn id="7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5000">
                                          <p:cBhvr additive="base">
                                            <p:cTn id="8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35000" fill="hold" nodeType="withEffect" p14:presetBounceEnd="5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5000">
                                          <p:cBhvr additive="base">
                                            <p:cTn id="11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5000">
                                          <p:cBhvr additive="base">
                                            <p:cTn id="12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3" accel="35000" fill="hold" nodeType="withEffect" p14:presetBounceEnd="5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5000">
                                          <p:cBhvr additive="base">
                                            <p:cTn id="25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5000">
                                          <p:cBhvr additive="base">
                                            <p:cTn id="26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53" presetClass="entr" presetSubtype="16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5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21" grpId="0" animBg="1"/>
          <p:bldP spid="22" grpId="0" animBg="1"/>
          <p:bldP spid="32" grpId="0" animBg="1"/>
          <p:bldP spid="3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3" accel="35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accel="35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3" accel="35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53" presetClass="entr" presetSubtype="16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5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21" grpId="0" animBg="1"/>
          <p:bldP spid="22" grpId="0" animBg="1"/>
          <p:bldP spid="32" grpId="0" animBg="1"/>
          <p:bldP spid="33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567908" y="-879297"/>
            <a:ext cx="1756222" cy="1756222"/>
            <a:chOff x="2894659" y="1465288"/>
            <a:chExt cx="1727827" cy="1727827"/>
          </a:xfrm>
        </p:grpSpPr>
        <p:grpSp>
          <p:nvGrpSpPr>
            <p:cNvPr id="5" name="组合 4"/>
            <p:cNvGrpSpPr/>
            <p:nvPr/>
          </p:nvGrpSpPr>
          <p:grpSpPr>
            <a:xfrm rot="1771504">
              <a:off x="2914532" y="1485269"/>
              <a:ext cx="1688083" cy="1687866"/>
              <a:chOff x="1827622" y="1343919"/>
              <a:chExt cx="2304000" cy="2304000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1827622" y="1343919"/>
                <a:ext cx="2304000" cy="2304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254000" dist="241300" dir="7800000" sx="85000" sy="85000" algn="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14350"/>
                <a:endParaRPr lang="zh-CN" altLang="en-US" sz="105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877481" y="1393778"/>
                <a:ext cx="2204282" cy="220428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14350"/>
                <a:endParaRPr lang="zh-CN" altLang="en-US" sz="105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6" name="流程图: 联系 5"/>
            <p:cNvSpPr/>
            <p:nvPr/>
          </p:nvSpPr>
          <p:spPr>
            <a:xfrm>
              <a:off x="2894659" y="1465288"/>
              <a:ext cx="1727827" cy="1727827"/>
            </a:xfrm>
            <a:prstGeom prst="flowChartConnector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771504">
            <a:off x="3575961" y="378942"/>
            <a:ext cx="272244" cy="272209"/>
            <a:chOff x="1827622" y="1343919"/>
            <a:chExt cx="2304000" cy="2304000"/>
          </a:xfrm>
        </p:grpSpPr>
        <p:sp>
          <p:nvSpPr>
            <p:cNvPr id="10" name="椭圆 9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 rot="1771504">
            <a:off x="5177750" y="37314"/>
            <a:ext cx="272244" cy="272209"/>
            <a:chOff x="1827622" y="1343919"/>
            <a:chExt cx="2304000" cy="2304000"/>
          </a:xfrm>
        </p:grpSpPr>
        <p:sp>
          <p:nvSpPr>
            <p:cNvPr id="13" name="椭圆 12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 rot="1771504">
            <a:off x="4219534" y="449833"/>
            <a:ext cx="216832" cy="216804"/>
            <a:chOff x="1827622" y="1343919"/>
            <a:chExt cx="2304000" cy="2304000"/>
          </a:xfrm>
        </p:grpSpPr>
        <p:sp>
          <p:nvSpPr>
            <p:cNvPr id="16" name="椭圆 15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rot="1771504">
            <a:off x="4695048" y="474506"/>
            <a:ext cx="402249" cy="402197"/>
            <a:chOff x="1827622" y="1343919"/>
            <a:chExt cx="2304000" cy="2304000"/>
          </a:xfrm>
        </p:grpSpPr>
        <p:sp>
          <p:nvSpPr>
            <p:cNvPr id="19" name="椭圆 18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 rot="1771504">
            <a:off x="3507274" y="-102313"/>
            <a:ext cx="166140" cy="166119"/>
            <a:chOff x="1827622" y="1343919"/>
            <a:chExt cx="2304000" cy="2304000"/>
          </a:xfrm>
        </p:grpSpPr>
        <p:sp>
          <p:nvSpPr>
            <p:cNvPr id="22" name="椭圆 21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 rot="1771504">
            <a:off x="3898802" y="816764"/>
            <a:ext cx="202768" cy="202742"/>
            <a:chOff x="1827622" y="1343919"/>
            <a:chExt cx="2304000" cy="2304000"/>
          </a:xfrm>
        </p:grpSpPr>
        <p:sp>
          <p:nvSpPr>
            <p:cNvPr id="25" name="椭圆 24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3938055" y="-4064"/>
            <a:ext cx="1090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00A7B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1786893" y="1734382"/>
            <a:ext cx="762943" cy="762943"/>
            <a:chOff x="1254722" y="1864234"/>
            <a:chExt cx="762943" cy="762943"/>
          </a:xfrm>
        </p:grpSpPr>
        <p:grpSp>
          <p:nvGrpSpPr>
            <p:cNvPr id="29" name="组合 28"/>
            <p:cNvGrpSpPr/>
            <p:nvPr/>
          </p:nvGrpSpPr>
          <p:grpSpPr>
            <a:xfrm>
              <a:off x="1254722" y="1864234"/>
              <a:ext cx="762943" cy="762943"/>
              <a:chOff x="2894659" y="1465288"/>
              <a:chExt cx="1727827" cy="1727827"/>
            </a:xfrm>
          </p:grpSpPr>
          <p:grpSp>
            <p:nvGrpSpPr>
              <p:cNvPr id="31" name="组合 30"/>
              <p:cNvGrpSpPr/>
              <p:nvPr/>
            </p:nvGrpSpPr>
            <p:grpSpPr>
              <a:xfrm rot="1771504">
                <a:off x="2914532" y="1485269"/>
                <a:ext cx="1688083" cy="1687866"/>
                <a:chOff x="1827622" y="1343919"/>
                <a:chExt cx="2304000" cy="2304000"/>
              </a:xfrm>
            </p:grpSpPr>
            <p:sp>
              <p:nvSpPr>
                <p:cNvPr id="33" name="椭圆 32"/>
                <p:cNvSpPr/>
                <p:nvPr/>
              </p:nvSpPr>
              <p:spPr>
                <a:xfrm>
                  <a:off x="1827622" y="1343919"/>
                  <a:ext cx="2304000" cy="2304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>
                  <a:outerShdw blurRad="254000" dist="241300" dir="7800000" sx="85000" sy="85000" algn="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14350"/>
                  <a:endParaRPr lang="zh-CN" altLang="en-US" sz="1050">
                    <a:solidFill>
                      <a:srgbClr val="00B7CA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1877481" y="1393778"/>
                  <a:ext cx="2204282" cy="22042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rgbClr val="FEFEFE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14350"/>
                  <a:endParaRPr lang="zh-CN" altLang="en-US" sz="1050">
                    <a:solidFill>
                      <a:srgbClr val="00B7CA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32" name="流程图: 联系 31"/>
              <p:cNvSpPr/>
              <p:nvPr/>
            </p:nvSpPr>
            <p:spPr>
              <a:xfrm>
                <a:off x="2894659" y="1465288"/>
                <a:ext cx="1727827" cy="1727827"/>
              </a:xfrm>
              <a:prstGeom prst="flowChartConnector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B7CA"/>
                  </a:solidFill>
                </a:endParaRPr>
              </a:p>
            </p:txBody>
          </p:sp>
        </p:grpSp>
        <p:sp>
          <p:nvSpPr>
            <p:cNvPr id="30" name="文本框 29"/>
            <p:cNvSpPr txBox="1"/>
            <p:nvPr/>
          </p:nvSpPr>
          <p:spPr>
            <a:xfrm>
              <a:off x="1378895" y="2045650"/>
              <a:ext cx="5264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45159"/>
                  </a:solidFill>
                  <a:latin typeface="方正兰亭超细黑简体" panose="02000000000000000000" pitchFamily="2" charset="-122"/>
                  <a:ea typeface="方正兰亭超细黑简体" panose="02000000000000000000" pitchFamily="2" charset="-122"/>
                </a:rPr>
                <a:t>01</a:t>
              </a:r>
              <a:endParaRPr lang="zh-CN" altLang="en-US" sz="2000" b="1" dirty="0">
                <a:solidFill>
                  <a:srgbClr val="F45159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291190" y="1734382"/>
            <a:ext cx="762943" cy="762943"/>
            <a:chOff x="2705448" y="1864234"/>
            <a:chExt cx="762943" cy="762943"/>
          </a:xfrm>
        </p:grpSpPr>
        <p:grpSp>
          <p:nvGrpSpPr>
            <p:cNvPr id="36" name="组合 35"/>
            <p:cNvGrpSpPr/>
            <p:nvPr/>
          </p:nvGrpSpPr>
          <p:grpSpPr>
            <a:xfrm>
              <a:off x="2705448" y="1864234"/>
              <a:ext cx="762943" cy="762943"/>
              <a:chOff x="2894659" y="1465288"/>
              <a:chExt cx="1727827" cy="1727827"/>
            </a:xfrm>
          </p:grpSpPr>
          <p:grpSp>
            <p:nvGrpSpPr>
              <p:cNvPr id="38" name="组合 37"/>
              <p:cNvGrpSpPr/>
              <p:nvPr/>
            </p:nvGrpSpPr>
            <p:grpSpPr>
              <a:xfrm rot="1771504">
                <a:off x="2914532" y="1485269"/>
                <a:ext cx="1688083" cy="1687866"/>
                <a:chOff x="1827622" y="1343919"/>
                <a:chExt cx="2304000" cy="2304000"/>
              </a:xfrm>
            </p:grpSpPr>
            <p:sp>
              <p:nvSpPr>
                <p:cNvPr id="40" name="椭圆 39"/>
                <p:cNvSpPr/>
                <p:nvPr/>
              </p:nvSpPr>
              <p:spPr>
                <a:xfrm>
                  <a:off x="1827622" y="1343919"/>
                  <a:ext cx="2304000" cy="2304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>
                  <a:outerShdw blurRad="254000" dist="241300" dir="7800000" sx="85000" sy="85000" algn="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14350"/>
                  <a:endParaRPr lang="zh-CN" altLang="en-US" sz="1050">
                    <a:solidFill>
                      <a:srgbClr val="FFB757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1877481" y="1393778"/>
                  <a:ext cx="2204282" cy="22042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rgbClr val="FEFEFE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14350"/>
                  <a:endParaRPr lang="zh-CN" altLang="en-US" sz="1050">
                    <a:solidFill>
                      <a:srgbClr val="FFB757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39" name="流程图: 联系 38"/>
              <p:cNvSpPr/>
              <p:nvPr/>
            </p:nvSpPr>
            <p:spPr>
              <a:xfrm>
                <a:off x="2894659" y="1465288"/>
                <a:ext cx="1727827" cy="1727827"/>
              </a:xfrm>
              <a:prstGeom prst="flowChartConnector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B757"/>
                  </a:solidFill>
                </a:endParaRPr>
              </a:p>
            </p:txBody>
          </p:sp>
        </p:grpSp>
        <p:sp>
          <p:nvSpPr>
            <p:cNvPr id="37" name="文本框 36"/>
            <p:cNvSpPr txBox="1"/>
            <p:nvPr/>
          </p:nvSpPr>
          <p:spPr>
            <a:xfrm>
              <a:off x="2824946" y="2053130"/>
              <a:ext cx="5264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A538"/>
                  </a:solidFill>
                  <a:latin typeface="方正兰亭超细黑简体" panose="02000000000000000000" pitchFamily="2" charset="-122"/>
                  <a:ea typeface="方正兰亭超细黑简体" panose="02000000000000000000" pitchFamily="2" charset="-122"/>
                </a:rPr>
                <a:t>02</a:t>
              </a:r>
              <a:endParaRPr lang="zh-CN" altLang="en-US" sz="2000" b="1" dirty="0">
                <a:solidFill>
                  <a:srgbClr val="FFA538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801706" y="1727988"/>
            <a:ext cx="762943" cy="762943"/>
            <a:chOff x="4132381" y="1864234"/>
            <a:chExt cx="762943" cy="762943"/>
          </a:xfrm>
        </p:grpSpPr>
        <p:grpSp>
          <p:nvGrpSpPr>
            <p:cNvPr id="43" name="组合 42"/>
            <p:cNvGrpSpPr/>
            <p:nvPr/>
          </p:nvGrpSpPr>
          <p:grpSpPr>
            <a:xfrm>
              <a:off x="4132381" y="1864234"/>
              <a:ext cx="762943" cy="762943"/>
              <a:chOff x="2894659" y="1465288"/>
              <a:chExt cx="1727827" cy="1727827"/>
            </a:xfrm>
          </p:grpSpPr>
          <p:grpSp>
            <p:nvGrpSpPr>
              <p:cNvPr id="45" name="组合 44"/>
              <p:cNvGrpSpPr/>
              <p:nvPr/>
            </p:nvGrpSpPr>
            <p:grpSpPr>
              <a:xfrm rot="1771504">
                <a:off x="2914532" y="1485269"/>
                <a:ext cx="1688083" cy="1687866"/>
                <a:chOff x="1827622" y="1343919"/>
                <a:chExt cx="2304000" cy="2304000"/>
              </a:xfrm>
            </p:grpSpPr>
            <p:sp>
              <p:nvSpPr>
                <p:cNvPr id="47" name="椭圆 46"/>
                <p:cNvSpPr/>
                <p:nvPr/>
              </p:nvSpPr>
              <p:spPr>
                <a:xfrm>
                  <a:off x="1827622" y="1343919"/>
                  <a:ext cx="2304000" cy="2304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>
                  <a:outerShdw blurRad="254000" dist="241300" dir="7800000" sx="85000" sy="85000" algn="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14350"/>
                  <a:endParaRPr lang="zh-CN" altLang="en-US" sz="1050">
                    <a:solidFill>
                      <a:srgbClr val="FF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48" name="椭圆 47"/>
                <p:cNvSpPr/>
                <p:nvPr/>
              </p:nvSpPr>
              <p:spPr>
                <a:xfrm>
                  <a:off x="1877481" y="1393778"/>
                  <a:ext cx="2204282" cy="22042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rgbClr val="FEFEFE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14350"/>
                  <a:endParaRPr lang="zh-CN" altLang="en-US" sz="1050">
                    <a:solidFill>
                      <a:srgbClr val="FF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46" name="流程图: 联系 45"/>
              <p:cNvSpPr/>
              <p:nvPr/>
            </p:nvSpPr>
            <p:spPr>
              <a:xfrm>
                <a:off x="2894659" y="1465288"/>
                <a:ext cx="1727827" cy="1727827"/>
              </a:xfrm>
              <a:prstGeom prst="flowChartConnector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4247986" y="2048949"/>
              <a:ext cx="5264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6C407D"/>
                  </a:solidFill>
                  <a:latin typeface="方正兰亭超细黑简体" panose="02000000000000000000" pitchFamily="2" charset="-122"/>
                  <a:ea typeface="方正兰亭超细黑简体" panose="02000000000000000000" pitchFamily="2" charset="-122"/>
                </a:rPr>
                <a:t>03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266002" y="1727988"/>
            <a:ext cx="762943" cy="762943"/>
            <a:chOff x="5617616" y="1872229"/>
            <a:chExt cx="762943" cy="762943"/>
          </a:xfrm>
        </p:grpSpPr>
        <p:grpSp>
          <p:nvGrpSpPr>
            <p:cNvPr id="50" name="组合 49"/>
            <p:cNvGrpSpPr/>
            <p:nvPr/>
          </p:nvGrpSpPr>
          <p:grpSpPr>
            <a:xfrm>
              <a:off x="5617616" y="1872229"/>
              <a:ext cx="762943" cy="762943"/>
              <a:chOff x="2894659" y="1465288"/>
              <a:chExt cx="1727827" cy="1727827"/>
            </a:xfrm>
          </p:grpSpPr>
          <p:grpSp>
            <p:nvGrpSpPr>
              <p:cNvPr id="52" name="组合 51"/>
              <p:cNvGrpSpPr/>
              <p:nvPr/>
            </p:nvGrpSpPr>
            <p:grpSpPr>
              <a:xfrm rot="1771504">
                <a:off x="2914532" y="1485269"/>
                <a:ext cx="1688083" cy="1687866"/>
                <a:chOff x="1827622" y="1343919"/>
                <a:chExt cx="2304000" cy="2304000"/>
              </a:xfrm>
            </p:grpSpPr>
            <p:sp>
              <p:nvSpPr>
                <p:cNvPr id="54" name="椭圆 53"/>
                <p:cNvSpPr/>
                <p:nvPr/>
              </p:nvSpPr>
              <p:spPr>
                <a:xfrm>
                  <a:off x="1827622" y="1343919"/>
                  <a:ext cx="2304000" cy="2304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>
                  <a:outerShdw blurRad="254000" dist="241300" dir="7800000" sx="85000" sy="85000" algn="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14350"/>
                  <a:endParaRPr lang="zh-CN" altLang="en-US" sz="1050">
                    <a:solidFill>
                      <a:srgbClr val="FF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>
                  <a:off x="1877481" y="1393778"/>
                  <a:ext cx="2204282" cy="22042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rgbClr val="FEFEFE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514350"/>
                  <a:endParaRPr lang="zh-CN" altLang="en-US" sz="1050">
                    <a:solidFill>
                      <a:srgbClr val="FF00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53" name="流程图: 联系 52"/>
              <p:cNvSpPr/>
              <p:nvPr/>
            </p:nvSpPr>
            <p:spPr>
              <a:xfrm>
                <a:off x="2894659" y="1465288"/>
                <a:ext cx="1727827" cy="1727827"/>
              </a:xfrm>
              <a:prstGeom prst="flowChartConnector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/>
            <p:cNvSpPr txBox="1"/>
            <p:nvPr/>
          </p:nvSpPr>
          <p:spPr>
            <a:xfrm>
              <a:off x="5735850" y="2053130"/>
              <a:ext cx="5264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0A7B7"/>
                  </a:solidFill>
                  <a:latin typeface="方正兰亭超细黑简体" panose="02000000000000000000" pitchFamily="2" charset="-122"/>
                  <a:ea typeface="方正兰亭超细黑简体" panose="02000000000000000000" pitchFamily="2" charset="-122"/>
                </a:rPr>
                <a:t>04</a:t>
              </a:r>
              <a:endParaRPr lang="zh-CN" altLang="en-US" sz="2000" b="1" dirty="0">
                <a:solidFill>
                  <a:srgbClr val="00A7B7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629113" y="2973442"/>
            <a:ext cx="1107240" cy="629113"/>
            <a:chOff x="1096942" y="3103294"/>
            <a:chExt cx="1107240" cy="629113"/>
          </a:xfrm>
        </p:grpSpPr>
        <p:sp>
          <p:nvSpPr>
            <p:cNvPr id="57" name="文本框 56"/>
            <p:cNvSpPr txBox="1"/>
            <p:nvPr/>
          </p:nvSpPr>
          <p:spPr>
            <a:xfrm>
              <a:off x="1096942" y="3103294"/>
              <a:ext cx="1085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F451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版本历程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096942" y="3470797"/>
              <a:ext cx="11072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2606089" y="2971134"/>
            <a:ext cx="2133141" cy="630655"/>
            <a:chOff x="2020347" y="3100986"/>
            <a:chExt cx="2133141" cy="630655"/>
          </a:xfrm>
        </p:grpSpPr>
        <p:sp>
          <p:nvSpPr>
            <p:cNvPr id="60" name="文本框 59"/>
            <p:cNvSpPr txBox="1"/>
            <p:nvPr/>
          </p:nvSpPr>
          <p:spPr>
            <a:xfrm>
              <a:off x="2020347" y="3100986"/>
              <a:ext cx="21331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FF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设计实现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2504237" y="3470031"/>
              <a:ext cx="116535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4141334" y="2951051"/>
            <a:ext cx="2133141" cy="627421"/>
            <a:chOff x="3444649" y="3104220"/>
            <a:chExt cx="2133141" cy="627421"/>
          </a:xfrm>
        </p:grpSpPr>
        <p:sp>
          <p:nvSpPr>
            <p:cNvPr id="63" name="文本框 62"/>
            <p:cNvSpPr txBox="1"/>
            <p:nvPr/>
          </p:nvSpPr>
          <p:spPr>
            <a:xfrm>
              <a:off x="3444649" y="3104220"/>
              <a:ext cx="21331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6C407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性能调优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928539" y="3470031"/>
              <a:ext cx="116535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669136" y="2937344"/>
            <a:ext cx="2133141" cy="664445"/>
            <a:chOff x="4999811" y="3073848"/>
            <a:chExt cx="2133141" cy="664445"/>
          </a:xfrm>
        </p:grpSpPr>
        <p:sp>
          <p:nvSpPr>
            <p:cNvPr id="66" name="文本框 65"/>
            <p:cNvSpPr txBox="1"/>
            <p:nvPr/>
          </p:nvSpPr>
          <p:spPr>
            <a:xfrm>
              <a:off x="4999811" y="3073848"/>
              <a:ext cx="21331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00A7B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极致对账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5491146" y="3476683"/>
              <a:ext cx="116535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 rot="1771504">
            <a:off x="2320158" y="2227944"/>
            <a:ext cx="272244" cy="272209"/>
            <a:chOff x="1827622" y="1343919"/>
            <a:chExt cx="2304000" cy="2304000"/>
          </a:xfrm>
        </p:grpSpPr>
        <p:sp>
          <p:nvSpPr>
            <p:cNvPr id="69" name="椭圆 68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 rot="1771504">
            <a:off x="3840024" y="2235973"/>
            <a:ext cx="272244" cy="272209"/>
            <a:chOff x="1827622" y="1343919"/>
            <a:chExt cx="2304000" cy="2304000"/>
          </a:xfrm>
        </p:grpSpPr>
        <p:sp>
          <p:nvSpPr>
            <p:cNvPr id="72" name="椭圆 71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 rot="1771504">
            <a:off x="5365930" y="2216262"/>
            <a:ext cx="272244" cy="272209"/>
            <a:chOff x="1827622" y="1343919"/>
            <a:chExt cx="2304000" cy="2304000"/>
          </a:xfrm>
        </p:grpSpPr>
        <p:sp>
          <p:nvSpPr>
            <p:cNvPr id="75" name="椭圆 74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 rot="1771504">
            <a:off x="6864036" y="2220123"/>
            <a:ext cx="272244" cy="272209"/>
            <a:chOff x="1827622" y="1343919"/>
            <a:chExt cx="2304000" cy="2304000"/>
          </a:xfrm>
        </p:grpSpPr>
        <p:sp>
          <p:nvSpPr>
            <p:cNvPr id="78" name="椭圆 77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zh-CN" altLang="en-US" sz="105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85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0">
        <p14:warp dir="in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30000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0" presetID="2" presetClass="entr" presetSubtype="8" accel="30000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2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3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3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6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7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12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0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1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6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4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5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4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8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9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2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2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3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3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39" presetID="2" presetClass="entr" presetSubtype="9" accel="30000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1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2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9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5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6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9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49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50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9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53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54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6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57" dur="2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58" dur="2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6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61" dur="2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62" dur="2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6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" presetClass="entr" presetSubtype="6" accel="3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69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70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72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4" dur="8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75" dur="8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2" presetClass="entr" presetSubtype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8" dur="800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79" dur="8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800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3" dur="8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6" dur="800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7" dur="8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3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0" presetID="2" presetClass="entr" presetSubtype="8" accel="3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3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12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6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4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2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3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39" presetID="2" presetClass="entr" presetSubtype="9" accel="3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9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9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9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6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2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6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6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" presetClass="entr" presetSubtype="6" accel="3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2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72" presetID="1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4" dur="8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75" dur="8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2" presetClass="entr" presetSubtype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8" dur="800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79" dur="8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800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3" dur="8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2" presetClass="entr" presetSubtype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6" dur="800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87" dur="8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7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217030CC-2C2B-46A0-B3D0-1003F0D81D89}"/>
              </a:ext>
            </a:extLst>
          </p:cNvPr>
          <p:cNvSpPr/>
          <p:nvPr/>
        </p:nvSpPr>
        <p:spPr>
          <a:xfrm>
            <a:off x="3283137" y="2721361"/>
            <a:ext cx="476219" cy="476219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7" name="圆: 空心 36">
            <a:extLst>
              <a:ext uri="{FF2B5EF4-FFF2-40B4-BE49-F238E27FC236}">
                <a16:creationId xmlns:a16="http://schemas.microsoft.com/office/drawing/2014/main" id="{FABD02B9-186C-406B-8930-3C232E99EAEF}"/>
              </a:ext>
            </a:extLst>
          </p:cNvPr>
          <p:cNvSpPr/>
          <p:nvPr/>
        </p:nvSpPr>
        <p:spPr>
          <a:xfrm>
            <a:off x="2267999" y="2500742"/>
            <a:ext cx="917458" cy="917458"/>
          </a:xfrm>
          <a:prstGeom prst="donut">
            <a:avLst>
              <a:gd name="adj" fmla="val 20000"/>
            </a:avLst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6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24B2B1B-DB65-4EAE-9C5A-918C1451690B}"/>
              </a:ext>
            </a:extLst>
          </p:cNvPr>
          <p:cNvSpPr/>
          <p:nvPr/>
        </p:nvSpPr>
        <p:spPr>
          <a:xfrm rot="19072347">
            <a:off x="2545339" y="1707493"/>
            <a:ext cx="15286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对账系统</a:t>
            </a:r>
            <a:r>
              <a:rPr lang="en-US" altLang="zh-CN" sz="1600" dirty="0">
                <a:latin typeface="+mn-ea"/>
              </a:rPr>
              <a:t>V1.0</a:t>
            </a:r>
            <a:endParaRPr lang="zh-CN" altLang="en-US" sz="1600" dirty="0">
              <a:latin typeface="+mn-ea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880B5D16-6CD8-4426-BBA4-2ED20AC9723B}"/>
              </a:ext>
            </a:extLst>
          </p:cNvPr>
          <p:cNvSpPr/>
          <p:nvPr/>
        </p:nvSpPr>
        <p:spPr>
          <a:xfrm>
            <a:off x="1120201" y="2721363"/>
            <a:ext cx="476219" cy="476219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0C803536-62AC-4B13-B86F-B5B86DDD55DC}"/>
              </a:ext>
            </a:extLst>
          </p:cNvPr>
          <p:cNvSpPr/>
          <p:nvPr/>
        </p:nvSpPr>
        <p:spPr>
          <a:xfrm>
            <a:off x="1694100" y="2721362"/>
            <a:ext cx="476219" cy="476219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3" name="圆: 空心 42">
            <a:extLst>
              <a:ext uri="{FF2B5EF4-FFF2-40B4-BE49-F238E27FC236}">
                <a16:creationId xmlns:a16="http://schemas.microsoft.com/office/drawing/2014/main" id="{D2515512-126B-46FB-AEA7-8F4B1B92605A}"/>
              </a:ext>
            </a:extLst>
          </p:cNvPr>
          <p:cNvSpPr/>
          <p:nvPr/>
        </p:nvSpPr>
        <p:spPr>
          <a:xfrm>
            <a:off x="3867133" y="2500741"/>
            <a:ext cx="917458" cy="917458"/>
          </a:xfrm>
          <a:prstGeom prst="donut">
            <a:avLst>
              <a:gd name="adj" fmla="val 20000"/>
            </a:avLst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6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6BC136A-05CB-4F71-B638-7B1767D1E939}"/>
              </a:ext>
            </a:extLst>
          </p:cNvPr>
          <p:cNvSpPr/>
          <p:nvPr/>
        </p:nvSpPr>
        <p:spPr>
          <a:xfrm rot="19072347">
            <a:off x="2986201" y="3793601"/>
            <a:ext cx="15286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对账系统</a:t>
            </a:r>
            <a:r>
              <a:rPr lang="en-US" altLang="zh-CN" sz="1600" dirty="0">
                <a:latin typeface="+mn-ea"/>
              </a:rPr>
              <a:t>V1.1</a:t>
            </a:r>
            <a:endParaRPr lang="zh-CN" altLang="en-US" sz="1600" dirty="0">
              <a:latin typeface="+mn-ea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9DD6363-6778-48A8-BA9A-0A69E7836F00}"/>
              </a:ext>
            </a:extLst>
          </p:cNvPr>
          <p:cNvCxnSpPr>
            <a:cxnSpLocks/>
          </p:cNvCxnSpPr>
          <p:nvPr/>
        </p:nvCxnSpPr>
        <p:spPr>
          <a:xfrm>
            <a:off x="2701415" y="921124"/>
            <a:ext cx="0" cy="1579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椭圆 46">
            <a:extLst>
              <a:ext uri="{FF2B5EF4-FFF2-40B4-BE49-F238E27FC236}">
                <a16:creationId xmlns:a16="http://schemas.microsoft.com/office/drawing/2014/main" id="{D4811D91-EED9-4DB9-A208-2DC7B0A4CA6D}"/>
              </a:ext>
            </a:extLst>
          </p:cNvPr>
          <p:cNvSpPr/>
          <p:nvPr/>
        </p:nvSpPr>
        <p:spPr>
          <a:xfrm>
            <a:off x="4872174" y="2681714"/>
            <a:ext cx="476219" cy="476219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7C575F12-73D4-4BA2-B69B-2300F97DFAF0}"/>
              </a:ext>
            </a:extLst>
          </p:cNvPr>
          <p:cNvSpPr/>
          <p:nvPr/>
        </p:nvSpPr>
        <p:spPr>
          <a:xfrm>
            <a:off x="5446073" y="2681713"/>
            <a:ext cx="476219" cy="476219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9" name="圆: 空心 48">
            <a:extLst>
              <a:ext uri="{FF2B5EF4-FFF2-40B4-BE49-F238E27FC236}">
                <a16:creationId xmlns:a16="http://schemas.microsoft.com/office/drawing/2014/main" id="{78950418-449C-4204-A74E-4C0C1DEB2315}"/>
              </a:ext>
            </a:extLst>
          </p:cNvPr>
          <p:cNvSpPr/>
          <p:nvPr/>
        </p:nvSpPr>
        <p:spPr>
          <a:xfrm>
            <a:off x="6019972" y="2500741"/>
            <a:ext cx="917458" cy="917458"/>
          </a:xfrm>
          <a:prstGeom prst="donut">
            <a:avLst>
              <a:gd name="adj" fmla="val 20000"/>
            </a:avLst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6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0D995472-2477-463B-AFB0-E73269CB7463}"/>
              </a:ext>
            </a:extLst>
          </p:cNvPr>
          <p:cNvSpPr/>
          <p:nvPr/>
        </p:nvSpPr>
        <p:spPr>
          <a:xfrm>
            <a:off x="7035110" y="2681712"/>
            <a:ext cx="476219" cy="476219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1" name="圆: 空心 50">
            <a:extLst>
              <a:ext uri="{FF2B5EF4-FFF2-40B4-BE49-F238E27FC236}">
                <a16:creationId xmlns:a16="http://schemas.microsoft.com/office/drawing/2014/main" id="{F11C56E1-1C5B-4AC5-8763-0319592A0608}"/>
              </a:ext>
            </a:extLst>
          </p:cNvPr>
          <p:cNvSpPr/>
          <p:nvPr/>
        </p:nvSpPr>
        <p:spPr>
          <a:xfrm>
            <a:off x="7609009" y="2500741"/>
            <a:ext cx="917458" cy="917458"/>
          </a:xfrm>
          <a:prstGeom prst="donut">
            <a:avLst>
              <a:gd name="adj" fmla="val 20000"/>
            </a:avLst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6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50D749D-3305-450B-AF50-AB3F88F8E96B}"/>
              </a:ext>
            </a:extLst>
          </p:cNvPr>
          <p:cNvSpPr/>
          <p:nvPr/>
        </p:nvSpPr>
        <p:spPr>
          <a:xfrm rot="19072347">
            <a:off x="6279930" y="1764235"/>
            <a:ext cx="15286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对账系统</a:t>
            </a:r>
            <a:r>
              <a:rPr lang="en-US" altLang="zh-CN" sz="1600" dirty="0">
                <a:latin typeface="+mn-ea"/>
              </a:rPr>
              <a:t>V2.0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80DA724-9B5D-4DA6-8727-C4214CFF4AB2}"/>
              </a:ext>
            </a:extLst>
          </p:cNvPr>
          <p:cNvSpPr/>
          <p:nvPr/>
        </p:nvSpPr>
        <p:spPr>
          <a:xfrm rot="19072347">
            <a:off x="6747007" y="3816149"/>
            <a:ext cx="15286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对账系统</a:t>
            </a:r>
            <a:r>
              <a:rPr lang="en-US" altLang="zh-CN" sz="1600" dirty="0">
                <a:latin typeface="+mn-ea"/>
              </a:rPr>
              <a:t>V2.1</a:t>
            </a:r>
            <a:endParaRPr lang="zh-CN" altLang="en-US" sz="1600" dirty="0">
              <a:latin typeface="+mn-ea"/>
            </a:endParaRPr>
          </a:p>
        </p:txBody>
      </p:sp>
      <p:sp>
        <p:nvSpPr>
          <p:cNvPr id="54" name="圆: 空心 53">
            <a:extLst>
              <a:ext uri="{FF2B5EF4-FFF2-40B4-BE49-F238E27FC236}">
                <a16:creationId xmlns:a16="http://schemas.microsoft.com/office/drawing/2014/main" id="{AC9BCCEE-7835-45E5-92E9-D124E3CD98DE}"/>
              </a:ext>
            </a:extLst>
          </p:cNvPr>
          <p:cNvSpPr/>
          <p:nvPr/>
        </p:nvSpPr>
        <p:spPr>
          <a:xfrm>
            <a:off x="102187" y="2500741"/>
            <a:ext cx="917458" cy="917458"/>
          </a:xfrm>
          <a:prstGeom prst="donut">
            <a:avLst>
              <a:gd name="adj" fmla="val 20000"/>
            </a:avLst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6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2402F08-5913-4013-BCEB-68F689E5AC18}"/>
              </a:ext>
            </a:extLst>
          </p:cNvPr>
          <p:cNvSpPr/>
          <p:nvPr/>
        </p:nvSpPr>
        <p:spPr>
          <a:xfrm rot="19072347">
            <a:off x="404335" y="1764235"/>
            <a:ext cx="15286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n-ea"/>
              </a:rPr>
              <a:t>人工对账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600AC9-12B7-489E-BE04-D0EAF98DD2DE}"/>
              </a:ext>
            </a:extLst>
          </p:cNvPr>
          <p:cNvSpPr/>
          <p:nvPr/>
        </p:nvSpPr>
        <p:spPr>
          <a:xfrm>
            <a:off x="2032307" y="891346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2017.03</a:t>
            </a:r>
          </a:p>
        </p:txBody>
      </p:sp>
      <p:sp>
        <p:nvSpPr>
          <p:cNvPr id="21" name="圆角矩形 3">
            <a:extLst>
              <a:ext uri="{FF2B5EF4-FFF2-40B4-BE49-F238E27FC236}">
                <a16:creationId xmlns:a16="http://schemas.microsoft.com/office/drawing/2014/main" id="{5442307F-0763-49D5-B2C1-D6E8C7DA4FED}"/>
              </a:ext>
            </a:extLst>
          </p:cNvPr>
          <p:cNvSpPr/>
          <p:nvPr/>
        </p:nvSpPr>
        <p:spPr>
          <a:xfrm>
            <a:off x="2780156" y="269544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451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版本历程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9054586-8F2E-4570-A6A6-C50931DBBB39}"/>
              </a:ext>
            </a:extLst>
          </p:cNvPr>
          <p:cNvCxnSpPr>
            <a:cxnSpLocks/>
          </p:cNvCxnSpPr>
          <p:nvPr/>
        </p:nvCxnSpPr>
        <p:spPr>
          <a:xfrm>
            <a:off x="4334877" y="3418199"/>
            <a:ext cx="0" cy="1579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A54AB138-7C01-4636-9106-9ECF91E89376}"/>
              </a:ext>
            </a:extLst>
          </p:cNvPr>
          <p:cNvSpPr/>
          <p:nvPr/>
        </p:nvSpPr>
        <p:spPr>
          <a:xfrm>
            <a:off x="3642862" y="4693313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2017.04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CDAE891-819C-45CB-8181-B2609A984BB9}"/>
              </a:ext>
            </a:extLst>
          </p:cNvPr>
          <p:cNvCxnSpPr>
            <a:cxnSpLocks/>
          </p:cNvCxnSpPr>
          <p:nvPr/>
        </p:nvCxnSpPr>
        <p:spPr>
          <a:xfrm>
            <a:off x="6478701" y="921124"/>
            <a:ext cx="0" cy="1579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B49BB95A-E11B-40BD-BCC0-4316A0BCA939}"/>
              </a:ext>
            </a:extLst>
          </p:cNvPr>
          <p:cNvSpPr/>
          <p:nvPr/>
        </p:nvSpPr>
        <p:spPr>
          <a:xfrm>
            <a:off x="5805379" y="891346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2018.04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67B08DA-895E-47A0-939C-A2C9BB2B14F4}"/>
              </a:ext>
            </a:extLst>
          </p:cNvPr>
          <p:cNvCxnSpPr>
            <a:cxnSpLocks/>
          </p:cNvCxnSpPr>
          <p:nvPr/>
        </p:nvCxnSpPr>
        <p:spPr>
          <a:xfrm>
            <a:off x="8080325" y="3418199"/>
            <a:ext cx="0" cy="1579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62E18E00-AA12-4548-A756-D4C970129453}"/>
              </a:ext>
            </a:extLst>
          </p:cNvPr>
          <p:cNvSpPr/>
          <p:nvPr/>
        </p:nvSpPr>
        <p:spPr>
          <a:xfrm>
            <a:off x="7369295" y="4670710"/>
            <a:ext cx="6944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2018.06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BA60E39-C378-4894-8C43-185C935C9DB0}"/>
              </a:ext>
            </a:extLst>
          </p:cNvPr>
          <p:cNvSpPr/>
          <p:nvPr/>
        </p:nvSpPr>
        <p:spPr>
          <a:xfrm>
            <a:off x="8624147" y="2681712"/>
            <a:ext cx="476219" cy="476219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6F606B-E345-4242-A457-427ABBFBF809}"/>
              </a:ext>
            </a:extLst>
          </p:cNvPr>
          <p:cNvSpPr txBox="1"/>
          <p:nvPr/>
        </p:nvSpPr>
        <p:spPr>
          <a:xfrm>
            <a:off x="2667623" y="892951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系统自动对账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18E2CA64-F3E6-497B-A49F-756C61AB2098}"/>
              </a:ext>
            </a:extLst>
          </p:cNvPr>
          <p:cNvSpPr txBox="1"/>
          <p:nvPr/>
        </p:nvSpPr>
        <p:spPr>
          <a:xfrm>
            <a:off x="4320739" y="4601118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对账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多线程查询历史对账数据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149FAEDD-D641-491A-935F-0932EE594E32}"/>
              </a:ext>
            </a:extLst>
          </p:cNvPr>
          <p:cNvSpPr txBox="1"/>
          <p:nvPr/>
        </p:nvSpPr>
        <p:spPr>
          <a:xfrm>
            <a:off x="6442586" y="914430"/>
            <a:ext cx="18582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重新设计对账系统，系统拆分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MQ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，异步化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核心对账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28">
            <a:extLst>
              <a:ext uri="{FF2B5EF4-FFF2-40B4-BE49-F238E27FC236}">
                <a16:creationId xmlns:a16="http://schemas.microsoft.com/office/drawing/2014/main" id="{7FA5A4ED-A7B0-4E9C-AF6B-1D704B23DB93}"/>
              </a:ext>
            </a:extLst>
          </p:cNvPr>
          <p:cNvSpPr txBox="1"/>
          <p:nvPr/>
        </p:nvSpPr>
        <p:spPr>
          <a:xfrm>
            <a:off x="8063716" y="4301378"/>
            <a:ext cx="1165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账平数据不入库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对账差异补单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对账告警优化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对账线程池优化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140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9" grpId="0"/>
      <p:bldP spid="30" grpId="0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3">
            <a:extLst>
              <a:ext uri="{FF2B5EF4-FFF2-40B4-BE49-F238E27FC236}">
                <a16:creationId xmlns:a16="http://schemas.microsoft.com/office/drawing/2014/main" id="{FCDEC84F-B240-411A-A92A-F205855B366B}"/>
              </a:ext>
            </a:extLst>
          </p:cNvPr>
          <p:cNvSpPr/>
          <p:nvPr/>
        </p:nvSpPr>
        <p:spPr>
          <a:xfrm>
            <a:off x="2780153" y="369353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451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版本历程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4068705-35B3-4471-845E-2B013994F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252686"/>
              </p:ext>
            </p:extLst>
          </p:nvPr>
        </p:nvGraphicFramePr>
        <p:xfrm>
          <a:off x="123371" y="1011464"/>
          <a:ext cx="8897256" cy="4058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27315">
                  <a:extLst>
                    <a:ext uri="{9D8B030D-6E8A-4147-A177-3AD203B41FA5}">
                      <a16:colId xmlns:a16="http://schemas.microsoft.com/office/drawing/2014/main" val="3198599467"/>
                    </a:ext>
                  </a:extLst>
                </a:gridCol>
                <a:gridCol w="1204685">
                  <a:extLst>
                    <a:ext uri="{9D8B030D-6E8A-4147-A177-3AD203B41FA5}">
                      <a16:colId xmlns:a16="http://schemas.microsoft.com/office/drawing/2014/main" val="1891882392"/>
                    </a:ext>
                  </a:extLst>
                </a:gridCol>
                <a:gridCol w="1444172">
                  <a:extLst>
                    <a:ext uri="{9D8B030D-6E8A-4147-A177-3AD203B41FA5}">
                      <a16:colId xmlns:a16="http://schemas.microsoft.com/office/drawing/2014/main" val="2722725542"/>
                    </a:ext>
                  </a:extLst>
                </a:gridCol>
                <a:gridCol w="1596571">
                  <a:extLst>
                    <a:ext uri="{9D8B030D-6E8A-4147-A177-3AD203B41FA5}">
                      <a16:colId xmlns:a16="http://schemas.microsoft.com/office/drawing/2014/main" val="2482656818"/>
                    </a:ext>
                  </a:extLst>
                </a:gridCol>
                <a:gridCol w="2227943">
                  <a:extLst>
                    <a:ext uri="{9D8B030D-6E8A-4147-A177-3AD203B41FA5}">
                      <a16:colId xmlns:a16="http://schemas.microsoft.com/office/drawing/2014/main" val="1725388938"/>
                    </a:ext>
                  </a:extLst>
                </a:gridCol>
                <a:gridCol w="1596570">
                  <a:extLst>
                    <a:ext uri="{9D8B030D-6E8A-4147-A177-3AD203B41FA5}">
                      <a16:colId xmlns:a16="http://schemas.microsoft.com/office/drawing/2014/main" val="4043140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人工对账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对账系统</a:t>
                      </a:r>
                      <a:r>
                        <a:rPr lang="en-US" altLang="zh-CN" dirty="0"/>
                        <a:t>V1.0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对账系统</a:t>
                      </a:r>
                      <a:r>
                        <a:rPr lang="en-US" altLang="zh-CN" dirty="0"/>
                        <a:t>V1.1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对账系统</a:t>
                      </a:r>
                      <a:r>
                        <a:rPr lang="en-US" altLang="zh-CN" dirty="0"/>
                        <a:t>V2.0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对账系统</a:t>
                      </a:r>
                      <a:r>
                        <a:rPr lang="en-US" altLang="zh-CN" dirty="0"/>
                        <a:t>V2.1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24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CN" sz="1200" b="1" dirty="0"/>
                    </a:p>
                    <a:p>
                      <a:pPr algn="ctr"/>
                      <a:endParaRPr lang="en-US" altLang="zh-CN" sz="1200" b="1" dirty="0"/>
                    </a:p>
                    <a:p>
                      <a:pPr algn="ctr"/>
                      <a:endParaRPr lang="en-US" altLang="zh-CN" sz="1200" b="1" dirty="0"/>
                    </a:p>
                    <a:p>
                      <a:pPr algn="ctr"/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优化点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1</a:t>
                      </a:r>
                      <a:r>
                        <a:rPr lang="zh-CN" altLang="en-US" sz="1000" dirty="0"/>
                        <a:t>、人工从渠道下载对账单若渠道无对账单，则以银行回款单为对账单提取系统交易流水对比总笔数、总金额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、系统自动从渠道下载对账单；查询系统交易流水以渠道对账单为准，对比美的支付交易流水；以美的支付交易流水为准，对比渠道对账单；获得对账差异、对账结果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、引入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Redis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，使用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Redis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的交集特性快速完成左方、右方差异对账</a:t>
                      </a:r>
                      <a:endParaRPr lang="en-US" altLang="zh-CN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、引入多线程查询历史对账数据和交易流水数据，使用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Redis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的交集特性快速完成日切差数据对账，避免漏单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1</a:t>
                      </a:r>
                      <a:r>
                        <a:rPr lang="zh-CN" altLang="en-US" sz="1000" dirty="0"/>
                        <a:t>、系统拆分，涉及对账核心系统、对账前置系统、对账内部系统、对账内部</a:t>
                      </a:r>
                      <a:r>
                        <a:rPr lang="en-US" altLang="zh-CN" sz="1000" dirty="0"/>
                        <a:t>JOB</a:t>
                      </a:r>
                      <a:r>
                        <a:rPr lang="zh-CN" altLang="en-US" sz="1000" dirty="0"/>
                        <a:t>等</a:t>
                      </a:r>
                      <a:endParaRPr lang="en-US" altLang="zh-CN" sz="10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2</a:t>
                      </a:r>
                      <a:r>
                        <a:rPr lang="zh-CN" altLang="en-US" sz="1000" dirty="0"/>
                        <a:t>、对账单数据不入库，缓存</a:t>
                      </a:r>
                      <a:r>
                        <a:rPr lang="en-US" altLang="zh-CN" sz="1000" dirty="0"/>
                        <a:t>Redis</a:t>
                      </a:r>
                      <a:r>
                        <a:rPr lang="zh-CN" altLang="en-US" sz="1000" dirty="0"/>
                        <a:t>中</a:t>
                      </a:r>
                      <a:endParaRPr lang="en-US" altLang="zh-CN" sz="10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3</a:t>
                      </a:r>
                      <a:r>
                        <a:rPr lang="zh-CN" altLang="en-US" sz="1000" dirty="0"/>
                        <a:t>、引入</a:t>
                      </a:r>
                      <a:r>
                        <a:rPr lang="en-US" altLang="zh-CN" sz="1000" dirty="0"/>
                        <a:t>MQ</a:t>
                      </a:r>
                      <a:r>
                        <a:rPr lang="zh-CN" altLang="en-US" sz="1000" dirty="0"/>
                        <a:t>，异步化存储对账差异数据</a:t>
                      </a:r>
                      <a:endParaRPr lang="en-US" altLang="zh-CN" sz="1000" dirty="0"/>
                    </a:p>
                    <a:p>
                      <a:r>
                        <a:rPr lang="en-US" altLang="zh-CN" sz="1000" dirty="0"/>
                        <a:t>4</a:t>
                      </a:r>
                      <a:r>
                        <a:rPr lang="zh-CN" altLang="en-US" sz="1000" dirty="0"/>
                        <a:t>、优化</a:t>
                      </a:r>
                      <a:r>
                        <a:rPr lang="en-US" altLang="zh-CN" sz="1000" dirty="0"/>
                        <a:t>Redis</a:t>
                      </a:r>
                      <a:r>
                        <a:rPr lang="zh-CN" altLang="en-US" sz="1000" dirty="0"/>
                        <a:t>核心对账，缓冲区读取对账文件数据并分批次存入</a:t>
                      </a:r>
                      <a:r>
                        <a:rPr lang="en-US" altLang="zh-CN" sz="1000" dirty="0"/>
                        <a:t>Redis</a:t>
                      </a:r>
                      <a:r>
                        <a:rPr lang="zh-CN" altLang="en-US" sz="1000" dirty="0"/>
                        <a:t>、多线程流式查询历史对账数据、多线程</a:t>
                      </a:r>
                      <a:r>
                        <a:rPr lang="en-US" altLang="zh-CN" sz="1000" dirty="0"/>
                        <a:t>Redis</a:t>
                      </a:r>
                      <a:r>
                        <a:rPr lang="zh-CN" altLang="en-US" sz="1000" dirty="0"/>
                        <a:t>差集对账</a:t>
                      </a:r>
                      <a:endParaRPr lang="en-US" altLang="zh-CN" sz="1000" dirty="0"/>
                    </a:p>
                    <a:p>
                      <a:r>
                        <a:rPr lang="en-US" altLang="zh-CN" sz="1000" dirty="0"/>
                        <a:t>5</a:t>
                      </a:r>
                      <a:r>
                        <a:rPr lang="zh-CN" altLang="en-US" sz="1000" dirty="0"/>
                        <a:t>、优化重新对账功能，兼容历史对账数据，人工对账亦同</a:t>
                      </a:r>
                      <a:endParaRPr lang="en-US" altLang="zh-C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1</a:t>
                      </a:r>
                      <a:r>
                        <a:rPr lang="zh-CN" altLang="en-US" sz="1000" dirty="0"/>
                        <a:t>、账平数据不入库，减轻</a:t>
                      </a:r>
                      <a:r>
                        <a:rPr lang="en-US" altLang="zh-CN" sz="1000" dirty="0"/>
                        <a:t>Redis</a:t>
                      </a:r>
                      <a:r>
                        <a:rPr lang="zh-CN" altLang="en-US" sz="1000" dirty="0"/>
                        <a:t>读写、</a:t>
                      </a:r>
                      <a:r>
                        <a:rPr lang="en-US" altLang="zh-CN" sz="1000" dirty="0"/>
                        <a:t>MQ</a:t>
                      </a:r>
                      <a:r>
                        <a:rPr lang="zh-CN" altLang="en-US" sz="1000" dirty="0"/>
                        <a:t>发送消费、批量数据入库压力</a:t>
                      </a:r>
                      <a:endParaRPr lang="en-US" altLang="zh-CN" sz="1000" dirty="0"/>
                    </a:p>
                    <a:p>
                      <a:r>
                        <a:rPr lang="en-US" altLang="zh-CN" sz="1000" dirty="0"/>
                        <a:t>2</a:t>
                      </a:r>
                      <a:r>
                        <a:rPr lang="zh-CN" altLang="en-US" sz="1000" dirty="0"/>
                        <a:t>、对账差异补单，渠道有我方无差异数据补单</a:t>
                      </a:r>
                      <a:endParaRPr lang="en-US" altLang="zh-CN" sz="1000" dirty="0"/>
                    </a:p>
                    <a:p>
                      <a:r>
                        <a:rPr lang="en-US" altLang="zh-CN" sz="1000" dirty="0"/>
                        <a:t>3</a:t>
                      </a:r>
                      <a:r>
                        <a:rPr lang="zh-CN" altLang="en-US" sz="1000" dirty="0"/>
                        <a:t>、对账差异告警，金额不一致、渠道无我方有、对账异常等告警</a:t>
                      </a:r>
                      <a:endParaRPr lang="en-US" altLang="zh-CN" sz="1000" dirty="0"/>
                    </a:p>
                    <a:p>
                      <a:r>
                        <a:rPr lang="en-US" altLang="zh-CN" sz="1000" dirty="0"/>
                        <a:t>4</a:t>
                      </a:r>
                      <a:r>
                        <a:rPr lang="zh-CN" altLang="en-US" sz="1000" dirty="0"/>
                        <a:t>、对账任务线程池优化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8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altLang="zh-CN" sz="1200" b="1" dirty="0"/>
                    </a:p>
                    <a:p>
                      <a:pPr algn="ctr"/>
                      <a:endParaRPr lang="en-US" altLang="zh-CN" sz="1200" b="1" dirty="0"/>
                    </a:p>
                    <a:p>
                      <a:pPr algn="ctr"/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缺陷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1</a:t>
                      </a:r>
                      <a:r>
                        <a:rPr lang="zh-CN" altLang="en-US" sz="1000" dirty="0"/>
                        <a:t>、需要从不同渠道下载对账单</a:t>
                      </a:r>
                      <a:endParaRPr lang="en-US" altLang="zh-CN" sz="1000" dirty="0"/>
                    </a:p>
                    <a:p>
                      <a:r>
                        <a:rPr lang="en-US" altLang="zh-CN" sz="1000" dirty="0"/>
                        <a:t>2</a:t>
                      </a:r>
                      <a:r>
                        <a:rPr lang="zh-CN" altLang="en-US" sz="1000" dirty="0"/>
                        <a:t>、日交易流水保持在</a:t>
                      </a:r>
                      <a:r>
                        <a:rPr lang="en-US" altLang="zh-CN" sz="1000" dirty="0"/>
                        <a:t>30w</a:t>
                      </a:r>
                      <a:r>
                        <a:rPr lang="zh-CN" altLang="en-US" sz="1000" dirty="0"/>
                        <a:t>左右，人工对账工作量非常大</a:t>
                      </a:r>
                      <a:endParaRPr lang="en-US" altLang="zh-CN" sz="1000" dirty="0"/>
                    </a:p>
                    <a:p>
                      <a:r>
                        <a:rPr lang="en-US" altLang="zh-CN" sz="1000" dirty="0"/>
                        <a:t>3</a:t>
                      </a:r>
                      <a:r>
                        <a:rPr lang="zh-CN" altLang="en-US" sz="1000" dirty="0"/>
                        <a:t>、只能完成总账对比，无法进行明细账对比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1</a:t>
                      </a:r>
                      <a:r>
                        <a:rPr lang="zh-CN" altLang="en-US" sz="1000" dirty="0"/>
                        <a:t>、单线程分页查询渠道账单数据库中数据、分页查询银行流水数据、分页查询支付流水数据，账速度慢</a:t>
                      </a:r>
                      <a:r>
                        <a:rPr lang="en-US" altLang="zh-CN" sz="1000" dirty="0"/>
                        <a:t>(</a:t>
                      </a:r>
                      <a:r>
                        <a:rPr lang="zh-CN" altLang="en-US" sz="1000" dirty="0"/>
                        <a:t>对账</a:t>
                      </a:r>
                      <a:r>
                        <a:rPr lang="en-US" altLang="zh-CN" sz="1000" dirty="0"/>
                        <a:t>5000</a:t>
                      </a:r>
                      <a:r>
                        <a:rPr lang="zh-CN" altLang="en-US" sz="1000" dirty="0"/>
                        <a:t>笔交易，需要耗时</a:t>
                      </a:r>
                      <a:r>
                        <a:rPr lang="en-US" altLang="zh-CN" sz="1000" dirty="0"/>
                        <a:t>5</a:t>
                      </a:r>
                      <a:r>
                        <a:rPr lang="zh-CN" altLang="en-US" sz="1000" dirty="0"/>
                        <a:t>小时以上</a:t>
                      </a:r>
                      <a:r>
                        <a:rPr lang="en-US" altLang="zh-CN" sz="1000" dirty="0"/>
                        <a:t>)</a:t>
                      </a:r>
                    </a:p>
                    <a:p>
                      <a:r>
                        <a:rPr lang="en-US" altLang="zh-CN" sz="1000" dirty="0"/>
                        <a:t>2</a:t>
                      </a:r>
                      <a:r>
                        <a:rPr lang="zh-CN" altLang="en-US" sz="1000" dirty="0"/>
                        <a:t>、对账不准确，漏单</a:t>
                      </a:r>
                      <a:r>
                        <a:rPr lang="en-US" altLang="zh-CN" sz="1000" dirty="0"/>
                        <a:t>(</a:t>
                      </a:r>
                      <a:r>
                        <a:rPr lang="zh-CN" altLang="en-US" sz="1000" dirty="0"/>
                        <a:t>历史对账差异数据</a:t>
                      </a:r>
                      <a:r>
                        <a:rPr lang="en-US" altLang="zh-CN" sz="1000" dirty="0"/>
                        <a:t>)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1</a:t>
                      </a:r>
                      <a:r>
                        <a:rPr lang="zh-CN" altLang="en-US" sz="1000" dirty="0"/>
                        <a:t>、对账所有链路都是同步调用，数据量过大，易导致</a:t>
                      </a:r>
                      <a:r>
                        <a:rPr lang="en-US" altLang="zh-CN" sz="1000" dirty="0"/>
                        <a:t>RPC</a:t>
                      </a:r>
                      <a:r>
                        <a:rPr lang="zh-CN" altLang="en-US" sz="1000" dirty="0"/>
                        <a:t>调用超时</a:t>
                      </a:r>
                      <a:endParaRPr lang="en-US" altLang="zh-CN" sz="1000" dirty="0"/>
                    </a:p>
                    <a:p>
                      <a:r>
                        <a:rPr lang="en-US" altLang="zh-CN" sz="1000" dirty="0"/>
                        <a:t>2</a:t>
                      </a:r>
                      <a:r>
                        <a:rPr lang="zh-CN" altLang="en-US" sz="1000" dirty="0"/>
                        <a:t>、对账单数据、对账差异数据入库，数据量过大，耗时较长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对账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2W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笔，耗时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lang="zh-CN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分钟</a:t>
                      </a:r>
                      <a:r>
                        <a:rPr lang="en-US" altLang="zh-CN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zh-CN" sz="1000" dirty="0"/>
                        <a:t>3</a:t>
                      </a:r>
                      <a:r>
                        <a:rPr lang="zh-CN" altLang="en-US" sz="1000" dirty="0"/>
                        <a:t>、人工对账时，会回滚删除所有历史对账数据，然后重新对账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1</a:t>
                      </a:r>
                      <a:r>
                        <a:rPr lang="zh-CN" altLang="en-US" sz="1000" dirty="0"/>
                        <a:t>、每天对账账平数据居多，而财务并不关心账平数据。对账差异数据缓存</a:t>
                      </a:r>
                      <a:r>
                        <a:rPr lang="en-US" altLang="zh-CN" sz="1000" dirty="0"/>
                        <a:t>Redis</a:t>
                      </a:r>
                      <a:r>
                        <a:rPr lang="zh-CN" altLang="en-US" sz="1000" dirty="0"/>
                        <a:t>、</a:t>
                      </a:r>
                      <a:r>
                        <a:rPr lang="en-US" altLang="zh-CN" sz="1000" dirty="0"/>
                        <a:t>MQ</a:t>
                      </a:r>
                      <a:r>
                        <a:rPr lang="zh-CN" altLang="en-US" sz="1000" dirty="0"/>
                        <a:t>差异数据入库消息、批量差异数据入库，都会占用较多资源</a:t>
                      </a:r>
                      <a:endParaRPr lang="en-US" altLang="zh-CN" sz="1000" dirty="0"/>
                    </a:p>
                    <a:p>
                      <a:r>
                        <a:rPr lang="en-US" altLang="zh-CN" sz="1000" dirty="0"/>
                        <a:t>2</a:t>
                      </a:r>
                      <a:r>
                        <a:rPr lang="zh-CN" altLang="en-US" sz="1000" dirty="0"/>
                        <a:t>、渠道有我方无对账差异数据，未做补单处理</a:t>
                      </a:r>
                      <a:endParaRPr lang="en-US" altLang="zh-CN" sz="1000" dirty="0"/>
                    </a:p>
                    <a:p>
                      <a:r>
                        <a:rPr lang="en-US" altLang="zh-CN" sz="1000" dirty="0"/>
                        <a:t>3</a:t>
                      </a:r>
                      <a:r>
                        <a:rPr lang="zh-CN" altLang="en-US" sz="1000" dirty="0"/>
                        <a:t>、金额不一致、渠道无我方有未做告警处理</a:t>
                      </a:r>
                      <a:endParaRPr lang="en-US" altLang="zh-CN" sz="1000" dirty="0"/>
                    </a:p>
                    <a:p>
                      <a:r>
                        <a:rPr lang="en-US" altLang="zh-CN" sz="1000" dirty="0"/>
                        <a:t>4</a:t>
                      </a:r>
                      <a:r>
                        <a:rPr lang="zh-CN" altLang="en-US" sz="1000" dirty="0"/>
                        <a:t>、对账任务线程数配置太多，而</a:t>
                      </a:r>
                      <a:r>
                        <a:rPr lang="en-US" altLang="zh-CN" sz="1000" dirty="0"/>
                        <a:t>Redis</a:t>
                      </a:r>
                      <a:r>
                        <a:rPr lang="zh-CN" altLang="en-US" sz="1000" dirty="0"/>
                        <a:t>连接数过少，并发对账时可能导致获取不到</a:t>
                      </a:r>
                      <a:r>
                        <a:rPr lang="en-US" altLang="zh-CN" sz="1000" dirty="0"/>
                        <a:t>Redis</a:t>
                      </a:r>
                      <a:r>
                        <a:rPr lang="zh-CN" altLang="en-US" sz="1000" dirty="0"/>
                        <a:t>连接异常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46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4AB005F-6789-4580-9FC5-4AAD27BBE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012906"/>
              </p:ext>
            </p:extLst>
          </p:nvPr>
        </p:nvGraphicFramePr>
        <p:xfrm>
          <a:off x="553569" y="1662580"/>
          <a:ext cx="8036857" cy="2352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80444">
                  <a:extLst>
                    <a:ext uri="{9D8B030D-6E8A-4147-A177-3AD203B41FA5}">
                      <a16:colId xmlns:a16="http://schemas.microsoft.com/office/drawing/2014/main" val="351507398"/>
                    </a:ext>
                  </a:extLst>
                </a:gridCol>
                <a:gridCol w="1178662">
                  <a:extLst>
                    <a:ext uri="{9D8B030D-6E8A-4147-A177-3AD203B41FA5}">
                      <a16:colId xmlns:a16="http://schemas.microsoft.com/office/drawing/2014/main" val="3064039729"/>
                    </a:ext>
                  </a:extLst>
                </a:gridCol>
                <a:gridCol w="1295401">
                  <a:extLst>
                    <a:ext uri="{9D8B030D-6E8A-4147-A177-3AD203B41FA5}">
                      <a16:colId xmlns:a16="http://schemas.microsoft.com/office/drawing/2014/main" val="672152623"/>
                    </a:ext>
                  </a:extLst>
                </a:gridCol>
                <a:gridCol w="1553136">
                  <a:extLst>
                    <a:ext uri="{9D8B030D-6E8A-4147-A177-3AD203B41FA5}">
                      <a16:colId xmlns:a16="http://schemas.microsoft.com/office/drawing/2014/main" val="1248180269"/>
                    </a:ext>
                  </a:extLst>
                </a:gridCol>
                <a:gridCol w="1512794">
                  <a:extLst>
                    <a:ext uri="{9D8B030D-6E8A-4147-A177-3AD203B41FA5}">
                      <a16:colId xmlns:a16="http://schemas.microsoft.com/office/drawing/2014/main" val="4217752563"/>
                    </a:ext>
                  </a:extLst>
                </a:gridCol>
                <a:gridCol w="1416420">
                  <a:extLst>
                    <a:ext uri="{9D8B030D-6E8A-4147-A177-3AD203B41FA5}">
                      <a16:colId xmlns:a16="http://schemas.microsoft.com/office/drawing/2014/main" val="2326776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人工对账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对账系统</a:t>
                      </a:r>
                      <a:r>
                        <a:rPr lang="en-US" altLang="zh-CN" dirty="0"/>
                        <a:t>V1.0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对账系统</a:t>
                      </a:r>
                      <a:r>
                        <a:rPr lang="en-US" altLang="zh-CN" dirty="0"/>
                        <a:t>V1.1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对账系统</a:t>
                      </a:r>
                      <a:r>
                        <a:rPr lang="en-US" altLang="zh-CN" dirty="0"/>
                        <a:t>V2.0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对账系统</a:t>
                      </a:r>
                      <a:r>
                        <a:rPr lang="en-US" altLang="zh-CN" dirty="0"/>
                        <a:t>V2.1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132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引入工具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  <a:p>
                      <a:pPr algn="ctr"/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单线程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Redis</a:t>
                      </a:r>
                    </a:p>
                    <a:p>
                      <a:pPr algn="ctr"/>
                      <a:r>
                        <a:rPr lang="zh-CN" altLang="en-US" sz="1400" dirty="0"/>
                        <a:t>多线程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  <a:p>
                      <a:pPr algn="ctr"/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Redis</a:t>
                      </a:r>
                    </a:p>
                    <a:p>
                      <a:pPr algn="ctr"/>
                      <a:r>
                        <a:rPr lang="zh-CN" altLang="en-US" sz="1400" dirty="0"/>
                        <a:t>多线程</a:t>
                      </a:r>
                    </a:p>
                    <a:p>
                      <a:pPr algn="ctr"/>
                      <a:r>
                        <a:rPr lang="en-US" altLang="zh-CN" sz="1400" dirty="0"/>
                        <a:t>MQ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Redis</a:t>
                      </a:r>
                    </a:p>
                    <a:p>
                      <a:pPr algn="ctr"/>
                      <a:r>
                        <a:rPr lang="zh-CN" altLang="en-US" sz="1400" dirty="0"/>
                        <a:t>多线程</a:t>
                      </a:r>
                    </a:p>
                    <a:p>
                      <a:pPr algn="ctr"/>
                      <a:r>
                        <a:rPr lang="en-US" altLang="zh-CN" sz="1400" dirty="0"/>
                        <a:t>MQ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769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系统拆分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单系统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多系统</a:t>
                      </a:r>
                      <a:endParaRPr lang="en-US" altLang="zh-CN" sz="1400" dirty="0"/>
                    </a:p>
                    <a:p>
                      <a:pPr algn="ctr"/>
                      <a:r>
                        <a:rPr lang="zh-CN" altLang="en-US" sz="1400" dirty="0"/>
                        <a:t>同步调用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多系统</a:t>
                      </a:r>
                      <a:endParaRPr lang="en-US" altLang="zh-CN" sz="1400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异步调用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多系统</a:t>
                      </a:r>
                      <a:endParaRPr lang="en-US" altLang="zh-CN" sz="1400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异步调用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627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对账效率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未逐笔比对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  <a:p>
                      <a:pPr algn="ctr"/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5000</a:t>
                      </a:r>
                      <a:r>
                        <a:rPr lang="zh-CN" altLang="en-US" sz="1400" dirty="0"/>
                        <a:t>笔</a:t>
                      </a:r>
                      <a:r>
                        <a:rPr lang="en-US" altLang="zh-CN" sz="1400" dirty="0"/>
                        <a:t>/5</a:t>
                      </a:r>
                      <a:r>
                        <a:rPr lang="zh-CN" altLang="en-US" sz="1400" dirty="0"/>
                        <a:t>小时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  <a:p>
                      <a:pPr algn="ctr"/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2W</a:t>
                      </a:r>
                      <a:r>
                        <a:rPr lang="zh-CN" altLang="en-US" sz="1400" dirty="0"/>
                        <a:t>笔</a:t>
                      </a:r>
                      <a:r>
                        <a:rPr lang="en-US" altLang="zh-CN" sz="1400" dirty="0"/>
                        <a:t>/15</a:t>
                      </a:r>
                      <a:r>
                        <a:rPr lang="zh-CN" altLang="en-US" sz="1400" dirty="0"/>
                        <a:t>分钟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50W/20</a:t>
                      </a:r>
                      <a:r>
                        <a:rPr lang="zh-CN" altLang="en-US" sz="1400" dirty="0"/>
                        <a:t>秒左右</a:t>
                      </a:r>
                      <a:r>
                        <a:rPr lang="en-US" altLang="zh-CN" sz="1400" dirty="0"/>
                        <a:t>100W/35</a:t>
                      </a:r>
                      <a:r>
                        <a:rPr lang="zh-CN" altLang="en-US" sz="1400" dirty="0"/>
                        <a:t>秒左右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  <a:p>
                      <a:pPr algn="ctr"/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50W/20</a:t>
                      </a:r>
                      <a:r>
                        <a:rPr lang="zh-CN" altLang="en-US" sz="1400" dirty="0"/>
                        <a:t>秒左右</a:t>
                      </a:r>
                      <a:r>
                        <a:rPr lang="en-US" altLang="zh-CN" sz="1400" dirty="0"/>
                        <a:t>100W/35</a:t>
                      </a:r>
                      <a:r>
                        <a:rPr lang="zh-CN" altLang="en-US" sz="1400" dirty="0"/>
                        <a:t>秒左右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772215"/>
                  </a:ext>
                </a:extLst>
              </a:tr>
            </a:tbl>
          </a:graphicData>
        </a:graphic>
      </p:graphicFrame>
      <p:sp>
        <p:nvSpPr>
          <p:cNvPr id="5" name="圆角矩形 3">
            <a:extLst>
              <a:ext uri="{FF2B5EF4-FFF2-40B4-BE49-F238E27FC236}">
                <a16:creationId xmlns:a16="http://schemas.microsoft.com/office/drawing/2014/main" id="{FCDEC84F-B240-411A-A92A-F205855B366B}"/>
              </a:ext>
            </a:extLst>
          </p:cNvPr>
          <p:cNvSpPr/>
          <p:nvPr/>
        </p:nvSpPr>
        <p:spPr>
          <a:xfrm>
            <a:off x="2780153" y="369353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451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版本历程</a:t>
            </a:r>
          </a:p>
        </p:txBody>
      </p:sp>
    </p:spTree>
    <p:extLst>
      <p:ext uri="{BB962C8B-B14F-4D97-AF65-F5344CB8AC3E}">
        <p14:creationId xmlns:p14="http://schemas.microsoft.com/office/powerpoint/2010/main" val="134556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5"/>
          <p:cNvSpPr>
            <a:spLocks noEditPoints="1"/>
          </p:cNvSpPr>
          <p:nvPr/>
        </p:nvSpPr>
        <p:spPr bwMode="auto">
          <a:xfrm>
            <a:off x="3027931" y="446735"/>
            <a:ext cx="3177001" cy="3300676"/>
          </a:xfrm>
          <a:custGeom>
            <a:avLst/>
            <a:gdLst>
              <a:gd name="T0" fmla="*/ 2614 w 3520"/>
              <a:gd name="T1" fmla="*/ 0 h 3078"/>
              <a:gd name="T2" fmla="*/ 3520 w 3520"/>
              <a:gd name="T3" fmla="*/ 1539 h 3078"/>
              <a:gd name="T4" fmla="*/ 2614 w 3520"/>
              <a:gd name="T5" fmla="*/ 3078 h 3078"/>
              <a:gd name="T6" fmla="*/ 906 w 3520"/>
              <a:gd name="T7" fmla="*/ 3078 h 3078"/>
              <a:gd name="T8" fmla="*/ 0 w 3520"/>
              <a:gd name="T9" fmla="*/ 1539 h 3078"/>
              <a:gd name="T10" fmla="*/ 906 w 3520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20" h="3078">
                <a:moveTo>
                  <a:pt x="2614" y="0"/>
                </a:moveTo>
                <a:cubicBezTo>
                  <a:pt x="3154" y="300"/>
                  <a:pt x="3520" y="877"/>
                  <a:pt x="3520" y="1539"/>
                </a:cubicBezTo>
                <a:cubicBezTo>
                  <a:pt x="3520" y="2201"/>
                  <a:pt x="3154" y="2778"/>
                  <a:pt x="2614" y="3078"/>
                </a:cubicBezTo>
                <a:moveTo>
                  <a:pt x="906" y="3078"/>
                </a:moveTo>
                <a:cubicBezTo>
                  <a:pt x="365" y="2778"/>
                  <a:pt x="0" y="2201"/>
                  <a:pt x="0" y="1539"/>
                </a:cubicBezTo>
                <a:cubicBezTo>
                  <a:pt x="0" y="877"/>
                  <a:pt x="365" y="300"/>
                  <a:pt x="906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" name="Freeform 26"/>
          <p:cNvSpPr>
            <a:spLocks noEditPoints="1"/>
          </p:cNvSpPr>
          <p:nvPr/>
        </p:nvSpPr>
        <p:spPr bwMode="auto">
          <a:xfrm>
            <a:off x="2682688" y="431470"/>
            <a:ext cx="3866030" cy="3300676"/>
          </a:xfrm>
          <a:custGeom>
            <a:avLst/>
            <a:gdLst>
              <a:gd name="T0" fmla="*/ 3496 w 4174"/>
              <a:gd name="T1" fmla="*/ 0 h 3078"/>
              <a:gd name="T2" fmla="*/ 4174 w 4174"/>
              <a:gd name="T3" fmla="*/ 1539 h 3078"/>
              <a:gd name="T4" fmla="*/ 3496 w 4174"/>
              <a:gd name="T5" fmla="*/ 3078 h 3078"/>
              <a:gd name="T6" fmla="*/ 677 w 4174"/>
              <a:gd name="T7" fmla="*/ 3078 h 3078"/>
              <a:gd name="T8" fmla="*/ 0 w 4174"/>
              <a:gd name="T9" fmla="*/ 1539 h 3078"/>
              <a:gd name="T10" fmla="*/ 677 w 4174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74" h="3078">
                <a:moveTo>
                  <a:pt x="3496" y="0"/>
                </a:moveTo>
                <a:cubicBezTo>
                  <a:pt x="3912" y="381"/>
                  <a:pt x="4174" y="930"/>
                  <a:pt x="4174" y="1539"/>
                </a:cubicBezTo>
                <a:cubicBezTo>
                  <a:pt x="4174" y="2148"/>
                  <a:pt x="3912" y="2697"/>
                  <a:pt x="3496" y="3078"/>
                </a:cubicBezTo>
                <a:moveTo>
                  <a:pt x="677" y="3078"/>
                </a:moveTo>
                <a:cubicBezTo>
                  <a:pt x="261" y="2697"/>
                  <a:pt x="0" y="2148"/>
                  <a:pt x="0" y="1539"/>
                </a:cubicBezTo>
                <a:cubicBezTo>
                  <a:pt x="0" y="930"/>
                  <a:pt x="261" y="381"/>
                  <a:pt x="67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6" name="Freeform 27"/>
          <p:cNvSpPr>
            <a:spLocks noEditPoints="1"/>
          </p:cNvSpPr>
          <p:nvPr/>
        </p:nvSpPr>
        <p:spPr bwMode="auto">
          <a:xfrm>
            <a:off x="2355162" y="438612"/>
            <a:ext cx="4522538" cy="3300676"/>
          </a:xfrm>
          <a:custGeom>
            <a:avLst/>
            <a:gdLst>
              <a:gd name="T0" fmla="*/ 4412 w 4949"/>
              <a:gd name="T1" fmla="*/ 0 h 3078"/>
              <a:gd name="T2" fmla="*/ 4949 w 4949"/>
              <a:gd name="T3" fmla="*/ 1539 h 3078"/>
              <a:gd name="T4" fmla="*/ 4412 w 4949"/>
              <a:gd name="T5" fmla="*/ 3078 h 3078"/>
              <a:gd name="T6" fmla="*/ 537 w 4949"/>
              <a:gd name="T7" fmla="*/ 3078 h 3078"/>
              <a:gd name="T8" fmla="*/ 0 w 4949"/>
              <a:gd name="T9" fmla="*/ 1539 h 3078"/>
              <a:gd name="T10" fmla="*/ 537 w 494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49" h="3078">
                <a:moveTo>
                  <a:pt x="4412" y="0"/>
                </a:moveTo>
                <a:cubicBezTo>
                  <a:pt x="4748" y="422"/>
                  <a:pt x="4949" y="957"/>
                  <a:pt x="4949" y="1539"/>
                </a:cubicBezTo>
                <a:cubicBezTo>
                  <a:pt x="4949" y="2121"/>
                  <a:pt x="4748" y="2656"/>
                  <a:pt x="4412" y="3078"/>
                </a:cubicBezTo>
                <a:moveTo>
                  <a:pt x="537" y="3078"/>
                </a:moveTo>
                <a:cubicBezTo>
                  <a:pt x="201" y="2656"/>
                  <a:pt x="0" y="2121"/>
                  <a:pt x="0" y="1539"/>
                </a:cubicBezTo>
                <a:cubicBezTo>
                  <a:pt x="0" y="957"/>
                  <a:pt x="201" y="422"/>
                  <a:pt x="53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7" name="Freeform 28"/>
          <p:cNvSpPr>
            <a:spLocks noEditPoints="1"/>
          </p:cNvSpPr>
          <p:nvPr/>
        </p:nvSpPr>
        <p:spPr bwMode="auto">
          <a:xfrm>
            <a:off x="1902759" y="484593"/>
            <a:ext cx="5365375" cy="3300676"/>
          </a:xfrm>
          <a:custGeom>
            <a:avLst/>
            <a:gdLst>
              <a:gd name="T0" fmla="*/ 5433 w 5869"/>
              <a:gd name="T1" fmla="*/ 0 h 3078"/>
              <a:gd name="T2" fmla="*/ 5869 w 5869"/>
              <a:gd name="T3" fmla="*/ 1539 h 3078"/>
              <a:gd name="T4" fmla="*/ 5433 w 5869"/>
              <a:gd name="T5" fmla="*/ 3078 h 3078"/>
              <a:gd name="T6" fmla="*/ 436 w 5869"/>
              <a:gd name="T7" fmla="*/ 3078 h 3078"/>
              <a:gd name="T8" fmla="*/ 0 w 5869"/>
              <a:gd name="T9" fmla="*/ 1539 h 3078"/>
              <a:gd name="T10" fmla="*/ 436 w 586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69" h="3078">
                <a:moveTo>
                  <a:pt x="5433" y="0"/>
                </a:moveTo>
                <a:cubicBezTo>
                  <a:pt x="5709" y="447"/>
                  <a:pt x="5869" y="974"/>
                  <a:pt x="5869" y="1539"/>
                </a:cubicBezTo>
                <a:cubicBezTo>
                  <a:pt x="5869" y="2103"/>
                  <a:pt x="5709" y="2631"/>
                  <a:pt x="5433" y="3078"/>
                </a:cubicBezTo>
                <a:moveTo>
                  <a:pt x="436" y="3078"/>
                </a:moveTo>
                <a:cubicBezTo>
                  <a:pt x="160" y="2631"/>
                  <a:pt x="0" y="2103"/>
                  <a:pt x="0" y="1539"/>
                </a:cubicBezTo>
                <a:cubicBezTo>
                  <a:pt x="0" y="974"/>
                  <a:pt x="160" y="447"/>
                  <a:pt x="436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8" name="Freeform 29"/>
          <p:cNvSpPr>
            <a:spLocks noEditPoints="1"/>
          </p:cNvSpPr>
          <p:nvPr/>
        </p:nvSpPr>
        <p:spPr bwMode="auto">
          <a:xfrm>
            <a:off x="1431315" y="447994"/>
            <a:ext cx="6281365" cy="3300676"/>
          </a:xfrm>
          <a:custGeom>
            <a:avLst/>
            <a:gdLst>
              <a:gd name="T0" fmla="*/ 6600 w 6959"/>
              <a:gd name="T1" fmla="*/ 0 h 3078"/>
              <a:gd name="T2" fmla="*/ 6959 w 6959"/>
              <a:gd name="T3" fmla="*/ 1539 h 3078"/>
              <a:gd name="T4" fmla="*/ 6600 w 6959"/>
              <a:gd name="T5" fmla="*/ 3078 h 3078"/>
              <a:gd name="T6" fmla="*/ 359 w 6959"/>
              <a:gd name="T7" fmla="*/ 3078 h 3078"/>
              <a:gd name="T8" fmla="*/ 0 w 6959"/>
              <a:gd name="T9" fmla="*/ 1539 h 3078"/>
              <a:gd name="T10" fmla="*/ 359 w 695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959" h="3078">
                <a:moveTo>
                  <a:pt x="6600" y="0"/>
                </a:moveTo>
                <a:cubicBezTo>
                  <a:pt x="6830" y="464"/>
                  <a:pt x="6959" y="986"/>
                  <a:pt x="6959" y="1539"/>
                </a:cubicBezTo>
                <a:cubicBezTo>
                  <a:pt x="6959" y="2092"/>
                  <a:pt x="6830" y="2614"/>
                  <a:pt x="6600" y="3078"/>
                </a:cubicBezTo>
                <a:moveTo>
                  <a:pt x="359" y="3078"/>
                </a:moveTo>
                <a:cubicBezTo>
                  <a:pt x="129" y="2614"/>
                  <a:pt x="0" y="2092"/>
                  <a:pt x="0" y="1539"/>
                </a:cubicBezTo>
                <a:cubicBezTo>
                  <a:pt x="0" y="986"/>
                  <a:pt x="129" y="464"/>
                  <a:pt x="359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9" name="Freeform 30"/>
          <p:cNvSpPr>
            <a:spLocks noEditPoints="1"/>
          </p:cNvSpPr>
          <p:nvPr/>
        </p:nvSpPr>
        <p:spPr bwMode="auto">
          <a:xfrm>
            <a:off x="847834" y="492716"/>
            <a:ext cx="7448329" cy="3300676"/>
          </a:xfrm>
          <a:custGeom>
            <a:avLst/>
            <a:gdLst>
              <a:gd name="T0" fmla="*/ 7954 w 8251"/>
              <a:gd name="T1" fmla="*/ 0 h 3078"/>
              <a:gd name="T2" fmla="*/ 8251 w 8251"/>
              <a:gd name="T3" fmla="*/ 1539 h 3078"/>
              <a:gd name="T4" fmla="*/ 7954 w 8251"/>
              <a:gd name="T5" fmla="*/ 3078 h 3078"/>
              <a:gd name="T6" fmla="*/ 297 w 8251"/>
              <a:gd name="T7" fmla="*/ 3078 h 3078"/>
              <a:gd name="T8" fmla="*/ 0 w 8251"/>
              <a:gd name="T9" fmla="*/ 1539 h 3078"/>
              <a:gd name="T10" fmla="*/ 297 w 8251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251" h="3078">
                <a:moveTo>
                  <a:pt x="7954" y="0"/>
                </a:moveTo>
                <a:cubicBezTo>
                  <a:pt x="8146" y="475"/>
                  <a:pt x="8251" y="995"/>
                  <a:pt x="8251" y="1539"/>
                </a:cubicBezTo>
                <a:cubicBezTo>
                  <a:pt x="8251" y="2083"/>
                  <a:pt x="8146" y="2602"/>
                  <a:pt x="7954" y="3078"/>
                </a:cubicBezTo>
                <a:moveTo>
                  <a:pt x="297" y="3078"/>
                </a:moveTo>
                <a:cubicBezTo>
                  <a:pt x="106" y="2602"/>
                  <a:pt x="0" y="2083"/>
                  <a:pt x="0" y="1539"/>
                </a:cubicBezTo>
                <a:cubicBezTo>
                  <a:pt x="0" y="995"/>
                  <a:pt x="106" y="475"/>
                  <a:pt x="29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707880" y="1145095"/>
            <a:ext cx="1728225" cy="1728000"/>
            <a:chOff x="1827613" y="953180"/>
            <a:chExt cx="2304000" cy="2304000"/>
          </a:xfrm>
        </p:grpSpPr>
        <p:sp>
          <p:nvSpPr>
            <p:cNvPr id="11" name="椭圆 10"/>
            <p:cNvSpPr/>
            <p:nvPr/>
          </p:nvSpPr>
          <p:spPr>
            <a:xfrm>
              <a:off x="1827613" y="953180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635000" dist="762000" dir="7800000" sx="88000" sy="88000" algn="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877473" y="1015039"/>
              <a:ext cx="2204282" cy="2204283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800" b="1" dirty="0">
                  <a:solidFill>
                    <a:srgbClr val="FFA5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设计实现</a:t>
              </a:r>
            </a:p>
          </p:txBody>
        </p:sp>
      </p:grpSp>
      <p:sp>
        <p:nvSpPr>
          <p:cNvPr id="13" name="TextBox 26"/>
          <p:cNvSpPr txBox="1"/>
          <p:nvPr/>
        </p:nvSpPr>
        <p:spPr>
          <a:xfrm>
            <a:off x="2947404" y="3547418"/>
            <a:ext cx="1375693" cy="276504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zh-CN" altLang="en-US" sz="1400" noProof="0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  <a:endParaRPr lang="zh-CN" altLang="en-US" sz="1400" dirty="0">
              <a:solidFill>
                <a:srgbClr val="FFA5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27"/>
          <p:cNvSpPr txBox="1"/>
          <p:nvPr/>
        </p:nvSpPr>
        <p:spPr>
          <a:xfrm>
            <a:off x="4666883" y="3547418"/>
            <a:ext cx="1728225" cy="276504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pPr lvl="0">
              <a:defRPr/>
            </a:pPr>
            <a:r>
              <a:rPr lang="zh-CN" altLang="en-US" sz="1400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√核心对账总体设计</a:t>
            </a:r>
          </a:p>
        </p:txBody>
      </p:sp>
      <p:sp>
        <p:nvSpPr>
          <p:cNvPr id="15" name="TextBox 28"/>
          <p:cNvSpPr txBox="1"/>
          <p:nvPr/>
        </p:nvSpPr>
        <p:spPr>
          <a:xfrm>
            <a:off x="2938660" y="3945700"/>
            <a:ext cx="1728224" cy="276504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pPr lvl="0">
              <a:defRPr/>
            </a:pPr>
            <a:r>
              <a:rPr lang="zh-CN" altLang="en-US" sz="1400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√核心对账详细设计</a:t>
            </a:r>
          </a:p>
        </p:txBody>
      </p:sp>
    </p:spTree>
    <p:extLst>
      <p:ext uri="{BB962C8B-B14F-4D97-AF65-F5344CB8AC3E}">
        <p14:creationId xmlns:p14="http://schemas.microsoft.com/office/powerpoint/2010/main" val="316584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D97C93A-C6BA-4157-A017-BA2C7ACF37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243133"/>
              </p:ext>
            </p:extLst>
          </p:nvPr>
        </p:nvGraphicFramePr>
        <p:xfrm>
          <a:off x="857248" y="826995"/>
          <a:ext cx="7429500" cy="4192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8" name="Visio" r:id="rId3" imgW="7734390" imgH="5457709" progId="Visio.Drawing.15">
                  <p:embed/>
                </p:oleObj>
              </mc:Choice>
              <mc:Fallback>
                <p:oleObj name="Visio" r:id="rId3" imgW="7734390" imgH="5457709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48" y="826995"/>
                        <a:ext cx="7429500" cy="4192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</a:p>
        </p:txBody>
      </p:sp>
    </p:spTree>
    <p:extLst>
      <p:ext uri="{BB962C8B-B14F-4D97-AF65-F5344CB8AC3E}">
        <p14:creationId xmlns:p14="http://schemas.microsoft.com/office/powerpoint/2010/main" val="289727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0860EB-A5AA-4C75-9686-589AF8484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10" y="992923"/>
            <a:ext cx="4418904" cy="30289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526FC74-8696-48EF-9AEA-CF859B7B2A1D}"/>
              </a:ext>
            </a:extLst>
          </p:cNvPr>
          <p:cNvSpPr/>
          <p:nvPr/>
        </p:nvSpPr>
        <p:spPr>
          <a:xfrm>
            <a:off x="5290723" y="992923"/>
            <a:ext cx="3525324" cy="9079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/>
              <a:t>Redis</a:t>
            </a:r>
            <a:r>
              <a:rPr lang="zh-CN" altLang="en-US" sz="1400" b="1" dirty="0"/>
              <a:t>应用：</a:t>
            </a:r>
            <a:endParaRPr lang="en-US" altLang="zh-CN" sz="1400" b="1" dirty="0"/>
          </a:p>
          <a:p>
            <a:r>
              <a:rPr lang="en-US" altLang="zh-CN" sz="1300" dirty="0"/>
              <a:t>1</a:t>
            </a:r>
            <a:r>
              <a:rPr lang="zh-CN" altLang="en-US" sz="1300" dirty="0"/>
              <a:t>、一主两从三哨兵</a:t>
            </a:r>
            <a:endParaRPr lang="en-US" altLang="zh-CN" sz="1300" dirty="0"/>
          </a:p>
          <a:p>
            <a:r>
              <a:rPr lang="en-US" altLang="zh-CN" sz="1300" dirty="0"/>
              <a:t>2</a:t>
            </a:r>
            <a:r>
              <a:rPr lang="zh-CN" altLang="en-US" sz="1300" dirty="0"/>
              <a:t>、对账和交易使用同一集群实例</a:t>
            </a:r>
            <a:endParaRPr lang="en-US" altLang="zh-CN" sz="1300" dirty="0"/>
          </a:p>
          <a:p>
            <a:r>
              <a:rPr lang="en-US" altLang="zh-CN" sz="1300" dirty="0"/>
              <a:t>3</a:t>
            </a:r>
            <a:r>
              <a:rPr lang="zh-CN" altLang="en-US" sz="1300" dirty="0"/>
              <a:t>、交易使用默认的</a:t>
            </a:r>
            <a:r>
              <a:rPr lang="en-US" altLang="zh-CN" sz="1300" dirty="0"/>
              <a:t>0</a:t>
            </a:r>
            <a:r>
              <a:rPr lang="zh-CN" altLang="en-US" sz="1300" dirty="0"/>
              <a:t>号库，对账使用的</a:t>
            </a:r>
            <a:r>
              <a:rPr lang="en-US" altLang="zh-CN" sz="1300" dirty="0"/>
              <a:t>10</a:t>
            </a:r>
            <a:r>
              <a:rPr lang="zh-CN" altLang="en-US" sz="1300" dirty="0"/>
              <a:t>号库</a:t>
            </a:r>
            <a:endParaRPr lang="en-US" altLang="zh-CN" sz="1300" dirty="0"/>
          </a:p>
        </p:txBody>
      </p:sp>
    </p:spTree>
    <p:extLst>
      <p:ext uri="{BB962C8B-B14F-4D97-AF65-F5344CB8AC3E}">
        <p14:creationId xmlns:p14="http://schemas.microsoft.com/office/powerpoint/2010/main" val="46199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26FC74-8696-48EF-9AEA-CF859B7B2A1D}"/>
              </a:ext>
            </a:extLst>
          </p:cNvPr>
          <p:cNvSpPr/>
          <p:nvPr/>
        </p:nvSpPr>
        <p:spPr>
          <a:xfrm>
            <a:off x="5417104" y="964930"/>
            <a:ext cx="2270173" cy="9079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 err="1"/>
              <a:t>RocketMQ</a:t>
            </a:r>
            <a:r>
              <a:rPr lang="zh-CN" altLang="en-US" sz="1400" b="1" dirty="0"/>
              <a:t>应用：</a:t>
            </a:r>
            <a:endParaRPr lang="en-US" altLang="zh-CN" sz="1400" b="1" dirty="0"/>
          </a:p>
          <a:p>
            <a:r>
              <a:rPr lang="en-US" altLang="zh-CN" sz="1300" dirty="0"/>
              <a:t>1</a:t>
            </a:r>
            <a:r>
              <a:rPr lang="zh-CN" altLang="en-US" sz="1300" dirty="0"/>
              <a:t>、双</a:t>
            </a:r>
            <a:r>
              <a:rPr lang="en-US" altLang="zh-CN" sz="1300" dirty="0"/>
              <a:t>master</a:t>
            </a:r>
            <a:r>
              <a:rPr lang="zh-CN" altLang="en-US" sz="1300" dirty="0"/>
              <a:t>模式</a:t>
            </a:r>
            <a:endParaRPr lang="en-US" altLang="zh-CN" sz="1300" dirty="0"/>
          </a:p>
          <a:p>
            <a:r>
              <a:rPr lang="en-US" altLang="zh-CN" sz="1300" dirty="0"/>
              <a:t>2</a:t>
            </a:r>
            <a:r>
              <a:rPr lang="zh-CN" altLang="en-US" sz="1300" dirty="0"/>
              <a:t>、对账和交易使用同一集群</a:t>
            </a:r>
            <a:endParaRPr lang="en-US" altLang="zh-CN" sz="1300" dirty="0"/>
          </a:p>
          <a:p>
            <a:r>
              <a:rPr lang="en-US" altLang="zh-CN" sz="1300" dirty="0"/>
              <a:t>3</a:t>
            </a:r>
            <a:r>
              <a:rPr lang="zh-CN" altLang="en-US" sz="1300" dirty="0"/>
              <a:t>、配置不同消费者、主题</a:t>
            </a:r>
            <a:endParaRPr lang="en-US" altLang="zh-CN" sz="13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2A7A26-F887-44AF-943B-434A2A2F2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56" y="1049273"/>
            <a:ext cx="4933408" cy="328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2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核心对账总体设计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C4B5FA-064B-4DF8-A5FE-4AC05DE55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71" y="755864"/>
            <a:ext cx="8103219" cy="430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07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核心对账总体设计</a:t>
            </a: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BD04C680-99EB-4F12-AA13-DEB1EAA8CD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6522478"/>
              </p:ext>
            </p:extLst>
          </p:nvPr>
        </p:nvGraphicFramePr>
        <p:xfrm>
          <a:off x="1295715" y="1042270"/>
          <a:ext cx="5974881" cy="3855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DDA7F5C-03C1-47B0-AB76-D380AF20D327}"/>
              </a:ext>
            </a:extLst>
          </p:cNvPr>
          <p:cNvSpPr/>
          <p:nvPr/>
        </p:nvSpPr>
        <p:spPr>
          <a:xfrm>
            <a:off x="575005" y="543320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对账请求流程：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221886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Graphic spid="3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核心对账详细设计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148394-723C-41AF-B9DB-AF148403C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26" y="843158"/>
            <a:ext cx="2232870" cy="4000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846C09B-57B5-45F4-92CE-CC9ABB39A195}"/>
              </a:ext>
            </a:extLst>
          </p:cNvPr>
          <p:cNvSpPr/>
          <p:nvPr/>
        </p:nvSpPr>
        <p:spPr>
          <a:xfrm>
            <a:off x="4222942" y="935193"/>
            <a:ext cx="4133119" cy="19082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对账请求流程：</a:t>
            </a:r>
            <a:endParaRPr lang="en-US" altLang="zh-CN" sz="1400" b="1" dirty="0"/>
          </a:p>
          <a:p>
            <a:r>
              <a:rPr lang="en-US" altLang="zh-CN" sz="1300" dirty="0"/>
              <a:t>1</a:t>
            </a:r>
            <a:r>
              <a:rPr lang="zh-CN" altLang="en-US" sz="1300" dirty="0"/>
              <a:t>、请求参数验参</a:t>
            </a:r>
            <a:endParaRPr lang="en-US" altLang="zh-CN" sz="1300" dirty="0"/>
          </a:p>
          <a:p>
            <a:r>
              <a:rPr lang="en-US" altLang="zh-CN" sz="1300" dirty="0"/>
              <a:t>2</a:t>
            </a:r>
            <a:r>
              <a:rPr lang="zh-CN" altLang="en-US" sz="1300" dirty="0"/>
              <a:t>、查询对账任务记录</a:t>
            </a:r>
            <a:endParaRPr lang="en-US" altLang="zh-CN" sz="1300" dirty="0"/>
          </a:p>
          <a:p>
            <a:r>
              <a:rPr lang="en-US" altLang="zh-CN" sz="1300" dirty="0"/>
              <a:t>3</a:t>
            </a:r>
            <a:r>
              <a:rPr lang="zh-CN" altLang="en-US" sz="1300" dirty="0"/>
              <a:t>、查询对账左右双方下载记录。根据任务进度编号，</a:t>
            </a:r>
            <a:endParaRPr lang="en-US" altLang="zh-CN" sz="1300" dirty="0"/>
          </a:p>
          <a:p>
            <a:r>
              <a:rPr lang="zh-CN" altLang="en-US" sz="1300" dirty="0"/>
              <a:t>查询对账左方、右方下载记录，并校验下载记录存在</a:t>
            </a:r>
            <a:endParaRPr lang="en-US" altLang="zh-CN" sz="1300" dirty="0"/>
          </a:p>
          <a:p>
            <a:r>
              <a:rPr lang="zh-CN" altLang="en-US" sz="1300" dirty="0"/>
              <a:t>且上传标准对账单</a:t>
            </a:r>
            <a:r>
              <a:rPr lang="en-US" altLang="zh-CN" sz="1300" dirty="0"/>
              <a:t>FTP</a:t>
            </a:r>
            <a:r>
              <a:rPr lang="zh-CN" altLang="en-US" sz="1300" dirty="0"/>
              <a:t>地址非空</a:t>
            </a:r>
            <a:endParaRPr lang="en-US" altLang="zh-CN" sz="1300" dirty="0"/>
          </a:p>
          <a:p>
            <a:r>
              <a:rPr lang="en-US" altLang="zh-CN" sz="1300" dirty="0"/>
              <a:t>4</a:t>
            </a:r>
            <a:r>
              <a:rPr lang="zh-CN" altLang="en-US" sz="1300" dirty="0"/>
              <a:t>、校验是否可以对账。校验该对账请求是否已在</a:t>
            </a:r>
            <a:r>
              <a:rPr lang="en-US" altLang="zh-CN" sz="1300" dirty="0"/>
              <a:t>Redis</a:t>
            </a:r>
          </a:p>
          <a:p>
            <a:r>
              <a:rPr lang="zh-CN" altLang="en-US" sz="1300" dirty="0"/>
              <a:t>对账中，以及是否当前对账任务状态允许对账</a:t>
            </a:r>
            <a:endParaRPr lang="en-US" altLang="zh-CN" sz="1300" dirty="0"/>
          </a:p>
          <a:p>
            <a:r>
              <a:rPr lang="en-US" altLang="zh-CN" sz="1300" dirty="0"/>
              <a:t>5</a:t>
            </a:r>
            <a:r>
              <a:rPr lang="zh-CN" altLang="en-US" sz="1300" dirty="0"/>
              <a:t>、开始</a:t>
            </a:r>
            <a:r>
              <a:rPr lang="en-US" altLang="zh-CN" sz="1300" dirty="0"/>
              <a:t>Redis</a:t>
            </a:r>
            <a:r>
              <a:rPr lang="zh-CN" altLang="en-US" sz="1300" dirty="0"/>
              <a:t>对账</a:t>
            </a:r>
            <a:r>
              <a:rPr lang="en-US" altLang="zh-CN" sz="1300" dirty="0"/>
              <a:t>(</a:t>
            </a:r>
            <a:r>
              <a:rPr lang="zh-CN" altLang="en-US" sz="1300" dirty="0"/>
              <a:t>异步</a:t>
            </a:r>
            <a:r>
              <a:rPr lang="en-US" altLang="zh-CN" sz="1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942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核心对账详细设计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4122CA-18E1-4D6E-8826-59E888413E60}"/>
              </a:ext>
            </a:extLst>
          </p:cNvPr>
          <p:cNvSpPr/>
          <p:nvPr/>
        </p:nvSpPr>
        <p:spPr>
          <a:xfrm>
            <a:off x="4209266" y="700624"/>
            <a:ext cx="4968220" cy="44627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对账请求流程：</a:t>
            </a:r>
            <a:endParaRPr lang="en-US" altLang="zh-CN" sz="1400" b="1" dirty="0"/>
          </a:p>
          <a:p>
            <a:r>
              <a:rPr lang="en-US" altLang="zh-CN" sz="1300" dirty="0"/>
              <a:t>1</a:t>
            </a:r>
            <a:r>
              <a:rPr lang="zh-CN" altLang="en-US" sz="1300" dirty="0"/>
              <a:t>、</a:t>
            </a:r>
            <a:r>
              <a:rPr lang="zh-CN" altLang="en-US" dirty="0"/>
              <a:t>获取对账</a:t>
            </a:r>
            <a:r>
              <a:rPr lang="en-US" altLang="zh-CN" dirty="0"/>
              <a:t>key(</a:t>
            </a:r>
            <a:r>
              <a:rPr lang="zh-CN" altLang="en-US" dirty="0"/>
              <a:t>任务进度编号</a:t>
            </a:r>
            <a:r>
              <a:rPr lang="en-US" altLang="zh-CN" dirty="0"/>
              <a:t>+</a:t>
            </a:r>
            <a:r>
              <a:rPr lang="zh-CN" altLang="en-US" dirty="0"/>
              <a:t>“</a:t>
            </a:r>
            <a:r>
              <a:rPr lang="en-US" altLang="zh-CN" dirty="0"/>
              <a:t>_</a:t>
            </a:r>
            <a:r>
              <a:rPr lang="zh-CN" altLang="en-US" dirty="0"/>
              <a:t>”</a:t>
            </a:r>
            <a:r>
              <a:rPr lang="en-US" altLang="zh-CN" dirty="0"/>
              <a:t>+</a:t>
            </a:r>
            <a:r>
              <a:rPr lang="zh-CN" altLang="en-US" dirty="0"/>
              <a:t>请求序列号</a:t>
            </a:r>
            <a:r>
              <a:rPr lang="en-US" altLang="zh-CN" dirty="0"/>
              <a:t>)</a:t>
            </a:r>
            <a:r>
              <a:rPr lang="zh-CN" altLang="en-US" dirty="0"/>
              <a:t>；生</a:t>
            </a:r>
            <a:endParaRPr lang="en-US" altLang="zh-CN" dirty="0"/>
          </a:p>
          <a:p>
            <a:r>
              <a:rPr lang="zh-CN" altLang="en-US" dirty="0"/>
              <a:t>成当前对账任务执行令牌，防止同一对账任务、同一请求</a:t>
            </a:r>
            <a:endParaRPr lang="en-US" altLang="zh-CN" dirty="0"/>
          </a:p>
          <a:p>
            <a:r>
              <a:rPr lang="zh-CN" altLang="en-US" dirty="0"/>
              <a:t>序列并发请求重复对账</a:t>
            </a:r>
            <a:r>
              <a:rPr lang="en-US" altLang="zh-CN" dirty="0"/>
              <a:t>(</a:t>
            </a:r>
            <a:r>
              <a:rPr lang="zh-CN" altLang="en-US" dirty="0"/>
              <a:t>涉及重新对账</a:t>
            </a:r>
            <a:r>
              <a:rPr lang="en-US" altLang="zh-CN" dirty="0"/>
              <a:t>) </a:t>
            </a:r>
          </a:p>
          <a:p>
            <a:r>
              <a:rPr lang="en-US" altLang="zh-CN" sz="1300" dirty="0"/>
              <a:t>2</a:t>
            </a:r>
            <a:r>
              <a:rPr lang="zh-CN" altLang="en-US" sz="1300" dirty="0"/>
              <a:t>、</a:t>
            </a:r>
            <a:r>
              <a:rPr lang="zh-CN" altLang="en-US" dirty="0"/>
              <a:t>初始化对账数据</a:t>
            </a:r>
            <a:r>
              <a:rPr lang="en-US" altLang="zh-CN" dirty="0"/>
              <a:t>(</a:t>
            </a:r>
            <a:r>
              <a:rPr lang="zh-CN" altLang="en-US" dirty="0"/>
              <a:t>事务加锁查询对账任务记录，并校验任务</a:t>
            </a:r>
            <a:endParaRPr lang="en-US" altLang="zh-CN" dirty="0"/>
          </a:p>
          <a:p>
            <a:r>
              <a:rPr lang="zh-CN" altLang="en-US" dirty="0"/>
              <a:t>进度、状态是否可以对账，更新对账任务记录状态、更新对账</a:t>
            </a:r>
            <a:endParaRPr lang="en-US" altLang="zh-CN" dirty="0"/>
          </a:p>
          <a:p>
            <a:r>
              <a:rPr lang="zh-CN" altLang="en-US" dirty="0"/>
              <a:t>任务编号所有的明细记录状态为无效；先清理</a:t>
            </a:r>
            <a:r>
              <a:rPr lang="en-US" altLang="zh-CN" dirty="0"/>
              <a:t>Redis</a:t>
            </a:r>
            <a:r>
              <a:rPr lang="zh-CN" altLang="en-US" dirty="0"/>
              <a:t>对账数据；</a:t>
            </a:r>
            <a:endParaRPr lang="en-US" altLang="zh-CN" dirty="0"/>
          </a:p>
          <a:p>
            <a:r>
              <a:rPr lang="zh-CN" altLang="en-US" dirty="0"/>
              <a:t>初始化对账任务数据值对账</a:t>
            </a:r>
            <a:r>
              <a:rPr lang="en-US" altLang="zh-CN" dirty="0"/>
              <a:t>)</a:t>
            </a:r>
          </a:p>
          <a:p>
            <a:r>
              <a:rPr lang="en-US" altLang="zh-CN" sz="1300" dirty="0"/>
              <a:t>3</a:t>
            </a:r>
            <a:r>
              <a:rPr lang="zh-CN" altLang="en-US" sz="1300" dirty="0"/>
              <a:t>、</a:t>
            </a:r>
            <a:r>
              <a:rPr lang="zh-CN" altLang="en-US" dirty="0"/>
              <a:t>初始化单个主流程对账线程池</a:t>
            </a:r>
            <a:endParaRPr lang="en-US" altLang="zh-CN" dirty="0"/>
          </a:p>
          <a:p>
            <a:r>
              <a:rPr lang="en-US" altLang="zh-CN" sz="1300" dirty="0"/>
              <a:t>4</a:t>
            </a:r>
            <a:r>
              <a:rPr lang="zh-CN" altLang="en-US" sz="1300" dirty="0"/>
              <a:t>、</a:t>
            </a:r>
            <a:r>
              <a:rPr lang="zh-CN" altLang="en-US" dirty="0"/>
              <a:t>加载对账数据到</a:t>
            </a:r>
            <a:r>
              <a:rPr lang="en-US" altLang="zh-CN" dirty="0" err="1"/>
              <a:t>redis</a:t>
            </a:r>
            <a:r>
              <a:rPr lang="zh-CN" altLang="en-US" dirty="0"/>
              <a:t>中</a:t>
            </a:r>
            <a:r>
              <a:rPr lang="en-US" altLang="zh-CN" dirty="0"/>
              <a:t>(</a:t>
            </a:r>
            <a:r>
              <a:rPr lang="zh-CN" altLang="en-US" dirty="0"/>
              <a:t>下载并解析对账左方、右方</a:t>
            </a:r>
            <a:r>
              <a:rPr lang="en-US" altLang="zh-CN" dirty="0"/>
              <a:t>FTP</a:t>
            </a:r>
            <a:r>
              <a:rPr lang="zh-CN" altLang="en-US" dirty="0"/>
              <a:t>文</a:t>
            </a:r>
            <a:endParaRPr lang="en-US" altLang="zh-CN" dirty="0"/>
          </a:p>
          <a:p>
            <a:r>
              <a:rPr lang="zh-CN" altLang="en-US" dirty="0"/>
              <a:t>件，将对账数据存储到</a:t>
            </a:r>
            <a:r>
              <a:rPr lang="en-US" altLang="zh-CN" dirty="0" err="1"/>
              <a:t>redis</a:t>
            </a:r>
            <a:r>
              <a:rPr lang="zh-CN" altLang="en-US" dirty="0"/>
              <a:t>中；查询历史差异数据，存储到</a:t>
            </a:r>
            <a:endParaRPr lang="en-US" altLang="zh-CN" dirty="0"/>
          </a:p>
          <a:p>
            <a:r>
              <a:rPr lang="en-US" altLang="zh-CN" dirty="0" err="1"/>
              <a:t>redis</a:t>
            </a:r>
            <a:r>
              <a:rPr lang="zh-CN" altLang="en-US" dirty="0"/>
              <a:t>中，设置</a:t>
            </a:r>
            <a:r>
              <a:rPr lang="en-US" altLang="zh-CN" dirty="0" err="1"/>
              <a:t>redis</a:t>
            </a:r>
            <a:r>
              <a:rPr lang="zh-CN" altLang="en-US" dirty="0"/>
              <a:t>过期</a:t>
            </a:r>
            <a:r>
              <a:rPr lang="en-US" altLang="zh-CN" dirty="0"/>
              <a:t>)</a:t>
            </a:r>
          </a:p>
          <a:p>
            <a:r>
              <a:rPr lang="en-US" altLang="zh-CN" sz="1300" dirty="0"/>
              <a:t>5</a:t>
            </a:r>
            <a:r>
              <a:rPr lang="zh-CN" altLang="en-US" sz="1300" dirty="0"/>
              <a:t>、</a:t>
            </a:r>
            <a:r>
              <a:rPr lang="zh-CN" altLang="en-US" dirty="0"/>
              <a:t>开始</a:t>
            </a:r>
            <a:r>
              <a:rPr lang="en-US" altLang="zh-CN" dirty="0"/>
              <a:t>Redis</a:t>
            </a:r>
            <a:r>
              <a:rPr lang="zh-CN" altLang="en-US" dirty="0"/>
              <a:t>对账，账平记录对账、账不平记录对账，对账结果</a:t>
            </a:r>
            <a:endParaRPr lang="en-US" altLang="zh-CN" dirty="0"/>
          </a:p>
          <a:p>
            <a:r>
              <a:rPr lang="zh-CN" altLang="en-US" dirty="0"/>
              <a:t>值对象相应累加统计</a:t>
            </a:r>
            <a:endParaRPr lang="en-US" altLang="zh-CN" dirty="0"/>
          </a:p>
          <a:p>
            <a:r>
              <a:rPr lang="en-US" altLang="zh-CN" sz="1300" dirty="0"/>
              <a:t>6</a:t>
            </a:r>
            <a:r>
              <a:rPr lang="zh-CN" altLang="en-US" sz="1300" dirty="0"/>
              <a:t>、</a:t>
            </a:r>
            <a:r>
              <a:rPr lang="zh-CN" altLang="en-US" dirty="0"/>
              <a:t>关闭主流程对账线程池</a:t>
            </a:r>
            <a:endParaRPr lang="en-US" altLang="zh-CN" dirty="0"/>
          </a:p>
          <a:p>
            <a:r>
              <a:rPr lang="en-US" altLang="zh-CN" sz="1300" dirty="0"/>
              <a:t>7</a:t>
            </a:r>
            <a:r>
              <a:rPr lang="zh-CN" altLang="en-US" sz="1300" dirty="0"/>
              <a:t>、</a:t>
            </a:r>
            <a:r>
              <a:rPr lang="zh-CN" altLang="en-US" dirty="0"/>
              <a:t>发起明细对账</a:t>
            </a:r>
            <a:r>
              <a:rPr lang="en-US" altLang="zh-CN" dirty="0"/>
              <a:t>(</a:t>
            </a:r>
            <a:r>
              <a:rPr lang="zh-CN" altLang="en-US" dirty="0"/>
              <a:t>对账出的差异数据、日切差数据入库，金</a:t>
            </a:r>
            <a:endParaRPr lang="en-US" altLang="zh-CN" dirty="0"/>
          </a:p>
          <a:p>
            <a:r>
              <a:rPr lang="zh-CN" altLang="en-US" dirty="0"/>
              <a:t>额不一致、左有右无、左无右有、时间差、挂账</a:t>
            </a:r>
            <a:r>
              <a:rPr lang="en-US" altLang="zh-CN" dirty="0"/>
              <a:t>)</a:t>
            </a:r>
          </a:p>
          <a:p>
            <a:r>
              <a:rPr lang="en-US" altLang="zh-CN" sz="1300" dirty="0"/>
              <a:t>8</a:t>
            </a:r>
            <a:r>
              <a:rPr lang="zh-CN" altLang="en-US" sz="1300" dirty="0"/>
              <a:t>、</a:t>
            </a:r>
            <a:r>
              <a:rPr lang="zh-CN" altLang="en-US" dirty="0"/>
              <a:t>保存对账任务记录、对账结果记录对账结果信息</a:t>
            </a:r>
            <a:endParaRPr lang="en-US" altLang="zh-CN" dirty="0"/>
          </a:p>
          <a:p>
            <a:r>
              <a:rPr lang="en-US" altLang="zh-CN" dirty="0"/>
              <a:t>9</a:t>
            </a:r>
            <a:r>
              <a:rPr lang="zh-CN" altLang="en-US" dirty="0"/>
              <a:t>、若主流程对账异常，则对账失败处理</a:t>
            </a:r>
            <a:r>
              <a:rPr lang="en-US" altLang="zh-CN" dirty="0"/>
              <a:t>(</a:t>
            </a:r>
            <a:r>
              <a:rPr lang="zh-CN" altLang="en-US" dirty="0"/>
              <a:t>异步清理</a:t>
            </a:r>
            <a:r>
              <a:rPr lang="en-US" altLang="zh-CN" dirty="0"/>
              <a:t>Redis</a:t>
            </a:r>
            <a:r>
              <a:rPr lang="zh-CN" altLang="en-US" dirty="0"/>
              <a:t>对账</a:t>
            </a:r>
            <a:endParaRPr lang="en-US" altLang="zh-CN" dirty="0"/>
          </a:p>
          <a:p>
            <a:r>
              <a:rPr lang="zh-CN" altLang="en-US" dirty="0"/>
              <a:t>数据；打印异常信息日志；异步发送告警邮件；修改对账任</a:t>
            </a:r>
            <a:endParaRPr lang="en-US" altLang="zh-CN" dirty="0"/>
          </a:p>
          <a:p>
            <a:r>
              <a:rPr lang="zh-CN" altLang="en-US" dirty="0"/>
              <a:t>务记录状态为失败</a:t>
            </a:r>
            <a:r>
              <a:rPr lang="en-US" altLang="zh-CN" dirty="0"/>
              <a:t>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D5B4C79-14E2-4058-A5FB-3FE8F683A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17" y="659924"/>
            <a:ext cx="2661424" cy="448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3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核心对账详细设计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DF6040-573D-4769-B0E0-14AAD725EDE2}"/>
              </a:ext>
            </a:extLst>
          </p:cNvPr>
          <p:cNvSpPr/>
          <p:nvPr/>
        </p:nvSpPr>
        <p:spPr>
          <a:xfrm>
            <a:off x="4123562" y="950062"/>
            <a:ext cx="5032147" cy="36317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对账请求流程：</a:t>
            </a:r>
            <a:endParaRPr lang="en-US" altLang="zh-CN" sz="1400" b="1" dirty="0"/>
          </a:p>
          <a:p>
            <a:r>
              <a:rPr lang="en-US" altLang="zh-CN" sz="1300" dirty="0"/>
              <a:t>1</a:t>
            </a:r>
            <a:r>
              <a:rPr lang="zh-CN" altLang="en-US" sz="1300" dirty="0"/>
              <a:t>、</a:t>
            </a:r>
            <a:r>
              <a:rPr lang="zh-CN" altLang="en-US" dirty="0"/>
              <a:t>执行明细对账加载数据。添加加载</a:t>
            </a:r>
            <a:r>
              <a:rPr lang="en-US" altLang="zh-CN" dirty="0"/>
              <a:t>Redis</a:t>
            </a:r>
            <a:r>
              <a:rPr lang="zh-CN" altLang="en-US" dirty="0"/>
              <a:t>账平记录数据任务，</a:t>
            </a:r>
            <a:endParaRPr lang="en-US" altLang="zh-CN" dirty="0"/>
          </a:p>
          <a:p>
            <a:r>
              <a:rPr lang="zh-CN" altLang="en-US" dirty="0"/>
              <a:t>查询对账日期前</a:t>
            </a:r>
            <a:r>
              <a:rPr lang="en-US" altLang="zh-CN" dirty="0"/>
              <a:t>N</a:t>
            </a:r>
            <a:r>
              <a:rPr lang="zh-CN" altLang="en-US" dirty="0"/>
              <a:t>天的数据</a:t>
            </a:r>
            <a:r>
              <a:rPr lang="en-US" altLang="zh-CN" dirty="0"/>
              <a:t>(</a:t>
            </a:r>
            <a:r>
              <a:rPr lang="zh-CN" altLang="en-US" dirty="0"/>
              <a:t>防止账平数据重复入库</a:t>
            </a:r>
            <a:r>
              <a:rPr lang="en-US" altLang="zh-CN" dirty="0"/>
              <a:t>)</a:t>
            </a:r>
            <a:r>
              <a:rPr lang="zh-CN" altLang="en-US" dirty="0"/>
              <a:t>；添加加载</a:t>
            </a:r>
            <a:endParaRPr lang="en-US" altLang="zh-CN" dirty="0"/>
          </a:p>
          <a:p>
            <a:r>
              <a:rPr lang="en-US" altLang="zh-CN" dirty="0"/>
              <a:t>Redis</a:t>
            </a:r>
            <a:r>
              <a:rPr lang="zh-CN" altLang="en-US" dirty="0"/>
              <a:t>交易流水记录数据任务，查询渠道侧对账方对账日期的前</a:t>
            </a:r>
            <a:endParaRPr lang="en-US" altLang="zh-CN" dirty="0"/>
          </a:p>
          <a:p>
            <a:r>
              <a:rPr lang="en-US" altLang="zh-CN" dirty="0"/>
              <a:t>N</a:t>
            </a:r>
            <a:r>
              <a:rPr lang="zh-CN" altLang="en-US" dirty="0"/>
              <a:t>天的所有银行交易流水记录</a:t>
            </a:r>
            <a:r>
              <a:rPr lang="en-US" altLang="zh-CN" dirty="0"/>
              <a:t>(</a:t>
            </a:r>
            <a:r>
              <a:rPr lang="zh-CN" altLang="en-US" dirty="0"/>
              <a:t>若存在历史差异记录，则因为若</a:t>
            </a:r>
            <a:endParaRPr lang="en-US" altLang="zh-CN" dirty="0"/>
          </a:p>
          <a:p>
            <a:r>
              <a:rPr lang="zh-CN" altLang="en-US" dirty="0"/>
              <a:t>前一天对账，渠道有我司无的对账，需要重新再对</a:t>
            </a:r>
            <a:r>
              <a:rPr lang="en-US" altLang="zh-CN" dirty="0"/>
              <a:t>)</a:t>
            </a:r>
          </a:p>
          <a:p>
            <a:r>
              <a:rPr lang="en-US" altLang="zh-CN" sz="1300" dirty="0"/>
              <a:t>2</a:t>
            </a:r>
            <a:r>
              <a:rPr lang="zh-CN" altLang="en-US" sz="1300" dirty="0"/>
              <a:t>、</a:t>
            </a:r>
            <a:r>
              <a:rPr lang="zh-CN" altLang="en-US" dirty="0"/>
              <a:t>开始</a:t>
            </a:r>
            <a:r>
              <a:rPr lang="en-US" altLang="zh-CN" dirty="0"/>
              <a:t>Redis</a:t>
            </a:r>
            <a:r>
              <a:rPr lang="zh-CN" altLang="en-US" dirty="0"/>
              <a:t>明细记录对账。账平数据对账、张不平数据对账、</a:t>
            </a:r>
            <a:endParaRPr lang="en-US" altLang="zh-CN" dirty="0"/>
          </a:p>
          <a:p>
            <a:r>
              <a:rPr lang="zh-CN" altLang="en-US" dirty="0"/>
              <a:t>历史差异数据与交易流水对账</a:t>
            </a:r>
            <a:endParaRPr lang="en-US" altLang="zh-CN" dirty="0"/>
          </a:p>
          <a:p>
            <a:r>
              <a:rPr lang="en-US" altLang="zh-CN" sz="1300" dirty="0"/>
              <a:t>3</a:t>
            </a:r>
            <a:r>
              <a:rPr lang="zh-CN" altLang="en-US" sz="1300" dirty="0"/>
              <a:t>、</a:t>
            </a:r>
            <a:r>
              <a:rPr lang="zh-CN" altLang="en-US" dirty="0"/>
              <a:t>保存对账明细数据</a:t>
            </a:r>
            <a:r>
              <a:rPr lang="en-US" altLang="zh-CN" dirty="0"/>
              <a:t>(</a:t>
            </a:r>
            <a:r>
              <a:rPr lang="zh-CN" altLang="en-US" dirty="0"/>
              <a:t>通过</a:t>
            </a:r>
            <a:r>
              <a:rPr lang="en-US" altLang="zh-CN" dirty="0"/>
              <a:t>MQ</a:t>
            </a:r>
            <a:r>
              <a:rPr lang="zh-CN" altLang="en-US" dirty="0"/>
              <a:t>发送对账明细数据入库消息，由</a:t>
            </a:r>
            <a:endParaRPr lang="en-US" altLang="zh-CN" dirty="0"/>
          </a:p>
          <a:p>
            <a:r>
              <a:rPr lang="zh-CN" altLang="en-US" dirty="0"/>
              <a:t>对账核心消费此消息</a:t>
            </a:r>
            <a:r>
              <a:rPr lang="en-US" altLang="zh-CN" dirty="0"/>
              <a:t>,</a:t>
            </a:r>
            <a:r>
              <a:rPr lang="zh-CN" altLang="en-US" dirty="0"/>
              <a:t>并批量插入差异表</a:t>
            </a:r>
            <a:r>
              <a:rPr lang="en-US" altLang="zh-CN" dirty="0"/>
              <a:t>)</a:t>
            </a:r>
          </a:p>
          <a:p>
            <a:r>
              <a:rPr lang="en-US" altLang="zh-CN" sz="1300" dirty="0"/>
              <a:t>4</a:t>
            </a:r>
            <a:r>
              <a:rPr lang="zh-CN" altLang="en-US" sz="1300" dirty="0"/>
              <a:t>、</a:t>
            </a:r>
            <a:r>
              <a:rPr lang="zh-CN" altLang="en-US" dirty="0"/>
              <a:t>处理明细对账结果</a:t>
            </a:r>
            <a:r>
              <a:rPr lang="en-US" altLang="zh-CN" dirty="0"/>
              <a:t>(</a:t>
            </a:r>
            <a:r>
              <a:rPr lang="zh-CN" altLang="en-US" dirty="0"/>
              <a:t>异步发送对账结果邮件；金额不一致、渠</a:t>
            </a:r>
            <a:endParaRPr lang="en-US" altLang="zh-CN" dirty="0"/>
          </a:p>
          <a:p>
            <a:r>
              <a:rPr lang="zh-CN" altLang="en-US" dirty="0"/>
              <a:t>道无我方有记录告警；渠道有我方无差异处理</a:t>
            </a:r>
            <a:r>
              <a:rPr lang="en-US" altLang="zh-CN" dirty="0"/>
              <a:t>)</a:t>
            </a:r>
          </a:p>
          <a:p>
            <a:r>
              <a:rPr lang="en-US" altLang="zh-CN" sz="1300" dirty="0"/>
              <a:t>5</a:t>
            </a:r>
            <a:r>
              <a:rPr lang="zh-CN" altLang="en-US" sz="1300" dirty="0"/>
              <a:t>、</a:t>
            </a:r>
            <a:r>
              <a:rPr lang="zh-CN" altLang="en-US" dirty="0"/>
              <a:t>若明细对账异常，则对账失败处理</a:t>
            </a:r>
            <a:r>
              <a:rPr lang="en-US" altLang="zh-CN" dirty="0"/>
              <a:t>(</a:t>
            </a:r>
            <a:r>
              <a:rPr lang="zh-CN" altLang="en-US" dirty="0"/>
              <a:t>打印异常信息日志；异步</a:t>
            </a:r>
            <a:endParaRPr lang="en-US" altLang="zh-CN" dirty="0"/>
          </a:p>
          <a:p>
            <a:r>
              <a:rPr lang="zh-CN" altLang="en-US" dirty="0"/>
              <a:t>删除</a:t>
            </a:r>
            <a:r>
              <a:rPr lang="en-US" altLang="zh-CN" dirty="0"/>
              <a:t>Redis Key</a:t>
            </a:r>
            <a:r>
              <a:rPr lang="zh-CN" altLang="en-US" dirty="0"/>
              <a:t>本次新增对账差异数据、修改对账差异数据、修改</a:t>
            </a:r>
            <a:endParaRPr lang="en-US" altLang="zh-CN" dirty="0"/>
          </a:p>
          <a:p>
            <a:r>
              <a:rPr lang="zh-CN" altLang="en-US" dirty="0"/>
              <a:t>日切差账平差异数据；异步发送告警邮件；修改对账任务记录状</a:t>
            </a:r>
            <a:endParaRPr lang="en-US" altLang="zh-CN" dirty="0"/>
          </a:p>
          <a:p>
            <a:r>
              <a:rPr lang="zh-CN" altLang="en-US" dirty="0"/>
              <a:t>态为失败</a:t>
            </a:r>
            <a:r>
              <a:rPr lang="en-US" altLang="zh-CN" dirty="0"/>
              <a:t>)</a:t>
            </a:r>
          </a:p>
          <a:p>
            <a:r>
              <a:rPr lang="en-US" altLang="zh-CN" sz="1300" dirty="0"/>
              <a:t>6</a:t>
            </a:r>
            <a:r>
              <a:rPr lang="zh-CN" altLang="en-US" sz="1300" dirty="0"/>
              <a:t>、</a:t>
            </a:r>
            <a:r>
              <a:rPr lang="zh-CN" altLang="en-US" dirty="0"/>
              <a:t>异步清理</a:t>
            </a:r>
            <a:r>
              <a:rPr lang="en-US" altLang="zh-CN" dirty="0"/>
              <a:t>Redis</a:t>
            </a:r>
            <a:r>
              <a:rPr lang="zh-CN" altLang="en-US" dirty="0"/>
              <a:t>对账数据</a:t>
            </a:r>
            <a:endParaRPr lang="en-US" altLang="zh-CN" sz="13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8F836C-AA75-4169-B302-9D8482741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5" y="587297"/>
            <a:ext cx="2370700" cy="448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核心对账详细设计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9242C8-7DD0-4FEA-A460-168C67A5BF2F}"/>
              </a:ext>
            </a:extLst>
          </p:cNvPr>
          <p:cNvSpPr/>
          <p:nvPr/>
        </p:nvSpPr>
        <p:spPr>
          <a:xfrm>
            <a:off x="4130997" y="950557"/>
            <a:ext cx="4764446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对账请求流程：</a:t>
            </a:r>
            <a:endParaRPr lang="en-US" altLang="zh-CN" sz="1400" b="1" dirty="0"/>
          </a:p>
          <a:p>
            <a:r>
              <a:rPr lang="en-US" altLang="zh-CN" sz="1300" dirty="0"/>
              <a:t>1</a:t>
            </a:r>
            <a:r>
              <a:rPr lang="zh-CN" altLang="en-US" sz="1300" dirty="0"/>
              <a:t>、</a:t>
            </a:r>
            <a:r>
              <a:rPr lang="zh-CN" altLang="en-US" dirty="0"/>
              <a:t>请求参数验参</a:t>
            </a:r>
            <a:endParaRPr lang="en-US" altLang="zh-CN" dirty="0"/>
          </a:p>
          <a:p>
            <a:r>
              <a:rPr lang="en-US" altLang="zh-CN" sz="1300" dirty="0"/>
              <a:t>2</a:t>
            </a:r>
            <a:r>
              <a:rPr lang="zh-CN" altLang="en-US" sz="1300" dirty="0"/>
              <a:t>、</a:t>
            </a:r>
            <a:r>
              <a:rPr lang="zh-CN" altLang="en-US" dirty="0"/>
              <a:t>查询该差异记录编号对应的差异记录，并校验非空</a:t>
            </a:r>
            <a:endParaRPr lang="en-US" altLang="zh-CN" dirty="0"/>
          </a:p>
          <a:p>
            <a:r>
              <a:rPr lang="en-US" altLang="zh-CN" sz="1300" dirty="0"/>
              <a:t>3</a:t>
            </a:r>
            <a:r>
              <a:rPr lang="zh-CN" altLang="en-US" sz="1300" dirty="0"/>
              <a:t>、</a:t>
            </a:r>
            <a:r>
              <a:rPr lang="zh-CN" altLang="en-US" dirty="0"/>
              <a:t>开起事务，先更新该差异记录的处理方式为人工平账、</a:t>
            </a:r>
            <a:endParaRPr lang="en-US" altLang="zh-CN" dirty="0"/>
          </a:p>
          <a:p>
            <a:r>
              <a:rPr lang="zh-CN" altLang="en-US" dirty="0"/>
              <a:t>状态为账平</a:t>
            </a:r>
            <a:endParaRPr lang="en-US" altLang="zh-CN" dirty="0"/>
          </a:p>
          <a:p>
            <a:r>
              <a:rPr lang="en-US" altLang="zh-CN" sz="1300" dirty="0"/>
              <a:t>4</a:t>
            </a:r>
            <a:r>
              <a:rPr lang="zh-CN" altLang="en-US" sz="1300" dirty="0"/>
              <a:t>、</a:t>
            </a:r>
            <a:r>
              <a:rPr lang="zh-CN" altLang="en-US" dirty="0"/>
              <a:t>查询对账任务编号对应的有效差异记录的数目，若差异</a:t>
            </a:r>
            <a:endParaRPr lang="en-US" altLang="zh-CN" dirty="0"/>
          </a:p>
          <a:p>
            <a:r>
              <a:rPr lang="zh-CN" altLang="en-US" dirty="0"/>
              <a:t>数目大于</a:t>
            </a:r>
            <a:r>
              <a:rPr lang="en-US" altLang="zh-CN" dirty="0"/>
              <a:t>0</a:t>
            </a:r>
            <a:r>
              <a:rPr lang="zh-CN" altLang="en-US" dirty="0"/>
              <a:t>，则直接跳过</a:t>
            </a:r>
            <a:endParaRPr lang="en-US" altLang="zh-CN" dirty="0"/>
          </a:p>
          <a:p>
            <a:r>
              <a:rPr lang="en-US" altLang="zh-CN" sz="1300" dirty="0"/>
              <a:t>5</a:t>
            </a:r>
            <a:r>
              <a:rPr lang="zh-CN" altLang="en-US" sz="1300" dirty="0"/>
              <a:t>、若无差异记录，则加锁</a:t>
            </a:r>
            <a:r>
              <a:rPr lang="zh-CN" altLang="en-US" dirty="0"/>
              <a:t>查询对账任务记录</a:t>
            </a:r>
            <a:endParaRPr lang="en-US" altLang="zh-CN" dirty="0"/>
          </a:p>
          <a:p>
            <a:r>
              <a:rPr lang="en-US" altLang="zh-CN" sz="1300" dirty="0"/>
              <a:t>6</a:t>
            </a:r>
            <a:r>
              <a:rPr lang="zh-CN" altLang="en-US" sz="1300" dirty="0"/>
              <a:t>、</a:t>
            </a:r>
            <a:r>
              <a:rPr lang="zh-CN" altLang="en-US" dirty="0"/>
              <a:t>校验是否需要修改账平。校验对账任务记录是否任务进度</a:t>
            </a:r>
            <a:endParaRPr lang="en-US" altLang="zh-CN" dirty="0"/>
          </a:p>
          <a:p>
            <a:r>
              <a:rPr lang="zh-CN" altLang="en-US" dirty="0"/>
              <a:t>为对账完成、状态为已完成，且当前任务记录非账平</a:t>
            </a:r>
            <a:endParaRPr lang="en-US" altLang="zh-CN" dirty="0"/>
          </a:p>
          <a:p>
            <a:r>
              <a:rPr lang="en-US" altLang="zh-CN" sz="1300" dirty="0"/>
              <a:t>7</a:t>
            </a:r>
            <a:r>
              <a:rPr lang="zh-CN" altLang="en-US" sz="1300" dirty="0"/>
              <a:t>、若需要修改账平，则</a:t>
            </a:r>
            <a:r>
              <a:rPr lang="zh-CN" altLang="en-US" dirty="0"/>
              <a:t>修改对账任务记录为账平</a:t>
            </a:r>
            <a:endParaRPr lang="en-US" altLang="zh-CN" dirty="0"/>
          </a:p>
          <a:p>
            <a:r>
              <a:rPr lang="en-US" altLang="zh-CN" sz="1300" dirty="0"/>
              <a:t>8</a:t>
            </a:r>
            <a:r>
              <a:rPr lang="zh-CN" altLang="en-US" sz="1300" dirty="0"/>
              <a:t>、</a:t>
            </a:r>
            <a:r>
              <a:rPr lang="zh-CN" altLang="en-US" dirty="0"/>
              <a:t>查询对账结果记录，若有则修改对账结果记录为账平</a:t>
            </a:r>
            <a:endParaRPr lang="en-US" altLang="zh-CN" dirty="0"/>
          </a:p>
          <a:p>
            <a:r>
              <a:rPr lang="en-US" altLang="zh-CN" sz="1300" dirty="0"/>
              <a:t>9</a:t>
            </a:r>
            <a:r>
              <a:rPr lang="zh-CN" altLang="en-US" sz="1300" dirty="0"/>
              <a:t>、事务结束，</a:t>
            </a:r>
            <a:r>
              <a:rPr lang="zh-CN" altLang="en-US" dirty="0"/>
              <a:t>添加人工平账操作日志</a:t>
            </a:r>
            <a:r>
              <a:rPr lang="en-US" altLang="zh-CN" dirty="0"/>
              <a:t>(</a:t>
            </a:r>
            <a:r>
              <a:rPr lang="zh-CN" altLang="en-US" dirty="0"/>
              <a:t>异步</a:t>
            </a:r>
            <a:r>
              <a:rPr lang="en-US" altLang="zh-CN" dirty="0"/>
              <a:t>)</a:t>
            </a:r>
            <a:endParaRPr lang="en-US" altLang="zh-CN" sz="13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CE78C-B89A-47BA-A9A1-70DCDD90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04" y="659924"/>
            <a:ext cx="2246652" cy="44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3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5"/>
          <p:cNvSpPr>
            <a:spLocks noEditPoints="1"/>
          </p:cNvSpPr>
          <p:nvPr/>
        </p:nvSpPr>
        <p:spPr bwMode="auto">
          <a:xfrm>
            <a:off x="3027931" y="446735"/>
            <a:ext cx="3177001" cy="3300676"/>
          </a:xfrm>
          <a:custGeom>
            <a:avLst/>
            <a:gdLst>
              <a:gd name="T0" fmla="*/ 2614 w 3520"/>
              <a:gd name="T1" fmla="*/ 0 h 3078"/>
              <a:gd name="T2" fmla="*/ 3520 w 3520"/>
              <a:gd name="T3" fmla="*/ 1539 h 3078"/>
              <a:gd name="T4" fmla="*/ 2614 w 3520"/>
              <a:gd name="T5" fmla="*/ 3078 h 3078"/>
              <a:gd name="T6" fmla="*/ 906 w 3520"/>
              <a:gd name="T7" fmla="*/ 3078 h 3078"/>
              <a:gd name="T8" fmla="*/ 0 w 3520"/>
              <a:gd name="T9" fmla="*/ 1539 h 3078"/>
              <a:gd name="T10" fmla="*/ 906 w 3520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20" h="3078">
                <a:moveTo>
                  <a:pt x="2614" y="0"/>
                </a:moveTo>
                <a:cubicBezTo>
                  <a:pt x="3154" y="300"/>
                  <a:pt x="3520" y="877"/>
                  <a:pt x="3520" y="1539"/>
                </a:cubicBezTo>
                <a:cubicBezTo>
                  <a:pt x="3520" y="2201"/>
                  <a:pt x="3154" y="2778"/>
                  <a:pt x="2614" y="3078"/>
                </a:cubicBezTo>
                <a:moveTo>
                  <a:pt x="906" y="3078"/>
                </a:moveTo>
                <a:cubicBezTo>
                  <a:pt x="365" y="2778"/>
                  <a:pt x="0" y="2201"/>
                  <a:pt x="0" y="1539"/>
                </a:cubicBezTo>
                <a:cubicBezTo>
                  <a:pt x="0" y="877"/>
                  <a:pt x="365" y="300"/>
                  <a:pt x="906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" name="Freeform 26"/>
          <p:cNvSpPr>
            <a:spLocks noEditPoints="1"/>
          </p:cNvSpPr>
          <p:nvPr/>
        </p:nvSpPr>
        <p:spPr bwMode="auto">
          <a:xfrm>
            <a:off x="2682688" y="431470"/>
            <a:ext cx="3866030" cy="3300676"/>
          </a:xfrm>
          <a:custGeom>
            <a:avLst/>
            <a:gdLst>
              <a:gd name="T0" fmla="*/ 3496 w 4174"/>
              <a:gd name="T1" fmla="*/ 0 h 3078"/>
              <a:gd name="T2" fmla="*/ 4174 w 4174"/>
              <a:gd name="T3" fmla="*/ 1539 h 3078"/>
              <a:gd name="T4" fmla="*/ 3496 w 4174"/>
              <a:gd name="T5" fmla="*/ 3078 h 3078"/>
              <a:gd name="T6" fmla="*/ 677 w 4174"/>
              <a:gd name="T7" fmla="*/ 3078 h 3078"/>
              <a:gd name="T8" fmla="*/ 0 w 4174"/>
              <a:gd name="T9" fmla="*/ 1539 h 3078"/>
              <a:gd name="T10" fmla="*/ 677 w 4174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74" h="3078">
                <a:moveTo>
                  <a:pt x="3496" y="0"/>
                </a:moveTo>
                <a:cubicBezTo>
                  <a:pt x="3912" y="381"/>
                  <a:pt x="4174" y="930"/>
                  <a:pt x="4174" y="1539"/>
                </a:cubicBezTo>
                <a:cubicBezTo>
                  <a:pt x="4174" y="2148"/>
                  <a:pt x="3912" y="2697"/>
                  <a:pt x="3496" y="3078"/>
                </a:cubicBezTo>
                <a:moveTo>
                  <a:pt x="677" y="3078"/>
                </a:moveTo>
                <a:cubicBezTo>
                  <a:pt x="261" y="2697"/>
                  <a:pt x="0" y="2148"/>
                  <a:pt x="0" y="1539"/>
                </a:cubicBezTo>
                <a:cubicBezTo>
                  <a:pt x="0" y="930"/>
                  <a:pt x="261" y="381"/>
                  <a:pt x="67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6" name="Freeform 27"/>
          <p:cNvSpPr>
            <a:spLocks noEditPoints="1"/>
          </p:cNvSpPr>
          <p:nvPr/>
        </p:nvSpPr>
        <p:spPr bwMode="auto">
          <a:xfrm>
            <a:off x="2355162" y="438612"/>
            <a:ext cx="4522538" cy="3300676"/>
          </a:xfrm>
          <a:custGeom>
            <a:avLst/>
            <a:gdLst>
              <a:gd name="T0" fmla="*/ 4412 w 4949"/>
              <a:gd name="T1" fmla="*/ 0 h 3078"/>
              <a:gd name="T2" fmla="*/ 4949 w 4949"/>
              <a:gd name="T3" fmla="*/ 1539 h 3078"/>
              <a:gd name="T4" fmla="*/ 4412 w 4949"/>
              <a:gd name="T5" fmla="*/ 3078 h 3078"/>
              <a:gd name="T6" fmla="*/ 537 w 4949"/>
              <a:gd name="T7" fmla="*/ 3078 h 3078"/>
              <a:gd name="T8" fmla="*/ 0 w 4949"/>
              <a:gd name="T9" fmla="*/ 1539 h 3078"/>
              <a:gd name="T10" fmla="*/ 537 w 494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49" h="3078">
                <a:moveTo>
                  <a:pt x="4412" y="0"/>
                </a:moveTo>
                <a:cubicBezTo>
                  <a:pt x="4748" y="422"/>
                  <a:pt x="4949" y="957"/>
                  <a:pt x="4949" y="1539"/>
                </a:cubicBezTo>
                <a:cubicBezTo>
                  <a:pt x="4949" y="2121"/>
                  <a:pt x="4748" y="2656"/>
                  <a:pt x="4412" y="3078"/>
                </a:cubicBezTo>
                <a:moveTo>
                  <a:pt x="537" y="3078"/>
                </a:moveTo>
                <a:cubicBezTo>
                  <a:pt x="201" y="2656"/>
                  <a:pt x="0" y="2121"/>
                  <a:pt x="0" y="1539"/>
                </a:cubicBezTo>
                <a:cubicBezTo>
                  <a:pt x="0" y="957"/>
                  <a:pt x="201" y="422"/>
                  <a:pt x="53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7" name="Freeform 28"/>
          <p:cNvSpPr>
            <a:spLocks noEditPoints="1"/>
          </p:cNvSpPr>
          <p:nvPr/>
        </p:nvSpPr>
        <p:spPr bwMode="auto">
          <a:xfrm>
            <a:off x="1902759" y="484593"/>
            <a:ext cx="5365375" cy="3300676"/>
          </a:xfrm>
          <a:custGeom>
            <a:avLst/>
            <a:gdLst>
              <a:gd name="T0" fmla="*/ 5433 w 5869"/>
              <a:gd name="T1" fmla="*/ 0 h 3078"/>
              <a:gd name="T2" fmla="*/ 5869 w 5869"/>
              <a:gd name="T3" fmla="*/ 1539 h 3078"/>
              <a:gd name="T4" fmla="*/ 5433 w 5869"/>
              <a:gd name="T5" fmla="*/ 3078 h 3078"/>
              <a:gd name="T6" fmla="*/ 436 w 5869"/>
              <a:gd name="T7" fmla="*/ 3078 h 3078"/>
              <a:gd name="T8" fmla="*/ 0 w 5869"/>
              <a:gd name="T9" fmla="*/ 1539 h 3078"/>
              <a:gd name="T10" fmla="*/ 436 w 586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69" h="3078">
                <a:moveTo>
                  <a:pt x="5433" y="0"/>
                </a:moveTo>
                <a:cubicBezTo>
                  <a:pt x="5709" y="447"/>
                  <a:pt x="5869" y="974"/>
                  <a:pt x="5869" y="1539"/>
                </a:cubicBezTo>
                <a:cubicBezTo>
                  <a:pt x="5869" y="2103"/>
                  <a:pt x="5709" y="2631"/>
                  <a:pt x="5433" y="3078"/>
                </a:cubicBezTo>
                <a:moveTo>
                  <a:pt x="436" y="3078"/>
                </a:moveTo>
                <a:cubicBezTo>
                  <a:pt x="160" y="2631"/>
                  <a:pt x="0" y="2103"/>
                  <a:pt x="0" y="1539"/>
                </a:cubicBezTo>
                <a:cubicBezTo>
                  <a:pt x="0" y="974"/>
                  <a:pt x="160" y="447"/>
                  <a:pt x="436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8" name="Freeform 29"/>
          <p:cNvSpPr>
            <a:spLocks noEditPoints="1"/>
          </p:cNvSpPr>
          <p:nvPr/>
        </p:nvSpPr>
        <p:spPr bwMode="auto">
          <a:xfrm>
            <a:off x="1431315" y="447994"/>
            <a:ext cx="6281365" cy="3300676"/>
          </a:xfrm>
          <a:custGeom>
            <a:avLst/>
            <a:gdLst>
              <a:gd name="T0" fmla="*/ 6600 w 6959"/>
              <a:gd name="T1" fmla="*/ 0 h 3078"/>
              <a:gd name="T2" fmla="*/ 6959 w 6959"/>
              <a:gd name="T3" fmla="*/ 1539 h 3078"/>
              <a:gd name="T4" fmla="*/ 6600 w 6959"/>
              <a:gd name="T5" fmla="*/ 3078 h 3078"/>
              <a:gd name="T6" fmla="*/ 359 w 6959"/>
              <a:gd name="T7" fmla="*/ 3078 h 3078"/>
              <a:gd name="T8" fmla="*/ 0 w 6959"/>
              <a:gd name="T9" fmla="*/ 1539 h 3078"/>
              <a:gd name="T10" fmla="*/ 359 w 695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959" h="3078">
                <a:moveTo>
                  <a:pt x="6600" y="0"/>
                </a:moveTo>
                <a:cubicBezTo>
                  <a:pt x="6830" y="464"/>
                  <a:pt x="6959" y="986"/>
                  <a:pt x="6959" y="1539"/>
                </a:cubicBezTo>
                <a:cubicBezTo>
                  <a:pt x="6959" y="2092"/>
                  <a:pt x="6830" y="2614"/>
                  <a:pt x="6600" y="3078"/>
                </a:cubicBezTo>
                <a:moveTo>
                  <a:pt x="359" y="3078"/>
                </a:moveTo>
                <a:cubicBezTo>
                  <a:pt x="129" y="2614"/>
                  <a:pt x="0" y="2092"/>
                  <a:pt x="0" y="1539"/>
                </a:cubicBezTo>
                <a:cubicBezTo>
                  <a:pt x="0" y="986"/>
                  <a:pt x="129" y="464"/>
                  <a:pt x="359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9" name="Freeform 30"/>
          <p:cNvSpPr>
            <a:spLocks noEditPoints="1"/>
          </p:cNvSpPr>
          <p:nvPr/>
        </p:nvSpPr>
        <p:spPr bwMode="auto">
          <a:xfrm>
            <a:off x="847834" y="492716"/>
            <a:ext cx="7448329" cy="3300676"/>
          </a:xfrm>
          <a:custGeom>
            <a:avLst/>
            <a:gdLst>
              <a:gd name="T0" fmla="*/ 7954 w 8251"/>
              <a:gd name="T1" fmla="*/ 0 h 3078"/>
              <a:gd name="T2" fmla="*/ 8251 w 8251"/>
              <a:gd name="T3" fmla="*/ 1539 h 3078"/>
              <a:gd name="T4" fmla="*/ 7954 w 8251"/>
              <a:gd name="T5" fmla="*/ 3078 h 3078"/>
              <a:gd name="T6" fmla="*/ 297 w 8251"/>
              <a:gd name="T7" fmla="*/ 3078 h 3078"/>
              <a:gd name="T8" fmla="*/ 0 w 8251"/>
              <a:gd name="T9" fmla="*/ 1539 h 3078"/>
              <a:gd name="T10" fmla="*/ 297 w 8251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251" h="3078">
                <a:moveTo>
                  <a:pt x="7954" y="0"/>
                </a:moveTo>
                <a:cubicBezTo>
                  <a:pt x="8146" y="475"/>
                  <a:pt x="8251" y="995"/>
                  <a:pt x="8251" y="1539"/>
                </a:cubicBezTo>
                <a:cubicBezTo>
                  <a:pt x="8251" y="2083"/>
                  <a:pt x="8146" y="2602"/>
                  <a:pt x="7954" y="3078"/>
                </a:cubicBezTo>
                <a:moveTo>
                  <a:pt x="297" y="3078"/>
                </a:moveTo>
                <a:cubicBezTo>
                  <a:pt x="106" y="2602"/>
                  <a:pt x="0" y="2083"/>
                  <a:pt x="0" y="1539"/>
                </a:cubicBezTo>
                <a:cubicBezTo>
                  <a:pt x="0" y="995"/>
                  <a:pt x="106" y="475"/>
                  <a:pt x="29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707880" y="1145095"/>
            <a:ext cx="1728225" cy="1728000"/>
            <a:chOff x="1827613" y="953180"/>
            <a:chExt cx="2304000" cy="2304000"/>
          </a:xfrm>
        </p:grpSpPr>
        <p:sp>
          <p:nvSpPr>
            <p:cNvPr id="11" name="椭圆 10"/>
            <p:cNvSpPr/>
            <p:nvPr/>
          </p:nvSpPr>
          <p:spPr>
            <a:xfrm>
              <a:off x="1827613" y="953180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635000" dist="762000" dir="7800000" sx="88000" sy="88000" algn="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877473" y="1015039"/>
              <a:ext cx="2204282" cy="2204283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800" b="1" dirty="0">
                  <a:solidFill>
                    <a:srgbClr val="6C407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性能调优</a:t>
              </a:r>
              <a:endParaRPr lang="zh-CN" altLang="en-US" sz="1800" b="1" dirty="0">
                <a:solidFill>
                  <a:srgbClr val="FFA5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TextBox 26"/>
          <p:cNvSpPr txBox="1"/>
          <p:nvPr/>
        </p:nvSpPr>
        <p:spPr>
          <a:xfrm>
            <a:off x="2947404" y="3547418"/>
            <a:ext cx="1375693" cy="276504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 </a:t>
            </a:r>
            <a:r>
              <a:rPr lang="en-US" altLang="zh-CN" sz="1400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400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14" name="TextBox 27"/>
          <p:cNvSpPr txBox="1"/>
          <p:nvPr/>
        </p:nvSpPr>
        <p:spPr>
          <a:xfrm>
            <a:off x="4666883" y="3547418"/>
            <a:ext cx="1728225" cy="276504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pPr defTabSz="914400">
              <a:defRPr/>
            </a:pPr>
            <a:r>
              <a:rPr lang="zh-CN" altLang="en-US" sz="1400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en-US" altLang="zh-CN" sz="1400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1400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应用优化</a:t>
            </a:r>
          </a:p>
        </p:txBody>
      </p:sp>
      <p:sp>
        <p:nvSpPr>
          <p:cNvPr id="15" name="TextBox 28"/>
          <p:cNvSpPr txBox="1"/>
          <p:nvPr/>
        </p:nvSpPr>
        <p:spPr>
          <a:xfrm>
            <a:off x="2938660" y="3945700"/>
            <a:ext cx="1728224" cy="276504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pPr lvl="0" defTabSz="914400">
              <a:defRPr/>
            </a:pPr>
            <a:r>
              <a:rPr lang="zh-CN" altLang="en-US" sz="1400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 线程池应用优化</a:t>
            </a:r>
          </a:p>
        </p:txBody>
      </p:sp>
      <p:sp>
        <p:nvSpPr>
          <p:cNvPr id="16" name="TextBox 29"/>
          <p:cNvSpPr txBox="1"/>
          <p:nvPr/>
        </p:nvSpPr>
        <p:spPr>
          <a:xfrm>
            <a:off x="4666883" y="3949363"/>
            <a:ext cx="1538049" cy="276504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pPr defTabSz="914400">
              <a:defRPr/>
            </a:pPr>
            <a:r>
              <a:rPr lang="zh-CN" altLang="en-US" sz="1400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r>
              <a:rPr lang="en-US" altLang="zh-CN" sz="1400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JVM</a:t>
            </a:r>
            <a:r>
              <a:rPr lang="zh-CN" altLang="en-US" sz="1400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调优</a:t>
            </a:r>
          </a:p>
        </p:txBody>
      </p:sp>
    </p:spTree>
    <p:extLst>
      <p:ext uri="{BB962C8B-B14F-4D97-AF65-F5344CB8AC3E}">
        <p14:creationId xmlns:p14="http://schemas.microsoft.com/office/powerpoint/2010/main" val="164589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3" grpId="0"/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DB55B2-354F-49BD-89DD-48020E8D2468}"/>
              </a:ext>
            </a:extLst>
          </p:cNvPr>
          <p:cNvSpPr/>
          <p:nvPr/>
        </p:nvSpPr>
        <p:spPr>
          <a:xfrm>
            <a:off x="133812" y="866300"/>
            <a:ext cx="74382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索引优化：</a:t>
            </a:r>
            <a:endParaRPr lang="en-US" altLang="zh-CN" sz="1400" b="1" dirty="0"/>
          </a:p>
          <a:p>
            <a:r>
              <a:rPr lang="en-US" altLang="zh-CN" sz="1300" dirty="0"/>
              <a:t>1</a:t>
            </a:r>
            <a:r>
              <a:rPr lang="zh-CN" altLang="en-US" sz="1300" dirty="0"/>
              <a:t>、对账差异表，根据当前对账任务记录的对账左方、对账右方编码，查询所有的历史对账差异记录</a:t>
            </a:r>
            <a:endParaRPr lang="en-US" altLang="zh-CN" sz="1300" dirty="0"/>
          </a:p>
          <a:p>
            <a:r>
              <a:rPr lang="en-US" altLang="zh-CN" sz="1300" dirty="0"/>
              <a:t>(</a:t>
            </a:r>
            <a:r>
              <a:rPr lang="zh-CN" altLang="en-US" sz="1300" dirty="0"/>
              <a:t>防止对账数据重复入库、日切差数据对账</a:t>
            </a:r>
            <a:r>
              <a:rPr lang="en-US" altLang="zh-CN" sz="1300" dirty="0"/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31B694-C07D-4DEA-956D-054D44492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58" y="3215490"/>
            <a:ext cx="8779725" cy="168202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D8A166-E1B0-4072-B18A-D967A11A54B8}"/>
              </a:ext>
            </a:extLst>
          </p:cNvPr>
          <p:cNvSpPr/>
          <p:nvPr/>
        </p:nvSpPr>
        <p:spPr>
          <a:xfrm>
            <a:off x="133812" y="2907713"/>
            <a:ext cx="78950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2</a:t>
            </a:r>
            <a:r>
              <a:rPr lang="zh-CN" altLang="en-US" sz="1400" dirty="0"/>
              <a:t>、对账差异表，查询当前对账任务对账日期前</a:t>
            </a:r>
            <a:r>
              <a:rPr lang="en-US" altLang="zh-CN" sz="1400" dirty="0"/>
              <a:t>N</a:t>
            </a:r>
            <a:r>
              <a:rPr lang="zh-CN" altLang="en-US" sz="1400" dirty="0"/>
              <a:t>天历史账平记录</a:t>
            </a:r>
            <a:r>
              <a:rPr lang="en-US" altLang="zh-CN" sz="1400" dirty="0"/>
              <a:t>(</a:t>
            </a:r>
            <a:r>
              <a:rPr lang="zh-CN" altLang="en-US" sz="1400" dirty="0"/>
              <a:t>防止对账数据重复入库</a:t>
            </a:r>
            <a:r>
              <a:rPr lang="en-US" altLang="zh-CN" sz="1400" dirty="0"/>
              <a:t>)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EA04AB0-0E90-4781-BB9A-952E7B1B9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58" y="1574185"/>
            <a:ext cx="8779725" cy="125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DB55B2-354F-49BD-89DD-48020E8D2468}"/>
              </a:ext>
            </a:extLst>
          </p:cNvPr>
          <p:cNvSpPr/>
          <p:nvPr/>
        </p:nvSpPr>
        <p:spPr>
          <a:xfrm>
            <a:off x="133812" y="713785"/>
            <a:ext cx="664797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索引优化：</a:t>
            </a:r>
            <a:endParaRPr lang="en-US" altLang="zh-CN" sz="1400" b="1" dirty="0"/>
          </a:p>
          <a:p>
            <a:r>
              <a:rPr lang="en-US" altLang="zh-CN" sz="1300" dirty="0"/>
              <a:t>3</a:t>
            </a:r>
            <a:r>
              <a:rPr lang="zh-CN" altLang="en-US" sz="1300" dirty="0"/>
              <a:t>、银行流水表，从库查询当前对账任务对账日期前</a:t>
            </a:r>
            <a:r>
              <a:rPr lang="en-US" altLang="zh-CN" sz="1300" dirty="0"/>
              <a:t>N</a:t>
            </a:r>
            <a:r>
              <a:rPr lang="zh-CN" altLang="en-US" sz="1300" dirty="0"/>
              <a:t>天的交易流水记录</a:t>
            </a:r>
            <a:r>
              <a:rPr lang="en-US" altLang="zh-CN" sz="1300" dirty="0"/>
              <a:t>(</a:t>
            </a:r>
            <a:r>
              <a:rPr lang="zh-CN" altLang="en-US" sz="1300" dirty="0"/>
              <a:t>日切差数据对账</a:t>
            </a:r>
            <a:r>
              <a:rPr lang="en-US" altLang="zh-CN" sz="1300" dirty="0"/>
              <a:t>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D8A166-E1B0-4072-B18A-D967A11A54B8}"/>
              </a:ext>
            </a:extLst>
          </p:cNvPr>
          <p:cNvSpPr/>
          <p:nvPr/>
        </p:nvSpPr>
        <p:spPr>
          <a:xfrm>
            <a:off x="133812" y="2533684"/>
            <a:ext cx="78950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4</a:t>
            </a:r>
            <a:r>
              <a:rPr lang="zh-CN" altLang="en-US" sz="1400" dirty="0"/>
              <a:t>、对账差异表，</a:t>
            </a:r>
            <a:r>
              <a:rPr lang="en-US" altLang="zh-CN" sz="1400" dirty="0"/>
              <a:t>BG</a:t>
            </a:r>
            <a:r>
              <a:rPr lang="zh-CN" altLang="en-US" sz="1400" dirty="0"/>
              <a:t>后台根据对账任务编号查询对账差异记录</a:t>
            </a:r>
            <a:endParaRPr lang="en-US" altLang="zh-CN" sz="1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1E0F15F-3C00-4D1C-B8F5-8C82DB4EA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58" y="1177247"/>
            <a:ext cx="8779725" cy="12437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D7CBF6A-50E2-4425-BE2C-130412187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58" y="2817936"/>
            <a:ext cx="8779725" cy="93715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22647BD-D9FD-48F5-A2FC-5871B0210EC8}"/>
              </a:ext>
            </a:extLst>
          </p:cNvPr>
          <p:cNvSpPr/>
          <p:nvPr/>
        </p:nvSpPr>
        <p:spPr>
          <a:xfrm>
            <a:off x="133812" y="3844239"/>
            <a:ext cx="78950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5</a:t>
            </a:r>
            <a:r>
              <a:rPr lang="zh-CN" altLang="en-US" sz="1400" dirty="0"/>
              <a:t>、对账差异表，</a:t>
            </a:r>
            <a:r>
              <a:rPr lang="en-US" altLang="zh-CN" sz="1400" dirty="0"/>
              <a:t>BG</a:t>
            </a:r>
            <a:r>
              <a:rPr lang="zh-CN" altLang="en-US" sz="1400" dirty="0"/>
              <a:t>后台根据对账左方或对账右方订单号查询对账差异记录</a:t>
            </a:r>
            <a:endParaRPr lang="en-US" altLang="zh-CN" sz="1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6D55DA2-2343-4143-B41C-18C61EBF6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77" y="4152016"/>
            <a:ext cx="8779725" cy="9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0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820338-EEDC-4B9C-8466-3D8D96622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48" y="2884716"/>
            <a:ext cx="3422530" cy="213333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BD2FADA-B29E-43EC-BF9A-E558C4A09C96}"/>
              </a:ext>
            </a:extLst>
          </p:cNvPr>
          <p:cNvSpPr/>
          <p:nvPr/>
        </p:nvSpPr>
        <p:spPr>
          <a:xfrm>
            <a:off x="118945" y="753525"/>
            <a:ext cx="342996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/>
              <a:t>流式查询：</a:t>
            </a:r>
            <a:endParaRPr lang="en-US" altLang="zh-CN" sz="1400" b="1" dirty="0"/>
          </a:p>
          <a:p>
            <a:r>
              <a:rPr lang="en-US" altLang="zh-CN" dirty="0"/>
              <a:t>         </a:t>
            </a:r>
            <a:r>
              <a:rPr lang="zh-CN" altLang="en-US" dirty="0"/>
              <a:t>当结果从</a:t>
            </a:r>
            <a:r>
              <a:rPr lang="en-US" altLang="zh-CN" dirty="0" err="1"/>
              <a:t>myql</a:t>
            </a:r>
            <a:r>
              <a:rPr lang="zh-CN" altLang="en-US" dirty="0"/>
              <a:t>服务端返回后立即对其进行处理，这样就不需要大量内存来存储这个结果集</a:t>
            </a:r>
            <a:r>
              <a:rPr lang="zh-CN" altLang="en-US" sz="1300" dirty="0"/>
              <a:t>，</a:t>
            </a:r>
            <a:r>
              <a:rPr lang="zh-CN" altLang="en-US" b="1" dirty="0"/>
              <a:t>避免数据量过大导致</a:t>
            </a:r>
            <a:r>
              <a:rPr lang="en-US" altLang="zh-CN" b="1" dirty="0"/>
              <a:t>OOM</a:t>
            </a:r>
            <a:r>
              <a:rPr lang="zh-CN" altLang="en-US" b="1" dirty="0"/>
              <a:t>。</a:t>
            </a:r>
            <a:r>
              <a:rPr lang="en-US" altLang="zh-CN" dirty="0"/>
              <a:t>MYSQL</a:t>
            </a:r>
            <a:r>
              <a:rPr lang="zh-CN" altLang="en-US" dirty="0"/>
              <a:t>驱动默认的行为是需要把整个结果全部读取到内存中，才开始允许应用读取结果。</a:t>
            </a:r>
            <a:endParaRPr lang="en-US" altLang="zh-CN" dirty="0"/>
          </a:p>
          <a:p>
            <a:r>
              <a:rPr lang="zh-CN" altLang="en-US" sz="1400" dirty="0">
                <a:latin typeface="+mn-ea"/>
              </a:rPr>
              <a:t>    </a:t>
            </a:r>
            <a:r>
              <a:rPr lang="zh-CN" altLang="en-US" dirty="0"/>
              <a:t>结果集类型为</a:t>
            </a:r>
            <a:r>
              <a:rPr lang="en-US" altLang="zh-CN" dirty="0"/>
              <a:t>forward-only</a:t>
            </a:r>
            <a:r>
              <a:rPr lang="zh-CN" altLang="en-US" dirty="0"/>
              <a:t>、当前结果集为</a:t>
            </a:r>
            <a:r>
              <a:rPr lang="en-US" altLang="zh-CN" dirty="0"/>
              <a:t>read-only</a:t>
            </a:r>
            <a:r>
              <a:rPr lang="zh-CN" altLang="en-US" dirty="0"/>
              <a:t>、</a:t>
            </a:r>
            <a:r>
              <a:rPr lang="en-US" altLang="zh-CN" dirty="0" err="1"/>
              <a:t>fetchSizeInteger.MIN_VALUE</a:t>
            </a:r>
            <a:endParaRPr lang="zh-CN" altLang="en-US" dirty="0"/>
          </a:p>
          <a:p>
            <a:endParaRPr lang="en-US" altLang="zh-CN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0C003C5-1A08-4AFE-A374-950BDAA79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668" y="892098"/>
            <a:ext cx="5390387" cy="412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9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105663" y="395365"/>
            <a:ext cx="4041491" cy="49782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流式查询：</a:t>
            </a:r>
            <a:endParaRPr lang="en-US" altLang="zh-CN" sz="1400" b="1" dirty="0"/>
          </a:p>
          <a:p>
            <a:r>
              <a:rPr lang="en-US" altLang="zh-CN" dirty="0"/>
              <a:t>          </a:t>
            </a:r>
            <a:r>
              <a:rPr lang="en-US" altLang="zh-CN" sz="1200" dirty="0"/>
              <a:t>There are some caveats with this approach. You must </a:t>
            </a:r>
          </a:p>
          <a:p>
            <a:r>
              <a:rPr lang="en-US" altLang="zh-CN" sz="1200" dirty="0"/>
              <a:t>read all of the rows in the result set (or close it) before you </a:t>
            </a:r>
          </a:p>
          <a:p>
            <a:r>
              <a:rPr lang="en-US" altLang="zh-CN" sz="1200" dirty="0"/>
              <a:t>can issue any other queries on the connection, or an </a:t>
            </a:r>
          </a:p>
          <a:p>
            <a:r>
              <a:rPr lang="en-US" altLang="zh-CN" sz="1200" dirty="0"/>
              <a:t>exception will be thrown.</a:t>
            </a:r>
          </a:p>
          <a:p>
            <a:r>
              <a:rPr lang="zh-CN" altLang="en-US" sz="1200" dirty="0"/>
              <a:t>         当通过流式查询获取一个</a:t>
            </a:r>
            <a:r>
              <a:rPr lang="en-US" altLang="zh-CN" sz="1200" dirty="0" err="1"/>
              <a:t>ResultSet</a:t>
            </a:r>
            <a:r>
              <a:rPr lang="zh-CN" altLang="en-US" sz="1200" dirty="0"/>
              <a:t>后，在你通过</a:t>
            </a:r>
            <a:r>
              <a:rPr lang="en-US" altLang="zh-CN" sz="1200" dirty="0"/>
              <a:t>next</a:t>
            </a:r>
          </a:p>
          <a:p>
            <a:r>
              <a:rPr lang="zh-CN" altLang="en-US" sz="1200" dirty="0"/>
              <a:t>迭代出所有元素之前或者调用</a:t>
            </a:r>
            <a:r>
              <a:rPr lang="en-US" altLang="zh-CN" sz="1200" dirty="0"/>
              <a:t>close</a:t>
            </a:r>
            <a:r>
              <a:rPr lang="zh-CN" altLang="en-US" sz="1200" dirty="0"/>
              <a:t>关闭它之前，你不能</a:t>
            </a:r>
            <a:endParaRPr lang="en-US" altLang="zh-CN" sz="1200" dirty="0"/>
          </a:p>
          <a:p>
            <a:r>
              <a:rPr lang="zh-CN" altLang="en-US" sz="1200" dirty="0"/>
              <a:t>使用同一个数据库连接去发起另外一个查询，否者抛出</a:t>
            </a:r>
            <a:endParaRPr lang="en-US" altLang="zh-CN" sz="1200" dirty="0"/>
          </a:p>
          <a:p>
            <a:r>
              <a:rPr lang="zh-CN" altLang="en-US" sz="1200" dirty="0"/>
              <a:t>异常（第一次调用的正常，第二次的抛出异常）。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en-US" altLang="zh-CN" sz="1200" dirty="0"/>
              <a:t>          Therefore, if using streaming results, process them as </a:t>
            </a:r>
          </a:p>
          <a:p>
            <a:r>
              <a:rPr lang="en-US" altLang="zh-CN" sz="1200" dirty="0"/>
              <a:t>quickly as possible if you want to maintain concurrent access </a:t>
            </a:r>
          </a:p>
          <a:p>
            <a:r>
              <a:rPr lang="en-US" altLang="zh-CN" sz="1200" dirty="0"/>
              <a:t>to the tables referenced by the statement producing the </a:t>
            </a:r>
          </a:p>
          <a:p>
            <a:r>
              <a:rPr lang="en-US" altLang="zh-CN" sz="1200" dirty="0"/>
              <a:t>result set.</a:t>
            </a:r>
          </a:p>
          <a:p>
            <a:r>
              <a:rPr lang="zh-CN" altLang="en-US" sz="1200" dirty="0"/>
              <a:t>         如果你想要保持访问表并发量，那么就要尽可能快的</a:t>
            </a:r>
            <a:endParaRPr lang="en-US" altLang="zh-CN" sz="1200" dirty="0"/>
          </a:p>
          <a:p>
            <a:r>
              <a:rPr lang="zh-CN" altLang="en-US" sz="1200" dirty="0"/>
              <a:t>把流式</a:t>
            </a:r>
            <a:r>
              <a:rPr lang="en-US" altLang="zh-CN" sz="1200" dirty="0" err="1"/>
              <a:t>Resultset</a:t>
            </a:r>
            <a:r>
              <a:rPr lang="zh-CN" altLang="en-US" sz="1200" dirty="0"/>
              <a:t>内容处理完毕。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dirty="0"/>
              <a:t>         之所以有这个限制是因为非游标情况下我们在得到</a:t>
            </a:r>
            <a:endParaRPr lang="en-US" altLang="zh-CN" sz="1200" dirty="0"/>
          </a:p>
          <a:p>
            <a:r>
              <a:rPr lang="en-US" altLang="zh-CN" sz="1200" dirty="0" err="1"/>
              <a:t>resultset</a:t>
            </a:r>
            <a:r>
              <a:rPr lang="zh-CN" altLang="en-US" sz="1200" dirty="0"/>
              <a:t>后，</a:t>
            </a:r>
            <a:r>
              <a:rPr lang="en-US" altLang="zh-CN" sz="1200" dirty="0" err="1"/>
              <a:t>mysqlclient</a:t>
            </a:r>
            <a:r>
              <a:rPr lang="zh-CN" altLang="en-US" sz="1200" dirty="0"/>
              <a:t>已经把数据全部放到了</a:t>
            </a:r>
            <a:r>
              <a:rPr lang="en-US" altLang="zh-CN" sz="1200" dirty="0" err="1"/>
              <a:t>resultset</a:t>
            </a:r>
            <a:r>
              <a:rPr lang="zh-CN" altLang="en-US" sz="1200" dirty="0"/>
              <a:t>，</a:t>
            </a:r>
            <a:endParaRPr lang="en-US" altLang="zh-CN" sz="1200" dirty="0"/>
          </a:p>
          <a:p>
            <a:r>
              <a:rPr lang="zh-CN" altLang="en-US" sz="1200" dirty="0"/>
              <a:t>所以这时候该数据库连接就空闲了，所以可以去执行其</a:t>
            </a:r>
            <a:endParaRPr lang="en-US" altLang="zh-CN" sz="1200" dirty="0"/>
          </a:p>
          <a:p>
            <a:r>
              <a:rPr lang="zh-CN" altLang="en-US" sz="1200" dirty="0"/>
              <a:t>他查询，而流式查询时候返回给我们</a:t>
            </a:r>
            <a:r>
              <a:rPr lang="en-US" altLang="zh-CN" sz="1200" dirty="0" err="1"/>
              <a:t>Resultset</a:t>
            </a:r>
            <a:r>
              <a:rPr lang="zh-CN" altLang="en-US" sz="1200" dirty="0"/>
              <a:t>后，所有</a:t>
            </a:r>
            <a:endParaRPr lang="en-US" altLang="zh-CN" sz="1200" dirty="0"/>
          </a:p>
          <a:p>
            <a:r>
              <a:rPr lang="zh-CN" altLang="en-US" sz="1200" dirty="0"/>
              <a:t>数据并不都在</a:t>
            </a:r>
            <a:r>
              <a:rPr lang="en-US" altLang="zh-CN" sz="1200" dirty="0" err="1"/>
              <a:t>Resultset</a:t>
            </a:r>
            <a:r>
              <a:rPr lang="zh-CN" altLang="en-US" sz="1200" dirty="0"/>
              <a:t>，当我们调用</a:t>
            </a:r>
            <a:r>
              <a:rPr lang="en-US" altLang="zh-CN" sz="1200" dirty="0"/>
              <a:t>next</a:t>
            </a:r>
            <a:r>
              <a:rPr lang="zh-CN" altLang="en-US" sz="1200" dirty="0"/>
              <a:t>时候需要使用数</a:t>
            </a:r>
            <a:endParaRPr lang="en-US" altLang="zh-CN" sz="1200" dirty="0"/>
          </a:p>
          <a:p>
            <a:r>
              <a:rPr lang="zh-CN" altLang="en-US" sz="1200" dirty="0"/>
              <a:t>据库连接从</a:t>
            </a:r>
            <a:r>
              <a:rPr lang="en-US" altLang="zh-CN" sz="1200" dirty="0"/>
              <a:t>Server</a:t>
            </a:r>
            <a:r>
              <a:rPr lang="zh-CN" altLang="en-US" sz="1200" dirty="0"/>
              <a:t>获取数据，所以在整个数据访问完毕</a:t>
            </a:r>
            <a:endParaRPr lang="en-US" altLang="zh-CN" sz="1200" dirty="0"/>
          </a:p>
          <a:p>
            <a:r>
              <a:rPr lang="zh-CN" altLang="en-US" sz="1200" dirty="0"/>
              <a:t>之前这个连接一直被占用，所以才有了同一个连接在游</a:t>
            </a:r>
            <a:endParaRPr lang="en-US" altLang="zh-CN" sz="1200" dirty="0"/>
          </a:p>
          <a:p>
            <a:r>
              <a:rPr lang="zh-CN" altLang="en-US" sz="1200" dirty="0"/>
              <a:t>标迭代数据过程中不能被复用的注意事项。</a:t>
            </a:r>
          </a:p>
          <a:p>
            <a:endParaRPr lang="en-US" altLang="zh-CN" sz="1400" b="1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23E3C0-3C67-48E3-BD8A-1B66FC2E3E5D}"/>
              </a:ext>
            </a:extLst>
          </p:cNvPr>
          <p:cNvSpPr/>
          <p:nvPr/>
        </p:nvSpPr>
        <p:spPr>
          <a:xfrm>
            <a:off x="4303751" y="617364"/>
            <a:ext cx="47804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+mn-ea"/>
              </a:rPr>
              <a:t>reconciliation-core-common.xml:</a:t>
            </a:r>
          </a:p>
          <a:p>
            <a:r>
              <a:rPr lang="en-US" altLang="zh-CN" sz="1400" dirty="0">
                <a:latin typeface="+mn-ea"/>
              </a:rPr>
              <a:t>    </a:t>
            </a:r>
            <a:r>
              <a:rPr lang="zh-CN" altLang="en-US" sz="1200" dirty="0"/>
              <a:t>泄露连接的超时时间为</a:t>
            </a:r>
            <a:r>
              <a:rPr lang="en-US" altLang="zh-CN" sz="1200" dirty="0"/>
              <a:t>600</a:t>
            </a:r>
            <a:r>
              <a:rPr lang="zh-CN" altLang="en-US" sz="1200" dirty="0"/>
              <a:t>秒，涉及对账时流式查询耗时稍长。</a:t>
            </a:r>
            <a:endParaRPr lang="en-US" altLang="zh-CN" sz="1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4764FF3-FECB-467B-848C-A2E5E35C4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829" y="1127247"/>
            <a:ext cx="4297556" cy="396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7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105663" y="395365"/>
            <a:ext cx="340349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流式查询：</a:t>
            </a:r>
            <a:endParaRPr lang="en-US" altLang="zh-CN" sz="1400" b="1" dirty="0"/>
          </a:p>
          <a:p>
            <a:r>
              <a:rPr lang="en-US" altLang="zh-CN" sz="1400" dirty="0" err="1">
                <a:latin typeface="+mn-ea"/>
              </a:rPr>
              <a:t>com.mysql.jdbc.PreparedStatement</a:t>
            </a:r>
            <a:r>
              <a:rPr lang="zh-CN" altLang="en-US" sz="1400" dirty="0">
                <a:latin typeface="+mn-ea"/>
              </a:rPr>
              <a:t>类</a:t>
            </a:r>
            <a:r>
              <a:rPr lang="en-US" altLang="zh-CN" sz="1400" dirty="0">
                <a:latin typeface="+mn-ea"/>
              </a:rPr>
              <a:t>:</a:t>
            </a:r>
          </a:p>
          <a:p>
            <a:endParaRPr lang="en-US" altLang="zh-CN" sz="1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CDC1298-944B-44A3-9E21-E0B47AA5F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05" y="894362"/>
            <a:ext cx="3876908" cy="419059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938AD66-5779-47A2-BAEE-12E510884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502" y="1427356"/>
            <a:ext cx="4640494" cy="365759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8252F19-5369-4B3A-9640-5E344F495638}"/>
              </a:ext>
            </a:extLst>
          </p:cNvPr>
          <p:cNvSpPr/>
          <p:nvPr/>
        </p:nvSpPr>
        <p:spPr>
          <a:xfrm>
            <a:off x="4215161" y="582497"/>
            <a:ext cx="473183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+mn-ea"/>
              </a:rPr>
              <a:t>com.mysql.jdbc.StatementImpl</a:t>
            </a:r>
            <a:r>
              <a:rPr lang="zh-CN" altLang="en-US" sz="1400" dirty="0">
                <a:latin typeface="+mn-ea"/>
              </a:rPr>
              <a:t>类：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    </a:t>
            </a:r>
            <a:r>
              <a:rPr lang="en-US" altLang="zh-CN" sz="1200" dirty="0" err="1">
                <a:latin typeface="+mn-ea"/>
              </a:rPr>
              <a:t>mysql</a:t>
            </a:r>
            <a:r>
              <a:rPr lang="zh-CN" altLang="en-US" sz="1200" dirty="0">
                <a:latin typeface="+mn-ea"/>
              </a:rPr>
              <a:t>判断是否开启流式读取结果的方法，有三个条件结果集类型是否为</a:t>
            </a:r>
            <a:r>
              <a:rPr lang="en-US" altLang="zh-CN" sz="1200" dirty="0">
                <a:latin typeface="+mn-ea"/>
              </a:rPr>
              <a:t>forward-only</a:t>
            </a:r>
            <a:r>
              <a:rPr lang="zh-CN" altLang="en-US" sz="1200" dirty="0">
                <a:latin typeface="+mn-ea"/>
              </a:rPr>
              <a:t>、当前结果集是否为</a:t>
            </a:r>
            <a:r>
              <a:rPr lang="en-US" altLang="zh-CN" sz="1200" dirty="0">
                <a:latin typeface="+mn-ea"/>
              </a:rPr>
              <a:t>read-only</a:t>
            </a:r>
            <a:r>
              <a:rPr lang="zh-CN" altLang="en-US" sz="1200" dirty="0">
                <a:latin typeface="+mn-ea"/>
              </a:rPr>
              <a:t>、</a:t>
            </a:r>
            <a:r>
              <a:rPr lang="en-US" altLang="zh-CN" sz="1200" dirty="0" err="1">
                <a:latin typeface="+mn-ea"/>
              </a:rPr>
              <a:t>fetchSize</a:t>
            </a:r>
            <a:r>
              <a:rPr lang="zh-CN" altLang="en-US" sz="1200" dirty="0">
                <a:latin typeface="+mn-ea"/>
              </a:rPr>
              <a:t>值为</a:t>
            </a:r>
            <a:r>
              <a:rPr lang="en-US" altLang="zh-CN" sz="1200" dirty="0" err="1">
                <a:latin typeface="+mn-ea"/>
              </a:rPr>
              <a:t>Integer.MIN_VALUE</a:t>
            </a:r>
            <a:r>
              <a:rPr lang="en-US" altLang="zh-CN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212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120532" y="452952"/>
            <a:ext cx="31470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流式查询：</a:t>
            </a:r>
            <a:endParaRPr lang="en-US" altLang="zh-CN" sz="1400" b="1" dirty="0"/>
          </a:p>
          <a:p>
            <a:r>
              <a:rPr lang="en-US" altLang="zh-CN" sz="1400" dirty="0" err="1">
                <a:latin typeface="+mn-ea"/>
              </a:rPr>
              <a:t>com.mysql.jdbc.ConnectionImpl</a:t>
            </a:r>
            <a:r>
              <a:rPr lang="zh-CN" altLang="en-US" sz="1400" dirty="0">
                <a:latin typeface="+mn-ea"/>
              </a:rPr>
              <a:t>类：</a:t>
            </a:r>
            <a:endParaRPr lang="en-US" altLang="zh-CN" sz="1400" dirty="0"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10E2CAB-7C9A-4100-87B9-6640B53C3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69" y="945395"/>
            <a:ext cx="4666753" cy="41395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EB271C7-441B-471D-A349-1443B80F4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158" y="3464311"/>
            <a:ext cx="4029309" cy="16206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EA2DEE6-20D5-4CA6-8E93-207ED3BC8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158" y="945395"/>
            <a:ext cx="4029309" cy="217694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46C32D3-559D-4583-A165-D71B6D1F61A9}"/>
              </a:ext>
            </a:extLst>
          </p:cNvPr>
          <p:cNvSpPr/>
          <p:nvPr/>
        </p:nvSpPr>
        <p:spPr>
          <a:xfrm>
            <a:off x="4890722" y="641953"/>
            <a:ext cx="25186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>
                <a:latin typeface="+mn-ea"/>
              </a:rPr>
              <a:t>com.mysql.jdbc.MysqlIO</a:t>
            </a:r>
            <a:r>
              <a:rPr lang="zh-CN" altLang="en-US" sz="1400" dirty="0">
                <a:latin typeface="+mn-ea"/>
              </a:rPr>
              <a:t>类：</a:t>
            </a:r>
            <a:endParaRPr lang="en-US" altLang="zh-CN" sz="1400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8A155A-6A36-4785-B341-AA075762632C}"/>
              </a:ext>
            </a:extLst>
          </p:cNvPr>
          <p:cNvSpPr/>
          <p:nvPr/>
        </p:nvSpPr>
        <p:spPr>
          <a:xfrm>
            <a:off x="4890722" y="3174090"/>
            <a:ext cx="27238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err="1">
                <a:latin typeface="+mn-ea"/>
              </a:rPr>
              <a:t>com.mysql.jdbc.RowDataDynamic</a:t>
            </a:r>
            <a:r>
              <a:rPr lang="zh-CN" altLang="en-US" sz="1200" dirty="0">
                <a:latin typeface="+mn-ea"/>
              </a:rPr>
              <a:t>类：</a:t>
            </a:r>
            <a:endParaRPr lang="en-US" altLang="zh-CN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260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120532" y="687203"/>
            <a:ext cx="7627922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流式查询</a:t>
            </a:r>
            <a:r>
              <a:rPr lang="zh-CN" altLang="en-US" sz="1400" b="1" dirty="0"/>
              <a:t>分析：</a:t>
            </a:r>
            <a:endParaRPr lang="en-US" altLang="zh-CN" sz="1400" b="1" dirty="0"/>
          </a:p>
          <a:p>
            <a:r>
              <a:rPr lang="zh-CN" altLang="en-US" dirty="0"/>
              <a:t>        </a:t>
            </a:r>
            <a:r>
              <a:rPr lang="zh-CN" altLang="en-US" sz="1200" dirty="0"/>
              <a:t>非流式由于需要</a:t>
            </a:r>
            <a:r>
              <a:rPr lang="en-US" altLang="zh-CN" sz="1200" dirty="0" err="1"/>
              <a:t>mysql</a:t>
            </a:r>
            <a:r>
              <a:rPr lang="zh-CN" altLang="en-US" sz="1200" dirty="0"/>
              <a:t>服务器准备全部数据，所以调用后不会马上返回，需要根据数据量大小不同会等待</a:t>
            </a:r>
            <a:endParaRPr lang="en-US" altLang="zh-CN" sz="1200" dirty="0"/>
          </a:p>
          <a:p>
            <a:r>
              <a:rPr lang="zh-CN" altLang="en-US" sz="1200" dirty="0"/>
              <a:t>一段时候才会返回，这时候调用方线程会阻塞，流式则因为每次返回一条记录，所以返回速度会很快。</a:t>
            </a:r>
            <a:endParaRPr lang="en-US" altLang="zh-CN" sz="1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FA9B7C-929B-4918-B33D-5983FA9EF0CC}"/>
              </a:ext>
            </a:extLst>
          </p:cNvPr>
          <p:cNvSpPr/>
          <p:nvPr/>
        </p:nvSpPr>
        <p:spPr>
          <a:xfrm>
            <a:off x="120531" y="1301827"/>
            <a:ext cx="755894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1" dirty="0"/>
          </a:p>
          <a:p>
            <a:r>
              <a:rPr lang="zh-CN" altLang="en-US" sz="1200" dirty="0"/>
              <a:t>         </a:t>
            </a:r>
            <a:r>
              <a:rPr lang="en-US" altLang="zh-CN" sz="1200" dirty="0"/>
              <a:t>MySQL client</a:t>
            </a:r>
            <a:r>
              <a:rPr lang="zh-CN" altLang="en-US" sz="1200" dirty="0"/>
              <a:t>发送</a:t>
            </a:r>
            <a:r>
              <a:rPr lang="en-US" altLang="zh-CN" sz="1200" dirty="0"/>
              <a:t>select</a:t>
            </a:r>
            <a:r>
              <a:rPr lang="zh-CN" altLang="en-US" sz="1200" dirty="0"/>
              <a:t>请求给</a:t>
            </a:r>
            <a:r>
              <a:rPr lang="en-US" altLang="zh-CN" sz="1200" dirty="0"/>
              <a:t>Server</a:t>
            </a:r>
            <a:r>
              <a:rPr lang="zh-CN" altLang="en-US" sz="1200" dirty="0"/>
              <a:t>后，</a:t>
            </a:r>
            <a:r>
              <a:rPr lang="en-US" altLang="zh-CN" sz="1200" dirty="0"/>
              <a:t>Server</a:t>
            </a:r>
            <a:r>
              <a:rPr lang="zh-CN" altLang="en-US" sz="1200" dirty="0"/>
              <a:t>根据条件筛选符合条件的记录，然后就会把记录发送到自己的发送</a:t>
            </a:r>
            <a:r>
              <a:rPr lang="en-US" altLang="zh-CN" sz="1200" dirty="0"/>
              <a:t>buffer</a:t>
            </a:r>
            <a:r>
              <a:rPr lang="zh-CN" altLang="en-US" sz="1200" dirty="0"/>
              <a:t>，等</a:t>
            </a:r>
            <a:r>
              <a:rPr lang="en-US" altLang="zh-CN" sz="1200" dirty="0"/>
              <a:t>buffer</a:t>
            </a:r>
            <a:r>
              <a:rPr lang="zh-CN" altLang="en-US" sz="1200" dirty="0"/>
              <a:t>满了就</a:t>
            </a:r>
            <a:r>
              <a:rPr lang="en-US" altLang="zh-CN" sz="1200" dirty="0"/>
              <a:t>flush</a:t>
            </a:r>
            <a:r>
              <a:rPr lang="zh-CN" altLang="en-US" sz="1200" dirty="0"/>
              <a:t>缓存（这里要注意的是如果</a:t>
            </a:r>
            <a:r>
              <a:rPr lang="en-US" altLang="zh-CN" sz="1200" dirty="0"/>
              <a:t>client</a:t>
            </a:r>
            <a:r>
              <a:rPr lang="zh-CN" altLang="en-US" sz="1200" dirty="0"/>
              <a:t>的接受缓存满了，那么</a:t>
            </a:r>
            <a:r>
              <a:rPr lang="en-US" altLang="zh-CN" sz="1200" dirty="0"/>
              <a:t>Server</a:t>
            </a:r>
            <a:r>
              <a:rPr lang="zh-CN" altLang="en-US" sz="1200" dirty="0"/>
              <a:t>的发送就会阻塞住，直到</a:t>
            </a:r>
            <a:r>
              <a:rPr lang="en-US" altLang="zh-CN" sz="1200" dirty="0"/>
              <a:t>client</a:t>
            </a:r>
            <a:r>
              <a:rPr lang="zh-CN" altLang="en-US" sz="1200" dirty="0"/>
              <a:t>的接受缓存空闲），通过网络发送到</a:t>
            </a:r>
            <a:r>
              <a:rPr lang="en-US" altLang="zh-CN" sz="1200" dirty="0"/>
              <a:t>client</a:t>
            </a:r>
            <a:r>
              <a:rPr lang="zh-CN" altLang="en-US" sz="1200" dirty="0"/>
              <a:t>的接受缓存。</a:t>
            </a:r>
            <a:endParaRPr lang="en-US" altLang="zh-CN" sz="1200" dirty="0"/>
          </a:p>
          <a:p>
            <a:r>
              <a:rPr lang="en-US" altLang="zh-CN" sz="1200" dirty="0"/>
              <a:t>         </a:t>
            </a:r>
            <a:r>
              <a:rPr lang="zh-CN" altLang="en-US" sz="1200" dirty="0"/>
              <a:t>当不用游标时，</a:t>
            </a:r>
            <a:r>
              <a:rPr lang="en-US" altLang="zh-CN" sz="1200" dirty="0" err="1"/>
              <a:t>MySqI</a:t>
            </a:r>
            <a:r>
              <a:rPr lang="en-US" altLang="zh-CN" sz="1200" dirty="0"/>
              <a:t> IO</a:t>
            </a:r>
            <a:r>
              <a:rPr lang="zh-CN" altLang="en-US" sz="1200" dirty="0"/>
              <a:t>就会从接受缓存里面逐个读取记录到</a:t>
            </a:r>
            <a:r>
              <a:rPr lang="en-US" altLang="zh-CN" sz="1200" dirty="0" err="1"/>
              <a:t>resultset</a:t>
            </a:r>
            <a:r>
              <a:rPr lang="zh-CN" altLang="en-US" sz="1200" dirty="0"/>
              <a:t>。就这样</a:t>
            </a:r>
            <a:r>
              <a:rPr lang="en-US" altLang="zh-CN" sz="1200" dirty="0"/>
              <a:t>client </a:t>
            </a:r>
            <a:r>
              <a:rPr lang="zh-CN" altLang="en-US" sz="1200" dirty="0"/>
              <a:t>从自己的接受缓存读取数据到</a:t>
            </a:r>
            <a:r>
              <a:rPr lang="en-US" altLang="zh-CN" sz="1200" dirty="0" err="1"/>
              <a:t>resultset</a:t>
            </a:r>
            <a:r>
              <a:rPr lang="zh-CN" altLang="en-US" sz="1200" dirty="0"/>
              <a:t>，同时</a:t>
            </a:r>
            <a:r>
              <a:rPr lang="en-US" altLang="zh-CN" sz="1200" dirty="0"/>
              <a:t>Server</a:t>
            </a:r>
            <a:r>
              <a:rPr lang="zh-CN" altLang="en-US" sz="1200" dirty="0"/>
              <a:t>端不断通过网络向</a:t>
            </a:r>
            <a:r>
              <a:rPr lang="en-US" altLang="zh-CN" sz="1200" dirty="0"/>
              <a:t>client</a:t>
            </a:r>
            <a:r>
              <a:rPr lang="zh-CN" altLang="en-US" sz="1200" dirty="0"/>
              <a:t>接受缓存发送数据，直到所有记录都放到了</a:t>
            </a:r>
            <a:r>
              <a:rPr lang="en-US" altLang="zh-CN" sz="1200" dirty="0" err="1"/>
              <a:t>resultset</a:t>
            </a:r>
            <a:r>
              <a:rPr lang="zh-CN" altLang="en-US" sz="1200" dirty="0"/>
              <a:t>。</a:t>
            </a:r>
          </a:p>
          <a:p>
            <a:r>
              <a:rPr lang="zh-CN" altLang="en-US" sz="1200" dirty="0"/>
              <a:t>        当使用了游标时，则用户调用</a:t>
            </a:r>
            <a:r>
              <a:rPr lang="en-US" altLang="zh-CN" sz="1200" dirty="0" err="1"/>
              <a:t>resultset</a:t>
            </a:r>
            <a:r>
              <a:rPr lang="zh-CN" altLang="en-US" sz="1200" dirty="0"/>
              <a:t>的</a:t>
            </a:r>
            <a:r>
              <a:rPr lang="en-US" altLang="zh-CN" sz="1200" dirty="0"/>
              <a:t>next</a:t>
            </a:r>
            <a:r>
              <a:rPr lang="zh-CN" altLang="en-US" sz="1200" dirty="0"/>
              <a:t>的频率决定了</a:t>
            </a:r>
            <a:r>
              <a:rPr lang="en-US" altLang="zh-CN" sz="1200" dirty="0"/>
              <a:t>Server</a:t>
            </a:r>
            <a:r>
              <a:rPr lang="zh-CN" altLang="en-US" sz="1200" dirty="0"/>
              <a:t>发送时候的阻塞情况，如果用户调用</a:t>
            </a:r>
            <a:r>
              <a:rPr lang="en-US" altLang="zh-CN" sz="1200" dirty="0"/>
              <a:t>next</a:t>
            </a:r>
          </a:p>
          <a:p>
            <a:r>
              <a:rPr lang="zh-CN" altLang="en-US" sz="1200" dirty="0"/>
              <a:t>快，那么</a:t>
            </a:r>
            <a:r>
              <a:rPr lang="en-US" altLang="zh-CN" sz="1200" dirty="0"/>
              <a:t>client</a:t>
            </a:r>
            <a:r>
              <a:rPr lang="zh-CN" altLang="en-US" sz="1200" dirty="0"/>
              <a:t>的接受缓存就会有空闲，那么</a:t>
            </a:r>
            <a:r>
              <a:rPr lang="en-US" altLang="zh-CN" sz="1200" dirty="0"/>
              <a:t>Server</a:t>
            </a:r>
            <a:r>
              <a:rPr lang="zh-CN" altLang="en-US" sz="1200" dirty="0"/>
              <a:t>就会把数据发送过来，如果用户调用的慢，那么由于接受缓</a:t>
            </a:r>
            <a:endParaRPr lang="en-US" altLang="zh-CN" sz="1200" dirty="0"/>
          </a:p>
          <a:p>
            <a:r>
              <a:rPr lang="zh-CN" altLang="en-US" sz="1200" dirty="0"/>
              <a:t>存腾不出来，</a:t>
            </a:r>
            <a:r>
              <a:rPr lang="en-US" altLang="zh-CN" sz="1200" dirty="0"/>
              <a:t>Server</a:t>
            </a:r>
            <a:r>
              <a:rPr lang="zh-CN" altLang="en-US" sz="1200" dirty="0"/>
              <a:t>的发送就会阻塞。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BAB2F7-5F10-47BC-8B3D-B61F2C6764A2}"/>
              </a:ext>
            </a:extLst>
          </p:cNvPr>
          <p:cNvSpPr/>
          <p:nvPr/>
        </p:nvSpPr>
        <p:spPr>
          <a:xfrm>
            <a:off x="120532" y="3974189"/>
            <a:ext cx="762792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 err="1"/>
              <a:t>MyBatis</a:t>
            </a:r>
            <a:r>
              <a:rPr lang="zh-CN" altLang="en-US" sz="1000" b="1" dirty="0"/>
              <a:t>的流式查询参见：</a:t>
            </a:r>
            <a:r>
              <a:rPr lang="zh-CN" altLang="en-US" sz="1000" dirty="0"/>
              <a:t>http://ifeve.com/mybatis%E4%B8%AD%E4%BD%BF%E7%94%A8%E6%B5%81%E5%BC%8F%E6%9F%A5%E8%AF%A2%E9%81%BF%E5%85%8D%E6%95%B0%E6%8D%AE%E9%87%8F%E8%BF%87%E5%A4%A7%E5%AF%BC%E8%87%B4oom/</a:t>
            </a:r>
          </a:p>
        </p:txBody>
      </p:sp>
    </p:spTree>
    <p:extLst>
      <p:ext uri="{BB962C8B-B14F-4D97-AF65-F5344CB8AC3E}">
        <p14:creationId xmlns:p14="http://schemas.microsoft.com/office/powerpoint/2010/main" val="198434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3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104930" y="659924"/>
            <a:ext cx="8896663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/>
              <a:t>批量数据入库：</a:t>
            </a:r>
            <a:endParaRPr lang="en-US" altLang="zh-CN" sz="1400" b="1" dirty="0"/>
          </a:p>
          <a:p>
            <a:r>
              <a:rPr lang="en-US" altLang="zh-CN" dirty="0"/>
              <a:t>       </a:t>
            </a:r>
            <a:r>
              <a:rPr lang="zh-CN" altLang="en-US" sz="1200" dirty="0"/>
              <a:t>对账完成后，对账差异记录批量入库，批量新增、批量修改。配置</a:t>
            </a:r>
            <a:r>
              <a:rPr lang="en-US" altLang="zh-CN" sz="1200" dirty="0"/>
              <a:t>jdbc.url</a:t>
            </a:r>
            <a:r>
              <a:rPr lang="zh-CN" altLang="en-US" sz="1200" dirty="0"/>
              <a:t>连接，值后添加“</a:t>
            </a:r>
            <a:r>
              <a:rPr lang="en-US" altLang="zh-CN" sz="1200" dirty="0"/>
              <a:t>&amp;</a:t>
            </a:r>
            <a:r>
              <a:rPr lang="en-US" altLang="zh-CN" sz="1200" dirty="0" err="1"/>
              <a:t>rewriteBatchedStatements</a:t>
            </a:r>
            <a:r>
              <a:rPr lang="en-US" altLang="zh-CN" sz="1200" dirty="0"/>
              <a:t>=true</a:t>
            </a:r>
            <a:r>
              <a:rPr lang="zh-CN" altLang="en-US" sz="1200" dirty="0"/>
              <a:t>”</a:t>
            </a:r>
            <a:endParaRPr lang="en-US" altLang="zh-CN" sz="1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7D593B-EE66-4E47-9558-611B04E1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0" y="1169807"/>
            <a:ext cx="7279957" cy="390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9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112425" y="427892"/>
            <a:ext cx="6475751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/>
              <a:t>批量数据入库：</a:t>
            </a:r>
            <a:endParaRPr lang="en-US" altLang="zh-CN" sz="1400" b="1" dirty="0"/>
          </a:p>
          <a:p>
            <a:r>
              <a:rPr lang="en-US" altLang="zh-CN" dirty="0"/>
              <a:t>       </a:t>
            </a:r>
            <a:endParaRPr lang="en-US" altLang="zh-CN" sz="1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003F5E9-C9F6-4E69-B25C-4F488C335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34" y="725704"/>
            <a:ext cx="4892927" cy="434846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67AAA0D-EBF9-4E99-9B39-3DA890481000}"/>
              </a:ext>
            </a:extLst>
          </p:cNvPr>
          <p:cNvSpPr/>
          <p:nvPr/>
        </p:nvSpPr>
        <p:spPr>
          <a:xfrm>
            <a:off x="5089161" y="725704"/>
            <a:ext cx="4054839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/>
              <a:t>源码分析：</a:t>
            </a:r>
            <a:endParaRPr lang="en-US" altLang="zh-CN" sz="1200" dirty="0">
              <a:solidFill>
                <a:srgbClr val="4B4B4B"/>
              </a:solidFill>
              <a:latin typeface="+mn-ea"/>
            </a:endParaRPr>
          </a:p>
          <a:p>
            <a:r>
              <a:rPr lang="en-US" altLang="zh-CN" sz="1100" dirty="0">
                <a:latin typeface="+mn-ea"/>
              </a:rPr>
              <a:t>1</a:t>
            </a:r>
            <a:r>
              <a:rPr lang="zh-CN" altLang="en-US" sz="1100" dirty="0">
                <a:latin typeface="+mn-ea"/>
              </a:rPr>
              <a:t>、</a:t>
            </a:r>
            <a:r>
              <a:rPr lang="en-US" altLang="zh-CN" sz="1100" dirty="0" err="1">
                <a:latin typeface="+mn-ea"/>
              </a:rPr>
              <a:t>rewriteBatchedStatements</a:t>
            </a:r>
            <a:r>
              <a:rPr lang="en-US" altLang="zh-CN" sz="1100" dirty="0">
                <a:latin typeface="+mn-ea"/>
              </a:rPr>
              <a:t>=true</a:t>
            </a:r>
            <a:r>
              <a:rPr lang="zh-CN" altLang="en-US" sz="1100" dirty="0">
                <a:latin typeface="+mn-ea"/>
              </a:rPr>
              <a:t>，</a:t>
            </a:r>
            <a:r>
              <a:rPr lang="en-US" altLang="zh-CN" sz="1100" dirty="0">
                <a:latin typeface="+mn-ea"/>
              </a:rPr>
              <a:t>insert</a:t>
            </a:r>
            <a:r>
              <a:rPr lang="zh-CN" altLang="en-US" sz="1100" dirty="0">
                <a:latin typeface="+mn-ea"/>
              </a:rPr>
              <a:t>是参数化</a:t>
            </a:r>
            <a:endParaRPr lang="en-US" altLang="zh-CN" sz="1100" dirty="0">
              <a:latin typeface="+mn-ea"/>
            </a:endParaRPr>
          </a:p>
          <a:p>
            <a:r>
              <a:rPr lang="zh-CN" altLang="en-US" sz="1100" dirty="0">
                <a:latin typeface="+mn-ea"/>
              </a:rPr>
              <a:t>语句且不是</a:t>
            </a:r>
            <a:r>
              <a:rPr lang="en-US" altLang="zh-CN" sz="1100" dirty="0">
                <a:latin typeface="+mn-ea"/>
              </a:rPr>
              <a:t>insert ... select </a:t>
            </a:r>
            <a:r>
              <a:rPr lang="zh-CN" altLang="en-US" sz="1100" dirty="0">
                <a:latin typeface="+mn-ea"/>
              </a:rPr>
              <a:t>或者 </a:t>
            </a:r>
            <a:r>
              <a:rPr lang="en-US" altLang="zh-CN" sz="1100" dirty="0">
                <a:latin typeface="+mn-ea"/>
              </a:rPr>
              <a:t>insert... on </a:t>
            </a:r>
          </a:p>
          <a:p>
            <a:r>
              <a:rPr lang="en-US" altLang="zh-CN" sz="1100" dirty="0">
                <a:latin typeface="+mn-ea"/>
              </a:rPr>
              <a:t>duplicate key update with an id=</a:t>
            </a:r>
            <a:r>
              <a:rPr lang="en-US" altLang="zh-CN" sz="1100" dirty="0" err="1">
                <a:latin typeface="+mn-ea"/>
              </a:rPr>
              <a:t>last_insert_id</a:t>
            </a:r>
            <a:r>
              <a:rPr lang="en-US" altLang="zh-CN" sz="1100" dirty="0">
                <a:latin typeface="+mn-ea"/>
              </a:rPr>
              <a:t>(...)</a:t>
            </a:r>
          </a:p>
          <a:p>
            <a:r>
              <a:rPr lang="zh-CN" altLang="en-US" sz="1100" dirty="0">
                <a:latin typeface="+mn-ea"/>
              </a:rPr>
              <a:t>的话会执行 </a:t>
            </a:r>
            <a:r>
              <a:rPr lang="en-US" altLang="zh-CN" sz="1100" dirty="0" err="1">
                <a:latin typeface="+mn-ea"/>
              </a:rPr>
              <a:t>executeBatchedInserts</a:t>
            </a:r>
            <a:r>
              <a:rPr lang="zh-CN" altLang="en-US" sz="1100" dirty="0">
                <a:latin typeface="+mn-ea"/>
              </a:rPr>
              <a:t>，也就是</a:t>
            </a:r>
            <a:r>
              <a:rPr lang="en-US" altLang="zh-CN" sz="1100" dirty="0" err="1">
                <a:latin typeface="+mn-ea"/>
              </a:rPr>
              <a:t>muti</a:t>
            </a:r>
            <a:r>
              <a:rPr lang="en-US" altLang="zh-CN" sz="1100" dirty="0">
                <a:latin typeface="+mn-ea"/>
              </a:rPr>
              <a:t> value</a:t>
            </a:r>
          </a:p>
          <a:p>
            <a:r>
              <a:rPr lang="zh-CN" altLang="en-US" sz="1100" dirty="0">
                <a:latin typeface="+mn-ea"/>
              </a:rPr>
              <a:t>的方式。比如“</a:t>
            </a:r>
            <a:r>
              <a:rPr lang="en-US" altLang="zh-CN" sz="1100" dirty="0">
                <a:latin typeface="+mn-ea"/>
              </a:rPr>
              <a:t>insert into tb1(c1,c2,c3) values (v1,v2,v3),(v11,v22,v33)...;”</a:t>
            </a:r>
          </a:p>
          <a:p>
            <a:endParaRPr lang="zh-CN" altLang="en-US" sz="1100" dirty="0">
              <a:latin typeface="+mn-ea"/>
            </a:endParaRPr>
          </a:p>
          <a:p>
            <a:r>
              <a:rPr lang="en-US" altLang="zh-CN" sz="1100" dirty="0">
                <a:latin typeface="+mn-ea"/>
              </a:rPr>
              <a:t>2</a:t>
            </a:r>
            <a:r>
              <a:rPr lang="zh-CN" altLang="en-US" sz="1100" dirty="0">
                <a:latin typeface="+mn-ea"/>
              </a:rPr>
              <a:t>、</a:t>
            </a:r>
            <a:r>
              <a:rPr lang="en-US" altLang="zh-CN" sz="1100" dirty="0" err="1">
                <a:latin typeface="+mn-ea"/>
              </a:rPr>
              <a:t>rewriteBatchedStatements</a:t>
            </a:r>
            <a:r>
              <a:rPr lang="en-US" altLang="zh-CN" sz="1100" dirty="0">
                <a:latin typeface="+mn-ea"/>
              </a:rPr>
              <a:t>=true</a:t>
            </a:r>
            <a:r>
              <a:rPr lang="zh-CN" altLang="en-US" sz="1100" dirty="0">
                <a:latin typeface="+mn-ea"/>
              </a:rPr>
              <a:t>，语句是都是参数化</a:t>
            </a:r>
            <a:endParaRPr lang="en-US" altLang="zh-CN" sz="1100" dirty="0">
              <a:latin typeface="+mn-ea"/>
            </a:endParaRPr>
          </a:p>
          <a:p>
            <a:r>
              <a:rPr lang="en-US" altLang="zh-CN" sz="1100" dirty="0">
                <a:latin typeface="+mn-ea"/>
              </a:rPr>
              <a:t>(</a:t>
            </a:r>
            <a:r>
              <a:rPr lang="zh-CN" altLang="en-US" sz="1100" dirty="0">
                <a:latin typeface="+mn-ea"/>
              </a:rPr>
              <a:t>没有</a:t>
            </a:r>
            <a:r>
              <a:rPr lang="en-US" altLang="zh-CN" sz="1100" dirty="0" err="1">
                <a:latin typeface="+mn-ea"/>
              </a:rPr>
              <a:t>addbatch</a:t>
            </a:r>
            <a:r>
              <a:rPr lang="en-US" altLang="zh-CN" sz="1100" dirty="0">
                <a:latin typeface="+mn-ea"/>
              </a:rPr>
              <a:t>(</a:t>
            </a:r>
            <a:r>
              <a:rPr lang="en-US" altLang="zh-CN" sz="1100" dirty="0" err="1">
                <a:latin typeface="+mn-ea"/>
              </a:rPr>
              <a:t>sql</a:t>
            </a:r>
            <a:r>
              <a:rPr lang="en-US" altLang="zh-CN" sz="1100" dirty="0">
                <a:latin typeface="+mn-ea"/>
              </a:rPr>
              <a:t>)</a:t>
            </a:r>
            <a:r>
              <a:rPr lang="zh-CN" altLang="en-US" sz="1100" dirty="0">
                <a:latin typeface="+mn-ea"/>
              </a:rPr>
              <a:t>方式加入的</a:t>
            </a:r>
            <a:r>
              <a:rPr lang="en-US" altLang="zh-CN" sz="1100" dirty="0">
                <a:latin typeface="+mn-ea"/>
              </a:rPr>
              <a:t>)</a:t>
            </a:r>
            <a:r>
              <a:rPr lang="zh-CN" altLang="en-US" sz="1100" dirty="0">
                <a:latin typeface="+mn-ea"/>
              </a:rPr>
              <a:t>，而且</a:t>
            </a:r>
            <a:r>
              <a:rPr lang="en-US" altLang="zh-CN" sz="1100" dirty="0" err="1">
                <a:latin typeface="+mn-ea"/>
              </a:rPr>
              <a:t>mysql</a:t>
            </a:r>
            <a:r>
              <a:rPr lang="en-US" altLang="zh-CN" sz="1100" dirty="0">
                <a:latin typeface="+mn-ea"/>
              </a:rPr>
              <a:t> server</a:t>
            </a:r>
            <a:r>
              <a:rPr lang="zh-CN" altLang="en-US" sz="1100" dirty="0">
                <a:latin typeface="+mn-ea"/>
              </a:rPr>
              <a:t>版</a:t>
            </a:r>
            <a:endParaRPr lang="en-US" altLang="zh-CN" sz="1100" dirty="0">
              <a:latin typeface="+mn-ea"/>
            </a:endParaRPr>
          </a:p>
          <a:p>
            <a:r>
              <a:rPr lang="zh-CN" altLang="en-US" sz="1100" dirty="0">
                <a:latin typeface="+mn-ea"/>
              </a:rPr>
              <a:t>本在</a:t>
            </a:r>
            <a:r>
              <a:rPr lang="en-US" altLang="zh-CN" sz="1100" dirty="0">
                <a:latin typeface="+mn-ea"/>
              </a:rPr>
              <a:t>4.1</a:t>
            </a:r>
            <a:r>
              <a:rPr lang="zh-CN" altLang="en-US" sz="1100" dirty="0">
                <a:latin typeface="+mn-ea"/>
              </a:rPr>
              <a:t>以上语句超过三条，则执行</a:t>
            </a:r>
            <a:r>
              <a:rPr lang="en-US" altLang="zh-CN" sz="1100" dirty="0" err="1">
                <a:latin typeface="+mn-ea"/>
              </a:rPr>
              <a:t>executePreparedBatchAsMultiStatement</a:t>
            </a:r>
            <a:r>
              <a:rPr lang="zh-CN" altLang="en-US" sz="1100" dirty="0">
                <a:latin typeface="+mn-ea"/>
              </a:rPr>
              <a:t>，就是将多个</a:t>
            </a:r>
            <a:endParaRPr lang="en-US" altLang="zh-CN" sz="1100" dirty="0">
              <a:latin typeface="+mn-ea"/>
            </a:endParaRPr>
          </a:p>
          <a:p>
            <a:r>
              <a:rPr lang="zh-CN" altLang="en-US" sz="1100" dirty="0">
                <a:latin typeface="+mn-ea"/>
              </a:rPr>
              <a:t>语句通过</a:t>
            </a:r>
            <a:r>
              <a:rPr lang="en-US" altLang="zh-CN" sz="1100" dirty="0">
                <a:latin typeface="+mn-ea"/>
              </a:rPr>
              <a:t>;</a:t>
            </a:r>
            <a:r>
              <a:rPr lang="zh-CN" altLang="en-US" sz="1100" dirty="0">
                <a:latin typeface="+mn-ea"/>
              </a:rPr>
              <a:t>分隔一次提交多条</a:t>
            </a:r>
            <a:r>
              <a:rPr lang="en-US" altLang="zh-CN" sz="1100" dirty="0" err="1">
                <a:latin typeface="+mn-ea"/>
              </a:rPr>
              <a:t>sql</a:t>
            </a:r>
            <a:r>
              <a:rPr lang="zh-CN" altLang="en-US" sz="1100" dirty="0">
                <a:latin typeface="+mn-ea"/>
              </a:rPr>
              <a:t>。比如“ </a:t>
            </a:r>
            <a:r>
              <a:rPr lang="en-US" altLang="zh-CN" sz="1100" dirty="0">
                <a:latin typeface="+mn-ea"/>
              </a:rPr>
              <a:t>insert into tb1(c1,</a:t>
            </a:r>
          </a:p>
          <a:p>
            <a:r>
              <a:rPr lang="en-US" altLang="zh-CN" sz="1100" dirty="0">
                <a:latin typeface="+mn-ea"/>
              </a:rPr>
              <a:t>c2,c3) values (v1,v2,v3);insert into tb1(c1,c2,c3) </a:t>
            </a:r>
          </a:p>
          <a:p>
            <a:r>
              <a:rPr lang="en-US" altLang="zh-CN" sz="1100" dirty="0">
                <a:latin typeface="+mn-ea"/>
              </a:rPr>
              <a:t>values (v11,v22,v33)... ”</a:t>
            </a:r>
          </a:p>
          <a:p>
            <a:endParaRPr lang="en-US" altLang="zh-CN" sz="1100" dirty="0">
              <a:latin typeface="+mn-ea"/>
            </a:endParaRPr>
          </a:p>
          <a:p>
            <a:r>
              <a:rPr lang="en-US" altLang="zh-CN" sz="1100" dirty="0">
                <a:latin typeface="+mn-ea"/>
              </a:rPr>
              <a:t>3</a:t>
            </a:r>
            <a:r>
              <a:rPr lang="zh-CN" altLang="en-US" sz="1100" dirty="0">
                <a:latin typeface="+mn-ea"/>
              </a:rPr>
              <a:t>、其余的执行</a:t>
            </a:r>
            <a:r>
              <a:rPr lang="en-US" altLang="zh-CN" sz="1100" dirty="0" err="1">
                <a:latin typeface="+mn-ea"/>
              </a:rPr>
              <a:t>executeBatchSerially</a:t>
            </a:r>
            <a:r>
              <a:rPr lang="zh-CN" altLang="en-US" sz="1100" dirty="0">
                <a:latin typeface="+mn-ea"/>
              </a:rPr>
              <a:t>，此方法内部将语句一条条发送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3FF646-38D8-4F8D-A7F6-5FE2C0B14019}"/>
              </a:ext>
            </a:extLst>
          </p:cNvPr>
          <p:cNvSpPr/>
          <p:nvPr/>
        </p:nvSpPr>
        <p:spPr>
          <a:xfrm>
            <a:off x="5089161" y="4117522"/>
            <a:ext cx="42197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verdana" panose="020B0604030504040204" pitchFamily="34" charset="0"/>
              </a:rPr>
              <a:t>说明：</a:t>
            </a:r>
            <a:endParaRPr lang="en-US" altLang="zh-CN" sz="800" dirty="0">
              <a:latin typeface="verdana" panose="020B0604030504040204" pitchFamily="34" charset="0"/>
            </a:endParaRPr>
          </a:p>
          <a:p>
            <a:r>
              <a:rPr lang="en-US" altLang="zh-CN" sz="800" dirty="0">
                <a:latin typeface="verdana" panose="020B0604030504040204" pitchFamily="34" charset="0"/>
              </a:rPr>
              <a:t>      </a:t>
            </a:r>
            <a:r>
              <a:rPr lang="en-US" altLang="zh-CN" sz="800" dirty="0" err="1">
                <a:latin typeface="verdana" panose="020B0604030504040204" pitchFamily="34" charset="0"/>
              </a:rPr>
              <a:t>executeBatchedInserts</a:t>
            </a:r>
            <a:r>
              <a:rPr lang="zh-CN" altLang="en-US" sz="800" dirty="0">
                <a:latin typeface="verdana" panose="020B0604030504040204" pitchFamily="34" charset="0"/>
              </a:rPr>
              <a:t>相比</a:t>
            </a:r>
            <a:r>
              <a:rPr lang="en-US" altLang="zh-CN" sz="800" dirty="0" err="1">
                <a:latin typeface="verdana" panose="020B0604030504040204" pitchFamily="34" charset="0"/>
              </a:rPr>
              <a:t>executePreparedBatchAsMultiStatement</a:t>
            </a:r>
            <a:r>
              <a:rPr lang="zh-CN" altLang="en-US" sz="800" dirty="0">
                <a:latin typeface="verdana" panose="020B0604030504040204" pitchFamily="34" charset="0"/>
              </a:rPr>
              <a:t>的</a:t>
            </a:r>
            <a:endParaRPr lang="en-US" altLang="zh-CN" sz="800" dirty="0">
              <a:latin typeface="verdana" panose="020B0604030504040204" pitchFamily="34" charset="0"/>
            </a:endParaRPr>
          </a:p>
          <a:p>
            <a:r>
              <a:rPr lang="zh-CN" altLang="en-US" sz="800" dirty="0">
                <a:latin typeface="verdana" panose="020B0604030504040204" pitchFamily="34" charset="0"/>
              </a:rPr>
              <a:t>方式传输效率更好，因为一次请求只重复一次前面的</a:t>
            </a:r>
            <a:r>
              <a:rPr lang="en-US" altLang="zh-CN" sz="800" dirty="0">
                <a:latin typeface="verdana" panose="020B0604030504040204" pitchFamily="34" charset="0"/>
              </a:rPr>
              <a:t>insert table (c1,c2,c3)</a:t>
            </a:r>
            <a:r>
              <a:rPr lang="zh-CN" altLang="en-US" sz="800" dirty="0">
                <a:latin typeface="verdana" panose="020B0604030504040204" pitchFamily="34" charset="0"/>
              </a:rPr>
              <a:t>，</a:t>
            </a:r>
            <a:endParaRPr lang="en-US" altLang="zh-CN" sz="800" dirty="0">
              <a:latin typeface="verdana" panose="020B0604030504040204" pitchFamily="34" charset="0"/>
            </a:endParaRPr>
          </a:p>
          <a:p>
            <a:r>
              <a:rPr lang="en-US" altLang="zh-CN" sz="800" dirty="0" err="1">
                <a:latin typeface="verdana" panose="020B0604030504040204" pitchFamily="34" charset="0"/>
              </a:rPr>
              <a:t>mysql</a:t>
            </a:r>
            <a:r>
              <a:rPr lang="en-US" altLang="zh-CN" sz="800" dirty="0">
                <a:latin typeface="verdana" panose="020B0604030504040204" pitchFamily="34" charset="0"/>
              </a:rPr>
              <a:t> server </a:t>
            </a:r>
            <a:r>
              <a:rPr lang="zh-CN" altLang="en-US" sz="800" dirty="0">
                <a:latin typeface="verdana" panose="020B0604030504040204" pitchFamily="34" charset="0"/>
              </a:rPr>
              <a:t>对请求报文的最大长度有限制</a:t>
            </a:r>
            <a:r>
              <a:rPr lang="en-US" altLang="zh-CN" sz="800" dirty="0">
                <a:latin typeface="verdana" panose="020B0604030504040204" pitchFamily="34" charset="0"/>
              </a:rPr>
              <a:t>,</a:t>
            </a:r>
            <a:r>
              <a:rPr lang="zh-CN" altLang="en-US" sz="800" dirty="0">
                <a:latin typeface="verdana" panose="020B0604030504040204" pitchFamily="34" charset="0"/>
              </a:rPr>
              <a:t>如果</a:t>
            </a:r>
            <a:r>
              <a:rPr lang="en-US" altLang="zh-CN" sz="800" dirty="0">
                <a:latin typeface="verdana" panose="020B0604030504040204" pitchFamily="34" charset="0"/>
              </a:rPr>
              <a:t>batch size </a:t>
            </a:r>
            <a:r>
              <a:rPr lang="zh-CN" altLang="en-US" sz="800" dirty="0">
                <a:latin typeface="verdana" panose="020B0604030504040204" pitchFamily="34" charset="0"/>
              </a:rPr>
              <a:t>太大造成请求报文超过</a:t>
            </a:r>
            <a:endParaRPr lang="en-US" altLang="zh-CN" sz="800" dirty="0">
              <a:latin typeface="verdana" panose="020B0604030504040204" pitchFamily="34" charset="0"/>
            </a:endParaRPr>
          </a:p>
          <a:p>
            <a:r>
              <a:rPr lang="zh-CN" altLang="en-US" sz="800" dirty="0">
                <a:latin typeface="verdana" panose="020B0604030504040204" pitchFamily="34" charset="0"/>
              </a:rPr>
              <a:t>最大限制，</a:t>
            </a:r>
            <a:r>
              <a:rPr lang="en-US" altLang="zh-CN" sz="800" dirty="0" err="1">
                <a:latin typeface="verdana" panose="020B0604030504040204" pitchFamily="34" charset="0"/>
              </a:rPr>
              <a:t>mysql</a:t>
            </a:r>
            <a:r>
              <a:rPr lang="en-US" altLang="zh-CN" sz="800" dirty="0">
                <a:latin typeface="verdana" panose="020B0604030504040204" pitchFamily="34" charset="0"/>
              </a:rPr>
              <a:t> </a:t>
            </a:r>
            <a:r>
              <a:rPr lang="zh-CN" altLang="en-US" sz="800" dirty="0">
                <a:latin typeface="verdana" panose="020B0604030504040204" pitchFamily="34" charset="0"/>
              </a:rPr>
              <a:t>驱动会内部按最大报文限制查分成多个报文。所以要真正减少提交</a:t>
            </a:r>
            <a:endParaRPr lang="en-US" altLang="zh-CN" sz="800" dirty="0">
              <a:latin typeface="verdana" panose="020B0604030504040204" pitchFamily="34" charset="0"/>
            </a:endParaRPr>
          </a:p>
          <a:p>
            <a:r>
              <a:rPr lang="zh-CN" altLang="en-US" sz="800" dirty="0">
                <a:latin typeface="verdana" panose="020B0604030504040204" pitchFamily="34" charset="0"/>
              </a:rPr>
              <a:t>次数还要检查下</a:t>
            </a:r>
            <a:r>
              <a:rPr lang="en-US" altLang="zh-CN" sz="800" dirty="0" err="1">
                <a:latin typeface="verdana" panose="020B0604030504040204" pitchFamily="34" charset="0"/>
              </a:rPr>
              <a:t>mysql</a:t>
            </a:r>
            <a:r>
              <a:rPr lang="en-US" altLang="zh-CN" sz="800" dirty="0">
                <a:latin typeface="verdana" panose="020B0604030504040204" pitchFamily="34" charset="0"/>
              </a:rPr>
              <a:t> server</a:t>
            </a:r>
            <a:r>
              <a:rPr lang="zh-CN" altLang="en-US" sz="800" dirty="0">
                <a:latin typeface="verdana" panose="020B0604030504040204" pitchFamily="34" charset="0"/>
              </a:rPr>
              <a:t>的</a:t>
            </a:r>
            <a:r>
              <a:rPr lang="en-US" altLang="zh-CN" sz="800" dirty="0" err="1">
                <a:latin typeface="verdana" panose="020B0604030504040204" pitchFamily="34" charset="0"/>
              </a:rPr>
              <a:t>max_allowed_packet</a:t>
            </a:r>
            <a:r>
              <a:rPr lang="zh-CN" altLang="en-US" sz="800" dirty="0">
                <a:latin typeface="verdana" panose="020B0604030504040204" pitchFamily="34" charset="0"/>
              </a:rPr>
              <a:t>，否则</a:t>
            </a:r>
            <a:r>
              <a:rPr lang="en-US" altLang="zh-CN" sz="800" dirty="0">
                <a:latin typeface="verdana" panose="020B0604030504040204" pitchFamily="34" charset="0"/>
              </a:rPr>
              <a:t>batch size </a:t>
            </a:r>
            <a:r>
              <a:rPr lang="zh-CN" altLang="en-US" sz="800" dirty="0">
                <a:latin typeface="verdana" panose="020B0604030504040204" pitchFamily="34" charset="0"/>
              </a:rPr>
              <a:t>再大也没用</a:t>
            </a:r>
            <a:r>
              <a:rPr lang="en-US" altLang="zh-CN" sz="800" dirty="0">
                <a:latin typeface="verdana" panose="020B0604030504040204" pitchFamily="34" charset="0"/>
              </a:rPr>
              <a:t>.</a:t>
            </a:r>
            <a:endParaRPr lang="en-US" altLang="zh-CN" sz="800" b="0" i="0" dirty="0"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92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0" y="607885"/>
            <a:ext cx="2636876" cy="1554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/>
              <a:t>MySQL </a:t>
            </a:r>
            <a:r>
              <a:rPr lang="en-US" altLang="zh-CN" sz="1400" b="1" dirty="0" err="1"/>
              <a:t>binlog</a:t>
            </a:r>
            <a:r>
              <a:rPr lang="zh-CN" altLang="en-US" sz="1400" b="1" dirty="0"/>
              <a:t>三种模式：</a:t>
            </a:r>
            <a:endParaRPr lang="en-US" altLang="zh-CN" sz="1400" b="1" dirty="0"/>
          </a:p>
          <a:p>
            <a:r>
              <a:rPr lang="en-US" altLang="zh-CN" dirty="0"/>
              <a:t>       Row Level</a:t>
            </a:r>
            <a:r>
              <a:rPr lang="zh-CN" altLang="en-US" dirty="0"/>
              <a:t>、</a:t>
            </a:r>
            <a:r>
              <a:rPr lang="en-US" altLang="zh-CN" dirty="0"/>
              <a:t>Statement Level</a:t>
            </a:r>
            <a:r>
              <a:rPr lang="zh-CN" altLang="en-US" dirty="0"/>
              <a:t>、</a:t>
            </a:r>
            <a:endParaRPr lang="en-US" altLang="zh-CN" dirty="0"/>
          </a:p>
          <a:p>
            <a:r>
              <a:rPr lang="en-US" altLang="zh-CN" dirty="0"/>
              <a:t>Mixed</a:t>
            </a:r>
            <a:r>
              <a:rPr lang="zh-CN" altLang="en-US" dirty="0"/>
              <a:t>。当前对账核心和其它</a:t>
            </a:r>
            <a:endParaRPr lang="en-US" altLang="zh-CN" dirty="0"/>
          </a:p>
          <a:p>
            <a:r>
              <a:rPr lang="zh-CN" altLang="en-US" dirty="0"/>
              <a:t>非核心</a:t>
            </a:r>
            <a:r>
              <a:rPr lang="en-US" altLang="zh-CN" dirty="0"/>
              <a:t>APP</a:t>
            </a:r>
            <a:r>
              <a:rPr lang="zh-CN" altLang="en-US" dirty="0"/>
              <a:t>共同使用非核心数</a:t>
            </a:r>
            <a:endParaRPr lang="en-US" altLang="zh-CN" dirty="0"/>
          </a:p>
          <a:p>
            <a:r>
              <a:rPr lang="zh-CN" altLang="en-US" dirty="0"/>
              <a:t>据库实例，</a:t>
            </a:r>
            <a:r>
              <a:rPr lang="en-US" altLang="zh-CN" dirty="0" err="1"/>
              <a:t>binlog</a:t>
            </a:r>
            <a:r>
              <a:rPr lang="zh-CN" altLang="en-US" dirty="0"/>
              <a:t>模式为</a:t>
            </a:r>
            <a:endParaRPr lang="en-US" altLang="zh-CN" dirty="0"/>
          </a:p>
          <a:p>
            <a:r>
              <a:rPr lang="en-US" altLang="zh-CN" dirty="0"/>
              <a:t>Row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zh-CN" altLang="en-US" dirty="0"/>
              <a:t>，每天对账数据量大，</a:t>
            </a:r>
            <a:endParaRPr lang="en-US" altLang="zh-CN" dirty="0"/>
          </a:p>
          <a:p>
            <a:r>
              <a:rPr lang="zh-CN" altLang="en-US" dirty="0"/>
              <a:t>生成</a:t>
            </a:r>
            <a:r>
              <a:rPr lang="en-US" altLang="zh-CN" dirty="0" err="1"/>
              <a:t>binlog</a:t>
            </a:r>
            <a:r>
              <a:rPr lang="zh-CN" altLang="en-US" dirty="0"/>
              <a:t>较多。</a:t>
            </a:r>
            <a:endParaRPr lang="en-US" altLang="zh-CN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5D016EE-E1D3-4B2E-B7EF-237F4A5AA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530979"/>
              </p:ext>
            </p:extLst>
          </p:nvPr>
        </p:nvGraphicFramePr>
        <p:xfrm>
          <a:off x="2438400" y="967701"/>
          <a:ext cx="6647009" cy="4057459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38609">
                  <a:extLst>
                    <a:ext uri="{9D8B030D-6E8A-4147-A177-3AD203B41FA5}">
                      <a16:colId xmlns:a16="http://schemas.microsoft.com/office/drawing/2014/main" val="2412040977"/>
                    </a:ext>
                  </a:extLst>
                </a:gridCol>
                <a:gridCol w="5208400">
                  <a:extLst>
                    <a:ext uri="{9D8B030D-6E8A-4147-A177-3AD203B41FA5}">
                      <a16:colId xmlns:a16="http://schemas.microsoft.com/office/drawing/2014/main" val="2054442255"/>
                    </a:ext>
                  </a:extLst>
                </a:gridCol>
              </a:tblGrid>
              <a:tr h="156271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5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5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 Level  </a:t>
                      </a:r>
                      <a:r>
                        <a:rPr lang="zh-CN" alt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行模式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日志中会记录每一行数据被修改的形式，然后在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slave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端再对相同的数据进行修改。</a:t>
                      </a:r>
                      <a:endParaRPr lang="en-US" altLang="zh-CN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zh-CN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优点：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 level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模式下，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bin-log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中可以不记录执行的</a:t>
                      </a:r>
                      <a:r>
                        <a:rPr lang="en-US" altLang="zh-CN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语句的上下文相关的信息，仅仅只需要记录那一条被修改。所以</a:t>
                      </a:r>
                      <a:r>
                        <a:rPr lang="en-US" altLang="zh-CN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rowlevel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的日志内容会非常清楚的记录下每一行数据修改的细节。不会出现某些特定的情况下的存储过程或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，以及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trigger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的调用和触发无法被正确复制的问题</a:t>
                      </a:r>
                    </a:p>
                    <a:p>
                      <a:pPr latinLnBrk="1"/>
                      <a:r>
                        <a:rPr lang="zh-CN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缺点：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 level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，所有的执行的语句当记录到日志中的时候，都将以每行记录的修改来记录，会产生大量的日志内容。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77084"/>
                  </a:ext>
                </a:extLst>
              </a:tr>
              <a:tr h="1577456">
                <a:tc>
                  <a:txBody>
                    <a:bodyPr/>
                    <a:lstStyle/>
                    <a:p>
                      <a:pPr algn="ctr" latinLnBrk="1"/>
                      <a:endParaRPr lang="en-US" altLang="zh-CN" sz="135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endParaRPr lang="en-US" altLang="zh-CN" sz="135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zh-CN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Statement Level</a:t>
                      </a:r>
                      <a:r>
                        <a:rPr lang="zh-CN" alt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（默认）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每一条会修改数据的</a:t>
                      </a:r>
                      <a:r>
                        <a:rPr lang="en-US" altLang="zh-CN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都会记录到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master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bin-log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中。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slave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在复制的时候</a:t>
                      </a:r>
                      <a:r>
                        <a:rPr lang="en-US" altLang="zh-CN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进程会解析成和原来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master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端执行过的相同的</a:t>
                      </a:r>
                      <a:r>
                        <a:rPr lang="en-US" altLang="zh-CN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来再次执行。</a:t>
                      </a:r>
                      <a:endParaRPr lang="en-US" altLang="zh-CN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zh-CN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优点：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statement level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下的优点首先就是解决了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 level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下的缺点，不需要记录每一行数据的变化，减少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bin-log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日志量，节约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，提高性能，因为它只需要在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Master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上锁执行的语句的细节，以及执行语句的上下文的信息。</a:t>
                      </a:r>
                    </a:p>
                    <a:p>
                      <a:pPr latinLnBrk="1"/>
                      <a:r>
                        <a:rPr lang="zh-CN" altLang="en-US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缺点：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由于只记录语句，所以，在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statement level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下 已经发现了有不少情况会造成</a:t>
                      </a:r>
                      <a:r>
                        <a:rPr lang="en-US" altLang="zh-CN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</a:t>
                      </a:r>
                      <a:r>
                        <a:rPr lang="zh-CN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的复制出现问题，主要是修改数据的时候使用了某些定的函数或者功能的时候会出现。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870869"/>
                  </a:ext>
                </a:extLst>
              </a:tr>
              <a:tr h="79609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35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Mixed </a:t>
                      </a:r>
                      <a:r>
                        <a:rPr lang="zh-CN" alt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自动模式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会根据执行的每一条具体的</a:t>
                      </a:r>
                      <a:r>
                        <a:rPr lang="en-US" altLang="zh-CN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语句来区分对待记录的日志格式，也就是在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Statement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之间选择一种。如果</a:t>
                      </a:r>
                      <a:r>
                        <a:rPr lang="en-US" altLang="zh-CN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语句确实就是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或者</a:t>
                      </a:r>
                      <a:r>
                        <a:rPr lang="en-US" altLang="zh-CN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等修改数据的语句，那么还是会记录所有行的变更。</a:t>
                      </a:r>
                      <a:endParaRPr lang="en-US" altLang="zh-CN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78832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E05C85BE-4E41-49FA-B19D-F84C9C7A1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98" y="3958360"/>
            <a:ext cx="217820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04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应用优化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B2F16C7-94BD-40CA-84DE-08FE8588D806}"/>
              </a:ext>
            </a:extLst>
          </p:cNvPr>
          <p:cNvSpPr/>
          <p:nvPr/>
        </p:nvSpPr>
        <p:spPr>
          <a:xfrm>
            <a:off x="164712" y="549154"/>
            <a:ext cx="713549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err="1"/>
              <a:t>Redission</a:t>
            </a:r>
            <a:r>
              <a:rPr lang="zh-CN" altLang="en-US" sz="1400" dirty="0"/>
              <a:t>简介：</a:t>
            </a:r>
            <a:endParaRPr lang="en-US" altLang="zh-CN" sz="1400" dirty="0"/>
          </a:p>
          <a:p>
            <a:r>
              <a:rPr lang="zh-CN" altLang="en-US" sz="1200" dirty="0"/>
              <a:t>         是基于</a:t>
            </a:r>
            <a:r>
              <a:rPr lang="en-US" altLang="zh-CN" sz="1200" dirty="0"/>
              <a:t>Redis</a:t>
            </a:r>
            <a:r>
              <a:rPr lang="zh-CN" altLang="en-US" sz="1200" dirty="0"/>
              <a:t>服务之上构建的分布式、可伸缩的</a:t>
            </a:r>
            <a:r>
              <a:rPr lang="en-US" altLang="zh-CN" sz="1200" dirty="0"/>
              <a:t>Java</a:t>
            </a:r>
            <a:r>
              <a:rPr lang="zh-CN" altLang="en-US" sz="1200" dirty="0"/>
              <a:t>数据结构，高级的</a:t>
            </a:r>
            <a:r>
              <a:rPr lang="en-US" altLang="zh-CN" sz="1200" dirty="0"/>
              <a:t>Redis</a:t>
            </a:r>
            <a:r>
              <a:rPr lang="zh-CN" altLang="en-US" sz="1200" dirty="0"/>
              <a:t>客户端，是</a:t>
            </a:r>
            <a:r>
              <a:rPr lang="en-US" altLang="zh-CN" sz="1200" dirty="0"/>
              <a:t>Redis</a:t>
            </a:r>
            <a:r>
              <a:rPr lang="zh-CN" altLang="en-US" sz="1200" dirty="0"/>
              <a:t>官方推荐的客户端之一。它提供了使用</a:t>
            </a:r>
            <a:r>
              <a:rPr lang="en-US" altLang="zh-CN" sz="1200" dirty="0"/>
              <a:t>Redis</a:t>
            </a:r>
            <a:r>
              <a:rPr lang="zh-CN" altLang="en-US" sz="1200" dirty="0"/>
              <a:t>的最简单和最便捷的方法，不仅提供了一系列的分布式的</a:t>
            </a:r>
            <a:r>
              <a:rPr lang="en-US" altLang="zh-CN" sz="1200" dirty="0"/>
              <a:t>Java</a:t>
            </a:r>
            <a:r>
              <a:rPr lang="zh-CN" altLang="en-US" sz="1200" dirty="0"/>
              <a:t>常用对象，还提供了许多分布式服务。</a:t>
            </a:r>
            <a:endParaRPr lang="en-US" altLang="zh-CN" sz="1200" dirty="0"/>
          </a:p>
          <a:p>
            <a:r>
              <a:rPr lang="en-US" altLang="zh-CN" sz="1200" dirty="0"/>
              <a:t>          </a:t>
            </a:r>
            <a:r>
              <a:rPr lang="en-US" altLang="zh-CN" sz="1200" dirty="0" err="1"/>
              <a:t>Redisson</a:t>
            </a:r>
            <a:r>
              <a:rPr lang="zh-CN" altLang="en-US" sz="1200" dirty="0"/>
              <a:t>的宗旨是促进使用者对</a:t>
            </a:r>
            <a:r>
              <a:rPr lang="en-US" altLang="zh-CN" sz="1200" dirty="0"/>
              <a:t>Redis</a:t>
            </a:r>
            <a:r>
              <a:rPr lang="zh-CN" altLang="en-US" sz="1200" dirty="0"/>
              <a:t>关注的分离（相关分离），从而让使用者能够将精力更集中地放在处理业务逻辑上。</a:t>
            </a:r>
            <a:endParaRPr lang="en-US" altLang="zh-CN" sz="1200" dirty="0"/>
          </a:p>
          <a:p>
            <a:r>
              <a:rPr lang="zh-CN" altLang="en-US" sz="1200" dirty="0"/>
              <a:t>         </a:t>
            </a:r>
            <a:r>
              <a:rPr lang="en-US" altLang="zh-CN" sz="1200" dirty="0" err="1"/>
              <a:t>Redisson</a:t>
            </a:r>
            <a:r>
              <a:rPr lang="zh-CN" altLang="en-US" sz="1200" dirty="0"/>
              <a:t>独立作为节点，可用于独立执行其他节点发布到分布式执行服务状语从句：分布式调度任务服务里的远程任务。</a:t>
            </a:r>
            <a:endParaRPr lang="en-US" altLang="zh-CN" sz="1200" dirty="0"/>
          </a:p>
          <a:p>
            <a:r>
              <a:rPr lang="en-US" altLang="zh-CN" sz="1200" dirty="0"/>
              <a:t>         </a:t>
            </a:r>
            <a:r>
              <a:rPr lang="en-US" altLang="zh-CN" sz="1200" dirty="0" err="1"/>
              <a:t>Redisson</a:t>
            </a:r>
            <a:r>
              <a:rPr lang="zh-CN" altLang="en-US" sz="1200" dirty="0"/>
              <a:t>底层采用的是</a:t>
            </a:r>
            <a:r>
              <a:rPr lang="en-US" altLang="zh-CN" sz="1200" dirty="0" err="1"/>
              <a:t>Netty</a:t>
            </a:r>
            <a:r>
              <a:rPr lang="zh-CN" altLang="en-US" sz="1200" dirty="0"/>
              <a:t>框架。</a:t>
            </a:r>
            <a:endParaRPr lang="en-US" altLang="zh-CN" sz="12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84740A2-3D24-455E-B509-B0B867E6B5CF}"/>
              </a:ext>
            </a:extLst>
          </p:cNvPr>
          <p:cNvSpPr/>
          <p:nvPr/>
        </p:nvSpPr>
        <p:spPr>
          <a:xfrm>
            <a:off x="164712" y="4891986"/>
            <a:ext cx="568980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dirty="0"/>
              <a:t>参见：</a:t>
            </a:r>
            <a:r>
              <a:rPr lang="en-US" altLang="zh-CN" sz="1000" dirty="0"/>
              <a:t> https://github.com/redisson/redisson/wiki/%E7%9B%AE%E5%BD%95</a:t>
            </a:r>
            <a:endParaRPr lang="zh-CN" altLang="en-US" sz="1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FBB2289-D446-4678-9DD9-D709CCB3AE60}"/>
              </a:ext>
            </a:extLst>
          </p:cNvPr>
          <p:cNvSpPr/>
          <p:nvPr/>
        </p:nvSpPr>
        <p:spPr>
          <a:xfrm>
            <a:off x="4609297" y="2258568"/>
            <a:ext cx="4534703" cy="1808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/>
              <a:t>对账二期为何不再使用</a:t>
            </a:r>
            <a:r>
              <a:rPr lang="en-US" altLang="zh-CN" sz="1400" dirty="0" err="1"/>
              <a:t>Redission</a:t>
            </a:r>
            <a:r>
              <a:rPr lang="zh-CN" altLang="en-US" sz="1400" dirty="0"/>
              <a:t>？</a:t>
            </a:r>
            <a:endParaRPr lang="en-US" altLang="zh-CN" sz="1400" dirty="0"/>
          </a:p>
          <a:p>
            <a:r>
              <a:rPr lang="en-US" altLang="zh-CN" sz="1200" dirty="0"/>
              <a:t>         1</a:t>
            </a:r>
            <a:r>
              <a:rPr lang="zh-CN" altLang="en-US" sz="1200" dirty="0"/>
              <a:t>、各系统统一使用一种</a:t>
            </a:r>
            <a:r>
              <a:rPr lang="en-US" altLang="zh-CN" sz="1200" dirty="0"/>
              <a:t>Redis</a:t>
            </a:r>
            <a:r>
              <a:rPr lang="zh-CN" altLang="en-US" sz="1200" dirty="0"/>
              <a:t>客户端工具，</a:t>
            </a:r>
            <a:r>
              <a:rPr lang="en-US" altLang="zh-CN" sz="1200" dirty="0"/>
              <a:t>Spring-Data-Redis</a:t>
            </a:r>
          </a:p>
          <a:p>
            <a:r>
              <a:rPr lang="en-US" altLang="zh-CN" sz="1200" dirty="0"/>
              <a:t>         2</a:t>
            </a:r>
            <a:r>
              <a:rPr lang="zh-CN" altLang="en-US" sz="1200" dirty="0"/>
              <a:t>、</a:t>
            </a:r>
            <a:r>
              <a:rPr lang="en-US" altLang="zh-CN" sz="1200" dirty="0" err="1"/>
              <a:t>Redission</a:t>
            </a:r>
            <a:r>
              <a:rPr lang="zh-CN" altLang="en-US" sz="1200" dirty="0"/>
              <a:t>哨兵集群模式下，源码不会设置密码（单节点、主从模式会设置） ，导致无法连接</a:t>
            </a:r>
            <a:r>
              <a:rPr lang="en-US" altLang="zh-CN" sz="1200" dirty="0" err="1"/>
              <a:t>redis</a:t>
            </a:r>
            <a:r>
              <a:rPr lang="zh-CN" altLang="en-US" sz="1200" dirty="0"/>
              <a:t>指定数据库</a:t>
            </a:r>
            <a:r>
              <a:rPr lang="en-US" altLang="zh-CN" sz="1200" dirty="0"/>
              <a:t>(</a:t>
            </a:r>
            <a:r>
              <a:rPr lang="zh-CN" altLang="en-US" sz="1200" dirty="0"/>
              <a:t>对账使用</a:t>
            </a:r>
            <a:r>
              <a:rPr lang="en-US" altLang="zh-CN" sz="1200" dirty="0"/>
              <a:t>10</a:t>
            </a:r>
            <a:r>
              <a:rPr lang="zh-CN" altLang="en-US" sz="1200" dirty="0"/>
              <a:t>号库</a:t>
            </a:r>
            <a:r>
              <a:rPr lang="en-US" altLang="zh-CN" sz="1200" dirty="0"/>
              <a:t>)</a:t>
            </a:r>
            <a:r>
              <a:rPr lang="zh-CN" altLang="en-US" sz="1200" dirty="0"/>
              <a:t>，但可以连接默认的</a:t>
            </a:r>
            <a:r>
              <a:rPr lang="en-US" altLang="zh-CN" sz="1200" dirty="0"/>
              <a:t>0</a:t>
            </a:r>
            <a:r>
              <a:rPr lang="zh-CN" altLang="en-US" sz="1200" dirty="0"/>
              <a:t>号库。</a:t>
            </a:r>
            <a:endParaRPr lang="en-US" altLang="zh-CN" sz="1200" dirty="0"/>
          </a:p>
          <a:p>
            <a:r>
              <a:rPr lang="en-US" altLang="zh-CN" sz="1200" dirty="0"/>
              <a:t>         3</a:t>
            </a:r>
            <a:r>
              <a:rPr lang="zh-CN" altLang="en-US" sz="1200" dirty="0"/>
              <a:t>、咱们使用的</a:t>
            </a:r>
            <a:r>
              <a:rPr lang="en-US" altLang="zh-CN" sz="1200" dirty="0"/>
              <a:t>Spring-Data-Redis 1.4</a:t>
            </a:r>
            <a:r>
              <a:rPr lang="zh-CN" altLang="en-US" sz="1200" dirty="0"/>
              <a:t>版本，多线程</a:t>
            </a:r>
            <a:r>
              <a:rPr lang="en-US" altLang="zh-CN" sz="1200" dirty="0"/>
              <a:t>SCAN</a:t>
            </a:r>
            <a:r>
              <a:rPr lang="zh-CN" altLang="en-US" sz="1200" dirty="0"/>
              <a:t>遍历时可能发生</a:t>
            </a:r>
            <a:r>
              <a:rPr lang="en-US" altLang="zh-CN" sz="1200" dirty="0" err="1"/>
              <a:t>ClassCastException</a:t>
            </a:r>
            <a:r>
              <a:rPr lang="zh-CN" altLang="en-US" sz="1200" dirty="0"/>
              <a:t>异常或</a:t>
            </a:r>
            <a:r>
              <a:rPr lang="en-US" altLang="zh-CN" sz="1200" dirty="0"/>
              <a:t>unknown reply</a:t>
            </a:r>
            <a:r>
              <a:rPr lang="zh-CN" altLang="en-US" sz="1200" dirty="0"/>
              <a:t>错误，</a:t>
            </a:r>
            <a:r>
              <a:rPr lang="en-US" altLang="zh-CN" sz="1200" dirty="0"/>
              <a:t> Spring-Data-Redis 1.8 RC1</a:t>
            </a:r>
            <a:r>
              <a:rPr lang="zh-CN" altLang="en-US" sz="1200" dirty="0"/>
              <a:t>版本已修复；对账二期是通过</a:t>
            </a:r>
            <a:r>
              <a:rPr lang="en-US" altLang="zh-CN" sz="1200" dirty="0" err="1"/>
              <a:t>readAll</a:t>
            </a:r>
            <a:r>
              <a:rPr lang="zh-CN" altLang="en-US" sz="1200" dirty="0"/>
              <a:t>的方式，一次读到内存，然后遍历的方式处理了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39EA17-A7D1-45BB-AD24-A100F2F6D5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12" y="2355362"/>
            <a:ext cx="4192602" cy="2497187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2A7D51D2-80C9-4F43-9AC9-55791DFCD62A}"/>
              </a:ext>
            </a:extLst>
          </p:cNvPr>
          <p:cNvGrpSpPr/>
          <p:nvPr/>
        </p:nvGrpSpPr>
        <p:grpSpPr>
          <a:xfrm>
            <a:off x="7300209" y="978445"/>
            <a:ext cx="1647667" cy="562141"/>
            <a:chOff x="3607851" y="1182687"/>
            <a:chExt cx="2196889" cy="988318"/>
          </a:xfrm>
        </p:grpSpPr>
        <p:sp>
          <p:nvSpPr>
            <p:cNvPr id="12" name="圆角矩形 4">
              <a:extLst>
                <a:ext uri="{FF2B5EF4-FFF2-40B4-BE49-F238E27FC236}">
                  <a16:creationId xmlns:a16="http://schemas.microsoft.com/office/drawing/2014/main" id="{1BA197DA-552A-4B25-BE99-F204257715A6}"/>
                </a:ext>
              </a:extLst>
            </p:cNvPr>
            <p:cNvSpPr/>
            <p:nvPr/>
          </p:nvSpPr>
          <p:spPr>
            <a:xfrm>
              <a:off x="3607851" y="1182687"/>
              <a:ext cx="2086801" cy="984922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BD11BD7-5133-40C9-B84D-925EF7E79E9C}"/>
                </a:ext>
              </a:extLst>
            </p:cNvPr>
            <p:cNvSpPr txBox="1"/>
            <p:nvPr/>
          </p:nvSpPr>
          <p:spPr>
            <a:xfrm>
              <a:off x="3717939" y="1251115"/>
              <a:ext cx="2086801" cy="919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01ACBE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rPr>
                <a:t>对账一期应用的              </a:t>
              </a:r>
              <a:r>
                <a:rPr lang="en-US" altLang="zh-CN" sz="1400" b="1" dirty="0">
                  <a:solidFill>
                    <a:srgbClr val="01ACBE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rPr>
                <a:t>Redis</a:t>
              </a:r>
              <a:r>
                <a:rPr lang="zh-CN" altLang="en-US" sz="1400" b="1" dirty="0">
                  <a:solidFill>
                    <a:srgbClr val="01ACBE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rPr>
                <a:t>客户端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071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8" grpId="0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83363" y="722482"/>
            <a:ext cx="24327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Redis</a:t>
            </a:r>
            <a:r>
              <a:rPr lang="zh-CN" altLang="en-US" sz="1400" dirty="0"/>
              <a:t> </a:t>
            </a:r>
            <a:r>
              <a:rPr lang="en-US" altLang="zh-CN" sz="1400" dirty="0"/>
              <a:t>Set</a:t>
            </a:r>
            <a:r>
              <a:rPr lang="zh-CN" altLang="en-US" sz="1400" dirty="0"/>
              <a:t>数据存入</a:t>
            </a:r>
            <a:r>
              <a:rPr lang="en-US" altLang="zh-CN" sz="1400" dirty="0"/>
              <a:t>(</a:t>
            </a:r>
            <a:r>
              <a:rPr lang="zh-CN" altLang="en-US" sz="1400" dirty="0"/>
              <a:t>单线程</a:t>
            </a:r>
            <a:r>
              <a:rPr lang="en-US" altLang="zh-CN" sz="1400" dirty="0"/>
              <a:t>) </a:t>
            </a:r>
            <a:r>
              <a:rPr lang="zh-CN" altLang="en-US" sz="1400" dirty="0"/>
              <a:t>：</a:t>
            </a:r>
            <a:endParaRPr lang="en-US" altLang="zh-CN" sz="1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F0F095-5A47-4FB8-B173-65DB380322A4}"/>
              </a:ext>
            </a:extLst>
          </p:cNvPr>
          <p:cNvSpPr/>
          <p:nvPr/>
        </p:nvSpPr>
        <p:spPr>
          <a:xfrm>
            <a:off x="4485805" y="736897"/>
            <a:ext cx="24327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Redis</a:t>
            </a:r>
            <a:r>
              <a:rPr lang="zh-CN" altLang="en-US" sz="1400" dirty="0"/>
              <a:t> </a:t>
            </a:r>
            <a:r>
              <a:rPr lang="en-US" altLang="zh-CN" sz="1400" dirty="0"/>
              <a:t>Set</a:t>
            </a:r>
            <a:r>
              <a:rPr lang="zh-CN" altLang="en-US" sz="1400" dirty="0"/>
              <a:t>数据获取</a:t>
            </a:r>
            <a:r>
              <a:rPr lang="en-US" altLang="zh-CN" sz="1400" dirty="0"/>
              <a:t>(</a:t>
            </a:r>
            <a:r>
              <a:rPr lang="zh-CN" altLang="en-US" sz="1400" dirty="0"/>
              <a:t>单线程</a:t>
            </a:r>
            <a:r>
              <a:rPr lang="en-US" altLang="zh-CN" sz="1400" dirty="0"/>
              <a:t>) </a:t>
            </a:r>
            <a:r>
              <a:rPr lang="zh-CN" altLang="en-US" sz="1400" b="1" dirty="0"/>
              <a:t>：</a:t>
            </a:r>
            <a:endParaRPr lang="en-US" altLang="zh-CN" sz="1400" b="1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BBE4133-BA7C-46C3-A464-E5CEB0310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7378"/>
              </p:ext>
            </p:extLst>
          </p:nvPr>
        </p:nvGraphicFramePr>
        <p:xfrm>
          <a:off x="164713" y="1028481"/>
          <a:ext cx="4321092" cy="30911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4378">
                  <a:extLst>
                    <a:ext uri="{9D8B030D-6E8A-4147-A177-3AD203B41FA5}">
                      <a16:colId xmlns:a16="http://schemas.microsoft.com/office/drawing/2014/main" val="4039101945"/>
                    </a:ext>
                  </a:extLst>
                </a:gridCol>
                <a:gridCol w="547141">
                  <a:extLst>
                    <a:ext uri="{9D8B030D-6E8A-4147-A177-3AD203B41FA5}">
                      <a16:colId xmlns:a16="http://schemas.microsoft.com/office/drawing/2014/main" val="2917620218"/>
                    </a:ext>
                  </a:extLst>
                </a:gridCol>
                <a:gridCol w="1109272">
                  <a:extLst>
                    <a:ext uri="{9D8B030D-6E8A-4147-A177-3AD203B41FA5}">
                      <a16:colId xmlns:a16="http://schemas.microsoft.com/office/drawing/2014/main" val="3289861816"/>
                    </a:ext>
                  </a:extLst>
                </a:gridCol>
                <a:gridCol w="1220301">
                  <a:extLst>
                    <a:ext uri="{9D8B030D-6E8A-4147-A177-3AD203B41FA5}">
                      <a16:colId xmlns:a16="http://schemas.microsoft.com/office/drawing/2014/main" val="2855448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Redis</a:t>
                      </a:r>
                      <a:r>
                        <a:rPr lang="zh-CN" altLang="en-US" dirty="0"/>
                        <a:t>客户端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耗时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1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add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50W/2111ms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01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add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轮循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1W/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100W/9355ms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02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add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100W/3660ms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469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Redission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addAll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轮循</a:t>
                      </a:r>
                      <a:r>
                        <a:rPr lang="en-US" altLang="zh-CN" dirty="0"/>
                        <a:t>1W/</a:t>
                      </a:r>
                      <a:r>
                        <a:rPr lang="zh-CN" altLang="en-US" dirty="0"/>
                        <a:t>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200W/4010ms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3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Redission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addAll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batch</a:t>
                      </a:r>
                    </a:p>
                    <a:p>
                      <a:pPr algn="ctr"/>
                      <a:r>
                        <a:rPr lang="zh-CN" altLang="en-US" dirty="0"/>
                        <a:t>轮循</a:t>
                      </a:r>
                      <a:r>
                        <a:rPr lang="en-US" altLang="zh-CN" dirty="0"/>
                        <a:t>1W/</a:t>
                      </a:r>
                      <a:r>
                        <a:rPr lang="zh-CN" altLang="en-US" dirty="0"/>
                        <a:t>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200W/3161ms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317359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C342131C-DF9C-4D46-95B2-DBB8114FD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103371"/>
              </p:ext>
            </p:extLst>
          </p:nvPr>
        </p:nvGraphicFramePr>
        <p:xfrm>
          <a:off x="4567155" y="1028481"/>
          <a:ext cx="4222596" cy="2118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6552">
                  <a:extLst>
                    <a:ext uri="{9D8B030D-6E8A-4147-A177-3AD203B41FA5}">
                      <a16:colId xmlns:a16="http://schemas.microsoft.com/office/drawing/2014/main" val="3357285332"/>
                    </a:ext>
                  </a:extLst>
                </a:gridCol>
                <a:gridCol w="547141">
                  <a:extLst>
                    <a:ext uri="{9D8B030D-6E8A-4147-A177-3AD203B41FA5}">
                      <a16:colId xmlns:a16="http://schemas.microsoft.com/office/drawing/2014/main" val="1988662868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174590239"/>
                    </a:ext>
                  </a:extLst>
                </a:gridCol>
                <a:gridCol w="1239552">
                  <a:extLst>
                    <a:ext uri="{9D8B030D-6E8A-4147-A177-3AD203B41FA5}">
                      <a16:colId xmlns:a16="http://schemas.microsoft.com/office/drawing/2014/main" val="1234620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Redis</a:t>
                      </a:r>
                      <a:r>
                        <a:rPr lang="zh-CN" altLang="en-US" dirty="0"/>
                        <a:t>客户端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耗时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95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members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50W/2108ms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345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members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100W/5001ms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76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Redission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getSet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1W/1215ms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019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Redission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getSet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readAll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1W/142ms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810929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235EB92C-623C-4B2F-BAD9-3E6B5D5A5F3E}"/>
              </a:ext>
            </a:extLst>
          </p:cNvPr>
          <p:cNvSpPr/>
          <p:nvPr/>
        </p:nvSpPr>
        <p:spPr>
          <a:xfrm>
            <a:off x="83363" y="492761"/>
            <a:ext cx="2241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开发环境</a:t>
            </a:r>
            <a:r>
              <a:rPr lang="en-US" altLang="zh-CN" sz="1400" b="1" dirty="0"/>
              <a:t>Redis</a:t>
            </a:r>
            <a:r>
              <a:rPr lang="zh-CN" altLang="en-US" sz="1400" b="1" dirty="0"/>
              <a:t> 测试数据：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07852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83363" y="914222"/>
            <a:ext cx="24962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Redis</a:t>
            </a:r>
            <a:r>
              <a:rPr lang="zh-CN" altLang="en-US" sz="1400" dirty="0"/>
              <a:t> </a:t>
            </a:r>
            <a:r>
              <a:rPr lang="en-US" altLang="zh-CN" sz="1400" dirty="0"/>
              <a:t>Map</a:t>
            </a:r>
            <a:r>
              <a:rPr lang="zh-CN" altLang="en-US" sz="1400" dirty="0"/>
              <a:t>数据存入</a:t>
            </a:r>
            <a:r>
              <a:rPr lang="en-US" altLang="zh-CN" sz="1400" dirty="0"/>
              <a:t>(</a:t>
            </a:r>
            <a:r>
              <a:rPr lang="zh-CN" altLang="en-US" sz="1400" dirty="0"/>
              <a:t>单线程</a:t>
            </a:r>
            <a:r>
              <a:rPr lang="en-US" altLang="zh-CN" sz="1400" dirty="0"/>
              <a:t>)</a:t>
            </a:r>
            <a:r>
              <a:rPr lang="zh-CN" altLang="en-US" sz="1400" dirty="0"/>
              <a:t>：</a:t>
            </a:r>
            <a:endParaRPr lang="en-US" altLang="zh-CN" sz="1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F0F095-5A47-4FB8-B173-65DB380322A4}"/>
              </a:ext>
            </a:extLst>
          </p:cNvPr>
          <p:cNvSpPr/>
          <p:nvPr/>
        </p:nvSpPr>
        <p:spPr>
          <a:xfrm>
            <a:off x="4480661" y="926664"/>
            <a:ext cx="25363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Redis</a:t>
            </a:r>
            <a:r>
              <a:rPr lang="zh-CN" altLang="en-US" sz="1400" dirty="0"/>
              <a:t> </a:t>
            </a:r>
            <a:r>
              <a:rPr lang="en-US" altLang="zh-CN" sz="1400" dirty="0"/>
              <a:t>Map</a:t>
            </a:r>
            <a:r>
              <a:rPr lang="zh-CN" altLang="en-US" sz="1400" dirty="0"/>
              <a:t>数据获取</a:t>
            </a:r>
            <a:r>
              <a:rPr lang="en-US" altLang="zh-CN" sz="1400" dirty="0"/>
              <a:t>(</a:t>
            </a:r>
            <a:r>
              <a:rPr lang="zh-CN" altLang="en-US" sz="1400" dirty="0"/>
              <a:t>单线程</a:t>
            </a:r>
            <a:r>
              <a:rPr lang="en-US" altLang="zh-CN" sz="1400" dirty="0"/>
              <a:t>) </a:t>
            </a:r>
            <a:r>
              <a:rPr lang="zh-CN" altLang="en-US" sz="1400" b="1" dirty="0"/>
              <a:t>：</a:t>
            </a:r>
            <a:endParaRPr lang="en-US" altLang="zh-CN" sz="1400" b="1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BBE4133-BA7C-46C3-A464-E5CEB0310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764186"/>
              </p:ext>
            </p:extLst>
          </p:nvPr>
        </p:nvGraphicFramePr>
        <p:xfrm>
          <a:off x="159569" y="1195070"/>
          <a:ext cx="4321092" cy="17145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4378">
                  <a:extLst>
                    <a:ext uri="{9D8B030D-6E8A-4147-A177-3AD203B41FA5}">
                      <a16:colId xmlns:a16="http://schemas.microsoft.com/office/drawing/2014/main" val="4039101945"/>
                    </a:ext>
                  </a:extLst>
                </a:gridCol>
                <a:gridCol w="532151">
                  <a:extLst>
                    <a:ext uri="{9D8B030D-6E8A-4147-A177-3AD203B41FA5}">
                      <a16:colId xmlns:a16="http://schemas.microsoft.com/office/drawing/2014/main" val="2917620218"/>
                    </a:ext>
                  </a:extLst>
                </a:gridCol>
                <a:gridCol w="1019332">
                  <a:extLst>
                    <a:ext uri="{9D8B030D-6E8A-4147-A177-3AD203B41FA5}">
                      <a16:colId xmlns:a16="http://schemas.microsoft.com/office/drawing/2014/main" val="3289861816"/>
                    </a:ext>
                  </a:extLst>
                </a:gridCol>
                <a:gridCol w="1325231">
                  <a:extLst>
                    <a:ext uri="{9D8B030D-6E8A-4147-A177-3AD203B41FA5}">
                      <a16:colId xmlns:a16="http://schemas.microsoft.com/office/drawing/2014/main" val="2855448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Redis</a:t>
                      </a:r>
                      <a:r>
                        <a:rPr lang="zh-CN" altLang="en-US" dirty="0"/>
                        <a:t>客户端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耗时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1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putAll</a:t>
                      </a:r>
                      <a:endParaRPr lang="en-US" altLang="zh-CN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轮循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1W/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200W/14501ms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01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putAll</a:t>
                      </a:r>
                      <a:endParaRPr lang="en-US" altLang="zh-CN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Pipeline</a:t>
                      </a:r>
                    </a:p>
                    <a:p>
                      <a:pPr algn="ctr"/>
                      <a:r>
                        <a:rPr lang="zh-CN" altLang="en-US" dirty="0"/>
                        <a:t>轮循</a:t>
                      </a:r>
                      <a:r>
                        <a:rPr lang="en-US" altLang="zh-CN" dirty="0"/>
                        <a:t>1W/</a:t>
                      </a:r>
                      <a:r>
                        <a:rPr lang="zh-CN" altLang="en-US" dirty="0"/>
                        <a:t>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200W/11836ms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02466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C342131C-DF9C-4D46-95B2-DBB8114FD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65867"/>
              </p:ext>
            </p:extLst>
          </p:nvPr>
        </p:nvGraphicFramePr>
        <p:xfrm>
          <a:off x="4571999" y="1195070"/>
          <a:ext cx="4321093" cy="1986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80294">
                  <a:extLst>
                    <a:ext uri="{9D8B030D-6E8A-4147-A177-3AD203B41FA5}">
                      <a16:colId xmlns:a16="http://schemas.microsoft.com/office/drawing/2014/main" val="3357285332"/>
                    </a:ext>
                  </a:extLst>
                </a:gridCol>
                <a:gridCol w="559904">
                  <a:extLst>
                    <a:ext uri="{9D8B030D-6E8A-4147-A177-3AD203B41FA5}">
                      <a16:colId xmlns:a16="http://schemas.microsoft.com/office/drawing/2014/main" val="1988662868"/>
                    </a:ext>
                  </a:extLst>
                </a:gridCol>
                <a:gridCol w="875390">
                  <a:extLst>
                    <a:ext uri="{9D8B030D-6E8A-4147-A177-3AD203B41FA5}">
                      <a16:colId xmlns:a16="http://schemas.microsoft.com/office/drawing/2014/main" val="174590239"/>
                    </a:ext>
                  </a:extLst>
                </a:gridCol>
                <a:gridCol w="1405505">
                  <a:extLst>
                    <a:ext uri="{9D8B030D-6E8A-4147-A177-3AD203B41FA5}">
                      <a16:colId xmlns:a16="http://schemas.microsoft.com/office/drawing/2014/main" val="1234620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Redis</a:t>
                      </a:r>
                      <a:r>
                        <a:rPr lang="zh-CN" altLang="en-US" dirty="0"/>
                        <a:t>客户端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耗时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95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1W/555ms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345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10W/65240ms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76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50W/251625ms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019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100W/551770ms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810929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235EB92C-623C-4B2F-BAD9-3E6B5D5A5F3E}"/>
              </a:ext>
            </a:extLst>
          </p:cNvPr>
          <p:cNvSpPr/>
          <p:nvPr/>
        </p:nvSpPr>
        <p:spPr>
          <a:xfrm>
            <a:off x="83363" y="658257"/>
            <a:ext cx="2241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开发环境</a:t>
            </a:r>
            <a:r>
              <a:rPr lang="en-US" altLang="zh-CN" sz="1400" b="1" dirty="0"/>
              <a:t>Redis</a:t>
            </a:r>
            <a:r>
              <a:rPr lang="zh-CN" altLang="en-US" sz="1400" b="1" dirty="0"/>
              <a:t> 测试数据：</a:t>
            </a:r>
            <a:endParaRPr lang="en-US" altLang="zh-CN" sz="14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65E944-B40E-498C-8F5C-BC708EA65CBB}"/>
              </a:ext>
            </a:extLst>
          </p:cNvPr>
          <p:cNvSpPr/>
          <p:nvPr/>
        </p:nvSpPr>
        <p:spPr>
          <a:xfrm>
            <a:off x="4480661" y="3266606"/>
            <a:ext cx="29313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Redis</a:t>
            </a:r>
            <a:r>
              <a:rPr lang="zh-CN" altLang="en-US" sz="1400" dirty="0"/>
              <a:t> </a:t>
            </a:r>
            <a:r>
              <a:rPr lang="en-US" altLang="zh-CN" sz="1400" dirty="0"/>
              <a:t>Set</a:t>
            </a:r>
            <a:r>
              <a:rPr lang="zh-CN" altLang="en-US" sz="1400" dirty="0"/>
              <a:t>数据差集、交集</a:t>
            </a:r>
            <a:r>
              <a:rPr lang="en-US" altLang="zh-CN" sz="1400" dirty="0"/>
              <a:t>(</a:t>
            </a:r>
            <a:r>
              <a:rPr lang="zh-CN" altLang="en-US" sz="1400" dirty="0"/>
              <a:t>单线程</a:t>
            </a:r>
            <a:r>
              <a:rPr lang="en-US" altLang="zh-CN" sz="1400" dirty="0"/>
              <a:t>)</a:t>
            </a:r>
            <a:r>
              <a:rPr lang="zh-CN" altLang="en-US" sz="1400" dirty="0"/>
              <a:t>：</a:t>
            </a:r>
            <a:endParaRPr lang="en-US" altLang="zh-CN" sz="1400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710F69AD-C9DB-4EED-866A-C25E26B1A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084193"/>
              </p:ext>
            </p:extLst>
          </p:nvPr>
        </p:nvGraphicFramePr>
        <p:xfrm>
          <a:off x="4572000" y="3544305"/>
          <a:ext cx="4321092" cy="1508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44378">
                  <a:extLst>
                    <a:ext uri="{9D8B030D-6E8A-4147-A177-3AD203B41FA5}">
                      <a16:colId xmlns:a16="http://schemas.microsoft.com/office/drawing/2014/main" val="4039101945"/>
                    </a:ext>
                  </a:extLst>
                </a:gridCol>
                <a:gridCol w="532151">
                  <a:extLst>
                    <a:ext uri="{9D8B030D-6E8A-4147-A177-3AD203B41FA5}">
                      <a16:colId xmlns:a16="http://schemas.microsoft.com/office/drawing/2014/main" val="2917620218"/>
                    </a:ext>
                  </a:extLst>
                </a:gridCol>
                <a:gridCol w="1019332">
                  <a:extLst>
                    <a:ext uri="{9D8B030D-6E8A-4147-A177-3AD203B41FA5}">
                      <a16:colId xmlns:a16="http://schemas.microsoft.com/office/drawing/2014/main" val="3289861816"/>
                    </a:ext>
                  </a:extLst>
                </a:gridCol>
                <a:gridCol w="1325231">
                  <a:extLst>
                    <a:ext uri="{9D8B030D-6E8A-4147-A177-3AD203B41FA5}">
                      <a16:colId xmlns:a16="http://schemas.microsoft.com/office/drawing/2014/main" val="2855448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Redis</a:t>
                      </a:r>
                      <a:r>
                        <a:rPr lang="zh-CN" altLang="en-US" dirty="0"/>
                        <a:t>客户端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耗时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1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rgbClr val="FF0000"/>
                          </a:solidFill>
                        </a:rPr>
                        <a:t>differenceAndStore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50W/1531ms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01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Spring-Data-Redis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50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intersectAndStore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200W/1926ms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02466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367C9CE7-FAD7-4484-B86B-AFF5303B21B4}"/>
              </a:ext>
            </a:extLst>
          </p:cNvPr>
          <p:cNvSpPr/>
          <p:nvPr/>
        </p:nvSpPr>
        <p:spPr>
          <a:xfrm>
            <a:off x="83363" y="3292494"/>
            <a:ext cx="431143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方案：</a:t>
            </a:r>
            <a:endParaRPr lang="en-US" altLang="zh-CN" dirty="0"/>
          </a:p>
          <a:p>
            <a:r>
              <a:rPr lang="en-US" altLang="zh-CN" dirty="0"/>
              <a:t>        1</a:t>
            </a:r>
            <a:r>
              <a:rPr lang="zh-CN" altLang="en-US" dirty="0"/>
              <a:t>、</a:t>
            </a:r>
            <a:r>
              <a:rPr lang="en-US" altLang="zh-CN" dirty="0"/>
              <a:t> Redis</a:t>
            </a:r>
            <a:r>
              <a:rPr lang="zh-CN" altLang="en-US" dirty="0"/>
              <a:t>客户端工具统一使用</a:t>
            </a:r>
            <a:r>
              <a:rPr lang="en-US" altLang="zh-CN" dirty="0"/>
              <a:t>Spring-Data-Redis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2</a:t>
            </a:r>
            <a:r>
              <a:rPr lang="zh-CN" altLang="en-US" dirty="0"/>
              <a:t>、多线程，且分</a:t>
            </a:r>
            <a:r>
              <a:rPr lang="en-US" altLang="zh-CN" dirty="0"/>
              <a:t>1W</a:t>
            </a:r>
            <a:r>
              <a:rPr lang="zh-CN" altLang="en-US" dirty="0"/>
              <a:t>批次存取S</a:t>
            </a:r>
            <a:r>
              <a:rPr lang="en-US" altLang="zh-CN" dirty="0"/>
              <a:t>et</a:t>
            </a:r>
            <a:r>
              <a:rPr lang="zh-CN" altLang="en-US" dirty="0"/>
              <a:t>、</a:t>
            </a:r>
            <a:r>
              <a:rPr lang="en-US" altLang="zh-CN" dirty="0"/>
              <a:t>Map</a:t>
            </a:r>
            <a:r>
              <a:rPr lang="zh-CN" altLang="en-US" dirty="0"/>
              <a:t>数据</a:t>
            </a:r>
            <a:endParaRPr lang="en-US" altLang="zh-CN" dirty="0"/>
          </a:p>
          <a:p>
            <a:r>
              <a:rPr lang="en-US" altLang="zh-CN" dirty="0"/>
              <a:t>        3</a:t>
            </a:r>
            <a:r>
              <a:rPr lang="zh-CN" altLang="en-US" dirty="0"/>
              <a:t>、订单号</a:t>
            </a:r>
            <a:r>
              <a:rPr lang="en-US" altLang="zh-CN" dirty="0"/>
              <a:t>Set</a:t>
            </a:r>
            <a:r>
              <a:rPr lang="zh-CN" altLang="en-US" dirty="0"/>
              <a:t>集合readAll一次读到内存，然后遍历</a:t>
            </a:r>
          </a:p>
        </p:txBody>
      </p:sp>
    </p:spTree>
    <p:extLst>
      <p:ext uri="{BB962C8B-B14F-4D97-AF65-F5344CB8AC3E}">
        <p14:creationId xmlns:p14="http://schemas.microsoft.com/office/powerpoint/2010/main" val="388598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120532" y="430541"/>
            <a:ext cx="23593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/>
              <a:t>Spring-data-</a:t>
            </a:r>
            <a:r>
              <a:rPr lang="en-US" altLang="zh-CN" sz="1400" b="1" dirty="0" err="1"/>
              <a:t>redis</a:t>
            </a:r>
            <a:r>
              <a:rPr lang="zh-CN" altLang="en-US" sz="1400" b="1" dirty="0"/>
              <a:t>配置优化：</a:t>
            </a:r>
            <a:endParaRPr lang="en-US" altLang="zh-CN" sz="14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E0383E-FF2F-48C4-9F06-42D632FC1BBE}"/>
              </a:ext>
            </a:extLst>
          </p:cNvPr>
          <p:cNvSpPr/>
          <p:nvPr/>
        </p:nvSpPr>
        <p:spPr>
          <a:xfrm>
            <a:off x="120532" y="2330121"/>
            <a:ext cx="4572000" cy="21544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dirty="0"/>
              <a:t>JedisPoolConfig：</a:t>
            </a:r>
          </a:p>
          <a:p>
            <a:r>
              <a:rPr lang="zh-CN" altLang="en-US" sz="1200" dirty="0"/>
              <a:t>         maxTotal：最大连接数，</a:t>
            </a:r>
            <a:r>
              <a:rPr lang="en-US" altLang="zh-CN" sz="1200" dirty="0"/>
              <a:t> </a:t>
            </a:r>
            <a:r>
              <a:rPr lang="zh-CN" altLang="en-US" sz="1200" dirty="0"/>
              <a:t>默认</a:t>
            </a:r>
            <a:r>
              <a:rPr lang="en-US" altLang="zh-CN" sz="1200" dirty="0"/>
              <a:t>8</a:t>
            </a:r>
            <a:r>
              <a:rPr lang="zh-CN" altLang="en-US" sz="1200" dirty="0"/>
              <a:t>个</a:t>
            </a:r>
          </a:p>
          <a:p>
            <a:r>
              <a:rPr lang="zh-CN" altLang="en-US" sz="1200" dirty="0"/>
              <a:t>         maxIdle：最大空闲连接数，默认</a:t>
            </a:r>
            <a:r>
              <a:rPr lang="en-US" altLang="zh-CN" sz="1200" dirty="0"/>
              <a:t>8</a:t>
            </a:r>
            <a:r>
              <a:rPr lang="zh-CN" altLang="en-US" sz="1200" dirty="0"/>
              <a:t>个</a:t>
            </a:r>
          </a:p>
          <a:p>
            <a:r>
              <a:rPr lang="zh-CN" altLang="en-US" sz="1200" dirty="0"/>
              <a:t>         maxWaitMillis：获取连接时的最大等待毫秒数</a:t>
            </a:r>
            <a:r>
              <a:rPr lang="en-US" altLang="zh-CN" sz="1200" dirty="0"/>
              <a:t>(</a:t>
            </a:r>
            <a:r>
              <a:rPr lang="zh-CN" altLang="en-US" sz="1200" dirty="0"/>
              <a:t>如果</a:t>
            </a:r>
            <a:endParaRPr lang="en-US" altLang="zh-CN" sz="1200" dirty="0"/>
          </a:p>
          <a:p>
            <a:r>
              <a:rPr lang="zh-CN" altLang="en-US" sz="1200" dirty="0"/>
              <a:t>设置为阻塞时</a:t>
            </a:r>
            <a:r>
              <a:rPr lang="en-US" altLang="zh-CN" sz="1200" dirty="0" err="1"/>
              <a:t>BlockWhenExhausted</a:t>
            </a:r>
            <a:r>
              <a:rPr lang="en-US" altLang="zh-CN" sz="1200" dirty="0"/>
              <a:t>)</a:t>
            </a:r>
            <a:r>
              <a:rPr lang="zh-CN" altLang="en-US" sz="1200" dirty="0"/>
              <a:t>，如果超时就抛异常，</a:t>
            </a:r>
            <a:endParaRPr lang="en-US" altLang="zh-CN" sz="1200" dirty="0"/>
          </a:p>
          <a:p>
            <a:r>
              <a:rPr lang="zh-CN" altLang="en-US" sz="1200" dirty="0"/>
              <a:t>小于零：阻塞不确定的时间</a:t>
            </a:r>
            <a:r>
              <a:rPr lang="en-US" altLang="zh-CN" sz="1200" dirty="0"/>
              <a:t> </a:t>
            </a:r>
            <a:r>
              <a:rPr lang="zh-CN" altLang="en-US" sz="1200" dirty="0"/>
              <a:t>，默认</a:t>
            </a:r>
            <a:r>
              <a:rPr lang="en-US" altLang="zh-CN" sz="1200" dirty="0"/>
              <a:t>-1</a:t>
            </a:r>
          </a:p>
          <a:p>
            <a:r>
              <a:rPr lang="en-US" altLang="zh-CN" sz="1200" dirty="0"/>
              <a:t>         </a:t>
            </a:r>
            <a:r>
              <a:rPr lang="en-US" altLang="zh-CN" sz="1200" dirty="0" err="1"/>
              <a:t>testOnBorrow</a:t>
            </a:r>
            <a:r>
              <a:rPr lang="zh-CN" altLang="en-US" sz="1200" dirty="0"/>
              <a:t>：在获取连接的时候检查有效性</a:t>
            </a:r>
            <a:r>
              <a:rPr lang="en-US" altLang="zh-CN" sz="1200" dirty="0"/>
              <a:t>,</a:t>
            </a:r>
            <a:r>
              <a:rPr lang="zh-CN" altLang="en-US" sz="1200" dirty="0"/>
              <a:t>，默认</a:t>
            </a:r>
            <a:r>
              <a:rPr lang="en-US" altLang="zh-CN" sz="1200" dirty="0"/>
              <a:t>false</a:t>
            </a:r>
          </a:p>
          <a:p>
            <a:r>
              <a:rPr lang="en-US" altLang="zh-CN" sz="1200" dirty="0"/>
              <a:t>         </a:t>
            </a:r>
            <a:r>
              <a:rPr lang="en-US" altLang="zh-CN" sz="1200" dirty="0" err="1"/>
              <a:t>testOnReturn</a:t>
            </a:r>
            <a:r>
              <a:rPr lang="zh-CN" altLang="en-US" sz="1200" dirty="0"/>
              <a:t>：在返回连接的时候检查有效性，</a:t>
            </a:r>
            <a:r>
              <a:rPr lang="en-US" altLang="zh-CN" sz="1200" dirty="0"/>
              <a:t> </a:t>
            </a:r>
            <a:r>
              <a:rPr lang="zh-CN" altLang="en-US" sz="1200" dirty="0"/>
              <a:t>默认</a:t>
            </a:r>
            <a:r>
              <a:rPr lang="en-US" altLang="zh-CN" sz="1200" dirty="0"/>
              <a:t>false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 </a:t>
            </a:r>
            <a:r>
              <a:rPr lang="en-US" altLang="zh-CN" sz="1200" dirty="0" err="1"/>
              <a:t>blockWhenExhausted</a:t>
            </a:r>
            <a:r>
              <a:rPr lang="zh-CN" altLang="en-US" sz="1200" dirty="0"/>
              <a:t>：连接耗尽时是否阻塞，</a:t>
            </a:r>
            <a:r>
              <a:rPr lang="en-US" altLang="zh-CN" sz="1200" dirty="0"/>
              <a:t>false</a:t>
            </a:r>
          </a:p>
          <a:p>
            <a:r>
              <a:rPr lang="zh-CN" altLang="en-US" sz="1200" dirty="0"/>
              <a:t>报异常，</a:t>
            </a:r>
            <a:r>
              <a:rPr lang="en-US" altLang="zh-CN" sz="1200" dirty="0" err="1"/>
              <a:t>ture</a:t>
            </a:r>
            <a:r>
              <a:rPr lang="zh-CN" altLang="en-US" sz="1200" dirty="0"/>
              <a:t>阻塞直到超时，默认</a:t>
            </a:r>
            <a:r>
              <a:rPr lang="en-US" altLang="zh-CN" sz="1200" dirty="0"/>
              <a:t>true</a:t>
            </a:r>
            <a:endParaRPr lang="zh-CN" altLang="en-US" sz="12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C306D3-D1F5-40A9-BB08-CE1584BF9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8" y="3947411"/>
            <a:ext cx="4264701" cy="107429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B1C48FF-48F8-405C-9BBB-06D027E73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8" y="2251727"/>
            <a:ext cx="4264701" cy="165878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E72DC2B-3142-4A9F-9939-0C2B340BA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518" y="738318"/>
            <a:ext cx="5600000" cy="1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2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120532" y="506035"/>
            <a:ext cx="235936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/>
              <a:t>Spring-data-</a:t>
            </a:r>
            <a:r>
              <a:rPr lang="en-US" altLang="zh-CN" sz="1400" b="1" dirty="0" err="1"/>
              <a:t>redis</a:t>
            </a:r>
            <a:r>
              <a:rPr lang="zh-CN" altLang="en-US" sz="1400" b="1" dirty="0"/>
              <a:t>配置优化：</a:t>
            </a:r>
            <a:endParaRPr lang="en-US" altLang="zh-CN" sz="14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0EC2FE-0CB5-4716-9E3E-E1307A73C5F2}"/>
              </a:ext>
            </a:extLst>
          </p:cNvPr>
          <p:cNvSpPr/>
          <p:nvPr/>
        </p:nvSpPr>
        <p:spPr>
          <a:xfrm>
            <a:off x="120532" y="3095354"/>
            <a:ext cx="4081567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/>
              <a:t>JedisConnectionFactory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r>
              <a:rPr lang="zh-CN" altLang="en-US" sz="1200" dirty="0"/>
              <a:t>        </a:t>
            </a:r>
            <a:r>
              <a:rPr lang="en-US" altLang="zh-CN" sz="1200" dirty="0"/>
              <a:t>database</a:t>
            </a:r>
            <a:r>
              <a:rPr lang="zh-CN" altLang="en-US" sz="1200" dirty="0"/>
              <a:t>：连接</a:t>
            </a:r>
            <a:r>
              <a:rPr lang="en-US" altLang="zh-CN" sz="1200" dirty="0"/>
              <a:t>Redis</a:t>
            </a:r>
            <a:r>
              <a:rPr lang="zh-CN" altLang="en-US" sz="1200" dirty="0"/>
              <a:t>指定库，</a:t>
            </a:r>
            <a:r>
              <a:rPr lang="en-US" altLang="zh-CN" sz="1200" dirty="0"/>
              <a:t>0~15</a:t>
            </a:r>
            <a:r>
              <a:rPr lang="zh-CN" altLang="en-US" sz="1200" dirty="0"/>
              <a:t>号库，默认为</a:t>
            </a:r>
            <a:r>
              <a:rPr lang="en-US" altLang="zh-CN" sz="1200" dirty="0"/>
              <a:t>0</a:t>
            </a:r>
            <a:r>
              <a:rPr lang="zh-CN" altLang="en-US" sz="1200" dirty="0"/>
              <a:t>号库</a:t>
            </a:r>
            <a:endParaRPr lang="en-US" altLang="zh-CN" sz="1200" dirty="0"/>
          </a:p>
          <a:p>
            <a:r>
              <a:rPr lang="en-US" altLang="zh-CN" sz="1200" dirty="0"/>
              <a:t>        timeout</a:t>
            </a:r>
            <a:r>
              <a:rPr lang="zh-CN" altLang="en-US" sz="1200" dirty="0"/>
              <a:t>：连接超时时间，默认</a:t>
            </a:r>
            <a:r>
              <a:rPr lang="en-US" altLang="zh-CN" sz="1200" dirty="0"/>
              <a:t>2000ms</a:t>
            </a:r>
            <a:r>
              <a:rPr lang="zh-CN" altLang="en-US" sz="1200" dirty="0"/>
              <a:t>，大数据存取可</a:t>
            </a:r>
            <a:endParaRPr lang="en-US" altLang="zh-CN" sz="1200" dirty="0"/>
          </a:p>
          <a:p>
            <a:r>
              <a:rPr lang="zh-CN" altLang="en-US" sz="1200" dirty="0"/>
              <a:t>能耗时稍长。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EB6625-EE25-4731-BCB2-EBA31D23D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922" y="3170247"/>
            <a:ext cx="3837482" cy="17914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E3D155C-C558-49A9-B767-723ED9D26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82" y="813160"/>
            <a:ext cx="8342921" cy="212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150269" y="374086"/>
            <a:ext cx="18427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/>
              <a:t>Redis</a:t>
            </a:r>
            <a:r>
              <a:rPr lang="zh-CN" altLang="en-US" sz="1400" b="1" dirty="0"/>
              <a:t>集群生产监控：</a:t>
            </a:r>
            <a:endParaRPr lang="en-US" altLang="zh-CN" sz="1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F4917F-1DDE-4A81-A2F8-6F663055B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55864"/>
            <a:ext cx="4504544" cy="432580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5A0251-8831-4A08-8D4E-693947B40776}"/>
              </a:ext>
            </a:extLst>
          </p:cNvPr>
          <p:cNvSpPr/>
          <p:nvPr/>
        </p:nvSpPr>
        <p:spPr>
          <a:xfrm>
            <a:off x="2302032" y="681863"/>
            <a:ext cx="2136099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dirty="0"/>
              <a:t># Memory</a:t>
            </a:r>
          </a:p>
          <a:p>
            <a:r>
              <a:rPr lang="zh-CN" altLang="en-US" sz="1000" dirty="0"/>
              <a:t>used_memory:8862880</a:t>
            </a:r>
          </a:p>
          <a:p>
            <a:r>
              <a:rPr lang="zh-CN" altLang="en-US" sz="1000" dirty="0"/>
              <a:t>used_memory_human:8.45M</a:t>
            </a:r>
          </a:p>
          <a:p>
            <a:r>
              <a:rPr lang="zh-CN" altLang="en-US" sz="1000" dirty="0"/>
              <a:t>used_memory_rss:145715200</a:t>
            </a:r>
          </a:p>
          <a:p>
            <a:r>
              <a:rPr lang="zh-CN" altLang="en-US" sz="1000" dirty="0"/>
              <a:t>used_memory_rss_human:138.96M</a:t>
            </a:r>
          </a:p>
          <a:p>
            <a:r>
              <a:rPr lang="zh-CN" altLang="en-US" sz="1000" dirty="0"/>
              <a:t>used_memory_peak:1851639864</a:t>
            </a:r>
          </a:p>
          <a:p>
            <a:r>
              <a:rPr lang="zh-CN" altLang="en-US" sz="1000" dirty="0"/>
              <a:t>used_memory_peak_human:1.72G</a:t>
            </a:r>
          </a:p>
          <a:p>
            <a:r>
              <a:rPr lang="zh-CN" altLang="en-US" sz="1000" dirty="0"/>
              <a:t>used_memory_peak_perc:0.48%</a:t>
            </a:r>
          </a:p>
          <a:p>
            <a:r>
              <a:rPr lang="zh-CN" altLang="en-US" sz="1000" dirty="0"/>
              <a:t>used_memory_overhead:3027278</a:t>
            </a:r>
          </a:p>
          <a:p>
            <a:r>
              <a:rPr lang="zh-CN" altLang="en-US" sz="1000" dirty="0"/>
              <a:t>used_memory_startup:508016</a:t>
            </a:r>
          </a:p>
          <a:p>
            <a:r>
              <a:rPr lang="zh-CN" altLang="en-US" sz="1000" dirty="0"/>
              <a:t>used_memory_dataset:5835602</a:t>
            </a:r>
          </a:p>
          <a:p>
            <a:r>
              <a:rPr lang="zh-CN" altLang="en-US" sz="1000" dirty="0"/>
              <a:t>used_memory_dataset_perc:69.85%</a:t>
            </a:r>
          </a:p>
          <a:p>
            <a:r>
              <a:rPr lang="zh-CN" altLang="en-US" sz="1000" dirty="0"/>
              <a:t>total_system_memory:8389263360</a:t>
            </a:r>
          </a:p>
          <a:p>
            <a:r>
              <a:rPr lang="zh-CN" altLang="en-US" sz="1000" dirty="0"/>
              <a:t>total_system_memory_human:7.81G</a:t>
            </a:r>
          </a:p>
          <a:p>
            <a:r>
              <a:rPr lang="zh-CN" altLang="en-US" sz="1000" dirty="0"/>
              <a:t>used_memory_lua:37888</a:t>
            </a:r>
          </a:p>
          <a:p>
            <a:r>
              <a:rPr lang="zh-CN" altLang="en-US" sz="1000" dirty="0"/>
              <a:t>used_memory_lua_human:37.00K</a:t>
            </a:r>
          </a:p>
          <a:p>
            <a:r>
              <a:rPr lang="zh-CN" altLang="en-US" sz="1000" dirty="0"/>
              <a:t>maxmemory:6000000000</a:t>
            </a:r>
          </a:p>
          <a:p>
            <a:r>
              <a:rPr lang="zh-CN" altLang="en-US" sz="1000" dirty="0"/>
              <a:t>maxmemory_human:5.59G</a:t>
            </a:r>
          </a:p>
          <a:p>
            <a:r>
              <a:rPr lang="zh-CN" altLang="en-US" sz="1000" dirty="0"/>
              <a:t>maxmemory_policy:noeviction</a:t>
            </a:r>
          </a:p>
          <a:p>
            <a:r>
              <a:rPr lang="zh-CN" altLang="en-US" sz="1000" dirty="0"/>
              <a:t>mem_fragmentation_ratio:16.44</a:t>
            </a:r>
          </a:p>
          <a:p>
            <a:r>
              <a:rPr lang="zh-CN" altLang="en-US" sz="1000" dirty="0"/>
              <a:t>mem_allocator:jemalloc-4.0.3</a:t>
            </a:r>
          </a:p>
          <a:p>
            <a:r>
              <a:rPr lang="zh-CN" altLang="en-US" sz="1000" dirty="0"/>
              <a:t>active_defrag_running:0</a:t>
            </a:r>
          </a:p>
          <a:p>
            <a:r>
              <a:rPr lang="zh-CN" altLang="en-US" sz="1000" dirty="0"/>
              <a:t>lazyfree_pending_objects:0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8F4AE9-DCD7-4E21-83B6-04FABD0398AA}"/>
              </a:ext>
            </a:extLst>
          </p:cNvPr>
          <p:cNvSpPr/>
          <p:nvPr/>
        </p:nvSpPr>
        <p:spPr>
          <a:xfrm>
            <a:off x="150269" y="1793466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000" dirty="0"/>
              <a:t># Persistence</a:t>
            </a:r>
          </a:p>
          <a:p>
            <a:r>
              <a:rPr lang="zh-CN" altLang="en-US" sz="1000" dirty="0"/>
              <a:t>loading:0</a:t>
            </a:r>
          </a:p>
          <a:p>
            <a:r>
              <a:rPr lang="zh-CN" altLang="en-US" sz="1000" dirty="0"/>
              <a:t>rdb_changes_since_last_save:40582701</a:t>
            </a:r>
          </a:p>
          <a:p>
            <a:r>
              <a:rPr lang="zh-CN" altLang="en-US" sz="1000" dirty="0"/>
              <a:t>rdb_bgsave_in_progress:0</a:t>
            </a:r>
          </a:p>
          <a:p>
            <a:r>
              <a:rPr lang="zh-CN" altLang="en-US" sz="1000" dirty="0"/>
              <a:t>rdb_last_save_time:1528227059</a:t>
            </a:r>
          </a:p>
          <a:p>
            <a:r>
              <a:rPr lang="zh-CN" altLang="en-US" sz="1000" dirty="0"/>
              <a:t>rdb_last_bgsave_status:ok</a:t>
            </a:r>
          </a:p>
          <a:p>
            <a:r>
              <a:rPr lang="zh-CN" altLang="en-US" sz="1000" dirty="0"/>
              <a:t>rdb_last_bgsave_time_sec:5</a:t>
            </a:r>
          </a:p>
          <a:p>
            <a:r>
              <a:rPr lang="zh-CN" altLang="en-US" sz="1000" dirty="0"/>
              <a:t>rdb_current_bgsave_time_sec:-1</a:t>
            </a:r>
          </a:p>
          <a:p>
            <a:r>
              <a:rPr lang="zh-CN" altLang="en-US" sz="1000" dirty="0"/>
              <a:t>rdb_last_cow_size:808894464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532CB7-B263-4FC7-A443-0B023DB0A5D6}"/>
              </a:ext>
            </a:extLst>
          </p:cNvPr>
          <p:cNvSpPr/>
          <p:nvPr/>
        </p:nvSpPr>
        <p:spPr>
          <a:xfrm>
            <a:off x="150269" y="681863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000" dirty="0"/>
              <a:t># Server</a:t>
            </a:r>
          </a:p>
          <a:p>
            <a:r>
              <a:rPr lang="zh-CN" altLang="en-US" sz="1000" dirty="0"/>
              <a:t>redis_version:4.0.9</a:t>
            </a:r>
          </a:p>
          <a:p>
            <a:r>
              <a:rPr lang="zh-CN" altLang="en-US" sz="1000" dirty="0"/>
              <a:t>redis_git_sha1:00000000</a:t>
            </a:r>
          </a:p>
          <a:p>
            <a:r>
              <a:rPr lang="zh-CN" altLang="en-US" sz="1000" dirty="0"/>
              <a:t>redis_git_dirty:0</a:t>
            </a:r>
          </a:p>
          <a:p>
            <a:r>
              <a:rPr lang="zh-CN" altLang="en-US" sz="1000" dirty="0"/>
              <a:t>redis_build_id:e0bf779f1fe670f2</a:t>
            </a:r>
          </a:p>
          <a:p>
            <a:r>
              <a:rPr lang="zh-CN" altLang="en-US" sz="1000" dirty="0"/>
              <a:t>redis_mode:standalone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60F6B7-71C1-4221-92EA-5B55470E295F}"/>
              </a:ext>
            </a:extLst>
          </p:cNvPr>
          <p:cNvSpPr/>
          <p:nvPr/>
        </p:nvSpPr>
        <p:spPr>
          <a:xfrm>
            <a:off x="-1" y="357496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000" b="1" dirty="0"/>
              <a:t>Redis</a:t>
            </a:r>
            <a:r>
              <a:rPr lang="zh-CN" altLang="en-US" sz="1000" b="1" dirty="0"/>
              <a:t>中数据存储模式有</a:t>
            </a:r>
            <a:r>
              <a:rPr lang="en-US" altLang="zh-CN" sz="1000" b="1" dirty="0"/>
              <a:t>2</a:t>
            </a:r>
            <a:r>
              <a:rPr lang="zh-CN" altLang="en-US" sz="1000" b="1" dirty="0"/>
              <a:t>种：</a:t>
            </a:r>
            <a:r>
              <a:rPr lang="en-US" altLang="zh-CN" sz="1000" dirty="0"/>
              <a:t>cache-only</a:t>
            </a:r>
            <a:r>
              <a:rPr lang="zh-CN" altLang="en-US" sz="1000" dirty="0"/>
              <a:t>、</a:t>
            </a:r>
            <a:endParaRPr lang="en-US" altLang="zh-CN" sz="1000" dirty="0"/>
          </a:p>
          <a:p>
            <a:r>
              <a:rPr lang="en-US" altLang="zh-CN" sz="1000" dirty="0"/>
              <a:t>persistence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pPr latinLnBrk="1"/>
            <a:r>
              <a:rPr lang="en-US" altLang="zh-CN" sz="1000" dirty="0"/>
              <a:t>         cache-only</a:t>
            </a:r>
            <a:r>
              <a:rPr lang="zh-CN" altLang="en-US" sz="1000" dirty="0"/>
              <a:t>即只做为“缓存”服务，</a:t>
            </a:r>
            <a:endParaRPr lang="en-US" altLang="zh-CN" sz="1000" dirty="0"/>
          </a:p>
          <a:p>
            <a:pPr latinLnBrk="1"/>
            <a:r>
              <a:rPr lang="zh-CN" altLang="en-US" sz="1000" dirty="0"/>
              <a:t>不持久数据，数据在服务终止后将消失，</a:t>
            </a:r>
            <a:endParaRPr lang="en-US" altLang="zh-CN" sz="1000" dirty="0"/>
          </a:p>
          <a:p>
            <a:pPr latinLnBrk="1"/>
            <a:r>
              <a:rPr lang="zh-CN" altLang="en-US" sz="1000" dirty="0"/>
              <a:t>此模式下也将不存在“数据恢复”的手</a:t>
            </a:r>
            <a:endParaRPr lang="en-US" altLang="zh-CN" sz="1000" dirty="0"/>
          </a:p>
          <a:p>
            <a:pPr latinLnBrk="1"/>
            <a:r>
              <a:rPr lang="zh-CN" altLang="en-US" sz="1000" dirty="0"/>
              <a:t>段，是一种安全性低</a:t>
            </a:r>
            <a:r>
              <a:rPr lang="en-US" altLang="zh-CN" sz="1000" dirty="0"/>
              <a:t>/</a:t>
            </a:r>
            <a:r>
              <a:rPr lang="zh-CN" altLang="en-US" sz="1000" dirty="0"/>
              <a:t>效率高</a:t>
            </a:r>
            <a:r>
              <a:rPr lang="en-US" altLang="zh-CN" sz="1000" dirty="0"/>
              <a:t>/</a:t>
            </a:r>
            <a:r>
              <a:rPr lang="zh-CN" altLang="en-US" sz="1000" dirty="0"/>
              <a:t>容易扩展的方式；</a:t>
            </a:r>
          </a:p>
          <a:p>
            <a:pPr latinLnBrk="1"/>
            <a:r>
              <a:rPr lang="en-US" altLang="zh-CN" sz="1000" dirty="0"/>
              <a:t>         persistence</a:t>
            </a:r>
            <a:r>
              <a:rPr lang="zh-CN" altLang="en-US" sz="1000" dirty="0"/>
              <a:t>即为内存中的数据持久备份到磁盘文件，在服务重启后</a:t>
            </a:r>
            <a:endParaRPr lang="en-US" altLang="zh-CN" sz="1000" dirty="0"/>
          </a:p>
          <a:p>
            <a:pPr latinLnBrk="1"/>
            <a:r>
              <a:rPr lang="zh-CN" altLang="en-US" sz="1000" dirty="0"/>
              <a:t>可以恢复，此模式下数据相对安全。</a:t>
            </a:r>
            <a:r>
              <a:rPr lang="en-US" altLang="zh-CN" sz="1000" dirty="0"/>
              <a:t>Redis</a:t>
            </a:r>
            <a:r>
              <a:rPr lang="zh-CN" altLang="en-US" sz="1000" dirty="0"/>
              <a:t>提供了两种持久化方法：</a:t>
            </a:r>
            <a:r>
              <a:rPr lang="en-US" altLang="zh-CN" sz="1000" dirty="0"/>
              <a:t>Redis </a:t>
            </a:r>
            <a:r>
              <a:rPr lang="en-US" altLang="zh-CN" sz="1000" dirty="0" err="1"/>
              <a:t>DataBase</a:t>
            </a:r>
            <a:r>
              <a:rPr lang="en-US" altLang="zh-CN" sz="1000" dirty="0"/>
              <a:t>(</a:t>
            </a:r>
            <a:r>
              <a:rPr lang="zh-CN" altLang="en-US" sz="1000" dirty="0"/>
              <a:t>简称</a:t>
            </a:r>
            <a:r>
              <a:rPr lang="en-US" altLang="zh-CN" sz="1000" dirty="0"/>
              <a:t>RDB</a:t>
            </a:r>
            <a:r>
              <a:rPr lang="zh-CN" altLang="en-US" sz="1000" dirty="0"/>
              <a:t>，</a:t>
            </a:r>
            <a:r>
              <a:rPr lang="zh-CN" altLang="en-US" sz="1000" dirty="0">
                <a:solidFill>
                  <a:srgbClr val="FF0000"/>
                </a:solidFill>
              </a:rPr>
              <a:t>会</a:t>
            </a:r>
            <a:r>
              <a:rPr lang="en-US" altLang="zh-CN" sz="1000" dirty="0">
                <a:solidFill>
                  <a:srgbClr val="FF0000"/>
                </a:solidFill>
              </a:rPr>
              <a:t> fork</a:t>
            </a:r>
            <a:r>
              <a:rPr lang="zh-CN" altLang="en-US" sz="1000" dirty="0">
                <a:solidFill>
                  <a:srgbClr val="FF0000"/>
                </a:solidFill>
              </a:rPr>
              <a:t>一个线程、双倍内存</a:t>
            </a:r>
            <a:r>
              <a:rPr lang="en-US" altLang="zh-CN" sz="1000" dirty="0"/>
              <a:t>)</a:t>
            </a:r>
            <a:r>
              <a:rPr lang="zh-CN" altLang="en-US" sz="1000" dirty="0"/>
              <a:t>、</a:t>
            </a:r>
            <a:r>
              <a:rPr lang="en-US" altLang="zh-CN" sz="1000" dirty="0"/>
              <a:t>Append-only file (</a:t>
            </a:r>
            <a:r>
              <a:rPr lang="zh-CN" altLang="en-US" sz="1000" dirty="0"/>
              <a:t>简称</a:t>
            </a:r>
            <a:r>
              <a:rPr lang="en-US" altLang="zh-CN" sz="1000" dirty="0"/>
              <a:t>AOF)</a:t>
            </a:r>
            <a:r>
              <a:rPr lang="zh-CN" altLang="en-US" sz="1000" dirty="0"/>
              <a:t>。</a:t>
            </a:r>
            <a:endParaRPr lang="en-US" altLang="zh-CN" sz="1000" dirty="0"/>
          </a:p>
        </p:txBody>
      </p:sp>
    </p:spTree>
    <p:extLst>
      <p:ext uri="{BB962C8B-B14F-4D97-AF65-F5344CB8AC3E}">
        <p14:creationId xmlns:p14="http://schemas.microsoft.com/office/powerpoint/2010/main" val="218424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7" grpId="0"/>
      <p:bldP spid="10" grpId="0"/>
      <p:bldP spid="12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150269" y="404982"/>
            <a:ext cx="18427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/>
              <a:t>Redis</a:t>
            </a:r>
            <a:r>
              <a:rPr lang="zh-CN" altLang="en-US" sz="1400" b="1" dirty="0"/>
              <a:t>集群生产监控：</a:t>
            </a:r>
            <a:endParaRPr lang="en-US" altLang="zh-CN" sz="14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6F23189-193A-49CE-B3B1-E99278B2D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4" y="755865"/>
            <a:ext cx="4154329" cy="43876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4E27C85-3E38-4BF2-9C1F-9493C8C7F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584" y="755864"/>
            <a:ext cx="4699415" cy="431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25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线程池应用优化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DE7093-14AE-4D02-9D6C-D786F90B2D2F}"/>
              </a:ext>
            </a:extLst>
          </p:cNvPr>
          <p:cNvSpPr/>
          <p:nvPr/>
        </p:nvSpPr>
        <p:spPr>
          <a:xfrm>
            <a:off x="0" y="767049"/>
            <a:ext cx="41168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latin typeface="+mj-ea"/>
                <a:ea typeface="+mj-ea"/>
              </a:rPr>
              <a:t>《java</a:t>
            </a:r>
            <a:r>
              <a:rPr lang="zh-CN" altLang="en-US" sz="1600" b="1" dirty="0">
                <a:latin typeface="+mj-ea"/>
                <a:ea typeface="+mj-ea"/>
              </a:rPr>
              <a:t>并发编程实践</a:t>
            </a:r>
            <a:r>
              <a:rPr lang="en-US" altLang="zh-CN" sz="1600" b="1" dirty="0">
                <a:latin typeface="+mj-ea"/>
                <a:ea typeface="+mj-ea"/>
              </a:rPr>
              <a:t>》</a:t>
            </a:r>
            <a:r>
              <a:rPr lang="zh-CN" altLang="en-US" sz="1600" b="1" dirty="0">
                <a:latin typeface="+mj-ea"/>
                <a:ea typeface="+mj-ea"/>
              </a:rPr>
              <a:t>中线程数计算公式：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489327-E2C7-416C-8C10-27D8B5AD9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5" y="2399719"/>
            <a:ext cx="3523809" cy="80952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454FC51-5E14-4EB5-A0F5-CF8696E90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5" y="1189277"/>
            <a:ext cx="3961905" cy="106666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2DF5C3F-26CC-470F-95CA-DB35F2316085}"/>
              </a:ext>
            </a:extLst>
          </p:cNvPr>
          <p:cNvSpPr/>
          <p:nvPr/>
        </p:nvSpPr>
        <p:spPr>
          <a:xfrm>
            <a:off x="4896190" y="1177492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b="1" dirty="0" err="1">
                <a:latin typeface="+mn-ea"/>
              </a:rPr>
              <a:t>N</a:t>
            </a:r>
            <a:r>
              <a:rPr lang="en-US" altLang="zh-CN" sz="1200" b="1" dirty="0" err="1">
                <a:latin typeface="+mn-ea"/>
              </a:rPr>
              <a:t>cpu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CPU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核心数</a:t>
            </a:r>
          </a:p>
          <a:p>
            <a:r>
              <a:rPr lang="en-US" altLang="zh-CN" sz="1400" b="1" dirty="0" err="1">
                <a:solidFill>
                  <a:srgbClr val="000000"/>
                </a:solidFill>
                <a:latin typeface="+mn-ea"/>
              </a:rPr>
              <a:t>U</a:t>
            </a:r>
            <a:r>
              <a:rPr lang="en-US" altLang="zh-CN" sz="1200" b="1" dirty="0" err="1">
                <a:latin typeface="+mn-ea"/>
              </a:rPr>
              <a:t>cpu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=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cpu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使用率，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0~1</a:t>
            </a:r>
          </a:p>
          <a:p>
            <a:r>
              <a:rPr lang="en-US" altLang="zh-CN" sz="1400" b="1" dirty="0">
                <a:solidFill>
                  <a:srgbClr val="000000"/>
                </a:solidFill>
                <a:latin typeface="+mn-ea"/>
              </a:rPr>
              <a:t>W/C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等待时间与计算时间的比率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4B9EDD-C8FE-47BC-AB5E-D4F8F18D902F}"/>
              </a:ext>
            </a:extLst>
          </p:cNvPr>
          <p:cNvSpPr/>
          <p:nvPr/>
        </p:nvSpPr>
        <p:spPr>
          <a:xfrm>
            <a:off x="86840" y="3374446"/>
            <a:ext cx="773748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计算密集型：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假设没有等待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w=0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，则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W/C=0.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Nthreads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=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Ncpu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。</a:t>
            </a:r>
            <a:endParaRPr lang="en-US" altLang="zh-CN" sz="1400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IO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密集型：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一般情况下，如果存在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IO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，那么肯定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w/c&gt;1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（阻塞耗时一般都是计算耗时的很多倍）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,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但是需要考虑系统内存有限（每开启一个线程都需要内存空间），这里需要上服务器测试具体多少个线程数适合（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CPU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占比、线程数、总耗时、内存消耗）。如果不想去测试，保守点取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即，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Nthreads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=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Ncpu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*(1+1)=2Ncpu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。这样设置一般都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OK</a:t>
            </a:r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。</a:t>
            </a:r>
            <a:endParaRPr lang="en-US" altLang="zh-CN" sz="1400" dirty="0">
              <a:solidFill>
                <a:srgbClr val="000000"/>
              </a:solidFill>
              <a:latin typeface="+mn-ea"/>
            </a:endParaRPr>
          </a:p>
          <a:p>
            <a:endParaRPr lang="en-US" altLang="zh-CN" sz="1400" dirty="0">
              <a:solidFill>
                <a:srgbClr val="000000"/>
              </a:solidFill>
              <a:latin typeface="+mn-ea"/>
            </a:endParaRPr>
          </a:p>
          <a:p>
            <a:r>
              <a:rPr lang="zh-CN" altLang="zh-CN" sz="1400" dirty="0">
                <a:solidFill>
                  <a:srgbClr val="000000"/>
                </a:solidFill>
                <a:latin typeface="+mn-ea"/>
              </a:rPr>
              <a:t>java中：Ncpu=Runtime.getRuntime().availableProcessors() </a:t>
            </a:r>
            <a:endParaRPr lang="zh-CN" altLang="en-US" sz="1400" dirty="0">
              <a:solidFill>
                <a:srgbClr val="000000"/>
              </a:solidFill>
              <a:latin typeface="+mn-ea"/>
            </a:endParaRPr>
          </a:p>
          <a:p>
            <a:endParaRPr lang="zh-CN" altLang="en-US" sz="14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0474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9" grpId="0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线程池应用优化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72711-6C18-449D-8DF4-5167CD7F258F}"/>
              </a:ext>
            </a:extLst>
          </p:cNvPr>
          <p:cNvSpPr/>
          <p:nvPr/>
        </p:nvSpPr>
        <p:spPr>
          <a:xfrm>
            <a:off x="142530" y="755864"/>
            <a:ext cx="487168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j-ea"/>
                <a:ea typeface="+mj-ea"/>
              </a:rPr>
              <a:t>线程数优化：</a:t>
            </a:r>
            <a:endParaRPr lang="en-US" altLang="zh-CN" sz="1600" b="1" dirty="0">
              <a:latin typeface="+mj-ea"/>
              <a:ea typeface="+mj-ea"/>
            </a:endParaRPr>
          </a:p>
          <a:p>
            <a:endParaRPr lang="en-US" altLang="zh-CN" sz="1600" b="1" dirty="0">
              <a:latin typeface="+mj-ea"/>
              <a:ea typeface="+mj-ea"/>
            </a:endParaRPr>
          </a:p>
          <a:p>
            <a:r>
              <a:rPr lang="zh-CN" altLang="en-US" sz="1400" b="1" dirty="0">
                <a:latin typeface="+mn-ea"/>
              </a:rPr>
              <a:t>    考虑单台</a:t>
            </a:r>
            <a:r>
              <a:rPr lang="en-US" altLang="zh-CN" sz="1400" b="1" dirty="0">
                <a:latin typeface="+mn-ea"/>
              </a:rPr>
              <a:t>APP</a:t>
            </a:r>
            <a:r>
              <a:rPr lang="zh-CN" altLang="en-US" sz="1400" b="1" dirty="0">
                <a:latin typeface="+mn-ea"/>
              </a:rPr>
              <a:t>配置的</a:t>
            </a:r>
            <a:r>
              <a:rPr lang="en-US" altLang="zh-CN" sz="1400" b="1" dirty="0" err="1">
                <a:latin typeface="+mn-ea"/>
              </a:rPr>
              <a:t>redis</a:t>
            </a:r>
            <a:r>
              <a:rPr lang="zh-CN" altLang="en-US" sz="1400" b="1" dirty="0">
                <a:latin typeface="+mn-ea"/>
              </a:rPr>
              <a:t>最大连接数</a:t>
            </a:r>
            <a:r>
              <a:rPr lang="en-US" altLang="zh-CN" sz="1400" b="1" dirty="0">
                <a:latin typeface="+mn-ea"/>
              </a:rPr>
              <a:t>50</a:t>
            </a:r>
            <a:r>
              <a:rPr lang="zh-CN" altLang="en-US" sz="1400" b="1" dirty="0">
                <a:latin typeface="+mn-ea"/>
              </a:rPr>
              <a:t>个。</a:t>
            </a:r>
            <a:endParaRPr lang="en-US" altLang="zh-CN" sz="14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765C23-CE18-414B-9B95-EA31CDB9BDA2}"/>
              </a:ext>
            </a:extLst>
          </p:cNvPr>
          <p:cNvSpPr/>
          <p:nvPr/>
        </p:nvSpPr>
        <p:spPr>
          <a:xfrm>
            <a:off x="5172950" y="1401664"/>
            <a:ext cx="3025187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压测服务器多少个线程数效率高？    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AEE2DD-D553-4374-B32B-E259B74C9FCA}"/>
              </a:ext>
            </a:extLst>
          </p:cNvPr>
          <p:cNvSpPr/>
          <p:nvPr/>
        </p:nvSpPr>
        <p:spPr>
          <a:xfrm>
            <a:off x="5172950" y="1911547"/>
            <a:ext cx="347883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监控服务器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CPU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占比、内存消耗、线程数、</a:t>
            </a:r>
            <a:endParaRPr lang="en-US" altLang="zh-CN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耗时情况等？</a:t>
            </a:r>
            <a:endParaRPr lang="en-US" altLang="zh-CN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EF9BFC-848C-40AE-BA09-1873D34A78EF}"/>
              </a:ext>
            </a:extLst>
          </p:cNvPr>
          <p:cNvSpPr/>
          <p:nvPr/>
        </p:nvSpPr>
        <p:spPr>
          <a:xfrm>
            <a:off x="494156" y="1833092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b="1" dirty="0">
                <a:latin typeface="+mn-ea"/>
              </a:rPr>
              <a:t>对账入口总线程数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固定</a:t>
            </a:r>
            <a:r>
              <a:rPr lang="en-US" altLang="zh-CN" sz="1400" b="1" dirty="0">
                <a:latin typeface="+mn-ea"/>
              </a:rPr>
              <a:t>)</a:t>
            </a:r>
            <a:r>
              <a:rPr lang="zh-CN" altLang="en-US" sz="1400" b="1" dirty="0">
                <a:latin typeface="+mn-ea"/>
              </a:rPr>
              <a:t>：</a:t>
            </a:r>
            <a:r>
              <a:rPr lang="en-US" altLang="zh-CN" sz="1400" b="1" dirty="0">
                <a:latin typeface="+mn-ea"/>
              </a:rPr>
              <a:t>3</a:t>
            </a:r>
          </a:p>
          <a:p>
            <a:endParaRPr lang="en-US" altLang="zh-CN" sz="1400" b="1" dirty="0">
              <a:latin typeface="+mn-ea"/>
            </a:endParaRPr>
          </a:p>
          <a:p>
            <a:r>
              <a:rPr lang="zh-CN" altLang="en-US" sz="1400" b="1" dirty="0">
                <a:latin typeface="+mn-ea"/>
              </a:rPr>
              <a:t>    主流程对账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新建</a:t>
            </a:r>
            <a:r>
              <a:rPr lang="en-US" altLang="zh-CN" sz="1400" b="1" dirty="0">
                <a:latin typeface="+mn-ea"/>
              </a:rPr>
              <a:t>)</a:t>
            </a:r>
            <a:r>
              <a:rPr lang="zh-CN" altLang="en-US" sz="1400" b="1" dirty="0">
                <a:latin typeface="+mn-ea"/>
              </a:rPr>
              <a:t>：</a:t>
            </a:r>
            <a:r>
              <a:rPr lang="en-US" altLang="zh-CN" sz="1400" b="1" dirty="0">
                <a:latin typeface="+mn-ea"/>
              </a:rPr>
              <a:t>3 * 3</a:t>
            </a:r>
            <a:r>
              <a:rPr lang="zh-CN" altLang="en-US" sz="1400" b="1" dirty="0">
                <a:latin typeface="+mn-ea"/>
              </a:rPr>
              <a:t> ，涉及</a:t>
            </a:r>
            <a:r>
              <a:rPr lang="en-US" altLang="zh-CN" sz="1400" b="1" dirty="0">
                <a:latin typeface="+mn-ea"/>
              </a:rPr>
              <a:t>Redis</a:t>
            </a:r>
            <a:r>
              <a:rPr lang="zh-CN" altLang="en-US" sz="1400" b="1" dirty="0">
                <a:latin typeface="+mn-ea"/>
              </a:rPr>
              <a:t>数据存取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  <a:p>
            <a:r>
              <a:rPr lang="zh-CN" altLang="en-US" sz="1400" b="1" dirty="0">
                <a:latin typeface="+mn-ea"/>
              </a:rPr>
              <a:t>    明细对账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固定</a:t>
            </a:r>
            <a:r>
              <a:rPr lang="en-US" altLang="zh-CN" sz="1400" b="1" dirty="0">
                <a:latin typeface="+mn-ea"/>
              </a:rPr>
              <a:t>)</a:t>
            </a:r>
            <a:r>
              <a:rPr lang="zh-CN" altLang="en-US" sz="1400" b="1" dirty="0">
                <a:latin typeface="+mn-ea"/>
              </a:rPr>
              <a:t>：</a:t>
            </a:r>
            <a:r>
              <a:rPr lang="en-US" altLang="zh-CN" sz="1400" b="1" dirty="0">
                <a:latin typeface="+mn-ea"/>
              </a:rPr>
              <a:t>32</a:t>
            </a:r>
            <a:r>
              <a:rPr lang="zh-CN" altLang="en-US" sz="1400" b="1" dirty="0">
                <a:latin typeface="+mn-ea"/>
              </a:rPr>
              <a:t> ，涉及</a:t>
            </a:r>
            <a:r>
              <a:rPr lang="en-US" altLang="zh-CN" sz="1400" b="1" dirty="0">
                <a:latin typeface="+mn-ea"/>
              </a:rPr>
              <a:t>Redis</a:t>
            </a:r>
            <a:r>
              <a:rPr lang="zh-CN" altLang="en-US" sz="1400" b="1" dirty="0">
                <a:latin typeface="+mn-ea"/>
              </a:rPr>
              <a:t>数据存取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  <a:p>
            <a:r>
              <a:rPr lang="zh-CN" altLang="en-US" sz="1400" b="1" dirty="0">
                <a:latin typeface="+mn-ea"/>
              </a:rPr>
              <a:t>    差异数据入库</a:t>
            </a:r>
            <a:r>
              <a:rPr lang="en-US" altLang="zh-CN" sz="1400" b="1" dirty="0">
                <a:latin typeface="+mn-ea"/>
              </a:rPr>
              <a:t>MQ(</a:t>
            </a:r>
            <a:r>
              <a:rPr lang="zh-CN" altLang="en-US" sz="1400" b="1" dirty="0">
                <a:latin typeface="+mn-ea"/>
              </a:rPr>
              <a:t>固定</a:t>
            </a:r>
            <a:r>
              <a:rPr lang="en-US" altLang="zh-CN" sz="1400" b="1" dirty="0">
                <a:latin typeface="+mn-ea"/>
              </a:rPr>
              <a:t>)</a:t>
            </a:r>
            <a:r>
              <a:rPr lang="zh-CN" altLang="en-US" sz="1400" b="1" dirty="0">
                <a:latin typeface="+mn-ea"/>
              </a:rPr>
              <a:t>：</a:t>
            </a:r>
            <a:r>
              <a:rPr lang="en-US" altLang="zh-CN" sz="1400" b="1" dirty="0">
                <a:latin typeface="+mn-ea"/>
              </a:rPr>
              <a:t>4 </a:t>
            </a:r>
            <a:r>
              <a:rPr lang="zh-CN" altLang="en-US" sz="1400" b="1" dirty="0">
                <a:latin typeface="+mn-ea"/>
              </a:rPr>
              <a:t>，涉及</a:t>
            </a:r>
            <a:r>
              <a:rPr lang="en-US" altLang="zh-CN" sz="1400" b="1" dirty="0">
                <a:latin typeface="+mn-ea"/>
              </a:rPr>
              <a:t>Redis</a:t>
            </a:r>
            <a:r>
              <a:rPr lang="zh-CN" altLang="en-US" sz="1400" b="1" dirty="0">
                <a:latin typeface="+mn-ea"/>
              </a:rPr>
              <a:t>数据读取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zh-CN" altLang="en-US" sz="1400" b="1" dirty="0">
                <a:latin typeface="+mn-ea"/>
              </a:rPr>
              <a:t>差异数据入库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固定</a:t>
            </a:r>
            <a:r>
              <a:rPr lang="en-US" altLang="zh-CN" sz="1400" b="1" dirty="0">
                <a:latin typeface="+mn-ea"/>
              </a:rPr>
              <a:t>)</a:t>
            </a:r>
            <a:r>
              <a:rPr lang="zh-CN" altLang="en-US" sz="1400" b="1" dirty="0">
                <a:latin typeface="+mn-ea"/>
              </a:rPr>
              <a:t>：</a:t>
            </a:r>
            <a:r>
              <a:rPr lang="en-US" altLang="zh-CN" sz="1400" b="1" dirty="0">
                <a:latin typeface="+mn-ea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2093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" grpId="0"/>
      <p:bldP spid="4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JVM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5F2C57-1DF7-4171-BBE5-CE18BAF3C77D}"/>
              </a:ext>
            </a:extLst>
          </p:cNvPr>
          <p:cNvSpPr/>
          <p:nvPr/>
        </p:nvSpPr>
        <p:spPr>
          <a:xfrm>
            <a:off x="284812" y="659924"/>
            <a:ext cx="848443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Helvetica" panose="020B0604020202020204" pitchFamily="34" charset="0"/>
              </a:rPr>
              <a:t>堆大小设置：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    JVM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中最大堆大小有三方面限制：相关操作系统的数据模型（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32-bit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、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64-bit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）限制；系统的可用虚拟内存限制；系统的可用物理内存限制。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32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位系统下，一般限制在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1.5G~2G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；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64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为操作系统对内存无限制。在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Windows Server 2003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系统，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3.5G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物理内存，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JDK5.0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下测试，最大可设置为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1478m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。</a:t>
            </a:r>
            <a:endParaRPr lang="zh-CN" altLang="en-US" sz="1200" b="0" i="0" dirty="0">
              <a:solidFill>
                <a:srgbClr val="000000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0994DD-B6AA-45A0-BF6C-B8FED2F2D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16" y="1829474"/>
            <a:ext cx="5914572" cy="31697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6C61EC0-18EB-4287-A7FC-CA2F0B48D6D3}"/>
              </a:ext>
            </a:extLst>
          </p:cNvPr>
          <p:cNvSpPr/>
          <p:nvPr/>
        </p:nvSpPr>
        <p:spPr>
          <a:xfrm>
            <a:off x="284812" y="1570631"/>
            <a:ext cx="2240511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200" b="1" dirty="0">
                <a:solidFill>
                  <a:srgbClr val="000000"/>
                </a:solidFill>
                <a:latin typeface="Helvetica" panose="020B0604020202020204" pitchFamily="34" charset="0"/>
              </a:rPr>
              <a:t>对账核心</a:t>
            </a:r>
            <a:r>
              <a:rPr lang="en-US" altLang="zh-CN" sz="1200" b="1" dirty="0">
                <a:solidFill>
                  <a:srgbClr val="000000"/>
                </a:solidFill>
                <a:latin typeface="Helvetica" panose="020B0604020202020204" pitchFamily="34" charset="0"/>
              </a:rPr>
              <a:t>JVM</a:t>
            </a:r>
            <a:r>
              <a:rPr lang="zh-CN" altLang="en-US" sz="1200" b="1" dirty="0">
                <a:solidFill>
                  <a:srgbClr val="000000"/>
                </a:solidFill>
                <a:latin typeface="Helvetica" panose="020B0604020202020204" pitchFamily="34" charset="0"/>
              </a:rPr>
              <a:t>配置优化：</a:t>
            </a:r>
            <a:endParaRPr lang="en-US" altLang="zh-CN" sz="1200" b="1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200" kern="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jvm.xmx</a:t>
            </a:r>
            <a:r>
              <a:rPr lang="en-US" altLang="zh-CN" sz="1200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=</a:t>
            </a:r>
            <a:r>
              <a:rPr lang="en-US" altLang="zh-CN" sz="1200" kern="0" dirty="0">
                <a:solidFill>
                  <a:srgbClr val="2A00FF"/>
                </a:solidFill>
                <a:latin typeface="+mn-ea"/>
                <a:cs typeface="Times New Roman" panose="02020603050405020304" pitchFamily="18" charset="0"/>
              </a:rPr>
              <a:t>1024m</a:t>
            </a:r>
            <a:endParaRPr lang="zh-CN" altLang="zh-CN" sz="1200" kern="100" dirty="0">
              <a:latin typeface="+mn-ea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200" kern="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jvm.xms</a:t>
            </a:r>
            <a:r>
              <a:rPr lang="en-US" altLang="zh-CN" sz="1200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=</a:t>
            </a:r>
            <a:r>
              <a:rPr lang="en-US" altLang="zh-CN" sz="1200" kern="0" dirty="0">
                <a:solidFill>
                  <a:srgbClr val="2A00FF"/>
                </a:solidFill>
                <a:latin typeface="+mn-ea"/>
                <a:cs typeface="Times New Roman" panose="02020603050405020304" pitchFamily="18" charset="0"/>
              </a:rPr>
              <a:t>1024m</a:t>
            </a:r>
            <a:endParaRPr lang="zh-CN" altLang="zh-CN" sz="1200" kern="100" dirty="0">
              <a:latin typeface="+mn-ea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200" kern="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jvm.xmn</a:t>
            </a:r>
            <a:r>
              <a:rPr lang="en-US" altLang="zh-CN" sz="1200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=</a:t>
            </a:r>
            <a:r>
              <a:rPr lang="en-US" altLang="zh-CN" sz="1200" kern="0" dirty="0">
                <a:solidFill>
                  <a:srgbClr val="2A00FF"/>
                </a:solidFill>
                <a:latin typeface="+mn-ea"/>
                <a:cs typeface="Times New Roman" panose="02020603050405020304" pitchFamily="18" charset="0"/>
              </a:rPr>
              <a:t>512m</a:t>
            </a:r>
            <a:endParaRPr lang="zh-CN" altLang="zh-CN" sz="1200" kern="100" dirty="0">
              <a:latin typeface="+mn-ea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200" kern="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jvm.permsize</a:t>
            </a:r>
            <a:r>
              <a:rPr lang="en-US" altLang="zh-CN" sz="1200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=</a:t>
            </a:r>
            <a:r>
              <a:rPr lang="en-US" altLang="zh-CN" sz="1200" kern="0" dirty="0">
                <a:solidFill>
                  <a:srgbClr val="2A00FF"/>
                </a:solidFill>
                <a:latin typeface="+mn-ea"/>
                <a:cs typeface="Times New Roman" panose="02020603050405020304" pitchFamily="18" charset="0"/>
              </a:rPr>
              <a:t>128m</a:t>
            </a:r>
            <a:endParaRPr lang="zh-CN" altLang="zh-CN" sz="1200" kern="100" dirty="0">
              <a:latin typeface="+mn-ea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200" kern="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jvm.pagesize</a:t>
            </a:r>
            <a:r>
              <a:rPr lang="en-US" altLang="zh-CN" sz="1200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=</a:t>
            </a:r>
            <a:r>
              <a:rPr lang="en-US" altLang="zh-CN" sz="1200" kern="0" dirty="0">
                <a:solidFill>
                  <a:srgbClr val="2A00FF"/>
                </a:solidFill>
                <a:latin typeface="+mn-ea"/>
                <a:cs typeface="Times New Roman" panose="02020603050405020304" pitchFamily="18" charset="0"/>
              </a:rPr>
              <a:t>128m</a:t>
            </a:r>
            <a:endParaRPr lang="zh-CN" altLang="zh-CN" sz="1200" kern="100" dirty="0">
              <a:latin typeface="+mn-ea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200" kern="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jvm.xss</a:t>
            </a:r>
            <a:r>
              <a:rPr lang="en-US" altLang="zh-CN" sz="1200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=</a:t>
            </a:r>
            <a:r>
              <a:rPr lang="en-US" altLang="zh-CN" sz="1200" kern="0" dirty="0">
                <a:solidFill>
                  <a:srgbClr val="2A00FF"/>
                </a:solidFill>
                <a:latin typeface="+mn-ea"/>
                <a:cs typeface="Times New Roman" panose="02020603050405020304" pitchFamily="18" charset="0"/>
              </a:rPr>
              <a:t>256k</a:t>
            </a:r>
            <a:endParaRPr lang="zh-CN" altLang="zh-CN" sz="1200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2C3EC5-DDA3-48E3-9875-B081392AAFB6}"/>
              </a:ext>
            </a:extLst>
          </p:cNvPr>
          <p:cNvSpPr/>
          <p:nvPr/>
        </p:nvSpPr>
        <p:spPr>
          <a:xfrm>
            <a:off x="284812" y="4367356"/>
            <a:ext cx="255711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latin typeface="+mn-ea"/>
              </a:rPr>
              <a:t>-</a:t>
            </a:r>
            <a:r>
              <a:rPr lang="en-US" altLang="zh-CN" sz="1000" b="1" dirty="0" err="1">
                <a:latin typeface="+mn-ea"/>
              </a:rPr>
              <a:t>XX:LargePageSizeInBytes</a:t>
            </a:r>
            <a:r>
              <a:rPr lang="zh-CN" altLang="en-US" sz="1000" b="1" dirty="0">
                <a:latin typeface="+mn-ea"/>
              </a:rPr>
              <a:t>：</a:t>
            </a:r>
            <a:endParaRPr lang="en-US" altLang="zh-CN" sz="1000" b="1" dirty="0">
              <a:latin typeface="+mn-ea"/>
            </a:endParaRPr>
          </a:p>
          <a:p>
            <a:r>
              <a:rPr lang="zh-CN" altLang="en-US" sz="1000" dirty="0">
                <a:solidFill>
                  <a:srgbClr val="393939"/>
                </a:solidFill>
                <a:latin typeface="+mn-ea"/>
              </a:rPr>
              <a:t>    内存页的大小不可设置过大， 会影响</a:t>
            </a:r>
            <a:endParaRPr lang="en-US" altLang="zh-CN" sz="1000" dirty="0">
              <a:solidFill>
                <a:srgbClr val="393939"/>
              </a:solidFill>
              <a:latin typeface="+mn-ea"/>
            </a:endParaRPr>
          </a:p>
          <a:p>
            <a:r>
              <a:rPr lang="en-US" altLang="zh-CN" sz="1000" dirty="0">
                <a:solidFill>
                  <a:srgbClr val="393939"/>
                </a:solidFill>
                <a:latin typeface="+mn-ea"/>
              </a:rPr>
              <a:t>Perm</a:t>
            </a:r>
            <a:r>
              <a:rPr lang="zh-CN" altLang="en-US" sz="1000" dirty="0">
                <a:solidFill>
                  <a:srgbClr val="393939"/>
                </a:solidFill>
                <a:latin typeface="+mn-ea"/>
              </a:rPr>
              <a:t>的大小</a:t>
            </a:r>
            <a:endParaRPr lang="zh-CN" altLang="en-US" sz="1000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69A4D4-B988-475C-B7C9-6E4EEECC5E1F}"/>
              </a:ext>
            </a:extLst>
          </p:cNvPr>
          <p:cNvSpPr/>
          <p:nvPr/>
        </p:nvSpPr>
        <p:spPr>
          <a:xfrm>
            <a:off x="284812" y="3791314"/>
            <a:ext cx="20441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000" b="1" dirty="0">
                <a:latin typeface="+mn-ea"/>
              </a:rPr>
              <a:t>-</a:t>
            </a:r>
            <a:r>
              <a:rPr lang="en-US" altLang="zh-CN" sz="1000" b="1" dirty="0" err="1">
                <a:latin typeface="+mn-ea"/>
              </a:rPr>
              <a:t>XX:PermSize</a:t>
            </a:r>
            <a:r>
              <a:rPr lang="zh-CN" altLang="en-US" sz="1000" b="1" dirty="0">
                <a:latin typeface="+mn-ea"/>
              </a:rPr>
              <a:t>：</a:t>
            </a:r>
            <a:endParaRPr lang="en-US" altLang="zh-CN" sz="1000" b="1" dirty="0">
              <a:latin typeface="+mn-ea"/>
            </a:endParaRPr>
          </a:p>
          <a:p>
            <a:r>
              <a:rPr lang="zh-CN" altLang="en-US" sz="1000" dirty="0">
                <a:solidFill>
                  <a:srgbClr val="393939"/>
                </a:solidFill>
                <a:latin typeface="+mn-ea"/>
              </a:rPr>
              <a:t>   设置持久代</a:t>
            </a:r>
            <a:r>
              <a:rPr lang="en-US" altLang="zh-CN" sz="1000" dirty="0">
                <a:solidFill>
                  <a:srgbClr val="393939"/>
                </a:solidFill>
                <a:latin typeface="+mn-ea"/>
              </a:rPr>
              <a:t>(perm gen)</a:t>
            </a:r>
            <a:r>
              <a:rPr lang="zh-CN" altLang="en-US" sz="1000" dirty="0">
                <a:solidFill>
                  <a:srgbClr val="393939"/>
                </a:solidFill>
                <a:latin typeface="+mn-ea"/>
              </a:rPr>
              <a:t>初始值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E561B8-5A8B-49BE-A3D4-0157325B7CC6}"/>
              </a:ext>
            </a:extLst>
          </p:cNvPr>
          <p:cNvSpPr/>
          <p:nvPr/>
        </p:nvSpPr>
        <p:spPr>
          <a:xfrm>
            <a:off x="2896453" y="1521698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Helvetica" panose="020B0604020202020204" pitchFamily="34" charset="0"/>
              </a:rPr>
              <a:t>核心</a:t>
            </a:r>
            <a:r>
              <a:rPr lang="en-US" altLang="zh-CN" sz="1400" b="1" dirty="0">
                <a:solidFill>
                  <a:srgbClr val="000000"/>
                </a:solidFill>
                <a:latin typeface="Helvetica" panose="020B0604020202020204" pitchFamily="34" charset="0"/>
              </a:rPr>
              <a:t>JVM</a:t>
            </a:r>
            <a:r>
              <a:rPr lang="zh-CN" altLang="en-US" sz="1400" b="1" dirty="0">
                <a:solidFill>
                  <a:srgbClr val="000000"/>
                </a:solidFill>
                <a:latin typeface="Helvetica" panose="020B0604020202020204" pitchFamily="34" charset="0"/>
              </a:rPr>
              <a:t>配置优化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68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JVM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A3FCE8-2474-41D7-9A56-B14C867D6223}"/>
              </a:ext>
            </a:extLst>
          </p:cNvPr>
          <p:cNvSpPr/>
          <p:nvPr/>
        </p:nvSpPr>
        <p:spPr>
          <a:xfrm>
            <a:off x="389745" y="413702"/>
            <a:ext cx="8214609" cy="754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1400" b="1" dirty="0"/>
              <a:t>垃圾回收器选择</a:t>
            </a:r>
            <a:r>
              <a:rPr lang="zh-CN" altLang="en-US" sz="1200" b="1" dirty="0"/>
              <a:t>：</a:t>
            </a:r>
            <a:endParaRPr lang="en-US" altLang="zh-CN" sz="1200" b="1" dirty="0"/>
          </a:p>
          <a:p>
            <a:pPr>
              <a:spcBef>
                <a:spcPts val="600"/>
              </a:spcBef>
            </a:pPr>
            <a:r>
              <a:rPr lang="en-US" altLang="zh-CN" sz="1200" dirty="0"/>
              <a:t>        JVM</a:t>
            </a:r>
            <a:r>
              <a:rPr lang="zh-CN" altLang="en-US" sz="1200" dirty="0"/>
              <a:t>给了三种选择：</a:t>
            </a:r>
            <a:r>
              <a:rPr lang="zh-CN" altLang="en-US" sz="1200" b="1" dirty="0"/>
              <a:t>串行收集器、并行收集器、并发收集器。</a:t>
            </a:r>
            <a:r>
              <a:rPr lang="zh-CN" altLang="en-US" sz="1200" dirty="0"/>
              <a:t>但是串行收集器只适用于小数据量的情况，所以这里的选择主要针对并行收集器和并发收集器。</a:t>
            </a:r>
            <a:endParaRPr lang="en-US" altLang="zh-CN" sz="1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88F557-3947-4FC3-B0A5-B95C56E18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06" y="2907781"/>
            <a:ext cx="7974766" cy="99602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830362-CF0F-4F98-87B0-7D07D780B212}"/>
              </a:ext>
            </a:extLst>
          </p:cNvPr>
          <p:cNvSpPr/>
          <p:nvPr/>
        </p:nvSpPr>
        <p:spPr>
          <a:xfrm>
            <a:off x="389745" y="2469056"/>
            <a:ext cx="7787389" cy="48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吞吐量优先的并行收集器：</a:t>
            </a:r>
            <a:endParaRPr lang="en-US" altLang="zh-CN" sz="1200" b="1" dirty="0">
              <a:solidFill>
                <a:srgbClr val="0000FF"/>
              </a:solidFill>
              <a:latin typeface="+mn-ea"/>
            </a:endParaRPr>
          </a:p>
          <a:p>
            <a:r>
              <a:rPr lang="zh-CN" altLang="en-US" dirty="0"/>
              <a:t>         </a:t>
            </a:r>
            <a:r>
              <a:rPr lang="zh-CN" altLang="en-US" sz="1200" dirty="0"/>
              <a:t>并行收集器主要以到达一定的吞吐量为目标，适用于科学技术和后台处理等。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6E0718-721D-4BDF-B17D-AD8361BFA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06" y="3979890"/>
            <a:ext cx="7974766" cy="112440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930BA2C-5FF5-4042-B67B-C5756C8626A9}"/>
              </a:ext>
            </a:extLst>
          </p:cNvPr>
          <p:cNvSpPr/>
          <p:nvPr/>
        </p:nvSpPr>
        <p:spPr>
          <a:xfrm>
            <a:off x="389745" y="1087932"/>
            <a:ext cx="7609776" cy="4847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响应时间优先的并发收集器：</a:t>
            </a:r>
            <a:endParaRPr lang="en-US" altLang="zh-CN" sz="1200" b="1" dirty="0">
              <a:solidFill>
                <a:srgbClr val="0000FF"/>
              </a:solidFill>
              <a:latin typeface="+mn-ea"/>
            </a:endParaRPr>
          </a:p>
          <a:p>
            <a:r>
              <a:rPr lang="zh-CN" altLang="en-US" dirty="0"/>
              <a:t>         </a:t>
            </a:r>
            <a:r>
              <a:rPr lang="zh-CN" altLang="en-US" sz="1200" dirty="0"/>
              <a:t>并发收集器主要是保证系统的响应时间，减少垃圾收集时的停顿时间。适用于应用服务器、电信领域等。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B696734-03A0-4F21-BD89-3AE40999E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06" y="1532320"/>
            <a:ext cx="7974766" cy="93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7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10DCBF2-0D8C-4907-8BEA-E9232EF6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50041"/>
            <a:ext cx="1148521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8" name="圆角矩形 3">
            <a:extLst>
              <a:ext uri="{FF2B5EF4-FFF2-40B4-BE49-F238E27FC236}">
                <a16:creationId xmlns:a16="http://schemas.microsoft.com/office/drawing/2014/main" id="{FD480438-E635-44A6-BE59-0F78E5376E2D}"/>
              </a:ext>
            </a:extLst>
          </p:cNvPr>
          <p:cNvSpPr/>
          <p:nvPr/>
        </p:nvSpPr>
        <p:spPr>
          <a:xfrm>
            <a:off x="2780156" y="245981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JVM</a:t>
            </a:r>
            <a:r>
              <a:rPr lang="zh-CN" altLang="en-US" sz="1600" b="1" dirty="0">
                <a:solidFill>
                  <a:srgbClr val="6C40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A0E2C9-7B33-41EC-99FB-C9CAF3066A2F}"/>
              </a:ext>
            </a:extLst>
          </p:cNvPr>
          <p:cNvSpPr/>
          <p:nvPr/>
        </p:nvSpPr>
        <p:spPr>
          <a:xfrm>
            <a:off x="367990" y="601975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400" b="1" dirty="0"/>
              <a:t>APP</a:t>
            </a:r>
            <a:r>
              <a:rPr lang="zh-CN" altLang="en-US" sz="1400" b="1" dirty="0"/>
              <a:t>系统生产监控：</a:t>
            </a:r>
            <a:endParaRPr lang="en-US" altLang="zh-CN" sz="1400" kern="0" dirty="0">
              <a:solidFill>
                <a:srgbClr val="00000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C61887-3293-47DA-A7E9-6A66115F38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90" y="909753"/>
            <a:ext cx="4337825" cy="412758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47D8811-8089-4EB0-BAE1-4F9EF887E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063" y="909753"/>
            <a:ext cx="4140819" cy="410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0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5"/>
          <p:cNvSpPr>
            <a:spLocks noEditPoints="1"/>
          </p:cNvSpPr>
          <p:nvPr/>
        </p:nvSpPr>
        <p:spPr bwMode="auto">
          <a:xfrm>
            <a:off x="3027931" y="446735"/>
            <a:ext cx="3177001" cy="3300676"/>
          </a:xfrm>
          <a:custGeom>
            <a:avLst/>
            <a:gdLst>
              <a:gd name="T0" fmla="*/ 2614 w 3520"/>
              <a:gd name="T1" fmla="*/ 0 h 3078"/>
              <a:gd name="T2" fmla="*/ 3520 w 3520"/>
              <a:gd name="T3" fmla="*/ 1539 h 3078"/>
              <a:gd name="T4" fmla="*/ 2614 w 3520"/>
              <a:gd name="T5" fmla="*/ 3078 h 3078"/>
              <a:gd name="T6" fmla="*/ 906 w 3520"/>
              <a:gd name="T7" fmla="*/ 3078 h 3078"/>
              <a:gd name="T8" fmla="*/ 0 w 3520"/>
              <a:gd name="T9" fmla="*/ 1539 h 3078"/>
              <a:gd name="T10" fmla="*/ 906 w 3520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20" h="3078">
                <a:moveTo>
                  <a:pt x="2614" y="0"/>
                </a:moveTo>
                <a:cubicBezTo>
                  <a:pt x="3154" y="300"/>
                  <a:pt x="3520" y="877"/>
                  <a:pt x="3520" y="1539"/>
                </a:cubicBezTo>
                <a:cubicBezTo>
                  <a:pt x="3520" y="2201"/>
                  <a:pt x="3154" y="2778"/>
                  <a:pt x="2614" y="3078"/>
                </a:cubicBezTo>
                <a:moveTo>
                  <a:pt x="906" y="3078"/>
                </a:moveTo>
                <a:cubicBezTo>
                  <a:pt x="365" y="2778"/>
                  <a:pt x="0" y="2201"/>
                  <a:pt x="0" y="1539"/>
                </a:cubicBezTo>
                <a:cubicBezTo>
                  <a:pt x="0" y="877"/>
                  <a:pt x="365" y="300"/>
                  <a:pt x="906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" name="Freeform 26"/>
          <p:cNvSpPr>
            <a:spLocks noEditPoints="1"/>
          </p:cNvSpPr>
          <p:nvPr/>
        </p:nvSpPr>
        <p:spPr bwMode="auto">
          <a:xfrm>
            <a:off x="2682688" y="431470"/>
            <a:ext cx="3866030" cy="3300676"/>
          </a:xfrm>
          <a:custGeom>
            <a:avLst/>
            <a:gdLst>
              <a:gd name="T0" fmla="*/ 3496 w 4174"/>
              <a:gd name="T1" fmla="*/ 0 h 3078"/>
              <a:gd name="T2" fmla="*/ 4174 w 4174"/>
              <a:gd name="T3" fmla="*/ 1539 h 3078"/>
              <a:gd name="T4" fmla="*/ 3496 w 4174"/>
              <a:gd name="T5" fmla="*/ 3078 h 3078"/>
              <a:gd name="T6" fmla="*/ 677 w 4174"/>
              <a:gd name="T7" fmla="*/ 3078 h 3078"/>
              <a:gd name="T8" fmla="*/ 0 w 4174"/>
              <a:gd name="T9" fmla="*/ 1539 h 3078"/>
              <a:gd name="T10" fmla="*/ 677 w 4174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74" h="3078">
                <a:moveTo>
                  <a:pt x="3496" y="0"/>
                </a:moveTo>
                <a:cubicBezTo>
                  <a:pt x="3912" y="381"/>
                  <a:pt x="4174" y="930"/>
                  <a:pt x="4174" y="1539"/>
                </a:cubicBezTo>
                <a:cubicBezTo>
                  <a:pt x="4174" y="2148"/>
                  <a:pt x="3912" y="2697"/>
                  <a:pt x="3496" y="3078"/>
                </a:cubicBezTo>
                <a:moveTo>
                  <a:pt x="677" y="3078"/>
                </a:moveTo>
                <a:cubicBezTo>
                  <a:pt x="261" y="2697"/>
                  <a:pt x="0" y="2148"/>
                  <a:pt x="0" y="1539"/>
                </a:cubicBezTo>
                <a:cubicBezTo>
                  <a:pt x="0" y="930"/>
                  <a:pt x="261" y="381"/>
                  <a:pt x="67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6" name="Freeform 27"/>
          <p:cNvSpPr>
            <a:spLocks noEditPoints="1"/>
          </p:cNvSpPr>
          <p:nvPr/>
        </p:nvSpPr>
        <p:spPr bwMode="auto">
          <a:xfrm>
            <a:off x="2355162" y="438612"/>
            <a:ext cx="4522538" cy="3300676"/>
          </a:xfrm>
          <a:custGeom>
            <a:avLst/>
            <a:gdLst>
              <a:gd name="T0" fmla="*/ 4412 w 4949"/>
              <a:gd name="T1" fmla="*/ 0 h 3078"/>
              <a:gd name="T2" fmla="*/ 4949 w 4949"/>
              <a:gd name="T3" fmla="*/ 1539 h 3078"/>
              <a:gd name="T4" fmla="*/ 4412 w 4949"/>
              <a:gd name="T5" fmla="*/ 3078 h 3078"/>
              <a:gd name="T6" fmla="*/ 537 w 4949"/>
              <a:gd name="T7" fmla="*/ 3078 h 3078"/>
              <a:gd name="T8" fmla="*/ 0 w 4949"/>
              <a:gd name="T9" fmla="*/ 1539 h 3078"/>
              <a:gd name="T10" fmla="*/ 537 w 494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49" h="3078">
                <a:moveTo>
                  <a:pt x="4412" y="0"/>
                </a:moveTo>
                <a:cubicBezTo>
                  <a:pt x="4748" y="422"/>
                  <a:pt x="4949" y="957"/>
                  <a:pt x="4949" y="1539"/>
                </a:cubicBezTo>
                <a:cubicBezTo>
                  <a:pt x="4949" y="2121"/>
                  <a:pt x="4748" y="2656"/>
                  <a:pt x="4412" y="3078"/>
                </a:cubicBezTo>
                <a:moveTo>
                  <a:pt x="537" y="3078"/>
                </a:moveTo>
                <a:cubicBezTo>
                  <a:pt x="201" y="2656"/>
                  <a:pt x="0" y="2121"/>
                  <a:pt x="0" y="1539"/>
                </a:cubicBezTo>
                <a:cubicBezTo>
                  <a:pt x="0" y="957"/>
                  <a:pt x="201" y="422"/>
                  <a:pt x="53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7" name="Freeform 28"/>
          <p:cNvSpPr>
            <a:spLocks noEditPoints="1"/>
          </p:cNvSpPr>
          <p:nvPr/>
        </p:nvSpPr>
        <p:spPr bwMode="auto">
          <a:xfrm>
            <a:off x="1902759" y="484593"/>
            <a:ext cx="5365375" cy="3300676"/>
          </a:xfrm>
          <a:custGeom>
            <a:avLst/>
            <a:gdLst>
              <a:gd name="T0" fmla="*/ 5433 w 5869"/>
              <a:gd name="T1" fmla="*/ 0 h 3078"/>
              <a:gd name="T2" fmla="*/ 5869 w 5869"/>
              <a:gd name="T3" fmla="*/ 1539 h 3078"/>
              <a:gd name="T4" fmla="*/ 5433 w 5869"/>
              <a:gd name="T5" fmla="*/ 3078 h 3078"/>
              <a:gd name="T6" fmla="*/ 436 w 5869"/>
              <a:gd name="T7" fmla="*/ 3078 h 3078"/>
              <a:gd name="T8" fmla="*/ 0 w 5869"/>
              <a:gd name="T9" fmla="*/ 1539 h 3078"/>
              <a:gd name="T10" fmla="*/ 436 w 586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69" h="3078">
                <a:moveTo>
                  <a:pt x="5433" y="0"/>
                </a:moveTo>
                <a:cubicBezTo>
                  <a:pt x="5709" y="447"/>
                  <a:pt x="5869" y="974"/>
                  <a:pt x="5869" y="1539"/>
                </a:cubicBezTo>
                <a:cubicBezTo>
                  <a:pt x="5869" y="2103"/>
                  <a:pt x="5709" y="2631"/>
                  <a:pt x="5433" y="3078"/>
                </a:cubicBezTo>
                <a:moveTo>
                  <a:pt x="436" y="3078"/>
                </a:moveTo>
                <a:cubicBezTo>
                  <a:pt x="160" y="2631"/>
                  <a:pt x="0" y="2103"/>
                  <a:pt x="0" y="1539"/>
                </a:cubicBezTo>
                <a:cubicBezTo>
                  <a:pt x="0" y="974"/>
                  <a:pt x="160" y="447"/>
                  <a:pt x="436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8" name="Freeform 29"/>
          <p:cNvSpPr>
            <a:spLocks noEditPoints="1"/>
          </p:cNvSpPr>
          <p:nvPr/>
        </p:nvSpPr>
        <p:spPr bwMode="auto">
          <a:xfrm>
            <a:off x="1431315" y="447994"/>
            <a:ext cx="6281365" cy="3300676"/>
          </a:xfrm>
          <a:custGeom>
            <a:avLst/>
            <a:gdLst>
              <a:gd name="T0" fmla="*/ 6600 w 6959"/>
              <a:gd name="T1" fmla="*/ 0 h 3078"/>
              <a:gd name="T2" fmla="*/ 6959 w 6959"/>
              <a:gd name="T3" fmla="*/ 1539 h 3078"/>
              <a:gd name="T4" fmla="*/ 6600 w 6959"/>
              <a:gd name="T5" fmla="*/ 3078 h 3078"/>
              <a:gd name="T6" fmla="*/ 359 w 6959"/>
              <a:gd name="T7" fmla="*/ 3078 h 3078"/>
              <a:gd name="T8" fmla="*/ 0 w 6959"/>
              <a:gd name="T9" fmla="*/ 1539 h 3078"/>
              <a:gd name="T10" fmla="*/ 359 w 695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959" h="3078">
                <a:moveTo>
                  <a:pt x="6600" y="0"/>
                </a:moveTo>
                <a:cubicBezTo>
                  <a:pt x="6830" y="464"/>
                  <a:pt x="6959" y="986"/>
                  <a:pt x="6959" y="1539"/>
                </a:cubicBezTo>
                <a:cubicBezTo>
                  <a:pt x="6959" y="2092"/>
                  <a:pt x="6830" y="2614"/>
                  <a:pt x="6600" y="3078"/>
                </a:cubicBezTo>
                <a:moveTo>
                  <a:pt x="359" y="3078"/>
                </a:moveTo>
                <a:cubicBezTo>
                  <a:pt x="129" y="2614"/>
                  <a:pt x="0" y="2092"/>
                  <a:pt x="0" y="1539"/>
                </a:cubicBezTo>
                <a:cubicBezTo>
                  <a:pt x="0" y="986"/>
                  <a:pt x="129" y="464"/>
                  <a:pt x="359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9" name="Freeform 30"/>
          <p:cNvSpPr>
            <a:spLocks noEditPoints="1"/>
          </p:cNvSpPr>
          <p:nvPr/>
        </p:nvSpPr>
        <p:spPr bwMode="auto">
          <a:xfrm>
            <a:off x="847834" y="492716"/>
            <a:ext cx="7448329" cy="3300676"/>
          </a:xfrm>
          <a:custGeom>
            <a:avLst/>
            <a:gdLst>
              <a:gd name="T0" fmla="*/ 7954 w 8251"/>
              <a:gd name="T1" fmla="*/ 0 h 3078"/>
              <a:gd name="T2" fmla="*/ 8251 w 8251"/>
              <a:gd name="T3" fmla="*/ 1539 h 3078"/>
              <a:gd name="T4" fmla="*/ 7954 w 8251"/>
              <a:gd name="T5" fmla="*/ 3078 h 3078"/>
              <a:gd name="T6" fmla="*/ 297 w 8251"/>
              <a:gd name="T7" fmla="*/ 3078 h 3078"/>
              <a:gd name="T8" fmla="*/ 0 w 8251"/>
              <a:gd name="T9" fmla="*/ 1539 h 3078"/>
              <a:gd name="T10" fmla="*/ 297 w 8251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251" h="3078">
                <a:moveTo>
                  <a:pt x="7954" y="0"/>
                </a:moveTo>
                <a:cubicBezTo>
                  <a:pt x="8146" y="475"/>
                  <a:pt x="8251" y="995"/>
                  <a:pt x="8251" y="1539"/>
                </a:cubicBezTo>
                <a:cubicBezTo>
                  <a:pt x="8251" y="2083"/>
                  <a:pt x="8146" y="2602"/>
                  <a:pt x="7954" y="3078"/>
                </a:cubicBezTo>
                <a:moveTo>
                  <a:pt x="297" y="3078"/>
                </a:moveTo>
                <a:cubicBezTo>
                  <a:pt x="106" y="2602"/>
                  <a:pt x="0" y="2083"/>
                  <a:pt x="0" y="1539"/>
                </a:cubicBezTo>
                <a:cubicBezTo>
                  <a:pt x="0" y="995"/>
                  <a:pt x="106" y="475"/>
                  <a:pt x="29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707880" y="1145095"/>
            <a:ext cx="1728225" cy="1728000"/>
            <a:chOff x="1827613" y="953180"/>
            <a:chExt cx="2304000" cy="2304000"/>
          </a:xfrm>
        </p:grpSpPr>
        <p:sp>
          <p:nvSpPr>
            <p:cNvPr id="11" name="椭圆 10"/>
            <p:cNvSpPr/>
            <p:nvPr/>
          </p:nvSpPr>
          <p:spPr>
            <a:xfrm>
              <a:off x="1827613" y="953180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635000" dist="762000" dir="7800000" sx="88000" sy="88000" algn="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400">
                <a:solidFill>
                  <a:prstClr val="white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877473" y="1015039"/>
              <a:ext cx="2204282" cy="2204283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zh-CN" altLang="en-US" sz="1800" b="1" dirty="0">
                  <a:solidFill>
                    <a:srgbClr val="00A7B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极致对账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169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0">
        <p:checker/>
      </p:transition>
    </mc:Choice>
    <mc:Fallback xmlns="">
      <p:transition spd="slow" advTm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941422" y="1192751"/>
            <a:ext cx="5261156" cy="2891433"/>
            <a:chOff x="2402680" y="2725738"/>
            <a:chExt cx="2657475" cy="1460501"/>
          </a:xfrm>
          <a:solidFill>
            <a:schemeClr val="bg1">
              <a:lumMod val="85000"/>
              <a:alpha val="15000"/>
            </a:schemeClr>
          </a:solidFill>
        </p:grpSpPr>
        <p:sp>
          <p:nvSpPr>
            <p:cNvPr id="6" name="Freeform 20"/>
            <p:cNvSpPr>
              <a:spLocks/>
            </p:cNvSpPr>
            <p:nvPr/>
          </p:nvSpPr>
          <p:spPr bwMode="auto">
            <a:xfrm>
              <a:off x="3110705" y="2746376"/>
              <a:ext cx="33338" cy="14288"/>
            </a:xfrm>
            <a:custGeom>
              <a:avLst/>
              <a:gdLst>
                <a:gd name="T0" fmla="*/ 5 w 5"/>
                <a:gd name="T1" fmla="*/ 0 h 2"/>
                <a:gd name="T2" fmla="*/ 0 w 5"/>
                <a:gd name="T3" fmla="*/ 1 h 2"/>
                <a:gd name="T4" fmla="*/ 3 w 5"/>
                <a:gd name="T5" fmla="*/ 2 h 2"/>
                <a:gd name="T6" fmla="*/ 5 w 5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cubicBezTo>
                    <a:pt x="3" y="1"/>
                    <a:pt x="1" y="0"/>
                    <a:pt x="0" y="1"/>
                  </a:cubicBezTo>
                  <a:cubicBezTo>
                    <a:pt x="0" y="2"/>
                    <a:pt x="2" y="2"/>
                    <a:pt x="3" y="2"/>
                  </a:cubicBezTo>
                  <a:cubicBezTo>
                    <a:pt x="4" y="2"/>
                    <a:pt x="5" y="2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7" name="Freeform 21"/>
            <p:cNvSpPr>
              <a:spLocks/>
            </p:cNvSpPr>
            <p:nvPr/>
          </p:nvSpPr>
          <p:spPr bwMode="auto">
            <a:xfrm>
              <a:off x="4682330" y="2994026"/>
              <a:ext cx="14288" cy="28575"/>
            </a:xfrm>
            <a:custGeom>
              <a:avLst/>
              <a:gdLst>
                <a:gd name="T0" fmla="*/ 0 w 2"/>
                <a:gd name="T1" fmla="*/ 0 h 4"/>
                <a:gd name="T2" fmla="*/ 2 w 2"/>
                <a:gd name="T3" fmla="*/ 4 h 4"/>
                <a:gd name="T4" fmla="*/ 2 w 2"/>
                <a:gd name="T5" fmla="*/ 3 h 4"/>
                <a:gd name="T6" fmla="*/ 0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1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2" y="3"/>
                    <a:pt x="2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8" name="Freeform 22"/>
            <p:cNvSpPr>
              <a:spLocks noEditPoints="1"/>
            </p:cNvSpPr>
            <p:nvPr/>
          </p:nvSpPr>
          <p:spPr bwMode="auto">
            <a:xfrm>
              <a:off x="3494880" y="2767013"/>
              <a:ext cx="1366838" cy="668338"/>
            </a:xfrm>
            <a:custGeom>
              <a:avLst/>
              <a:gdLst>
                <a:gd name="T0" fmla="*/ 80 w 199"/>
                <a:gd name="T1" fmla="*/ 43 h 97"/>
                <a:gd name="T2" fmla="*/ 64 w 199"/>
                <a:gd name="T3" fmla="*/ 36 h 97"/>
                <a:gd name="T4" fmla="*/ 76 w 199"/>
                <a:gd name="T5" fmla="*/ 47 h 97"/>
                <a:gd name="T6" fmla="*/ 69 w 199"/>
                <a:gd name="T7" fmla="*/ 50 h 97"/>
                <a:gd name="T8" fmla="*/ 128 w 199"/>
                <a:gd name="T9" fmla="*/ 33 h 97"/>
                <a:gd name="T10" fmla="*/ 88 w 199"/>
                <a:gd name="T11" fmla="*/ 4 h 97"/>
                <a:gd name="T12" fmla="*/ 90 w 199"/>
                <a:gd name="T13" fmla="*/ 11 h 97"/>
                <a:gd name="T14" fmla="*/ 83 w 199"/>
                <a:gd name="T15" fmla="*/ 13 h 97"/>
                <a:gd name="T16" fmla="*/ 76 w 199"/>
                <a:gd name="T17" fmla="*/ 6 h 97"/>
                <a:gd name="T18" fmla="*/ 45 w 199"/>
                <a:gd name="T19" fmla="*/ 11 h 97"/>
                <a:gd name="T20" fmla="*/ 40 w 199"/>
                <a:gd name="T21" fmla="*/ 10 h 97"/>
                <a:gd name="T22" fmla="*/ 34 w 199"/>
                <a:gd name="T23" fmla="*/ 8 h 97"/>
                <a:gd name="T24" fmla="*/ 26 w 199"/>
                <a:gd name="T25" fmla="*/ 16 h 97"/>
                <a:gd name="T26" fmla="*/ 23 w 199"/>
                <a:gd name="T27" fmla="*/ 17 h 97"/>
                <a:gd name="T28" fmla="*/ 26 w 199"/>
                <a:gd name="T29" fmla="*/ 19 h 97"/>
                <a:gd name="T30" fmla="*/ 39 w 199"/>
                <a:gd name="T31" fmla="*/ 15 h 97"/>
                <a:gd name="T32" fmla="*/ 46 w 199"/>
                <a:gd name="T33" fmla="*/ 28 h 97"/>
                <a:gd name="T34" fmla="*/ 42 w 199"/>
                <a:gd name="T35" fmla="*/ 26 h 97"/>
                <a:gd name="T36" fmla="*/ 36 w 199"/>
                <a:gd name="T37" fmla="*/ 27 h 97"/>
                <a:gd name="T38" fmla="*/ 25 w 199"/>
                <a:gd name="T39" fmla="*/ 29 h 97"/>
                <a:gd name="T40" fmla="*/ 9 w 199"/>
                <a:gd name="T41" fmla="*/ 45 h 97"/>
                <a:gd name="T42" fmla="*/ 5 w 199"/>
                <a:gd name="T43" fmla="*/ 55 h 97"/>
                <a:gd name="T44" fmla="*/ 20 w 199"/>
                <a:gd name="T45" fmla="*/ 42 h 97"/>
                <a:gd name="T46" fmla="*/ 25 w 199"/>
                <a:gd name="T47" fmla="*/ 44 h 97"/>
                <a:gd name="T48" fmla="*/ 32 w 199"/>
                <a:gd name="T49" fmla="*/ 36 h 97"/>
                <a:gd name="T50" fmla="*/ 35 w 199"/>
                <a:gd name="T51" fmla="*/ 38 h 97"/>
                <a:gd name="T52" fmla="*/ 28 w 199"/>
                <a:gd name="T53" fmla="*/ 42 h 97"/>
                <a:gd name="T54" fmla="*/ 35 w 199"/>
                <a:gd name="T55" fmla="*/ 41 h 97"/>
                <a:gd name="T56" fmla="*/ 39 w 199"/>
                <a:gd name="T57" fmla="*/ 49 h 97"/>
                <a:gd name="T58" fmla="*/ 42 w 199"/>
                <a:gd name="T59" fmla="*/ 44 h 97"/>
                <a:gd name="T60" fmla="*/ 45 w 199"/>
                <a:gd name="T61" fmla="*/ 42 h 97"/>
                <a:gd name="T62" fmla="*/ 56 w 199"/>
                <a:gd name="T63" fmla="*/ 36 h 97"/>
                <a:gd name="T64" fmla="*/ 60 w 199"/>
                <a:gd name="T65" fmla="*/ 45 h 97"/>
                <a:gd name="T66" fmla="*/ 51 w 199"/>
                <a:gd name="T67" fmla="*/ 47 h 97"/>
                <a:gd name="T68" fmla="*/ 55 w 199"/>
                <a:gd name="T69" fmla="*/ 59 h 97"/>
                <a:gd name="T70" fmla="*/ 57 w 199"/>
                <a:gd name="T71" fmla="*/ 65 h 97"/>
                <a:gd name="T72" fmla="*/ 82 w 199"/>
                <a:gd name="T73" fmla="*/ 72 h 97"/>
                <a:gd name="T74" fmla="*/ 70 w 199"/>
                <a:gd name="T75" fmla="*/ 65 h 97"/>
                <a:gd name="T76" fmla="*/ 84 w 199"/>
                <a:gd name="T77" fmla="*/ 71 h 97"/>
                <a:gd name="T78" fmla="*/ 95 w 199"/>
                <a:gd name="T79" fmla="*/ 71 h 97"/>
                <a:gd name="T80" fmla="*/ 101 w 199"/>
                <a:gd name="T81" fmla="*/ 74 h 97"/>
                <a:gd name="T82" fmla="*/ 104 w 199"/>
                <a:gd name="T83" fmla="*/ 76 h 97"/>
                <a:gd name="T84" fmla="*/ 125 w 199"/>
                <a:gd name="T85" fmla="*/ 76 h 97"/>
                <a:gd name="T86" fmla="*/ 130 w 199"/>
                <a:gd name="T87" fmla="*/ 74 h 97"/>
                <a:gd name="T88" fmla="*/ 139 w 199"/>
                <a:gd name="T89" fmla="*/ 90 h 97"/>
                <a:gd name="T90" fmla="*/ 144 w 199"/>
                <a:gd name="T91" fmla="*/ 89 h 97"/>
                <a:gd name="T92" fmla="*/ 146 w 199"/>
                <a:gd name="T93" fmla="*/ 80 h 97"/>
                <a:gd name="T94" fmla="*/ 150 w 199"/>
                <a:gd name="T95" fmla="*/ 77 h 97"/>
                <a:gd name="T96" fmla="*/ 156 w 199"/>
                <a:gd name="T97" fmla="*/ 49 h 97"/>
                <a:gd name="T98" fmla="*/ 165 w 199"/>
                <a:gd name="T99" fmla="*/ 52 h 97"/>
                <a:gd name="T100" fmla="*/ 167 w 199"/>
                <a:gd name="T101" fmla="*/ 46 h 97"/>
                <a:gd name="T102" fmla="*/ 166 w 199"/>
                <a:gd name="T103" fmla="*/ 29 h 97"/>
                <a:gd name="T104" fmla="*/ 174 w 199"/>
                <a:gd name="T105" fmla="*/ 21 h 97"/>
                <a:gd name="T106" fmla="*/ 184 w 199"/>
                <a:gd name="T107" fmla="*/ 20 h 97"/>
                <a:gd name="T108" fmla="*/ 192 w 199"/>
                <a:gd name="T109" fmla="*/ 13 h 97"/>
                <a:gd name="T110" fmla="*/ 199 w 199"/>
                <a:gd name="T111" fmla="*/ 13 h 97"/>
                <a:gd name="T112" fmla="*/ 127 w 199"/>
                <a:gd name="T113" fmla="*/ 3 h 97"/>
                <a:gd name="T114" fmla="*/ 113 w 199"/>
                <a:gd name="T115" fmla="*/ 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9" h="97">
                  <a:moveTo>
                    <a:pt x="77" y="44"/>
                  </a:moveTo>
                  <a:cubicBezTo>
                    <a:pt x="76" y="42"/>
                    <a:pt x="80" y="40"/>
                    <a:pt x="82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2" y="40"/>
                    <a:pt x="82" y="40"/>
                  </a:cubicBezTo>
                  <a:cubicBezTo>
                    <a:pt x="82" y="42"/>
                    <a:pt x="84" y="43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4"/>
                    <a:pt x="80" y="43"/>
                    <a:pt x="80" y="43"/>
                  </a:cubicBezTo>
                  <a:cubicBezTo>
                    <a:pt x="79" y="42"/>
                    <a:pt x="79" y="42"/>
                    <a:pt x="78" y="42"/>
                  </a:cubicBezTo>
                  <a:cubicBezTo>
                    <a:pt x="78" y="42"/>
                    <a:pt x="77" y="42"/>
                    <a:pt x="77" y="44"/>
                  </a:cubicBezTo>
                  <a:moveTo>
                    <a:pt x="68" y="48"/>
                  </a:moveTo>
                  <a:cubicBezTo>
                    <a:pt x="68" y="47"/>
                    <a:pt x="68" y="47"/>
                    <a:pt x="68" y="47"/>
                  </a:cubicBezTo>
                  <a:cubicBezTo>
                    <a:pt x="67" y="46"/>
                    <a:pt x="67" y="43"/>
                    <a:pt x="66" y="42"/>
                  </a:cubicBezTo>
                  <a:cubicBezTo>
                    <a:pt x="66" y="41"/>
                    <a:pt x="67" y="41"/>
                    <a:pt x="68" y="40"/>
                  </a:cubicBezTo>
                  <a:cubicBezTo>
                    <a:pt x="67" y="38"/>
                    <a:pt x="64" y="38"/>
                    <a:pt x="64" y="36"/>
                  </a:cubicBezTo>
                  <a:cubicBezTo>
                    <a:pt x="66" y="37"/>
                    <a:pt x="67" y="39"/>
                    <a:pt x="69" y="40"/>
                  </a:cubicBezTo>
                  <a:cubicBezTo>
                    <a:pt x="69" y="39"/>
                    <a:pt x="70" y="39"/>
                    <a:pt x="71" y="39"/>
                  </a:cubicBezTo>
                  <a:cubicBezTo>
                    <a:pt x="72" y="39"/>
                    <a:pt x="72" y="39"/>
                    <a:pt x="73" y="40"/>
                  </a:cubicBezTo>
                  <a:cubicBezTo>
                    <a:pt x="73" y="43"/>
                    <a:pt x="72" y="42"/>
                    <a:pt x="72" y="45"/>
                  </a:cubicBezTo>
                  <a:cubicBezTo>
                    <a:pt x="72" y="45"/>
                    <a:pt x="72" y="45"/>
                    <a:pt x="72" y="45"/>
                  </a:cubicBezTo>
                  <a:cubicBezTo>
                    <a:pt x="73" y="45"/>
                    <a:pt x="73" y="45"/>
                    <a:pt x="74" y="45"/>
                  </a:cubicBezTo>
                  <a:cubicBezTo>
                    <a:pt x="74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9"/>
                  </a:cubicBezTo>
                  <a:cubicBezTo>
                    <a:pt x="75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7" y="49"/>
                    <a:pt x="76" y="52"/>
                    <a:pt x="76" y="53"/>
                  </a:cubicBezTo>
                  <a:cubicBezTo>
                    <a:pt x="76" y="54"/>
                    <a:pt x="75" y="54"/>
                    <a:pt x="75" y="55"/>
                  </a:cubicBezTo>
                  <a:cubicBezTo>
                    <a:pt x="72" y="54"/>
                    <a:pt x="69" y="53"/>
                    <a:pt x="68" y="50"/>
                  </a:cubicBezTo>
                  <a:cubicBezTo>
                    <a:pt x="68" y="50"/>
                    <a:pt x="69" y="50"/>
                    <a:pt x="69" y="50"/>
                  </a:cubicBezTo>
                  <a:cubicBezTo>
                    <a:pt x="69" y="50"/>
                    <a:pt x="69" y="50"/>
                    <a:pt x="70" y="50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70" y="50"/>
                    <a:pt x="70" y="50"/>
                    <a:pt x="70" y="49"/>
                  </a:cubicBezTo>
                  <a:cubicBezTo>
                    <a:pt x="70" y="48"/>
                    <a:pt x="70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moveTo>
                    <a:pt x="129" y="33"/>
                  </a:moveTo>
                  <a:cubicBezTo>
                    <a:pt x="129" y="33"/>
                    <a:pt x="128" y="33"/>
                    <a:pt x="128" y="33"/>
                  </a:cubicBezTo>
                  <a:cubicBezTo>
                    <a:pt x="131" y="32"/>
                    <a:pt x="130" y="27"/>
                    <a:pt x="132" y="26"/>
                  </a:cubicBezTo>
                  <a:cubicBezTo>
                    <a:pt x="132" y="28"/>
                    <a:pt x="133" y="29"/>
                    <a:pt x="133" y="31"/>
                  </a:cubicBezTo>
                  <a:cubicBezTo>
                    <a:pt x="131" y="32"/>
                    <a:pt x="131" y="33"/>
                    <a:pt x="129" y="33"/>
                  </a:cubicBezTo>
                  <a:moveTo>
                    <a:pt x="106" y="0"/>
                  </a:moveTo>
                  <a:cubicBezTo>
                    <a:pt x="102" y="0"/>
                    <a:pt x="98" y="1"/>
                    <a:pt x="92" y="1"/>
                  </a:cubicBezTo>
                  <a:cubicBezTo>
                    <a:pt x="93" y="5"/>
                    <a:pt x="88" y="2"/>
                    <a:pt x="87" y="5"/>
                  </a:cubicBezTo>
                  <a:cubicBezTo>
                    <a:pt x="88" y="5"/>
                    <a:pt x="88" y="4"/>
                    <a:pt x="88" y="4"/>
                  </a:cubicBezTo>
                  <a:cubicBezTo>
                    <a:pt x="89" y="4"/>
                    <a:pt x="90" y="5"/>
                    <a:pt x="90" y="6"/>
                  </a:cubicBezTo>
                  <a:cubicBezTo>
                    <a:pt x="90" y="6"/>
                    <a:pt x="90" y="6"/>
                    <a:pt x="89" y="6"/>
                  </a:cubicBezTo>
                  <a:cubicBezTo>
                    <a:pt x="89" y="6"/>
                    <a:pt x="88" y="6"/>
                    <a:pt x="88" y="6"/>
                  </a:cubicBezTo>
                  <a:cubicBezTo>
                    <a:pt x="87" y="6"/>
                    <a:pt x="87" y="5"/>
                    <a:pt x="87" y="5"/>
                  </a:cubicBezTo>
                  <a:cubicBezTo>
                    <a:pt x="86" y="5"/>
                    <a:pt x="87" y="6"/>
                    <a:pt x="87" y="7"/>
                  </a:cubicBezTo>
                  <a:cubicBezTo>
                    <a:pt x="85" y="7"/>
                    <a:pt x="83" y="6"/>
                    <a:pt x="82" y="5"/>
                  </a:cubicBezTo>
                  <a:cubicBezTo>
                    <a:pt x="82" y="10"/>
                    <a:pt x="89" y="8"/>
                    <a:pt x="90" y="11"/>
                  </a:cubicBezTo>
                  <a:cubicBezTo>
                    <a:pt x="90" y="11"/>
                    <a:pt x="89" y="11"/>
                    <a:pt x="89" y="11"/>
                  </a:cubicBezTo>
                  <a:cubicBezTo>
                    <a:pt x="88" y="11"/>
                    <a:pt x="88" y="11"/>
                    <a:pt x="87" y="10"/>
                  </a:cubicBezTo>
                  <a:cubicBezTo>
                    <a:pt x="87" y="10"/>
                    <a:pt x="87" y="9"/>
                    <a:pt x="86" y="9"/>
                  </a:cubicBezTo>
                  <a:cubicBezTo>
                    <a:pt x="86" y="9"/>
                    <a:pt x="86" y="10"/>
                    <a:pt x="85" y="10"/>
                  </a:cubicBezTo>
                  <a:cubicBezTo>
                    <a:pt x="87" y="10"/>
                    <a:pt x="85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3" y="13"/>
                    <a:pt x="83" y="13"/>
                  </a:cubicBezTo>
                  <a:cubicBezTo>
                    <a:pt x="83" y="13"/>
                    <a:pt x="83" y="13"/>
                    <a:pt x="82" y="13"/>
                  </a:cubicBezTo>
                  <a:cubicBezTo>
                    <a:pt x="81" y="13"/>
                    <a:pt x="80" y="13"/>
                    <a:pt x="80" y="11"/>
                  </a:cubicBezTo>
                  <a:cubicBezTo>
                    <a:pt x="80" y="11"/>
                    <a:pt x="81" y="11"/>
                    <a:pt x="81" y="11"/>
                  </a:cubicBezTo>
                  <a:cubicBezTo>
                    <a:pt x="82" y="11"/>
                    <a:pt x="83" y="11"/>
                    <a:pt x="83" y="10"/>
                  </a:cubicBezTo>
                  <a:cubicBezTo>
                    <a:pt x="82" y="8"/>
                    <a:pt x="80" y="7"/>
                    <a:pt x="80" y="5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8" y="4"/>
                    <a:pt x="77" y="5"/>
                    <a:pt x="76" y="6"/>
                  </a:cubicBezTo>
                  <a:cubicBezTo>
                    <a:pt x="76" y="9"/>
                    <a:pt x="80" y="7"/>
                    <a:pt x="80" y="10"/>
                  </a:cubicBezTo>
                  <a:cubicBezTo>
                    <a:pt x="78" y="10"/>
                    <a:pt x="75" y="9"/>
                    <a:pt x="72" y="9"/>
                  </a:cubicBezTo>
                  <a:cubicBezTo>
                    <a:pt x="67" y="9"/>
                    <a:pt x="61" y="10"/>
                    <a:pt x="57" y="11"/>
                  </a:cubicBezTo>
                  <a:cubicBezTo>
                    <a:pt x="56" y="11"/>
                    <a:pt x="56" y="13"/>
                    <a:pt x="55" y="13"/>
                  </a:cubicBezTo>
                  <a:cubicBezTo>
                    <a:pt x="54" y="13"/>
                    <a:pt x="54" y="13"/>
                    <a:pt x="53" y="13"/>
                  </a:cubicBezTo>
                  <a:cubicBezTo>
                    <a:pt x="53" y="15"/>
                    <a:pt x="52" y="14"/>
                    <a:pt x="51" y="16"/>
                  </a:cubicBezTo>
                  <a:cubicBezTo>
                    <a:pt x="47" y="16"/>
                    <a:pt x="46" y="13"/>
                    <a:pt x="45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6" y="11"/>
                    <a:pt x="47" y="12"/>
                    <a:pt x="48" y="12"/>
                  </a:cubicBezTo>
                  <a:cubicBezTo>
                    <a:pt x="49" y="12"/>
                    <a:pt x="50" y="13"/>
                    <a:pt x="51" y="13"/>
                  </a:cubicBezTo>
                  <a:cubicBezTo>
                    <a:pt x="52" y="13"/>
                    <a:pt x="53" y="12"/>
                    <a:pt x="53" y="11"/>
                  </a:cubicBezTo>
                  <a:cubicBezTo>
                    <a:pt x="50" y="11"/>
                    <a:pt x="47" y="9"/>
                    <a:pt x="44" y="9"/>
                  </a:cubicBezTo>
                  <a:cubicBezTo>
                    <a:pt x="43" y="9"/>
                    <a:pt x="42" y="9"/>
                    <a:pt x="41" y="10"/>
                  </a:cubicBezTo>
                  <a:cubicBezTo>
                    <a:pt x="41" y="10"/>
                    <a:pt x="40" y="10"/>
                    <a:pt x="40" y="10"/>
                  </a:cubicBezTo>
                  <a:cubicBezTo>
                    <a:pt x="40" y="9"/>
                    <a:pt x="40" y="8"/>
                    <a:pt x="39" y="8"/>
                  </a:cubicBezTo>
                  <a:cubicBezTo>
                    <a:pt x="39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39" y="7"/>
                    <a:pt x="38" y="8"/>
                    <a:pt x="38" y="8"/>
                  </a:cubicBezTo>
                  <a:cubicBezTo>
                    <a:pt x="38" y="7"/>
                    <a:pt x="37" y="7"/>
                    <a:pt x="37" y="7"/>
                  </a:cubicBezTo>
                  <a:cubicBezTo>
                    <a:pt x="36" y="7"/>
                    <a:pt x="35" y="7"/>
                    <a:pt x="35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5" y="8"/>
                    <a:pt x="34" y="9"/>
                    <a:pt x="35" y="9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0"/>
                    <a:pt x="34" y="10"/>
                  </a:cubicBezTo>
                  <a:cubicBezTo>
                    <a:pt x="29" y="10"/>
                    <a:pt x="29" y="13"/>
                    <a:pt x="27" y="13"/>
                  </a:cubicBezTo>
                  <a:cubicBezTo>
                    <a:pt x="28" y="13"/>
                    <a:pt x="27" y="16"/>
                    <a:pt x="26" y="16"/>
                  </a:cubicBezTo>
                  <a:cubicBezTo>
                    <a:pt x="25" y="14"/>
                    <a:pt x="28" y="13"/>
                    <a:pt x="26" y="13"/>
                  </a:cubicBezTo>
                  <a:cubicBezTo>
                    <a:pt x="26" y="14"/>
                    <a:pt x="24" y="15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4" y="16"/>
                    <a:pt x="24" y="16"/>
                  </a:cubicBezTo>
                  <a:cubicBezTo>
                    <a:pt x="25" y="16"/>
                    <a:pt x="25" y="16"/>
                    <a:pt x="24" y="15"/>
                  </a:cubicBezTo>
                  <a:cubicBezTo>
                    <a:pt x="24" y="16"/>
                    <a:pt x="24" y="16"/>
                    <a:pt x="24" y="17"/>
                  </a:cubicBezTo>
                  <a:cubicBezTo>
                    <a:pt x="24" y="17"/>
                    <a:pt x="24" y="17"/>
                    <a:pt x="23" y="17"/>
                  </a:cubicBezTo>
                  <a:cubicBezTo>
                    <a:pt x="21" y="17"/>
                    <a:pt x="20" y="17"/>
                    <a:pt x="20" y="19"/>
                  </a:cubicBezTo>
                  <a:cubicBezTo>
                    <a:pt x="23" y="19"/>
                    <a:pt x="17" y="22"/>
                    <a:pt x="20" y="24"/>
                  </a:cubicBezTo>
                  <a:cubicBezTo>
                    <a:pt x="22" y="23"/>
                    <a:pt x="23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0"/>
                    <a:pt x="25" y="19"/>
                    <a:pt x="25" y="19"/>
                  </a:cubicBezTo>
                  <a:cubicBezTo>
                    <a:pt x="25" y="19"/>
                    <a:pt x="26" y="19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4" y="21"/>
                    <a:pt x="25" y="25"/>
                    <a:pt x="27" y="27"/>
                  </a:cubicBezTo>
                  <a:cubicBezTo>
                    <a:pt x="30" y="25"/>
                    <a:pt x="29" y="23"/>
                    <a:pt x="31" y="20"/>
                  </a:cubicBezTo>
                  <a:cubicBezTo>
                    <a:pt x="27" y="16"/>
                    <a:pt x="34" y="16"/>
                    <a:pt x="36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4"/>
                    <a:pt x="39" y="13"/>
                    <a:pt x="39" y="15"/>
                  </a:cubicBezTo>
                  <a:cubicBezTo>
                    <a:pt x="36" y="15"/>
                    <a:pt x="36" y="17"/>
                    <a:pt x="34" y="18"/>
                  </a:cubicBezTo>
                  <a:cubicBezTo>
                    <a:pt x="35" y="18"/>
                    <a:pt x="35" y="19"/>
                    <a:pt x="35" y="19"/>
                  </a:cubicBezTo>
                  <a:cubicBezTo>
                    <a:pt x="36" y="20"/>
                    <a:pt x="37" y="20"/>
                    <a:pt x="38" y="20"/>
                  </a:cubicBezTo>
                  <a:cubicBezTo>
                    <a:pt x="41" y="20"/>
                    <a:pt x="44" y="18"/>
                    <a:pt x="44" y="16"/>
                  </a:cubicBezTo>
                  <a:cubicBezTo>
                    <a:pt x="45" y="17"/>
                    <a:pt x="44" y="21"/>
                    <a:pt x="42" y="21"/>
                  </a:cubicBezTo>
                  <a:cubicBezTo>
                    <a:pt x="42" y="23"/>
                    <a:pt x="42" y="24"/>
                    <a:pt x="42" y="26"/>
                  </a:cubicBezTo>
                  <a:cubicBezTo>
                    <a:pt x="44" y="26"/>
                    <a:pt x="46" y="26"/>
                    <a:pt x="46" y="28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6" y="27"/>
                    <a:pt x="45" y="27"/>
                    <a:pt x="44" y="27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3" y="27"/>
                    <a:pt x="43" y="26"/>
                    <a:pt x="42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1" y="25"/>
                    <a:pt x="40" y="25"/>
                    <a:pt x="39" y="25"/>
                  </a:cubicBezTo>
                  <a:cubicBezTo>
                    <a:pt x="39" y="25"/>
                    <a:pt x="39" y="25"/>
                    <a:pt x="38" y="25"/>
                  </a:cubicBezTo>
                  <a:cubicBezTo>
                    <a:pt x="38" y="25"/>
                    <a:pt x="38" y="25"/>
                    <a:pt x="37" y="25"/>
                  </a:cubicBezTo>
                  <a:cubicBezTo>
                    <a:pt x="37" y="25"/>
                    <a:pt x="36" y="25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4" y="25"/>
                    <a:pt x="35" y="26"/>
                    <a:pt x="35" y="26"/>
                  </a:cubicBezTo>
                  <a:cubicBezTo>
                    <a:pt x="35" y="27"/>
                    <a:pt x="35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8"/>
                    <a:pt x="35" y="28"/>
                    <a:pt x="34" y="29"/>
                  </a:cubicBezTo>
                  <a:cubicBezTo>
                    <a:pt x="33" y="29"/>
                    <a:pt x="32" y="29"/>
                    <a:pt x="32" y="29"/>
                  </a:cubicBezTo>
                  <a:cubicBezTo>
                    <a:pt x="30" y="29"/>
                    <a:pt x="28" y="29"/>
                    <a:pt x="27" y="31"/>
                  </a:cubicBezTo>
                  <a:cubicBezTo>
                    <a:pt x="27" y="30"/>
                    <a:pt x="26" y="29"/>
                    <a:pt x="25" y="29"/>
                  </a:cubicBezTo>
                  <a:cubicBezTo>
                    <a:pt x="23" y="29"/>
                    <a:pt x="21" y="30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16" y="31"/>
                    <a:pt x="15" y="34"/>
                    <a:pt x="17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5" y="35"/>
                    <a:pt x="15" y="34"/>
                    <a:pt x="13" y="34"/>
                  </a:cubicBezTo>
                  <a:cubicBezTo>
                    <a:pt x="13" y="37"/>
                    <a:pt x="9" y="36"/>
                    <a:pt x="7" y="38"/>
                  </a:cubicBezTo>
                  <a:cubicBezTo>
                    <a:pt x="11" y="38"/>
                    <a:pt x="11" y="44"/>
                    <a:pt x="9" y="45"/>
                  </a:cubicBezTo>
                  <a:cubicBezTo>
                    <a:pt x="9" y="45"/>
                    <a:pt x="7" y="44"/>
                    <a:pt x="6" y="44"/>
                  </a:cubicBezTo>
                  <a:cubicBezTo>
                    <a:pt x="5" y="44"/>
                    <a:pt x="5" y="44"/>
                    <a:pt x="4" y="45"/>
                  </a:cubicBezTo>
                  <a:cubicBezTo>
                    <a:pt x="3" y="45"/>
                    <a:pt x="3" y="45"/>
                    <a:pt x="2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47"/>
                    <a:pt x="3" y="46"/>
                    <a:pt x="3" y="48"/>
                  </a:cubicBezTo>
                  <a:cubicBezTo>
                    <a:pt x="2" y="50"/>
                    <a:pt x="3" y="52"/>
                    <a:pt x="2" y="54"/>
                  </a:cubicBezTo>
                  <a:cubicBezTo>
                    <a:pt x="3" y="54"/>
                    <a:pt x="4" y="55"/>
                    <a:pt x="5" y="55"/>
                  </a:cubicBezTo>
                  <a:cubicBezTo>
                    <a:pt x="9" y="55"/>
                    <a:pt x="10" y="49"/>
                    <a:pt x="13" y="47"/>
                  </a:cubicBezTo>
                  <a:cubicBezTo>
                    <a:pt x="14" y="47"/>
                    <a:pt x="14" y="46"/>
                    <a:pt x="14" y="45"/>
                  </a:cubicBezTo>
                  <a:cubicBezTo>
                    <a:pt x="15" y="44"/>
                    <a:pt x="15" y="44"/>
                    <a:pt x="16" y="44"/>
                  </a:cubicBezTo>
                  <a:cubicBezTo>
                    <a:pt x="16" y="44"/>
                    <a:pt x="17" y="44"/>
                    <a:pt x="17" y="44"/>
                  </a:cubicBezTo>
                  <a:cubicBezTo>
                    <a:pt x="17" y="44"/>
                    <a:pt x="18" y="44"/>
                    <a:pt x="18" y="44"/>
                  </a:cubicBezTo>
                  <a:cubicBezTo>
                    <a:pt x="19" y="44"/>
                    <a:pt x="19" y="44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4" y="47"/>
                    <a:pt x="28" y="47"/>
                    <a:pt x="30" y="50"/>
                  </a:cubicBezTo>
                  <a:cubicBezTo>
                    <a:pt x="32" y="46"/>
                    <a:pt x="27" y="46"/>
                    <a:pt x="25" y="44"/>
                  </a:cubicBezTo>
                  <a:cubicBezTo>
                    <a:pt x="24" y="42"/>
                    <a:pt x="26" y="41"/>
                    <a:pt x="26" y="40"/>
                  </a:cubicBezTo>
                  <a:cubicBezTo>
                    <a:pt x="27" y="41"/>
                    <a:pt x="27" y="41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cubicBezTo>
                    <a:pt x="29" y="40"/>
                    <a:pt x="29" y="40"/>
                    <a:pt x="29" y="39"/>
                  </a:cubicBezTo>
                  <a:cubicBezTo>
                    <a:pt x="31" y="38"/>
                    <a:pt x="30" y="37"/>
                    <a:pt x="29" y="36"/>
                  </a:cubicBezTo>
                  <a:cubicBezTo>
                    <a:pt x="30" y="36"/>
                    <a:pt x="30" y="36"/>
                    <a:pt x="31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7"/>
                    <a:pt x="31" y="37"/>
                    <a:pt x="31" y="38"/>
                  </a:cubicBezTo>
                  <a:cubicBezTo>
                    <a:pt x="31" y="38"/>
                    <a:pt x="32" y="38"/>
                    <a:pt x="32" y="38"/>
                  </a:cubicBezTo>
                  <a:cubicBezTo>
                    <a:pt x="32" y="38"/>
                    <a:pt x="33" y="38"/>
                    <a:pt x="33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5" y="37"/>
                    <a:pt x="35" y="37"/>
                    <a:pt x="35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4" y="38"/>
                    <a:pt x="33" y="38"/>
                    <a:pt x="33" y="38"/>
                  </a:cubicBezTo>
                  <a:cubicBezTo>
                    <a:pt x="32" y="38"/>
                    <a:pt x="32" y="39"/>
                    <a:pt x="31" y="39"/>
                  </a:cubicBezTo>
                  <a:cubicBezTo>
                    <a:pt x="31" y="39"/>
                    <a:pt x="31" y="38"/>
                    <a:pt x="30" y="38"/>
                  </a:cubicBezTo>
                  <a:cubicBezTo>
                    <a:pt x="30" y="39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29" y="40"/>
                    <a:pt x="29" y="42"/>
                    <a:pt x="28" y="42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31" y="43"/>
                    <a:pt x="34" y="42"/>
                    <a:pt x="32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4" y="40"/>
                    <a:pt x="34" y="40"/>
                  </a:cubicBezTo>
                  <a:cubicBezTo>
                    <a:pt x="34" y="40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3" y="41"/>
                    <a:pt x="34" y="43"/>
                    <a:pt x="34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3" y="46"/>
                    <a:pt x="34" y="49"/>
                    <a:pt x="36" y="50"/>
                  </a:cubicBezTo>
                  <a:cubicBezTo>
                    <a:pt x="36" y="51"/>
                    <a:pt x="37" y="51"/>
                    <a:pt x="38" y="51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50"/>
                    <a:pt x="37" y="48"/>
                    <a:pt x="39" y="48"/>
                  </a:cubicBezTo>
                  <a:cubicBezTo>
                    <a:pt x="39" y="48"/>
                    <a:pt x="39" y="48"/>
                    <a:pt x="39" y="49"/>
                  </a:cubicBezTo>
                  <a:cubicBezTo>
                    <a:pt x="40" y="48"/>
                    <a:pt x="40" y="48"/>
                    <a:pt x="41" y="47"/>
                  </a:cubicBezTo>
                  <a:cubicBezTo>
                    <a:pt x="41" y="47"/>
                    <a:pt x="41" y="47"/>
                    <a:pt x="42" y="47"/>
                  </a:cubicBezTo>
                  <a:cubicBezTo>
                    <a:pt x="43" y="47"/>
                    <a:pt x="42" y="48"/>
                    <a:pt x="42" y="49"/>
                  </a:cubicBezTo>
                  <a:cubicBezTo>
                    <a:pt x="43" y="48"/>
                    <a:pt x="45" y="48"/>
                    <a:pt x="45" y="47"/>
                  </a:cubicBezTo>
                  <a:cubicBezTo>
                    <a:pt x="44" y="47"/>
                    <a:pt x="44" y="46"/>
                    <a:pt x="44" y="45"/>
                  </a:cubicBezTo>
                  <a:cubicBezTo>
                    <a:pt x="44" y="44"/>
                    <a:pt x="44" y="44"/>
                    <a:pt x="43" y="44"/>
                  </a:cubicBezTo>
                  <a:cubicBezTo>
                    <a:pt x="43" y="44"/>
                    <a:pt x="42" y="44"/>
                    <a:pt x="42" y="44"/>
                  </a:cubicBezTo>
                  <a:cubicBezTo>
                    <a:pt x="41" y="44"/>
                    <a:pt x="41" y="45"/>
                    <a:pt x="40" y="45"/>
                  </a:cubicBezTo>
                  <a:cubicBezTo>
                    <a:pt x="40" y="45"/>
                    <a:pt x="39" y="45"/>
                    <a:pt x="39" y="45"/>
                  </a:cubicBezTo>
                  <a:cubicBezTo>
                    <a:pt x="39" y="44"/>
                    <a:pt x="40" y="44"/>
                    <a:pt x="40" y="44"/>
                  </a:cubicBezTo>
                  <a:cubicBezTo>
                    <a:pt x="40" y="44"/>
                    <a:pt x="40" y="44"/>
                    <a:pt x="41" y="44"/>
                  </a:cubicBezTo>
                  <a:cubicBezTo>
                    <a:pt x="41" y="43"/>
                    <a:pt x="42" y="43"/>
                    <a:pt x="43" y="43"/>
                  </a:cubicBezTo>
                  <a:cubicBezTo>
                    <a:pt x="44" y="43"/>
                    <a:pt x="44" y="43"/>
                    <a:pt x="45" y="43"/>
                  </a:cubicBezTo>
                  <a:cubicBezTo>
                    <a:pt x="45" y="43"/>
                    <a:pt x="45" y="42"/>
                    <a:pt x="45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4" y="41"/>
                    <a:pt x="47" y="40"/>
                    <a:pt x="47" y="39"/>
                  </a:cubicBezTo>
                  <a:cubicBezTo>
                    <a:pt x="48" y="40"/>
                    <a:pt x="49" y="40"/>
                    <a:pt x="51" y="40"/>
                  </a:cubicBezTo>
                  <a:cubicBezTo>
                    <a:pt x="53" y="40"/>
                    <a:pt x="56" y="39"/>
                    <a:pt x="56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60" y="36"/>
                    <a:pt x="55" y="41"/>
                    <a:pt x="55" y="42"/>
                  </a:cubicBezTo>
                  <a:cubicBezTo>
                    <a:pt x="57" y="43"/>
                    <a:pt x="60" y="44"/>
                    <a:pt x="59" y="45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9" y="45"/>
                    <a:pt x="60" y="45"/>
                    <a:pt x="60" y="45"/>
                  </a:cubicBezTo>
                  <a:cubicBezTo>
                    <a:pt x="61" y="45"/>
                    <a:pt x="61" y="44"/>
                    <a:pt x="62" y="44"/>
                  </a:cubicBezTo>
                  <a:cubicBezTo>
                    <a:pt x="62" y="44"/>
                    <a:pt x="63" y="45"/>
                    <a:pt x="63" y="45"/>
                  </a:cubicBezTo>
                  <a:cubicBezTo>
                    <a:pt x="63" y="46"/>
                    <a:pt x="63" y="46"/>
                    <a:pt x="63" y="46"/>
                  </a:cubicBezTo>
                  <a:cubicBezTo>
                    <a:pt x="63" y="45"/>
                    <a:pt x="62" y="45"/>
                    <a:pt x="61" y="45"/>
                  </a:cubicBezTo>
                  <a:cubicBezTo>
                    <a:pt x="60" y="45"/>
                    <a:pt x="60" y="46"/>
                    <a:pt x="61" y="47"/>
                  </a:cubicBezTo>
                  <a:cubicBezTo>
                    <a:pt x="61" y="47"/>
                    <a:pt x="60" y="47"/>
                    <a:pt x="60" y="48"/>
                  </a:cubicBezTo>
                  <a:cubicBezTo>
                    <a:pt x="57" y="48"/>
                    <a:pt x="54" y="47"/>
                    <a:pt x="51" y="47"/>
                  </a:cubicBezTo>
                  <a:cubicBezTo>
                    <a:pt x="48" y="47"/>
                    <a:pt x="46" y="48"/>
                    <a:pt x="43" y="50"/>
                  </a:cubicBezTo>
                  <a:cubicBezTo>
                    <a:pt x="44" y="54"/>
                    <a:pt x="47" y="54"/>
                    <a:pt x="50" y="54"/>
                  </a:cubicBezTo>
                  <a:cubicBezTo>
                    <a:pt x="52" y="54"/>
                    <a:pt x="54" y="54"/>
                    <a:pt x="57" y="54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6" y="55"/>
                    <a:pt x="55" y="56"/>
                    <a:pt x="55" y="57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57" y="57"/>
                    <a:pt x="56" y="59"/>
                    <a:pt x="55" y="59"/>
                  </a:cubicBezTo>
                  <a:cubicBezTo>
                    <a:pt x="55" y="59"/>
                    <a:pt x="55" y="59"/>
                    <a:pt x="54" y="59"/>
                  </a:cubicBezTo>
                  <a:cubicBezTo>
                    <a:pt x="54" y="59"/>
                    <a:pt x="56" y="61"/>
                    <a:pt x="56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2"/>
                    <a:pt x="55" y="63"/>
                    <a:pt x="55" y="65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5"/>
                    <a:pt x="57" y="64"/>
                    <a:pt x="57" y="63"/>
                  </a:cubicBezTo>
                  <a:cubicBezTo>
                    <a:pt x="58" y="64"/>
                    <a:pt x="57" y="64"/>
                    <a:pt x="57" y="65"/>
                  </a:cubicBezTo>
                  <a:cubicBezTo>
                    <a:pt x="56" y="65"/>
                    <a:pt x="56" y="66"/>
                    <a:pt x="55" y="66"/>
                  </a:cubicBezTo>
                  <a:cubicBezTo>
                    <a:pt x="55" y="66"/>
                    <a:pt x="54" y="66"/>
                    <a:pt x="54" y="66"/>
                  </a:cubicBezTo>
                  <a:cubicBezTo>
                    <a:pt x="58" y="71"/>
                    <a:pt x="61" y="81"/>
                    <a:pt x="66" y="83"/>
                  </a:cubicBezTo>
                  <a:cubicBezTo>
                    <a:pt x="65" y="85"/>
                    <a:pt x="66" y="87"/>
                    <a:pt x="66" y="90"/>
                  </a:cubicBezTo>
                  <a:cubicBezTo>
                    <a:pt x="71" y="89"/>
                    <a:pt x="75" y="87"/>
                    <a:pt x="78" y="84"/>
                  </a:cubicBezTo>
                  <a:cubicBezTo>
                    <a:pt x="78" y="84"/>
                    <a:pt x="79" y="84"/>
                    <a:pt x="79" y="84"/>
                  </a:cubicBezTo>
                  <a:cubicBezTo>
                    <a:pt x="84" y="82"/>
                    <a:pt x="90" y="74"/>
                    <a:pt x="82" y="72"/>
                  </a:cubicBezTo>
                  <a:cubicBezTo>
                    <a:pt x="81" y="74"/>
                    <a:pt x="81" y="75"/>
                    <a:pt x="82" y="77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81" y="76"/>
                    <a:pt x="80" y="76"/>
                    <a:pt x="80" y="75"/>
                  </a:cubicBezTo>
                  <a:cubicBezTo>
                    <a:pt x="81" y="74"/>
                    <a:pt x="81" y="72"/>
                    <a:pt x="82" y="71"/>
                  </a:cubicBezTo>
                  <a:cubicBezTo>
                    <a:pt x="80" y="72"/>
                    <a:pt x="79" y="74"/>
                    <a:pt x="76" y="74"/>
                  </a:cubicBezTo>
                  <a:cubicBezTo>
                    <a:pt x="73" y="72"/>
                    <a:pt x="73" y="67"/>
                    <a:pt x="68" y="66"/>
                  </a:cubicBezTo>
                  <a:cubicBezTo>
                    <a:pt x="69" y="65"/>
                    <a:pt x="69" y="65"/>
                    <a:pt x="70" y="65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0" y="64"/>
                    <a:pt x="70" y="63"/>
                    <a:pt x="70" y="63"/>
                  </a:cubicBezTo>
                  <a:cubicBezTo>
                    <a:pt x="71" y="63"/>
                    <a:pt x="71" y="63"/>
                    <a:pt x="71" y="63"/>
                  </a:cubicBezTo>
                  <a:cubicBezTo>
                    <a:pt x="72" y="63"/>
                    <a:pt x="73" y="63"/>
                    <a:pt x="74" y="63"/>
                  </a:cubicBezTo>
                  <a:cubicBezTo>
                    <a:pt x="74" y="67"/>
                    <a:pt x="77" y="69"/>
                    <a:pt x="80" y="69"/>
                  </a:cubicBezTo>
                  <a:cubicBezTo>
                    <a:pt x="81" y="69"/>
                    <a:pt x="82" y="69"/>
                    <a:pt x="83" y="68"/>
                  </a:cubicBezTo>
                  <a:cubicBezTo>
                    <a:pt x="83" y="69"/>
                    <a:pt x="84" y="70"/>
                    <a:pt x="84" y="71"/>
                  </a:cubicBezTo>
                  <a:cubicBezTo>
                    <a:pt x="85" y="71"/>
                    <a:pt x="87" y="71"/>
                    <a:pt x="88" y="71"/>
                  </a:cubicBezTo>
                  <a:cubicBezTo>
                    <a:pt x="88" y="71"/>
                    <a:pt x="88" y="71"/>
                    <a:pt x="88" y="71"/>
                  </a:cubicBezTo>
                  <a:cubicBezTo>
                    <a:pt x="89" y="71"/>
                    <a:pt x="89" y="71"/>
                    <a:pt x="89" y="71"/>
                  </a:cubicBezTo>
                  <a:cubicBezTo>
                    <a:pt x="89" y="71"/>
                    <a:pt x="90" y="71"/>
                    <a:pt x="90" y="71"/>
                  </a:cubicBezTo>
                  <a:cubicBezTo>
                    <a:pt x="90" y="71"/>
                    <a:pt x="90" y="71"/>
                    <a:pt x="90" y="71"/>
                  </a:cubicBezTo>
                  <a:cubicBezTo>
                    <a:pt x="91" y="71"/>
                    <a:pt x="92" y="70"/>
                    <a:pt x="93" y="70"/>
                  </a:cubicBezTo>
                  <a:cubicBezTo>
                    <a:pt x="94" y="70"/>
                    <a:pt x="95" y="71"/>
                    <a:pt x="95" y="71"/>
                  </a:cubicBezTo>
                  <a:cubicBezTo>
                    <a:pt x="96" y="72"/>
                    <a:pt x="97" y="72"/>
                    <a:pt x="98" y="72"/>
                  </a:cubicBezTo>
                  <a:cubicBezTo>
                    <a:pt x="98" y="72"/>
                    <a:pt x="98" y="72"/>
                    <a:pt x="99" y="72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8" y="73"/>
                    <a:pt x="98" y="74"/>
                    <a:pt x="100" y="74"/>
                  </a:cubicBezTo>
                  <a:cubicBezTo>
                    <a:pt x="100" y="74"/>
                    <a:pt x="100" y="74"/>
                    <a:pt x="101" y="74"/>
                  </a:cubicBezTo>
                  <a:cubicBezTo>
                    <a:pt x="101" y="74"/>
                    <a:pt x="101" y="74"/>
                    <a:pt x="101" y="74"/>
                  </a:cubicBezTo>
                  <a:cubicBezTo>
                    <a:pt x="101" y="74"/>
                    <a:pt x="101" y="74"/>
                    <a:pt x="101" y="74"/>
                  </a:cubicBezTo>
                  <a:cubicBezTo>
                    <a:pt x="100" y="75"/>
                    <a:pt x="99" y="78"/>
                    <a:pt x="101" y="78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102" y="78"/>
                    <a:pt x="102" y="77"/>
                    <a:pt x="102" y="77"/>
                  </a:cubicBezTo>
                  <a:cubicBezTo>
                    <a:pt x="102" y="76"/>
                    <a:pt x="102" y="75"/>
                    <a:pt x="103" y="75"/>
                  </a:cubicBezTo>
                  <a:cubicBezTo>
                    <a:pt x="103" y="75"/>
                    <a:pt x="103" y="76"/>
                    <a:pt x="104" y="76"/>
                  </a:cubicBezTo>
                  <a:cubicBezTo>
                    <a:pt x="103" y="83"/>
                    <a:pt x="108" y="90"/>
                    <a:pt x="110" y="97"/>
                  </a:cubicBezTo>
                  <a:cubicBezTo>
                    <a:pt x="114" y="95"/>
                    <a:pt x="114" y="90"/>
                    <a:pt x="114" y="85"/>
                  </a:cubicBezTo>
                  <a:cubicBezTo>
                    <a:pt x="119" y="84"/>
                    <a:pt x="121" y="76"/>
                    <a:pt x="124" y="76"/>
                  </a:cubicBezTo>
                  <a:cubicBezTo>
                    <a:pt x="124" y="74"/>
                    <a:pt x="123" y="74"/>
                    <a:pt x="123" y="72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23" y="72"/>
                    <a:pt x="123" y="73"/>
                    <a:pt x="124" y="73"/>
                  </a:cubicBezTo>
                  <a:cubicBezTo>
                    <a:pt x="124" y="74"/>
                    <a:pt x="124" y="75"/>
                    <a:pt x="125" y="76"/>
                  </a:cubicBezTo>
                  <a:cubicBezTo>
                    <a:pt x="125" y="73"/>
                    <a:pt x="127" y="72"/>
                    <a:pt x="129" y="72"/>
                  </a:cubicBezTo>
                  <a:cubicBezTo>
                    <a:pt x="129" y="73"/>
                    <a:pt x="125" y="74"/>
                    <a:pt x="127" y="74"/>
                  </a:cubicBezTo>
                  <a:cubicBezTo>
                    <a:pt x="128" y="74"/>
                    <a:pt x="128" y="74"/>
                    <a:pt x="128" y="74"/>
                  </a:cubicBezTo>
                  <a:cubicBezTo>
                    <a:pt x="128" y="74"/>
                    <a:pt x="128" y="74"/>
                    <a:pt x="129" y="75"/>
                  </a:cubicBezTo>
                  <a:cubicBezTo>
                    <a:pt x="129" y="75"/>
                    <a:pt x="129" y="76"/>
                    <a:pt x="129" y="76"/>
                  </a:cubicBezTo>
                  <a:cubicBezTo>
                    <a:pt x="129" y="76"/>
                    <a:pt x="129" y="75"/>
                    <a:pt x="129" y="74"/>
                  </a:cubicBezTo>
                  <a:cubicBezTo>
                    <a:pt x="130" y="74"/>
                    <a:pt x="130" y="74"/>
                    <a:pt x="130" y="74"/>
                  </a:cubicBezTo>
                  <a:cubicBezTo>
                    <a:pt x="130" y="74"/>
                    <a:pt x="130" y="74"/>
                    <a:pt x="130" y="74"/>
                  </a:cubicBezTo>
                  <a:cubicBezTo>
                    <a:pt x="128" y="79"/>
                    <a:pt x="133" y="79"/>
                    <a:pt x="133" y="84"/>
                  </a:cubicBezTo>
                  <a:cubicBezTo>
                    <a:pt x="135" y="83"/>
                    <a:pt x="135" y="83"/>
                    <a:pt x="136" y="83"/>
                  </a:cubicBezTo>
                  <a:cubicBezTo>
                    <a:pt x="136" y="83"/>
                    <a:pt x="136" y="83"/>
                    <a:pt x="137" y="83"/>
                  </a:cubicBezTo>
                  <a:cubicBezTo>
                    <a:pt x="136" y="83"/>
                    <a:pt x="136" y="82"/>
                    <a:pt x="135" y="81"/>
                  </a:cubicBezTo>
                  <a:cubicBezTo>
                    <a:pt x="136" y="81"/>
                    <a:pt x="136" y="81"/>
                    <a:pt x="137" y="81"/>
                  </a:cubicBezTo>
                  <a:cubicBezTo>
                    <a:pt x="138" y="84"/>
                    <a:pt x="138" y="88"/>
                    <a:pt x="139" y="90"/>
                  </a:cubicBezTo>
                  <a:cubicBezTo>
                    <a:pt x="139" y="89"/>
                    <a:pt x="139" y="89"/>
                    <a:pt x="139" y="89"/>
                  </a:cubicBezTo>
                  <a:cubicBezTo>
                    <a:pt x="139" y="89"/>
                    <a:pt x="140" y="90"/>
                    <a:pt x="140" y="90"/>
                  </a:cubicBezTo>
                  <a:cubicBezTo>
                    <a:pt x="140" y="89"/>
                    <a:pt x="140" y="89"/>
                    <a:pt x="141" y="89"/>
                  </a:cubicBezTo>
                  <a:cubicBezTo>
                    <a:pt x="142" y="89"/>
                    <a:pt x="141" y="90"/>
                    <a:pt x="142" y="90"/>
                  </a:cubicBezTo>
                  <a:cubicBezTo>
                    <a:pt x="143" y="90"/>
                    <a:pt x="143" y="90"/>
                    <a:pt x="143" y="90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4" y="89"/>
                    <a:pt x="144" y="89"/>
                    <a:pt x="144" y="89"/>
                  </a:cubicBezTo>
                  <a:cubicBezTo>
                    <a:pt x="144" y="91"/>
                    <a:pt x="144" y="93"/>
                    <a:pt x="147" y="93"/>
                  </a:cubicBezTo>
                  <a:cubicBezTo>
                    <a:pt x="148" y="92"/>
                    <a:pt x="148" y="91"/>
                    <a:pt x="149" y="91"/>
                  </a:cubicBezTo>
                  <a:cubicBezTo>
                    <a:pt x="149" y="91"/>
                    <a:pt x="150" y="91"/>
                    <a:pt x="150" y="91"/>
                  </a:cubicBezTo>
                  <a:cubicBezTo>
                    <a:pt x="150" y="91"/>
                    <a:pt x="149" y="92"/>
                    <a:pt x="149" y="93"/>
                  </a:cubicBezTo>
                  <a:cubicBezTo>
                    <a:pt x="149" y="93"/>
                    <a:pt x="150" y="93"/>
                    <a:pt x="150" y="93"/>
                  </a:cubicBezTo>
                  <a:cubicBezTo>
                    <a:pt x="153" y="93"/>
                    <a:pt x="152" y="87"/>
                    <a:pt x="150" y="86"/>
                  </a:cubicBezTo>
                  <a:cubicBezTo>
                    <a:pt x="150" y="85"/>
                    <a:pt x="142" y="82"/>
                    <a:pt x="146" y="80"/>
                  </a:cubicBezTo>
                  <a:cubicBezTo>
                    <a:pt x="147" y="78"/>
                    <a:pt x="147" y="75"/>
                    <a:pt x="145" y="74"/>
                  </a:cubicBezTo>
                  <a:cubicBezTo>
                    <a:pt x="145" y="75"/>
                    <a:pt x="145" y="76"/>
                    <a:pt x="144" y="76"/>
                  </a:cubicBezTo>
                  <a:cubicBezTo>
                    <a:pt x="144" y="75"/>
                    <a:pt x="144" y="75"/>
                    <a:pt x="143" y="75"/>
                  </a:cubicBezTo>
                  <a:cubicBezTo>
                    <a:pt x="143" y="75"/>
                    <a:pt x="143" y="75"/>
                    <a:pt x="143" y="75"/>
                  </a:cubicBezTo>
                  <a:cubicBezTo>
                    <a:pt x="143" y="74"/>
                    <a:pt x="145" y="75"/>
                    <a:pt x="146" y="74"/>
                  </a:cubicBezTo>
                  <a:cubicBezTo>
                    <a:pt x="146" y="75"/>
                    <a:pt x="147" y="75"/>
                    <a:pt x="148" y="76"/>
                  </a:cubicBezTo>
                  <a:cubicBezTo>
                    <a:pt x="148" y="77"/>
                    <a:pt x="149" y="77"/>
                    <a:pt x="150" y="77"/>
                  </a:cubicBezTo>
                  <a:cubicBezTo>
                    <a:pt x="158" y="77"/>
                    <a:pt x="165" y="69"/>
                    <a:pt x="163" y="62"/>
                  </a:cubicBezTo>
                  <a:cubicBezTo>
                    <a:pt x="159" y="62"/>
                    <a:pt x="160" y="61"/>
                    <a:pt x="161" y="59"/>
                  </a:cubicBezTo>
                  <a:cubicBezTo>
                    <a:pt x="158" y="59"/>
                    <a:pt x="157" y="56"/>
                    <a:pt x="159" y="53"/>
                  </a:cubicBezTo>
                  <a:cubicBezTo>
                    <a:pt x="159" y="54"/>
                    <a:pt x="158" y="54"/>
                    <a:pt x="157" y="54"/>
                  </a:cubicBezTo>
                  <a:cubicBezTo>
                    <a:pt x="156" y="54"/>
                    <a:pt x="154" y="53"/>
                    <a:pt x="154" y="51"/>
                  </a:cubicBezTo>
                  <a:cubicBezTo>
                    <a:pt x="154" y="51"/>
                    <a:pt x="154" y="51"/>
                    <a:pt x="154" y="51"/>
                  </a:cubicBezTo>
                  <a:cubicBezTo>
                    <a:pt x="155" y="51"/>
                    <a:pt x="155" y="50"/>
                    <a:pt x="156" y="49"/>
                  </a:cubicBezTo>
                  <a:cubicBezTo>
                    <a:pt x="156" y="49"/>
                    <a:pt x="156" y="48"/>
                    <a:pt x="157" y="48"/>
                  </a:cubicBezTo>
                  <a:cubicBezTo>
                    <a:pt x="157" y="48"/>
                    <a:pt x="158" y="48"/>
                    <a:pt x="158" y="48"/>
                  </a:cubicBezTo>
                  <a:cubicBezTo>
                    <a:pt x="159" y="48"/>
                    <a:pt x="158" y="51"/>
                    <a:pt x="159" y="51"/>
                  </a:cubicBezTo>
                  <a:cubicBezTo>
                    <a:pt x="160" y="49"/>
                    <a:pt x="162" y="49"/>
                    <a:pt x="163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2" y="49"/>
                    <a:pt x="163" y="52"/>
                    <a:pt x="165" y="52"/>
                  </a:cubicBezTo>
                  <a:cubicBezTo>
                    <a:pt x="166" y="52"/>
                    <a:pt x="166" y="52"/>
                    <a:pt x="167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5" y="54"/>
                    <a:pt x="168" y="54"/>
                    <a:pt x="167" y="57"/>
                  </a:cubicBezTo>
                  <a:cubicBezTo>
                    <a:pt x="168" y="57"/>
                    <a:pt x="169" y="57"/>
                    <a:pt x="170" y="57"/>
                  </a:cubicBezTo>
                  <a:cubicBezTo>
                    <a:pt x="170" y="53"/>
                    <a:pt x="167" y="52"/>
                    <a:pt x="165" y="51"/>
                  </a:cubicBezTo>
                  <a:cubicBezTo>
                    <a:pt x="166" y="48"/>
                    <a:pt x="166" y="48"/>
                    <a:pt x="167" y="46"/>
                  </a:cubicBezTo>
                  <a:cubicBezTo>
                    <a:pt x="166" y="46"/>
                    <a:pt x="166" y="46"/>
                    <a:pt x="166" y="46"/>
                  </a:cubicBezTo>
                  <a:cubicBezTo>
                    <a:pt x="165" y="46"/>
                    <a:pt x="165" y="48"/>
                    <a:pt x="164" y="48"/>
                  </a:cubicBezTo>
                  <a:cubicBezTo>
                    <a:pt x="164" y="47"/>
                    <a:pt x="163" y="47"/>
                    <a:pt x="163" y="47"/>
                  </a:cubicBezTo>
                  <a:cubicBezTo>
                    <a:pt x="165" y="46"/>
                    <a:pt x="166" y="45"/>
                    <a:pt x="168" y="45"/>
                  </a:cubicBezTo>
                  <a:cubicBezTo>
                    <a:pt x="168" y="45"/>
                    <a:pt x="169" y="45"/>
                    <a:pt x="171" y="45"/>
                  </a:cubicBezTo>
                  <a:cubicBezTo>
                    <a:pt x="174" y="39"/>
                    <a:pt x="171" y="32"/>
                    <a:pt x="167" y="29"/>
                  </a:cubicBezTo>
                  <a:cubicBezTo>
                    <a:pt x="166" y="29"/>
                    <a:pt x="166" y="29"/>
                    <a:pt x="166" y="29"/>
                  </a:cubicBezTo>
                  <a:cubicBezTo>
                    <a:pt x="165" y="29"/>
                    <a:pt x="165" y="30"/>
                    <a:pt x="164" y="30"/>
                  </a:cubicBezTo>
                  <a:cubicBezTo>
                    <a:pt x="163" y="29"/>
                    <a:pt x="161" y="29"/>
                    <a:pt x="160" y="28"/>
                  </a:cubicBezTo>
                  <a:cubicBezTo>
                    <a:pt x="162" y="26"/>
                    <a:pt x="161" y="22"/>
                    <a:pt x="163" y="21"/>
                  </a:cubicBezTo>
                  <a:cubicBezTo>
                    <a:pt x="163" y="21"/>
                    <a:pt x="163" y="21"/>
                    <a:pt x="164" y="21"/>
                  </a:cubicBezTo>
                  <a:cubicBezTo>
                    <a:pt x="165" y="21"/>
                    <a:pt x="166" y="21"/>
                    <a:pt x="167" y="21"/>
                  </a:cubicBezTo>
                  <a:cubicBezTo>
                    <a:pt x="168" y="21"/>
                    <a:pt x="169" y="21"/>
                    <a:pt x="171" y="21"/>
                  </a:cubicBezTo>
                  <a:cubicBezTo>
                    <a:pt x="172" y="21"/>
                    <a:pt x="173" y="21"/>
                    <a:pt x="174" y="21"/>
                  </a:cubicBezTo>
                  <a:cubicBezTo>
                    <a:pt x="174" y="18"/>
                    <a:pt x="175" y="18"/>
                    <a:pt x="177" y="18"/>
                  </a:cubicBezTo>
                  <a:cubicBezTo>
                    <a:pt x="177" y="18"/>
                    <a:pt x="177" y="18"/>
                    <a:pt x="178" y="18"/>
                  </a:cubicBezTo>
                  <a:cubicBezTo>
                    <a:pt x="178" y="18"/>
                    <a:pt x="178" y="18"/>
                    <a:pt x="178" y="18"/>
                  </a:cubicBezTo>
                  <a:cubicBezTo>
                    <a:pt x="180" y="18"/>
                    <a:pt x="181" y="18"/>
                    <a:pt x="182" y="17"/>
                  </a:cubicBezTo>
                  <a:cubicBezTo>
                    <a:pt x="184" y="19"/>
                    <a:pt x="181" y="22"/>
                    <a:pt x="181" y="26"/>
                  </a:cubicBezTo>
                  <a:cubicBezTo>
                    <a:pt x="183" y="29"/>
                    <a:pt x="186" y="30"/>
                    <a:pt x="189" y="33"/>
                  </a:cubicBezTo>
                  <a:cubicBezTo>
                    <a:pt x="189" y="28"/>
                    <a:pt x="187" y="26"/>
                    <a:pt x="184" y="20"/>
                  </a:cubicBezTo>
                  <a:cubicBezTo>
                    <a:pt x="186" y="20"/>
                    <a:pt x="188" y="20"/>
                    <a:pt x="190" y="20"/>
                  </a:cubicBezTo>
                  <a:cubicBezTo>
                    <a:pt x="190" y="17"/>
                    <a:pt x="193" y="18"/>
                    <a:pt x="193" y="16"/>
                  </a:cubicBezTo>
                  <a:cubicBezTo>
                    <a:pt x="192" y="15"/>
                    <a:pt x="188" y="16"/>
                    <a:pt x="188" y="13"/>
                  </a:cubicBezTo>
                  <a:cubicBezTo>
                    <a:pt x="188" y="13"/>
                    <a:pt x="188" y="13"/>
                    <a:pt x="189" y="13"/>
                  </a:cubicBezTo>
                  <a:cubicBezTo>
                    <a:pt x="189" y="13"/>
                    <a:pt x="189" y="14"/>
                    <a:pt x="190" y="14"/>
                  </a:cubicBezTo>
                  <a:cubicBezTo>
                    <a:pt x="190" y="14"/>
                    <a:pt x="191" y="14"/>
                    <a:pt x="191" y="14"/>
                  </a:cubicBezTo>
                  <a:cubicBezTo>
                    <a:pt x="191" y="14"/>
                    <a:pt x="192" y="14"/>
                    <a:pt x="192" y="13"/>
                  </a:cubicBezTo>
                  <a:cubicBezTo>
                    <a:pt x="191" y="13"/>
                    <a:pt x="190" y="13"/>
                    <a:pt x="190" y="12"/>
                  </a:cubicBezTo>
                  <a:cubicBezTo>
                    <a:pt x="190" y="12"/>
                    <a:pt x="190" y="12"/>
                    <a:pt x="191" y="12"/>
                  </a:cubicBezTo>
                  <a:cubicBezTo>
                    <a:pt x="192" y="12"/>
                    <a:pt x="192" y="13"/>
                    <a:pt x="194" y="13"/>
                  </a:cubicBezTo>
                  <a:cubicBezTo>
                    <a:pt x="194" y="13"/>
                    <a:pt x="194" y="13"/>
                    <a:pt x="194" y="13"/>
                  </a:cubicBezTo>
                  <a:cubicBezTo>
                    <a:pt x="194" y="13"/>
                    <a:pt x="195" y="14"/>
                    <a:pt x="196" y="14"/>
                  </a:cubicBezTo>
                  <a:cubicBezTo>
                    <a:pt x="196" y="14"/>
                    <a:pt x="197" y="14"/>
                    <a:pt x="198" y="14"/>
                  </a:cubicBezTo>
                  <a:cubicBezTo>
                    <a:pt x="198" y="14"/>
                    <a:pt x="199" y="14"/>
                    <a:pt x="199" y="13"/>
                  </a:cubicBezTo>
                  <a:cubicBezTo>
                    <a:pt x="198" y="13"/>
                    <a:pt x="199" y="11"/>
                    <a:pt x="198" y="11"/>
                  </a:cubicBezTo>
                  <a:cubicBezTo>
                    <a:pt x="197" y="12"/>
                    <a:pt x="196" y="13"/>
                    <a:pt x="195" y="13"/>
                  </a:cubicBezTo>
                  <a:cubicBezTo>
                    <a:pt x="195" y="13"/>
                    <a:pt x="194" y="12"/>
                    <a:pt x="194" y="12"/>
                  </a:cubicBezTo>
                  <a:cubicBezTo>
                    <a:pt x="178" y="7"/>
                    <a:pt x="157" y="9"/>
                    <a:pt x="144" y="5"/>
                  </a:cubicBezTo>
                  <a:cubicBezTo>
                    <a:pt x="142" y="6"/>
                    <a:pt x="140" y="7"/>
                    <a:pt x="138" y="7"/>
                  </a:cubicBezTo>
                  <a:cubicBezTo>
                    <a:pt x="135" y="7"/>
                    <a:pt x="131" y="5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5" y="3"/>
                    <a:pt x="124" y="4"/>
                    <a:pt x="122" y="4"/>
                  </a:cubicBezTo>
                  <a:cubicBezTo>
                    <a:pt x="122" y="4"/>
                    <a:pt x="122" y="4"/>
                    <a:pt x="121" y="4"/>
                  </a:cubicBezTo>
                  <a:cubicBezTo>
                    <a:pt x="120" y="4"/>
                    <a:pt x="120" y="4"/>
                    <a:pt x="119" y="4"/>
                  </a:cubicBezTo>
                  <a:cubicBezTo>
                    <a:pt x="118" y="4"/>
                    <a:pt x="116" y="4"/>
                    <a:pt x="115" y="4"/>
                  </a:cubicBezTo>
                  <a:cubicBezTo>
                    <a:pt x="113" y="4"/>
                    <a:pt x="112" y="4"/>
                    <a:pt x="111" y="4"/>
                  </a:cubicBezTo>
                  <a:cubicBezTo>
                    <a:pt x="110" y="4"/>
                    <a:pt x="109" y="4"/>
                    <a:pt x="109" y="4"/>
                  </a:cubicBezTo>
                  <a:cubicBezTo>
                    <a:pt x="111" y="3"/>
                    <a:pt x="112" y="2"/>
                    <a:pt x="113" y="1"/>
                  </a:cubicBezTo>
                  <a:cubicBezTo>
                    <a:pt x="110" y="0"/>
                    <a:pt x="108" y="0"/>
                    <a:pt x="10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9" name="Freeform 23"/>
            <p:cNvSpPr>
              <a:spLocks noEditPoints="1"/>
            </p:cNvSpPr>
            <p:nvPr/>
          </p:nvSpPr>
          <p:spPr bwMode="auto">
            <a:xfrm>
              <a:off x="2402680" y="2794001"/>
              <a:ext cx="741363" cy="614363"/>
            </a:xfrm>
            <a:custGeom>
              <a:avLst/>
              <a:gdLst>
                <a:gd name="T0" fmla="*/ 72 w 108"/>
                <a:gd name="T1" fmla="*/ 32 h 89"/>
                <a:gd name="T2" fmla="*/ 80 w 108"/>
                <a:gd name="T3" fmla="*/ 39 h 89"/>
                <a:gd name="T4" fmla="*/ 72 w 108"/>
                <a:gd name="T5" fmla="*/ 38 h 89"/>
                <a:gd name="T6" fmla="*/ 68 w 108"/>
                <a:gd name="T7" fmla="*/ 36 h 89"/>
                <a:gd name="T8" fmla="*/ 60 w 108"/>
                <a:gd name="T9" fmla="*/ 30 h 89"/>
                <a:gd name="T10" fmla="*/ 60 w 108"/>
                <a:gd name="T11" fmla="*/ 30 h 89"/>
                <a:gd name="T12" fmla="*/ 61 w 108"/>
                <a:gd name="T13" fmla="*/ 13 h 89"/>
                <a:gd name="T14" fmla="*/ 50 w 108"/>
                <a:gd name="T15" fmla="*/ 8 h 89"/>
                <a:gd name="T16" fmla="*/ 48 w 108"/>
                <a:gd name="T17" fmla="*/ 11 h 89"/>
                <a:gd name="T18" fmla="*/ 97 w 108"/>
                <a:gd name="T19" fmla="*/ 0 h 89"/>
                <a:gd name="T20" fmla="*/ 93 w 108"/>
                <a:gd name="T21" fmla="*/ 0 h 89"/>
                <a:gd name="T22" fmla="*/ 90 w 108"/>
                <a:gd name="T23" fmla="*/ 3 h 89"/>
                <a:gd name="T24" fmla="*/ 86 w 108"/>
                <a:gd name="T25" fmla="*/ 6 h 89"/>
                <a:gd name="T26" fmla="*/ 78 w 108"/>
                <a:gd name="T27" fmla="*/ 9 h 89"/>
                <a:gd name="T28" fmla="*/ 61 w 108"/>
                <a:gd name="T29" fmla="*/ 7 h 89"/>
                <a:gd name="T30" fmla="*/ 42 w 108"/>
                <a:gd name="T31" fmla="*/ 6 h 89"/>
                <a:gd name="T32" fmla="*/ 29 w 108"/>
                <a:gd name="T33" fmla="*/ 3 h 89"/>
                <a:gd name="T34" fmla="*/ 10 w 108"/>
                <a:gd name="T35" fmla="*/ 9 h 89"/>
                <a:gd name="T36" fmla="*/ 9 w 108"/>
                <a:gd name="T37" fmla="*/ 10 h 89"/>
                <a:gd name="T38" fmla="*/ 1 w 108"/>
                <a:gd name="T39" fmla="*/ 15 h 89"/>
                <a:gd name="T40" fmla="*/ 4 w 108"/>
                <a:gd name="T41" fmla="*/ 20 h 89"/>
                <a:gd name="T42" fmla="*/ 14 w 108"/>
                <a:gd name="T43" fmla="*/ 17 h 89"/>
                <a:gd name="T44" fmla="*/ 23 w 108"/>
                <a:gd name="T45" fmla="*/ 17 h 89"/>
                <a:gd name="T46" fmla="*/ 26 w 108"/>
                <a:gd name="T47" fmla="*/ 17 h 89"/>
                <a:gd name="T48" fmla="*/ 30 w 108"/>
                <a:gd name="T49" fmla="*/ 32 h 89"/>
                <a:gd name="T50" fmla="*/ 20 w 108"/>
                <a:gd name="T51" fmla="*/ 53 h 89"/>
                <a:gd name="T52" fmla="*/ 29 w 108"/>
                <a:gd name="T53" fmla="*/ 57 h 89"/>
                <a:gd name="T54" fmla="*/ 51 w 108"/>
                <a:gd name="T55" fmla="*/ 79 h 89"/>
                <a:gd name="T56" fmla="*/ 53 w 108"/>
                <a:gd name="T57" fmla="*/ 85 h 89"/>
                <a:gd name="T58" fmla="*/ 59 w 108"/>
                <a:gd name="T59" fmla="*/ 89 h 89"/>
                <a:gd name="T60" fmla="*/ 58 w 108"/>
                <a:gd name="T61" fmla="*/ 82 h 89"/>
                <a:gd name="T62" fmla="*/ 54 w 108"/>
                <a:gd name="T63" fmla="*/ 82 h 89"/>
                <a:gd name="T64" fmla="*/ 52 w 108"/>
                <a:gd name="T65" fmla="*/ 78 h 89"/>
                <a:gd name="T66" fmla="*/ 53 w 108"/>
                <a:gd name="T67" fmla="*/ 74 h 89"/>
                <a:gd name="T68" fmla="*/ 46 w 108"/>
                <a:gd name="T69" fmla="*/ 78 h 89"/>
                <a:gd name="T70" fmla="*/ 51 w 108"/>
                <a:gd name="T71" fmla="*/ 61 h 89"/>
                <a:gd name="T72" fmla="*/ 75 w 108"/>
                <a:gd name="T73" fmla="*/ 52 h 89"/>
                <a:gd name="T74" fmla="*/ 90 w 108"/>
                <a:gd name="T75" fmla="*/ 38 h 89"/>
                <a:gd name="T76" fmla="*/ 95 w 108"/>
                <a:gd name="T77" fmla="*/ 32 h 89"/>
                <a:gd name="T78" fmla="*/ 89 w 108"/>
                <a:gd name="T79" fmla="*/ 34 h 89"/>
                <a:gd name="T80" fmla="*/ 107 w 108"/>
                <a:gd name="T81" fmla="*/ 26 h 89"/>
                <a:gd name="T82" fmla="*/ 106 w 108"/>
                <a:gd name="T83" fmla="*/ 24 h 89"/>
                <a:gd name="T84" fmla="*/ 98 w 108"/>
                <a:gd name="T85" fmla="*/ 15 h 89"/>
                <a:gd name="T86" fmla="*/ 78 w 108"/>
                <a:gd name="T87" fmla="*/ 30 h 89"/>
                <a:gd name="T88" fmla="*/ 72 w 108"/>
                <a:gd name="T89" fmla="*/ 21 h 89"/>
                <a:gd name="T90" fmla="*/ 77 w 108"/>
                <a:gd name="T91" fmla="*/ 11 h 89"/>
                <a:gd name="T92" fmla="*/ 81 w 108"/>
                <a:gd name="T93" fmla="*/ 9 h 89"/>
                <a:gd name="T94" fmla="*/ 97 w 108"/>
                <a:gd name="T95" fmla="*/ 4 h 89"/>
                <a:gd name="T96" fmla="*/ 108 w 108"/>
                <a:gd name="T97" fmla="*/ 8 h 89"/>
                <a:gd name="T98" fmla="*/ 99 w 108"/>
                <a:gd name="T9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8" h="89">
                  <a:moveTo>
                    <a:pt x="64" y="36"/>
                  </a:moveTo>
                  <a:cubicBezTo>
                    <a:pt x="63" y="36"/>
                    <a:pt x="63" y="36"/>
                    <a:pt x="63" y="36"/>
                  </a:cubicBezTo>
                  <a:cubicBezTo>
                    <a:pt x="63" y="33"/>
                    <a:pt x="66" y="32"/>
                    <a:pt x="70" y="32"/>
                  </a:cubicBezTo>
                  <a:cubicBezTo>
                    <a:pt x="70" y="32"/>
                    <a:pt x="71" y="32"/>
                    <a:pt x="72" y="32"/>
                  </a:cubicBezTo>
                  <a:cubicBezTo>
                    <a:pt x="72" y="35"/>
                    <a:pt x="72" y="37"/>
                    <a:pt x="75" y="37"/>
                  </a:cubicBezTo>
                  <a:cubicBezTo>
                    <a:pt x="75" y="37"/>
                    <a:pt x="76" y="37"/>
                    <a:pt x="76" y="36"/>
                  </a:cubicBezTo>
                  <a:cubicBezTo>
                    <a:pt x="77" y="40"/>
                    <a:pt x="72" y="38"/>
                    <a:pt x="72" y="41"/>
                  </a:cubicBezTo>
                  <a:cubicBezTo>
                    <a:pt x="74" y="40"/>
                    <a:pt x="77" y="40"/>
                    <a:pt x="80" y="39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6" y="41"/>
                    <a:pt x="74" y="43"/>
                    <a:pt x="69" y="44"/>
                  </a:cubicBezTo>
                  <a:cubicBezTo>
                    <a:pt x="70" y="42"/>
                    <a:pt x="71" y="42"/>
                    <a:pt x="72" y="41"/>
                  </a:cubicBezTo>
                  <a:cubicBezTo>
                    <a:pt x="71" y="40"/>
                    <a:pt x="70" y="39"/>
                    <a:pt x="72" y="38"/>
                  </a:cubicBezTo>
                  <a:cubicBezTo>
                    <a:pt x="70" y="38"/>
                    <a:pt x="69" y="39"/>
                    <a:pt x="67" y="39"/>
                  </a:cubicBezTo>
                  <a:cubicBezTo>
                    <a:pt x="68" y="42"/>
                    <a:pt x="67" y="43"/>
                    <a:pt x="65" y="43"/>
                  </a:cubicBezTo>
                  <a:cubicBezTo>
                    <a:pt x="64" y="43"/>
                    <a:pt x="64" y="43"/>
                    <a:pt x="64" y="43"/>
                  </a:cubicBezTo>
                  <a:cubicBezTo>
                    <a:pt x="65" y="41"/>
                    <a:pt x="66" y="38"/>
                    <a:pt x="68" y="36"/>
                  </a:cubicBezTo>
                  <a:cubicBezTo>
                    <a:pt x="68" y="36"/>
                    <a:pt x="67" y="36"/>
                    <a:pt x="66" y="36"/>
                  </a:cubicBezTo>
                  <a:cubicBezTo>
                    <a:pt x="66" y="36"/>
                    <a:pt x="65" y="36"/>
                    <a:pt x="65" y="36"/>
                  </a:cubicBezTo>
                  <a:cubicBezTo>
                    <a:pt x="64" y="36"/>
                    <a:pt x="64" y="36"/>
                    <a:pt x="64" y="36"/>
                  </a:cubicBezTo>
                  <a:moveTo>
                    <a:pt x="60" y="30"/>
                  </a:moveTo>
                  <a:cubicBezTo>
                    <a:pt x="60" y="30"/>
                    <a:pt x="60" y="30"/>
                    <a:pt x="60" y="30"/>
                  </a:cubicBezTo>
                  <a:cubicBezTo>
                    <a:pt x="60" y="28"/>
                    <a:pt x="59" y="25"/>
                    <a:pt x="62" y="25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62" y="26"/>
                    <a:pt x="63" y="30"/>
                    <a:pt x="60" y="30"/>
                  </a:cubicBezTo>
                  <a:moveTo>
                    <a:pt x="55" y="14"/>
                  </a:moveTo>
                  <a:cubicBezTo>
                    <a:pt x="56" y="14"/>
                    <a:pt x="56" y="13"/>
                    <a:pt x="57" y="13"/>
                  </a:cubicBezTo>
                  <a:cubicBezTo>
                    <a:pt x="58" y="13"/>
                    <a:pt x="59" y="13"/>
                    <a:pt x="60" y="13"/>
                  </a:cubicBezTo>
                  <a:cubicBezTo>
                    <a:pt x="60" y="13"/>
                    <a:pt x="60" y="13"/>
                    <a:pt x="61" y="13"/>
                  </a:cubicBezTo>
                  <a:cubicBezTo>
                    <a:pt x="58" y="15"/>
                    <a:pt x="54" y="16"/>
                    <a:pt x="49" y="16"/>
                  </a:cubicBezTo>
                  <a:cubicBezTo>
                    <a:pt x="49" y="13"/>
                    <a:pt x="54" y="16"/>
                    <a:pt x="53" y="13"/>
                  </a:cubicBezTo>
                  <a:cubicBezTo>
                    <a:pt x="53" y="13"/>
                    <a:pt x="54" y="14"/>
                    <a:pt x="55" y="14"/>
                  </a:cubicBezTo>
                  <a:moveTo>
                    <a:pt x="50" y="8"/>
                  </a:moveTo>
                  <a:cubicBezTo>
                    <a:pt x="51" y="8"/>
                    <a:pt x="51" y="8"/>
                    <a:pt x="52" y="8"/>
                  </a:cubicBezTo>
                  <a:cubicBezTo>
                    <a:pt x="53" y="7"/>
                    <a:pt x="54" y="7"/>
                    <a:pt x="55" y="7"/>
                  </a:cubicBezTo>
                  <a:cubicBezTo>
                    <a:pt x="55" y="7"/>
                    <a:pt x="56" y="7"/>
                    <a:pt x="57" y="8"/>
                  </a:cubicBezTo>
                  <a:cubicBezTo>
                    <a:pt x="55" y="10"/>
                    <a:pt x="52" y="11"/>
                    <a:pt x="48" y="11"/>
                  </a:cubicBezTo>
                  <a:cubicBezTo>
                    <a:pt x="48" y="10"/>
                    <a:pt x="48" y="9"/>
                    <a:pt x="48" y="8"/>
                  </a:cubicBezTo>
                  <a:cubicBezTo>
                    <a:pt x="49" y="8"/>
                    <a:pt x="49" y="8"/>
                    <a:pt x="50" y="8"/>
                  </a:cubicBezTo>
                  <a:moveTo>
                    <a:pt x="98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6" y="0"/>
                    <a:pt x="96" y="1"/>
                    <a:pt x="96" y="1"/>
                  </a:cubicBezTo>
                  <a:cubicBezTo>
                    <a:pt x="95" y="1"/>
                    <a:pt x="95" y="1"/>
                    <a:pt x="95" y="1"/>
                  </a:cubicBezTo>
                  <a:cubicBezTo>
                    <a:pt x="95" y="1"/>
                    <a:pt x="94" y="1"/>
                    <a:pt x="94" y="1"/>
                  </a:cubicBezTo>
                  <a:cubicBezTo>
                    <a:pt x="94" y="1"/>
                    <a:pt x="93" y="0"/>
                    <a:pt x="93" y="0"/>
                  </a:cubicBezTo>
                  <a:cubicBezTo>
                    <a:pt x="92" y="0"/>
                    <a:pt x="92" y="1"/>
                    <a:pt x="91" y="1"/>
                  </a:cubicBezTo>
                  <a:cubicBezTo>
                    <a:pt x="91" y="1"/>
                    <a:pt x="91" y="1"/>
                    <a:pt x="90" y="1"/>
                  </a:cubicBezTo>
                  <a:cubicBezTo>
                    <a:pt x="90" y="2"/>
                    <a:pt x="91" y="2"/>
                    <a:pt x="89" y="3"/>
                  </a:cubicBezTo>
                  <a:cubicBezTo>
                    <a:pt x="89" y="3"/>
                    <a:pt x="90" y="3"/>
                    <a:pt x="90" y="3"/>
                  </a:cubicBezTo>
                  <a:cubicBezTo>
                    <a:pt x="91" y="3"/>
                    <a:pt x="91" y="4"/>
                    <a:pt x="91" y="5"/>
                  </a:cubicBezTo>
                  <a:cubicBezTo>
                    <a:pt x="90" y="6"/>
                    <a:pt x="88" y="7"/>
                    <a:pt x="86" y="7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4" y="7"/>
                  </a:cubicBezTo>
                  <a:cubicBezTo>
                    <a:pt x="84" y="6"/>
                    <a:pt x="85" y="5"/>
                    <a:pt x="85" y="5"/>
                  </a:cubicBezTo>
                  <a:cubicBezTo>
                    <a:pt x="82" y="6"/>
                    <a:pt x="80" y="7"/>
                    <a:pt x="78" y="9"/>
                  </a:cubicBezTo>
                  <a:cubicBezTo>
                    <a:pt x="77" y="7"/>
                    <a:pt x="74" y="6"/>
                    <a:pt x="72" y="6"/>
                  </a:cubicBezTo>
                  <a:cubicBezTo>
                    <a:pt x="69" y="6"/>
                    <a:pt x="67" y="7"/>
                    <a:pt x="66" y="9"/>
                  </a:cubicBezTo>
                  <a:cubicBezTo>
                    <a:pt x="66" y="7"/>
                    <a:pt x="65" y="7"/>
                    <a:pt x="63" y="7"/>
                  </a:cubicBezTo>
                  <a:cubicBezTo>
                    <a:pt x="62" y="7"/>
                    <a:pt x="62" y="7"/>
                    <a:pt x="61" y="7"/>
                  </a:cubicBezTo>
                  <a:cubicBezTo>
                    <a:pt x="61" y="7"/>
                    <a:pt x="61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5"/>
                    <a:pt x="58" y="4"/>
                    <a:pt x="56" y="4"/>
                  </a:cubicBezTo>
                  <a:cubicBezTo>
                    <a:pt x="52" y="4"/>
                    <a:pt x="46" y="6"/>
                    <a:pt x="42" y="6"/>
                  </a:cubicBezTo>
                  <a:cubicBezTo>
                    <a:pt x="41" y="6"/>
                    <a:pt x="39" y="5"/>
                    <a:pt x="38" y="5"/>
                  </a:cubicBezTo>
                  <a:cubicBezTo>
                    <a:pt x="37" y="5"/>
                    <a:pt x="36" y="6"/>
                    <a:pt x="36" y="7"/>
                  </a:cubicBezTo>
                  <a:cubicBezTo>
                    <a:pt x="36" y="5"/>
                    <a:pt x="37" y="5"/>
                    <a:pt x="38" y="4"/>
                  </a:cubicBezTo>
                  <a:cubicBezTo>
                    <a:pt x="34" y="3"/>
                    <a:pt x="32" y="3"/>
                    <a:pt x="29" y="3"/>
                  </a:cubicBezTo>
                  <a:cubicBezTo>
                    <a:pt x="24" y="3"/>
                    <a:pt x="19" y="4"/>
                    <a:pt x="13" y="5"/>
                  </a:cubicBezTo>
                  <a:cubicBezTo>
                    <a:pt x="12" y="7"/>
                    <a:pt x="16" y="8"/>
                    <a:pt x="14" y="9"/>
                  </a:cubicBezTo>
                  <a:cubicBezTo>
                    <a:pt x="13" y="9"/>
                    <a:pt x="13" y="9"/>
                    <a:pt x="12" y="9"/>
                  </a:cubicBezTo>
                  <a:cubicBezTo>
                    <a:pt x="11" y="9"/>
                    <a:pt x="11" y="9"/>
                    <a:pt x="10" y="9"/>
                  </a:cubicBezTo>
                  <a:cubicBezTo>
                    <a:pt x="10" y="9"/>
                    <a:pt x="9" y="9"/>
                    <a:pt x="9" y="9"/>
                  </a:cubicBezTo>
                  <a:cubicBezTo>
                    <a:pt x="8" y="9"/>
                    <a:pt x="7" y="9"/>
                    <a:pt x="6" y="11"/>
                  </a:cubicBezTo>
                  <a:cubicBezTo>
                    <a:pt x="6" y="11"/>
                    <a:pt x="6" y="11"/>
                    <a:pt x="7" y="11"/>
                  </a:cubicBezTo>
                  <a:cubicBezTo>
                    <a:pt x="7" y="11"/>
                    <a:pt x="8" y="11"/>
                    <a:pt x="9" y="10"/>
                  </a:cubicBezTo>
                  <a:cubicBezTo>
                    <a:pt x="9" y="10"/>
                    <a:pt x="10" y="10"/>
                    <a:pt x="10" y="10"/>
                  </a:cubicBezTo>
                  <a:cubicBezTo>
                    <a:pt x="11" y="10"/>
                    <a:pt x="11" y="10"/>
                    <a:pt x="11" y="11"/>
                  </a:cubicBezTo>
                  <a:cubicBezTo>
                    <a:pt x="9" y="13"/>
                    <a:pt x="0" y="13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5"/>
                    <a:pt x="3" y="16"/>
                    <a:pt x="3" y="16"/>
                  </a:cubicBezTo>
                  <a:cubicBezTo>
                    <a:pt x="2" y="17"/>
                    <a:pt x="1" y="17"/>
                    <a:pt x="0" y="18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5" y="18"/>
                    <a:pt x="5" y="18"/>
                    <a:pt x="4" y="20"/>
                  </a:cubicBezTo>
                  <a:cubicBezTo>
                    <a:pt x="7" y="19"/>
                    <a:pt x="9" y="16"/>
                    <a:pt x="13" y="16"/>
                  </a:cubicBezTo>
                  <a:cubicBezTo>
                    <a:pt x="13" y="16"/>
                    <a:pt x="14" y="16"/>
                    <a:pt x="15" y="16"/>
                  </a:cubicBezTo>
                  <a:cubicBezTo>
                    <a:pt x="14" y="16"/>
                    <a:pt x="13" y="16"/>
                    <a:pt x="13" y="17"/>
                  </a:cubicBezTo>
                  <a:cubicBezTo>
                    <a:pt x="13" y="17"/>
                    <a:pt x="14" y="17"/>
                    <a:pt x="14" y="17"/>
                  </a:cubicBezTo>
                  <a:cubicBezTo>
                    <a:pt x="16" y="17"/>
                    <a:pt x="16" y="16"/>
                    <a:pt x="15" y="15"/>
                  </a:cubicBezTo>
                  <a:cubicBezTo>
                    <a:pt x="15" y="15"/>
                    <a:pt x="16" y="14"/>
                    <a:pt x="17" y="14"/>
                  </a:cubicBezTo>
                  <a:cubicBezTo>
                    <a:pt x="18" y="14"/>
                    <a:pt x="19" y="15"/>
                    <a:pt x="20" y="16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3" y="17"/>
                    <a:pt x="24" y="16"/>
                    <a:pt x="25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24"/>
                    <a:pt x="27" y="27"/>
                    <a:pt x="30" y="32"/>
                  </a:cubicBezTo>
                  <a:cubicBezTo>
                    <a:pt x="30" y="32"/>
                    <a:pt x="29" y="32"/>
                    <a:pt x="29" y="33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5"/>
                    <a:pt x="27" y="34"/>
                    <a:pt x="26" y="34"/>
                  </a:cubicBezTo>
                  <a:cubicBezTo>
                    <a:pt x="23" y="41"/>
                    <a:pt x="18" y="44"/>
                    <a:pt x="20" y="53"/>
                  </a:cubicBezTo>
                  <a:cubicBezTo>
                    <a:pt x="22" y="54"/>
                    <a:pt x="23" y="56"/>
                    <a:pt x="26" y="57"/>
                  </a:cubicBezTo>
                  <a:cubicBezTo>
                    <a:pt x="20" y="58"/>
                    <a:pt x="27" y="68"/>
                    <a:pt x="28" y="70"/>
                  </a:cubicBezTo>
                  <a:cubicBezTo>
                    <a:pt x="27" y="66"/>
                    <a:pt x="21" y="57"/>
                    <a:pt x="27" y="57"/>
                  </a:cubicBezTo>
                  <a:cubicBezTo>
                    <a:pt x="28" y="57"/>
                    <a:pt x="28" y="57"/>
                    <a:pt x="29" y="57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4" y="64"/>
                    <a:pt x="36" y="69"/>
                    <a:pt x="33" y="76"/>
                  </a:cubicBezTo>
                  <a:cubicBezTo>
                    <a:pt x="37" y="80"/>
                    <a:pt x="43" y="81"/>
                    <a:pt x="48" y="82"/>
                  </a:cubicBezTo>
                  <a:cubicBezTo>
                    <a:pt x="49" y="80"/>
                    <a:pt x="50" y="79"/>
                    <a:pt x="51" y="79"/>
                  </a:cubicBezTo>
                  <a:cubicBezTo>
                    <a:pt x="53" y="82"/>
                    <a:pt x="49" y="80"/>
                    <a:pt x="49" y="84"/>
                  </a:cubicBezTo>
                  <a:cubicBezTo>
                    <a:pt x="50" y="84"/>
                    <a:pt x="51" y="84"/>
                    <a:pt x="51" y="84"/>
                  </a:cubicBezTo>
                  <a:cubicBezTo>
                    <a:pt x="51" y="85"/>
                    <a:pt x="51" y="85"/>
                    <a:pt x="51" y="85"/>
                  </a:cubicBezTo>
                  <a:cubicBezTo>
                    <a:pt x="52" y="85"/>
                    <a:pt x="52" y="85"/>
                    <a:pt x="53" y="8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4" y="85"/>
                    <a:pt x="54" y="85"/>
                    <a:pt x="54" y="85"/>
                  </a:cubicBezTo>
                  <a:cubicBezTo>
                    <a:pt x="55" y="85"/>
                    <a:pt x="55" y="85"/>
                    <a:pt x="55" y="86"/>
                  </a:cubicBezTo>
                  <a:cubicBezTo>
                    <a:pt x="54" y="87"/>
                    <a:pt x="59" y="87"/>
                    <a:pt x="59" y="89"/>
                  </a:cubicBezTo>
                  <a:cubicBezTo>
                    <a:pt x="59" y="87"/>
                    <a:pt x="59" y="84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59" y="83"/>
                    <a:pt x="59" y="83"/>
                    <a:pt x="59" y="83"/>
                  </a:cubicBezTo>
                  <a:cubicBezTo>
                    <a:pt x="59" y="82"/>
                    <a:pt x="58" y="82"/>
                    <a:pt x="58" y="82"/>
                  </a:cubicBezTo>
                  <a:cubicBezTo>
                    <a:pt x="57" y="82"/>
                    <a:pt x="57" y="82"/>
                    <a:pt x="56" y="82"/>
                  </a:cubicBezTo>
                  <a:cubicBezTo>
                    <a:pt x="56" y="82"/>
                    <a:pt x="55" y="82"/>
                    <a:pt x="55" y="82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53" y="82"/>
                    <a:pt x="53" y="81"/>
                    <a:pt x="53" y="81"/>
                  </a:cubicBezTo>
                  <a:cubicBezTo>
                    <a:pt x="53" y="80"/>
                    <a:pt x="54" y="81"/>
                    <a:pt x="54" y="79"/>
                  </a:cubicBezTo>
                  <a:cubicBezTo>
                    <a:pt x="53" y="79"/>
                    <a:pt x="53" y="78"/>
                    <a:pt x="52" y="78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4" y="77"/>
                    <a:pt x="56" y="76"/>
                    <a:pt x="57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5" y="73"/>
                    <a:pt x="55" y="73"/>
                  </a:cubicBezTo>
                  <a:cubicBezTo>
                    <a:pt x="54" y="74"/>
                    <a:pt x="54" y="74"/>
                    <a:pt x="53" y="74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53" y="77"/>
                    <a:pt x="51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6" y="78"/>
                  </a:cubicBezTo>
                  <a:cubicBezTo>
                    <a:pt x="46" y="78"/>
                    <a:pt x="45" y="78"/>
                    <a:pt x="44" y="78"/>
                  </a:cubicBezTo>
                  <a:cubicBezTo>
                    <a:pt x="43" y="75"/>
                    <a:pt x="43" y="70"/>
                    <a:pt x="44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5" y="63"/>
                    <a:pt x="48" y="61"/>
                    <a:pt x="51" y="61"/>
                  </a:cubicBezTo>
                  <a:cubicBezTo>
                    <a:pt x="52" y="61"/>
                    <a:pt x="54" y="61"/>
                    <a:pt x="55" y="62"/>
                  </a:cubicBezTo>
                  <a:cubicBezTo>
                    <a:pt x="56" y="60"/>
                    <a:pt x="57" y="59"/>
                    <a:pt x="59" y="59"/>
                  </a:cubicBezTo>
                  <a:cubicBezTo>
                    <a:pt x="62" y="59"/>
                    <a:pt x="65" y="62"/>
                    <a:pt x="66" y="65"/>
                  </a:cubicBezTo>
                  <a:cubicBezTo>
                    <a:pt x="66" y="59"/>
                    <a:pt x="69" y="54"/>
                    <a:pt x="75" y="52"/>
                  </a:cubicBezTo>
                  <a:cubicBezTo>
                    <a:pt x="74" y="49"/>
                    <a:pt x="76" y="46"/>
                    <a:pt x="78" y="46"/>
                  </a:cubicBezTo>
                  <a:cubicBezTo>
                    <a:pt x="79" y="46"/>
                    <a:pt x="79" y="46"/>
                    <a:pt x="80" y="46"/>
                  </a:cubicBezTo>
                  <a:cubicBezTo>
                    <a:pt x="82" y="43"/>
                    <a:pt x="86" y="40"/>
                    <a:pt x="90" y="38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2" y="38"/>
                    <a:pt x="92" y="37"/>
                    <a:pt x="93" y="37"/>
                  </a:cubicBezTo>
                  <a:cubicBezTo>
                    <a:pt x="93" y="37"/>
                    <a:pt x="94" y="37"/>
                    <a:pt x="94" y="37"/>
                  </a:cubicBezTo>
                  <a:cubicBezTo>
                    <a:pt x="92" y="33"/>
                    <a:pt x="95" y="33"/>
                    <a:pt x="95" y="32"/>
                  </a:cubicBezTo>
                  <a:cubicBezTo>
                    <a:pt x="95" y="32"/>
                    <a:pt x="95" y="32"/>
                    <a:pt x="94" y="32"/>
                  </a:cubicBezTo>
                  <a:cubicBezTo>
                    <a:pt x="93" y="32"/>
                    <a:pt x="92" y="33"/>
                    <a:pt x="90" y="34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90" y="34"/>
                    <a:pt x="90" y="34"/>
                    <a:pt x="89" y="34"/>
                  </a:cubicBezTo>
                  <a:cubicBezTo>
                    <a:pt x="89" y="35"/>
                    <a:pt x="89" y="35"/>
                    <a:pt x="89" y="35"/>
                  </a:cubicBezTo>
                  <a:cubicBezTo>
                    <a:pt x="89" y="35"/>
                    <a:pt x="89" y="35"/>
                    <a:pt x="88" y="34"/>
                  </a:cubicBezTo>
                  <a:cubicBezTo>
                    <a:pt x="90" y="29"/>
                    <a:pt x="104" y="32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6" y="26"/>
                    <a:pt x="106" y="26"/>
                    <a:pt x="105" y="26"/>
                  </a:cubicBezTo>
                  <a:cubicBezTo>
                    <a:pt x="105" y="26"/>
                    <a:pt x="105" y="26"/>
                    <a:pt x="104" y="26"/>
                  </a:cubicBezTo>
                  <a:cubicBezTo>
                    <a:pt x="104" y="26"/>
                    <a:pt x="104" y="26"/>
                    <a:pt x="103" y="26"/>
                  </a:cubicBezTo>
                  <a:cubicBezTo>
                    <a:pt x="104" y="25"/>
                    <a:pt x="106" y="26"/>
                    <a:pt x="106" y="24"/>
                  </a:cubicBezTo>
                  <a:cubicBezTo>
                    <a:pt x="102" y="24"/>
                    <a:pt x="104" y="20"/>
                    <a:pt x="103" y="17"/>
                  </a:cubicBezTo>
                  <a:cubicBezTo>
                    <a:pt x="102" y="19"/>
                    <a:pt x="101" y="20"/>
                    <a:pt x="99" y="20"/>
                  </a:cubicBezTo>
                  <a:cubicBezTo>
                    <a:pt x="99" y="20"/>
                    <a:pt x="98" y="20"/>
                    <a:pt x="98" y="20"/>
                  </a:cubicBezTo>
                  <a:cubicBezTo>
                    <a:pt x="97" y="19"/>
                    <a:pt x="97" y="16"/>
                    <a:pt x="98" y="15"/>
                  </a:cubicBezTo>
                  <a:cubicBezTo>
                    <a:pt x="96" y="15"/>
                    <a:pt x="94" y="14"/>
                    <a:pt x="92" y="13"/>
                  </a:cubicBezTo>
                  <a:cubicBezTo>
                    <a:pt x="91" y="18"/>
                    <a:pt x="88" y="18"/>
                    <a:pt x="88" y="22"/>
                  </a:cubicBezTo>
                  <a:cubicBezTo>
                    <a:pt x="84" y="23"/>
                    <a:pt x="83" y="27"/>
                    <a:pt x="81" y="30"/>
                  </a:cubicBezTo>
                  <a:cubicBezTo>
                    <a:pt x="80" y="30"/>
                    <a:pt x="79" y="30"/>
                    <a:pt x="78" y="30"/>
                  </a:cubicBezTo>
                  <a:cubicBezTo>
                    <a:pt x="78" y="28"/>
                    <a:pt x="79" y="26"/>
                    <a:pt x="80" y="24"/>
                  </a:cubicBezTo>
                  <a:cubicBezTo>
                    <a:pt x="80" y="24"/>
                    <a:pt x="79" y="24"/>
                    <a:pt x="79" y="24"/>
                  </a:cubicBezTo>
                  <a:cubicBezTo>
                    <a:pt x="77" y="24"/>
                    <a:pt x="76" y="23"/>
                    <a:pt x="75" y="22"/>
                  </a:cubicBezTo>
                  <a:cubicBezTo>
                    <a:pt x="75" y="22"/>
                    <a:pt x="74" y="21"/>
                    <a:pt x="72" y="21"/>
                  </a:cubicBezTo>
                  <a:cubicBezTo>
                    <a:pt x="72" y="21"/>
                    <a:pt x="71" y="21"/>
                    <a:pt x="70" y="22"/>
                  </a:cubicBezTo>
                  <a:cubicBezTo>
                    <a:pt x="72" y="20"/>
                    <a:pt x="71" y="19"/>
                    <a:pt x="70" y="17"/>
                  </a:cubicBezTo>
                  <a:cubicBezTo>
                    <a:pt x="72" y="15"/>
                    <a:pt x="81" y="13"/>
                    <a:pt x="77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8" y="11"/>
                    <a:pt x="78" y="11"/>
                    <a:pt x="79" y="11"/>
                  </a:cubicBezTo>
                  <a:cubicBezTo>
                    <a:pt x="81" y="11"/>
                    <a:pt x="83" y="11"/>
                    <a:pt x="84" y="10"/>
                  </a:cubicBezTo>
                  <a:cubicBezTo>
                    <a:pt x="82" y="10"/>
                    <a:pt x="81" y="10"/>
                    <a:pt x="81" y="9"/>
                  </a:cubicBezTo>
                  <a:cubicBezTo>
                    <a:pt x="86" y="9"/>
                    <a:pt x="91" y="9"/>
                    <a:pt x="93" y="5"/>
                  </a:cubicBezTo>
                  <a:cubicBezTo>
                    <a:pt x="93" y="4"/>
                    <a:pt x="94" y="4"/>
                    <a:pt x="95" y="4"/>
                  </a:cubicBezTo>
                  <a:cubicBezTo>
                    <a:pt x="95" y="4"/>
                    <a:pt x="96" y="4"/>
                    <a:pt x="96" y="4"/>
                  </a:cubicBezTo>
                  <a:cubicBezTo>
                    <a:pt x="96" y="4"/>
                    <a:pt x="97" y="4"/>
                    <a:pt x="97" y="4"/>
                  </a:cubicBezTo>
                  <a:cubicBezTo>
                    <a:pt x="98" y="4"/>
                    <a:pt x="98" y="4"/>
                    <a:pt x="99" y="3"/>
                  </a:cubicBezTo>
                  <a:cubicBezTo>
                    <a:pt x="101" y="4"/>
                    <a:pt x="102" y="5"/>
                    <a:pt x="102" y="7"/>
                  </a:cubicBezTo>
                  <a:cubicBezTo>
                    <a:pt x="103" y="8"/>
                    <a:pt x="105" y="8"/>
                    <a:pt x="107" y="8"/>
                  </a:cubicBezTo>
                  <a:cubicBezTo>
                    <a:pt x="107" y="8"/>
                    <a:pt x="108" y="8"/>
                    <a:pt x="108" y="8"/>
                  </a:cubicBezTo>
                  <a:cubicBezTo>
                    <a:pt x="108" y="4"/>
                    <a:pt x="101" y="4"/>
                    <a:pt x="103" y="1"/>
                  </a:cubicBezTo>
                  <a:cubicBezTo>
                    <a:pt x="101" y="1"/>
                    <a:pt x="100" y="2"/>
                    <a:pt x="99" y="2"/>
                  </a:cubicBezTo>
                  <a:cubicBezTo>
                    <a:pt x="98" y="2"/>
                    <a:pt x="98" y="2"/>
                    <a:pt x="97" y="1"/>
                  </a:cubicBezTo>
                  <a:cubicBezTo>
                    <a:pt x="97" y="0"/>
                    <a:pt x="98" y="1"/>
                    <a:pt x="99" y="0"/>
                  </a:cubicBezTo>
                  <a:cubicBezTo>
                    <a:pt x="98" y="0"/>
                    <a:pt x="98" y="0"/>
                    <a:pt x="9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3082130" y="2843213"/>
              <a:ext cx="49213" cy="47625"/>
            </a:xfrm>
            <a:custGeom>
              <a:avLst/>
              <a:gdLst>
                <a:gd name="T0" fmla="*/ 2 w 7"/>
                <a:gd name="T1" fmla="*/ 0 h 7"/>
                <a:gd name="T2" fmla="*/ 0 w 7"/>
                <a:gd name="T3" fmla="*/ 4 h 7"/>
                <a:gd name="T4" fmla="*/ 0 w 7"/>
                <a:gd name="T5" fmla="*/ 4 h 7"/>
                <a:gd name="T6" fmla="*/ 1 w 7"/>
                <a:gd name="T7" fmla="*/ 5 h 7"/>
                <a:gd name="T8" fmla="*/ 2 w 7"/>
                <a:gd name="T9" fmla="*/ 7 h 7"/>
                <a:gd name="T10" fmla="*/ 3 w 7"/>
                <a:gd name="T11" fmla="*/ 6 h 7"/>
                <a:gd name="T12" fmla="*/ 3 w 7"/>
                <a:gd name="T13" fmla="*/ 4 h 7"/>
                <a:gd name="T14" fmla="*/ 5 w 7"/>
                <a:gd name="T15" fmla="*/ 5 h 7"/>
                <a:gd name="T16" fmla="*/ 6 w 7"/>
                <a:gd name="T17" fmla="*/ 5 h 7"/>
                <a:gd name="T18" fmla="*/ 6 w 7"/>
                <a:gd name="T19" fmla="*/ 5 h 7"/>
                <a:gd name="T20" fmla="*/ 2 w 7"/>
                <a:gd name="T21" fmla="*/ 1 h 7"/>
                <a:gd name="T22" fmla="*/ 2 w 7"/>
                <a:gd name="T23" fmla="*/ 1 h 7"/>
                <a:gd name="T24" fmla="*/ 2 w 7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cubicBezTo>
                    <a:pt x="1" y="1"/>
                    <a:pt x="0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1" y="5"/>
                    <a:pt x="1" y="5"/>
                  </a:cubicBezTo>
                  <a:cubicBezTo>
                    <a:pt x="1" y="6"/>
                    <a:pt x="2" y="7"/>
                    <a:pt x="2" y="7"/>
                  </a:cubicBezTo>
                  <a:cubicBezTo>
                    <a:pt x="3" y="7"/>
                    <a:pt x="3" y="6"/>
                    <a:pt x="3" y="6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3" y="4"/>
                    <a:pt x="4" y="5"/>
                    <a:pt x="5" y="5"/>
                  </a:cubicBezTo>
                  <a:cubicBezTo>
                    <a:pt x="5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2"/>
                    <a:pt x="4" y="2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1" name="Freeform 25"/>
            <p:cNvSpPr>
              <a:spLocks/>
            </p:cNvSpPr>
            <p:nvPr/>
          </p:nvSpPr>
          <p:spPr bwMode="auto">
            <a:xfrm>
              <a:off x="2801143" y="2781301"/>
              <a:ext cx="123825" cy="47625"/>
            </a:xfrm>
            <a:custGeom>
              <a:avLst/>
              <a:gdLst>
                <a:gd name="T0" fmla="*/ 5 w 18"/>
                <a:gd name="T1" fmla="*/ 0 h 7"/>
                <a:gd name="T2" fmla="*/ 3 w 18"/>
                <a:gd name="T3" fmla="*/ 1 h 7"/>
                <a:gd name="T4" fmla="*/ 0 w 18"/>
                <a:gd name="T5" fmla="*/ 4 h 7"/>
                <a:gd name="T6" fmla="*/ 1 w 18"/>
                <a:gd name="T7" fmla="*/ 4 h 7"/>
                <a:gd name="T8" fmla="*/ 4 w 18"/>
                <a:gd name="T9" fmla="*/ 3 h 7"/>
                <a:gd name="T10" fmla="*/ 7 w 18"/>
                <a:gd name="T11" fmla="*/ 2 h 7"/>
                <a:gd name="T12" fmla="*/ 9 w 18"/>
                <a:gd name="T13" fmla="*/ 3 h 7"/>
                <a:gd name="T14" fmla="*/ 7 w 18"/>
                <a:gd name="T15" fmla="*/ 3 h 7"/>
                <a:gd name="T16" fmla="*/ 7 w 18"/>
                <a:gd name="T17" fmla="*/ 5 h 7"/>
                <a:gd name="T18" fmla="*/ 5 w 18"/>
                <a:gd name="T19" fmla="*/ 5 h 7"/>
                <a:gd name="T20" fmla="*/ 5 w 18"/>
                <a:gd name="T21" fmla="*/ 6 h 7"/>
                <a:gd name="T22" fmla="*/ 8 w 18"/>
                <a:gd name="T23" fmla="*/ 7 h 7"/>
                <a:gd name="T24" fmla="*/ 18 w 18"/>
                <a:gd name="T25" fmla="*/ 5 h 7"/>
                <a:gd name="T26" fmla="*/ 18 w 18"/>
                <a:gd name="T27" fmla="*/ 5 h 7"/>
                <a:gd name="T28" fmla="*/ 18 w 18"/>
                <a:gd name="T29" fmla="*/ 2 h 7"/>
                <a:gd name="T30" fmla="*/ 14 w 18"/>
                <a:gd name="T31" fmla="*/ 3 h 7"/>
                <a:gd name="T32" fmla="*/ 10 w 18"/>
                <a:gd name="T33" fmla="*/ 3 h 7"/>
                <a:gd name="T34" fmla="*/ 10 w 18"/>
                <a:gd name="T35" fmla="*/ 1 h 7"/>
                <a:gd name="T36" fmla="*/ 8 w 18"/>
                <a:gd name="T37" fmla="*/ 1 h 7"/>
                <a:gd name="T38" fmla="*/ 7 w 18"/>
                <a:gd name="T39" fmla="*/ 1 h 7"/>
                <a:gd name="T40" fmla="*/ 5 w 18"/>
                <a:gd name="T4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" h="7">
                  <a:moveTo>
                    <a:pt x="5" y="0"/>
                  </a:moveTo>
                  <a:cubicBezTo>
                    <a:pt x="4" y="0"/>
                    <a:pt x="4" y="0"/>
                    <a:pt x="3" y="1"/>
                  </a:cubicBezTo>
                  <a:cubicBezTo>
                    <a:pt x="3" y="3"/>
                    <a:pt x="0" y="2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4"/>
                    <a:pt x="3" y="3"/>
                    <a:pt x="4" y="3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8" y="2"/>
                    <a:pt x="8" y="2"/>
                    <a:pt x="9" y="3"/>
                  </a:cubicBezTo>
                  <a:cubicBezTo>
                    <a:pt x="8" y="3"/>
                    <a:pt x="7" y="2"/>
                    <a:pt x="7" y="3"/>
                  </a:cubicBezTo>
                  <a:cubicBezTo>
                    <a:pt x="4" y="4"/>
                    <a:pt x="9" y="3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4" y="5"/>
                    <a:pt x="4" y="5"/>
                    <a:pt x="5" y="6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12" y="7"/>
                    <a:pt x="16" y="6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5" y="5"/>
                    <a:pt x="18" y="4"/>
                    <a:pt x="18" y="2"/>
                  </a:cubicBezTo>
                  <a:cubicBezTo>
                    <a:pt x="16" y="3"/>
                    <a:pt x="15" y="3"/>
                    <a:pt x="14" y="3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1"/>
                    <a:pt x="9" y="2"/>
                    <a:pt x="10" y="1"/>
                  </a:cubicBezTo>
                  <a:cubicBezTo>
                    <a:pt x="9" y="1"/>
                    <a:pt x="9" y="1"/>
                    <a:pt x="8" y="1"/>
                  </a:cubicBezTo>
                  <a:cubicBezTo>
                    <a:pt x="8" y="1"/>
                    <a:pt x="7" y="1"/>
                    <a:pt x="7" y="1"/>
                  </a:cubicBezTo>
                  <a:cubicBezTo>
                    <a:pt x="6" y="1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2" name="Rectangle 26"/>
            <p:cNvSpPr>
              <a:spLocks noChangeArrowheads="1"/>
            </p:cNvSpPr>
            <p:nvPr/>
          </p:nvSpPr>
          <p:spPr bwMode="auto">
            <a:xfrm>
              <a:off x="2896393" y="3076576"/>
              <a:ext cx="158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3" name="Freeform 27"/>
            <p:cNvSpPr>
              <a:spLocks/>
            </p:cNvSpPr>
            <p:nvPr/>
          </p:nvSpPr>
          <p:spPr bwMode="auto">
            <a:xfrm>
              <a:off x="2896393" y="307657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4" name="Freeform 28"/>
            <p:cNvSpPr>
              <a:spLocks/>
            </p:cNvSpPr>
            <p:nvPr/>
          </p:nvSpPr>
          <p:spPr bwMode="auto">
            <a:xfrm>
              <a:off x="2855118" y="3243263"/>
              <a:ext cx="0" cy="12700"/>
            </a:xfrm>
            <a:custGeom>
              <a:avLst/>
              <a:gdLst>
                <a:gd name="T0" fmla="*/ 0 h 2"/>
                <a:gd name="T1" fmla="*/ 2 h 2"/>
                <a:gd name="T2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5" name="Freeform 29"/>
            <p:cNvSpPr>
              <a:spLocks/>
            </p:cNvSpPr>
            <p:nvPr/>
          </p:nvSpPr>
          <p:spPr bwMode="auto">
            <a:xfrm>
              <a:off x="2986880" y="2863851"/>
              <a:ext cx="20638" cy="14288"/>
            </a:xfrm>
            <a:custGeom>
              <a:avLst/>
              <a:gdLst>
                <a:gd name="T0" fmla="*/ 2 w 3"/>
                <a:gd name="T1" fmla="*/ 0 h 2"/>
                <a:gd name="T2" fmla="*/ 0 w 3"/>
                <a:gd name="T3" fmla="*/ 2 h 2"/>
                <a:gd name="T4" fmla="*/ 3 w 3"/>
                <a:gd name="T5" fmla="*/ 0 h 2"/>
                <a:gd name="T6" fmla="*/ 2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0"/>
                    <a:pt x="0" y="2"/>
                  </a:cubicBezTo>
                  <a:cubicBezTo>
                    <a:pt x="2" y="2"/>
                    <a:pt x="2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6" name="Freeform 30"/>
            <p:cNvSpPr>
              <a:spLocks/>
            </p:cNvSpPr>
            <p:nvPr/>
          </p:nvSpPr>
          <p:spPr bwMode="auto">
            <a:xfrm>
              <a:off x="3536155" y="2932113"/>
              <a:ext cx="47625" cy="69850"/>
            </a:xfrm>
            <a:custGeom>
              <a:avLst/>
              <a:gdLst>
                <a:gd name="T0" fmla="*/ 3 w 7"/>
                <a:gd name="T1" fmla="*/ 0 h 10"/>
                <a:gd name="T2" fmla="*/ 1 w 7"/>
                <a:gd name="T3" fmla="*/ 0 h 10"/>
                <a:gd name="T4" fmla="*/ 1 w 7"/>
                <a:gd name="T5" fmla="*/ 4 h 10"/>
                <a:gd name="T6" fmla="*/ 3 w 7"/>
                <a:gd name="T7" fmla="*/ 4 h 10"/>
                <a:gd name="T8" fmla="*/ 1 w 7"/>
                <a:gd name="T9" fmla="*/ 8 h 10"/>
                <a:gd name="T10" fmla="*/ 3 w 7"/>
                <a:gd name="T11" fmla="*/ 9 h 10"/>
                <a:gd name="T12" fmla="*/ 2 w 7"/>
                <a:gd name="T13" fmla="*/ 10 h 10"/>
                <a:gd name="T14" fmla="*/ 3 w 7"/>
                <a:gd name="T15" fmla="*/ 10 h 10"/>
                <a:gd name="T16" fmla="*/ 4 w 7"/>
                <a:gd name="T17" fmla="*/ 10 h 10"/>
                <a:gd name="T18" fmla="*/ 5 w 7"/>
                <a:gd name="T19" fmla="*/ 10 h 10"/>
                <a:gd name="T20" fmla="*/ 6 w 7"/>
                <a:gd name="T21" fmla="*/ 9 h 10"/>
                <a:gd name="T22" fmla="*/ 7 w 7"/>
                <a:gd name="T23" fmla="*/ 7 h 10"/>
                <a:gd name="T24" fmla="*/ 3 w 7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10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0" y="2"/>
                    <a:pt x="2" y="2"/>
                    <a:pt x="1" y="4"/>
                  </a:cubicBezTo>
                  <a:cubicBezTo>
                    <a:pt x="1" y="4"/>
                    <a:pt x="3" y="3"/>
                    <a:pt x="3" y="4"/>
                  </a:cubicBezTo>
                  <a:cubicBezTo>
                    <a:pt x="3" y="7"/>
                    <a:pt x="1" y="6"/>
                    <a:pt x="1" y="8"/>
                  </a:cubicBezTo>
                  <a:cubicBezTo>
                    <a:pt x="1" y="8"/>
                    <a:pt x="3" y="8"/>
                    <a:pt x="3" y="9"/>
                  </a:cubicBezTo>
                  <a:cubicBezTo>
                    <a:pt x="2" y="9"/>
                    <a:pt x="2" y="9"/>
                    <a:pt x="2" y="10"/>
                  </a:cubicBezTo>
                  <a:cubicBezTo>
                    <a:pt x="2" y="10"/>
                    <a:pt x="2" y="10"/>
                    <a:pt x="3" y="10"/>
                  </a:cubicBezTo>
                  <a:cubicBezTo>
                    <a:pt x="3" y="10"/>
                    <a:pt x="3" y="10"/>
                    <a:pt x="4" y="10"/>
                  </a:cubicBezTo>
                  <a:cubicBezTo>
                    <a:pt x="4" y="10"/>
                    <a:pt x="5" y="10"/>
                    <a:pt x="5" y="10"/>
                  </a:cubicBezTo>
                  <a:cubicBezTo>
                    <a:pt x="6" y="10"/>
                    <a:pt x="6" y="10"/>
                    <a:pt x="6" y="9"/>
                  </a:cubicBezTo>
                  <a:cubicBezTo>
                    <a:pt x="4" y="9"/>
                    <a:pt x="7" y="8"/>
                    <a:pt x="7" y="7"/>
                  </a:cubicBezTo>
                  <a:cubicBezTo>
                    <a:pt x="5" y="4"/>
                    <a:pt x="1" y="3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7" name="Freeform 31"/>
            <p:cNvSpPr>
              <a:spLocks/>
            </p:cNvSpPr>
            <p:nvPr/>
          </p:nvSpPr>
          <p:spPr bwMode="auto">
            <a:xfrm>
              <a:off x="3110705" y="3001963"/>
              <a:ext cx="33338" cy="26988"/>
            </a:xfrm>
            <a:custGeom>
              <a:avLst/>
              <a:gdLst>
                <a:gd name="T0" fmla="*/ 2 w 5"/>
                <a:gd name="T1" fmla="*/ 0 h 4"/>
                <a:gd name="T2" fmla="*/ 0 w 5"/>
                <a:gd name="T3" fmla="*/ 4 h 4"/>
                <a:gd name="T4" fmla="*/ 4 w 5"/>
                <a:gd name="T5" fmla="*/ 4 h 4"/>
                <a:gd name="T6" fmla="*/ 2 w 5"/>
                <a:gd name="T7" fmla="*/ 0 h 4"/>
                <a:gd name="T8" fmla="*/ 2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2" y="1"/>
                    <a:pt x="1" y="2"/>
                    <a:pt x="0" y="4"/>
                  </a:cubicBezTo>
                  <a:cubicBezTo>
                    <a:pt x="1" y="4"/>
                    <a:pt x="3" y="4"/>
                    <a:pt x="4" y="4"/>
                  </a:cubicBezTo>
                  <a:cubicBezTo>
                    <a:pt x="5" y="1"/>
                    <a:pt x="2" y="3"/>
                    <a:pt x="2" y="0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8" name="Freeform 32"/>
            <p:cNvSpPr>
              <a:spLocks/>
            </p:cNvSpPr>
            <p:nvPr/>
          </p:nvSpPr>
          <p:spPr bwMode="auto">
            <a:xfrm>
              <a:off x="4688680" y="3105151"/>
              <a:ext cx="69850" cy="61913"/>
            </a:xfrm>
            <a:custGeom>
              <a:avLst/>
              <a:gdLst>
                <a:gd name="T0" fmla="*/ 6 w 10"/>
                <a:gd name="T1" fmla="*/ 0 h 9"/>
                <a:gd name="T2" fmla="*/ 7 w 10"/>
                <a:gd name="T3" fmla="*/ 4 h 9"/>
                <a:gd name="T4" fmla="*/ 5 w 10"/>
                <a:gd name="T5" fmla="*/ 6 h 9"/>
                <a:gd name="T6" fmla="*/ 4 w 10"/>
                <a:gd name="T7" fmla="*/ 7 h 9"/>
                <a:gd name="T8" fmla="*/ 4 w 10"/>
                <a:gd name="T9" fmla="*/ 7 h 9"/>
                <a:gd name="T10" fmla="*/ 3 w 10"/>
                <a:gd name="T11" fmla="*/ 7 h 9"/>
                <a:gd name="T12" fmla="*/ 2 w 10"/>
                <a:gd name="T13" fmla="*/ 7 h 9"/>
                <a:gd name="T14" fmla="*/ 0 w 10"/>
                <a:gd name="T15" fmla="*/ 8 h 9"/>
                <a:gd name="T16" fmla="*/ 1 w 10"/>
                <a:gd name="T17" fmla="*/ 8 h 9"/>
                <a:gd name="T18" fmla="*/ 2 w 10"/>
                <a:gd name="T19" fmla="*/ 8 h 9"/>
                <a:gd name="T20" fmla="*/ 3 w 10"/>
                <a:gd name="T21" fmla="*/ 8 h 9"/>
                <a:gd name="T22" fmla="*/ 5 w 10"/>
                <a:gd name="T23" fmla="*/ 8 h 9"/>
                <a:gd name="T24" fmla="*/ 5 w 10"/>
                <a:gd name="T25" fmla="*/ 9 h 9"/>
                <a:gd name="T26" fmla="*/ 9 w 10"/>
                <a:gd name="T27" fmla="*/ 7 h 9"/>
                <a:gd name="T28" fmla="*/ 6 w 10"/>
                <a:gd name="T2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" h="9">
                  <a:moveTo>
                    <a:pt x="6" y="0"/>
                  </a:moveTo>
                  <a:cubicBezTo>
                    <a:pt x="6" y="1"/>
                    <a:pt x="7" y="2"/>
                    <a:pt x="7" y="4"/>
                  </a:cubicBezTo>
                  <a:cubicBezTo>
                    <a:pt x="6" y="4"/>
                    <a:pt x="6" y="5"/>
                    <a:pt x="5" y="6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0" y="7"/>
                    <a:pt x="0" y="8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7" y="7"/>
                    <a:pt x="9" y="7"/>
                  </a:cubicBezTo>
                  <a:cubicBezTo>
                    <a:pt x="8" y="3"/>
                    <a:pt x="10" y="1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9" name="Freeform 33"/>
            <p:cNvSpPr>
              <a:spLocks noEditPoints="1"/>
            </p:cNvSpPr>
            <p:nvPr/>
          </p:nvSpPr>
          <p:spPr bwMode="auto">
            <a:xfrm>
              <a:off x="3405980" y="3140076"/>
              <a:ext cx="611188" cy="730250"/>
            </a:xfrm>
            <a:custGeom>
              <a:avLst/>
              <a:gdLst>
                <a:gd name="T0" fmla="*/ 54 w 89"/>
                <a:gd name="T1" fmla="*/ 73 h 106"/>
                <a:gd name="T2" fmla="*/ 56 w 89"/>
                <a:gd name="T3" fmla="*/ 71 h 106"/>
                <a:gd name="T4" fmla="*/ 58 w 89"/>
                <a:gd name="T5" fmla="*/ 72 h 106"/>
                <a:gd name="T6" fmla="*/ 54 w 89"/>
                <a:gd name="T7" fmla="*/ 73 h 106"/>
                <a:gd name="T8" fmla="*/ 41 w 89"/>
                <a:gd name="T9" fmla="*/ 64 h 106"/>
                <a:gd name="T10" fmla="*/ 42 w 89"/>
                <a:gd name="T11" fmla="*/ 64 h 106"/>
                <a:gd name="T12" fmla="*/ 41 w 89"/>
                <a:gd name="T13" fmla="*/ 64 h 106"/>
                <a:gd name="T14" fmla="*/ 42 w 89"/>
                <a:gd name="T15" fmla="*/ 64 h 106"/>
                <a:gd name="T16" fmla="*/ 40 w 89"/>
                <a:gd name="T17" fmla="*/ 64 h 106"/>
                <a:gd name="T18" fmla="*/ 40 w 89"/>
                <a:gd name="T19" fmla="*/ 64 h 106"/>
                <a:gd name="T20" fmla="*/ 42 w 89"/>
                <a:gd name="T21" fmla="*/ 64 h 106"/>
                <a:gd name="T22" fmla="*/ 42 w 89"/>
                <a:gd name="T23" fmla="*/ 63 h 106"/>
                <a:gd name="T24" fmla="*/ 63 w 89"/>
                <a:gd name="T25" fmla="*/ 58 h 106"/>
                <a:gd name="T26" fmla="*/ 65 w 89"/>
                <a:gd name="T27" fmla="*/ 69 h 106"/>
                <a:gd name="T28" fmla="*/ 60 w 89"/>
                <a:gd name="T29" fmla="*/ 58 h 106"/>
                <a:gd name="T30" fmla="*/ 68 w 89"/>
                <a:gd name="T31" fmla="*/ 49 h 106"/>
                <a:gd name="T32" fmla="*/ 64 w 89"/>
                <a:gd name="T33" fmla="*/ 56 h 106"/>
                <a:gd name="T34" fmla="*/ 66 w 89"/>
                <a:gd name="T35" fmla="*/ 49 h 106"/>
                <a:gd name="T36" fmla="*/ 33 w 89"/>
                <a:gd name="T37" fmla="*/ 4 h 106"/>
                <a:gd name="T38" fmla="*/ 22 w 89"/>
                <a:gd name="T39" fmla="*/ 3 h 106"/>
                <a:gd name="T40" fmla="*/ 8 w 89"/>
                <a:gd name="T41" fmla="*/ 13 h 106"/>
                <a:gd name="T42" fmla="*/ 5 w 89"/>
                <a:gd name="T43" fmla="*/ 23 h 106"/>
                <a:gd name="T44" fmla="*/ 4 w 89"/>
                <a:gd name="T45" fmla="*/ 24 h 106"/>
                <a:gd name="T46" fmla="*/ 3 w 89"/>
                <a:gd name="T47" fmla="*/ 30 h 106"/>
                <a:gd name="T48" fmla="*/ 1 w 89"/>
                <a:gd name="T49" fmla="*/ 30 h 106"/>
                <a:gd name="T50" fmla="*/ 2 w 89"/>
                <a:gd name="T51" fmla="*/ 36 h 106"/>
                <a:gd name="T52" fmla="*/ 5 w 89"/>
                <a:gd name="T53" fmla="*/ 37 h 106"/>
                <a:gd name="T54" fmla="*/ 6 w 89"/>
                <a:gd name="T55" fmla="*/ 40 h 106"/>
                <a:gd name="T56" fmla="*/ 8 w 89"/>
                <a:gd name="T57" fmla="*/ 45 h 106"/>
                <a:gd name="T58" fmla="*/ 19 w 89"/>
                <a:gd name="T59" fmla="*/ 46 h 106"/>
                <a:gd name="T60" fmla="*/ 22 w 89"/>
                <a:gd name="T61" fmla="*/ 47 h 106"/>
                <a:gd name="T62" fmla="*/ 26 w 89"/>
                <a:gd name="T63" fmla="*/ 43 h 106"/>
                <a:gd name="T64" fmla="*/ 35 w 89"/>
                <a:gd name="T65" fmla="*/ 46 h 106"/>
                <a:gd name="T66" fmla="*/ 37 w 89"/>
                <a:gd name="T67" fmla="*/ 52 h 106"/>
                <a:gd name="T68" fmla="*/ 37 w 89"/>
                <a:gd name="T69" fmla="*/ 54 h 106"/>
                <a:gd name="T70" fmla="*/ 39 w 89"/>
                <a:gd name="T71" fmla="*/ 80 h 106"/>
                <a:gd name="T72" fmla="*/ 45 w 89"/>
                <a:gd name="T73" fmla="*/ 97 h 106"/>
                <a:gd name="T74" fmla="*/ 63 w 89"/>
                <a:gd name="T75" fmla="*/ 95 h 106"/>
                <a:gd name="T76" fmla="*/ 65 w 89"/>
                <a:gd name="T77" fmla="*/ 93 h 106"/>
                <a:gd name="T78" fmla="*/ 75 w 89"/>
                <a:gd name="T79" fmla="*/ 72 h 106"/>
                <a:gd name="T80" fmla="*/ 73 w 89"/>
                <a:gd name="T81" fmla="*/ 72 h 106"/>
                <a:gd name="T82" fmla="*/ 77 w 89"/>
                <a:gd name="T83" fmla="*/ 56 h 106"/>
                <a:gd name="T84" fmla="*/ 81 w 89"/>
                <a:gd name="T85" fmla="*/ 40 h 106"/>
                <a:gd name="T86" fmla="*/ 79 w 89"/>
                <a:gd name="T87" fmla="*/ 37 h 106"/>
                <a:gd name="T88" fmla="*/ 74 w 89"/>
                <a:gd name="T89" fmla="*/ 32 h 106"/>
                <a:gd name="T90" fmla="*/ 71 w 89"/>
                <a:gd name="T91" fmla="*/ 30 h 106"/>
                <a:gd name="T92" fmla="*/ 65 w 89"/>
                <a:gd name="T93" fmla="*/ 12 h 106"/>
                <a:gd name="T94" fmla="*/ 63 w 89"/>
                <a:gd name="T95" fmla="*/ 9 h 106"/>
                <a:gd name="T96" fmla="*/ 54 w 89"/>
                <a:gd name="T97" fmla="*/ 8 h 106"/>
                <a:gd name="T98" fmla="*/ 50 w 89"/>
                <a:gd name="T99" fmla="*/ 6 h 106"/>
                <a:gd name="T100" fmla="*/ 37 w 89"/>
                <a:gd name="T101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9" h="106">
                  <a:moveTo>
                    <a:pt x="64" y="95"/>
                  </a:moveTo>
                  <a:cubicBezTo>
                    <a:pt x="64" y="95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moveTo>
                    <a:pt x="54" y="73"/>
                  </a:moveTo>
                  <a:cubicBezTo>
                    <a:pt x="54" y="73"/>
                    <a:pt x="54" y="72"/>
                    <a:pt x="54" y="72"/>
                  </a:cubicBezTo>
                  <a:cubicBezTo>
                    <a:pt x="54" y="71"/>
                    <a:pt x="54" y="71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5" y="70"/>
                    <a:pt x="55" y="71"/>
                    <a:pt x="56" y="71"/>
                  </a:cubicBezTo>
                  <a:cubicBezTo>
                    <a:pt x="56" y="72"/>
                    <a:pt x="57" y="72"/>
                    <a:pt x="57" y="72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8" y="72"/>
                    <a:pt x="58" y="73"/>
                    <a:pt x="58" y="73"/>
                  </a:cubicBezTo>
                  <a:cubicBezTo>
                    <a:pt x="57" y="73"/>
                    <a:pt x="56" y="72"/>
                    <a:pt x="55" y="72"/>
                  </a:cubicBezTo>
                  <a:cubicBezTo>
                    <a:pt x="54" y="72"/>
                    <a:pt x="54" y="72"/>
                    <a:pt x="54" y="73"/>
                  </a:cubicBezTo>
                  <a:cubicBezTo>
                    <a:pt x="54" y="73"/>
                    <a:pt x="54" y="73"/>
                    <a:pt x="54" y="73"/>
                  </a:cubicBezTo>
                  <a:moveTo>
                    <a:pt x="41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1" y="64"/>
                    <a:pt x="41" y="64"/>
                    <a:pt x="41" y="64"/>
                  </a:cubicBezTo>
                  <a:moveTo>
                    <a:pt x="41" y="64"/>
                  </a:moveTo>
                  <a:cubicBezTo>
                    <a:pt x="41" y="64"/>
                    <a:pt x="41" y="64"/>
                    <a:pt x="41" y="64"/>
                  </a:cubicBezTo>
                  <a:cubicBezTo>
                    <a:pt x="41" y="64"/>
                    <a:pt x="41" y="64"/>
                    <a:pt x="41" y="64"/>
                  </a:cubicBezTo>
                  <a:moveTo>
                    <a:pt x="42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moveTo>
                    <a:pt x="41" y="64"/>
                  </a:moveTo>
                  <a:cubicBezTo>
                    <a:pt x="41" y="64"/>
                    <a:pt x="41" y="64"/>
                    <a:pt x="41" y="64"/>
                  </a:cubicBezTo>
                  <a:cubicBezTo>
                    <a:pt x="41" y="64"/>
                    <a:pt x="41" y="64"/>
                    <a:pt x="41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2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2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moveTo>
                    <a:pt x="42" y="63"/>
                  </a:moveTo>
                  <a:cubicBezTo>
                    <a:pt x="42" y="63"/>
                    <a:pt x="42" y="63"/>
                    <a:pt x="42" y="63"/>
                  </a:cubicBezTo>
                  <a:cubicBezTo>
                    <a:pt x="42" y="63"/>
                    <a:pt x="42" y="63"/>
                    <a:pt x="42" y="63"/>
                  </a:cubicBezTo>
                  <a:moveTo>
                    <a:pt x="61" y="59"/>
                  </a:moveTo>
                  <a:cubicBezTo>
                    <a:pt x="61" y="59"/>
                    <a:pt x="62" y="59"/>
                    <a:pt x="62" y="59"/>
                  </a:cubicBezTo>
                  <a:cubicBezTo>
                    <a:pt x="62" y="58"/>
                    <a:pt x="62" y="58"/>
                    <a:pt x="63" y="58"/>
                  </a:cubicBezTo>
                  <a:cubicBezTo>
                    <a:pt x="63" y="58"/>
                    <a:pt x="63" y="58"/>
                    <a:pt x="63" y="58"/>
                  </a:cubicBezTo>
                  <a:cubicBezTo>
                    <a:pt x="63" y="59"/>
                    <a:pt x="63" y="59"/>
                    <a:pt x="64" y="60"/>
                  </a:cubicBezTo>
                  <a:cubicBezTo>
                    <a:pt x="60" y="62"/>
                    <a:pt x="62" y="67"/>
                    <a:pt x="65" y="68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4" y="69"/>
                    <a:pt x="63" y="68"/>
                    <a:pt x="61" y="68"/>
                  </a:cubicBezTo>
                  <a:cubicBezTo>
                    <a:pt x="61" y="68"/>
                    <a:pt x="61" y="68"/>
                    <a:pt x="61" y="68"/>
                  </a:cubicBezTo>
                  <a:cubicBezTo>
                    <a:pt x="60" y="68"/>
                    <a:pt x="60" y="67"/>
                    <a:pt x="60" y="67"/>
                  </a:cubicBezTo>
                  <a:cubicBezTo>
                    <a:pt x="63" y="66"/>
                    <a:pt x="59" y="62"/>
                    <a:pt x="60" y="58"/>
                  </a:cubicBezTo>
                  <a:cubicBezTo>
                    <a:pt x="61" y="59"/>
                    <a:pt x="61" y="59"/>
                    <a:pt x="61" y="59"/>
                  </a:cubicBezTo>
                  <a:moveTo>
                    <a:pt x="66" y="49"/>
                  </a:moveTo>
                  <a:cubicBezTo>
                    <a:pt x="67" y="49"/>
                    <a:pt x="67" y="48"/>
                    <a:pt x="68" y="48"/>
                  </a:cubicBezTo>
                  <a:cubicBezTo>
                    <a:pt x="68" y="49"/>
                    <a:pt x="68" y="49"/>
                    <a:pt x="68" y="49"/>
                  </a:cubicBezTo>
                  <a:cubicBezTo>
                    <a:pt x="70" y="53"/>
                    <a:pt x="66" y="54"/>
                    <a:pt x="69" y="57"/>
                  </a:cubicBezTo>
                  <a:cubicBezTo>
                    <a:pt x="68" y="58"/>
                    <a:pt x="66" y="58"/>
                    <a:pt x="66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5" y="59"/>
                    <a:pt x="64" y="58"/>
                    <a:pt x="64" y="56"/>
                  </a:cubicBezTo>
                  <a:cubicBezTo>
                    <a:pt x="65" y="54"/>
                    <a:pt x="67" y="54"/>
                    <a:pt x="68" y="53"/>
                  </a:cubicBezTo>
                  <a:cubicBezTo>
                    <a:pt x="68" y="51"/>
                    <a:pt x="68" y="50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moveTo>
                    <a:pt x="37" y="0"/>
                  </a:moveTo>
                  <a:cubicBezTo>
                    <a:pt x="36" y="0"/>
                    <a:pt x="35" y="0"/>
                    <a:pt x="34" y="0"/>
                  </a:cubicBezTo>
                  <a:cubicBezTo>
                    <a:pt x="34" y="1"/>
                    <a:pt x="35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3"/>
                    <a:pt x="33" y="2"/>
                    <a:pt x="33" y="1"/>
                  </a:cubicBezTo>
                  <a:cubicBezTo>
                    <a:pt x="32" y="0"/>
                    <a:pt x="31" y="0"/>
                    <a:pt x="30" y="0"/>
                  </a:cubicBezTo>
                  <a:cubicBezTo>
                    <a:pt x="27" y="0"/>
                    <a:pt x="23" y="1"/>
                    <a:pt x="22" y="3"/>
                  </a:cubicBezTo>
                  <a:cubicBezTo>
                    <a:pt x="21" y="3"/>
                    <a:pt x="21" y="3"/>
                    <a:pt x="20" y="3"/>
                  </a:cubicBezTo>
                  <a:cubicBezTo>
                    <a:pt x="20" y="3"/>
                    <a:pt x="20" y="3"/>
                    <a:pt x="19" y="3"/>
                  </a:cubicBezTo>
                  <a:cubicBezTo>
                    <a:pt x="18" y="3"/>
                    <a:pt x="17" y="3"/>
                    <a:pt x="16" y="2"/>
                  </a:cubicBezTo>
                  <a:cubicBezTo>
                    <a:pt x="13" y="5"/>
                    <a:pt x="12" y="10"/>
                    <a:pt x="8" y="13"/>
                  </a:cubicBezTo>
                  <a:cubicBezTo>
                    <a:pt x="8" y="13"/>
                    <a:pt x="7" y="13"/>
                    <a:pt x="7" y="14"/>
                  </a:cubicBezTo>
                  <a:cubicBezTo>
                    <a:pt x="7" y="14"/>
                    <a:pt x="7" y="14"/>
                    <a:pt x="6" y="14"/>
                  </a:cubicBezTo>
                  <a:cubicBezTo>
                    <a:pt x="5" y="17"/>
                    <a:pt x="3" y="20"/>
                    <a:pt x="1" y="23"/>
                  </a:cubicBezTo>
                  <a:cubicBezTo>
                    <a:pt x="3" y="23"/>
                    <a:pt x="4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4"/>
                    <a:pt x="6" y="24"/>
                    <a:pt x="5" y="24"/>
                  </a:cubicBezTo>
                  <a:cubicBezTo>
                    <a:pt x="5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6"/>
                    <a:pt x="2" y="28"/>
                    <a:pt x="2" y="30"/>
                  </a:cubicBezTo>
                  <a:cubicBezTo>
                    <a:pt x="2" y="30"/>
                    <a:pt x="3" y="30"/>
                    <a:pt x="3" y="30"/>
                  </a:cubicBezTo>
                  <a:cubicBezTo>
                    <a:pt x="5" y="30"/>
                    <a:pt x="6" y="31"/>
                    <a:pt x="6" y="32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1"/>
                    <a:pt x="4" y="30"/>
                    <a:pt x="2" y="30"/>
                  </a:cubicBezTo>
                  <a:cubicBezTo>
                    <a:pt x="2" y="30"/>
                    <a:pt x="2" y="30"/>
                    <a:pt x="1" y="30"/>
                  </a:cubicBezTo>
                  <a:cubicBezTo>
                    <a:pt x="2" y="32"/>
                    <a:pt x="0" y="32"/>
                    <a:pt x="1" y="34"/>
                  </a:cubicBezTo>
                  <a:cubicBezTo>
                    <a:pt x="1" y="34"/>
                    <a:pt x="2" y="35"/>
                    <a:pt x="2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4" y="35"/>
                    <a:pt x="2" y="35"/>
                    <a:pt x="2" y="36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8"/>
                    <a:pt x="4" y="38"/>
                  </a:cubicBezTo>
                  <a:cubicBezTo>
                    <a:pt x="4" y="38"/>
                    <a:pt x="4" y="38"/>
                    <a:pt x="3" y="38"/>
                  </a:cubicBezTo>
                  <a:cubicBezTo>
                    <a:pt x="4" y="40"/>
                    <a:pt x="4" y="40"/>
                    <a:pt x="6" y="40"/>
                  </a:cubicBezTo>
                  <a:cubicBezTo>
                    <a:pt x="6" y="40"/>
                    <a:pt x="7" y="40"/>
                    <a:pt x="8" y="40"/>
                  </a:cubicBezTo>
                  <a:cubicBezTo>
                    <a:pt x="8" y="41"/>
                    <a:pt x="10" y="41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8" y="43"/>
                    <a:pt x="8" y="44"/>
                    <a:pt x="8" y="45"/>
                  </a:cubicBezTo>
                  <a:cubicBezTo>
                    <a:pt x="10" y="47"/>
                    <a:pt x="12" y="48"/>
                    <a:pt x="13" y="48"/>
                  </a:cubicBezTo>
                  <a:cubicBezTo>
                    <a:pt x="15" y="48"/>
                    <a:pt x="16" y="47"/>
                    <a:pt x="18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1" y="47"/>
                    <a:pt x="21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6"/>
                    <a:pt x="25" y="46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6" y="45"/>
                    <a:pt x="26" y="44"/>
                    <a:pt x="26" y="43"/>
                  </a:cubicBezTo>
                  <a:cubicBezTo>
                    <a:pt x="26" y="42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6"/>
                    <a:pt x="31" y="44"/>
                    <a:pt x="30" y="48"/>
                  </a:cubicBezTo>
                  <a:cubicBezTo>
                    <a:pt x="32" y="48"/>
                    <a:pt x="34" y="48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9"/>
                    <a:pt x="37" y="48"/>
                    <a:pt x="36" y="52"/>
                  </a:cubicBezTo>
                  <a:cubicBezTo>
                    <a:pt x="36" y="52"/>
                    <a:pt x="37" y="52"/>
                    <a:pt x="37" y="52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7" y="52"/>
                    <a:pt x="36" y="52"/>
                    <a:pt x="36" y="53"/>
                  </a:cubicBezTo>
                  <a:cubicBezTo>
                    <a:pt x="36" y="53"/>
                    <a:pt x="37" y="53"/>
                    <a:pt x="37" y="54"/>
                  </a:cubicBezTo>
                  <a:cubicBezTo>
                    <a:pt x="33" y="54"/>
                    <a:pt x="35" y="59"/>
                    <a:pt x="37" y="60"/>
                  </a:cubicBezTo>
                  <a:cubicBezTo>
                    <a:pt x="38" y="62"/>
                    <a:pt x="39" y="63"/>
                    <a:pt x="39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2" y="69"/>
                    <a:pt x="40" y="74"/>
                    <a:pt x="39" y="80"/>
                  </a:cubicBezTo>
                  <a:cubicBezTo>
                    <a:pt x="39" y="80"/>
                    <a:pt x="40" y="80"/>
                    <a:pt x="41" y="80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0" y="81"/>
                    <a:pt x="39" y="81"/>
                    <a:pt x="38" y="81"/>
                  </a:cubicBezTo>
                  <a:cubicBezTo>
                    <a:pt x="42" y="84"/>
                    <a:pt x="41" y="95"/>
                    <a:pt x="45" y="97"/>
                  </a:cubicBezTo>
                  <a:cubicBezTo>
                    <a:pt x="44" y="97"/>
                    <a:pt x="44" y="98"/>
                    <a:pt x="45" y="98"/>
                  </a:cubicBezTo>
                  <a:cubicBezTo>
                    <a:pt x="46" y="101"/>
                    <a:pt x="45" y="105"/>
                    <a:pt x="48" y="106"/>
                  </a:cubicBezTo>
                  <a:cubicBezTo>
                    <a:pt x="55" y="106"/>
                    <a:pt x="63" y="102"/>
                    <a:pt x="64" y="95"/>
                  </a:cubicBezTo>
                  <a:cubicBezTo>
                    <a:pt x="64" y="95"/>
                    <a:pt x="63" y="95"/>
                    <a:pt x="63" y="95"/>
                  </a:cubicBezTo>
                  <a:cubicBezTo>
                    <a:pt x="63" y="95"/>
                    <a:pt x="62" y="95"/>
                    <a:pt x="62" y="95"/>
                  </a:cubicBezTo>
                  <a:cubicBezTo>
                    <a:pt x="63" y="95"/>
                    <a:pt x="64" y="95"/>
                    <a:pt x="64" y="94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5" y="92"/>
                    <a:pt x="64" y="93"/>
                    <a:pt x="65" y="93"/>
                  </a:cubicBezTo>
                  <a:cubicBezTo>
                    <a:pt x="66" y="92"/>
                    <a:pt x="67" y="92"/>
                    <a:pt x="68" y="91"/>
                  </a:cubicBezTo>
                  <a:cubicBezTo>
                    <a:pt x="68" y="88"/>
                    <a:pt x="68" y="86"/>
                    <a:pt x="67" y="84"/>
                  </a:cubicBezTo>
                  <a:cubicBezTo>
                    <a:pt x="70" y="83"/>
                    <a:pt x="72" y="80"/>
                    <a:pt x="75" y="79"/>
                  </a:cubicBezTo>
                  <a:cubicBezTo>
                    <a:pt x="75" y="76"/>
                    <a:pt x="75" y="74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4" y="72"/>
                    <a:pt x="74" y="72"/>
                    <a:pt x="74" y="72"/>
                  </a:cubicBezTo>
                  <a:cubicBezTo>
                    <a:pt x="73" y="72"/>
                    <a:pt x="73" y="72"/>
                    <a:pt x="73" y="72"/>
                  </a:cubicBezTo>
                  <a:cubicBezTo>
                    <a:pt x="73" y="72"/>
                    <a:pt x="73" y="72"/>
                    <a:pt x="73" y="72"/>
                  </a:cubicBezTo>
                  <a:cubicBezTo>
                    <a:pt x="76" y="71"/>
                    <a:pt x="73" y="66"/>
                    <a:pt x="73" y="63"/>
                  </a:cubicBezTo>
                  <a:cubicBezTo>
                    <a:pt x="74" y="63"/>
                    <a:pt x="74" y="62"/>
                    <a:pt x="75" y="60"/>
                  </a:cubicBezTo>
                  <a:cubicBezTo>
                    <a:pt x="75" y="59"/>
                    <a:pt x="75" y="58"/>
                    <a:pt x="77" y="57"/>
                  </a:cubicBezTo>
                  <a:cubicBezTo>
                    <a:pt x="77" y="57"/>
                    <a:pt x="77" y="57"/>
                    <a:pt x="77" y="56"/>
                  </a:cubicBezTo>
                  <a:cubicBezTo>
                    <a:pt x="82" y="51"/>
                    <a:pt x="88" y="47"/>
                    <a:pt x="89" y="38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7" y="38"/>
                    <a:pt x="86" y="38"/>
                    <a:pt x="85" y="39"/>
                  </a:cubicBezTo>
                  <a:cubicBezTo>
                    <a:pt x="83" y="39"/>
                    <a:pt x="82" y="40"/>
                    <a:pt x="81" y="40"/>
                  </a:cubicBezTo>
                  <a:cubicBezTo>
                    <a:pt x="81" y="40"/>
                    <a:pt x="80" y="40"/>
                    <a:pt x="79" y="39"/>
                  </a:cubicBezTo>
                  <a:cubicBezTo>
                    <a:pt x="79" y="39"/>
                    <a:pt x="79" y="39"/>
                    <a:pt x="79" y="40"/>
                  </a:cubicBezTo>
                  <a:cubicBezTo>
                    <a:pt x="78" y="40"/>
                    <a:pt x="78" y="39"/>
                    <a:pt x="77" y="39"/>
                  </a:cubicBezTo>
                  <a:cubicBezTo>
                    <a:pt x="78" y="38"/>
                    <a:pt x="79" y="38"/>
                    <a:pt x="79" y="37"/>
                  </a:cubicBezTo>
                  <a:cubicBezTo>
                    <a:pt x="79" y="37"/>
                    <a:pt x="78" y="37"/>
                    <a:pt x="78" y="37"/>
                  </a:cubicBezTo>
                  <a:cubicBezTo>
                    <a:pt x="77" y="37"/>
                    <a:pt x="77" y="36"/>
                    <a:pt x="77" y="35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77" y="33"/>
                    <a:pt x="75" y="33"/>
                    <a:pt x="74" y="32"/>
                  </a:cubicBezTo>
                  <a:cubicBezTo>
                    <a:pt x="74" y="31"/>
                    <a:pt x="73" y="31"/>
                    <a:pt x="73" y="29"/>
                  </a:cubicBezTo>
                  <a:cubicBezTo>
                    <a:pt x="73" y="29"/>
                    <a:pt x="73" y="29"/>
                    <a:pt x="73" y="29"/>
                  </a:cubicBezTo>
                  <a:cubicBezTo>
                    <a:pt x="72" y="29"/>
                    <a:pt x="72" y="29"/>
                    <a:pt x="72" y="30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3" y="24"/>
                    <a:pt x="65" y="17"/>
                    <a:pt x="64" y="10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65" y="10"/>
                    <a:pt x="65" y="11"/>
                    <a:pt x="65" y="12"/>
                  </a:cubicBezTo>
                  <a:cubicBezTo>
                    <a:pt x="65" y="12"/>
                    <a:pt x="65" y="13"/>
                    <a:pt x="66" y="13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66" y="12"/>
                    <a:pt x="66" y="11"/>
                    <a:pt x="66" y="9"/>
                  </a:cubicBezTo>
                  <a:cubicBezTo>
                    <a:pt x="65" y="9"/>
                    <a:pt x="64" y="9"/>
                    <a:pt x="63" y="9"/>
                  </a:cubicBezTo>
                  <a:cubicBezTo>
                    <a:pt x="62" y="9"/>
                    <a:pt x="62" y="9"/>
                    <a:pt x="61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7" y="9"/>
                    <a:pt x="56" y="9"/>
                    <a:pt x="55" y="8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8"/>
                    <a:pt x="53" y="8"/>
                    <a:pt x="53" y="8"/>
                  </a:cubicBezTo>
                  <a:cubicBezTo>
                    <a:pt x="52" y="8"/>
                    <a:pt x="52" y="7"/>
                    <a:pt x="52" y="7"/>
                  </a:cubicBezTo>
                  <a:cubicBezTo>
                    <a:pt x="51" y="6"/>
                    <a:pt x="51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8" y="6"/>
                    <a:pt x="50" y="10"/>
                    <a:pt x="47" y="10"/>
                  </a:cubicBezTo>
                  <a:cubicBezTo>
                    <a:pt x="43" y="7"/>
                    <a:pt x="38" y="7"/>
                    <a:pt x="35" y="4"/>
                  </a:cubicBezTo>
                  <a:cubicBezTo>
                    <a:pt x="38" y="4"/>
                    <a:pt x="35" y="1"/>
                    <a:pt x="3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0" name="Freeform 34"/>
            <p:cNvSpPr>
              <a:spLocks/>
            </p:cNvSpPr>
            <p:nvPr/>
          </p:nvSpPr>
          <p:spPr bwMode="auto">
            <a:xfrm>
              <a:off x="4469605" y="3463926"/>
              <a:ext cx="26988" cy="33338"/>
            </a:xfrm>
            <a:custGeom>
              <a:avLst/>
              <a:gdLst>
                <a:gd name="T0" fmla="*/ 3 w 4"/>
                <a:gd name="T1" fmla="*/ 0 h 5"/>
                <a:gd name="T2" fmla="*/ 0 w 4"/>
                <a:gd name="T3" fmla="*/ 0 h 5"/>
                <a:gd name="T4" fmla="*/ 4 w 4"/>
                <a:gd name="T5" fmla="*/ 5 h 5"/>
                <a:gd name="T6" fmla="*/ 3 w 4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2"/>
                    <a:pt x="1" y="4"/>
                    <a:pt x="4" y="5"/>
                  </a:cubicBezTo>
                  <a:cubicBezTo>
                    <a:pt x="3" y="4"/>
                    <a:pt x="3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1" name="Freeform 35"/>
            <p:cNvSpPr>
              <a:spLocks/>
            </p:cNvSpPr>
            <p:nvPr/>
          </p:nvSpPr>
          <p:spPr bwMode="auto">
            <a:xfrm>
              <a:off x="2821780" y="3400426"/>
              <a:ext cx="419100" cy="641350"/>
            </a:xfrm>
            <a:custGeom>
              <a:avLst/>
              <a:gdLst>
                <a:gd name="T0" fmla="*/ 14 w 61"/>
                <a:gd name="T1" fmla="*/ 3 h 93"/>
                <a:gd name="T2" fmla="*/ 12 w 61"/>
                <a:gd name="T3" fmla="*/ 4 h 93"/>
                <a:gd name="T4" fmla="*/ 9 w 61"/>
                <a:gd name="T5" fmla="*/ 1 h 93"/>
                <a:gd name="T6" fmla="*/ 4 w 61"/>
                <a:gd name="T7" fmla="*/ 14 h 93"/>
                <a:gd name="T8" fmla="*/ 2 w 61"/>
                <a:gd name="T9" fmla="*/ 23 h 93"/>
                <a:gd name="T10" fmla="*/ 5 w 61"/>
                <a:gd name="T11" fmla="*/ 23 h 93"/>
                <a:gd name="T12" fmla="*/ 4 w 61"/>
                <a:gd name="T13" fmla="*/ 25 h 93"/>
                <a:gd name="T14" fmla="*/ 16 w 61"/>
                <a:gd name="T15" fmla="*/ 43 h 93"/>
                <a:gd name="T16" fmla="*/ 19 w 61"/>
                <a:gd name="T17" fmla="*/ 64 h 93"/>
                <a:gd name="T18" fmla="*/ 19 w 61"/>
                <a:gd name="T19" fmla="*/ 65 h 93"/>
                <a:gd name="T20" fmla="*/ 19 w 61"/>
                <a:gd name="T21" fmla="*/ 65 h 93"/>
                <a:gd name="T22" fmla="*/ 20 w 61"/>
                <a:gd name="T23" fmla="*/ 79 h 93"/>
                <a:gd name="T24" fmla="*/ 23 w 61"/>
                <a:gd name="T25" fmla="*/ 78 h 93"/>
                <a:gd name="T26" fmla="*/ 25 w 61"/>
                <a:gd name="T27" fmla="*/ 85 h 93"/>
                <a:gd name="T28" fmla="*/ 24 w 61"/>
                <a:gd name="T29" fmla="*/ 89 h 93"/>
                <a:gd name="T30" fmla="*/ 26 w 61"/>
                <a:gd name="T31" fmla="*/ 88 h 93"/>
                <a:gd name="T32" fmla="*/ 33 w 61"/>
                <a:gd name="T33" fmla="*/ 88 h 93"/>
                <a:gd name="T34" fmla="*/ 30 w 61"/>
                <a:gd name="T35" fmla="*/ 78 h 93"/>
                <a:gd name="T36" fmla="*/ 33 w 61"/>
                <a:gd name="T37" fmla="*/ 74 h 93"/>
                <a:gd name="T38" fmla="*/ 35 w 61"/>
                <a:gd name="T39" fmla="*/ 68 h 93"/>
                <a:gd name="T40" fmla="*/ 36 w 61"/>
                <a:gd name="T41" fmla="*/ 67 h 93"/>
                <a:gd name="T42" fmla="*/ 42 w 61"/>
                <a:gd name="T43" fmla="*/ 68 h 93"/>
                <a:gd name="T44" fmla="*/ 41 w 61"/>
                <a:gd name="T45" fmla="*/ 65 h 93"/>
                <a:gd name="T46" fmla="*/ 44 w 61"/>
                <a:gd name="T47" fmla="*/ 61 h 93"/>
                <a:gd name="T48" fmla="*/ 53 w 61"/>
                <a:gd name="T49" fmla="*/ 51 h 93"/>
                <a:gd name="T50" fmla="*/ 61 w 61"/>
                <a:gd name="T51" fmla="*/ 31 h 93"/>
                <a:gd name="T52" fmla="*/ 52 w 61"/>
                <a:gd name="T53" fmla="*/ 21 h 93"/>
                <a:gd name="T54" fmla="*/ 44 w 61"/>
                <a:gd name="T55" fmla="*/ 18 h 93"/>
                <a:gd name="T56" fmla="*/ 40 w 61"/>
                <a:gd name="T57" fmla="*/ 19 h 93"/>
                <a:gd name="T58" fmla="*/ 42 w 61"/>
                <a:gd name="T59" fmla="*/ 14 h 93"/>
                <a:gd name="T60" fmla="*/ 40 w 61"/>
                <a:gd name="T61" fmla="*/ 12 h 93"/>
                <a:gd name="T62" fmla="*/ 33 w 61"/>
                <a:gd name="T63" fmla="*/ 9 h 93"/>
                <a:gd name="T64" fmla="*/ 32 w 61"/>
                <a:gd name="T65" fmla="*/ 11 h 93"/>
                <a:gd name="T66" fmla="*/ 27 w 61"/>
                <a:gd name="T67" fmla="*/ 7 h 93"/>
                <a:gd name="T68" fmla="*/ 27 w 61"/>
                <a:gd name="T69" fmla="*/ 3 h 93"/>
                <a:gd name="T70" fmla="*/ 16 w 61"/>
                <a:gd name="T7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1" h="93">
                  <a:moveTo>
                    <a:pt x="16" y="0"/>
                  </a:moveTo>
                  <a:cubicBezTo>
                    <a:pt x="14" y="0"/>
                    <a:pt x="15" y="2"/>
                    <a:pt x="14" y="3"/>
                  </a:cubicBezTo>
                  <a:cubicBezTo>
                    <a:pt x="13" y="3"/>
                    <a:pt x="14" y="1"/>
                    <a:pt x="13" y="1"/>
                  </a:cubicBezTo>
                  <a:cubicBezTo>
                    <a:pt x="12" y="2"/>
                    <a:pt x="13" y="4"/>
                    <a:pt x="12" y="4"/>
                  </a:cubicBezTo>
                  <a:cubicBezTo>
                    <a:pt x="11" y="3"/>
                    <a:pt x="12" y="3"/>
                    <a:pt x="12" y="1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10" y="4"/>
                    <a:pt x="6" y="4"/>
                    <a:pt x="6" y="7"/>
                  </a:cubicBezTo>
                  <a:cubicBezTo>
                    <a:pt x="7" y="9"/>
                    <a:pt x="6" y="14"/>
                    <a:pt x="4" y="14"/>
                  </a:cubicBezTo>
                  <a:cubicBezTo>
                    <a:pt x="4" y="14"/>
                    <a:pt x="4" y="15"/>
                    <a:pt x="4" y="16"/>
                  </a:cubicBezTo>
                  <a:cubicBezTo>
                    <a:pt x="0" y="19"/>
                    <a:pt x="4" y="19"/>
                    <a:pt x="2" y="23"/>
                  </a:cubicBezTo>
                  <a:cubicBezTo>
                    <a:pt x="3" y="23"/>
                    <a:pt x="4" y="23"/>
                    <a:pt x="4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4"/>
                    <a:pt x="4" y="25"/>
                    <a:pt x="4" y="25"/>
                  </a:cubicBezTo>
                  <a:cubicBezTo>
                    <a:pt x="3" y="24"/>
                    <a:pt x="2" y="23"/>
                    <a:pt x="1" y="23"/>
                  </a:cubicBezTo>
                  <a:cubicBezTo>
                    <a:pt x="5" y="30"/>
                    <a:pt x="8" y="40"/>
                    <a:pt x="16" y="43"/>
                  </a:cubicBezTo>
                  <a:cubicBezTo>
                    <a:pt x="17" y="44"/>
                    <a:pt x="16" y="46"/>
                    <a:pt x="17" y="46"/>
                  </a:cubicBezTo>
                  <a:cubicBezTo>
                    <a:pt x="19" y="52"/>
                    <a:pt x="17" y="61"/>
                    <a:pt x="19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8" y="70"/>
                    <a:pt x="19" y="74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1" y="79"/>
                    <a:pt x="21" y="78"/>
                    <a:pt x="21" y="78"/>
                  </a:cubicBezTo>
                  <a:cubicBezTo>
                    <a:pt x="22" y="78"/>
                    <a:pt x="22" y="78"/>
                    <a:pt x="23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3" y="81"/>
                    <a:pt x="26" y="82"/>
                    <a:pt x="25" y="85"/>
                  </a:cubicBezTo>
                  <a:cubicBezTo>
                    <a:pt x="24" y="85"/>
                    <a:pt x="25" y="83"/>
                    <a:pt x="23" y="83"/>
                  </a:cubicBezTo>
                  <a:cubicBezTo>
                    <a:pt x="22" y="86"/>
                    <a:pt x="25" y="88"/>
                    <a:pt x="24" y="89"/>
                  </a:cubicBezTo>
                  <a:cubicBezTo>
                    <a:pt x="24" y="89"/>
                    <a:pt x="24" y="89"/>
                    <a:pt x="24" y="89"/>
                  </a:cubicBezTo>
                  <a:cubicBezTo>
                    <a:pt x="25" y="89"/>
                    <a:pt x="25" y="88"/>
                    <a:pt x="26" y="88"/>
                  </a:cubicBezTo>
                  <a:cubicBezTo>
                    <a:pt x="26" y="93"/>
                    <a:pt x="25" y="92"/>
                    <a:pt x="31" y="93"/>
                  </a:cubicBezTo>
                  <a:cubicBezTo>
                    <a:pt x="30" y="90"/>
                    <a:pt x="31" y="90"/>
                    <a:pt x="33" y="88"/>
                  </a:cubicBezTo>
                  <a:cubicBezTo>
                    <a:pt x="32" y="86"/>
                    <a:pt x="30" y="87"/>
                    <a:pt x="29" y="85"/>
                  </a:cubicBezTo>
                  <a:cubicBezTo>
                    <a:pt x="32" y="84"/>
                    <a:pt x="32" y="81"/>
                    <a:pt x="30" y="78"/>
                  </a:cubicBezTo>
                  <a:cubicBezTo>
                    <a:pt x="31" y="78"/>
                    <a:pt x="31" y="78"/>
                    <a:pt x="32" y="78"/>
                  </a:cubicBezTo>
                  <a:cubicBezTo>
                    <a:pt x="34" y="78"/>
                    <a:pt x="32" y="75"/>
                    <a:pt x="33" y="74"/>
                  </a:cubicBezTo>
                  <a:cubicBezTo>
                    <a:pt x="34" y="75"/>
                    <a:pt x="34" y="75"/>
                    <a:pt x="35" y="75"/>
                  </a:cubicBezTo>
                  <a:cubicBezTo>
                    <a:pt x="40" y="75"/>
                    <a:pt x="39" y="68"/>
                    <a:pt x="35" y="68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8"/>
                    <a:pt x="38" y="68"/>
                    <a:pt x="40" y="68"/>
                  </a:cubicBezTo>
                  <a:cubicBezTo>
                    <a:pt x="40" y="68"/>
                    <a:pt x="41" y="68"/>
                    <a:pt x="42" y="68"/>
                  </a:cubicBezTo>
                  <a:cubicBezTo>
                    <a:pt x="42" y="66"/>
                    <a:pt x="41" y="66"/>
                    <a:pt x="40" y="64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3" y="65"/>
                    <a:pt x="43" y="63"/>
                    <a:pt x="43" y="61"/>
                  </a:cubicBezTo>
                  <a:cubicBezTo>
                    <a:pt x="43" y="61"/>
                    <a:pt x="44" y="61"/>
                    <a:pt x="44" y="61"/>
                  </a:cubicBezTo>
                  <a:cubicBezTo>
                    <a:pt x="46" y="61"/>
                    <a:pt x="46" y="57"/>
                    <a:pt x="46" y="54"/>
                  </a:cubicBezTo>
                  <a:cubicBezTo>
                    <a:pt x="48" y="53"/>
                    <a:pt x="49" y="51"/>
                    <a:pt x="53" y="51"/>
                  </a:cubicBezTo>
                  <a:cubicBezTo>
                    <a:pt x="53" y="51"/>
                    <a:pt x="53" y="51"/>
                    <a:pt x="54" y="51"/>
                  </a:cubicBezTo>
                  <a:cubicBezTo>
                    <a:pt x="58" y="46"/>
                    <a:pt x="55" y="33"/>
                    <a:pt x="61" y="31"/>
                  </a:cubicBezTo>
                  <a:cubicBezTo>
                    <a:pt x="61" y="29"/>
                    <a:pt x="61" y="27"/>
                    <a:pt x="61" y="25"/>
                  </a:cubicBezTo>
                  <a:cubicBezTo>
                    <a:pt x="58" y="25"/>
                    <a:pt x="55" y="21"/>
                    <a:pt x="52" y="21"/>
                  </a:cubicBezTo>
                  <a:cubicBezTo>
                    <a:pt x="51" y="21"/>
                    <a:pt x="50" y="21"/>
                    <a:pt x="48" y="22"/>
                  </a:cubicBezTo>
                  <a:cubicBezTo>
                    <a:pt x="49" y="19"/>
                    <a:pt x="46" y="19"/>
                    <a:pt x="44" y="18"/>
                  </a:cubicBezTo>
                  <a:cubicBezTo>
                    <a:pt x="45" y="20"/>
                    <a:pt x="43" y="20"/>
                    <a:pt x="42" y="21"/>
                  </a:cubicBezTo>
                  <a:cubicBezTo>
                    <a:pt x="41" y="20"/>
                    <a:pt x="41" y="19"/>
                    <a:pt x="40" y="19"/>
                  </a:cubicBezTo>
                  <a:cubicBezTo>
                    <a:pt x="39" y="19"/>
                    <a:pt x="39" y="19"/>
                    <a:pt x="38" y="20"/>
                  </a:cubicBezTo>
                  <a:cubicBezTo>
                    <a:pt x="39" y="18"/>
                    <a:pt x="41" y="17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0" y="14"/>
                    <a:pt x="40" y="13"/>
                    <a:pt x="40" y="12"/>
                  </a:cubicBezTo>
                  <a:cubicBezTo>
                    <a:pt x="40" y="11"/>
                    <a:pt x="40" y="11"/>
                    <a:pt x="39" y="11"/>
                  </a:cubicBezTo>
                  <a:cubicBezTo>
                    <a:pt x="38" y="8"/>
                    <a:pt x="37" y="9"/>
                    <a:pt x="33" y="9"/>
                  </a:cubicBezTo>
                  <a:cubicBezTo>
                    <a:pt x="33" y="10"/>
                    <a:pt x="32" y="10"/>
                    <a:pt x="32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1" y="8"/>
                    <a:pt x="34" y="7"/>
                    <a:pt x="29" y="5"/>
                  </a:cubicBezTo>
                  <a:cubicBezTo>
                    <a:pt x="28" y="6"/>
                    <a:pt x="29" y="7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9" y="5"/>
                    <a:pt x="26" y="5"/>
                    <a:pt x="27" y="3"/>
                  </a:cubicBezTo>
                  <a:cubicBezTo>
                    <a:pt x="23" y="2"/>
                    <a:pt x="20" y="2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2" name="Freeform 36"/>
            <p:cNvSpPr>
              <a:spLocks/>
            </p:cNvSpPr>
            <p:nvPr/>
          </p:nvSpPr>
          <p:spPr bwMode="auto">
            <a:xfrm>
              <a:off x="4634705" y="3525838"/>
              <a:ext cx="26988" cy="41275"/>
            </a:xfrm>
            <a:custGeom>
              <a:avLst/>
              <a:gdLst>
                <a:gd name="T0" fmla="*/ 1 w 4"/>
                <a:gd name="T1" fmla="*/ 0 h 6"/>
                <a:gd name="T2" fmla="*/ 1 w 4"/>
                <a:gd name="T3" fmla="*/ 6 h 6"/>
                <a:gd name="T4" fmla="*/ 1 w 4"/>
                <a:gd name="T5" fmla="*/ 6 h 6"/>
                <a:gd name="T6" fmla="*/ 3 w 4"/>
                <a:gd name="T7" fmla="*/ 2 h 6"/>
                <a:gd name="T8" fmla="*/ 4 w 4"/>
                <a:gd name="T9" fmla="*/ 6 h 6"/>
                <a:gd name="T10" fmla="*/ 1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cubicBezTo>
                    <a:pt x="0" y="2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2"/>
                    <a:pt x="3" y="2"/>
                  </a:cubicBezTo>
                  <a:cubicBezTo>
                    <a:pt x="3" y="4"/>
                    <a:pt x="3" y="5"/>
                    <a:pt x="4" y="6"/>
                  </a:cubicBezTo>
                  <a:cubicBezTo>
                    <a:pt x="4" y="2"/>
                    <a:pt x="2" y="2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3" name="Freeform 37"/>
            <p:cNvSpPr>
              <a:spLocks/>
            </p:cNvSpPr>
            <p:nvPr/>
          </p:nvSpPr>
          <p:spPr bwMode="auto">
            <a:xfrm>
              <a:off x="4779168" y="3538538"/>
              <a:ext cx="123825" cy="82550"/>
            </a:xfrm>
            <a:custGeom>
              <a:avLst/>
              <a:gdLst>
                <a:gd name="T0" fmla="*/ 4 w 18"/>
                <a:gd name="T1" fmla="*/ 0 h 12"/>
                <a:gd name="T2" fmla="*/ 0 w 18"/>
                <a:gd name="T3" fmla="*/ 4 h 12"/>
                <a:gd name="T4" fmla="*/ 1 w 18"/>
                <a:gd name="T5" fmla="*/ 4 h 12"/>
                <a:gd name="T6" fmla="*/ 7 w 18"/>
                <a:gd name="T7" fmla="*/ 10 h 12"/>
                <a:gd name="T8" fmla="*/ 7 w 18"/>
                <a:gd name="T9" fmla="*/ 8 h 12"/>
                <a:gd name="T10" fmla="*/ 7 w 18"/>
                <a:gd name="T11" fmla="*/ 8 h 12"/>
                <a:gd name="T12" fmla="*/ 8 w 18"/>
                <a:gd name="T13" fmla="*/ 10 h 12"/>
                <a:gd name="T14" fmla="*/ 9 w 18"/>
                <a:gd name="T15" fmla="*/ 10 h 12"/>
                <a:gd name="T16" fmla="*/ 12 w 18"/>
                <a:gd name="T17" fmla="*/ 8 h 12"/>
                <a:gd name="T18" fmla="*/ 12 w 18"/>
                <a:gd name="T19" fmla="*/ 8 h 12"/>
                <a:gd name="T20" fmla="*/ 15 w 18"/>
                <a:gd name="T21" fmla="*/ 10 h 12"/>
                <a:gd name="T22" fmla="*/ 17 w 18"/>
                <a:gd name="T23" fmla="*/ 12 h 12"/>
                <a:gd name="T24" fmla="*/ 18 w 18"/>
                <a:gd name="T25" fmla="*/ 11 h 12"/>
                <a:gd name="T26" fmla="*/ 8 w 18"/>
                <a:gd name="T27" fmla="*/ 2 h 12"/>
                <a:gd name="T28" fmla="*/ 8 w 18"/>
                <a:gd name="T29" fmla="*/ 2 h 12"/>
                <a:gd name="T30" fmla="*/ 8 w 18"/>
                <a:gd name="T31" fmla="*/ 4 h 12"/>
                <a:gd name="T32" fmla="*/ 7 w 18"/>
                <a:gd name="T33" fmla="*/ 4 h 12"/>
                <a:gd name="T34" fmla="*/ 7 w 18"/>
                <a:gd name="T35" fmla="*/ 1 h 12"/>
                <a:gd name="T36" fmla="*/ 4 w 18"/>
                <a:gd name="T3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" h="12">
                  <a:moveTo>
                    <a:pt x="4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5" y="4"/>
                    <a:pt x="5" y="8"/>
                    <a:pt x="7" y="10"/>
                  </a:cubicBezTo>
                  <a:cubicBezTo>
                    <a:pt x="7" y="9"/>
                    <a:pt x="7" y="8"/>
                    <a:pt x="7" y="8"/>
                  </a:cubicBezTo>
                  <a:cubicBezTo>
                    <a:pt x="7" y="8"/>
                    <a:pt x="8" y="8"/>
                    <a:pt x="7" y="8"/>
                  </a:cubicBezTo>
                  <a:cubicBezTo>
                    <a:pt x="7" y="9"/>
                    <a:pt x="7" y="10"/>
                    <a:pt x="8" y="10"/>
                  </a:cubicBezTo>
                  <a:cubicBezTo>
                    <a:pt x="8" y="10"/>
                    <a:pt x="9" y="10"/>
                    <a:pt x="9" y="10"/>
                  </a:cubicBezTo>
                  <a:cubicBezTo>
                    <a:pt x="9" y="10"/>
                    <a:pt x="10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8"/>
                    <a:pt x="14" y="9"/>
                    <a:pt x="15" y="10"/>
                  </a:cubicBezTo>
                  <a:cubicBezTo>
                    <a:pt x="15" y="11"/>
                    <a:pt x="16" y="12"/>
                    <a:pt x="17" y="12"/>
                  </a:cubicBezTo>
                  <a:cubicBezTo>
                    <a:pt x="17" y="12"/>
                    <a:pt x="18" y="12"/>
                    <a:pt x="18" y="11"/>
                  </a:cubicBezTo>
                  <a:cubicBezTo>
                    <a:pt x="14" y="9"/>
                    <a:pt x="15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4"/>
                  </a:cubicBezTo>
                  <a:cubicBezTo>
                    <a:pt x="8" y="4"/>
                    <a:pt x="7" y="4"/>
                    <a:pt x="7" y="4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6" y="0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4" name="Freeform 38"/>
            <p:cNvSpPr>
              <a:spLocks/>
            </p:cNvSpPr>
            <p:nvPr/>
          </p:nvSpPr>
          <p:spPr bwMode="auto">
            <a:xfrm>
              <a:off x="4510880" y="3579813"/>
              <a:ext cx="76200" cy="28575"/>
            </a:xfrm>
            <a:custGeom>
              <a:avLst/>
              <a:gdLst>
                <a:gd name="T0" fmla="*/ 2 w 11"/>
                <a:gd name="T1" fmla="*/ 0 h 4"/>
                <a:gd name="T2" fmla="*/ 0 w 11"/>
                <a:gd name="T3" fmla="*/ 1 h 4"/>
                <a:gd name="T4" fmla="*/ 0 w 11"/>
                <a:gd name="T5" fmla="*/ 1 h 4"/>
                <a:gd name="T6" fmla="*/ 2 w 11"/>
                <a:gd name="T7" fmla="*/ 2 h 4"/>
                <a:gd name="T8" fmla="*/ 4 w 11"/>
                <a:gd name="T9" fmla="*/ 2 h 4"/>
                <a:gd name="T10" fmla="*/ 5 w 11"/>
                <a:gd name="T11" fmla="*/ 2 h 4"/>
                <a:gd name="T12" fmla="*/ 11 w 11"/>
                <a:gd name="T13" fmla="*/ 4 h 4"/>
                <a:gd name="T14" fmla="*/ 7 w 11"/>
                <a:gd name="T15" fmla="*/ 1 h 4"/>
                <a:gd name="T16" fmla="*/ 6 w 11"/>
                <a:gd name="T17" fmla="*/ 2 h 4"/>
                <a:gd name="T18" fmla="*/ 2 w 11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4">
                  <a:moveTo>
                    <a:pt x="2" y="0"/>
                  </a:moveTo>
                  <a:cubicBezTo>
                    <a:pt x="1" y="0"/>
                    <a:pt x="1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2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3"/>
                    <a:pt x="10" y="3"/>
                    <a:pt x="11" y="4"/>
                  </a:cubicBezTo>
                  <a:cubicBezTo>
                    <a:pt x="11" y="2"/>
                    <a:pt x="9" y="1"/>
                    <a:pt x="7" y="1"/>
                  </a:cubicBezTo>
                  <a:cubicBezTo>
                    <a:pt x="7" y="1"/>
                    <a:pt x="6" y="1"/>
                    <a:pt x="6" y="2"/>
                  </a:cubicBezTo>
                  <a:cubicBezTo>
                    <a:pt x="5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5" name="Freeform 39"/>
            <p:cNvSpPr>
              <a:spLocks/>
            </p:cNvSpPr>
            <p:nvPr/>
          </p:nvSpPr>
          <p:spPr bwMode="auto">
            <a:xfrm>
              <a:off x="4552155" y="3635376"/>
              <a:ext cx="357188" cy="276225"/>
            </a:xfrm>
            <a:custGeom>
              <a:avLst/>
              <a:gdLst>
                <a:gd name="T0" fmla="*/ 41 w 52"/>
                <a:gd name="T1" fmla="*/ 0 h 40"/>
                <a:gd name="T2" fmla="*/ 38 w 52"/>
                <a:gd name="T3" fmla="*/ 9 h 40"/>
                <a:gd name="T4" fmla="*/ 32 w 52"/>
                <a:gd name="T5" fmla="*/ 1 h 40"/>
                <a:gd name="T6" fmla="*/ 30 w 52"/>
                <a:gd name="T7" fmla="*/ 1 h 40"/>
                <a:gd name="T8" fmla="*/ 25 w 52"/>
                <a:gd name="T9" fmla="*/ 2 h 40"/>
                <a:gd name="T10" fmla="*/ 24 w 52"/>
                <a:gd name="T11" fmla="*/ 6 h 40"/>
                <a:gd name="T12" fmla="*/ 23 w 52"/>
                <a:gd name="T13" fmla="*/ 6 h 40"/>
                <a:gd name="T14" fmla="*/ 21 w 52"/>
                <a:gd name="T15" fmla="*/ 4 h 40"/>
                <a:gd name="T16" fmla="*/ 1 w 52"/>
                <a:gd name="T17" fmla="*/ 19 h 40"/>
                <a:gd name="T18" fmla="*/ 0 w 52"/>
                <a:gd name="T19" fmla="*/ 35 h 40"/>
                <a:gd name="T20" fmla="*/ 20 w 52"/>
                <a:gd name="T21" fmla="*/ 30 h 40"/>
                <a:gd name="T22" fmla="*/ 24 w 52"/>
                <a:gd name="T23" fmla="*/ 30 h 40"/>
                <a:gd name="T24" fmla="*/ 25 w 52"/>
                <a:gd name="T25" fmla="*/ 34 h 40"/>
                <a:gd name="T26" fmla="*/ 25 w 52"/>
                <a:gd name="T27" fmla="*/ 34 h 40"/>
                <a:gd name="T28" fmla="*/ 27 w 52"/>
                <a:gd name="T29" fmla="*/ 33 h 40"/>
                <a:gd name="T30" fmla="*/ 28 w 52"/>
                <a:gd name="T31" fmla="*/ 31 h 40"/>
                <a:gd name="T32" fmla="*/ 29 w 52"/>
                <a:gd name="T33" fmla="*/ 32 h 40"/>
                <a:gd name="T34" fmla="*/ 28 w 52"/>
                <a:gd name="T35" fmla="*/ 39 h 40"/>
                <a:gd name="T36" fmla="*/ 31 w 52"/>
                <a:gd name="T37" fmla="*/ 40 h 40"/>
                <a:gd name="T38" fmla="*/ 35 w 52"/>
                <a:gd name="T39" fmla="*/ 39 h 40"/>
                <a:gd name="T40" fmla="*/ 39 w 52"/>
                <a:gd name="T41" fmla="*/ 39 h 40"/>
                <a:gd name="T42" fmla="*/ 40 w 52"/>
                <a:gd name="T43" fmla="*/ 39 h 40"/>
                <a:gd name="T44" fmla="*/ 51 w 52"/>
                <a:gd name="T45" fmla="*/ 26 h 40"/>
                <a:gd name="T46" fmla="*/ 44 w 52"/>
                <a:gd name="T47" fmla="*/ 11 h 40"/>
                <a:gd name="T48" fmla="*/ 41 w 52"/>
                <a:gd name="T4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2" h="40">
                  <a:moveTo>
                    <a:pt x="41" y="0"/>
                  </a:moveTo>
                  <a:cubicBezTo>
                    <a:pt x="41" y="4"/>
                    <a:pt x="40" y="8"/>
                    <a:pt x="38" y="9"/>
                  </a:cubicBezTo>
                  <a:cubicBezTo>
                    <a:pt x="33" y="8"/>
                    <a:pt x="31" y="5"/>
                    <a:pt x="32" y="1"/>
                  </a:cubicBezTo>
                  <a:cubicBezTo>
                    <a:pt x="31" y="1"/>
                    <a:pt x="31" y="1"/>
                    <a:pt x="30" y="1"/>
                  </a:cubicBezTo>
                  <a:cubicBezTo>
                    <a:pt x="28" y="1"/>
                    <a:pt x="28" y="2"/>
                    <a:pt x="25" y="2"/>
                  </a:cubicBezTo>
                  <a:cubicBezTo>
                    <a:pt x="25" y="3"/>
                    <a:pt x="25" y="5"/>
                    <a:pt x="24" y="6"/>
                  </a:cubicBezTo>
                  <a:cubicBezTo>
                    <a:pt x="24" y="6"/>
                    <a:pt x="23" y="6"/>
                    <a:pt x="23" y="6"/>
                  </a:cubicBezTo>
                  <a:cubicBezTo>
                    <a:pt x="21" y="6"/>
                    <a:pt x="23" y="4"/>
                    <a:pt x="21" y="4"/>
                  </a:cubicBezTo>
                  <a:cubicBezTo>
                    <a:pt x="17" y="11"/>
                    <a:pt x="7" y="12"/>
                    <a:pt x="1" y="19"/>
                  </a:cubicBezTo>
                  <a:cubicBezTo>
                    <a:pt x="2" y="24"/>
                    <a:pt x="0" y="31"/>
                    <a:pt x="0" y="35"/>
                  </a:cubicBezTo>
                  <a:cubicBezTo>
                    <a:pt x="7" y="34"/>
                    <a:pt x="13" y="30"/>
                    <a:pt x="20" y="30"/>
                  </a:cubicBezTo>
                  <a:cubicBezTo>
                    <a:pt x="22" y="30"/>
                    <a:pt x="23" y="30"/>
                    <a:pt x="24" y="30"/>
                  </a:cubicBezTo>
                  <a:cubicBezTo>
                    <a:pt x="24" y="32"/>
                    <a:pt x="25" y="32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4"/>
                    <a:pt x="27" y="33"/>
                    <a:pt x="27" y="33"/>
                  </a:cubicBezTo>
                  <a:cubicBezTo>
                    <a:pt x="28" y="32"/>
                    <a:pt x="28" y="31"/>
                    <a:pt x="28" y="31"/>
                  </a:cubicBezTo>
                  <a:cubicBezTo>
                    <a:pt x="29" y="31"/>
                    <a:pt x="29" y="31"/>
                    <a:pt x="29" y="32"/>
                  </a:cubicBezTo>
                  <a:cubicBezTo>
                    <a:pt x="27" y="34"/>
                    <a:pt x="30" y="37"/>
                    <a:pt x="28" y="39"/>
                  </a:cubicBezTo>
                  <a:cubicBezTo>
                    <a:pt x="29" y="40"/>
                    <a:pt x="30" y="40"/>
                    <a:pt x="31" y="40"/>
                  </a:cubicBezTo>
                  <a:cubicBezTo>
                    <a:pt x="32" y="40"/>
                    <a:pt x="33" y="40"/>
                    <a:pt x="35" y="39"/>
                  </a:cubicBezTo>
                  <a:cubicBezTo>
                    <a:pt x="36" y="39"/>
                    <a:pt x="37" y="39"/>
                    <a:pt x="39" y="39"/>
                  </a:cubicBezTo>
                  <a:cubicBezTo>
                    <a:pt x="39" y="39"/>
                    <a:pt x="39" y="39"/>
                    <a:pt x="40" y="39"/>
                  </a:cubicBezTo>
                  <a:cubicBezTo>
                    <a:pt x="41" y="34"/>
                    <a:pt x="49" y="31"/>
                    <a:pt x="51" y="26"/>
                  </a:cubicBezTo>
                  <a:cubicBezTo>
                    <a:pt x="52" y="19"/>
                    <a:pt x="48" y="15"/>
                    <a:pt x="44" y="11"/>
                  </a:cubicBezTo>
                  <a:cubicBezTo>
                    <a:pt x="45" y="5"/>
                    <a:pt x="43" y="3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6" name="Freeform 40"/>
            <p:cNvSpPr>
              <a:spLocks/>
            </p:cNvSpPr>
            <p:nvPr/>
          </p:nvSpPr>
          <p:spPr bwMode="auto">
            <a:xfrm>
              <a:off x="5012530" y="3897313"/>
              <a:ext cx="47625" cy="41275"/>
            </a:xfrm>
            <a:custGeom>
              <a:avLst/>
              <a:gdLst>
                <a:gd name="T0" fmla="*/ 4 w 7"/>
                <a:gd name="T1" fmla="*/ 0 h 6"/>
                <a:gd name="T2" fmla="*/ 1 w 7"/>
                <a:gd name="T3" fmla="*/ 4 h 6"/>
                <a:gd name="T4" fmla="*/ 2 w 7"/>
                <a:gd name="T5" fmla="*/ 6 h 6"/>
                <a:gd name="T6" fmla="*/ 2 w 7"/>
                <a:gd name="T7" fmla="*/ 6 h 6"/>
                <a:gd name="T8" fmla="*/ 7 w 7"/>
                <a:gd name="T9" fmla="*/ 2 h 6"/>
                <a:gd name="T10" fmla="*/ 6 w 7"/>
                <a:gd name="T11" fmla="*/ 2 h 6"/>
                <a:gd name="T12" fmla="*/ 4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cubicBezTo>
                    <a:pt x="4" y="3"/>
                    <a:pt x="1" y="2"/>
                    <a:pt x="1" y="4"/>
                  </a:cubicBezTo>
                  <a:cubicBezTo>
                    <a:pt x="3" y="4"/>
                    <a:pt x="0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3"/>
                    <a:pt x="6" y="4"/>
                    <a:pt x="7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7" name="Freeform 41"/>
            <p:cNvSpPr>
              <a:spLocks/>
            </p:cNvSpPr>
            <p:nvPr/>
          </p:nvSpPr>
          <p:spPr bwMode="auto">
            <a:xfrm>
              <a:off x="4758530" y="3938588"/>
              <a:ext cx="33338" cy="20638"/>
            </a:xfrm>
            <a:custGeom>
              <a:avLst/>
              <a:gdLst>
                <a:gd name="T0" fmla="*/ 5 w 5"/>
                <a:gd name="T1" fmla="*/ 0 h 3"/>
                <a:gd name="T2" fmla="*/ 3 w 5"/>
                <a:gd name="T3" fmla="*/ 0 h 3"/>
                <a:gd name="T4" fmla="*/ 1 w 5"/>
                <a:gd name="T5" fmla="*/ 0 h 3"/>
                <a:gd name="T6" fmla="*/ 1 w 5"/>
                <a:gd name="T7" fmla="*/ 3 h 3"/>
                <a:gd name="T8" fmla="*/ 2 w 5"/>
                <a:gd name="T9" fmla="*/ 3 h 3"/>
                <a:gd name="T10" fmla="*/ 5 w 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0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5" y="2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8" name="Freeform 42"/>
            <p:cNvSpPr>
              <a:spLocks/>
            </p:cNvSpPr>
            <p:nvPr/>
          </p:nvSpPr>
          <p:spPr bwMode="auto">
            <a:xfrm>
              <a:off x="4909343" y="3944938"/>
              <a:ext cx="88900" cy="49213"/>
            </a:xfrm>
            <a:custGeom>
              <a:avLst/>
              <a:gdLst>
                <a:gd name="T0" fmla="*/ 13 w 13"/>
                <a:gd name="T1" fmla="*/ 0 h 7"/>
                <a:gd name="T2" fmla="*/ 3 w 13"/>
                <a:gd name="T3" fmla="*/ 7 h 7"/>
                <a:gd name="T4" fmla="*/ 13 w 13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7">
                  <a:moveTo>
                    <a:pt x="13" y="0"/>
                  </a:moveTo>
                  <a:cubicBezTo>
                    <a:pt x="11" y="0"/>
                    <a:pt x="0" y="4"/>
                    <a:pt x="3" y="7"/>
                  </a:cubicBezTo>
                  <a:cubicBezTo>
                    <a:pt x="6" y="4"/>
                    <a:pt x="10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29" name="Freeform 43"/>
            <p:cNvSpPr>
              <a:spLocks/>
            </p:cNvSpPr>
            <p:nvPr/>
          </p:nvSpPr>
          <p:spPr bwMode="auto">
            <a:xfrm>
              <a:off x="3137693" y="4159251"/>
              <a:ext cx="33338" cy="26988"/>
            </a:xfrm>
            <a:custGeom>
              <a:avLst/>
              <a:gdLst>
                <a:gd name="T0" fmla="*/ 4 w 5"/>
                <a:gd name="T1" fmla="*/ 0 h 4"/>
                <a:gd name="T2" fmla="*/ 1 w 5"/>
                <a:gd name="T3" fmla="*/ 4 h 4"/>
                <a:gd name="T4" fmla="*/ 4 w 5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3" y="1"/>
                    <a:pt x="0" y="3"/>
                    <a:pt x="1" y="4"/>
                  </a:cubicBezTo>
                  <a:cubicBezTo>
                    <a:pt x="2" y="3"/>
                    <a:pt x="5" y="1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30" name="Freeform 44"/>
            <p:cNvSpPr>
              <a:spLocks/>
            </p:cNvSpPr>
            <p:nvPr/>
          </p:nvSpPr>
          <p:spPr bwMode="auto">
            <a:xfrm>
              <a:off x="3171030" y="2725738"/>
              <a:ext cx="55563" cy="14288"/>
            </a:xfrm>
            <a:custGeom>
              <a:avLst/>
              <a:gdLst>
                <a:gd name="T0" fmla="*/ 7 w 8"/>
                <a:gd name="T1" fmla="*/ 0 h 2"/>
                <a:gd name="T2" fmla="*/ 4 w 8"/>
                <a:gd name="T3" fmla="*/ 0 h 2"/>
                <a:gd name="T4" fmla="*/ 2 w 8"/>
                <a:gd name="T5" fmla="*/ 0 h 2"/>
                <a:gd name="T6" fmla="*/ 1 w 8"/>
                <a:gd name="T7" fmla="*/ 0 h 2"/>
                <a:gd name="T8" fmla="*/ 1 w 8"/>
                <a:gd name="T9" fmla="*/ 1 h 2"/>
                <a:gd name="T10" fmla="*/ 0 w 8"/>
                <a:gd name="T11" fmla="*/ 2 h 2"/>
                <a:gd name="T12" fmla="*/ 2 w 8"/>
                <a:gd name="T13" fmla="*/ 2 h 2"/>
                <a:gd name="T14" fmla="*/ 8 w 8"/>
                <a:gd name="T15" fmla="*/ 0 h 2"/>
                <a:gd name="T16" fmla="*/ 7 w 8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4" y="2"/>
                    <a:pt x="7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31" name="Freeform 45"/>
            <p:cNvSpPr>
              <a:spLocks/>
            </p:cNvSpPr>
            <p:nvPr/>
          </p:nvSpPr>
          <p:spPr bwMode="auto">
            <a:xfrm>
              <a:off x="3069430" y="2732088"/>
              <a:ext cx="26988" cy="20638"/>
            </a:xfrm>
            <a:custGeom>
              <a:avLst/>
              <a:gdLst>
                <a:gd name="T0" fmla="*/ 2 w 4"/>
                <a:gd name="T1" fmla="*/ 0 h 3"/>
                <a:gd name="T2" fmla="*/ 0 w 4"/>
                <a:gd name="T3" fmla="*/ 1 h 3"/>
                <a:gd name="T4" fmla="*/ 2 w 4"/>
                <a:gd name="T5" fmla="*/ 3 h 3"/>
                <a:gd name="T6" fmla="*/ 4 w 4"/>
                <a:gd name="T7" fmla="*/ 1 h 3"/>
                <a:gd name="T8" fmla="*/ 2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2" y="0"/>
                    <a:pt x="1" y="1"/>
                    <a:pt x="0" y="1"/>
                  </a:cubicBezTo>
                  <a:cubicBezTo>
                    <a:pt x="1" y="1"/>
                    <a:pt x="2" y="2"/>
                    <a:pt x="2" y="3"/>
                  </a:cubicBezTo>
                  <a:cubicBezTo>
                    <a:pt x="3" y="3"/>
                    <a:pt x="4" y="2"/>
                    <a:pt x="4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32" name="Freeform 46"/>
            <p:cNvSpPr>
              <a:spLocks/>
            </p:cNvSpPr>
            <p:nvPr/>
          </p:nvSpPr>
          <p:spPr bwMode="auto">
            <a:xfrm>
              <a:off x="2951955" y="2787651"/>
              <a:ext cx="34925" cy="20638"/>
            </a:xfrm>
            <a:custGeom>
              <a:avLst/>
              <a:gdLst>
                <a:gd name="T0" fmla="*/ 4 w 5"/>
                <a:gd name="T1" fmla="*/ 0 h 3"/>
                <a:gd name="T2" fmla="*/ 0 w 5"/>
                <a:gd name="T3" fmla="*/ 2 h 3"/>
                <a:gd name="T4" fmla="*/ 1 w 5"/>
                <a:gd name="T5" fmla="*/ 3 h 3"/>
                <a:gd name="T6" fmla="*/ 4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4" y="0"/>
                  </a:moveTo>
                  <a:cubicBezTo>
                    <a:pt x="3" y="1"/>
                    <a:pt x="1" y="1"/>
                    <a:pt x="0" y="2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2" y="3"/>
                    <a:pt x="5" y="1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33" name="Freeform 47"/>
            <p:cNvSpPr>
              <a:spLocks/>
            </p:cNvSpPr>
            <p:nvPr/>
          </p:nvSpPr>
          <p:spPr bwMode="auto">
            <a:xfrm>
              <a:off x="2966243" y="2808288"/>
              <a:ext cx="26988" cy="14288"/>
            </a:xfrm>
            <a:custGeom>
              <a:avLst/>
              <a:gdLst>
                <a:gd name="T0" fmla="*/ 3 w 4"/>
                <a:gd name="T1" fmla="*/ 0 h 2"/>
                <a:gd name="T2" fmla="*/ 0 w 4"/>
                <a:gd name="T3" fmla="*/ 2 h 2"/>
                <a:gd name="T4" fmla="*/ 1 w 4"/>
                <a:gd name="T5" fmla="*/ 2 h 2"/>
                <a:gd name="T6" fmla="*/ 4 w 4"/>
                <a:gd name="T7" fmla="*/ 0 h 2"/>
                <a:gd name="T8" fmla="*/ 3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1" y="0"/>
                    <a:pt x="1" y="1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2" y="2"/>
                    <a:pt x="3" y="1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34" name="Freeform 48"/>
            <p:cNvSpPr>
              <a:spLocks/>
            </p:cNvSpPr>
            <p:nvPr/>
          </p:nvSpPr>
          <p:spPr bwMode="auto">
            <a:xfrm>
              <a:off x="3748880" y="2911476"/>
              <a:ext cx="33338" cy="20638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1 h 3"/>
                <a:gd name="T6" fmla="*/ 1 w 5"/>
                <a:gd name="T7" fmla="*/ 0 h 3"/>
                <a:gd name="T8" fmla="*/ 3 w 5"/>
                <a:gd name="T9" fmla="*/ 3 h 3"/>
                <a:gd name="T10" fmla="*/ 4 w 5"/>
                <a:gd name="T11" fmla="*/ 1 h 3"/>
                <a:gd name="T12" fmla="*/ 3 w 5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0" y="2"/>
                    <a:pt x="1" y="3"/>
                    <a:pt x="3" y="3"/>
                  </a:cubicBezTo>
                  <a:cubicBezTo>
                    <a:pt x="4" y="3"/>
                    <a:pt x="5" y="2"/>
                    <a:pt x="4" y="1"/>
                  </a:cubicBezTo>
                  <a:cubicBezTo>
                    <a:pt x="4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35" name="Freeform 49"/>
            <p:cNvSpPr>
              <a:spLocks/>
            </p:cNvSpPr>
            <p:nvPr/>
          </p:nvSpPr>
          <p:spPr bwMode="auto">
            <a:xfrm>
              <a:off x="3494880" y="2967038"/>
              <a:ext cx="33338" cy="20638"/>
            </a:xfrm>
            <a:custGeom>
              <a:avLst/>
              <a:gdLst>
                <a:gd name="T0" fmla="*/ 2 w 5"/>
                <a:gd name="T1" fmla="*/ 0 h 3"/>
                <a:gd name="T2" fmla="*/ 1 w 5"/>
                <a:gd name="T3" fmla="*/ 0 h 3"/>
                <a:gd name="T4" fmla="*/ 2 w 5"/>
                <a:gd name="T5" fmla="*/ 3 h 3"/>
                <a:gd name="T6" fmla="*/ 5 w 5"/>
                <a:gd name="T7" fmla="*/ 1 h 3"/>
                <a:gd name="T8" fmla="*/ 4 w 5"/>
                <a:gd name="T9" fmla="*/ 1 h 3"/>
                <a:gd name="T10" fmla="*/ 3 w 5"/>
                <a:gd name="T11" fmla="*/ 0 h 3"/>
                <a:gd name="T12" fmla="*/ 2 w 5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2" y="2"/>
                    <a:pt x="0" y="2"/>
                    <a:pt x="2" y="3"/>
                  </a:cubicBezTo>
                  <a:cubicBezTo>
                    <a:pt x="2" y="2"/>
                    <a:pt x="5" y="3"/>
                    <a:pt x="5" y="1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4" y="1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36" name="Freeform 50"/>
            <p:cNvSpPr>
              <a:spLocks/>
            </p:cNvSpPr>
            <p:nvPr/>
          </p:nvSpPr>
          <p:spPr bwMode="auto">
            <a:xfrm>
              <a:off x="4717255" y="3063876"/>
              <a:ext cx="41275" cy="26988"/>
            </a:xfrm>
            <a:custGeom>
              <a:avLst/>
              <a:gdLst>
                <a:gd name="T0" fmla="*/ 1 w 6"/>
                <a:gd name="T1" fmla="*/ 0 h 4"/>
                <a:gd name="T2" fmla="*/ 0 w 6"/>
                <a:gd name="T3" fmla="*/ 0 h 4"/>
                <a:gd name="T4" fmla="*/ 4 w 6"/>
                <a:gd name="T5" fmla="*/ 4 h 4"/>
                <a:gd name="T6" fmla="*/ 6 w 6"/>
                <a:gd name="T7" fmla="*/ 2 h 4"/>
                <a:gd name="T8" fmla="*/ 1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1" y="2"/>
                    <a:pt x="3" y="3"/>
                    <a:pt x="4" y="4"/>
                  </a:cubicBezTo>
                  <a:cubicBezTo>
                    <a:pt x="4" y="2"/>
                    <a:pt x="5" y="2"/>
                    <a:pt x="6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37" name="Freeform 51"/>
            <p:cNvSpPr>
              <a:spLocks/>
            </p:cNvSpPr>
            <p:nvPr/>
          </p:nvSpPr>
          <p:spPr bwMode="auto">
            <a:xfrm>
              <a:off x="3486943" y="3090863"/>
              <a:ext cx="28575" cy="41275"/>
            </a:xfrm>
            <a:custGeom>
              <a:avLst/>
              <a:gdLst>
                <a:gd name="T0" fmla="*/ 3 w 4"/>
                <a:gd name="T1" fmla="*/ 0 h 6"/>
                <a:gd name="T2" fmla="*/ 2 w 4"/>
                <a:gd name="T3" fmla="*/ 6 h 6"/>
                <a:gd name="T4" fmla="*/ 4 w 4"/>
                <a:gd name="T5" fmla="*/ 0 h 6"/>
                <a:gd name="T6" fmla="*/ 3 w 4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cubicBezTo>
                    <a:pt x="0" y="0"/>
                    <a:pt x="0" y="5"/>
                    <a:pt x="2" y="6"/>
                  </a:cubicBezTo>
                  <a:cubicBezTo>
                    <a:pt x="3" y="5"/>
                    <a:pt x="2" y="2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38" name="Freeform 52"/>
            <p:cNvSpPr>
              <a:spLocks/>
            </p:cNvSpPr>
            <p:nvPr/>
          </p:nvSpPr>
          <p:spPr bwMode="auto">
            <a:xfrm>
              <a:off x="2842418" y="3284538"/>
              <a:ext cx="61913" cy="26988"/>
            </a:xfrm>
            <a:custGeom>
              <a:avLst/>
              <a:gdLst>
                <a:gd name="T0" fmla="*/ 2 w 9"/>
                <a:gd name="T1" fmla="*/ 0 h 4"/>
                <a:gd name="T2" fmla="*/ 0 w 9"/>
                <a:gd name="T3" fmla="*/ 1 h 4"/>
                <a:gd name="T4" fmla="*/ 1 w 9"/>
                <a:gd name="T5" fmla="*/ 1 h 4"/>
                <a:gd name="T6" fmla="*/ 4 w 9"/>
                <a:gd name="T7" fmla="*/ 2 h 4"/>
                <a:gd name="T8" fmla="*/ 7 w 9"/>
                <a:gd name="T9" fmla="*/ 4 h 4"/>
                <a:gd name="T10" fmla="*/ 9 w 9"/>
                <a:gd name="T11" fmla="*/ 3 h 4"/>
                <a:gd name="T12" fmla="*/ 9 w 9"/>
                <a:gd name="T13" fmla="*/ 3 h 4"/>
                <a:gd name="T14" fmla="*/ 5 w 9"/>
                <a:gd name="T15" fmla="*/ 2 h 4"/>
                <a:gd name="T16" fmla="*/ 2 w 9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4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3" y="1"/>
                    <a:pt x="4" y="2"/>
                  </a:cubicBezTo>
                  <a:cubicBezTo>
                    <a:pt x="5" y="3"/>
                    <a:pt x="6" y="4"/>
                    <a:pt x="7" y="4"/>
                  </a:cubicBezTo>
                  <a:cubicBezTo>
                    <a:pt x="8" y="4"/>
                    <a:pt x="8" y="4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3"/>
                    <a:pt x="6" y="3"/>
                    <a:pt x="5" y="2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39" name="Freeform 53"/>
            <p:cNvSpPr>
              <a:spLocks/>
            </p:cNvSpPr>
            <p:nvPr/>
          </p:nvSpPr>
          <p:spPr bwMode="auto">
            <a:xfrm>
              <a:off x="2910680" y="3317876"/>
              <a:ext cx="26988" cy="14288"/>
            </a:xfrm>
            <a:custGeom>
              <a:avLst/>
              <a:gdLst>
                <a:gd name="T0" fmla="*/ 3 w 4"/>
                <a:gd name="T1" fmla="*/ 0 h 2"/>
                <a:gd name="T2" fmla="*/ 2 w 4"/>
                <a:gd name="T3" fmla="*/ 1 h 2"/>
                <a:gd name="T4" fmla="*/ 2 w 4"/>
                <a:gd name="T5" fmla="*/ 1 h 2"/>
                <a:gd name="T6" fmla="*/ 3 w 4"/>
                <a:gd name="T7" fmla="*/ 1 h 2"/>
                <a:gd name="T8" fmla="*/ 4 w 4"/>
                <a:gd name="T9" fmla="*/ 2 h 2"/>
                <a:gd name="T10" fmla="*/ 4 w 4"/>
                <a:gd name="T11" fmla="*/ 2 h 2"/>
                <a:gd name="T12" fmla="*/ 4 w 4"/>
                <a:gd name="T13" fmla="*/ 0 h 2"/>
                <a:gd name="T14" fmla="*/ 3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2" y="0"/>
                    <a:pt x="0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4" y="0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40" name="Freeform 54"/>
            <p:cNvSpPr>
              <a:spLocks/>
            </p:cNvSpPr>
            <p:nvPr/>
          </p:nvSpPr>
          <p:spPr bwMode="auto">
            <a:xfrm>
              <a:off x="4628355" y="3332163"/>
              <a:ext cx="33338" cy="41275"/>
            </a:xfrm>
            <a:custGeom>
              <a:avLst/>
              <a:gdLst>
                <a:gd name="T0" fmla="*/ 2 w 5"/>
                <a:gd name="T1" fmla="*/ 0 h 6"/>
                <a:gd name="T2" fmla="*/ 3 w 5"/>
                <a:gd name="T3" fmla="*/ 6 h 6"/>
                <a:gd name="T4" fmla="*/ 2 w 5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0" y="1"/>
                    <a:pt x="1" y="6"/>
                    <a:pt x="3" y="6"/>
                  </a:cubicBezTo>
                  <a:cubicBezTo>
                    <a:pt x="1" y="4"/>
                    <a:pt x="5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41" name="Freeform 55"/>
            <p:cNvSpPr>
              <a:spLocks/>
            </p:cNvSpPr>
            <p:nvPr/>
          </p:nvSpPr>
          <p:spPr bwMode="auto">
            <a:xfrm>
              <a:off x="4277518" y="3422651"/>
              <a:ext cx="20638" cy="333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3 h 5"/>
                <a:gd name="T4" fmla="*/ 2 w 3"/>
                <a:gd name="T5" fmla="*/ 5 h 5"/>
                <a:gd name="T6" fmla="*/ 2 w 3"/>
                <a:gd name="T7" fmla="*/ 5 h 5"/>
                <a:gd name="T8" fmla="*/ 2 w 3"/>
                <a:gd name="T9" fmla="*/ 0 h 5"/>
                <a:gd name="T10" fmla="*/ 1 w 3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4"/>
                    <a:pt x="2" y="2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42" name="Freeform 56"/>
            <p:cNvSpPr>
              <a:spLocks/>
            </p:cNvSpPr>
            <p:nvPr/>
          </p:nvSpPr>
          <p:spPr bwMode="auto">
            <a:xfrm>
              <a:off x="4675980" y="3429001"/>
              <a:ext cx="20638" cy="20638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1 h 3"/>
                <a:gd name="T4" fmla="*/ 1 w 3"/>
                <a:gd name="T5" fmla="*/ 3 h 3"/>
                <a:gd name="T6" fmla="*/ 3 w 3"/>
                <a:gd name="T7" fmla="*/ 1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2"/>
                    <a:pt x="3" y="3"/>
                    <a:pt x="3" y="1"/>
                  </a:cubicBezTo>
                  <a:cubicBezTo>
                    <a:pt x="2" y="1"/>
                    <a:pt x="2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43" name="Freeform 57"/>
            <p:cNvSpPr>
              <a:spLocks/>
            </p:cNvSpPr>
            <p:nvPr/>
          </p:nvSpPr>
          <p:spPr bwMode="auto">
            <a:xfrm>
              <a:off x="4599780" y="3449638"/>
              <a:ext cx="28575" cy="20638"/>
            </a:xfrm>
            <a:custGeom>
              <a:avLst/>
              <a:gdLst>
                <a:gd name="T0" fmla="*/ 2 w 4"/>
                <a:gd name="T1" fmla="*/ 0 h 3"/>
                <a:gd name="T2" fmla="*/ 0 w 4"/>
                <a:gd name="T3" fmla="*/ 3 h 3"/>
                <a:gd name="T4" fmla="*/ 0 w 4"/>
                <a:gd name="T5" fmla="*/ 3 h 3"/>
                <a:gd name="T6" fmla="*/ 1 w 4"/>
                <a:gd name="T7" fmla="*/ 3 h 3"/>
                <a:gd name="T8" fmla="*/ 2 w 4"/>
                <a:gd name="T9" fmla="*/ 3 h 3"/>
                <a:gd name="T10" fmla="*/ 4 w 4"/>
                <a:gd name="T11" fmla="*/ 2 h 3"/>
                <a:gd name="T12" fmla="*/ 3 w 4"/>
                <a:gd name="T13" fmla="*/ 2 h 3"/>
                <a:gd name="T14" fmla="*/ 2 w 4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2" y="2"/>
                    <a:pt x="0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3" y="3"/>
                    <a:pt x="4" y="3"/>
                    <a:pt x="4" y="2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2" y="2"/>
                    <a:pt x="2" y="1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44" name="Freeform 58"/>
            <p:cNvSpPr>
              <a:spLocks/>
            </p:cNvSpPr>
            <p:nvPr/>
          </p:nvSpPr>
          <p:spPr bwMode="auto">
            <a:xfrm>
              <a:off x="4421980" y="3463926"/>
              <a:ext cx="88900" cy="109538"/>
            </a:xfrm>
            <a:custGeom>
              <a:avLst/>
              <a:gdLst>
                <a:gd name="T0" fmla="*/ 0 w 13"/>
                <a:gd name="T1" fmla="*/ 0 h 16"/>
                <a:gd name="T2" fmla="*/ 13 w 13"/>
                <a:gd name="T3" fmla="*/ 16 h 16"/>
                <a:gd name="T4" fmla="*/ 0 w 13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cubicBezTo>
                    <a:pt x="5" y="4"/>
                    <a:pt x="6" y="14"/>
                    <a:pt x="13" y="16"/>
                  </a:cubicBezTo>
                  <a:cubicBezTo>
                    <a:pt x="12" y="8"/>
                    <a:pt x="6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45" name="Freeform 59"/>
            <p:cNvSpPr>
              <a:spLocks/>
            </p:cNvSpPr>
            <p:nvPr/>
          </p:nvSpPr>
          <p:spPr bwMode="auto">
            <a:xfrm>
              <a:off x="4744243" y="3525838"/>
              <a:ext cx="26988" cy="12700"/>
            </a:xfrm>
            <a:custGeom>
              <a:avLst/>
              <a:gdLst>
                <a:gd name="T0" fmla="*/ 2 w 4"/>
                <a:gd name="T1" fmla="*/ 0 h 2"/>
                <a:gd name="T2" fmla="*/ 0 w 4"/>
                <a:gd name="T3" fmla="*/ 1 h 2"/>
                <a:gd name="T4" fmla="*/ 3 w 4"/>
                <a:gd name="T5" fmla="*/ 2 h 2"/>
                <a:gd name="T6" fmla="*/ 4 w 4"/>
                <a:gd name="T7" fmla="*/ 2 h 2"/>
                <a:gd name="T8" fmla="*/ 2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2" y="2"/>
                    <a:pt x="3" y="2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4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46" name="Freeform 60"/>
            <p:cNvSpPr>
              <a:spLocks/>
            </p:cNvSpPr>
            <p:nvPr/>
          </p:nvSpPr>
          <p:spPr bwMode="auto">
            <a:xfrm>
              <a:off x="4188618" y="4186238"/>
              <a:ext cx="47625" cy="0"/>
            </a:xfrm>
            <a:custGeom>
              <a:avLst/>
              <a:gdLst>
                <a:gd name="T0" fmla="*/ 4 w 7"/>
                <a:gd name="T1" fmla="*/ 0 w 7"/>
                <a:gd name="T2" fmla="*/ 7 w 7"/>
                <a:gd name="T3" fmla="*/ 4 w 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7">
                  <a:moveTo>
                    <a:pt x="4" y="0"/>
                  </a:moveTo>
                  <a:cubicBezTo>
                    <a:pt x="2" y="0"/>
                    <a:pt x="0" y="0"/>
                    <a:pt x="0" y="0"/>
                  </a:cubicBezTo>
                  <a:cubicBezTo>
                    <a:pt x="2" y="0"/>
                    <a:pt x="5" y="0"/>
                    <a:pt x="7" y="0"/>
                  </a:cubicBezTo>
                  <a:cubicBezTo>
                    <a:pt x="7" y="0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47" name="Freeform 62"/>
            <p:cNvSpPr>
              <a:spLocks/>
            </p:cNvSpPr>
            <p:nvPr/>
          </p:nvSpPr>
          <p:spPr bwMode="auto">
            <a:xfrm>
              <a:off x="3191668" y="2725738"/>
              <a:ext cx="282575" cy="173038"/>
            </a:xfrm>
            <a:custGeom>
              <a:avLst/>
              <a:gdLst>
                <a:gd name="T0" fmla="*/ 37 w 41"/>
                <a:gd name="T1" fmla="*/ 0 h 25"/>
                <a:gd name="T2" fmla="*/ 34 w 41"/>
                <a:gd name="T3" fmla="*/ 1 h 25"/>
                <a:gd name="T4" fmla="*/ 24 w 41"/>
                <a:gd name="T5" fmla="*/ 0 h 25"/>
                <a:gd name="T6" fmla="*/ 0 w 41"/>
                <a:gd name="T7" fmla="*/ 4 h 25"/>
                <a:gd name="T8" fmla="*/ 1 w 41"/>
                <a:gd name="T9" fmla="*/ 4 h 25"/>
                <a:gd name="T10" fmla="*/ 2 w 41"/>
                <a:gd name="T11" fmla="*/ 6 h 25"/>
                <a:gd name="T12" fmla="*/ 3 w 41"/>
                <a:gd name="T13" fmla="*/ 6 h 25"/>
                <a:gd name="T14" fmla="*/ 5 w 41"/>
                <a:gd name="T15" fmla="*/ 6 h 25"/>
                <a:gd name="T16" fmla="*/ 7 w 41"/>
                <a:gd name="T17" fmla="*/ 6 h 25"/>
                <a:gd name="T18" fmla="*/ 7 w 41"/>
                <a:gd name="T19" fmla="*/ 6 h 25"/>
                <a:gd name="T20" fmla="*/ 6 w 41"/>
                <a:gd name="T21" fmla="*/ 19 h 25"/>
                <a:gd name="T22" fmla="*/ 8 w 41"/>
                <a:gd name="T23" fmla="*/ 25 h 25"/>
                <a:gd name="T24" fmla="*/ 9 w 41"/>
                <a:gd name="T25" fmla="*/ 25 h 25"/>
                <a:gd name="T26" fmla="*/ 11 w 41"/>
                <a:gd name="T27" fmla="*/ 25 h 25"/>
                <a:gd name="T28" fmla="*/ 33 w 41"/>
                <a:gd name="T29" fmla="*/ 14 h 25"/>
                <a:gd name="T30" fmla="*/ 33 w 41"/>
                <a:gd name="T31" fmla="*/ 14 h 25"/>
                <a:gd name="T32" fmla="*/ 32 w 41"/>
                <a:gd name="T33" fmla="*/ 14 h 25"/>
                <a:gd name="T34" fmla="*/ 31 w 41"/>
                <a:gd name="T35" fmla="*/ 14 h 25"/>
                <a:gd name="T36" fmla="*/ 30 w 41"/>
                <a:gd name="T37" fmla="*/ 13 h 25"/>
                <a:gd name="T38" fmla="*/ 32 w 41"/>
                <a:gd name="T39" fmla="*/ 11 h 25"/>
                <a:gd name="T40" fmla="*/ 36 w 41"/>
                <a:gd name="T41" fmla="*/ 13 h 25"/>
                <a:gd name="T42" fmla="*/ 32 w 41"/>
                <a:gd name="T43" fmla="*/ 9 h 25"/>
                <a:gd name="T44" fmla="*/ 35 w 41"/>
                <a:gd name="T45" fmla="*/ 9 h 25"/>
                <a:gd name="T46" fmla="*/ 37 w 41"/>
                <a:gd name="T47" fmla="*/ 9 h 25"/>
                <a:gd name="T48" fmla="*/ 41 w 41"/>
                <a:gd name="T49" fmla="*/ 2 h 25"/>
                <a:gd name="T50" fmla="*/ 41 w 41"/>
                <a:gd name="T51" fmla="*/ 2 h 25"/>
                <a:gd name="T52" fmla="*/ 37 w 41"/>
                <a:gd name="T5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1" h="25">
                  <a:moveTo>
                    <a:pt x="37" y="0"/>
                  </a:moveTo>
                  <a:cubicBezTo>
                    <a:pt x="35" y="0"/>
                    <a:pt x="33" y="0"/>
                    <a:pt x="34" y="1"/>
                  </a:cubicBezTo>
                  <a:cubicBezTo>
                    <a:pt x="31" y="1"/>
                    <a:pt x="28" y="0"/>
                    <a:pt x="24" y="0"/>
                  </a:cubicBezTo>
                  <a:cubicBezTo>
                    <a:pt x="16" y="0"/>
                    <a:pt x="6" y="2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4"/>
                    <a:pt x="3" y="5"/>
                    <a:pt x="2" y="6"/>
                  </a:cubicBezTo>
                  <a:cubicBezTo>
                    <a:pt x="2" y="6"/>
                    <a:pt x="3" y="6"/>
                    <a:pt x="3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9" y="11"/>
                    <a:pt x="12" y="16"/>
                    <a:pt x="6" y="19"/>
                  </a:cubicBezTo>
                  <a:cubicBezTo>
                    <a:pt x="9" y="20"/>
                    <a:pt x="4" y="24"/>
                    <a:pt x="8" y="25"/>
                  </a:cubicBezTo>
                  <a:cubicBezTo>
                    <a:pt x="8" y="25"/>
                    <a:pt x="8" y="25"/>
                    <a:pt x="9" y="25"/>
                  </a:cubicBezTo>
                  <a:cubicBezTo>
                    <a:pt x="9" y="25"/>
                    <a:pt x="10" y="25"/>
                    <a:pt x="11" y="25"/>
                  </a:cubicBezTo>
                  <a:cubicBezTo>
                    <a:pt x="16" y="17"/>
                    <a:pt x="25" y="18"/>
                    <a:pt x="33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0" y="14"/>
                    <a:pt x="30" y="14"/>
                    <a:pt x="30" y="13"/>
                  </a:cubicBezTo>
                  <a:cubicBezTo>
                    <a:pt x="31" y="13"/>
                    <a:pt x="31" y="11"/>
                    <a:pt x="32" y="11"/>
                  </a:cubicBezTo>
                  <a:cubicBezTo>
                    <a:pt x="33" y="11"/>
                    <a:pt x="34" y="12"/>
                    <a:pt x="36" y="13"/>
                  </a:cubicBezTo>
                  <a:cubicBezTo>
                    <a:pt x="36" y="10"/>
                    <a:pt x="32" y="12"/>
                    <a:pt x="32" y="9"/>
                  </a:cubicBezTo>
                  <a:cubicBezTo>
                    <a:pt x="34" y="9"/>
                    <a:pt x="34" y="9"/>
                    <a:pt x="35" y="9"/>
                  </a:cubicBezTo>
                  <a:cubicBezTo>
                    <a:pt x="35" y="9"/>
                    <a:pt x="36" y="9"/>
                    <a:pt x="37" y="9"/>
                  </a:cubicBezTo>
                  <a:cubicBezTo>
                    <a:pt x="38" y="6"/>
                    <a:pt x="40" y="4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0"/>
                    <a:pt x="39" y="0"/>
                    <a:pt x="3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48" name="Freeform 63"/>
            <p:cNvSpPr>
              <a:spLocks/>
            </p:cNvSpPr>
            <p:nvPr/>
          </p:nvSpPr>
          <p:spPr bwMode="auto">
            <a:xfrm>
              <a:off x="3432968" y="2857501"/>
              <a:ext cx="53975" cy="20638"/>
            </a:xfrm>
            <a:custGeom>
              <a:avLst/>
              <a:gdLst>
                <a:gd name="T0" fmla="*/ 5 w 8"/>
                <a:gd name="T1" fmla="*/ 0 h 3"/>
                <a:gd name="T2" fmla="*/ 0 w 8"/>
                <a:gd name="T3" fmla="*/ 2 h 3"/>
                <a:gd name="T4" fmla="*/ 2 w 8"/>
                <a:gd name="T5" fmla="*/ 3 h 3"/>
                <a:gd name="T6" fmla="*/ 8 w 8"/>
                <a:gd name="T7" fmla="*/ 2 h 3"/>
                <a:gd name="T8" fmla="*/ 5 w 8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5" y="0"/>
                  </a:moveTo>
                  <a:cubicBezTo>
                    <a:pt x="3" y="0"/>
                    <a:pt x="0" y="1"/>
                    <a:pt x="0" y="2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4" y="3"/>
                    <a:pt x="5" y="2"/>
                    <a:pt x="8" y="2"/>
                  </a:cubicBezTo>
                  <a:cubicBezTo>
                    <a:pt x="8" y="0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49" name="Freeform 64"/>
            <p:cNvSpPr>
              <a:spLocks/>
            </p:cNvSpPr>
            <p:nvPr/>
          </p:nvSpPr>
          <p:spPr bwMode="auto">
            <a:xfrm>
              <a:off x="3447255" y="3414713"/>
              <a:ext cx="19050" cy="28575"/>
            </a:xfrm>
            <a:custGeom>
              <a:avLst/>
              <a:gdLst>
                <a:gd name="T0" fmla="*/ 1 w 3"/>
                <a:gd name="T1" fmla="*/ 0 h 4"/>
                <a:gd name="T2" fmla="*/ 0 w 3"/>
                <a:gd name="T3" fmla="*/ 1 h 4"/>
                <a:gd name="T4" fmla="*/ 1 w 3"/>
                <a:gd name="T5" fmla="*/ 4 h 4"/>
                <a:gd name="T6" fmla="*/ 1 w 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2" y="3"/>
                    <a:pt x="3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50" name="Freeform 65"/>
            <p:cNvSpPr>
              <a:spLocks/>
            </p:cNvSpPr>
            <p:nvPr/>
          </p:nvSpPr>
          <p:spPr bwMode="auto">
            <a:xfrm>
              <a:off x="4537868" y="3476626"/>
              <a:ext cx="90488" cy="76200"/>
            </a:xfrm>
            <a:custGeom>
              <a:avLst/>
              <a:gdLst>
                <a:gd name="T0" fmla="*/ 8 w 13"/>
                <a:gd name="T1" fmla="*/ 0 h 11"/>
                <a:gd name="T2" fmla="*/ 5 w 13"/>
                <a:gd name="T3" fmla="*/ 2 h 11"/>
                <a:gd name="T4" fmla="*/ 2 w 13"/>
                <a:gd name="T5" fmla="*/ 5 h 11"/>
                <a:gd name="T6" fmla="*/ 1 w 13"/>
                <a:gd name="T7" fmla="*/ 4 h 11"/>
                <a:gd name="T8" fmla="*/ 2 w 13"/>
                <a:gd name="T9" fmla="*/ 10 h 11"/>
                <a:gd name="T10" fmla="*/ 10 w 13"/>
                <a:gd name="T11" fmla="*/ 11 h 11"/>
                <a:gd name="T12" fmla="*/ 13 w 13"/>
                <a:gd name="T13" fmla="*/ 4 h 11"/>
                <a:gd name="T14" fmla="*/ 11 w 13"/>
                <a:gd name="T15" fmla="*/ 0 h 11"/>
                <a:gd name="T16" fmla="*/ 11 w 13"/>
                <a:gd name="T17" fmla="*/ 0 h 11"/>
                <a:gd name="T18" fmla="*/ 9 w 13"/>
                <a:gd name="T19" fmla="*/ 3 h 11"/>
                <a:gd name="T20" fmla="*/ 9 w 13"/>
                <a:gd name="T21" fmla="*/ 0 h 11"/>
                <a:gd name="T22" fmla="*/ 8 w 13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1">
                  <a:moveTo>
                    <a:pt x="8" y="0"/>
                  </a:moveTo>
                  <a:cubicBezTo>
                    <a:pt x="7" y="0"/>
                    <a:pt x="6" y="1"/>
                    <a:pt x="5" y="2"/>
                  </a:cubicBezTo>
                  <a:cubicBezTo>
                    <a:pt x="4" y="3"/>
                    <a:pt x="3" y="5"/>
                    <a:pt x="2" y="5"/>
                  </a:cubicBezTo>
                  <a:cubicBezTo>
                    <a:pt x="2" y="5"/>
                    <a:pt x="2" y="4"/>
                    <a:pt x="1" y="4"/>
                  </a:cubicBezTo>
                  <a:cubicBezTo>
                    <a:pt x="0" y="7"/>
                    <a:pt x="3" y="7"/>
                    <a:pt x="2" y="10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9" y="7"/>
                    <a:pt x="12" y="6"/>
                    <a:pt x="13" y="4"/>
                  </a:cubicBezTo>
                  <a:cubicBezTo>
                    <a:pt x="12" y="3"/>
                    <a:pt x="12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9" y="0"/>
                    <a:pt x="10" y="2"/>
                    <a:pt x="9" y="3"/>
                  </a:cubicBezTo>
                  <a:cubicBezTo>
                    <a:pt x="8" y="1"/>
                    <a:pt x="11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51" name="Freeform 66"/>
            <p:cNvSpPr>
              <a:spLocks/>
            </p:cNvSpPr>
            <p:nvPr/>
          </p:nvSpPr>
          <p:spPr bwMode="auto">
            <a:xfrm>
              <a:off x="3940968" y="3656013"/>
              <a:ext cx="68263" cy="123825"/>
            </a:xfrm>
            <a:custGeom>
              <a:avLst/>
              <a:gdLst>
                <a:gd name="T0" fmla="*/ 9 w 10"/>
                <a:gd name="T1" fmla="*/ 0 h 18"/>
                <a:gd name="T2" fmla="*/ 4 w 10"/>
                <a:gd name="T3" fmla="*/ 4 h 18"/>
                <a:gd name="T4" fmla="*/ 3 w 10"/>
                <a:gd name="T5" fmla="*/ 4 h 18"/>
                <a:gd name="T6" fmla="*/ 1 w 10"/>
                <a:gd name="T7" fmla="*/ 17 h 18"/>
                <a:gd name="T8" fmla="*/ 1 w 10"/>
                <a:gd name="T9" fmla="*/ 17 h 18"/>
                <a:gd name="T10" fmla="*/ 3 w 10"/>
                <a:gd name="T11" fmla="*/ 18 h 18"/>
                <a:gd name="T12" fmla="*/ 10 w 10"/>
                <a:gd name="T13" fmla="*/ 2 h 18"/>
                <a:gd name="T14" fmla="*/ 9 w 10"/>
                <a:gd name="T1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8">
                  <a:moveTo>
                    <a:pt x="9" y="0"/>
                  </a:moveTo>
                  <a:cubicBezTo>
                    <a:pt x="7" y="1"/>
                    <a:pt x="6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9"/>
                    <a:pt x="0" y="12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2" y="17"/>
                    <a:pt x="3" y="17"/>
                    <a:pt x="3" y="18"/>
                  </a:cubicBezTo>
                  <a:cubicBezTo>
                    <a:pt x="7" y="14"/>
                    <a:pt x="7" y="7"/>
                    <a:pt x="10" y="2"/>
                  </a:cubicBezTo>
                  <a:cubicBezTo>
                    <a:pt x="10" y="1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</p:grpSp>
      <p:sp>
        <p:nvSpPr>
          <p:cNvPr id="53" name="Freeform 16"/>
          <p:cNvSpPr>
            <a:spLocks/>
          </p:cNvSpPr>
          <p:nvPr/>
        </p:nvSpPr>
        <p:spPr bwMode="auto">
          <a:xfrm>
            <a:off x="3507373" y="2557537"/>
            <a:ext cx="2129255" cy="2584795"/>
          </a:xfrm>
          <a:custGeom>
            <a:avLst/>
            <a:gdLst>
              <a:gd name="T0" fmla="*/ 22 w 338"/>
              <a:gd name="T1" fmla="*/ 184 h 411"/>
              <a:gd name="T2" fmla="*/ 20 w 338"/>
              <a:gd name="T3" fmla="*/ 77 h 411"/>
              <a:gd name="T4" fmla="*/ 150 w 338"/>
              <a:gd name="T5" fmla="*/ 0 h 411"/>
              <a:gd name="T6" fmla="*/ 288 w 338"/>
              <a:gd name="T7" fmla="*/ 84 h 411"/>
              <a:gd name="T8" fmla="*/ 303 w 338"/>
              <a:gd name="T9" fmla="*/ 143 h 411"/>
              <a:gd name="T10" fmla="*/ 302 w 338"/>
              <a:gd name="T11" fmla="*/ 169 h 411"/>
              <a:gd name="T12" fmla="*/ 334 w 338"/>
              <a:gd name="T13" fmla="*/ 211 h 411"/>
              <a:gd name="T14" fmla="*/ 330 w 338"/>
              <a:gd name="T15" fmla="*/ 222 h 411"/>
              <a:gd name="T16" fmla="*/ 312 w 338"/>
              <a:gd name="T17" fmla="*/ 230 h 411"/>
              <a:gd name="T18" fmla="*/ 312 w 338"/>
              <a:gd name="T19" fmla="*/ 242 h 411"/>
              <a:gd name="T20" fmla="*/ 311 w 338"/>
              <a:gd name="T21" fmla="*/ 257 h 411"/>
              <a:gd name="T22" fmla="*/ 305 w 338"/>
              <a:gd name="T23" fmla="*/ 261 h 411"/>
              <a:gd name="T24" fmla="*/ 306 w 338"/>
              <a:gd name="T25" fmla="*/ 274 h 411"/>
              <a:gd name="T26" fmla="*/ 300 w 338"/>
              <a:gd name="T27" fmla="*/ 289 h 411"/>
              <a:gd name="T28" fmla="*/ 302 w 338"/>
              <a:gd name="T29" fmla="*/ 307 h 411"/>
              <a:gd name="T30" fmla="*/ 279 w 338"/>
              <a:gd name="T31" fmla="*/ 320 h 411"/>
              <a:gd name="T32" fmla="*/ 236 w 338"/>
              <a:gd name="T33" fmla="*/ 320 h 411"/>
              <a:gd name="T34" fmla="*/ 228 w 338"/>
              <a:gd name="T35" fmla="*/ 321 h 411"/>
              <a:gd name="T36" fmla="*/ 214 w 338"/>
              <a:gd name="T37" fmla="*/ 345 h 411"/>
              <a:gd name="T38" fmla="*/ 210 w 338"/>
              <a:gd name="T39" fmla="*/ 371 h 411"/>
              <a:gd name="T40" fmla="*/ 251 w 338"/>
              <a:gd name="T41" fmla="*/ 411 h 411"/>
              <a:gd name="T42" fmla="*/ 28 w 338"/>
              <a:gd name="T43" fmla="*/ 411 h 411"/>
              <a:gd name="T44" fmla="*/ 75 w 338"/>
              <a:gd name="T45" fmla="*/ 317 h 411"/>
              <a:gd name="T46" fmla="*/ 79 w 338"/>
              <a:gd name="T47" fmla="*/ 280 h 411"/>
              <a:gd name="T48" fmla="*/ 65 w 338"/>
              <a:gd name="T49" fmla="*/ 249 h 411"/>
              <a:gd name="T50" fmla="*/ 25 w 338"/>
              <a:gd name="T51" fmla="*/ 190 h 411"/>
              <a:gd name="T52" fmla="*/ 22 w 338"/>
              <a:gd name="T53" fmla="*/ 184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38" h="411">
                <a:moveTo>
                  <a:pt x="22" y="184"/>
                </a:moveTo>
                <a:cubicBezTo>
                  <a:pt x="22" y="184"/>
                  <a:pt x="0" y="132"/>
                  <a:pt x="20" y="77"/>
                </a:cubicBezTo>
                <a:cubicBezTo>
                  <a:pt x="40" y="22"/>
                  <a:pt x="105" y="0"/>
                  <a:pt x="150" y="0"/>
                </a:cubicBezTo>
                <a:cubicBezTo>
                  <a:pt x="195" y="0"/>
                  <a:pt x="255" y="15"/>
                  <a:pt x="288" y="84"/>
                </a:cubicBezTo>
                <a:cubicBezTo>
                  <a:pt x="288" y="84"/>
                  <a:pt x="305" y="123"/>
                  <a:pt x="303" y="143"/>
                </a:cubicBezTo>
                <a:cubicBezTo>
                  <a:pt x="303" y="143"/>
                  <a:pt x="289" y="155"/>
                  <a:pt x="302" y="169"/>
                </a:cubicBezTo>
                <a:cubicBezTo>
                  <a:pt x="314" y="182"/>
                  <a:pt x="334" y="211"/>
                  <a:pt x="334" y="211"/>
                </a:cubicBezTo>
                <a:cubicBezTo>
                  <a:pt x="334" y="211"/>
                  <a:pt x="338" y="219"/>
                  <a:pt x="330" y="222"/>
                </a:cubicBezTo>
                <a:cubicBezTo>
                  <a:pt x="323" y="226"/>
                  <a:pt x="317" y="226"/>
                  <a:pt x="312" y="230"/>
                </a:cubicBezTo>
                <a:cubicBezTo>
                  <a:pt x="307" y="234"/>
                  <a:pt x="306" y="237"/>
                  <a:pt x="312" y="242"/>
                </a:cubicBezTo>
                <a:cubicBezTo>
                  <a:pt x="317" y="247"/>
                  <a:pt x="315" y="254"/>
                  <a:pt x="311" y="257"/>
                </a:cubicBezTo>
                <a:cubicBezTo>
                  <a:pt x="307" y="260"/>
                  <a:pt x="305" y="261"/>
                  <a:pt x="305" y="261"/>
                </a:cubicBezTo>
                <a:cubicBezTo>
                  <a:pt x="305" y="261"/>
                  <a:pt x="314" y="267"/>
                  <a:pt x="306" y="274"/>
                </a:cubicBezTo>
                <a:cubicBezTo>
                  <a:pt x="298" y="281"/>
                  <a:pt x="300" y="285"/>
                  <a:pt x="300" y="289"/>
                </a:cubicBezTo>
                <a:cubicBezTo>
                  <a:pt x="301" y="294"/>
                  <a:pt x="305" y="301"/>
                  <a:pt x="302" y="307"/>
                </a:cubicBezTo>
                <a:cubicBezTo>
                  <a:pt x="299" y="313"/>
                  <a:pt x="294" y="318"/>
                  <a:pt x="279" y="320"/>
                </a:cubicBezTo>
                <a:cubicBezTo>
                  <a:pt x="279" y="320"/>
                  <a:pt x="245" y="318"/>
                  <a:pt x="236" y="320"/>
                </a:cubicBezTo>
                <a:cubicBezTo>
                  <a:pt x="229" y="321"/>
                  <a:pt x="228" y="321"/>
                  <a:pt x="228" y="321"/>
                </a:cubicBezTo>
                <a:cubicBezTo>
                  <a:pt x="228" y="321"/>
                  <a:pt x="217" y="327"/>
                  <a:pt x="214" y="345"/>
                </a:cubicBezTo>
                <a:cubicBezTo>
                  <a:pt x="211" y="363"/>
                  <a:pt x="210" y="371"/>
                  <a:pt x="210" y="371"/>
                </a:cubicBezTo>
                <a:cubicBezTo>
                  <a:pt x="210" y="371"/>
                  <a:pt x="210" y="388"/>
                  <a:pt x="251" y="411"/>
                </a:cubicBezTo>
                <a:cubicBezTo>
                  <a:pt x="28" y="411"/>
                  <a:pt x="28" y="411"/>
                  <a:pt x="28" y="411"/>
                </a:cubicBezTo>
                <a:cubicBezTo>
                  <a:pt x="28" y="411"/>
                  <a:pt x="67" y="359"/>
                  <a:pt x="75" y="317"/>
                </a:cubicBezTo>
                <a:cubicBezTo>
                  <a:pt x="75" y="317"/>
                  <a:pt x="81" y="291"/>
                  <a:pt x="79" y="280"/>
                </a:cubicBezTo>
                <a:cubicBezTo>
                  <a:pt x="77" y="270"/>
                  <a:pt x="78" y="268"/>
                  <a:pt x="65" y="249"/>
                </a:cubicBezTo>
                <a:cubicBezTo>
                  <a:pt x="51" y="231"/>
                  <a:pt x="28" y="199"/>
                  <a:pt x="25" y="190"/>
                </a:cubicBezTo>
                <a:cubicBezTo>
                  <a:pt x="24" y="189"/>
                  <a:pt x="22" y="184"/>
                  <a:pt x="22" y="184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EEEEEE"/>
              </a:gs>
            </a:gsLst>
            <a:lin ang="0" scaled="0"/>
            <a:tileRect/>
          </a:gradFill>
          <a:ln w="22225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  <a:effectLst>
            <a:outerShdw blurRad="520700" dist="203200" dir="8100000" algn="tr" rotWithShape="0">
              <a:prstClr val="black">
                <a:alpha val="14000"/>
              </a:prst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013"/>
          </a:p>
        </p:txBody>
      </p:sp>
      <p:sp>
        <p:nvSpPr>
          <p:cNvPr id="54" name="Freeform 61"/>
          <p:cNvSpPr>
            <a:spLocks/>
          </p:cNvSpPr>
          <p:nvPr/>
        </p:nvSpPr>
        <p:spPr bwMode="auto">
          <a:xfrm>
            <a:off x="2121098" y="3795713"/>
            <a:ext cx="46435" cy="10716"/>
          </a:xfrm>
          <a:custGeom>
            <a:avLst/>
            <a:gdLst>
              <a:gd name="T0" fmla="*/ 7 w 9"/>
              <a:gd name="T1" fmla="*/ 0 h 2"/>
              <a:gd name="T2" fmla="*/ 5 w 9"/>
              <a:gd name="T3" fmla="*/ 1 h 2"/>
              <a:gd name="T4" fmla="*/ 4 w 9"/>
              <a:gd name="T5" fmla="*/ 1 h 2"/>
              <a:gd name="T6" fmla="*/ 2 w 9"/>
              <a:gd name="T7" fmla="*/ 1 h 2"/>
              <a:gd name="T8" fmla="*/ 0 w 9"/>
              <a:gd name="T9" fmla="*/ 2 h 2"/>
              <a:gd name="T10" fmla="*/ 1 w 9"/>
              <a:gd name="T11" fmla="*/ 2 h 2"/>
              <a:gd name="T12" fmla="*/ 3 w 9"/>
              <a:gd name="T13" fmla="*/ 2 h 2"/>
              <a:gd name="T14" fmla="*/ 5 w 9"/>
              <a:gd name="T15" fmla="*/ 2 h 2"/>
              <a:gd name="T16" fmla="*/ 7 w 9"/>
              <a:gd name="T1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" h="2">
                <a:moveTo>
                  <a:pt x="7" y="0"/>
                </a:moveTo>
                <a:cubicBezTo>
                  <a:pt x="7" y="1"/>
                  <a:pt x="6" y="1"/>
                  <a:pt x="5" y="1"/>
                </a:cubicBezTo>
                <a:cubicBezTo>
                  <a:pt x="5" y="1"/>
                  <a:pt x="4" y="1"/>
                  <a:pt x="4" y="1"/>
                </a:cubicBezTo>
                <a:cubicBezTo>
                  <a:pt x="3" y="1"/>
                  <a:pt x="3" y="1"/>
                  <a:pt x="2" y="1"/>
                </a:cubicBezTo>
                <a:cubicBezTo>
                  <a:pt x="1" y="1"/>
                  <a:pt x="0" y="1"/>
                  <a:pt x="0" y="2"/>
                </a:cubicBezTo>
                <a:cubicBezTo>
                  <a:pt x="0" y="2"/>
                  <a:pt x="1" y="2"/>
                  <a:pt x="1" y="2"/>
                </a:cubicBezTo>
                <a:cubicBezTo>
                  <a:pt x="2" y="2"/>
                  <a:pt x="2" y="2"/>
                  <a:pt x="3" y="2"/>
                </a:cubicBezTo>
                <a:cubicBezTo>
                  <a:pt x="4" y="2"/>
                  <a:pt x="5" y="2"/>
                  <a:pt x="5" y="2"/>
                </a:cubicBezTo>
                <a:cubicBezTo>
                  <a:pt x="7" y="2"/>
                  <a:pt x="9" y="2"/>
                  <a:pt x="7" y="0"/>
                </a:cubicBezTo>
              </a:path>
            </a:pathLst>
          </a:custGeom>
          <a:solidFill>
            <a:srgbClr val="E9E9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013"/>
          </a:p>
        </p:txBody>
      </p:sp>
      <p:grpSp>
        <p:nvGrpSpPr>
          <p:cNvPr id="55" name="组合 54"/>
          <p:cNvGrpSpPr/>
          <p:nvPr/>
        </p:nvGrpSpPr>
        <p:grpSpPr>
          <a:xfrm>
            <a:off x="3676006" y="2952728"/>
            <a:ext cx="1697693" cy="933021"/>
            <a:chOff x="2402680" y="2725738"/>
            <a:chExt cx="2657475" cy="1460501"/>
          </a:xfrm>
          <a:solidFill>
            <a:schemeClr val="bg1">
              <a:lumMod val="85000"/>
              <a:alpha val="80000"/>
            </a:schemeClr>
          </a:solidFill>
        </p:grpSpPr>
        <p:sp>
          <p:nvSpPr>
            <p:cNvPr id="56" name="Freeform 20"/>
            <p:cNvSpPr>
              <a:spLocks/>
            </p:cNvSpPr>
            <p:nvPr/>
          </p:nvSpPr>
          <p:spPr bwMode="auto">
            <a:xfrm>
              <a:off x="3110705" y="2746376"/>
              <a:ext cx="33338" cy="14288"/>
            </a:xfrm>
            <a:custGeom>
              <a:avLst/>
              <a:gdLst>
                <a:gd name="T0" fmla="*/ 5 w 5"/>
                <a:gd name="T1" fmla="*/ 0 h 2"/>
                <a:gd name="T2" fmla="*/ 0 w 5"/>
                <a:gd name="T3" fmla="*/ 1 h 2"/>
                <a:gd name="T4" fmla="*/ 3 w 5"/>
                <a:gd name="T5" fmla="*/ 2 h 2"/>
                <a:gd name="T6" fmla="*/ 5 w 5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cubicBezTo>
                    <a:pt x="3" y="1"/>
                    <a:pt x="1" y="0"/>
                    <a:pt x="0" y="1"/>
                  </a:cubicBezTo>
                  <a:cubicBezTo>
                    <a:pt x="0" y="2"/>
                    <a:pt x="2" y="2"/>
                    <a:pt x="3" y="2"/>
                  </a:cubicBezTo>
                  <a:cubicBezTo>
                    <a:pt x="4" y="2"/>
                    <a:pt x="5" y="2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57" name="Freeform 21"/>
            <p:cNvSpPr>
              <a:spLocks/>
            </p:cNvSpPr>
            <p:nvPr/>
          </p:nvSpPr>
          <p:spPr bwMode="auto">
            <a:xfrm>
              <a:off x="4682330" y="2994026"/>
              <a:ext cx="14288" cy="28575"/>
            </a:xfrm>
            <a:custGeom>
              <a:avLst/>
              <a:gdLst>
                <a:gd name="T0" fmla="*/ 0 w 2"/>
                <a:gd name="T1" fmla="*/ 0 h 4"/>
                <a:gd name="T2" fmla="*/ 2 w 2"/>
                <a:gd name="T3" fmla="*/ 4 h 4"/>
                <a:gd name="T4" fmla="*/ 2 w 2"/>
                <a:gd name="T5" fmla="*/ 3 h 4"/>
                <a:gd name="T6" fmla="*/ 0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1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2" y="3"/>
                    <a:pt x="2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58" name="Freeform 22"/>
            <p:cNvSpPr>
              <a:spLocks noEditPoints="1"/>
            </p:cNvSpPr>
            <p:nvPr/>
          </p:nvSpPr>
          <p:spPr bwMode="auto">
            <a:xfrm>
              <a:off x="3494880" y="2767013"/>
              <a:ext cx="1366838" cy="668338"/>
            </a:xfrm>
            <a:custGeom>
              <a:avLst/>
              <a:gdLst>
                <a:gd name="T0" fmla="*/ 80 w 199"/>
                <a:gd name="T1" fmla="*/ 43 h 97"/>
                <a:gd name="T2" fmla="*/ 64 w 199"/>
                <a:gd name="T3" fmla="*/ 36 h 97"/>
                <a:gd name="T4" fmla="*/ 76 w 199"/>
                <a:gd name="T5" fmla="*/ 47 h 97"/>
                <a:gd name="T6" fmla="*/ 69 w 199"/>
                <a:gd name="T7" fmla="*/ 50 h 97"/>
                <a:gd name="T8" fmla="*/ 128 w 199"/>
                <a:gd name="T9" fmla="*/ 33 h 97"/>
                <a:gd name="T10" fmla="*/ 88 w 199"/>
                <a:gd name="T11" fmla="*/ 4 h 97"/>
                <a:gd name="T12" fmla="*/ 90 w 199"/>
                <a:gd name="T13" fmla="*/ 11 h 97"/>
                <a:gd name="T14" fmla="*/ 83 w 199"/>
                <a:gd name="T15" fmla="*/ 13 h 97"/>
                <a:gd name="T16" fmla="*/ 76 w 199"/>
                <a:gd name="T17" fmla="*/ 6 h 97"/>
                <a:gd name="T18" fmla="*/ 45 w 199"/>
                <a:gd name="T19" fmla="*/ 11 h 97"/>
                <a:gd name="T20" fmla="*/ 40 w 199"/>
                <a:gd name="T21" fmla="*/ 10 h 97"/>
                <a:gd name="T22" fmla="*/ 34 w 199"/>
                <a:gd name="T23" fmla="*/ 8 h 97"/>
                <a:gd name="T24" fmla="*/ 26 w 199"/>
                <a:gd name="T25" fmla="*/ 16 h 97"/>
                <a:gd name="T26" fmla="*/ 23 w 199"/>
                <a:gd name="T27" fmla="*/ 17 h 97"/>
                <a:gd name="T28" fmla="*/ 26 w 199"/>
                <a:gd name="T29" fmla="*/ 19 h 97"/>
                <a:gd name="T30" fmla="*/ 39 w 199"/>
                <a:gd name="T31" fmla="*/ 15 h 97"/>
                <a:gd name="T32" fmla="*/ 46 w 199"/>
                <a:gd name="T33" fmla="*/ 28 h 97"/>
                <a:gd name="T34" fmla="*/ 42 w 199"/>
                <a:gd name="T35" fmla="*/ 26 h 97"/>
                <a:gd name="T36" fmla="*/ 36 w 199"/>
                <a:gd name="T37" fmla="*/ 27 h 97"/>
                <a:gd name="T38" fmla="*/ 25 w 199"/>
                <a:gd name="T39" fmla="*/ 29 h 97"/>
                <a:gd name="T40" fmla="*/ 9 w 199"/>
                <a:gd name="T41" fmla="*/ 45 h 97"/>
                <a:gd name="T42" fmla="*/ 5 w 199"/>
                <a:gd name="T43" fmla="*/ 55 h 97"/>
                <a:gd name="T44" fmla="*/ 20 w 199"/>
                <a:gd name="T45" fmla="*/ 42 h 97"/>
                <a:gd name="T46" fmla="*/ 25 w 199"/>
                <a:gd name="T47" fmla="*/ 44 h 97"/>
                <a:gd name="T48" fmla="*/ 32 w 199"/>
                <a:gd name="T49" fmla="*/ 36 h 97"/>
                <a:gd name="T50" fmla="*/ 35 w 199"/>
                <a:gd name="T51" fmla="*/ 38 h 97"/>
                <a:gd name="T52" fmla="*/ 28 w 199"/>
                <a:gd name="T53" fmla="*/ 42 h 97"/>
                <a:gd name="T54" fmla="*/ 35 w 199"/>
                <a:gd name="T55" fmla="*/ 41 h 97"/>
                <a:gd name="T56" fmla="*/ 39 w 199"/>
                <a:gd name="T57" fmla="*/ 49 h 97"/>
                <a:gd name="T58" fmla="*/ 42 w 199"/>
                <a:gd name="T59" fmla="*/ 44 h 97"/>
                <a:gd name="T60" fmla="*/ 45 w 199"/>
                <a:gd name="T61" fmla="*/ 42 h 97"/>
                <a:gd name="T62" fmla="*/ 56 w 199"/>
                <a:gd name="T63" fmla="*/ 36 h 97"/>
                <a:gd name="T64" fmla="*/ 60 w 199"/>
                <a:gd name="T65" fmla="*/ 45 h 97"/>
                <a:gd name="T66" fmla="*/ 51 w 199"/>
                <a:gd name="T67" fmla="*/ 47 h 97"/>
                <a:gd name="T68" fmla="*/ 55 w 199"/>
                <a:gd name="T69" fmla="*/ 59 h 97"/>
                <a:gd name="T70" fmla="*/ 57 w 199"/>
                <a:gd name="T71" fmla="*/ 65 h 97"/>
                <a:gd name="T72" fmla="*/ 82 w 199"/>
                <a:gd name="T73" fmla="*/ 72 h 97"/>
                <a:gd name="T74" fmla="*/ 70 w 199"/>
                <a:gd name="T75" fmla="*/ 65 h 97"/>
                <a:gd name="T76" fmla="*/ 84 w 199"/>
                <a:gd name="T77" fmla="*/ 71 h 97"/>
                <a:gd name="T78" fmla="*/ 95 w 199"/>
                <a:gd name="T79" fmla="*/ 71 h 97"/>
                <a:gd name="T80" fmla="*/ 101 w 199"/>
                <a:gd name="T81" fmla="*/ 74 h 97"/>
                <a:gd name="T82" fmla="*/ 104 w 199"/>
                <a:gd name="T83" fmla="*/ 76 h 97"/>
                <a:gd name="T84" fmla="*/ 125 w 199"/>
                <a:gd name="T85" fmla="*/ 76 h 97"/>
                <a:gd name="T86" fmla="*/ 130 w 199"/>
                <a:gd name="T87" fmla="*/ 74 h 97"/>
                <a:gd name="T88" fmla="*/ 139 w 199"/>
                <a:gd name="T89" fmla="*/ 90 h 97"/>
                <a:gd name="T90" fmla="*/ 144 w 199"/>
                <a:gd name="T91" fmla="*/ 89 h 97"/>
                <a:gd name="T92" fmla="*/ 146 w 199"/>
                <a:gd name="T93" fmla="*/ 80 h 97"/>
                <a:gd name="T94" fmla="*/ 150 w 199"/>
                <a:gd name="T95" fmla="*/ 77 h 97"/>
                <a:gd name="T96" fmla="*/ 156 w 199"/>
                <a:gd name="T97" fmla="*/ 49 h 97"/>
                <a:gd name="T98" fmla="*/ 165 w 199"/>
                <a:gd name="T99" fmla="*/ 52 h 97"/>
                <a:gd name="T100" fmla="*/ 167 w 199"/>
                <a:gd name="T101" fmla="*/ 46 h 97"/>
                <a:gd name="T102" fmla="*/ 166 w 199"/>
                <a:gd name="T103" fmla="*/ 29 h 97"/>
                <a:gd name="T104" fmla="*/ 174 w 199"/>
                <a:gd name="T105" fmla="*/ 21 h 97"/>
                <a:gd name="T106" fmla="*/ 184 w 199"/>
                <a:gd name="T107" fmla="*/ 20 h 97"/>
                <a:gd name="T108" fmla="*/ 192 w 199"/>
                <a:gd name="T109" fmla="*/ 13 h 97"/>
                <a:gd name="T110" fmla="*/ 199 w 199"/>
                <a:gd name="T111" fmla="*/ 13 h 97"/>
                <a:gd name="T112" fmla="*/ 127 w 199"/>
                <a:gd name="T113" fmla="*/ 3 h 97"/>
                <a:gd name="T114" fmla="*/ 113 w 199"/>
                <a:gd name="T115" fmla="*/ 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9" h="97">
                  <a:moveTo>
                    <a:pt x="77" y="44"/>
                  </a:moveTo>
                  <a:cubicBezTo>
                    <a:pt x="76" y="42"/>
                    <a:pt x="80" y="40"/>
                    <a:pt x="82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2" y="40"/>
                    <a:pt x="82" y="40"/>
                  </a:cubicBezTo>
                  <a:cubicBezTo>
                    <a:pt x="82" y="42"/>
                    <a:pt x="84" y="43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4"/>
                    <a:pt x="80" y="43"/>
                    <a:pt x="80" y="43"/>
                  </a:cubicBezTo>
                  <a:cubicBezTo>
                    <a:pt x="79" y="42"/>
                    <a:pt x="79" y="42"/>
                    <a:pt x="78" y="42"/>
                  </a:cubicBezTo>
                  <a:cubicBezTo>
                    <a:pt x="78" y="42"/>
                    <a:pt x="77" y="42"/>
                    <a:pt x="77" y="44"/>
                  </a:cubicBezTo>
                  <a:moveTo>
                    <a:pt x="68" y="48"/>
                  </a:moveTo>
                  <a:cubicBezTo>
                    <a:pt x="68" y="47"/>
                    <a:pt x="68" y="47"/>
                    <a:pt x="68" y="47"/>
                  </a:cubicBezTo>
                  <a:cubicBezTo>
                    <a:pt x="67" y="46"/>
                    <a:pt x="67" y="43"/>
                    <a:pt x="66" y="42"/>
                  </a:cubicBezTo>
                  <a:cubicBezTo>
                    <a:pt x="66" y="41"/>
                    <a:pt x="67" y="41"/>
                    <a:pt x="68" y="40"/>
                  </a:cubicBezTo>
                  <a:cubicBezTo>
                    <a:pt x="67" y="38"/>
                    <a:pt x="64" y="38"/>
                    <a:pt x="64" y="36"/>
                  </a:cubicBezTo>
                  <a:cubicBezTo>
                    <a:pt x="66" y="37"/>
                    <a:pt x="67" y="39"/>
                    <a:pt x="69" y="40"/>
                  </a:cubicBezTo>
                  <a:cubicBezTo>
                    <a:pt x="69" y="39"/>
                    <a:pt x="70" y="39"/>
                    <a:pt x="71" y="39"/>
                  </a:cubicBezTo>
                  <a:cubicBezTo>
                    <a:pt x="72" y="39"/>
                    <a:pt x="72" y="39"/>
                    <a:pt x="73" y="40"/>
                  </a:cubicBezTo>
                  <a:cubicBezTo>
                    <a:pt x="73" y="43"/>
                    <a:pt x="72" y="42"/>
                    <a:pt x="72" y="45"/>
                  </a:cubicBezTo>
                  <a:cubicBezTo>
                    <a:pt x="72" y="45"/>
                    <a:pt x="72" y="45"/>
                    <a:pt x="72" y="45"/>
                  </a:cubicBezTo>
                  <a:cubicBezTo>
                    <a:pt x="73" y="45"/>
                    <a:pt x="73" y="45"/>
                    <a:pt x="74" y="45"/>
                  </a:cubicBezTo>
                  <a:cubicBezTo>
                    <a:pt x="74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9"/>
                  </a:cubicBezTo>
                  <a:cubicBezTo>
                    <a:pt x="75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7" y="49"/>
                    <a:pt x="76" y="52"/>
                    <a:pt x="76" y="53"/>
                  </a:cubicBezTo>
                  <a:cubicBezTo>
                    <a:pt x="76" y="54"/>
                    <a:pt x="75" y="54"/>
                    <a:pt x="75" y="55"/>
                  </a:cubicBezTo>
                  <a:cubicBezTo>
                    <a:pt x="72" y="54"/>
                    <a:pt x="69" y="53"/>
                    <a:pt x="68" y="50"/>
                  </a:cubicBezTo>
                  <a:cubicBezTo>
                    <a:pt x="68" y="50"/>
                    <a:pt x="69" y="50"/>
                    <a:pt x="69" y="50"/>
                  </a:cubicBezTo>
                  <a:cubicBezTo>
                    <a:pt x="69" y="50"/>
                    <a:pt x="69" y="50"/>
                    <a:pt x="70" y="50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70" y="50"/>
                    <a:pt x="70" y="50"/>
                    <a:pt x="70" y="49"/>
                  </a:cubicBezTo>
                  <a:cubicBezTo>
                    <a:pt x="70" y="48"/>
                    <a:pt x="70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moveTo>
                    <a:pt x="129" y="33"/>
                  </a:moveTo>
                  <a:cubicBezTo>
                    <a:pt x="129" y="33"/>
                    <a:pt x="128" y="33"/>
                    <a:pt x="128" y="33"/>
                  </a:cubicBezTo>
                  <a:cubicBezTo>
                    <a:pt x="131" y="32"/>
                    <a:pt x="130" y="27"/>
                    <a:pt x="132" y="26"/>
                  </a:cubicBezTo>
                  <a:cubicBezTo>
                    <a:pt x="132" y="28"/>
                    <a:pt x="133" y="29"/>
                    <a:pt x="133" y="31"/>
                  </a:cubicBezTo>
                  <a:cubicBezTo>
                    <a:pt x="131" y="32"/>
                    <a:pt x="131" y="33"/>
                    <a:pt x="129" y="33"/>
                  </a:cubicBezTo>
                  <a:moveTo>
                    <a:pt x="106" y="0"/>
                  </a:moveTo>
                  <a:cubicBezTo>
                    <a:pt x="102" y="0"/>
                    <a:pt x="98" y="1"/>
                    <a:pt x="92" y="1"/>
                  </a:cubicBezTo>
                  <a:cubicBezTo>
                    <a:pt x="93" y="5"/>
                    <a:pt x="88" y="2"/>
                    <a:pt x="87" y="5"/>
                  </a:cubicBezTo>
                  <a:cubicBezTo>
                    <a:pt x="88" y="5"/>
                    <a:pt x="88" y="4"/>
                    <a:pt x="88" y="4"/>
                  </a:cubicBezTo>
                  <a:cubicBezTo>
                    <a:pt x="89" y="4"/>
                    <a:pt x="90" y="5"/>
                    <a:pt x="90" y="6"/>
                  </a:cubicBezTo>
                  <a:cubicBezTo>
                    <a:pt x="90" y="6"/>
                    <a:pt x="90" y="6"/>
                    <a:pt x="89" y="6"/>
                  </a:cubicBezTo>
                  <a:cubicBezTo>
                    <a:pt x="89" y="6"/>
                    <a:pt x="88" y="6"/>
                    <a:pt x="88" y="6"/>
                  </a:cubicBezTo>
                  <a:cubicBezTo>
                    <a:pt x="87" y="6"/>
                    <a:pt x="87" y="5"/>
                    <a:pt x="87" y="5"/>
                  </a:cubicBezTo>
                  <a:cubicBezTo>
                    <a:pt x="86" y="5"/>
                    <a:pt x="87" y="6"/>
                    <a:pt x="87" y="7"/>
                  </a:cubicBezTo>
                  <a:cubicBezTo>
                    <a:pt x="85" y="7"/>
                    <a:pt x="83" y="6"/>
                    <a:pt x="82" y="5"/>
                  </a:cubicBezTo>
                  <a:cubicBezTo>
                    <a:pt x="82" y="10"/>
                    <a:pt x="89" y="8"/>
                    <a:pt x="90" y="11"/>
                  </a:cubicBezTo>
                  <a:cubicBezTo>
                    <a:pt x="90" y="11"/>
                    <a:pt x="89" y="11"/>
                    <a:pt x="89" y="11"/>
                  </a:cubicBezTo>
                  <a:cubicBezTo>
                    <a:pt x="88" y="11"/>
                    <a:pt x="88" y="11"/>
                    <a:pt x="87" y="10"/>
                  </a:cubicBezTo>
                  <a:cubicBezTo>
                    <a:pt x="87" y="10"/>
                    <a:pt x="87" y="9"/>
                    <a:pt x="86" y="9"/>
                  </a:cubicBezTo>
                  <a:cubicBezTo>
                    <a:pt x="86" y="9"/>
                    <a:pt x="86" y="10"/>
                    <a:pt x="85" y="10"/>
                  </a:cubicBezTo>
                  <a:cubicBezTo>
                    <a:pt x="87" y="10"/>
                    <a:pt x="85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3" y="13"/>
                    <a:pt x="83" y="13"/>
                  </a:cubicBezTo>
                  <a:cubicBezTo>
                    <a:pt x="83" y="13"/>
                    <a:pt x="83" y="13"/>
                    <a:pt x="82" y="13"/>
                  </a:cubicBezTo>
                  <a:cubicBezTo>
                    <a:pt x="81" y="13"/>
                    <a:pt x="80" y="13"/>
                    <a:pt x="80" y="11"/>
                  </a:cubicBezTo>
                  <a:cubicBezTo>
                    <a:pt x="80" y="11"/>
                    <a:pt x="81" y="11"/>
                    <a:pt x="81" y="11"/>
                  </a:cubicBezTo>
                  <a:cubicBezTo>
                    <a:pt x="82" y="11"/>
                    <a:pt x="83" y="11"/>
                    <a:pt x="83" y="10"/>
                  </a:cubicBezTo>
                  <a:cubicBezTo>
                    <a:pt x="82" y="8"/>
                    <a:pt x="80" y="7"/>
                    <a:pt x="80" y="5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8" y="4"/>
                    <a:pt x="77" y="5"/>
                    <a:pt x="76" y="6"/>
                  </a:cubicBezTo>
                  <a:cubicBezTo>
                    <a:pt x="76" y="9"/>
                    <a:pt x="80" y="7"/>
                    <a:pt x="80" y="10"/>
                  </a:cubicBezTo>
                  <a:cubicBezTo>
                    <a:pt x="78" y="10"/>
                    <a:pt x="75" y="9"/>
                    <a:pt x="72" y="9"/>
                  </a:cubicBezTo>
                  <a:cubicBezTo>
                    <a:pt x="67" y="9"/>
                    <a:pt x="61" y="10"/>
                    <a:pt x="57" y="11"/>
                  </a:cubicBezTo>
                  <a:cubicBezTo>
                    <a:pt x="56" y="11"/>
                    <a:pt x="56" y="13"/>
                    <a:pt x="55" y="13"/>
                  </a:cubicBezTo>
                  <a:cubicBezTo>
                    <a:pt x="54" y="13"/>
                    <a:pt x="54" y="13"/>
                    <a:pt x="53" y="13"/>
                  </a:cubicBezTo>
                  <a:cubicBezTo>
                    <a:pt x="53" y="15"/>
                    <a:pt x="52" y="14"/>
                    <a:pt x="51" y="16"/>
                  </a:cubicBezTo>
                  <a:cubicBezTo>
                    <a:pt x="47" y="16"/>
                    <a:pt x="46" y="13"/>
                    <a:pt x="45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6" y="11"/>
                    <a:pt x="47" y="12"/>
                    <a:pt x="48" y="12"/>
                  </a:cubicBezTo>
                  <a:cubicBezTo>
                    <a:pt x="49" y="12"/>
                    <a:pt x="50" y="13"/>
                    <a:pt x="51" y="13"/>
                  </a:cubicBezTo>
                  <a:cubicBezTo>
                    <a:pt x="52" y="13"/>
                    <a:pt x="53" y="12"/>
                    <a:pt x="53" y="11"/>
                  </a:cubicBezTo>
                  <a:cubicBezTo>
                    <a:pt x="50" y="11"/>
                    <a:pt x="47" y="9"/>
                    <a:pt x="44" y="9"/>
                  </a:cubicBezTo>
                  <a:cubicBezTo>
                    <a:pt x="43" y="9"/>
                    <a:pt x="42" y="9"/>
                    <a:pt x="41" y="10"/>
                  </a:cubicBezTo>
                  <a:cubicBezTo>
                    <a:pt x="41" y="10"/>
                    <a:pt x="40" y="10"/>
                    <a:pt x="40" y="10"/>
                  </a:cubicBezTo>
                  <a:cubicBezTo>
                    <a:pt x="40" y="9"/>
                    <a:pt x="40" y="8"/>
                    <a:pt x="39" y="8"/>
                  </a:cubicBezTo>
                  <a:cubicBezTo>
                    <a:pt x="39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39" y="7"/>
                    <a:pt x="38" y="8"/>
                    <a:pt x="38" y="8"/>
                  </a:cubicBezTo>
                  <a:cubicBezTo>
                    <a:pt x="38" y="7"/>
                    <a:pt x="37" y="7"/>
                    <a:pt x="37" y="7"/>
                  </a:cubicBezTo>
                  <a:cubicBezTo>
                    <a:pt x="36" y="7"/>
                    <a:pt x="35" y="7"/>
                    <a:pt x="35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5" y="8"/>
                    <a:pt x="34" y="9"/>
                    <a:pt x="35" y="9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0"/>
                    <a:pt x="34" y="10"/>
                  </a:cubicBezTo>
                  <a:cubicBezTo>
                    <a:pt x="29" y="10"/>
                    <a:pt x="29" y="13"/>
                    <a:pt x="27" y="13"/>
                  </a:cubicBezTo>
                  <a:cubicBezTo>
                    <a:pt x="28" y="13"/>
                    <a:pt x="27" y="16"/>
                    <a:pt x="26" y="16"/>
                  </a:cubicBezTo>
                  <a:cubicBezTo>
                    <a:pt x="25" y="14"/>
                    <a:pt x="28" y="13"/>
                    <a:pt x="26" y="13"/>
                  </a:cubicBezTo>
                  <a:cubicBezTo>
                    <a:pt x="26" y="14"/>
                    <a:pt x="24" y="15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4" y="16"/>
                    <a:pt x="24" y="16"/>
                  </a:cubicBezTo>
                  <a:cubicBezTo>
                    <a:pt x="25" y="16"/>
                    <a:pt x="25" y="16"/>
                    <a:pt x="24" y="15"/>
                  </a:cubicBezTo>
                  <a:cubicBezTo>
                    <a:pt x="24" y="16"/>
                    <a:pt x="24" y="16"/>
                    <a:pt x="24" y="17"/>
                  </a:cubicBezTo>
                  <a:cubicBezTo>
                    <a:pt x="24" y="17"/>
                    <a:pt x="24" y="17"/>
                    <a:pt x="23" y="17"/>
                  </a:cubicBezTo>
                  <a:cubicBezTo>
                    <a:pt x="21" y="17"/>
                    <a:pt x="20" y="17"/>
                    <a:pt x="20" y="19"/>
                  </a:cubicBezTo>
                  <a:cubicBezTo>
                    <a:pt x="23" y="19"/>
                    <a:pt x="17" y="22"/>
                    <a:pt x="20" y="24"/>
                  </a:cubicBezTo>
                  <a:cubicBezTo>
                    <a:pt x="22" y="23"/>
                    <a:pt x="23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0"/>
                    <a:pt x="25" y="19"/>
                    <a:pt x="25" y="19"/>
                  </a:cubicBezTo>
                  <a:cubicBezTo>
                    <a:pt x="25" y="19"/>
                    <a:pt x="26" y="19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4" y="21"/>
                    <a:pt x="25" y="25"/>
                    <a:pt x="27" y="27"/>
                  </a:cubicBezTo>
                  <a:cubicBezTo>
                    <a:pt x="30" y="25"/>
                    <a:pt x="29" y="23"/>
                    <a:pt x="31" y="20"/>
                  </a:cubicBezTo>
                  <a:cubicBezTo>
                    <a:pt x="27" y="16"/>
                    <a:pt x="34" y="16"/>
                    <a:pt x="36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4"/>
                    <a:pt x="39" y="13"/>
                    <a:pt x="39" y="15"/>
                  </a:cubicBezTo>
                  <a:cubicBezTo>
                    <a:pt x="36" y="15"/>
                    <a:pt x="36" y="17"/>
                    <a:pt x="34" y="18"/>
                  </a:cubicBezTo>
                  <a:cubicBezTo>
                    <a:pt x="35" y="18"/>
                    <a:pt x="35" y="19"/>
                    <a:pt x="35" y="19"/>
                  </a:cubicBezTo>
                  <a:cubicBezTo>
                    <a:pt x="36" y="20"/>
                    <a:pt x="37" y="20"/>
                    <a:pt x="38" y="20"/>
                  </a:cubicBezTo>
                  <a:cubicBezTo>
                    <a:pt x="41" y="20"/>
                    <a:pt x="44" y="18"/>
                    <a:pt x="44" y="16"/>
                  </a:cubicBezTo>
                  <a:cubicBezTo>
                    <a:pt x="45" y="17"/>
                    <a:pt x="44" y="21"/>
                    <a:pt x="42" y="21"/>
                  </a:cubicBezTo>
                  <a:cubicBezTo>
                    <a:pt x="42" y="23"/>
                    <a:pt x="42" y="24"/>
                    <a:pt x="42" y="26"/>
                  </a:cubicBezTo>
                  <a:cubicBezTo>
                    <a:pt x="44" y="26"/>
                    <a:pt x="46" y="26"/>
                    <a:pt x="46" y="28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6" y="27"/>
                    <a:pt x="45" y="27"/>
                    <a:pt x="44" y="27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3" y="27"/>
                    <a:pt x="43" y="26"/>
                    <a:pt x="42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1" y="25"/>
                    <a:pt x="40" y="25"/>
                    <a:pt x="39" y="25"/>
                  </a:cubicBezTo>
                  <a:cubicBezTo>
                    <a:pt x="39" y="25"/>
                    <a:pt x="39" y="25"/>
                    <a:pt x="38" y="25"/>
                  </a:cubicBezTo>
                  <a:cubicBezTo>
                    <a:pt x="38" y="25"/>
                    <a:pt x="38" y="25"/>
                    <a:pt x="37" y="25"/>
                  </a:cubicBezTo>
                  <a:cubicBezTo>
                    <a:pt x="37" y="25"/>
                    <a:pt x="36" y="25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4" y="25"/>
                    <a:pt x="35" y="26"/>
                    <a:pt x="35" y="26"/>
                  </a:cubicBezTo>
                  <a:cubicBezTo>
                    <a:pt x="35" y="27"/>
                    <a:pt x="35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8"/>
                    <a:pt x="35" y="28"/>
                    <a:pt x="34" y="29"/>
                  </a:cubicBezTo>
                  <a:cubicBezTo>
                    <a:pt x="33" y="29"/>
                    <a:pt x="32" y="29"/>
                    <a:pt x="32" y="29"/>
                  </a:cubicBezTo>
                  <a:cubicBezTo>
                    <a:pt x="30" y="29"/>
                    <a:pt x="28" y="29"/>
                    <a:pt x="27" y="31"/>
                  </a:cubicBezTo>
                  <a:cubicBezTo>
                    <a:pt x="27" y="30"/>
                    <a:pt x="26" y="29"/>
                    <a:pt x="25" y="29"/>
                  </a:cubicBezTo>
                  <a:cubicBezTo>
                    <a:pt x="23" y="29"/>
                    <a:pt x="21" y="30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16" y="31"/>
                    <a:pt x="15" y="34"/>
                    <a:pt x="17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5" y="35"/>
                    <a:pt x="15" y="34"/>
                    <a:pt x="13" y="34"/>
                  </a:cubicBezTo>
                  <a:cubicBezTo>
                    <a:pt x="13" y="37"/>
                    <a:pt x="9" y="36"/>
                    <a:pt x="7" y="38"/>
                  </a:cubicBezTo>
                  <a:cubicBezTo>
                    <a:pt x="11" y="38"/>
                    <a:pt x="11" y="44"/>
                    <a:pt x="9" y="45"/>
                  </a:cubicBezTo>
                  <a:cubicBezTo>
                    <a:pt x="9" y="45"/>
                    <a:pt x="7" y="44"/>
                    <a:pt x="6" y="44"/>
                  </a:cubicBezTo>
                  <a:cubicBezTo>
                    <a:pt x="5" y="44"/>
                    <a:pt x="5" y="44"/>
                    <a:pt x="4" y="45"/>
                  </a:cubicBezTo>
                  <a:cubicBezTo>
                    <a:pt x="3" y="45"/>
                    <a:pt x="3" y="45"/>
                    <a:pt x="2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47"/>
                    <a:pt x="3" y="46"/>
                    <a:pt x="3" y="48"/>
                  </a:cubicBezTo>
                  <a:cubicBezTo>
                    <a:pt x="2" y="50"/>
                    <a:pt x="3" y="52"/>
                    <a:pt x="2" y="54"/>
                  </a:cubicBezTo>
                  <a:cubicBezTo>
                    <a:pt x="3" y="54"/>
                    <a:pt x="4" y="55"/>
                    <a:pt x="5" y="55"/>
                  </a:cubicBezTo>
                  <a:cubicBezTo>
                    <a:pt x="9" y="55"/>
                    <a:pt x="10" y="49"/>
                    <a:pt x="13" y="47"/>
                  </a:cubicBezTo>
                  <a:cubicBezTo>
                    <a:pt x="14" y="47"/>
                    <a:pt x="14" y="46"/>
                    <a:pt x="14" y="45"/>
                  </a:cubicBezTo>
                  <a:cubicBezTo>
                    <a:pt x="15" y="44"/>
                    <a:pt x="15" y="44"/>
                    <a:pt x="16" y="44"/>
                  </a:cubicBezTo>
                  <a:cubicBezTo>
                    <a:pt x="16" y="44"/>
                    <a:pt x="17" y="44"/>
                    <a:pt x="17" y="44"/>
                  </a:cubicBezTo>
                  <a:cubicBezTo>
                    <a:pt x="17" y="44"/>
                    <a:pt x="18" y="44"/>
                    <a:pt x="18" y="44"/>
                  </a:cubicBezTo>
                  <a:cubicBezTo>
                    <a:pt x="19" y="44"/>
                    <a:pt x="19" y="44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4" y="47"/>
                    <a:pt x="28" y="47"/>
                    <a:pt x="30" y="50"/>
                  </a:cubicBezTo>
                  <a:cubicBezTo>
                    <a:pt x="32" y="46"/>
                    <a:pt x="27" y="46"/>
                    <a:pt x="25" y="44"/>
                  </a:cubicBezTo>
                  <a:cubicBezTo>
                    <a:pt x="24" y="42"/>
                    <a:pt x="26" y="41"/>
                    <a:pt x="26" y="40"/>
                  </a:cubicBezTo>
                  <a:cubicBezTo>
                    <a:pt x="27" y="41"/>
                    <a:pt x="27" y="41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cubicBezTo>
                    <a:pt x="29" y="40"/>
                    <a:pt x="29" y="40"/>
                    <a:pt x="29" y="39"/>
                  </a:cubicBezTo>
                  <a:cubicBezTo>
                    <a:pt x="31" y="38"/>
                    <a:pt x="30" y="37"/>
                    <a:pt x="29" y="36"/>
                  </a:cubicBezTo>
                  <a:cubicBezTo>
                    <a:pt x="30" y="36"/>
                    <a:pt x="30" y="36"/>
                    <a:pt x="31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7"/>
                    <a:pt x="31" y="37"/>
                    <a:pt x="31" y="38"/>
                  </a:cubicBezTo>
                  <a:cubicBezTo>
                    <a:pt x="31" y="38"/>
                    <a:pt x="32" y="38"/>
                    <a:pt x="32" y="38"/>
                  </a:cubicBezTo>
                  <a:cubicBezTo>
                    <a:pt x="32" y="38"/>
                    <a:pt x="33" y="38"/>
                    <a:pt x="33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5" y="37"/>
                    <a:pt x="35" y="37"/>
                    <a:pt x="35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4" y="38"/>
                    <a:pt x="33" y="38"/>
                    <a:pt x="33" y="38"/>
                  </a:cubicBezTo>
                  <a:cubicBezTo>
                    <a:pt x="32" y="38"/>
                    <a:pt x="32" y="39"/>
                    <a:pt x="31" y="39"/>
                  </a:cubicBezTo>
                  <a:cubicBezTo>
                    <a:pt x="31" y="39"/>
                    <a:pt x="31" y="38"/>
                    <a:pt x="30" y="38"/>
                  </a:cubicBezTo>
                  <a:cubicBezTo>
                    <a:pt x="30" y="39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29" y="40"/>
                    <a:pt x="29" y="42"/>
                    <a:pt x="28" y="42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31" y="43"/>
                    <a:pt x="34" y="42"/>
                    <a:pt x="32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4" y="40"/>
                    <a:pt x="34" y="40"/>
                  </a:cubicBezTo>
                  <a:cubicBezTo>
                    <a:pt x="34" y="40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3" y="41"/>
                    <a:pt x="34" y="43"/>
                    <a:pt x="34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3" y="46"/>
                    <a:pt x="34" y="49"/>
                    <a:pt x="36" y="50"/>
                  </a:cubicBezTo>
                  <a:cubicBezTo>
                    <a:pt x="36" y="51"/>
                    <a:pt x="37" y="51"/>
                    <a:pt x="38" y="51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50"/>
                    <a:pt x="37" y="48"/>
                    <a:pt x="39" y="48"/>
                  </a:cubicBezTo>
                  <a:cubicBezTo>
                    <a:pt x="39" y="48"/>
                    <a:pt x="39" y="48"/>
                    <a:pt x="39" y="49"/>
                  </a:cubicBezTo>
                  <a:cubicBezTo>
                    <a:pt x="40" y="48"/>
                    <a:pt x="40" y="48"/>
                    <a:pt x="41" y="47"/>
                  </a:cubicBezTo>
                  <a:cubicBezTo>
                    <a:pt x="41" y="47"/>
                    <a:pt x="41" y="47"/>
                    <a:pt x="42" y="47"/>
                  </a:cubicBezTo>
                  <a:cubicBezTo>
                    <a:pt x="43" y="47"/>
                    <a:pt x="42" y="48"/>
                    <a:pt x="42" y="49"/>
                  </a:cubicBezTo>
                  <a:cubicBezTo>
                    <a:pt x="43" y="48"/>
                    <a:pt x="45" y="48"/>
                    <a:pt x="45" y="47"/>
                  </a:cubicBezTo>
                  <a:cubicBezTo>
                    <a:pt x="44" y="47"/>
                    <a:pt x="44" y="46"/>
                    <a:pt x="44" y="45"/>
                  </a:cubicBezTo>
                  <a:cubicBezTo>
                    <a:pt x="44" y="44"/>
                    <a:pt x="44" y="44"/>
                    <a:pt x="43" y="44"/>
                  </a:cubicBezTo>
                  <a:cubicBezTo>
                    <a:pt x="43" y="44"/>
                    <a:pt x="42" y="44"/>
                    <a:pt x="42" y="44"/>
                  </a:cubicBezTo>
                  <a:cubicBezTo>
                    <a:pt x="41" y="44"/>
                    <a:pt x="41" y="45"/>
                    <a:pt x="40" y="45"/>
                  </a:cubicBezTo>
                  <a:cubicBezTo>
                    <a:pt x="40" y="45"/>
                    <a:pt x="39" y="45"/>
                    <a:pt x="39" y="45"/>
                  </a:cubicBezTo>
                  <a:cubicBezTo>
                    <a:pt x="39" y="44"/>
                    <a:pt x="40" y="44"/>
                    <a:pt x="40" y="44"/>
                  </a:cubicBezTo>
                  <a:cubicBezTo>
                    <a:pt x="40" y="44"/>
                    <a:pt x="40" y="44"/>
                    <a:pt x="41" y="44"/>
                  </a:cubicBezTo>
                  <a:cubicBezTo>
                    <a:pt x="41" y="43"/>
                    <a:pt x="42" y="43"/>
                    <a:pt x="43" y="43"/>
                  </a:cubicBezTo>
                  <a:cubicBezTo>
                    <a:pt x="44" y="43"/>
                    <a:pt x="44" y="43"/>
                    <a:pt x="45" y="43"/>
                  </a:cubicBezTo>
                  <a:cubicBezTo>
                    <a:pt x="45" y="43"/>
                    <a:pt x="45" y="42"/>
                    <a:pt x="45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4" y="41"/>
                    <a:pt x="47" y="40"/>
                    <a:pt x="47" y="39"/>
                  </a:cubicBezTo>
                  <a:cubicBezTo>
                    <a:pt x="48" y="40"/>
                    <a:pt x="49" y="40"/>
                    <a:pt x="51" y="40"/>
                  </a:cubicBezTo>
                  <a:cubicBezTo>
                    <a:pt x="53" y="40"/>
                    <a:pt x="56" y="39"/>
                    <a:pt x="56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60" y="36"/>
                    <a:pt x="55" y="41"/>
                    <a:pt x="55" y="42"/>
                  </a:cubicBezTo>
                  <a:cubicBezTo>
                    <a:pt x="57" y="43"/>
                    <a:pt x="60" y="44"/>
                    <a:pt x="59" y="45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9" y="45"/>
                    <a:pt x="60" y="45"/>
                    <a:pt x="60" y="45"/>
                  </a:cubicBezTo>
                  <a:cubicBezTo>
                    <a:pt x="61" y="45"/>
                    <a:pt x="61" y="44"/>
                    <a:pt x="62" y="44"/>
                  </a:cubicBezTo>
                  <a:cubicBezTo>
                    <a:pt x="62" y="44"/>
                    <a:pt x="63" y="45"/>
                    <a:pt x="63" y="45"/>
                  </a:cubicBezTo>
                  <a:cubicBezTo>
                    <a:pt x="63" y="46"/>
                    <a:pt x="63" y="46"/>
                    <a:pt x="63" y="46"/>
                  </a:cubicBezTo>
                  <a:cubicBezTo>
                    <a:pt x="63" y="45"/>
                    <a:pt x="62" y="45"/>
                    <a:pt x="61" y="45"/>
                  </a:cubicBezTo>
                  <a:cubicBezTo>
                    <a:pt x="60" y="45"/>
                    <a:pt x="60" y="46"/>
                    <a:pt x="61" y="47"/>
                  </a:cubicBezTo>
                  <a:cubicBezTo>
                    <a:pt x="61" y="47"/>
                    <a:pt x="60" y="47"/>
                    <a:pt x="60" y="48"/>
                  </a:cubicBezTo>
                  <a:cubicBezTo>
                    <a:pt x="57" y="48"/>
                    <a:pt x="54" y="47"/>
                    <a:pt x="51" y="47"/>
                  </a:cubicBezTo>
                  <a:cubicBezTo>
                    <a:pt x="48" y="47"/>
                    <a:pt x="46" y="48"/>
                    <a:pt x="43" y="50"/>
                  </a:cubicBezTo>
                  <a:cubicBezTo>
                    <a:pt x="44" y="54"/>
                    <a:pt x="47" y="54"/>
                    <a:pt x="50" y="54"/>
                  </a:cubicBezTo>
                  <a:cubicBezTo>
                    <a:pt x="52" y="54"/>
                    <a:pt x="54" y="54"/>
                    <a:pt x="57" y="54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6" y="55"/>
                    <a:pt x="55" y="56"/>
                    <a:pt x="55" y="57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57" y="57"/>
                    <a:pt x="56" y="59"/>
                    <a:pt x="55" y="59"/>
                  </a:cubicBezTo>
                  <a:cubicBezTo>
                    <a:pt x="55" y="59"/>
                    <a:pt x="55" y="59"/>
                    <a:pt x="54" y="59"/>
                  </a:cubicBezTo>
                  <a:cubicBezTo>
                    <a:pt x="54" y="59"/>
                    <a:pt x="56" y="61"/>
                    <a:pt x="56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2"/>
                    <a:pt x="55" y="63"/>
                    <a:pt x="55" y="65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5"/>
                    <a:pt x="57" y="64"/>
                    <a:pt x="57" y="63"/>
                  </a:cubicBezTo>
                  <a:cubicBezTo>
                    <a:pt x="58" y="64"/>
                    <a:pt x="57" y="64"/>
                    <a:pt x="57" y="65"/>
                  </a:cubicBezTo>
                  <a:cubicBezTo>
                    <a:pt x="56" y="65"/>
                    <a:pt x="56" y="66"/>
                    <a:pt x="55" y="66"/>
                  </a:cubicBezTo>
                  <a:cubicBezTo>
                    <a:pt x="55" y="66"/>
                    <a:pt x="54" y="66"/>
                    <a:pt x="54" y="66"/>
                  </a:cubicBezTo>
                  <a:cubicBezTo>
                    <a:pt x="58" y="71"/>
                    <a:pt x="61" y="81"/>
                    <a:pt x="66" y="83"/>
                  </a:cubicBezTo>
                  <a:cubicBezTo>
                    <a:pt x="65" y="85"/>
                    <a:pt x="66" y="87"/>
                    <a:pt x="66" y="90"/>
                  </a:cubicBezTo>
                  <a:cubicBezTo>
                    <a:pt x="71" y="89"/>
                    <a:pt x="75" y="87"/>
                    <a:pt x="78" y="84"/>
                  </a:cubicBezTo>
                  <a:cubicBezTo>
                    <a:pt x="78" y="84"/>
                    <a:pt x="79" y="84"/>
                    <a:pt x="79" y="84"/>
                  </a:cubicBezTo>
                  <a:cubicBezTo>
                    <a:pt x="84" y="82"/>
                    <a:pt x="90" y="74"/>
                    <a:pt x="82" y="72"/>
                  </a:cubicBezTo>
                  <a:cubicBezTo>
                    <a:pt x="81" y="74"/>
                    <a:pt x="81" y="75"/>
                    <a:pt x="82" y="77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81" y="76"/>
                    <a:pt x="80" y="76"/>
                    <a:pt x="80" y="75"/>
                  </a:cubicBezTo>
                  <a:cubicBezTo>
                    <a:pt x="81" y="74"/>
                    <a:pt x="81" y="72"/>
                    <a:pt x="82" y="71"/>
                  </a:cubicBezTo>
                  <a:cubicBezTo>
                    <a:pt x="80" y="72"/>
                    <a:pt x="79" y="74"/>
                    <a:pt x="76" y="74"/>
                  </a:cubicBezTo>
                  <a:cubicBezTo>
                    <a:pt x="73" y="72"/>
                    <a:pt x="73" y="67"/>
                    <a:pt x="68" y="66"/>
                  </a:cubicBezTo>
                  <a:cubicBezTo>
                    <a:pt x="69" y="65"/>
                    <a:pt x="69" y="65"/>
                    <a:pt x="70" y="65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0" y="64"/>
                    <a:pt x="70" y="63"/>
                    <a:pt x="70" y="63"/>
                  </a:cubicBezTo>
                  <a:cubicBezTo>
                    <a:pt x="71" y="63"/>
                    <a:pt x="71" y="63"/>
                    <a:pt x="71" y="63"/>
                  </a:cubicBezTo>
                  <a:cubicBezTo>
                    <a:pt x="72" y="63"/>
                    <a:pt x="73" y="63"/>
                    <a:pt x="74" y="63"/>
                  </a:cubicBezTo>
                  <a:cubicBezTo>
                    <a:pt x="74" y="67"/>
                    <a:pt x="77" y="69"/>
                    <a:pt x="80" y="69"/>
                  </a:cubicBezTo>
                  <a:cubicBezTo>
                    <a:pt x="81" y="69"/>
                    <a:pt x="82" y="69"/>
                    <a:pt x="83" y="68"/>
                  </a:cubicBezTo>
                  <a:cubicBezTo>
                    <a:pt x="83" y="69"/>
                    <a:pt x="84" y="70"/>
                    <a:pt x="84" y="71"/>
                  </a:cubicBezTo>
                  <a:cubicBezTo>
                    <a:pt x="85" y="71"/>
                    <a:pt x="87" y="71"/>
                    <a:pt x="88" y="71"/>
                  </a:cubicBezTo>
                  <a:cubicBezTo>
                    <a:pt x="88" y="71"/>
                    <a:pt x="88" y="71"/>
                    <a:pt x="88" y="71"/>
                  </a:cubicBezTo>
                  <a:cubicBezTo>
                    <a:pt x="89" y="71"/>
                    <a:pt x="89" y="71"/>
                    <a:pt x="89" y="71"/>
                  </a:cubicBezTo>
                  <a:cubicBezTo>
                    <a:pt x="89" y="71"/>
                    <a:pt x="90" y="71"/>
                    <a:pt x="90" y="71"/>
                  </a:cubicBezTo>
                  <a:cubicBezTo>
                    <a:pt x="90" y="71"/>
                    <a:pt x="90" y="71"/>
                    <a:pt x="90" y="71"/>
                  </a:cubicBezTo>
                  <a:cubicBezTo>
                    <a:pt x="91" y="71"/>
                    <a:pt x="92" y="70"/>
                    <a:pt x="93" y="70"/>
                  </a:cubicBezTo>
                  <a:cubicBezTo>
                    <a:pt x="94" y="70"/>
                    <a:pt x="95" y="71"/>
                    <a:pt x="95" y="71"/>
                  </a:cubicBezTo>
                  <a:cubicBezTo>
                    <a:pt x="96" y="72"/>
                    <a:pt x="97" y="72"/>
                    <a:pt x="98" y="72"/>
                  </a:cubicBezTo>
                  <a:cubicBezTo>
                    <a:pt x="98" y="72"/>
                    <a:pt x="98" y="72"/>
                    <a:pt x="99" y="72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8" y="73"/>
                    <a:pt x="98" y="74"/>
                    <a:pt x="100" y="74"/>
                  </a:cubicBezTo>
                  <a:cubicBezTo>
                    <a:pt x="100" y="74"/>
                    <a:pt x="100" y="74"/>
                    <a:pt x="101" y="74"/>
                  </a:cubicBezTo>
                  <a:cubicBezTo>
                    <a:pt x="101" y="74"/>
                    <a:pt x="101" y="74"/>
                    <a:pt x="101" y="74"/>
                  </a:cubicBezTo>
                  <a:cubicBezTo>
                    <a:pt x="101" y="74"/>
                    <a:pt x="101" y="74"/>
                    <a:pt x="101" y="74"/>
                  </a:cubicBezTo>
                  <a:cubicBezTo>
                    <a:pt x="100" y="75"/>
                    <a:pt x="99" y="78"/>
                    <a:pt x="101" y="78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102" y="78"/>
                    <a:pt x="102" y="77"/>
                    <a:pt x="102" y="77"/>
                  </a:cubicBezTo>
                  <a:cubicBezTo>
                    <a:pt x="102" y="76"/>
                    <a:pt x="102" y="75"/>
                    <a:pt x="103" y="75"/>
                  </a:cubicBezTo>
                  <a:cubicBezTo>
                    <a:pt x="103" y="75"/>
                    <a:pt x="103" y="76"/>
                    <a:pt x="104" y="76"/>
                  </a:cubicBezTo>
                  <a:cubicBezTo>
                    <a:pt x="103" y="83"/>
                    <a:pt x="108" y="90"/>
                    <a:pt x="110" y="97"/>
                  </a:cubicBezTo>
                  <a:cubicBezTo>
                    <a:pt x="114" y="95"/>
                    <a:pt x="114" y="90"/>
                    <a:pt x="114" y="85"/>
                  </a:cubicBezTo>
                  <a:cubicBezTo>
                    <a:pt x="119" y="84"/>
                    <a:pt x="121" y="76"/>
                    <a:pt x="124" y="76"/>
                  </a:cubicBezTo>
                  <a:cubicBezTo>
                    <a:pt x="124" y="74"/>
                    <a:pt x="123" y="74"/>
                    <a:pt x="123" y="72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23" y="72"/>
                    <a:pt x="123" y="73"/>
                    <a:pt x="124" y="73"/>
                  </a:cubicBezTo>
                  <a:cubicBezTo>
                    <a:pt x="124" y="74"/>
                    <a:pt x="124" y="75"/>
                    <a:pt x="125" y="76"/>
                  </a:cubicBezTo>
                  <a:cubicBezTo>
                    <a:pt x="125" y="73"/>
                    <a:pt x="127" y="72"/>
                    <a:pt x="129" y="72"/>
                  </a:cubicBezTo>
                  <a:cubicBezTo>
                    <a:pt x="129" y="73"/>
                    <a:pt x="125" y="74"/>
                    <a:pt x="127" y="74"/>
                  </a:cubicBezTo>
                  <a:cubicBezTo>
                    <a:pt x="128" y="74"/>
                    <a:pt x="128" y="74"/>
                    <a:pt x="128" y="74"/>
                  </a:cubicBezTo>
                  <a:cubicBezTo>
                    <a:pt x="128" y="74"/>
                    <a:pt x="128" y="74"/>
                    <a:pt x="129" y="75"/>
                  </a:cubicBezTo>
                  <a:cubicBezTo>
                    <a:pt x="129" y="75"/>
                    <a:pt x="129" y="76"/>
                    <a:pt x="129" y="76"/>
                  </a:cubicBezTo>
                  <a:cubicBezTo>
                    <a:pt x="129" y="76"/>
                    <a:pt x="129" y="75"/>
                    <a:pt x="129" y="74"/>
                  </a:cubicBezTo>
                  <a:cubicBezTo>
                    <a:pt x="130" y="74"/>
                    <a:pt x="130" y="74"/>
                    <a:pt x="130" y="74"/>
                  </a:cubicBezTo>
                  <a:cubicBezTo>
                    <a:pt x="130" y="74"/>
                    <a:pt x="130" y="74"/>
                    <a:pt x="130" y="74"/>
                  </a:cubicBezTo>
                  <a:cubicBezTo>
                    <a:pt x="128" y="79"/>
                    <a:pt x="133" y="79"/>
                    <a:pt x="133" y="84"/>
                  </a:cubicBezTo>
                  <a:cubicBezTo>
                    <a:pt x="135" y="83"/>
                    <a:pt x="135" y="83"/>
                    <a:pt x="136" y="83"/>
                  </a:cubicBezTo>
                  <a:cubicBezTo>
                    <a:pt x="136" y="83"/>
                    <a:pt x="136" y="83"/>
                    <a:pt x="137" y="83"/>
                  </a:cubicBezTo>
                  <a:cubicBezTo>
                    <a:pt x="136" y="83"/>
                    <a:pt x="136" y="82"/>
                    <a:pt x="135" y="81"/>
                  </a:cubicBezTo>
                  <a:cubicBezTo>
                    <a:pt x="136" y="81"/>
                    <a:pt x="136" y="81"/>
                    <a:pt x="137" y="81"/>
                  </a:cubicBezTo>
                  <a:cubicBezTo>
                    <a:pt x="138" y="84"/>
                    <a:pt x="138" y="88"/>
                    <a:pt x="139" y="90"/>
                  </a:cubicBezTo>
                  <a:cubicBezTo>
                    <a:pt x="139" y="89"/>
                    <a:pt x="139" y="89"/>
                    <a:pt x="139" y="89"/>
                  </a:cubicBezTo>
                  <a:cubicBezTo>
                    <a:pt x="139" y="89"/>
                    <a:pt x="140" y="90"/>
                    <a:pt x="140" y="90"/>
                  </a:cubicBezTo>
                  <a:cubicBezTo>
                    <a:pt x="140" y="89"/>
                    <a:pt x="140" y="89"/>
                    <a:pt x="141" y="89"/>
                  </a:cubicBezTo>
                  <a:cubicBezTo>
                    <a:pt x="142" y="89"/>
                    <a:pt x="141" y="90"/>
                    <a:pt x="142" y="90"/>
                  </a:cubicBezTo>
                  <a:cubicBezTo>
                    <a:pt x="143" y="90"/>
                    <a:pt x="143" y="90"/>
                    <a:pt x="143" y="90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4" y="89"/>
                    <a:pt x="144" y="89"/>
                    <a:pt x="144" y="89"/>
                  </a:cubicBezTo>
                  <a:cubicBezTo>
                    <a:pt x="144" y="91"/>
                    <a:pt x="144" y="93"/>
                    <a:pt x="147" y="93"/>
                  </a:cubicBezTo>
                  <a:cubicBezTo>
                    <a:pt x="148" y="92"/>
                    <a:pt x="148" y="91"/>
                    <a:pt x="149" y="91"/>
                  </a:cubicBezTo>
                  <a:cubicBezTo>
                    <a:pt x="149" y="91"/>
                    <a:pt x="150" y="91"/>
                    <a:pt x="150" y="91"/>
                  </a:cubicBezTo>
                  <a:cubicBezTo>
                    <a:pt x="150" y="91"/>
                    <a:pt x="149" y="92"/>
                    <a:pt x="149" y="93"/>
                  </a:cubicBezTo>
                  <a:cubicBezTo>
                    <a:pt x="149" y="93"/>
                    <a:pt x="150" y="93"/>
                    <a:pt x="150" y="93"/>
                  </a:cubicBezTo>
                  <a:cubicBezTo>
                    <a:pt x="153" y="93"/>
                    <a:pt x="152" y="87"/>
                    <a:pt x="150" y="86"/>
                  </a:cubicBezTo>
                  <a:cubicBezTo>
                    <a:pt x="150" y="85"/>
                    <a:pt x="142" y="82"/>
                    <a:pt x="146" y="80"/>
                  </a:cubicBezTo>
                  <a:cubicBezTo>
                    <a:pt x="147" y="78"/>
                    <a:pt x="147" y="75"/>
                    <a:pt x="145" y="74"/>
                  </a:cubicBezTo>
                  <a:cubicBezTo>
                    <a:pt x="145" y="75"/>
                    <a:pt x="145" y="76"/>
                    <a:pt x="144" y="76"/>
                  </a:cubicBezTo>
                  <a:cubicBezTo>
                    <a:pt x="144" y="75"/>
                    <a:pt x="144" y="75"/>
                    <a:pt x="143" y="75"/>
                  </a:cubicBezTo>
                  <a:cubicBezTo>
                    <a:pt x="143" y="75"/>
                    <a:pt x="143" y="75"/>
                    <a:pt x="143" y="75"/>
                  </a:cubicBezTo>
                  <a:cubicBezTo>
                    <a:pt x="143" y="74"/>
                    <a:pt x="145" y="75"/>
                    <a:pt x="146" y="74"/>
                  </a:cubicBezTo>
                  <a:cubicBezTo>
                    <a:pt x="146" y="75"/>
                    <a:pt x="147" y="75"/>
                    <a:pt x="148" y="76"/>
                  </a:cubicBezTo>
                  <a:cubicBezTo>
                    <a:pt x="148" y="77"/>
                    <a:pt x="149" y="77"/>
                    <a:pt x="150" y="77"/>
                  </a:cubicBezTo>
                  <a:cubicBezTo>
                    <a:pt x="158" y="77"/>
                    <a:pt x="165" y="69"/>
                    <a:pt x="163" y="62"/>
                  </a:cubicBezTo>
                  <a:cubicBezTo>
                    <a:pt x="159" y="62"/>
                    <a:pt x="160" y="61"/>
                    <a:pt x="161" y="59"/>
                  </a:cubicBezTo>
                  <a:cubicBezTo>
                    <a:pt x="158" y="59"/>
                    <a:pt x="157" y="56"/>
                    <a:pt x="159" y="53"/>
                  </a:cubicBezTo>
                  <a:cubicBezTo>
                    <a:pt x="159" y="54"/>
                    <a:pt x="158" y="54"/>
                    <a:pt x="157" y="54"/>
                  </a:cubicBezTo>
                  <a:cubicBezTo>
                    <a:pt x="156" y="54"/>
                    <a:pt x="154" y="53"/>
                    <a:pt x="154" y="51"/>
                  </a:cubicBezTo>
                  <a:cubicBezTo>
                    <a:pt x="154" y="51"/>
                    <a:pt x="154" y="51"/>
                    <a:pt x="154" y="51"/>
                  </a:cubicBezTo>
                  <a:cubicBezTo>
                    <a:pt x="155" y="51"/>
                    <a:pt x="155" y="50"/>
                    <a:pt x="156" y="49"/>
                  </a:cubicBezTo>
                  <a:cubicBezTo>
                    <a:pt x="156" y="49"/>
                    <a:pt x="156" y="48"/>
                    <a:pt x="157" y="48"/>
                  </a:cubicBezTo>
                  <a:cubicBezTo>
                    <a:pt x="157" y="48"/>
                    <a:pt x="158" y="48"/>
                    <a:pt x="158" y="48"/>
                  </a:cubicBezTo>
                  <a:cubicBezTo>
                    <a:pt x="159" y="48"/>
                    <a:pt x="158" y="51"/>
                    <a:pt x="159" y="51"/>
                  </a:cubicBezTo>
                  <a:cubicBezTo>
                    <a:pt x="160" y="49"/>
                    <a:pt x="162" y="49"/>
                    <a:pt x="163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2" y="49"/>
                    <a:pt x="163" y="52"/>
                    <a:pt x="165" y="52"/>
                  </a:cubicBezTo>
                  <a:cubicBezTo>
                    <a:pt x="166" y="52"/>
                    <a:pt x="166" y="52"/>
                    <a:pt x="167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5" y="54"/>
                    <a:pt x="168" y="54"/>
                    <a:pt x="167" y="57"/>
                  </a:cubicBezTo>
                  <a:cubicBezTo>
                    <a:pt x="168" y="57"/>
                    <a:pt x="169" y="57"/>
                    <a:pt x="170" y="57"/>
                  </a:cubicBezTo>
                  <a:cubicBezTo>
                    <a:pt x="170" y="53"/>
                    <a:pt x="167" y="52"/>
                    <a:pt x="165" y="51"/>
                  </a:cubicBezTo>
                  <a:cubicBezTo>
                    <a:pt x="166" y="48"/>
                    <a:pt x="166" y="48"/>
                    <a:pt x="167" y="46"/>
                  </a:cubicBezTo>
                  <a:cubicBezTo>
                    <a:pt x="166" y="46"/>
                    <a:pt x="166" y="46"/>
                    <a:pt x="166" y="46"/>
                  </a:cubicBezTo>
                  <a:cubicBezTo>
                    <a:pt x="165" y="46"/>
                    <a:pt x="165" y="48"/>
                    <a:pt x="164" y="48"/>
                  </a:cubicBezTo>
                  <a:cubicBezTo>
                    <a:pt x="164" y="47"/>
                    <a:pt x="163" y="47"/>
                    <a:pt x="163" y="47"/>
                  </a:cubicBezTo>
                  <a:cubicBezTo>
                    <a:pt x="165" y="46"/>
                    <a:pt x="166" y="45"/>
                    <a:pt x="168" y="45"/>
                  </a:cubicBezTo>
                  <a:cubicBezTo>
                    <a:pt x="168" y="45"/>
                    <a:pt x="169" y="45"/>
                    <a:pt x="171" y="45"/>
                  </a:cubicBezTo>
                  <a:cubicBezTo>
                    <a:pt x="174" y="39"/>
                    <a:pt x="171" y="32"/>
                    <a:pt x="167" y="29"/>
                  </a:cubicBezTo>
                  <a:cubicBezTo>
                    <a:pt x="166" y="29"/>
                    <a:pt x="166" y="29"/>
                    <a:pt x="166" y="29"/>
                  </a:cubicBezTo>
                  <a:cubicBezTo>
                    <a:pt x="165" y="29"/>
                    <a:pt x="165" y="30"/>
                    <a:pt x="164" y="30"/>
                  </a:cubicBezTo>
                  <a:cubicBezTo>
                    <a:pt x="163" y="29"/>
                    <a:pt x="161" y="29"/>
                    <a:pt x="160" y="28"/>
                  </a:cubicBezTo>
                  <a:cubicBezTo>
                    <a:pt x="162" y="26"/>
                    <a:pt x="161" y="22"/>
                    <a:pt x="163" y="21"/>
                  </a:cubicBezTo>
                  <a:cubicBezTo>
                    <a:pt x="163" y="21"/>
                    <a:pt x="163" y="21"/>
                    <a:pt x="164" y="21"/>
                  </a:cubicBezTo>
                  <a:cubicBezTo>
                    <a:pt x="165" y="21"/>
                    <a:pt x="166" y="21"/>
                    <a:pt x="167" y="21"/>
                  </a:cubicBezTo>
                  <a:cubicBezTo>
                    <a:pt x="168" y="21"/>
                    <a:pt x="169" y="21"/>
                    <a:pt x="171" y="21"/>
                  </a:cubicBezTo>
                  <a:cubicBezTo>
                    <a:pt x="172" y="21"/>
                    <a:pt x="173" y="21"/>
                    <a:pt x="174" y="21"/>
                  </a:cubicBezTo>
                  <a:cubicBezTo>
                    <a:pt x="174" y="18"/>
                    <a:pt x="175" y="18"/>
                    <a:pt x="177" y="18"/>
                  </a:cubicBezTo>
                  <a:cubicBezTo>
                    <a:pt x="177" y="18"/>
                    <a:pt x="177" y="18"/>
                    <a:pt x="178" y="18"/>
                  </a:cubicBezTo>
                  <a:cubicBezTo>
                    <a:pt x="178" y="18"/>
                    <a:pt x="178" y="18"/>
                    <a:pt x="178" y="18"/>
                  </a:cubicBezTo>
                  <a:cubicBezTo>
                    <a:pt x="180" y="18"/>
                    <a:pt x="181" y="18"/>
                    <a:pt x="182" y="17"/>
                  </a:cubicBezTo>
                  <a:cubicBezTo>
                    <a:pt x="184" y="19"/>
                    <a:pt x="181" y="22"/>
                    <a:pt x="181" y="26"/>
                  </a:cubicBezTo>
                  <a:cubicBezTo>
                    <a:pt x="183" y="29"/>
                    <a:pt x="186" y="30"/>
                    <a:pt x="189" y="33"/>
                  </a:cubicBezTo>
                  <a:cubicBezTo>
                    <a:pt x="189" y="28"/>
                    <a:pt x="187" y="26"/>
                    <a:pt x="184" y="20"/>
                  </a:cubicBezTo>
                  <a:cubicBezTo>
                    <a:pt x="186" y="20"/>
                    <a:pt x="188" y="20"/>
                    <a:pt x="190" y="20"/>
                  </a:cubicBezTo>
                  <a:cubicBezTo>
                    <a:pt x="190" y="17"/>
                    <a:pt x="193" y="18"/>
                    <a:pt x="193" y="16"/>
                  </a:cubicBezTo>
                  <a:cubicBezTo>
                    <a:pt x="192" y="15"/>
                    <a:pt x="188" y="16"/>
                    <a:pt x="188" y="13"/>
                  </a:cubicBezTo>
                  <a:cubicBezTo>
                    <a:pt x="188" y="13"/>
                    <a:pt x="188" y="13"/>
                    <a:pt x="189" y="13"/>
                  </a:cubicBezTo>
                  <a:cubicBezTo>
                    <a:pt x="189" y="13"/>
                    <a:pt x="189" y="14"/>
                    <a:pt x="190" y="14"/>
                  </a:cubicBezTo>
                  <a:cubicBezTo>
                    <a:pt x="190" y="14"/>
                    <a:pt x="191" y="14"/>
                    <a:pt x="191" y="14"/>
                  </a:cubicBezTo>
                  <a:cubicBezTo>
                    <a:pt x="191" y="14"/>
                    <a:pt x="192" y="14"/>
                    <a:pt x="192" y="13"/>
                  </a:cubicBezTo>
                  <a:cubicBezTo>
                    <a:pt x="191" y="13"/>
                    <a:pt x="190" y="13"/>
                    <a:pt x="190" y="12"/>
                  </a:cubicBezTo>
                  <a:cubicBezTo>
                    <a:pt x="190" y="12"/>
                    <a:pt x="190" y="12"/>
                    <a:pt x="191" y="12"/>
                  </a:cubicBezTo>
                  <a:cubicBezTo>
                    <a:pt x="192" y="12"/>
                    <a:pt x="192" y="13"/>
                    <a:pt x="194" y="13"/>
                  </a:cubicBezTo>
                  <a:cubicBezTo>
                    <a:pt x="194" y="13"/>
                    <a:pt x="194" y="13"/>
                    <a:pt x="194" y="13"/>
                  </a:cubicBezTo>
                  <a:cubicBezTo>
                    <a:pt x="194" y="13"/>
                    <a:pt x="195" y="14"/>
                    <a:pt x="196" y="14"/>
                  </a:cubicBezTo>
                  <a:cubicBezTo>
                    <a:pt x="196" y="14"/>
                    <a:pt x="197" y="14"/>
                    <a:pt x="198" y="14"/>
                  </a:cubicBezTo>
                  <a:cubicBezTo>
                    <a:pt x="198" y="14"/>
                    <a:pt x="199" y="14"/>
                    <a:pt x="199" y="13"/>
                  </a:cubicBezTo>
                  <a:cubicBezTo>
                    <a:pt x="198" y="13"/>
                    <a:pt x="199" y="11"/>
                    <a:pt x="198" y="11"/>
                  </a:cubicBezTo>
                  <a:cubicBezTo>
                    <a:pt x="197" y="12"/>
                    <a:pt x="196" y="13"/>
                    <a:pt x="195" y="13"/>
                  </a:cubicBezTo>
                  <a:cubicBezTo>
                    <a:pt x="195" y="13"/>
                    <a:pt x="194" y="12"/>
                    <a:pt x="194" y="12"/>
                  </a:cubicBezTo>
                  <a:cubicBezTo>
                    <a:pt x="178" y="7"/>
                    <a:pt x="157" y="9"/>
                    <a:pt x="144" y="5"/>
                  </a:cubicBezTo>
                  <a:cubicBezTo>
                    <a:pt x="142" y="6"/>
                    <a:pt x="140" y="7"/>
                    <a:pt x="138" y="7"/>
                  </a:cubicBezTo>
                  <a:cubicBezTo>
                    <a:pt x="135" y="7"/>
                    <a:pt x="131" y="5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5" y="3"/>
                    <a:pt x="124" y="4"/>
                    <a:pt x="122" y="4"/>
                  </a:cubicBezTo>
                  <a:cubicBezTo>
                    <a:pt x="122" y="4"/>
                    <a:pt x="122" y="4"/>
                    <a:pt x="121" y="4"/>
                  </a:cubicBezTo>
                  <a:cubicBezTo>
                    <a:pt x="120" y="4"/>
                    <a:pt x="120" y="4"/>
                    <a:pt x="119" y="4"/>
                  </a:cubicBezTo>
                  <a:cubicBezTo>
                    <a:pt x="118" y="4"/>
                    <a:pt x="116" y="4"/>
                    <a:pt x="115" y="4"/>
                  </a:cubicBezTo>
                  <a:cubicBezTo>
                    <a:pt x="113" y="4"/>
                    <a:pt x="112" y="4"/>
                    <a:pt x="111" y="4"/>
                  </a:cubicBezTo>
                  <a:cubicBezTo>
                    <a:pt x="110" y="4"/>
                    <a:pt x="109" y="4"/>
                    <a:pt x="109" y="4"/>
                  </a:cubicBezTo>
                  <a:cubicBezTo>
                    <a:pt x="111" y="3"/>
                    <a:pt x="112" y="2"/>
                    <a:pt x="113" y="1"/>
                  </a:cubicBezTo>
                  <a:cubicBezTo>
                    <a:pt x="110" y="0"/>
                    <a:pt x="108" y="0"/>
                    <a:pt x="10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59" name="Freeform 23"/>
            <p:cNvSpPr>
              <a:spLocks noEditPoints="1"/>
            </p:cNvSpPr>
            <p:nvPr/>
          </p:nvSpPr>
          <p:spPr bwMode="auto">
            <a:xfrm>
              <a:off x="2402680" y="2794001"/>
              <a:ext cx="741363" cy="614363"/>
            </a:xfrm>
            <a:custGeom>
              <a:avLst/>
              <a:gdLst>
                <a:gd name="T0" fmla="*/ 72 w 108"/>
                <a:gd name="T1" fmla="*/ 32 h 89"/>
                <a:gd name="T2" fmla="*/ 80 w 108"/>
                <a:gd name="T3" fmla="*/ 39 h 89"/>
                <a:gd name="T4" fmla="*/ 72 w 108"/>
                <a:gd name="T5" fmla="*/ 38 h 89"/>
                <a:gd name="T6" fmla="*/ 68 w 108"/>
                <a:gd name="T7" fmla="*/ 36 h 89"/>
                <a:gd name="T8" fmla="*/ 60 w 108"/>
                <a:gd name="T9" fmla="*/ 30 h 89"/>
                <a:gd name="T10" fmla="*/ 60 w 108"/>
                <a:gd name="T11" fmla="*/ 30 h 89"/>
                <a:gd name="T12" fmla="*/ 61 w 108"/>
                <a:gd name="T13" fmla="*/ 13 h 89"/>
                <a:gd name="T14" fmla="*/ 50 w 108"/>
                <a:gd name="T15" fmla="*/ 8 h 89"/>
                <a:gd name="T16" fmla="*/ 48 w 108"/>
                <a:gd name="T17" fmla="*/ 11 h 89"/>
                <a:gd name="T18" fmla="*/ 97 w 108"/>
                <a:gd name="T19" fmla="*/ 0 h 89"/>
                <a:gd name="T20" fmla="*/ 93 w 108"/>
                <a:gd name="T21" fmla="*/ 0 h 89"/>
                <a:gd name="T22" fmla="*/ 90 w 108"/>
                <a:gd name="T23" fmla="*/ 3 h 89"/>
                <a:gd name="T24" fmla="*/ 86 w 108"/>
                <a:gd name="T25" fmla="*/ 6 h 89"/>
                <a:gd name="T26" fmla="*/ 78 w 108"/>
                <a:gd name="T27" fmla="*/ 9 h 89"/>
                <a:gd name="T28" fmla="*/ 61 w 108"/>
                <a:gd name="T29" fmla="*/ 7 h 89"/>
                <a:gd name="T30" fmla="*/ 42 w 108"/>
                <a:gd name="T31" fmla="*/ 6 h 89"/>
                <a:gd name="T32" fmla="*/ 29 w 108"/>
                <a:gd name="T33" fmla="*/ 3 h 89"/>
                <a:gd name="T34" fmla="*/ 10 w 108"/>
                <a:gd name="T35" fmla="*/ 9 h 89"/>
                <a:gd name="T36" fmla="*/ 9 w 108"/>
                <a:gd name="T37" fmla="*/ 10 h 89"/>
                <a:gd name="T38" fmla="*/ 1 w 108"/>
                <a:gd name="T39" fmla="*/ 15 h 89"/>
                <a:gd name="T40" fmla="*/ 4 w 108"/>
                <a:gd name="T41" fmla="*/ 20 h 89"/>
                <a:gd name="T42" fmla="*/ 14 w 108"/>
                <a:gd name="T43" fmla="*/ 17 h 89"/>
                <a:gd name="T44" fmla="*/ 23 w 108"/>
                <a:gd name="T45" fmla="*/ 17 h 89"/>
                <a:gd name="T46" fmla="*/ 26 w 108"/>
                <a:gd name="T47" fmla="*/ 17 h 89"/>
                <a:gd name="T48" fmla="*/ 30 w 108"/>
                <a:gd name="T49" fmla="*/ 32 h 89"/>
                <a:gd name="T50" fmla="*/ 20 w 108"/>
                <a:gd name="T51" fmla="*/ 53 h 89"/>
                <a:gd name="T52" fmla="*/ 29 w 108"/>
                <a:gd name="T53" fmla="*/ 57 h 89"/>
                <a:gd name="T54" fmla="*/ 51 w 108"/>
                <a:gd name="T55" fmla="*/ 79 h 89"/>
                <a:gd name="T56" fmla="*/ 53 w 108"/>
                <a:gd name="T57" fmla="*/ 85 h 89"/>
                <a:gd name="T58" fmla="*/ 59 w 108"/>
                <a:gd name="T59" fmla="*/ 89 h 89"/>
                <a:gd name="T60" fmla="*/ 58 w 108"/>
                <a:gd name="T61" fmla="*/ 82 h 89"/>
                <a:gd name="T62" fmla="*/ 54 w 108"/>
                <a:gd name="T63" fmla="*/ 82 h 89"/>
                <a:gd name="T64" fmla="*/ 52 w 108"/>
                <a:gd name="T65" fmla="*/ 78 h 89"/>
                <a:gd name="T66" fmla="*/ 53 w 108"/>
                <a:gd name="T67" fmla="*/ 74 h 89"/>
                <a:gd name="T68" fmla="*/ 46 w 108"/>
                <a:gd name="T69" fmla="*/ 78 h 89"/>
                <a:gd name="T70" fmla="*/ 51 w 108"/>
                <a:gd name="T71" fmla="*/ 61 h 89"/>
                <a:gd name="T72" fmla="*/ 75 w 108"/>
                <a:gd name="T73" fmla="*/ 52 h 89"/>
                <a:gd name="T74" fmla="*/ 90 w 108"/>
                <a:gd name="T75" fmla="*/ 38 h 89"/>
                <a:gd name="T76" fmla="*/ 95 w 108"/>
                <a:gd name="T77" fmla="*/ 32 h 89"/>
                <a:gd name="T78" fmla="*/ 89 w 108"/>
                <a:gd name="T79" fmla="*/ 34 h 89"/>
                <a:gd name="T80" fmla="*/ 107 w 108"/>
                <a:gd name="T81" fmla="*/ 26 h 89"/>
                <a:gd name="T82" fmla="*/ 106 w 108"/>
                <a:gd name="T83" fmla="*/ 24 h 89"/>
                <a:gd name="T84" fmla="*/ 98 w 108"/>
                <a:gd name="T85" fmla="*/ 15 h 89"/>
                <a:gd name="T86" fmla="*/ 78 w 108"/>
                <a:gd name="T87" fmla="*/ 30 h 89"/>
                <a:gd name="T88" fmla="*/ 72 w 108"/>
                <a:gd name="T89" fmla="*/ 21 h 89"/>
                <a:gd name="T90" fmla="*/ 77 w 108"/>
                <a:gd name="T91" fmla="*/ 11 h 89"/>
                <a:gd name="T92" fmla="*/ 81 w 108"/>
                <a:gd name="T93" fmla="*/ 9 h 89"/>
                <a:gd name="T94" fmla="*/ 97 w 108"/>
                <a:gd name="T95" fmla="*/ 4 h 89"/>
                <a:gd name="T96" fmla="*/ 108 w 108"/>
                <a:gd name="T97" fmla="*/ 8 h 89"/>
                <a:gd name="T98" fmla="*/ 99 w 108"/>
                <a:gd name="T9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8" h="89">
                  <a:moveTo>
                    <a:pt x="64" y="36"/>
                  </a:moveTo>
                  <a:cubicBezTo>
                    <a:pt x="63" y="36"/>
                    <a:pt x="63" y="36"/>
                    <a:pt x="63" y="36"/>
                  </a:cubicBezTo>
                  <a:cubicBezTo>
                    <a:pt x="63" y="33"/>
                    <a:pt x="66" y="32"/>
                    <a:pt x="70" y="32"/>
                  </a:cubicBezTo>
                  <a:cubicBezTo>
                    <a:pt x="70" y="32"/>
                    <a:pt x="71" y="32"/>
                    <a:pt x="72" y="32"/>
                  </a:cubicBezTo>
                  <a:cubicBezTo>
                    <a:pt x="72" y="35"/>
                    <a:pt x="72" y="37"/>
                    <a:pt x="75" y="37"/>
                  </a:cubicBezTo>
                  <a:cubicBezTo>
                    <a:pt x="75" y="37"/>
                    <a:pt x="76" y="37"/>
                    <a:pt x="76" y="36"/>
                  </a:cubicBezTo>
                  <a:cubicBezTo>
                    <a:pt x="77" y="40"/>
                    <a:pt x="72" y="38"/>
                    <a:pt x="72" y="41"/>
                  </a:cubicBezTo>
                  <a:cubicBezTo>
                    <a:pt x="74" y="40"/>
                    <a:pt x="77" y="40"/>
                    <a:pt x="80" y="39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6" y="41"/>
                    <a:pt x="74" y="43"/>
                    <a:pt x="69" y="44"/>
                  </a:cubicBezTo>
                  <a:cubicBezTo>
                    <a:pt x="70" y="42"/>
                    <a:pt x="71" y="42"/>
                    <a:pt x="72" y="41"/>
                  </a:cubicBezTo>
                  <a:cubicBezTo>
                    <a:pt x="71" y="40"/>
                    <a:pt x="70" y="39"/>
                    <a:pt x="72" y="38"/>
                  </a:cubicBezTo>
                  <a:cubicBezTo>
                    <a:pt x="70" y="38"/>
                    <a:pt x="69" y="39"/>
                    <a:pt x="67" y="39"/>
                  </a:cubicBezTo>
                  <a:cubicBezTo>
                    <a:pt x="68" y="42"/>
                    <a:pt x="67" y="43"/>
                    <a:pt x="65" y="43"/>
                  </a:cubicBezTo>
                  <a:cubicBezTo>
                    <a:pt x="64" y="43"/>
                    <a:pt x="64" y="43"/>
                    <a:pt x="64" y="43"/>
                  </a:cubicBezTo>
                  <a:cubicBezTo>
                    <a:pt x="65" y="41"/>
                    <a:pt x="66" y="38"/>
                    <a:pt x="68" y="36"/>
                  </a:cubicBezTo>
                  <a:cubicBezTo>
                    <a:pt x="68" y="36"/>
                    <a:pt x="67" y="36"/>
                    <a:pt x="66" y="36"/>
                  </a:cubicBezTo>
                  <a:cubicBezTo>
                    <a:pt x="66" y="36"/>
                    <a:pt x="65" y="36"/>
                    <a:pt x="65" y="36"/>
                  </a:cubicBezTo>
                  <a:cubicBezTo>
                    <a:pt x="64" y="36"/>
                    <a:pt x="64" y="36"/>
                    <a:pt x="64" y="36"/>
                  </a:cubicBezTo>
                  <a:moveTo>
                    <a:pt x="60" y="30"/>
                  </a:moveTo>
                  <a:cubicBezTo>
                    <a:pt x="60" y="30"/>
                    <a:pt x="60" y="30"/>
                    <a:pt x="60" y="30"/>
                  </a:cubicBezTo>
                  <a:cubicBezTo>
                    <a:pt x="60" y="28"/>
                    <a:pt x="59" y="25"/>
                    <a:pt x="62" y="25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62" y="26"/>
                    <a:pt x="63" y="30"/>
                    <a:pt x="60" y="30"/>
                  </a:cubicBezTo>
                  <a:moveTo>
                    <a:pt x="55" y="14"/>
                  </a:moveTo>
                  <a:cubicBezTo>
                    <a:pt x="56" y="14"/>
                    <a:pt x="56" y="13"/>
                    <a:pt x="57" y="13"/>
                  </a:cubicBezTo>
                  <a:cubicBezTo>
                    <a:pt x="58" y="13"/>
                    <a:pt x="59" y="13"/>
                    <a:pt x="60" y="13"/>
                  </a:cubicBezTo>
                  <a:cubicBezTo>
                    <a:pt x="60" y="13"/>
                    <a:pt x="60" y="13"/>
                    <a:pt x="61" y="13"/>
                  </a:cubicBezTo>
                  <a:cubicBezTo>
                    <a:pt x="58" y="15"/>
                    <a:pt x="54" y="16"/>
                    <a:pt x="49" y="16"/>
                  </a:cubicBezTo>
                  <a:cubicBezTo>
                    <a:pt x="49" y="13"/>
                    <a:pt x="54" y="16"/>
                    <a:pt x="53" y="13"/>
                  </a:cubicBezTo>
                  <a:cubicBezTo>
                    <a:pt x="53" y="13"/>
                    <a:pt x="54" y="14"/>
                    <a:pt x="55" y="14"/>
                  </a:cubicBezTo>
                  <a:moveTo>
                    <a:pt x="50" y="8"/>
                  </a:moveTo>
                  <a:cubicBezTo>
                    <a:pt x="51" y="8"/>
                    <a:pt x="51" y="8"/>
                    <a:pt x="52" y="8"/>
                  </a:cubicBezTo>
                  <a:cubicBezTo>
                    <a:pt x="53" y="7"/>
                    <a:pt x="54" y="7"/>
                    <a:pt x="55" y="7"/>
                  </a:cubicBezTo>
                  <a:cubicBezTo>
                    <a:pt x="55" y="7"/>
                    <a:pt x="56" y="7"/>
                    <a:pt x="57" y="8"/>
                  </a:cubicBezTo>
                  <a:cubicBezTo>
                    <a:pt x="55" y="10"/>
                    <a:pt x="52" y="11"/>
                    <a:pt x="48" y="11"/>
                  </a:cubicBezTo>
                  <a:cubicBezTo>
                    <a:pt x="48" y="10"/>
                    <a:pt x="48" y="9"/>
                    <a:pt x="48" y="8"/>
                  </a:cubicBezTo>
                  <a:cubicBezTo>
                    <a:pt x="49" y="8"/>
                    <a:pt x="49" y="8"/>
                    <a:pt x="50" y="8"/>
                  </a:cubicBezTo>
                  <a:moveTo>
                    <a:pt x="98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6" y="0"/>
                    <a:pt x="96" y="1"/>
                    <a:pt x="96" y="1"/>
                  </a:cubicBezTo>
                  <a:cubicBezTo>
                    <a:pt x="95" y="1"/>
                    <a:pt x="95" y="1"/>
                    <a:pt x="95" y="1"/>
                  </a:cubicBezTo>
                  <a:cubicBezTo>
                    <a:pt x="95" y="1"/>
                    <a:pt x="94" y="1"/>
                    <a:pt x="94" y="1"/>
                  </a:cubicBezTo>
                  <a:cubicBezTo>
                    <a:pt x="94" y="1"/>
                    <a:pt x="93" y="0"/>
                    <a:pt x="93" y="0"/>
                  </a:cubicBezTo>
                  <a:cubicBezTo>
                    <a:pt x="92" y="0"/>
                    <a:pt x="92" y="1"/>
                    <a:pt x="91" y="1"/>
                  </a:cubicBezTo>
                  <a:cubicBezTo>
                    <a:pt x="91" y="1"/>
                    <a:pt x="91" y="1"/>
                    <a:pt x="90" y="1"/>
                  </a:cubicBezTo>
                  <a:cubicBezTo>
                    <a:pt x="90" y="2"/>
                    <a:pt x="91" y="2"/>
                    <a:pt x="89" y="3"/>
                  </a:cubicBezTo>
                  <a:cubicBezTo>
                    <a:pt x="89" y="3"/>
                    <a:pt x="90" y="3"/>
                    <a:pt x="90" y="3"/>
                  </a:cubicBezTo>
                  <a:cubicBezTo>
                    <a:pt x="91" y="3"/>
                    <a:pt x="91" y="4"/>
                    <a:pt x="91" y="5"/>
                  </a:cubicBezTo>
                  <a:cubicBezTo>
                    <a:pt x="90" y="6"/>
                    <a:pt x="88" y="7"/>
                    <a:pt x="86" y="7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4" y="7"/>
                  </a:cubicBezTo>
                  <a:cubicBezTo>
                    <a:pt x="84" y="6"/>
                    <a:pt x="85" y="5"/>
                    <a:pt x="85" y="5"/>
                  </a:cubicBezTo>
                  <a:cubicBezTo>
                    <a:pt x="82" y="6"/>
                    <a:pt x="80" y="7"/>
                    <a:pt x="78" y="9"/>
                  </a:cubicBezTo>
                  <a:cubicBezTo>
                    <a:pt x="77" y="7"/>
                    <a:pt x="74" y="6"/>
                    <a:pt x="72" y="6"/>
                  </a:cubicBezTo>
                  <a:cubicBezTo>
                    <a:pt x="69" y="6"/>
                    <a:pt x="67" y="7"/>
                    <a:pt x="66" y="9"/>
                  </a:cubicBezTo>
                  <a:cubicBezTo>
                    <a:pt x="66" y="7"/>
                    <a:pt x="65" y="7"/>
                    <a:pt x="63" y="7"/>
                  </a:cubicBezTo>
                  <a:cubicBezTo>
                    <a:pt x="62" y="7"/>
                    <a:pt x="62" y="7"/>
                    <a:pt x="61" y="7"/>
                  </a:cubicBezTo>
                  <a:cubicBezTo>
                    <a:pt x="61" y="7"/>
                    <a:pt x="61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5"/>
                    <a:pt x="58" y="4"/>
                    <a:pt x="56" y="4"/>
                  </a:cubicBezTo>
                  <a:cubicBezTo>
                    <a:pt x="52" y="4"/>
                    <a:pt x="46" y="6"/>
                    <a:pt x="42" y="6"/>
                  </a:cubicBezTo>
                  <a:cubicBezTo>
                    <a:pt x="41" y="6"/>
                    <a:pt x="39" y="5"/>
                    <a:pt x="38" y="5"/>
                  </a:cubicBezTo>
                  <a:cubicBezTo>
                    <a:pt x="37" y="5"/>
                    <a:pt x="36" y="6"/>
                    <a:pt x="36" y="7"/>
                  </a:cubicBezTo>
                  <a:cubicBezTo>
                    <a:pt x="36" y="5"/>
                    <a:pt x="37" y="5"/>
                    <a:pt x="38" y="4"/>
                  </a:cubicBezTo>
                  <a:cubicBezTo>
                    <a:pt x="34" y="3"/>
                    <a:pt x="32" y="3"/>
                    <a:pt x="29" y="3"/>
                  </a:cubicBezTo>
                  <a:cubicBezTo>
                    <a:pt x="24" y="3"/>
                    <a:pt x="19" y="4"/>
                    <a:pt x="13" y="5"/>
                  </a:cubicBezTo>
                  <a:cubicBezTo>
                    <a:pt x="12" y="7"/>
                    <a:pt x="16" y="8"/>
                    <a:pt x="14" y="9"/>
                  </a:cubicBezTo>
                  <a:cubicBezTo>
                    <a:pt x="13" y="9"/>
                    <a:pt x="13" y="9"/>
                    <a:pt x="12" y="9"/>
                  </a:cubicBezTo>
                  <a:cubicBezTo>
                    <a:pt x="11" y="9"/>
                    <a:pt x="11" y="9"/>
                    <a:pt x="10" y="9"/>
                  </a:cubicBezTo>
                  <a:cubicBezTo>
                    <a:pt x="10" y="9"/>
                    <a:pt x="9" y="9"/>
                    <a:pt x="9" y="9"/>
                  </a:cubicBezTo>
                  <a:cubicBezTo>
                    <a:pt x="8" y="9"/>
                    <a:pt x="7" y="9"/>
                    <a:pt x="6" y="11"/>
                  </a:cubicBezTo>
                  <a:cubicBezTo>
                    <a:pt x="6" y="11"/>
                    <a:pt x="6" y="11"/>
                    <a:pt x="7" y="11"/>
                  </a:cubicBezTo>
                  <a:cubicBezTo>
                    <a:pt x="7" y="11"/>
                    <a:pt x="8" y="11"/>
                    <a:pt x="9" y="10"/>
                  </a:cubicBezTo>
                  <a:cubicBezTo>
                    <a:pt x="9" y="10"/>
                    <a:pt x="10" y="10"/>
                    <a:pt x="10" y="10"/>
                  </a:cubicBezTo>
                  <a:cubicBezTo>
                    <a:pt x="11" y="10"/>
                    <a:pt x="11" y="10"/>
                    <a:pt x="11" y="11"/>
                  </a:cubicBezTo>
                  <a:cubicBezTo>
                    <a:pt x="9" y="13"/>
                    <a:pt x="0" y="13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5"/>
                    <a:pt x="3" y="16"/>
                    <a:pt x="3" y="16"/>
                  </a:cubicBezTo>
                  <a:cubicBezTo>
                    <a:pt x="2" y="17"/>
                    <a:pt x="1" y="17"/>
                    <a:pt x="0" y="18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5" y="18"/>
                    <a:pt x="5" y="18"/>
                    <a:pt x="4" y="20"/>
                  </a:cubicBezTo>
                  <a:cubicBezTo>
                    <a:pt x="7" y="19"/>
                    <a:pt x="9" y="16"/>
                    <a:pt x="13" y="16"/>
                  </a:cubicBezTo>
                  <a:cubicBezTo>
                    <a:pt x="13" y="16"/>
                    <a:pt x="14" y="16"/>
                    <a:pt x="15" y="16"/>
                  </a:cubicBezTo>
                  <a:cubicBezTo>
                    <a:pt x="14" y="16"/>
                    <a:pt x="13" y="16"/>
                    <a:pt x="13" y="17"/>
                  </a:cubicBezTo>
                  <a:cubicBezTo>
                    <a:pt x="13" y="17"/>
                    <a:pt x="14" y="17"/>
                    <a:pt x="14" y="17"/>
                  </a:cubicBezTo>
                  <a:cubicBezTo>
                    <a:pt x="16" y="17"/>
                    <a:pt x="16" y="16"/>
                    <a:pt x="15" y="15"/>
                  </a:cubicBezTo>
                  <a:cubicBezTo>
                    <a:pt x="15" y="15"/>
                    <a:pt x="16" y="14"/>
                    <a:pt x="17" y="14"/>
                  </a:cubicBezTo>
                  <a:cubicBezTo>
                    <a:pt x="18" y="14"/>
                    <a:pt x="19" y="15"/>
                    <a:pt x="20" y="16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3" y="17"/>
                    <a:pt x="24" y="16"/>
                    <a:pt x="25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24"/>
                    <a:pt x="27" y="27"/>
                    <a:pt x="30" y="32"/>
                  </a:cubicBezTo>
                  <a:cubicBezTo>
                    <a:pt x="30" y="32"/>
                    <a:pt x="29" y="32"/>
                    <a:pt x="29" y="33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5"/>
                    <a:pt x="27" y="34"/>
                    <a:pt x="26" y="34"/>
                  </a:cubicBezTo>
                  <a:cubicBezTo>
                    <a:pt x="23" y="41"/>
                    <a:pt x="18" y="44"/>
                    <a:pt x="20" y="53"/>
                  </a:cubicBezTo>
                  <a:cubicBezTo>
                    <a:pt x="22" y="54"/>
                    <a:pt x="23" y="56"/>
                    <a:pt x="26" y="57"/>
                  </a:cubicBezTo>
                  <a:cubicBezTo>
                    <a:pt x="20" y="58"/>
                    <a:pt x="27" y="68"/>
                    <a:pt x="28" y="70"/>
                  </a:cubicBezTo>
                  <a:cubicBezTo>
                    <a:pt x="27" y="66"/>
                    <a:pt x="21" y="57"/>
                    <a:pt x="27" y="57"/>
                  </a:cubicBezTo>
                  <a:cubicBezTo>
                    <a:pt x="28" y="57"/>
                    <a:pt x="28" y="57"/>
                    <a:pt x="29" y="57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4" y="64"/>
                    <a:pt x="36" y="69"/>
                    <a:pt x="33" y="76"/>
                  </a:cubicBezTo>
                  <a:cubicBezTo>
                    <a:pt x="37" y="80"/>
                    <a:pt x="43" y="81"/>
                    <a:pt x="48" y="82"/>
                  </a:cubicBezTo>
                  <a:cubicBezTo>
                    <a:pt x="49" y="80"/>
                    <a:pt x="50" y="79"/>
                    <a:pt x="51" y="79"/>
                  </a:cubicBezTo>
                  <a:cubicBezTo>
                    <a:pt x="53" y="82"/>
                    <a:pt x="49" y="80"/>
                    <a:pt x="49" y="84"/>
                  </a:cubicBezTo>
                  <a:cubicBezTo>
                    <a:pt x="50" y="84"/>
                    <a:pt x="51" y="84"/>
                    <a:pt x="51" y="84"/>
                  </a:cubicBezTo>
                  <a:cubicBezTo>
                    <a:pt x="51" y="85"/>
                    <a:pt x="51" y="85"/>
                    <a:pt x="51" y="85"/>
                  </a:cubicBezTo>
                  <a:cubicBezTo>
                    <a:pt x="52" y="85"/>
                    <a:pt x="52" y="85"/>
                    <a:pt x="53" y="8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4" y="85"/>
                    <a:pt x="54" y="85"/>
                    <a:pt x="54" y="85"/>
                  </a:cubicBezTo>
                  <a:cubicBezTo>
                    <a:pt x="55" y="85"/>
                    <a:pt x="55" y="85"/>
                    <a:pt x="55" y="86"/>
                  </a:cubicBezTo>
                  <a:cubicBezTo>
                    <a:pt x="54" y="87"/>
                    <a:pt x="59" y="87"/>
                    <a:pt x="59" y="89"/>
                  </a:cubicBezTo>
                  <a:cubicBezTo>
                    <a:pt x="59" y="87"/>
                    <a:pt x="59" y="84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59" y="83"/>
                    <a:pt x="59" y="83"/>
                    <a:pt x="59" y="83"/>
                  </a:cubicBezTo>
                  <a:cubicBezTo>
                    <a:pt x="59" y="82"/>
                    <a:pt x="58" y="82"/>
                    <a:pt x="58" y="82"/>
                  </a:cubicBezTo>
                  <a:cubicBezTo>
                    <a:pt x="57" y="82"/>
                    <a:pt x="57" y="82"/>
                    <a:pt x="56" y="82"/>
                  </a:cubicBezTo>
                  <a:cubicBezTo>
                    <a:pt x="56" y="82"/>
                    <a:pt x="55" y="82"/>
                    <a:pt x="55" y="82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53" y="82"/>
                    <a:pt x="53" y="81"/>
                    <a:pt x="53" y="81"/>
                  </a:cubicBezTo>
                  <a:cubicBezTo>
                    <a:pt x="53" y="80"/>
                    <a:pt x="54" y="81"/>
                    <a:pt x="54" y="79"/>
                  </a:cubicBezTo>
                  <a:cubicBezTo>
                    <a:pt x="53" y="79"/>
                    <a:pt x="53" y="78"/>
                    <a:pt x="52" y="78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4" y="77"/>
                    <a:pt x="56" y="76"/>
                    <a:pt x="57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5" y="73"/>
                    <a:pt x="55" y="73"/>
                  </a:cubicBezTo>
                  <a:cubicBezTo>
                    <a:pt x="54" y="74"/>
                    <a:pt x="54" y="74"/>
                    <a:pt x="53" y="74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53" y="77"/>
                    <a:pt x="51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6" y="78"/>
                  </a:cubicBezTo>
                  <a:cubicBezTo>
                    <a:pt x="46" y="78"/>
                    <a:pt x="45" y="78"/>
                    <a:pt x="44" y="78"/>
                  </a:cubicBezTo>
                  <a:cubicBezTo>
                    <a:pt x="43" y="75"/>
                    <a:pt x="43" y="70"/>
                    <a:pt x="44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5" y="63"/>
                    <a:pt x="48" y="61"/>
                    <a:pt x="51" y="61"/>
                  </a:cubicBezTo>
                  <a:cubicBezTo>
                    <a:pt x="52" y="61"/>
                    <a:pt x="54" y="61"/>
                    <a:pt x="55" y="62"/>
                  </a:cubicBezTo>
                  <a:cubicBezTo>
                    <a:pt x="56" y="60"/>
                    <a:pt x="57" y="59"/>
                    <a:pt x="59" y="59"/>
                  </a:cubicBezTo>
                  <a:cubicBezTo>
                    <a:pt x="62" y="59"/>
                    <a:pt x="65" y="62"/>
                    <a:pt x="66" y="65"/>
                  </a:cubicBezTo>
                  <a:cubicBezTo>
                    <a:pt x="66" y="59"/>
                    <a:pt x="69" y="54"/>
                    <a:pt x="75" y="52"/>
                  </a:cubicBezTo>
                  <a:cubicBezTo>
                    <a:pt x="74" y="49"/>
                    <a:pt x="76" y="46"/>
                    <a:pt x="78" y="46"/>
                  </a:cubicBezTo>
                  <a:cubicBezTo>
                    <a:pt x="79" y="46"/>
                    <a:pt x="79" y="46"/>
                    <a:pt x="80" y="46"/>
                  </a:cubicBezTo>
                  <a:cubicBezTo>
                    <a:pt x="82" y="43"/>
                    <a:pt x="86" y="40"/>
                    <a:pt x="90" y="38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2" y="38"/>
                    <a:pt x="92" y="37"/>
                    <a:pt x="93" y="37"/>
                  </a:cubicBezTo>
                  <a:cubicBezTo>
                    <a:pt x="93" y="37"/>
                    <a:pt x="94" y="37"/>
                    <a:pt x="94" y="37"/>
                  </a:cubicBezTo>
                  <a:cubicBezTo>
                    <a:pt x="92" y="33"/>
                    <a:pt x="95" y="33"/>
                    <a:pt x="95" y="32"/>
                  </a:cubicBezTo>
                  <a:cubicBezTo>
                    <a:pt x="95" y="32"/>
                    <a:pt x="95" y="32"/>
                    <a:pt x="94" y="32"/>
                  </a:cubicBezTo>
                  <a:cubicBezTo>
                    <a:pt x="93" y="32"/>
                    <a:pt x="92" y="33"/>
                    <a:pt x="90" y="34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90" y="34"/>
                    <a:pt x="90" y="34"/>
                    <a:pt x="89" y="34"/>
                  </a:cubicBezTo>
                  <a:cubicBezTo>
                    <a:pt x="89" y="35"/>
                    <a:pt x="89" y="35"/>
                    <a:pt x="89" y="35"/>
                  </a:cubicBezTo>
                  <a:cubicBezTo>
                    <a:pt x="89" y="35"/>
                    <a:pt x="89" y="35"/>
                    <a:pt x="88" y="34"/>
                  </a:cubicBezTo>
                  <a:cubicBezTo>
                    <a:pt x="90" y="29"/>
                    <a:pt x="104" y="32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6" y="26"/>
                    <a:pt x="106" y="26"/>
                    <a:pt x="105" y="26"/>
                  </a:cubicBezTo>
                  <a:cubicBezTo>
                    <a:pt x="105" y="26"/>
                    <a:pt x="105" y="26"/>
                    <a:pt x="104" y="26"/>
                  </a:cubicBezTo>
                  <a:cubicBezTo>
                    <a:pt x="104" y="26"/>
                    <a:pt x="104" y="26"/>
                    <a:pt x="103" y="26"/>
                  </a:cubicBezTo>
                  <a:cubicBezTo>
                    <a:pt x="104" y="25"/>
                    <a:pt x="106" y="26"/>
                    <a:pt x="106" y="24"/>
                  </a:cubicBezTo>
                  <a:cubicBezTo>
                    <a:pt x="102" y="24"/>
                    <a:pt x="104" y="20"/>
                    <a:pt x="103" y="17"/>
                  </a:cubicBezTo>
                  <a:cubicBezTo>
                    <a:pt x="102" y="19"/>
                    <a:pt x="101" y="20"/>
                    <a:pt x="99" y="20"/>
                  </a:cubicBezTo>
                  <a:cubicBezTo>
                    <a:pt x="99" y="20"/>
                    <a:pt x="98" y="20"/>
                    <a:pt x="98" y="20"/>
                  </a:cubicBezTo>
                  <a:cubicBezTo>
                    <a:pt x="97" y="19"/>
                    <a:pt x="97" y="16"/>
                    <a:pt x="98" y="15"/>
                  </a:cubicBezTo>
                  <a:cubicBezTo>
                    <a:pt x="96" y="15"/>
                    <a:pt x="94" y="14"/>
                    <a:pt x="92" y="13"/>
                  </a:cubicBezTo>
                  <a:cubicBezTo>
                    <a:pt x="91" y="18"/>
                    <a:pt x="88" y="18"/>
                    <a:pt x="88" y="22"/>
                  </a:cubicBezTo>
                  <a:cubicBezTo>
                    <a:pt x="84" y="23"/>
                    <a:pt x="83" y="27"/>
                    <a:pt x="81" y="30"/>
                  </a:cubicBezTo>
                  <a:cubicBezTo>
                    <a:pt x="80" y="30"/>
                    <a:pt x="79" y="30"/>
                    <a:pt x="78" y="30"/>
                  </a:cubicBezTo>
                  <a:cubicBezTo>
                    <a:pt x="78" y="28"/>
                    <a:pt x="79" y="26"/>
                    <a:pt x="80" y="24"/>
                  </a:cubicBezTo>
                  <a:cubicBezTo>
                    <a:pt x="80" y="24"/>
                    <a:pt x="79" y="24"/>
                    <a:pt x="79" y="24"/>
                  </a:cubicBezTo>
                  <a:cubicBezTo>
                    <a:pt x="77" y="24"/>
                    <a:pt x="76" y="23"/>
                    <a:pt x="75" y="22"/>
                  </a:cubicBezTo>
                  <a:cubicBezTo>
                    <a:pt x="75" y="22"/>
                    <a:pt x="74" y="21"/>
                    <a:pt x="72" y="21"/>
                  </a:cubicBezTo>
                  <a:cubicBezTo>
                    <a:pt x="72" y="21"/>
                    <a:pt x="71" y="21"/>
                    <a:pt x="70" y="22"/>
                  </a:cubicBezTo>
                  <a:cubicBezTo>
                    <a:pt x="72" y="20"/>
                    <a:pt x="71" y="19"/>
                    <a:pt x="70" y="17"/>
                  </a:cubicBezTo>
                  <a:cubicBezTo>
                    <a:pt x="72" y="15"/>
                    <a:pt x="81" y="13"/>
                    <a:pt x="77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8" y="11"/>
                    <a:pt x="78" y="11"/>
                    <a:pt x="79" y="11"/>
                  </a:cubicBezTo>
                  <a:cubicBezTo>
                    <a:pt x="81" y="11"/>
                    <a:pt x="83" y="11"/>
                    <a:pt x="84" y="10"/>
                  </a:cubicBezTo>
                  <a:cubicBezTo>
                    <a:pt x="82" y="10"/>
                    <a:pt x="81" y="10"/>
                    <a:pt x="81" y="9"/>
                  </a:cubicBezTo>
                  <a:cubicBezTo>
                    <a:pt x="86" y="9"/>
                    <a:pt x="91" y="9"/>
                    <a:pt x="93" y="5"/>
                  </a:cubicBezTo>
                  <a:cubicBezTo>
                    <a:pt x="93" y="4"/>
                    <a:pt x="94" y="4"/>
                    <a:pt x="95" y="4"/>
                  </a:cubicBezTo>
                  <a:cubicBezTo>
                    <a:pt x="95" y="4"/>
                    <a:pt x="96" y="4"/>
                    <a:pt x="96" y="4"/>
                  </a:cubicBezTo>
                  <a:cubicBezTo>
                    <a:pt x="96" y="4"/>
                    <a:pt x="97" y="4"/>
                    <a:pt x="97" y="4"/>
                  </a:cubicBezTo>
                  <a:cubicBezTo>
                    <a:pt x="98" y="4"/>
                    <a:pt x="98" y="4"/>
                    <a:pt x="99" y="3"/>
                  </a:cubicBezTo>
                  <a:cubicBezTo>
                    <a:pt x="101" y="4"/>
                    <a:pt x="102" y="5"/>
                    <a:pt x="102" y="7"/>
                  </a:cubicBezTo>
                  <a:cubicBezTo>
                    <a:pt x="103" y="8"/>
                    <a:pt x="105" y="8"/>
                    <a:pt x="107" y="8"/>
                  </a:cubicBezTo>
                  <a:cubicBezTo>
                    <a:pt x="107" y="8"/>
                    <a:pt x="108" y="8"/>
                    <a:pt x="108" y="8"/>
                  </a:cubicBezTo>
                  <a:cubicBezTo>
                    <a:pt x="108" y="4"/>
                    <a:pt x="101" y="4"/>
                    <a:pt x="103" y="1"/>
                  </a:cubicBezTo>
                  <a:cubicBezTo>
                    <a:pt x="101" y="1"/>
                    <a:pt x="100" y="2"/>
                    <a:pt x="99" y="2"/>
                  </a:cubicBezTo>
                  <a:cubicBezTo>
                    <a:pt x="98" y="2"/>
                    <a:pt x="98" y="2"/>
                    <a:pt x="97" y="1"/>
                  </a:cubicBezTo>
                  <a:cubicBezTo>
                    <a:pt x="97" y="0"/>
                    <a:pt x="98" y="1"/>
                    <a:pt x="99" y="0"/>
                  </a:cubicBezTo>
                  <a:cubicBezTo>
                    <a:pt x="98" y="0"/>
                    <a:pt x="98" y="0"/>
                    <a:pt x="9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60" name="Freeform 24"/>
            <p:cNvSpPr>
              <a:spLocks/>
            </p:cNvSpPr>
            <p:nvPr/>
          </p:nvSpPr>
          <p:spPr bwMode="auto">
            <a:xfrm>
              <a:off x="3082130" y="2843213"/>
              <a:ext cx="49213" cy="47625"/>
            </a:xfrm>
            <a:custGeom>
              <a:avLst/>
              <a:gdLst>
                <a:gd name="T0" fmla="*/ 2 w 7"/>
                <a:gd name="T1" fmla="*/ 0 h 7"/>
                <a:gd name="T2" fmla="*/ 0 w 7"/>
                <a:gd name="T3" fmla="*/ 4 h 7"/>
                <a:gd name="T4" fmla="*/ 0 w 7"/>
                <a:gd name="T5" fmla="*/ 4 h 7"/>
                <a:gd name="T6" fmla="*/ 1 w 7"/>
                <a:gd name="T7" fmla="*/ 5 h 7"/>
                <a:gd name="T8" fmla="*/ 2 w 7"/>
                <a:gd name="T9" fmla="*/ 7 h 7"/>
                <a:gd name="T10" fmla="*/ 3 w 7"/>
                <a:gd name="T11" fmla="*/ 6 h 7"/>
                <a:gd name="T12" fmla="*/ 3 w 7"/>
                <a:gd name="T13" fmla="*/ 4 h 7"/>
                <a:gd name="T14" fmla="*/ 5 w 7"/>
                <a:gd name="T15" fmla="*/ 5 h 7"/>
                <a:gd name="T16" fmla="*/ 6 w 7"/>
                <a:gd name="T17" fmla="*/ 5 h 7"/>
                <a:gd name="T18" fmla="*/ 6 w 7"/>
                <a:gd name="T19" fmla="*/ 5 h 7"/>
                <a:gd name="T20" fmla="*/ 2 w 7"/>
                <a:gd name="T21" fmla="*/ 1 h 7"/>
                <a:gd name="T22" fmla="*/ 2 w 7"/>
                <a:gd name="T23" fmla="*/ 1 h 7"/>
                <a:gd name="T24" fmla="*/ 2 w 7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cubicBezTo>
                    <a:pt x="1" y="1"/>
                    <a:pt x="0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1" y="5"/>
                    <a:pt x="1" y="5"/>
                  </a:cubicBezTo>
                  <a:cubicBezTo>
                    <a:pt x="1" y="6"/>
                    <a:pt x="2" y="7"/>
                    <a:pt x="2" y="7"/>
                  </a:cubicBezTo>
                  <a:cubicBezTo>
                    <a:pt x="3" y="7"/>
                    <a:pt x="3" y="6"/>
                    <a:pt x="3" y="6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3" y="4"/>
                    <a:pt x="4" y="5"/>
                    <a:pt x="5" y="5"/>
                  </a:cubicBezTo>
                  <a:cubicBezTo>
                    <a:pt x="5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2"/>
                    <a:pt x="4" y="2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61" name="Freeform 25"/>
            <p:cNvSpPr>
              <a:spLocks/>
            </p:cNvSpPr>
            <p:nvPr/>
          </p:nvSpPr>
          <p:spPr bwMode="auto">
            <a:xfrm>
              <a:off x="2801143" y="2781301"/>
              <a:ext cx="123825" cy="47625"/>
            </a:xfrm>
            <a:custGeom>
              <a:avLst/>
              <a:gdLst>
                <a:gd name="T0" fmla="*/ 5 w 18"/>
                <a:gd name="T1" fmla="*/ 0 h 7"/>
                <a:gd name="T2" fmla="*/ 3 w 18"/>
                <a:gd name="T3" fmla="*/ 1 h 7"/>
                <a:gd name="T4" fmla="*/ 0 w 18"/>
                <a:gd name="T5" fmla="*/ 4 h 7"/>
                <a:gd name="T6" fmla="*/ 1 w 18"/>
                <a:gd name="T7" fmla="*/ 4 h 7"/>
                <a:gd name="T8" fmla="*/ 4 w 18"/>
                <a:gd name="T9" fmla="*/ 3 h 7"/>
                <a:gd name="T10" fmla="*/ 7 w 18"/>
                <a:gd name="T11" fmla="*/ 2 h 7"/>
                <a:gd name="T12" fmla="*/ 9 w 18"/>
                <a:gd name="T13" fmla="*/ 3 h 7"/>
                <a:gd name="T14" fmla="*/ 7 w 18"/>
                <a:gd name="T15" fmla="*/ 3 h 7"/>
                <a:gd name="T16" fmla="*/ 7 w 18"/>
                <a:gd name="T17" fmla="*/ 5 h 7"/>
                <a:gd name="T18" fmla="*/ 5 w 18"/>
                <a:gd name="T19" fmla="*/ 5 h 7"/>
                <a:gd name="T20" fmla="*/ 5 w 18"/>
                <a:gd name="T21" fmla="*/ 6 h 7"/>
                <a:gd name="T22" fmla="*/ 8 w 18"/>
                <a:gd name="T23" fmla="*/ 7 h 7"/>
                <a:gd name="T24" fmla="*/ 18 w 18"/>
                <a:gd name="T25" fmla="*/ 5 h 7"/>
                <a:gd name="T26" fmla="*/ 18 w 18"/>
                <a:gd name="T27" fmla="*/ 5 h 7"/>
                <a:gd name="T28" fmla="*/ 18 w 18"/>
                <a:gd name="T29" fmla="*/ 2 h 7"/>
                <a:gd name="T30" fmla="*/ 14 w 18"/>
                <a:gd name="T31" fmla="*/ 3 h 7"/>
                <a:gd name="T32" fmla="*/ 10 w 18"/>
                <a:gd name="T33" fmla="*/ 3 h 7"/>
                <a:gd name="T34" fmla="*/ 10 w 18"/>
                <a:gd name="T35" fmla="*/ 1 h 7"/>
                <a:gd name="T36" fmla="*/ 8 w 18"/>
                <a:gd name="T37" fmla="*/ 1 h 7"/>
                <a:gd name="T38" fmla="*/ 7 w 18"/>
                <a:gd name="T39" fmla="*/ 1 h 7"/>
                <a:gd name="T40" fmla="*/ 5 w 18"/>
                <a:gd name="T4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" h="7">
                  <a:moveTo>
                    <a:pt x="5" y="0"/>
                  </a:moveTo>
                  <a:cubicBezTo>
                    <a:pt x="4" y="0"/>
                    <a:pt x="4" y="0"/>
                    <a:pt x="3" y="1"/>
                  </a:cubicBezTo>
                  <a:cubicBezTo>
                    <a:pt x="3" y="3"/>
                    <a:pt x="0" y="2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4"/>
                    <a:pt x="3" y="3"/>
                    <a:pt x="4" y="3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8" y="2"/>
                    <a:pt x="8" y="2"/>
                    <a:pt x="9" y="3"/>
                  </a:cubicBezTo>
                  <a:cubicBezTo>
                    <a:pt x="8" y="3"/>
                    <a:pt x="7" y="2"/>
                    <a:pt x="7" y="3"/>
                  </a:cubicBezTo>
                  <a:cubicBezTo>
                    <a:pt x="4" y="4"/>
                    <a:pt x="9" y="3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4" y="5"/>
                    <a:pt x="4" y="5"/>
                    <a:pt x="5" y="6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12" y="7"/>
                    <a:pt x="16" y="6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5" y="5"/>
                    <a:pt x="18" y="4"/>
                    <a:pt x="18" y="2"/>
                  </a:cubicBezTo>
                  <a:cubicBezTo>
                    <a:pt x="16" y="3"/>
                    <a:pt x="15" y="3"/>
                    <a:pt x="14" y="3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1"/>
                    <a:pt x="9" y="2"/>
                    <a:pt x="10" y="1"/>
                  </a:cubicBezTo>
                  <a:cubicBezTo>
                    <a:pt x="9" y="1"/>
                    <a:pt x="9" y="1"/>
                    <a:pt x="8" y="1"/>
                  </a:cubicBezTo>
                  <a:cubicBezTo>
                    <a:pt x="8" y="1"/>
                    <a:pt x="7" y="1"/>
                    <a:pt x="7" y="1"/>
                  </a:cubicBezTo>
                  <a:cubicBezTo>
                    <a:pt x="6" y="1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62" name="Rectangle 26"/>
            <p:cNvSpPr>
              <a:spLocks noChangeArrowheads="1"/>
            </p:cNvSpPr>
            <p:nvPr/>
          </p:nvSpPr>
          <p:spPr bwMode="auto">
            <a:xfrm>
              <a:off x="2896393" y="3076576"/>
              <a:ext cx="158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63" name="Freeform 27"/>
            <p:cNvSpPr>
              <a:spLocks/>
            </p:cNvSpPr>
            <p:nvPr/>
          </p:nvSpPr>
          <p:spPr bwMode="auto">
            <a:xfrm>
              <a:off x="2896393" y="307657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64" name="Freeform 28"/>
            <p:cNvSpPr>
              <a:spLocks/>
            </p:cNvSpPr>
            <p:nvPr/>
          </p:nvSpPr>
          <p:spPr bwMode="auto">
            <a:xfrm>
              <a:off x="2855118" y="3243263"/>
              <a:ext cx="0" cy="12700"/>
            </a:xfrm>
            <a:custGeom>
              <a:avLst/>
              <a:gdLst>
                <a:gd name="T0" fmla="*/ 0 h 2"/>
                <a:gd name="T1" fmla="*/ 2 h 2"/>
                <a:gd name="T2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65" name="Freeform 29"/>
            <p:cNvSpPr>
              <a:spLocks/>
            </p:cNvSpPr>
            <p:nvPr/>
          </p:nvSpPr>
          <p:spPr bwMode="auto">
            <a:xfrm>
              <a:off x="2986880" y="2863851"/>
              <a:ext cx="20638" cy="14288"/>
            </a:xfrm>
            <a:custGeom>
              <a:avLst/>
              <a:gdLst>
                <a:gd name="T0" fmla="*/ 2 w 3"/>
                <a:gd name="T1" fmla="*/ 0 h 2"/>
                <a:gd name="T2" fmla="*/ 0 w 3"/>
                <a:gd name="T3" fmla="*/ 2 h 2"/>
                <a:gd name="T4" fmla="*/ 3 w 3"/>
                <a:gd name="T5" fmla="*/ 0 h 2"/>
                <a:gd name="T6" fmla="*/ 2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0"/>
                    <a:pt x="0" y="2"/>
                  </a:cubicBezTo>
                  <a:cubicBezTo>
                    <a:pt x="2" y="2"/>
                    <a:pt x="2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66" name="Freeform 30"/>
            <p:cNvSpPr>
              <a:spLocks/>
            </p:cNvSpPr>
            <p:nvPr/>
          </p:nvSpPr>
          <p:spPr bwMode="auto">
            <a:xfrm>
              <a:off x="3536155" y="2932113"/>
              <a:ext cx="47625" cy="69850"/>
            </a:xfrm>
            <a:custGeom>
              <a:avLst/>
              <a:gdLst>
                <a:gd name="T0" fmla="*/ 3 w 7"/>
                <a:gd name="T1" fmla="*/ 0 h 10"/>
                <a:gd name="T2" fmla="*/ 1 w 7"/>
                <a:gd name="T3" fmla="*/ 0 h 10"/>
                <a:gd name="T4" fmla="*/ 1 w 7"/>
                <a:gd name="T5" fmla="*/ 4 h 10"/>
                <a:gd name="T6" fmla="*/ 3 w 7"/>
                <a:gd name="T7" fmla="*/ 4 h 10"/>
                <a:gd name="T8" fmla="*/ 1 w 7"/>
                <a:gd name="T9" fmla="*/ 8 h 10"/>
                <a:gd name="T10" fmla="*/ 3 w 7"/>
                <a:gd name="T11" fmla="*/ 9 h 10"/>
                <a:gd name="T12" fmla="*/ 2 w 7"/>
                <a:gd name="T13" fmla="*/ 10 h 10"/>
                <a:gd name="T14" fmla="*/ 3 w 7"/>
                <a:gd name="T15" fmla="*/ 10 h 10"/>
                <a:gd name="T16" fmla="*/ 4 w 7"/>
                <a:gd name="T17" fmla="*/ 10 h 10"/>
                <a:gd name="T18" fmla="*/ 5 w 7"/>
                <a:gd name="T19" fmla="*/ 10 h 10"/>
                <a:gd name="T20" fmla="*/ 6 w 7"/>
                <a:gd name="T21" fmla="*/ 9 h 10"/>
                <a:gd name="T22" fmla="*/ 7 w 7"/>
                <a:gd name="T23" fmla="*/ 7 h 10"/>
                <a:gd name="T24" fmla="*/ 3 w 7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10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0" y="2"/>
                    <a:pt x="2" y="2"/>
                    <a:pt x="1" y="4"/>
                  </a:cubicBezTo>
                  <a:cubicBezTo>
                    <a:pt x="1" y="4"/>
                    <a:pt x="3" y="3"/>
                    <a:pt x="3" y="4"/>
                  </a:cubicBezTo>
                  <a:cubicBezTo>
                    <a:pt x="3" y="7"/>
                    <a:pt x="1" y="6"/>
                    <a:pt x="1" y="8"/>
                  </a:cubicBezTo>
                  <a:cubicBezTo>
                    <a:pt x="1" y="8"/>
                    <a:pt x="3" y="8"/>
                    <a:pt x="3" y="9"/>
                  </a:cubicBezTo>
                  <a:cubicBezTo>
                    <a:pt x="2" y="9"/>
                    <a:pt x="2" y="9"/>
                    <a:pt x="2" y="10"/>
                  </a:cubicBezTo>
                  <a:cubicBezTo>
                    <a:pt x="2" y="10"/>
                    <a:pt x="2" y="10"/>
                    <a:pt x="3" y="10"/>
                  </a:cubicBezTo>
                  <a:cubicBezTo>
                    <a:pt x="3" y="10"/>
                    <a:pt x="3" y="10"/>
                    <a:pt x="4" y="10"/>
                  </a:cubicBezTo>
                  <a:cubicBezTo>
                    <a:pt x="4" y="10"/>
                    <a:pt x="5" y="10"/>
                    <a:pt x="5" y="10"/>
                  </a:cubicBezTo>
                  <a:cubicBezTo>
                    <a:pt x="6" y="10"/>
                    <a:pt x="6" y="10"/>
                    <a:pt x="6" y="9"/>
                  </a:cubicBezTo>
                  <a:cubicBezTo>
                    <a:pt x="4" y="9"/>
                    <a:pt x="7" y="8"/>
                    <a:pt x="7" y="7"/>
                  </a:cubicBezTo>
                  <a:cubicBezTo>
                    <a:pt x="5" y="4"/>
                    <a:pt x="1" y="3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67" name="Freeform 31"/>
            <p:cNvSpPr>
              <a:spLocks/>
            </p:cNvSpPr>
            <p:nvPr/>
          </p:nvSpPr>
          <p:spPr bwMode="auto">
            <a:xfrm>
              <a:off x="3110705" y="3001963"/>
              <a:ext cx="33338" cy="26988"/>
            </a:xfrm>
            <a:custGeom>
              <a:avLst/>
              <a:gdLst>
                <a:gd name="T0" fmla="*/ 2 w 5"/>
                <a:gd name="T1" fmla="*/ 0 h 4"/>
                <a:gd name="T2" fmla="*/ 0 w 5"/>
                <a:gd name="T3" fmla="*/ 4 h 4"/>
                <a:gd name="T4" fmla="*/ 4 w 5"/>
                <a:gd name="T5" fmla="*/ 4 h 4"/>
                <a:gd name="T6" fmla="*/ 2 w 5"/>
                <a:gd name="T7" fmla="*/ 0 h 4"/>
                <a:gd name="T8" fmla="*/ 2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2" y="1"/>
                    <a:pt x="1" y="2"/>
                    <a:pt x="0" y="4"/>
                  </a:cubicBezTo>
                  <a:cubicBezTo>
                    <a:pt x="1" y="4"/>
                    <a:pt x="3" y="4"/>
                    <a:pt x="4" y="4"/>
                  </a:cubicBezTo>
                  <a:cubicBezTo>
                    <a:pt x="5" y="1"/>
                    <a:pt x="2" y="3"/>
                    <a:pt x="2" y="0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68" name="Freeform 32"/>
            <p:cNvSpPr>
              <a:spLocks/>
            </p:cNvSpPr>
            <p:nvPr/>
          </p:nvSpPr>
          <p:spPr bwMode="auto">
            <a:xfrm>
              <a:off x="4688680" y="3105151"/>
              <a:ext cx="69850" cy="61913"/>
            </a:xfrm>
            <a:custGeom>
              <a:avLst/>
              <a:gdLst>
                <a:gd name="T0" fmla="*/ 6 w 10"/>
                <a:gd name="T1" fmla="*/ 0 h 9"/>
                <a:gd name="T2" fmla="*/ 7 w 10"/>
                <a:gd name="T3" fmla="*/ 4 h 9"/>
                <a:gd name="T4" fmla="*/ 5 w 10"/>
                <a:gd name="T5" fmla="*/ 6 h 9"/>
                <a:gd name="T6" fmla="*/ 4 w 10"/>
                <a:gd name="T7" fmla="*/ 7 h 9"/>
                <a:gd name="T8" fmla="*/ 4 w 10"/>
                <a:gd name="T9" fmla="*/ 7 h 9"/>
                <a:gd name="T10" fmla="*/ 3 w 10"/>
                <a:gd name="T11" fmla="*/ 7 h 9"/>
                <a:gd name="T12" fmla="*/ 2 w 10"/>
                <a:gd name="T13" fmla="*/ 7 h 9"/>
                <a:gd name="T14" fmla="*/ 0 w 10"/>
                <a:gd name="T15" fmla="*/ 8 h 9"/>
                <a:gd name="T16" fmla="*/ 1 w 10"/>
                <a:gd name="T17" fmla="*/ 8 h 9"/>
                <a:gd name="T18" fmla="*/ 2 w 10"/>
                <a:gd name="T19" fmla="*/ 8 h 9"/>
                <a:gd name="T20" fmla="*/ 3 w 10"/>
                <a:gd name="T21" fmla="*/ 8 h 9"/>
                <a:gd name="T22" fmla="*/ 5 w 10"/>
                <a:gd name="T23" fmla="*/ 8 h 9"/>
                <a:gd name="T24" fmla="*/ 5 w 10"/>
                <a:gd name="T25" fmla="*/ 9 h 9"/>
                <a:gd name="T26" fmla="*/ 9 w 10"/>
                <a:gd name="T27" fmla="*/ 7 h 9"/>
                <a:gd name="T28" fmla="*/ 6 w 10"/>
                <a:gd name="T2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" h="9">
                  <a:moveTo>
                    <a:pt x="6" y="0"/>
                  </a:moveTo>
                  <a:cubicBezTo>
                    <a:pt x="6" y="1"/>
                    <a:pt x="7" y="2"/>
                    <a:pt x="7" y="4"/>
                  </a:cubicBezTo>
                  <a:cubicBezTo>
                    <a:pt x="6" y="4"/>
                    <a:pt x="6" y="5"/>
                    <a:pt x="5" y="6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0" y="7"/>
                    <a:pt x="0" y="8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7" y="7"/>
                    <a:pt x="9" y="7"/>
                  </a:cubicBezTo>
                  <a:cubicBezTo>
                    <a:pt x="8" y="3"/>
                    <a:pt x="10" y="1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69" name="Freeform 33"/>
            <p:cNvSpPr>
              <a:spLocks noEditPoints="1"/>
            </p:cNvSpPr>
            <p:nvPr/>
          </p:nvSpPr>
          <p:spPr bwMode="auto">
            <a:xfrm>
              <a:off x="3405980" y="3140076"/>
              <a:ext cx="611188" cy="730250"/>
            </a:xfrm>
            <a:custGeom>
              <a:avLst/>
              <a:gdLst>
                <a:gd name="T0" fmla="*/ 54 w 89"/>
                <a:gd name="T1" fmla="*/ 73 h 106"/>
                <a:gd name="T2" fmla="*/ 56 w 89"/>
                <a:gd name="T3" fmla="*/ 71 h 106"/>
                <a:gd name="T4" fmla="*/ 58 w 89"/>
                <a:gd name="T5" fmla="*/ 72 h 106"/>
                <a:gd name="T6" fmla="*/ 54 w 89"/>
                <a:gd name="T7" fmla="*/ 73 h 106"/>
                <a:gd name="T8" fmla="*/ 41 w 89"/>
                <a:gd name="T9" fmla="*/ 64 h 106"/>
                <a:gd name="T10" fmla="*/ 42 w 89"/>
                <a:gd name="T11" fmla="*/ 64 h 106"/>
                <a:gd name="T12" fmla="*/ 41 w 89"/>
                <a:gd name="T13" fmla="*/ 64 h 106"/>
                <a:gd name="T14" fmla="*/ 42 w 89"/>
                <a:gd name="T15" fmla="*/ 64 h 106"/>
                <a:gd name="T16" fmla="*/ 40 w 89"/>
                <a:gd name="T17" fmla="*/ 64 h 106"/>
                <a:gd name="T18" fmla="*/ 40 w 89"/>
                <a:gd name="T19" fmla="*/ 64 h 106"/>
                <a:gd name="T20" fmla="*/ 42 w 89"/>
                <a:gd name="T21" fmla="*/ 64 h 106"/>
                <a:gd name="T22" fmla="*/ 42 w 89"/>
                <a:gd name="T23" fmla="*/ 63 h 106"/>
                <a:gd name="T24" fmla="*/ 63 w 89"/>
                <a:gd name="T25" fmla="*/ 58 h 106"/>
                <a:gd name="T26" fmla="*/ 65 w 89"/>
                <a:gd name="T27" fmla="*/ 69 h 106"/>
                <a:gd name="T28" fmla="*/ 60 w 89"/>
                <a:gd name="T29" fmla="*/ 58 h 106"/>
                <a:gd name="T30" fmla="*/ 68 w 89"/>
                <a:gd name="T31" fmla="*/ 49 h 106"/>
                <a:gd name="T32" fmla="*/ 64 w 89"/>
                <a:gd name="T33" fmla="*/ 56 h 106"/>
                <a:gd name="T34" fmla="*/ 66 w 89"/>
                <a:gd name="T35" fmla="*/ 49 h 106"/>
                <a:gd name="T36" fmla="*/ 33 w 89"/>
                <a:gd name="T37" fmla="*/ 4 h 106"/>
                <a:gd name="T38" fmla="*/ 22 w 89"/>
                <a:gd name="T39" fmla="*/ 3 h 106"/>
                <a:gd name="T40" fmla="*/ 8 w 89"/>
                <a:gd name="T41" fmla="*/ 13 h 106"/>
                <a:gd name="T42" fmla="*/ 5 w 89"/>
                <a:gd name="T43" fmla="*/ 23 h 106"/>
                <a:gd name="T44" fmla="*/ 4 w 89"/>
                <a:gd name="T45" fmla="*/ 24 h 106"/>
                <a:gd name="T46" fmla="*/ 3 w 89"/>
                <a:gd name="T47" fmla="*/ 30 h 106"/>
                <a:gd name="T48" fmla="*/ 1 w 89"/>
                <a:gd name="T49" fmla="*/ 30 h 106"/>
                <a:gd name="T50" fmla="*/ 2 w 89"/>
                <a:gd name="T51" fmla="*/ 36 h 106"/>
                <a:gd name="T52" fmla="*/ 5 w 89"/>
                <a:gd name="T53" fmla="*/ 37 h 106"/>
                <a:gd name="T54" fmla="*/ 6 w 89"/>
                <a:gd name="T55" fmla="*/ 40 h 106"/>
                <a:gd name="T56" fmla="*/ 8 w 89"/>
                <a:gd name="T57" fmla="*/ 45 h 106"/>
                <a:gd name="T58" fmla="*/ 19 w 89"/>
                <a:gd name="T59" fmla="*/ 46 h 106"/>
                <a:gd name="T60" fmla="*/ 22 w 89"/>
                <a:gd name="T61" fmla="*/ 47 h 106"/>
                <a:gd name="T62" fmla="*/ 26 w 89"/>
                <a:gd name="T63" fmla="*/ 43 h 106"/>
                <a:gd name="T64" fmla="*/ 35 w 89"/>
                <a:gd name="T65" fmla="*/ 46 h 106"/>
                <a:gd name="T66" fmla="*/ 37 w 89"/>
                <a:gd name="T67" fmla="*/ 52 h 106"/>
                <a:gd name="T68" fmla="*/ 37 w 89"/>
                <a:gd name="T69" fmla="*/ 54 h 106"/>
                <a:gd name="T70" fmla="*/ 39 w 89"/>
                <a:gd name="T71" fmla="*/ 80 h 106"/>
                <a:gd name="T72" fmla="*/ 45 w 89"/>
                <a:gd name="T73" fmla="*/ 97 h 106"/>
                <a:gd name="T74" fmla="*/ 63 w 89"/>
                <a:gd name="T75" fmla="*/ 95 h 106"/>
                <a:gd name="T76" fmla="*/ 65 w 89"/>
                <a:gd name="T77" fmla="*/ 93 h 106"/>
                <a:gd name="T78" fmla="*/ 75 w 89"/>
                <a:gd name="T79" fmla="*/ 72 h 106"/>
                <a:gd name="T80" fmla="*/ 73 w 89"/>
                <a:gd name="T81" fmla="*/ 72 h 106"/>
                <a:gd name="T82" fmla="*/ 77 w 89"/>
                <a:gd name="T83" fmla="*/ 56 h 106"/>
                <a:gd name="T84" fmla="*/ 81 w 89"/>
                <a:gd name="T85" fmla="*/ 40 h 106"/>
                <a:gd name="T86" fmla="*/ 79 w 89"/>
                <a:gd name="T87" fmla="*/ 37 h 106"/>
                <a:gd name="T88" fmla="*/ 74 w 89"/>
                <a:gd name="T89" fmla="*/ 32 h 106"/>
                <a:gd name="T90" fmla="*/ 71 w 89"/>
                <a:gd name="T91" fmla="*/ 30 h 106"/>
                <a:gd name="T92" fmla="*/ 65 w 89"/>
                <a:gd name="T93" fmla="*/ 12 h 106"/>
                <a:gd name="T94" fmla="*/ 63 w 89"/>
                <a:gd name="T95" fmla="*/ 9 h 106"/>
                <a:gd name="T96" fmla="*/ 54 w 89"/>
                <a:gd name="T97" fmla="*/ 8 h 106"/>
                <a:gd name="T98" fmla="*/ 50 w 89"/>
                <a:gd name="T99" fmla="*/ 6 h 106"/>
                <a:gd name="T100" fmla="*/ 37 w 89"/>
                <a:gd name="T101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9" h="106">
                  <a:moveTo>
                    <a:pt x="64" y="95"/>
                  </a:moveTo>
                  <a:cubicBezTo>
                    <a:pt x="64" y="95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moveTo>
                    <a:pt x="54" y="73"/>
                  </a:moveTo>
                  <a:cubicBezTo>
                    <a:pt x="54" y="73"/>
                    <a:pt x="54" y="72"/>
                    <a:pt x="54" y="72"/>
                  </a:cubicBezTo>
                  <a:cubicBezTo>
                    <a:pt x="54" y="71"/>
                    <a:pt x="54" y="71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5" y="70"/>
                    <a:pt x="55" y="71"/>
                    <a:pt x="56" y="71"/>
                  </a:cubicBezTo>
                  <a:cubicBezTo>
                    <a:pt x="56" y="72"/>
                    <a:pt x="57" y="72"/>
                    <a:pt x="57" y="72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8" y="72"/>
                    <a:pt x="58" y="73"/>
                    <a:pt x="58" y="73"/>
                  </a:cubicBezTo>
                  <a:cubicBezTo>
                    <a:pt x="57" y="73"/>
                    <a:pt x="56" y="72"/>
                    <a:pt x="55" y="72"/>
                  </a:cubicBezTo>
                  <a:cubicBezTo>
                    <a:pt x="54" y="72"/>
                    <a:pt x="54" y="72"/>
                    <a:pt x="54" y="73"/>
                  </a:cubicBezTo>
                  <a:cubicBezTo>
                    <a:pt x="54" y="73"/>
                    <a:pt x="54" y="73"/>
                    <a:pt x="54" y="73"/>
                  </a:cubicBezTo>
                  <a:moveTo>
                    <a:pt x="41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1" y="64"/>
                    <a:pt x="41" y="64"/>
                    <a:pt x="41" y="64"/>
                  </a:cubicBezTo>
                  <a:moveTo>
                    <a:pt x="41" y="64"/>
                  </a:moveTo>
                  <a:cubicBezTo>
                    <a:pt x="41" y="64"/>
                    <a:pt x="41" y="64"/>
                    <a:pt x="41" y="64"/>
                  </a:cubicBezTo>
                  <a:cubicBezTo>
                    <a:pt x="41" y="64"/>
                    <a:pt x="41" y="64"/>
                    <a:pt x="41" y="64"/>
                  </a:cubicBezTo>
                  <a:moveTo>
                    <a:pt x="42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moveTo>
                    <a:pt x="41" y="64"/>
                  </a:moveTo>
                  <a:cubicBezTo>
                    <a:pt x="41" y="64"/>
                    <a:pt x="41" y="64"/>
                    <a:pt x="41" y="64"/>
                  </a:cubicBezTo>
                  <a:cubicBezTo>
                    <a:pt x="41" y="64"/>
                    <a:pt x="41" y="64"/>
                    <a:pt x="41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2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2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moveTo>
                    <a:pt x="42" y="63"/>
                  </a:moveTo>
                  <a:cubicBezTo>
                    <a:pt x="42" y="63"/>
                    <a:pt x="42" y="63"/>
                    <a:pt x="42" y="63"/>
                  </a:cubicBezTo>
                  <a:cubicBezTo>
                    <a:pt x="42" y="63"/>
                    <a:pt x="42" y="63"/>
                    <a:pt x="42" y="63"/>
                  </a:cubicBezTo>
                  <a:moveTo>
                    <a:pt x="61" y="59"/>
                  </a:moveTo>
                  <a:cubicBezTo>
                    <a:pt x="61" y="59"/>
                    <a:pt x="62" y="59"/>
                    <a:pt x="62" y="59"/>
                  </a:cubicBezTo>
                  <a:cubicBezTo>
                    <a:pt x="62" y="58"/>
                    <a:pt x="62" y="58"/>
                    <a:pt x="63" y="58"/>
                  </a:cubicBezTo>
                  <a:cubicBezTo>
                    <a:pt x="63" y="58"/>
                    <a:pt x="63" y="58"/>
                    <a:pt x="63" y="58"/>
                  </a:cubicBezTo>
                  <a:cubicBezTo>
                    <a:pt x="63" y="59"/>
                    <a:pt x="63" y="59"/>
                    <a:pt x="64" y="60"/>
                  </a:cubicBezTo>
                  <a:cubicBezTo>
                    <a:pt x="60" y="62"/>
                    <a:pt x="62" y="67"/>
                    <a:pt x="65" y="68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4" y="69"/>
                    <a:pt x="63" y="68"/>
                    <a:pt x="61" y="68"/>
                  </a:cubicBezTo>
                  <a:cubicBezTo>
                    <a:pt x="61" y="68"/>
                    <a:pt x="61" y="68"/>
                    <a:pt x="61" y="68"/>
                  </a:cubicBezTo>
                  <a:cubicBezTo>
                    <a:pt x="60" y="68"/>
                    <a:pt x="60" y="67"/>
                    <a:pt x="60" y="67"/>
                  </a:cubicBezTo>
                  <a:cubicBezTo>
                    <a:pt x="63" y="66"/>
                    <a:pt x="59" y="62"/>
                    <a:pt x="60" y="58"/>
                  </a:cubicBezTo>
                  <a:cubicBezTo>
                    <a:pt x="61" y="59"/>
                    <a:pt x="61" y="59"/>
                    <a:pt x="61" y="59"/>
                  </a:cubicBezTo>
                  <a:moveTo>
                    <a:pt x="66" y="49"/>
                  </a:moveTo>
                  <a:cubicBezTo>
                    <a:pt x="67" y="49"/>
                    <a:pt x="67" y="48"/>
                    <a:pt x="68" y="48"/>
                  </a:cubicBezTo>
                  <a:cubicBezTo>
                    <a:pt x="68" y="49"/>
                    <a:pt x="68" y="49"/>
                    <a:pt x="68" y="49"/>
                  </a:cubicBezTo>
                  <a:cubicBezTo>
                    <a:pt x="70" y="53"/>
                    <a:pt x="66" y="54"/>
                    <a:pt x="69" y="57"/>
                  </a:cubicBezTo>
                  <a:cubicBezTo>
                    <a:pt x="68" y="58"/>
                    <a:pt x="66" y="58"/>
                    <a:pt x="66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5" y="59"/>
                    <a:pt x="64" y="58"/>
                    <a:pt x="64" y="56"/>
                  </a:cubicBezTo>
                  <a:cubicBezTo>
                    <a:pt x="65" y="54"/>
                    <a:pt x="67" y="54"/>
                    <a:pt x="68" y="53"/>
                  </a:cubicBezTo>
                  <a:cubicBezTo>
                    <a:pt x="68" y="51"/>
                    <a:pt x="68" y="50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moveTo>
                    <a:pt x="37" y="0"/>
                  </a:moveTo>
                  <a:cubicBezTo>
                    <a:pt x="36" y="0"/>
                    <a:pt x="35" y="0"/>
                    <a:pt x="34" y="0"/>
                  </a:cubicBezTo>
                  <a:cubicBezTo>
                    <a:pt x="34" y="1"/>
                    <a:pt x="35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3"/>
                    <a:pt x="33" y="2"/>
                    <a:pt x="33" y="1"/>
                  </a:cubicBezTo>
                  <a:cubicBezTo>
                    <a:pt x="32" y="0"/>
                    <a:pt x="31" y="0"/>
                    <a:pt x="30" y="0"/>
                  </a:cubicBezTo>
                  <a:cubicBezTo>
                    <a:pt x="27" y="0"/>
                    <a:pt x="23" y="1"/>
                    <a:pt x="22" y="3"/>
                  </a:cubicBezTo>
                  <a:cubicBezTo>
                    <a:pt x="21" y="3"/>
                    <a:pt x="21" y="3"/>
                    <a:pt x="20" y="3"/>
                  </a:cubicBezTo>
                  <a:cubicBezTo>
                    <a:pt x="20" y="3"/>
                    <a:pt x="20" y="3"/>
                    <a:pt x="19" y="3"/>
                  </a:cubicBezTo>
                  <a:cubicBezTo>
                    <a:pt x="18" y="3"/>
                    <a:pt x="17" y="3"/>
                    <a:pt x="16" y="2"/>
                  </a:cubicBezTo>
                  <a:cubicBezTo>
                    <a:pt x="13" y="5"/>
                    <a:pt x="12" y="10"/>
                    <a:pt x="8" y="13"/>
                  </a:cubicBezTo>
                  <a:cubicBezTo>
                    <a:pt x="8" y="13"/>
                    <a:pt x="7" y="13"/>
                    <a:pt x="7" y="14"/>
                  </a:cubicBezTo>
                  <a:cubicBezTo>
                    <a:pt x="7" y="14"/>
                    <a:pt x="7" y="14"/>
                    <a:pt x="6" y="14"/>
                  </a:cubicBezTo>
                  <a:cubicBezTo>
                    <a:pt x="5" y="17"/>
                    <a:pt x="3" y="20"/>
                    <a:pt x="1" y="23"/>
                  </a:cubicBezTo>
                  <a:cubicBezTo>
                    <a:pt x="3" y="23"/>
                    <a:pt x="4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4"/>
                    <a:pt x="6" y="24"/>
                    <a:pt x="5" y="24"/>
                  </a:cubicBezTo>
                  <a:cubicBezTo>
                    <a:pt x="5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6"/>
                    <a:pt x="2" y="28"/>
                    <a:pt x="2" y="30"/>
                  </a:cubicBezTo>
                  <a:cubicBezTo>
                    <a:pt x="2" y="30"/>
                    <a:pt x="3" y="30"/>
                    <a:pt x="3" y="30"/>
                  </a:cubicBezTo>
                  <a:cubicBezTo>
                    <a:pt x="5" y="30"/>
                    <a:pt x="6" y="31"/>
                    <a:pt x="6" y="32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1"/>
                    <a:pt x="4" y="30"/>
                    <a:pt x="2" y="30"/>
                  </a:cubicBezTo>
                  <a:cubicBezTo>
                    <a:pt x="2" y="30"/>
                    <a:pt x="2" y="30"/>
                    <a:pt x="1" y="30"/>
                  </a:cubicBezTo>
                  <a:cubicBezTo>
                    <a:pt x="2" y="32"/>
                    <a:pt x="0" y="32"/>
                    <a:pt x="1" y="34"/>
                  </a:cubicBezTo>
                  <a:cubicBezTo>
                    <a:pt x="1" y="34"/>
                    <a:pt x="2" y="35"/>
                    <a:pt x="2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4" y="35"/>
                    <a:pt x="2" y="35"/>
                    <a:pt x="2" y="36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8"/>
                    <a:pt x="4" y="38"/>
                  </a:cubicBezTo>
                  <a:cubicBezTo>
                    <a:pt x="4" y="38"/>
                    <a:pt x="4" y="38"/>
                    <a:pt x="3" y="38"/>
                  </a:cubicBezTo>
                  <a:cubicBezTo>
                    <a:pt x="4" y="40"/>
                    <a:pt x="4" y="40"/>
                    <a:pt x="6" y="40"/>
                  </a:cubicBezTo>
                  <a:cubicBezTo>
                    <a:pt x="6" y="40"/>
                    <a:pt x="7" y="40"/>
                    <a:pt x="8" y="40"/>
                  </a:cubicBezTo>
                  <a:cubicBezTo>
                    <a:pt x="8" y="41"/>
                    <a:pt x="10" y="41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8" y="43"/>
                    <a:pt x="8" y="44"/>
                    <a:pt x="8" y="45"/>
                  </a:cubicBezTo>
                  <a:cubicBezTo>
                    <a:pt x="10" y="47"/>
                    <a:pt x="12" y="48"/>
                    <a:pt x="13" y="48"/>
                  </a:cubicBezTo>
                  <a:cubicBezTo>
                    <a:pt x="15" y="48"/>
                    <a:pt x="16" y="47"/>
                    <a:pt x="18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1" y="47"/>
                    <a:pt x="21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6"/>
                    <a:pt x="25" y="46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6" y="45"/>
                    <a:pt x="26" y="44"/>
                    <a:pt x="26" y="43"/>
                  </a:cubicBezTo>
                  <a:cubicBezTo>
                    <a:pt x="26" y="42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6"/>
                    <a:pt x="31" y="44"/>
                    <a:pt x="30" y="48"/>
                  </a:cubicBezTo>
                  <a:cubicBezTo>
                    <a:pt x="32" y="48"/>
                    <a:pt x="34" y="48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9"/>
                    <a:pt x="37" y="48"/>
                    <a:pt x="36" y="52"/>
                  </a:cubicBezTo>
                  <a:cubicBezTo>
                    <a:pt x="36" y="52"/>
                    <a:pt x="37" y="52"/>
                    <a:pt x="37" y="52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7" y="52"/>
                    <a:pt x="36" y="52"/>
                    <a:pt x="36" y="53"/>
                  </a:cubicBezTo>
                  <a:cubicBezTo>
                    <a:pt x="36" y="53"/>
                    <a:pt x="37" y="53"/>
                    <a:pt x="37" y="54"/>
                  </a:cubicBezTo>
                  <a:cubicBezTo>
                    <a:pt x="33" y="54"/>
                    <a:pt x="35" y="59"/>
                    <a:pt x="37" y="60"/>
                  </a:cubicBezTo>
                  <a:cubicBezTo>
                    <a:pt x="38" y="62"/>
                    <a:pt x="39" y="63"/>
                    <a:pt x="39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2" y="69"/>
                    <a:pt x="40" y="74"/>
                    <a:pt x="39" y="80"/>
                  </a:cubicBezTo>
                  <a:cubicBezTo>
                    <a:pt x="39" y="80"/>
                    <a:pt x="40" y="80"/>
                    <a:pt x="41" y="80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0" y="81"/>
                    <a:pt x="39" y="81"/>
                    <a:pt x="38" y="81"/>
                  </a:cubicBezTo>
                  <a:cubicBezTo>
                    <a:pt x="42" y="84"/>
                    <a:pt x="41" y="95"/>
                    <a:pt x="45" y="97"/>
                  </a:cubicBezTo>
                  <a:cubicBezTo>
                    <a:pt x="44" y="97"/>
                    <a:pt x="44" y="98"/>
                    <a:pt x="45" y="98"/>
                  </a:cubicBezTo>
                  <a:cubicBezTo>
                    <a:pt x="46" y="101"/>
                    <a:pt x="45" y="105"/>
                    <a:pt x="48" y="106"/>
                  </a:cubicBezTo>
                  <a:cubicBezTo>
                    <a:pt x="55" y="106"/>
                    <a:pt x="63" y="102"/>
                    <a:pt x="64" y="95"/>
                  </a:cubicBezTo>
                  <a:cubicBezTo>
                    <a:pt x="64" y="95"/>
                    <a:pt x="63" y="95"/>
                    <a:pt x="63" y="95"/>
                  </a:cubicBezTo>
                  <a:cubicBezTo>
                    <a:pt x="63" y="95"/>
                    <a:pt x="62" y="95"/>
                    <a:pt x="62" y="95"/>
                  </a:cubicBezTo>
                  <a:cubicBezTo>
                    <a:pt x="63" y="95"/>
                    <a:pt x="64" y="95"/>
                    <a:pt x="64" y="94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5" y="92"/>
                    <a:pt x="64" y="93"/>
                    <a:pt x="65" y="93"/>
                  </a:cubicBezTo>
                  <a:cubicBezTo>
                    <a:pt x="66" y="92"/>
                    <a:pt x="67" y="92"/>
                    <a:pt x="68" y="91"/>
                  </a:cubicBezTo>
                  <a:cubicBezTo>
                    <a:pt x="68" y="88"/>
                    <a:pt x="68" y="86"/>
                    <a:pt x="67" y="84"/>
                  </a:cubicBezTo>
                  <a:cubicBezTo>
                    <a:pt x="70" y="83"/>
                    <a:pt x="72" y="80"/>
                    <a:pt x="75" y="79"/>
                  </a:cubicBezTo>
                  <a:cubicBezTo>
                    <a:pt x="75" y="76"/>
                    <a:pt x="75" y="74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4" y="72"/>
                    <a:pt x="74" y="72"/>
                    <a:pt x="74" y="72"/>
                  </a:cubicBezTo>
                  <a:cubicBezTo>
                    <a:pt x="73" y="72"/>
                    <a:pt x="73" y="72"/>
                    <a:pt x="73" y="72"/>
                  </a:cubicBezTo>
                  <a:cubicBezTo>
                    <a:pt x="73" y="72"/>
                    <a:pt x="73" y="72"/>
                    <a:pt x="73" y="72"/>
                  </a:cubicBezTo>
                  <a:cubicBezTo>
                    <a:pt x="76" y="71"/>
                    <a:pt x="73" y="66"/>
                    <a:pt x="73" y="63"/>
                  </a:cubicBezTo>
                  <a:cubicBezTo>
                    <a:pt x="74" y="63"/>
                    <a:pt x="74" y="62"/>
                    <a:pt x="75" y="60"/>
                  </a:cubicBezTo>
                  <a:cubicBezTo>
                    <a:pt x="75" y="59"/>
                    <a:pt x="75" y="58"/>
                    <a:pt x="77" y="57"/>
                  </a:cubicBezTo>
                  <a:cubicBezTo>
                    <a:pt x="77" y="57"/>
                    <a:pt x="77" y="57"/>
                    <a:pt x="77" y="56"/>
                  </a:cubicBezTo>
                  <a:cubicBezTo>
                    <a:pt x="82" y="51"/>
                    <a:pt x="88" y="47"/>
                    <a:pt x="89" y="38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7" y="38"/>
                    <a:pt x="86" y="38"/>
                    <a:pt x="85" y="39"/>
                  </a:cubicBezTo>
                  <a:cubicBezTo>
                    <a:pt x="83" y="39"/>
                    <a:pt x="82" y="40"/>
                    <a:pt x="81" y="40"/>
                  </a:cubicBezTo>
                  <a:cubicBezTo>
                    <a:pt x="81" y="40"/>
                    <a:pt x="80" y="40"/>
                    <a:pt x="79" y="39"/>
                  </a:cubicBezTo>
                  <a:cubicBezTo>
                    <a:pt x="79" y="39"/>
                    <a:pt x="79" y="39"/>
                    <a:pt x="79" y="40"/>
                  </a:cubicBezTo>
                  <a:cubicBezTo>
                    <a:pt x="78" y="40"/>
                    <a:pt x="78" y="39"/>
                    <a:pt x="77" y="39"/>
                  </a:cubicBezTo>
                  <a:cubicBezTo>
                    <a:pt x="78" y="38"/>
                    <a:pt x="79" y="38"/>
                    <a:pt x="79" y="37"/>
                  </a:cubicBezTo>
                  <a:cubicBezTo>
                    <a:pt x="79" y="37"/>
                    <a:pt x="78" y="37"/>
                    <a:pt x="78" y="37"/>
                  </a:cubicBezTo>
                  <a:cubicBezTo>
                    <a:pt x="77" y="37"/>
                    <a:pt x="77" y="36"/>
                    <a:pt x="77" y="35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77" y="33"/>
                    <a:pt x="75" y="33"/>
                    <a:pt x="74" y="32"/>
                  </a:cubicBezTo>
                  <a:cubicBezTo>
                    <a:pt x="74" y="31"/>
                    <a:pt x="73" y="31"/>
                    <a:pt x="73" y="29"/>
                  </a:cubicBezTo>
                  <a:cubicBezTo>
                    <a:pt x="73" y="29"/>
                    <a:pt x="73" y="29"/>
                    <a:pt x="73" y="29"/>
                  </a:cubicBezTo>
                  <a:cubicBezTo>
                    <a:pt x="72" y="29"/>
                    <a:pt x="72" y="29"/>
                    <a:pt x="72" y="30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3" y="24"/>
                    <a:pt x="65" y="17"/>
                    <a:pt x="64" y="10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65" y="10"/>
                    <a:pt x="65" y="11"/>
                    <a:pt x="65" y="12"/>
                  </a:cubicBezTo>
                  <a:cubicBezTo>
                    <a:pt x="65" y="12"/>
                    <a:pt x="65" y="13"/>
                    <a:pt x="66" y="13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66" y="12"/>
                    <a:pt x="66" y="11"/>
                    <a:pt x="66" y="9"/>
                  </a:cubicBezTo>
                  <a:cubicBezTo>
                    <a:pt x="65" y="9"/>
                    <a:pt x="64" y="9"/>
                    <a:pt x="63" y="9"/>
                  </a:cubicBezTo>
                  <a:cubicBezTo>
                    <a:pt x="62" y="9"/>
                    <a:pt x="62" y="9"/>
                    <a:pt x="61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7" y="9"/>
                    <a:pt x="56" y="9"/>
                    <a:pt x="55" y="8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8"/>
                    <a:pt x="53" y="8"/>
                    <a:pt x="53" y="8"/>
                  </a:cubicBezTo>
                  <a:cubicBezTo>
                    <a:pt x="52" y="8"/>
                    <a:pt x="52" y="7"/>
                    <a:pt x="52" y="7"/>
                  </a:cubicBezTo>
                  <a:cubicBezTo>
                    <a:pt x="51" y="6"/>
                    <a:pt x="51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8" y="6"/>
                    <a:pt x="50" y="10"/>
                    <a:pt x="47" y="10"/>
                  </a:cubicBezTo>
                  <a:cubicBezTo>
                    <a:pt x="43" y="7"/>
                    <a:pt x="38" y="7"/>
                    <a:pt x="35" y="4"/>
                  </a:cubicBezTo>
                  <a:cubicBezTo>
                    <a:pt x="38" y="4"/>
                    <a:pt x="35" y="1"/>
                    <a:pt x="3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70" name="Freeform 34"/>
            <p:cNvSpPr>
              <a:spLocks/>
            </p:cNvSpPr>
            <p:nvPr/>
          </p:nvSpPr>
          <p:spPr bwMode="auto">
            <a:xfrm>
              <a:off x="4469605" y="3463926"/>
              <a:ext cx="26988" cy="33338"/>
            </a:xfrm>
            <a:custGeom>
              <a:avLst/>
              <a:gdLst>
                <a:gd name="T0" fmla="*/ 3 w 4"/>
                <a:gd name="T1" fmla="*/ 0 h 5"/>
                <a:gd name="T2" fmla="*/ 0 w 4"/>
                <a:gd name="T3" fmla="*/ 0 h 5"/>
                <a:gd name="T4" fmla="*/ 4 w 4"/>
                <a:gd name="T5" fmla="*/ 5 h 5"/>
                <a:gd name="T6" fmla="*/ 3 w 4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2"/>
                    <a:pt x="1" y="4"/>
                    <a:pt x="4" y="5"/>
                  </a:cubicBezTo>
                  <a:cubicBezTo>
                    <a:pt x="3" y="4"/>
                    <a:pt x="3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71" name="Freeform 35"/>
            <p:cNvSpPr>
              <a:spLocks/>
            </p:cNvSpPr>
            <p:nvPr/>
          </p:nvSpPr>
          <p:spPr bwMode="auto">
            <a:xfrm>
              <a:off x="2821780" y="3400426"/>
              <a:ext cx="419100" cy="641350"/>
            </a:xfrm>
            <a:custGeom>
              <a:avLst/>
              <a:gdLst>
                <a:gd name="T0" fmla="*/ 14 w 61"/>
                <a:gd name="T1" fmla="*/ 3 h 93"/>
                <a:gd name="T2" fmla="*/ 12 w 61"/>
                <a:gd name="T3" fmla="*/ 4 h 93"/>
                <a:gd name="T4" fmla="*/ 9 w 61"/>
                <a:gd name="T5" fmla="*/ 1 h 93"/>
                <a:gd name="T6" fmla="*/ 4 w 61"/>
                <a:gd name="T7" fmla="*/ 14 h 93"/>
                <a:gd name="T8" fmla="*/ 2 w 61"/>
                <a:gd name="T9" fmla="*/ 23 h 93"/>
                <a:gd name="T10" fmla="*/ 5 w 61"/>
                <a:gd name="T11" fmla="*/ 23 h 93"/>
                <a:gd name="T12" fmla="*/ 4 w 61"/>
                <a:gd name="T13" fmla="*/ 25 h 93"/>
                <a:gd name="T14" fmla="*/ 16 w 61"/>
                <a:gd name="T15" fmla="*/ 43 h 93"/>
                <a:gd name="T16" fmla="*/ 19 w 61"/>
                <a:gd name="T17" fmla="*/ 64 h 93"/>
                <a:gd name="T18" fmla="*/ 19 w 61"/>
                <a:gd name="T19" fmla="*/ 65 h 93"/>
                <a:gd name="T20" fmla="*/ 19 w 61"/>
                <a:gd name="T21" fmla="*/ 65 h 93"/>
                <a:gd name="T22" fmla="*/ 20 w 61"/>
                <a:gd name="T23" fmla="*/ 79 h 93"/>
                <a:gd name="T24" fmla="*/ 23 w 61"/>
                <a:gd name="T25" fmla="*/ 78 h 93"/>
                <a:gd name="T26" fmla="*/ 25 w 61"/>
                <a:gd name="T27" fmla="*/ 85 h 93"/>
                <a:gd name="T28" fmla="*/ 24 w 61"/>
                <a:gd name="T29" fmla="*/ 89 h 93"/>
                <a:gd name="T30" fmla="*/ 26 w 61"/>
                <a:gd name="T31" fmla="*/ 88 h 93"/>
                <a:gd name="T32" fmla="*/ 33 w 61"/>
                <a:gd name="T33" fmla="*/ 88 h 93"/>
                <a:gd name="T34" fmla="*/ 30 w 61"/>
                <a:gd name="T35" fmla="*/ 78 h 93"/>
                <a:gd name="T36" fmla="*/ 33 w 61"/>
                <a:gd name="T37" fmla="*/ 74 h 93"/>
                <a:gd name="T38" fmla="*/ 35 w 61"/>
                <a:gd name="T39" fmla="*/ 68 h 93"/>
                <a:gd name="T40" fmla="*/ 36 w 61"/>
                <a:gd name="T41" fmla="*/ 67 h 93"/>
                <a:gd name="T42" fmla="*/ 42 w 61"/>
                <a:gd name="T43" fmla="*/ 68 h 93"/>
                <a:gd name="T44" fmla="*/ 41 w 61"/>
                <a:gd name="T45" fmla="*/ 65 h 93"/>
                <a:gd name="T46" fmla="*/ 44 w 61"/>
                <a:gd name="T47" fmla="*/ 61 h 93"/>
                <a:gd name="T48" fmla="*/ 53 w 61"/>
                <a:gd name="T49" fmla="*/ 51 h 93"/>
                <a:gd name="T50" fmla="*/ 61 w 61"/>
                <a:gd name="T51" fmla="*/ 31 h 93"/>
                <a:gd name="T52" fmla="*/ 52 w 61"/>
                <a:gd name="T53" fmla="*/ 21 h 93"/>
                <a:gd name="T54" fmla="*/ 44 w 61"/>
                <a:gd name="T55" fmla="*/ 18 h 93"/>
                <a:gd name="T56" fmla="*/ 40 w 61"/>
                <a:gd name="T57" fmla="*/ 19 h 93"/>
                <a:gd name="T58" fmla="*/ 42 w 61"/>
                <a:gd name="T59" fmla="*/ 14 h 93"/>
                <a:gd name="T60" fmla="*/ 40 w 61"/>
                <a:gd name="T61" fmla="*/ 12 h 93"/>
                <a:gd name="T62" fmla="*/ 33 w 61"/>
                <a:gd name="T63" fmla="*/ 9 h 93"/>
                <a:gd name="T64" fmla="*/ 32 w 61"/>
                <a:gd name="T65" fmla="*/ 11 h 93"/>
                <a:gd name="T66" fmla="*/ 27 w 61"/>
                <a:gd name="T67" fmla="*/ 7 h 93"/>
                <a:gd name="T68" fmla="*/ 27 w 61"/>
                <a:gd name="T69" fmla="*/ 3 h 93"/>
                <a:gd name="T70" fmla="*/ 16 w 61"/>
                <a:gd name="T7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1" h="93">
                  <a:moveTo>
                    <a:pt x="16" y="0"/>
                  </a:moveTo>
                  <a:cubicBezTo>
                    <a:pt x="14" y="0"/>
                    <a:pt x="15" y="2"/>
                    <a:pt x="14" y="3"/>
                  </a:cubicBezTo>
                  <a:cubicBezTo>
                    <a:pt x="13" y="3"/>
                    <a:pt x="14" y="1"/>
                    <a:pt x="13" y="1"/>
                  </a:cubicBezTo>
                  <a:cubicBezTo>
                    <a:pt x="12" y="2"/>
                    <a:pt x="13" y="4"/>
                    <a:pt x="12" y="4"/>
                  </a:cubicBezTo>
                  <a:cubicBezTo>
                    <a:pt x="11" y="3"/>
                    <a:pt x="12" y="3"/>
                    <a:pt x="12" y="1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10" y="4"/>
                    <a:pt x="6" y="4"/>
                    <a:pt x="6" y="7"/>
                  </a:cubicBezTo>
                  <a:cubicBezTo>
                    <a:pt x="7" y="9"/>
                    <a:pt x="6" y="14"/>
                    <a:pt x="4" y="14"/>
                  </a:cubicBezTo>
                  <a:cubicBezTo>
                    <a:pt x="4" y="14"/>
                    <a:pt x="4" y="15"/>
                    <a:pt x="4" y="16"/>
                  </a:cubicBezTo>
                  <a:cubicBezTo>
                    <a:pt x="0" y="19"/>
                    <a:pt x="4" y="19"/>
                    <a:pt x="2" y="23"/>
                  </a:cubicBezTo>
                  <a:cubicBezTo>
                    <a:pt x="3" y="23"/>
                    <a:pt x="4" y="23"/>
                    <a:pt x="4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4"/>
                    <a:pt x="4" y="25"/>
                    <a:pt x="4" y="25"/>
                  </a:cubicBezTo>
                  <a:cubicBezTo>
                    <a:pt x="3" y="24"/>
                    <a:pt x="2" y="23"/>
                    <a:pt x="1" y="23"/>
                  </a:cubicBezTo>
                  <a:cubicBezTo>
                    <a:pt x="5" y="30"/>
                    <a:pt x="8" y="40"/>
                    <a:pt x="16" y="43"/>
                  </a:cubicBezTo>
                  <a:cubicBezTo>
                    <a:pt x="17" y="44"/>
                    <a:pt x="16" y="46"/>
                    <a:pt x="17" y="46"/>
                  </a:cubicBezTo>
                  <a:cubicBezTo>
                    <a:pt x="19" y="52"/>
                    <a:pt x="17" y="61"/>
                    <a:pt x="19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8" y="70"/>
                    <a:pt x="19" y="74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1" y="79"/>
                    <a:pt x="21" y="78"/>
                    <a:pt x="21" y="78"/>
                  </a:cubicBezTo>
                  <a:cubicBezTo>
                    <a:pt x="22" y="78"/>
                    <a:pt x="22" y="78"/>
                    <a:pt x="23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3" y="81"/>
                    <a:pt x="26" y="82"/>
                    <a:pt x="25" y="85"/>
                  </a:cubicBezTo>
                  <a:cubicBezTo>
                    <a:pt x="24" y="85"/>
                    <a:pt x="25" y="83"/>
                    <a:pt x="23" y="83"/>
                  </a:cubicBezTo>
                  <a:cubicBezTo>
                    <a:pt x="22" y="86"/>
                    <a:pt x="25" y="88"/>
                    <a:pt x="24" y="89"/>
                  </a:cubicBezTo>
                  <a:cubicBezTo>
                    <a:pt x="24" y="89"/>
                    <a:pt x="24" y="89"/>
                    <a:pt x="24" y="89"/>
                  </a:cubicBezTo>
                  <a:cubicBezTo>
                    <a:pt x="25" y="89"/>
                    <a:pt x="25" y="88"/>
                    <a:pt x="26" y="88"/>
                  </a:cubicBezTo>
                  <a:cubicBezTo>
                    <a:pt x="26" y="93"/>
                    <a:pt x="25" y="92"/>
                    <a:pt x="31" y="93"/>
                  </a:cubicBezTo>
                  <a:cubicBezTo>
                    <a:pt x="30" y="90"/>
                    <a:pt x="31" y="90"/>
                    <a:pt x="33" y="88"/>
                  </a:cubicBezTo>
                  <a:cubicBezTo>
                    <a:pt x="32" y="86"/>
                    <a:pt x="30" y="87"/>
                    <a:pt x="29" y="85"/>
                  </a:cubicBezTo>
                  <a:cubicBezTo>
                    <a:pt x="32" y="84"/>
                    <a:pt x="32" y="81"/>
                    <a:pt x="30" y="78"/>
                  </a:cubicBezTo>
                  <a:cubicBezTo>
                    <a:pt x="31" y="78"/>
                    <a:pt x="31" y="78"/>
                    <a:pt x="32" y="78"/>
                  </a:cubicBezTo>
                  <a:cubicBezTo>
                    <a:pt x="34" y="78"/>
                    <a:pt x="32" y="75"/>
                    <a:pt x="33" y="74"/>
                  </a:cubicBezTo>
                  <a:cubicBezTo>
                    <a:pt x="34" y="75"/>
                    <a:pt x="34" y="75"/>
                    <a:pt x="35" y="75"/>
                  </a:cubicBezTo>
                  <a:cubicBezTo>
                    <a:pt x="40" y="75"/>
                    <a:pt x="39" y="68"/>
                    <a:pt x="35" y="68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8"/>
                    <a:pt x="38" y="68"/>
                    <a:pt x="40" y="68"/>
                  </a:cubicBezTo>
                  <a:cubicBezTo>
                    <a:pt x="40" y="68"/>
                    <a:pt x="41" y="68"/>
                    <a:pt x="42" y="68"/>
                  </a:cubicBezTo>
                  <a:cubicBezTo>
                    <a:pt x="42" y="66"/>
                    <a:pt x="41" y="66"/>
                    <a:pt x="40" y="64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3" y="65"/>
                    <a:pt x="43" y="63"/>
                    <a:pt x="43" y="61"/>
                  </a:cubicBezTo>
                  <a:cubicBezTo>
                    <a:pt x="43" y="61"/>
                    <a:pt x="44" y="61"/>
                    <a:pt x="44" y="61"/>
                  </a:cubicBezTo>
                  <a:cubicBezTo>
                    <a:pt x="46" y="61"/>
                    <a:pt x="46" y="57"/>
                    <a:pt x="46" y="54"/>
                  </a:cubicBezTo>
                  <a:cubicBezTo>
                    <a:pt x="48" y="53"/>
                    <a:pt x="49" y="51"/>
                    <a:pt x="53" y="51"/>
                  </a:cubicBezTo>
                  <a:cubicBezTo>
                    <a:pt x="53" y="51"/>
                    <a:pt x="53" y="51"/>
                    <a:pt x="54" y="51"/>
                  </a:cubicBezTo>
                  <a:cubicBezTo>
                    <a:pt x="58" y="46"/>
                    <a:pt x="55" y="33"/>
                    <a:pt x="61" y="31"/>
                  </a:cubicBezTo>
                  <a:cubicBezTo>
                    <a:pt x="61" y="29"/>
                    <a:pt x="61" y="27"/>
                    <a:pt x="61" y="25"/>
                  </a:cubicBezTo>
                  <a:cubicBezTo>
                    <a:pt x="58" y="25"/>
                    <a:pt x="55" y="21"/>
                    <a:pt x="52" y="21"/>
                  </a:cubicBezTo>
                  <a:cubicBezTo>
                    <a:pt x="51" y="21"/>
                    <a:pt x="50" y="21"/>
                    <a:pt x="48" y="22"/>
                  </a:cubicBezTo>
                  <a:cubicBezTo>
                    <a:pt x="49" y="19"/>
                    <a:pt x="46" y="19"/>
                    <a:pt x="44" y="18"/>
                  </a:cubicBezTo>
                  <a:cubicBezTo>
                    <a:pt x="45" y="20"/>
                    <a:pt x="43" y="20"/>
                    <a:pt x="42" y="21"/>
                  </a:cubicBezTo>
                  <a:cubicBezTo>
                    <a:pt x="41" y="20"/>
                    <a:pt x="41" y="19"/>
                    <a:pt x="40" y="19"/>
                  </a:cubicBezTo>
                  <a:cubicBezTo>
                    <a:pt x="39" y="19"/>
                    <a:pt x="39" y="19"/>
                    <a:pt x="38" y="20"/>
                  </a:cubicBezTo>
                  <a:cubicBezTo>
                    <a:pt x="39" y="18"/>
                    <a:pt x="41" y="17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0" y="14"/>
                    <a:pt x="40" y="13"/>
                    <a:pt x="40" y="12"/>
                  </a:cubicBezTo>
                  <a:cubicBezTo>
                    <a:pt x="40" y="11"/>
                    <a:pt x="40" y="11"/>
                    <a:pt x="39" y="11"/>
                  </a:cubicBezTo>
                  <a:cubicBezTo>
                    <a:pt x="38" y="8"/>
                    <a:pt x="37" y="9"/>
                    <a:pt x="33" y="9"/>
                  </a:cubicBezTo>
                  <a:cubicBezTo>
                    <a:pt x="33" y="10"/>
                    <a:pt x="32" y="10"/>
                    <a:pt x="32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1" y="8"/>
                    <a:pt x="34" y="7"/>
                    <a:pt x="29" y="5"/>
                  </a:cubicBezTo>
                  <a:cubicBezTo>
                    <a:pt x="28" y="6"/>
                    <a:pt x="29" y="7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9" y="5"/>
                    <a:pt x="26" y="5"/>
                    <a:pt x="27" y="3"/>
                  </a:cubicBezTo>
                  <a:cubicBezTo>
                    <a:pt x="23" y="2"/>
                    <a:pt x="20" y="2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72" name="Freeform 36"/>
            <p:cNvSpPr>
              <a:spLocks/>
            </p:cNvSpPr>
            <p:nvPr/>
          </p:nvSpPr>
          <p:spPr bwMode="auto">
            <a:xfrm>
              <a:off x="4634705" y="3525838"/>
              <a:ext cx="26988" cy="41275"/>
            </a:xfrm>
            <a:custGeom>
              <a:avLst/>
              <a:gdLst>
                <a:gd name="T0" fmla="*/ 1 w 4"/>
                <a:gd name="T1" fmla="*/ 0 h 6"/>
                <a:gd name="T2" fmla="*/ 1 w 4"/>
                <a:gd name="T3" fmla="*/ 6 h 6"/>
                <a:gd name="T4" fmla="*/ 1 w 4"/>
                <a:gd name="T5" fmla="*/ 6 h 6"/>
                <a:gd name="T6" fmla="*/ 3 w 4"/>
                <a:gd name="T7" fmla="*/ 2 h 6"/>
                <a:gd name="T8" fmla="*/ 4 w 4"/>
                <a:gd name="T9" fmla="*/ 6 h 6"/>
                <a:gd name="T10" fmla="*/ 1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cubicBezTo>
                    <a:pt x="0" y="2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2"/>
                    <a:pt x="3" y="2"/>
                  </a:cubicBezTo>
                  <a:cubicBezTo>
                    <a:pt x="3" y="4"/>
                    <a:pt x="3" y="5"/>
                    <a:pt x="4" y="6"/>
                  </a:cubicBezTo>
                  <a:cubicBezTo>
                    <a:pt x="4" y="2"/>
                    <a:pt x="2" y="2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73" name="Freeform 37"/>
            <p:cNvSpPr>
              <a:spLocks/>
            </p:cNvSpPr>
            <p:nvPr/>
          </p:nvSpPr>
          <p:spPr bwMode="auto">
            <a:xfrm>
              <a:off x="4779168" y="3538538"/>
              <a:ext cx="123825" cy="82550"/>
            </a:xfrm>
            <a:custGeom>
              <a:avLst/>
              <a:gdLst>
                <a:gd name="T0" fmla="*/ 4 w 18"/>
                <a:gd name="T1" fmla="*/ 0 h 12"/>
                <a:gd name="T2" fmla="*/ 0 w 18"/>
                <a:gd name="T3" fmla="*/ 4 h 12"/>
                <a:gd name="T4" fmla="*/ 1 w 18"/>
                <a:gd name="T5" fmla="*/ 4 h 12"/>
                <a:gd name="T6" fmla="*/ 7 w 18"/>
                <a:gd name="T7" fmla="*/ 10 h 12"/>
                <a:gd name="T8" fmla="*/ 7 w 18"/>
                <a:gd name="T9" fmla="*/ 8 h 12"/>
                <a:gd name="T10" fmla="*/ 7 w 18"/>
                <a:gd name="T11" fmla="*/ 8 h 12"/>
                <a:gd name="T12" fmla="*/ 8 w 18"/>
                <a:gd name="T13" fmla="*/ 10 h 12"/>
                <a:gd name="T14" fmla="*/ 9 w 18"/>
                <a:gd name="T15" fmla="*/ 10 h 12"/>
                <a:gd name="T16" fmla="*/ 12 w 18"/>
                <a:gd name="T17" fmla="*/ 8 h 12"/>
                <a:gd name="T18" fmla="*/ 12 w 18"/>
                <a:gd name="T19" fmla="*/ 8 h 12"/>
                <a:gd name="T20" fmla="*/ 15 w 18"/>
                <a:gd name="T21" fmla="*/ 10 h 12"/>
                <a:gd name="T22" fmla="*/ 17 w 18"/>
                <a:gd name="T23" fmla="*/ 12 h 12"/>
                <a:gd name="T24" fmla="*/ 18 w 18"/>
                <a:gd name="T25" fmla="*/ 11 h 12"/>
                <a:gd name="T26" fmla="*/ 8 w 18"/>
                <a:gd name="T27" fmla="*/ 2 h 12"/>
                <a:gd name="T28" fmla="*/ 8 w 18"/>
                <a:gd name="T29" fmla="*/ 2 h 12"/>
                <a:gd name="T30" fmla="*/ 8 w 18"/>
                <a:gd name="T31" fmla="*/ 4 h 12"/>
                <a:gd name="T32" fmla="*/ 7 w 18"/>
                <a:gd name="T33" fmla="*/ 4 h 12"/>
                <a:gd name="T34" fmla="*/ 7 w 18"/>
                <a:gd name="T35" fmla="*/ 1 h 12"/>
                <a:gd name="T36" fmla="*/ 4 w 18"/>
                <a:gd name="T3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" h="12">
                  <a:moveTo>
                    <a:pt x="4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5" y="4"/>
                    <a:pt x="5" y="8"/>
                    <a:pt x="7" y="10"/>
                  </a:cubicBezTo>
                  <a:cubicBezTo>
                    <a:pt x="7" y="9"/>
                    <a:pt x="7" y="8"/>
                    <a:pt x="7" y="8"/>
                  </a:cubicBezTo>
                  <a:cubicBezTo>
                    <a:pt x="7" y="8"/>
                    <a:pt x="8" y="8"/>
                    <a:pt x="7" y="8"/>
                  </a:cubicBezTo>
                  <a:cubicBezTo>
                    <a:pt x="7" y="9"/>
                    <a:pt x="7" y="10"/>
                    <a:pt x="8" y="10"/>
                  </a:cubicBezTo>
                  <a:cubicBezTo>
                    <a:pt x="8" y="10"/>
                    <a:pt x="9" y="10"/>
                    <a:pt x="9" y="10"/>
                  </a:cubicBezTo>
                  <a:cubicBezTo>
                    <a:pt x="9" y="10"/>
                    <a:pt x="10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8"/>
                    <a:pt x="14" y="9"/>
                    <a:pt x="15" y="10"/>
                  </a:cubicBezTo>
                  <a:cubicBezTo>
                    <a:pt x="15" y="11"/>
                    <a:pt x="16" y="12"/>
                    <a:pt x="17" y="12"/>
                  </a:cubicBezTo>
                  <a:cubicBezTo>
                    <a:pt x="17" y="12"/>
                    <a:pt x="18" y="12"/>
                    <a:pt x="18" y="11"/>
                  </a:cubicBezTo>
                  <a:cubicBezTo>
                    <a:pt x="14" y="9"/>
                    <a:pt x="15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4"/>
                  </a:cubicBezTo>
                  <a:cubicBezTo>
                    <a:pt x="8" y="4"/>
                    <a:pt x="7" y="4"/>
                    <a:pt x="7" y="4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6" y="0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74" name="Freeform 38"/>
            <p:cNvSpPr>
              <a:spLocks/>
            </p:cNvSpPr>
            <p:nvPr/>
          </p:nvSpPr>
          <p:spPr bwMode="auto">
            <a:xfrm>
              <a:off x="4510880" y="3579813"/>
              <a:ext cx="76200" cy="28575"/>
            </a:xfrm>
            <a:custGeom>
              <a:avLst/>
              <a:gdLst>
                <a:gd name="T0" fmla="*/ 2 w 11"/>
                <a:gd name="T1" fmla="*/ 0 h 4"/>
                <a:gd name="T2" fmla="*/ 0 w 11"/>
                <a:gd name="T3" fmla="*/ 1 h 4"/>
                <a:gd name="T4" fmla="*/ 0 w 11"/>
                <a:gd name="T5" fmla="*/ 1 h 4"/>
                <a:gd name="T6" fmla="*/ 2 w 11"/>
                <a:gd name="T7" fmla="*/ 2 h 4"/>
                <a:gd name="T8" fmla="*/ 4 w 11"/>
                <a:gd name="T9" fmla="*/ 2 h 4"/>
                <a:gd name="T10" fmla="*/ 5 w 11"/>
                <a:gd name="T11" fmla="*/ 2 h 4"/>
                <a:gd name="T12" fmla="*/ 11 w 11"/>
                <a:gd name="T13" fmla="*/ 4 h 4"/>
                <a:gd name="T14" fmla="*/ 7 w 11"/>
                <a:gd name="T15" fmla="*/ 1 h 4"/>
                <a:gd name="T16" fmla="*/ 6 w 11"/>
                <a:gd name="T17" fmla="*/ 2 h 4"/>
                <a:gd name="T18" fmla="*/ 2 w 11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4">
                  <a:moveTo>
                    <a:pt x="2" y="0"/>
                  </a:moveTo>
                  <a:cubicBezTo>
                    <a:pt x="1" y="0"/>
                    <a:pt x="1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2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3"/>
                    <a:pt x="10" y="3"/>
                    <a:pt x="11" y="4"/>
                  </a:cubicBezTo>
                  <a:cubicBezTo>
                    <a:pt x="11" y="2"/>
                    <a:pt x="9" y="1"/>
                    <a:pt x="7" y="1"/>
                  </a:cubicBezTo>
                  <a:cubicBezTo>
                    <a:pt x="7" y="1"/>
                    <a:pt x="6" y="1"/>
                    <a:pt x="6" y="2"/>
                  </a:cubicBezTo>
                  <a:cubicBezTo>
                    <a:pt x="5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75" name="Freeform 39"/>
            <p:cNvSpPr>
              <a:spLocks/>
            </p:cNvSpPr>
            <p:nvPr/>
          </p:nvSpPr>
          <p:spPr bwMode="auto">
            <a:xfrm>
              <a:off x="4552155" y="3635376"/>
              <a:ext cx="357188" cy="276225"/>
            </a:xfrm>
            <a:custGeom>
              <a:avLst/>
              <a:gdLst>
                <a:gd name="T0" fmla="*/ 41 w 52"/>
                <a:gd name="T1" fmla="*/ 0 h 40"/>
                <a:gd name="T2" fmla="*/ 38 w 52"/>
                <a:gd name="T3" fmla="*/ 9 h 40"/>
                <a:gd name="T4" fmla="*/ 32 w 52"/>
                <a:gd name="T5" fmla="*/ 1 h 40"/>
                <a:gd name="T6" fmla="*/ 30 w 52"/>
                <a:gd name="T7" fmla="*/ 1 h 40"/>
                <a:gd name="T8" fmla="*/ 25 w 52"/>
                <a:gd name="T9" fmla="*/ 2 h 40"/>
                <a:gd name="T10" fmla="*/ 24 w 52"/>
                <a:gd name="T11" fmla="*/ 6 h 40"/>
                <a:gd name="T12" fmla="*/ 23 w 52"/>
                <a:gd name="T13" fmla="*/ 6 h 40"/>
                <a:gd name="T14" fmla="*/ 21 w 52"/>
                <a:gd name="T15" fmla="*/ 4 h 40"/>
                <a:gd name="T16" fmla="*/ 1 w 52"/>
                <a:gd name="T17" fmla="*/ 19 h 40"/>
                <a:gd name="T18" fmla="*/ 0 w 52"/>
                <a:gd name="T19" fmla="*/ 35 h 40"/>
                <a:gd name="T20" fmla="*/ 20 w 52"/>
                <a:gd name="T21" fmla="*/ 30 h 40"/>
                <a:gd name="T22" fmla="*/ 24 w 52"/>
                <a:gd name="T23" fmla="*/ 30 h 40"/>
                <a:gd name="T24" fmla="*/ 25 w 52"/>
                <a:gd name="T25" fmla="*/ 34 h 40"/>
                <a:gd name="T26" fmla="*/ 25 w 52"/>
                <a:gd name="T27" fmla="*/ 34 h 40"/>
                <a:gd name="T28" fmla="*/ 27 w 52"/>
                <a:gd name="T29" fmla="*/ 33 h 40"/>
                <a:gd name="T30" fmla="*/ 28 w 52"/>
                <a:gd name="T31" fmla="*/ 31 h 40"/>
                <a:gd name="T32" fmla="*/ 29 w 52"/>
                <a:gd name="T33" fmla="*/ 32 h 40"/>
                <a:gd name="T34" fmla="*/ 28 w 52"/>
                <a:gd name="T35" fmla="*/ 39 h 40"/>
                <a:gd name="T36" fmla="*/ 31 w 52"/>
                <a:gd name="T37" fmla="*/ 40 h 40"/>
                <a:gd name="T38" fmla="*/ 35 w 52"/>
                <a:gd name="T39" fmla="*/ 39 h 40"/>
                <a:gd name="T40" fmla="*/ 39 w 52"/>
                <a:gd name="T41" fmla="*/ 39 h 40"/>
                <a:gd name="T42" fmla="*/ 40 w 52"/>
                <a:gd name="T43" fmla="*/ 39 h 40"/>
                <a:gd name="T44" fmla="*/ 51 w 52"/>
                <a:gd name="T45" fmla="*/ 26 h 40"/>
                <a:gd name="T46" fmla="*/ 44 w 52"/>
                <a:gd name="T47" fmla="*/ 11 h 40"/>
                <a:gd name="T48" fmla="*/ 41 w 52"/>
                <a:gd name="T4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2" h="40">
                  <a:moveTo>
                    <a:pt x="41" y="0"/>
                  </a:moveTo>
                  <a:cubicBezTo>
                    <a:pt x="41" y="4"/>
                    <a:pt x="40" y="8"/>
                    <a:pt x="38" y="9"/>
                  </a:cubicBezTo>
                  <a:cubicBezTo>
                    <a:pt x="33" y="8"/>
                    <a:pt x="31" y="5"/>
                    <a:pt x="32" y="1"/>
                  </a:cubicBezTo>
                  <a:cubicBezTo>
                    <a:pt x="31" y="1"/>
                    <a:pt x="31" y="1"/>
                    <a:pt x="30" y="1"/>
                  </a:cubicBezTo>
                  <a:cubicBezTo>
                    <a:pt x="28" y="1"/>
                    <a:pt x="28" y="2"/>
                    <a:pt x="25" y="2"/>
                  </a:cubicBezTo>
                  <a:cubicBezTo>
                    <a:pt x="25" y="3"/>
                    <a:pt x="25" y="5"/>
                    <a:pt x="24" y="6"/>
                  </a:cubicBezTo>
                  <a:cubicBezTo>
                    <a:pt x="24" y="6"/>
                    <a:pt x="23" y="6"/>
                    <a:pt x="23" y="6"/>
                  </a:cubicBezTo>
                  <a:cubicBezTo>
                    <a:pt x="21" y="6"/>
                    <a:pt x="23" y="4"/>
                    <a:pt x="21" y="4"/>
                  </a:cubicBezTo>
                  <a:cubicBezTo>
                    <a:pt x="17" y="11"/>
                    <a:pt x="7" y="12"/>
                    <a:pt x="1" y="19"/>
                  </a:cubicBezTo>
                  <a:cubicBezTo>
                    <a:pt x="2" y="24"/>
                    <a:pt x="0" y="31"/>
                    <a:pt x="0" y="35"/>
                  </a:cubicBezTo>
                  <a:cubicBezTo>
                    <a:pt x="7" y="34"/>
                    <a:pt x="13" y="30"/>
                    <a:pt x="20" y="30"/>
                  </a:cubicBezTo>
                  <a:cubicBezTo>
                    <a:pt x="22" y="30"/>
                    <a:pt x="23" y="30"/>
                    <a:pt x="24" y="30"/>
                  </a:cubicBezTo>
                  <a:cubicBezTo>
                    <a:pt x="24" y="32"/>
                    <a:pt x="25" y="32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4"/>
                    <a:pt x="27" y="33"/>
                    <a:pt x="27" y="33"/>
                  </a:cubicBezTo>
                  <a:cubicBezTo>
                    <a:pt x="28" y="32"/>
                    <a:pt x="28" y="31"/>
                    <a:pt x="28" y="31"/>
                  </a:cubicBezTo>
                  <a:cubicBezTo>
                    <a:pt x="29" y="31"/>
                    <a:pt x="29" y="31"/>
                    <a:pt x="29" y="32"/>
                  </a:cubicBezTo>
                  <a:cubicBezTo>
                    <a:pt x="27" y="34"/>
                    <a:pt x="30" y="37"/>
                    <a:pt x="28" y="39"/>
                  </a:cubicBezTo>
                  <a:cubicBezTo>
                    <a:pt x="29" y="40"/>
                    <a:pt x="30" y="40"/>
                    <a:pt x="31" y="40"/>
                  </a:cubicBezTo>
                  <a:cubicBezTo>
                    <a:pt x="32" y="40"/>
                    <a:pt x="33" y="40"/>
                    <a:pt x="35" y="39"/>
                  </a:cubicBezTo>
                  <a:cubicBezTo>
                    <a:pt x="36" y="39"/>
                    <a:pt x="37" y="39"/>
                    <a:pt x="39" y="39"/>
                  </a:cubicBezTo>
                  <a:cubicBezTo>
                    <a:pt x="39" y="39"/>
                    <a:pt x="39" y="39"/>
                    <a:pt x="40" y="39"/>
                  </a:cubicBezTo>
                  <a:cubicBezTo>
                    <a:pt x="41" y="34"/>
                    <a:pt x="49" y="31"/>
                    <a:pt x="51" y="26"/>
                  </a:cubicBezTo>
                  <a:cubicBezTo>
                    <a:pt x="52" y="19"/>
                    <a:pt x="48" y="15"/>
                    <a:pt x="44" y="11"/>
                  </a:cubicBezTo>
                  <a:cubicBezTo>
                    <a:pt x="45" y="5"/>
                    <a:pt x="43" y="3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76" name="Freeform 40"/>
            <p:cNvSpPr>
              <a:spLocks/>
            </p:cNvSpPr>
            <p:nvPr/>
          </p:nvSpPr>
          <p:spPr bwMode="auto">
            <a:xfrm>
              <a:off x="5012530" y="3897313"/>
              <a:ext cx="47625" cy="41275"/>
            </a:xfrm>
            <a:custGeom>
              <a:avLst/>
              <a:gdLst>
                <a:gd name="T0" fmla="*/ 4 w 7"/>
                <a:gd name="T1" fmla="*/ 0 h 6"/>
                <a:gd name="T2" fmla="*/ 1 w 7"/>
                <a:gd name="T3" fmla="*/ 4 h 6"/>
                <a:gd name="T4" fmla="*/ 2 w 7"/>
                <a:gd name="T5" fmla="*/ 6 h 6"/>
                <a:gd name="T6" fmla="*/ 2 w 7"/>
                <a:gd name="T7" fmla="*/ 6 h 6"/>
                <a:gd name="T8" fmla="*/ 7 w 7"/>
                <a:gd name="T9" fmla="*/ 2 h 6"/>
                <a:gd name="T10" fmla="*/ 6 w 7"/>
                <a:gd name="T11" fmla="*/ 2 h 6"/>
                <a:gd name="T12" fmla="*/ 4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cubicBezTo>
                    <a:pt x="4" y="3"/>
                    <a:pt x="1" y="2"/>
                    <a:pt x="1" y="4"/>
                  </a:cubicBezTo>
                  <a:cubicBezTo>
                    <a:pt x="3" y="4"/>
                    <a:pt x="0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3"/>
                    <a:pt x="6" y="4"/>
                    <a:pt x="7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77" name="Freeform 41"/>
            <p:cNvSpPr>
              <a:spLocks/>
            </p:cNvSpPr>
            <p:nvPr/>
          </p:nvSpPr>
          <p:spPr bwMode="auto">
            <a:xfrm>
              <a:off x="4758530" y="3938588"/>
              <a:ext cx="33338" cy="20638"/>
            </a:xfrm>
            <a:custGeom>
              <a:avLst/>
              <a:gdLst>
                <a:gd name="T0" fmla="*/ 5 w 5"/>
                <a:gd name="T1" fmla="*/ 0 h 3"/>
                <a:gd name="T2" fmla="*/ 3 w 5"/>
                <a:gd name="T3" fmla="*/ 0 h 3"/>
                <a:gd name="T4" fmla="*/ 1 w 5"/>
                <a:gd name="T5" fmla="*/ 0 h 3"/>
                <a:gd name="T6" fmla="*/ 1 w 5"/>
                <a:gd name="T7" fmla="*/ 3 h 3"/>
                <a:gd name="T8" fmla="*/ 2 w 5"/>
                <a:gd name="T9" fmla="*/ 3 h 3"/>
                <a:gd name="T10" fmla="*/ 5 w 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0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5" y="2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78" name="Freeform 42"/>
            <p:cNvSpPr>
              <a:spLocks/>
            </p:cNvSpPr>
            <p:nvPr/>
          </p:nvSpPr>
          <p:spPr bwMode="auto">
            <a:xfrm>
              <a:off x="4909343" y="3944938"/>
              <a:ext cx="88900" cy="49213"/>
            </a:xfrm>
            <a:custGeom>
              <a:avLst/>
              <a:gdLst>
                <a:gd name="T0" fmla="*/ 13 w 13"/>
                <a:gd name="T1" fmla="*/ 0 h 7"/>
                <a:gd name="T2" fmla="*/ 3 w 13"/>
                <a:gd name="T3" fmla="*/ 7 h 7"/>
                <a:gd name="T4" fmla="*/ 13 w 13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7">
                  <a:moveTo>
                    <a:pt x="13" y="0"/>
                  </a:moveTo>
                  <a:cubicBezTo>
                    <a:pt x="11" y="0"/>
                    <a:pt x="0" y="4"/>
                    <a:pt x="3" y="7"/>
                  </a:cubicBezTo>
                  <a:cubicBezTo>
                    <a:pt x="6" y="4"/>
                    <a:pt x="10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79" name="Freeform 43"/>
            <p:cNvSpPr>
              <a:spLocks/>
            </p:cNvSpPr>
            <p:nvPr/>
          </p:nvSpPr>
          <p:spPr bwMode="auto">
            <a:xfrm>
              <a:off x="3137693" y="4159251"/>
              <a:ext cx="33338" cy="26988"/>
            </a:xfrm>
            <a:custGeom>
              <a:avLst/>
              <a:gdLst>
                <a:gd name="T0" fmla="*/ 4 w 5"/>
                <a:gd name="T1" fmla="*/ 0 h 4"/>
                <a:gd name="T2" fmla="*/ 1 w 5"/>
                <a:gd name="T3" fmla="*/ 4 h 4"/>
                <a:gd name="T4" fmla="*/ 4 w 5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3" y="1"/>
                    <a:pt x="0" y="3"/>
                    <a:pt x="1" y="4"/>
                  </a:cubicBezTo>
                  <a:cubicBezTo>
                    <a:pt x="2" y="3"/>
                    <a:pt x="5" y="1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80" name="Freeform 44"/>
            <p:cNvSpPr>
              <a:spLocks/>
            </p:cNvSpPr>
            <p:nvPr/>
          </p:nvSpPr>
          <p:spPr bwMode="auto">
            <a:xfrm>
              <a:off x="3171030" y="2725738"/>
              <a:ext cx="55563" cy="14288"/>
            </a:xfrm>
            <a:custGeom>
              <a:avLst/>
              <a:gdLst>
                <a:gd name="T0" fmla="*/ 7 w 8"/>
                <a:gd name="T1" fmla="*/ 0 h 2"/>
                <a:gd name="T2" fmla="*/ 4 w 8"/>
                <a:gd name="T3" fmla="*/ 0 h 2"/>
                <a:gd name="T4" fmla="*/ 2 w 8"/>
                <a:gd name="T5" fmla="*/ 0 h 2"/>
                <a:gd name="T6" fmla="*/ 1 w 8"/>
                <a:gd name="T7" fmla="*/ 0 h 2"/>
                <a:gd name="T8" fmla="*/ 1 w 8"/>
                <a:gd name="T9" fmla="*/ 1 h 2"/>
                <a:gd name="T10" fmla="*/ 0 w 8"/>
                <a:gd name="T11" fmla="*/ 2 h 2"/>
                <a:gd name="T12" fmla="*/ 2 w 8"/>
                <a:gd name="T13" fmla="*/ 2 h 2"/>
                <a:gd name="T14" fmla="*/ 8 w 8"/>
                <a:gd name="T15" fmla="*/ 0 h 2"/>
                <a:gd name="T16" fmla="*/ 7 w 8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4" y="2"/>
                    <a:pt x="7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81" name="Freeform 45"/>
            <p:cNvSpPr>
              <a:spLocks/>
            </p:cNvSpPr>
            <p:nvPr/>
          </p:nvSpPr>
          <p:spPr bwMode="auto">
            <a:xfrm>
              <a:off x="3069430" y="2732088"/>
              <a:ext cx="26988" cy="20638"/>
            </a:xfrm>
            <a:custGeom>
              <a:avLst/>
              <a:gdLst>
                <a:gd name="T0" fmla="*/ 2 w 4"/>
                <a:gd name="T1" fmla="*/ 0 h 3"/>
                <a:gd name="T2" fmla="*/ 0 w 4"/>
                <a:gd name="T3" fmla="*/ 1 h 3"/>
                <a:gd name="T4" fmla="*/ 2 w 4"/>
                <a:gd name="T5" fmla="*/ 3 h 3"/>
                <a:gd name="T6" fmla="*/ 4 w 4"/>
                <a:gd name="T7" fmla="*/ 1 h 3"/>
                <a:gd name="T8" fmla="*/ 2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2" y="0"/>
                    <a:pt x="1" y="1"/>
                    <a:pt x="0" y="1"/>
                  </a:cubicBezTo>
                  <a:cubicBezTo>
                    <a:pt x="1" y="1"/>
                    <a:pt x="2" y="2"/>
                    <a:pt x="2" y="3"/>
                  </a:cubicBezTo>
                  <a:cubicBezTo>
                    <a:pt x="3" y="3"/>
                    <a:pt x="4" y="2"/>
                    <a:pt x="4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82" name="Freeform 46"/>
            <p:cNvSpPr>
              <a:spLocks/>
            </p:cNvSpPr>
            <p:nvPr/>
          </p:nvSpPr>
          <p:spPr bwMode="auto">
            <a:xfrm>
              <a:off x="2951955" y="2787651"/>
              <a:ext cx="34925" cy="20638"/>
            </a:xfrm>
            <a:custGeom>
              <a:avLst/>
              <a:gdLst>
                <a:gd name="T0" fmla="*/ 4 w 5"/>
                <a:gd name="T1" fmla="*/ 0 h 3"/>
                <a:gd name="T2" fmla="*/ 0 w 5"/>
                <a:gd name="T3" fmla="*/ 2 h 3"/>
                <a:gd name="T4" fmla="*/ 1 w 5"/>
                <a:gd name="T5" fmla="*/ 3 h 3"/>
                <a:gd name="T6" fmla="*/ 4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4" y="0"/>
                  </a:moveTo>
                  <a:cubicBezTo>
                    <a:pt x="3" y="1"/>
                    <a:pt x="1" y="1"/>
                    <a:pt x="0" y="2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2" y="3"/>
                    <a:pt x="5" y="1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83" name="Freeform 47"/>
            <p:cNvSpPr>
              <a:spLocks/>
            </p:cNvSpPr>
            <p:nvPr/>
          </p:nvSpPr>
          <p:spPr bwMode="auto">
            <a:xfrm>
              <a:off x="2966243" y="2808288"/>
              <a:ext cx="26988" cy="14288"/>
            </a:xfrm>
            <a:custGeom>
              <a:avLst/>
              <a:gdLst>
                <a:gd name="T0" fmla="*/ 3 w 4"/>
                <a:gd name="T1" fmla="*/ 0 h 2"/>
                <a:gd name="T2" fmla="*/ 0 w 4"/>
                <a:gd name="T3" fmla="*/ 2 h 2"/>
                <a:gd name="T4" fmla="*/ 1 w 4"/>
                <a:gd name="T5" fmla="*/ 2 h 2"/>
                <a:gd name="T6" fmla="*/ 4 w 4"/>
                <a:gd name="T7" fmla="*/ 0 h 2"/>
                <a:gd name="T8" fmla="*/ 3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1" y="0"/>
                    <a:pt x="1" y="1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2" y="2"/>
                    <a:pt x="3" y="1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84" name="Freeform 48"/>
            <p:cNvSpPr>
              <a:spLocks/>
            </p:cNvSpPr>
            <p:nvPr/>
          </p:nvSpPr>
          <p:spPr bwMode="auto">
            <a:xfrm>
              <a:off x="3748880" y="2911476"/>
              <a:ext cx="33338" cy="20638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1 h 3"/>
                <a:gd name="T6" fmla="*/ 1 w 5"/>
                <a:gd name="T7" fmla="*/ 0 h 3"/>
                <a:gd name="T8" fmla="*/ 3 w 5"/>
                <a:gd name="T9" fmla="*/ 3 h 3"/>
                <a:gd name="T10" fmla="*/ 4 w 5"/>
                <a:gd name="T11" fmla="*/ 1 h 3"/>
                <a:gd name="T12" fmla="*/ 3 w 5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0" y="2"/>
                    <a:pt x="1" y="3"/>
                    <a:pt x="3" y="3"/>
                  </a:cubicBezTo>
                  <a:cubicBezTo>
                    <a:pt x="4" y="3"/>
                    <a:pt x="5" y="2"/>
                    <a:pt x="4" y="1"/>
                  </a:cubicBezTo>
                  <a:cubicBezTo>
                    <a:pt x="4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85" name="Freeform 49"/>
            <p:cNvSpPr>
              <a:spLocks/>
            </p:cNvSpPr>
            <p:nvPr/>
          </p:nvSpPr>
          <p:spPr bwMode="auto">
            <a:xfrm>
              <a:off x="3494880" y="2967038"/>
              <a:ext cx="33338" cy="20638"/>
            </a:xfrm>
            <a:custGeom>
              <a:avLst/>
              <a:gdLst>
                <a:gd name="T0" fmla="*/ 2 w 5"/>
                <a:gd name="T1" fmla="*/ 0 h 3"/>
                <a:gd name="T2" fmla="*/ 1 w 5"/>
                <a:gd name="T3" fmla="*/ 0 h 3"/>
                <a:gd name="T4" fmla="*/ 2 w 5"/>
                <a:gd name="T5" fmla="*/ 3 h 3"/>
                <a:gd name="T6" fmla="*/ 5 w 5"/>
                <a:gd name="T7" fmla="*/ 1 h 3"/>
                <a:gd name="T8" fmla="*/ 4 w 5"/>
                <a:gd name="T9" fmla="*/ 1 h 3"/>
                <a:gd name="T10" fmla="*/ 3 w 5"/>
                <a:gd name="T11" fmla="*/ 0 h 3"/>
                <a:gd name="T12" fmla="*/ 2 w 5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2" y="2"/>
                    <a:pt x="0" y="2"/>
                    <a:pt x="2" y="3"/>
                  </a:cubicBezTo>
                  <a:cubicBezTo>
                    <a:pt x="2" y="2"/>
                    <a:pt x="5" y="3"/>
                    <a:pt x="5" y="1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4" y="1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86" name="Freeform 50"/>
            <p:cNvSpPr>
              <a:spLocks/>
            </p:cNvSpPr>
            <p:nvPr/>
          </p:nvSpPr>
          <p:spPr bwMode="auto">
            <a:xfrm>
              <a:off x="4717255" y="3063876"/>
              <a:ext cx="41275" cy="26988"/>
            </a:xfrm>
            <a:custGeom>
              <a:avLst/>
              <a:gdLst>
                <a:gd name="T0" fmla="*/ 1 w 6"/>
                <a:gd name="T1" fmla="*/ 0 h 4"/>
                <a:gd name="T2" fmla="*/ 0 w 6"/>
                <a:gd name="T3" fmla="*/ 0 h 4"/>
                <a:gd name="T4" fmla="*/ 4 w 6"/>
                <a:gd name="T5" fmla="*/ 4 h 4"/>
                <a:gd name="T6" fmla="*/ 6 w 6"/>
                <a:gd name="T7" fmla="*/ 2 h 4"/>
                <a:gd name="T8" fmla="*/ 1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1" y="2"/>
                    <a:pt x="3" y="3"/>
                    <a:pt x="4" y="4"/>
                  </a:cubicBezTo>
                  <a:cubicBezTo>
                    <a:pt x="4" y="2"/>
                    <a:pt x="5" y="2"/>
                    <a:pt x="6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87" name="Freeform 51"/>
            <p:cNvSpPr>
              <a:spLocks/>
            </p:cNvSpPr>
            <p:nvPr/>
          </p:nvSpPr>
          <p:spPr bwMode="auto">
            <a:xfrm>
              <a:off x="3486943" y="3090863"/>
              <a:ext cx="28575" cy="41275"/>
            </a:xfrm>
            <a:custGeom>
              <a:avLst/>
              <a:gdLst>
                <a:gd name="T0" fmla="*/ 3 w 4"/>
                <a:gd name="T1" fmla="*/ 0 h 6"/>
                <a:gd name="T2" fmla="*/ 2 w 4"/>
                <a:gd name="T3" fmla="*/ 6 h 6"/>
                <a:gd name="T4" fmla="*/ 4 w 4"/>
                <a:gd name="T5" fmla="*/ 0 h 6"/>
                <a:gd name="T6" fmla="*/ 3 w 4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cubicBezTo>
                    <a:pt x="0" y="0"/>
                    <a:pt x="0" y="5"/>
                    <a:pt x="2" y="6"/>
                  </a:cubicBezTo>
                  <a:cubicBezTo>
                    <a:pt x="3" y="5"/>
                    <a:pt x="2" y="2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88" name="Freeform 52"/>
            <p:cNvSpPr>
              <a:spLocks/>
            </p:cNvSpPr>
            <p:nvPr/>
          </p:nvSpPr>
          <p:spPr bwMode="auto">
            <a:xfrm>
              <a:off x="2842418" y="3284538"/>
              <a:ext cx="61913" cy="26988"/>
            </a:xfrm>
            <a:custGeom>
              <a:avLst/>
              <a:gdLst>
                <a:gd name="T0" fmla="*/ 2 w 9"/>
                <a:gd name="T1" fmla="*/ 0 h 4"/>
                <a:gd name="T2" fmla="*/ 0 w 9"/>
                <a:gd name="T3" fmla="*/ 1 h 4"/>
                <a:gd name="T4" fmla="*/ 1 w 9"/>
                <a:gd name="T5" fmla="*/ 1 h 4"/>
                <a:gd name="T6" fmla="*/ 4 w 9"/>
                <a:gd name="T7" fmla="*/ 2 h 4"/>
                <a:gd name="T8" fmla="*/ 7 w 9"/>
                <a:gd name="T9" fmla="*/ 4 h 4"/>
                <a:gd name="T10" fmla="*/ 9 w 9"/>
                <a:gd name="T11" fmla="*/ 3 h 4"/>
                <a:gd name="T12" fmla="*/ 9 w 9"/>
                <a:gd name="T13" fmla="*/ 3 h 4"/>
                <a:gd name="T14" fmla="*/ 5 w 9"/>
                <a:gd name="T15" fmla="*/ 2 h 4"/>
                <a:gd name="T16" fmla="*/ 2 w 9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4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3" y="1"/>
                    <a:pt x="4" y="2"/>
                  </a:cubicBezTo>
                  <a:cubicBezTo>
                    <a:pt x="5" y="3"/>
                    <a:pt x="6" y="4"/>
                    <a:pt x="7" y="4"/>
                  </a:cubicBezTo>
                  <a:cubicBezTo>
                    <a:pt x="8" y="4"/>
                    <a:pt x="8" y="4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3"/>
                    <a:pt x="6" y="3"/>
                    <a:pt x="5" y="2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89" name="Freeform 53"/>
            <p:cNvSpPr>
              <a:spLocks/>
            </p:cNvSpPr>
            <p:nvPr/>
          </p:nvSpPr>
          <p:spPr bwMode="auto">
            <a:xfrm>
              <a:off x="2910680" y="3317876"/>
              <a:ext cx="26988" cy="14288"/>
            </a:xfrm>
            <a:custGeom>
              <a:avLst/>
              <a:gdLst>
                <a:gd name="T0" fmla="*/ 3 w 4"/>
                <a:gd name="T1" fmla="*/ 0 h 2"/>
                <a:gd name="T2" fmla="*/ 2 w 4"/>
                <a:gd name="T3" fmla="*/ 1 h 2"/>
                <a:gd name="T4" fmla="*/ 2 w 4"/>
                <a:gd name="T5" fmla="*/ 1 h 2"/>
                <a:gd name="T6" fmla="*/ 3 w 4"/>
                <a:gd name="T7" fmla="*/ 1 h 2"/>
                <a:gd name="T8" fmla="*/ 4 w 4"/>
                <a:gd name="T9" fmla="*/ 2 h 2"/>
                <a:gd name="T10" fmla="*/ 4 w 4"/>
                <a:gd name="T11" fmla="*/ 2 h 2"/>
                <a:gd name="T12" fmla="*/ 4 w 4"/>
                <a:gd name="T13" fmla="*/ 0 h 2"/>
                <a:gd name="T14" fmla="*/ 3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2" y="0"/>
                    <a:pt x="0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4" y="0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90" name="Freeform 54"/>
            <p:cNvSpPr>
              <a:spLocks/>
            </p:cNvSpPr>
            <p:nvPr/>
          </p:nvSpPr>
          <p:spPr bwMode="auto">
            <a:xfrm>
              <a:off x="4628355" y="3332163"/>
              <a:ext cx="33338" cy="41275"/>
            </a:xfrm>
            <a:custGeom>
              <a:avLst/>
              <a:gdLst>
                <a:gd name="T0" fmla="*/ 2 w 5"/>
                <a:gd name="T1" fmla="*/ 0 h 6"/>
                <a:gd name="T2" fmla="*/ 3 w 5"/>
                <a:gd name="T3" fmla="*/ 6 h 6"/>
                <a:gd name="T4" fmla="*/ 2 w 5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0" y="1"/>
                    <a:pt x="1" y="6"/>
                    <a:pt x="3" y="6"/>
                  </a:cubicBezTo>
                  <a:cubicBezTo>
                    <a:pt x="1" y="4"/>
                    <a:pt x="5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91" name="Freeform 55"/>
            <p:cNvSpPr>
              <a:spLocks/>
            </p:cNvSpPr>
            <p:nvPr/>
          </p:nvSpPr>
          <p:spPr bwMode="auto">
            <a:xfrm>
              <a:off x="4277518" y="3422651"/>
              <a:ext cx="20638" cy="333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3 h 5"/>
                <a:gd name="T4" fmla="*/ 2 w 3"/>
                <a:gd name="T5" fmla="*/ 5 h 5"/>
                <a:gd name="T6" fmla="*/ 2 w 3"/>
                <a:gd name="T7" fmla="*/ 5 h 5"/>
                <a:gd name="T8" fmla="*/ 2 w 3"/>
                <a:gd name="T9" fmla="*/ 0 h 5"/>
                <a:gd name="T10" fmla="*/ 1 w 3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4"/>
                    <a:pt x="2" y="2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92" name="Freeform 56"/>
            <p:cNvSpPr>
              <a:spLocks/>
            </p:cNvSpPr>
            <p:nvPr/>
          </p:nvSpPr>
          <p:spPr bwMode="auto">
            <a:xfrm>
              <a:off x="4675980" y="3429001"/>
              <a:ext cx="20638" cy="20638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1 h 3"/>
                <a:gd name="T4" fmla="*/ 1 w 3"/>
                <a:gd name="T5" fmla="*/ 3 h 3"/>
                <a:gd name="T6" fmla="*/ 3 w 3"/>
                <a:gd name="T7" fmla="*/ 1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2"/>
                    <a:pt x="3" y="3"/>
                    <a:pt x="3" y="1"/>
                  </a:cubicBezTo>
                  <a:cubicBezTo>
                    <a:pt x="2" y="1"/>
                    <a:pt x="2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93" name="Freeform 57"/>
            <p:cNvSpPr>
              <a:spLocks/>
            </p:cNvSpPr>
            <p:nvPr/>
          </p:nvSpPr>
          <p:spPr bwMode="auto">
            <a:xfrm>
              <a:off x="4599780" y="3449638"/>
              <a:ext cx="28575" cy="20638"/>
            </a:xfrm>
            <a:custGeom>
              <a:avLst/>
              <a:gdLst>
                <a:gd name="T0" fmla="*/ 2 w 4"/>
                <a:gd name="T1" fmla="*/ 0 h 3"/>
                <a:gd name="T2" fmla="*/ 0 w 4"/>
                <a:gd name="T3" fmla="*/ 3 h 3"/>
                <a:gd name="T4" fmla="*/ 0 w 4"/>
                <a:gd name="T5" fmla="*/ 3 h 3"/>
                <a:gd name="T6" fmla="*/ 1 w 4"/>
                <a:gd name="T7" fmla="*/ 3 h 3"/>
                <a:gd name="T8" fmla="*/ 2 w 4"/>
                <a:gd name="T9" fmla="*/ 3 h 3"/>
                <a:gd name="T10" fmla="*/ 4 w 4"/>
                <a:gd name="T11" fmla="*/ 2 h 3"/>
                <a:gd name="T12" fmla="*/ 3 w 4"/>
                <a:gd name="T13" fmla="*/ 2 h 3"/>
                <a:gd name="T14" fmla="*/ 2 w 4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2" y="2"/>
                    <a:pt x="0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3" y="3"/>
                    <a:pt x="4" y="3"/>
                    <a:pt x="4" y="2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2" y="2"/>
                    <a:pt x="2" y="1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94" name="Freeform 58"/>
            <p:cNvSpPr>
              <a:spLocks/>
            </p:cNvSpPr>
            <p:nvPr/>
          </p:nvSpPr>
          <p:spPr bwMode="auto">
            <a:xfrm>
              <a:off x="4421980" y="3463926"/>
              <a:ext cx="88900" cy="109538"/>
            </a:xfrm>
            <a:custGeom>
              <a:avLst/>
              <a:gdLst>
                <a:gd name="T0" fmla="*/ 0 w 13"/>
                <a:gd name="T1" fmla="*/ 0 h 16"/>
                <a:gd name="T2" fmla="*/ 13 w 13"/>
                <a:gd name="T3" fmla="*/ 16 h 16"/>
                <a:gd name="T4" fmla="*/ 0 w 13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cubicBezTo>
                    <a:pt x="5" y="4"/>
                    <a:pt x="6" y="14"/>
                    <a:pt x="13" y="16"/>
                  </a:cubicBezTo>
                  <a:cubicBezTo>
                    <a:pt x="12" y="8"/>
                    <a:pt x="6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95" name="Freeform 59"/>
            <p:cNvSpPr>
              <a:spLocks/>
            </p:cNvSpPr>
            <p:nvPr/>
          </p:nvSpPr>
          <p:spPr bwMode="auto">
            <a:xfrm>
              <a:off x="4744243" y="3525838"/>
              <a:ext cx="26988" cy="12700"/>
            </a:xfrm>
            <a:custGeom>
              <a:avLst/>
              <a:gdLst>
                <a:gd name="T0" fmla="*/ 2 w 4"/>
                <a:gd name="T1" fmla="*/ 0 h 2"/>
                <a:gd name="T2" fmla="*/ 0 w 4"/>
                <a:gd name="T3" fmla="*/ 1 h 2"/>
                <a:gd name="T4" fmla="*/ 3 w 4"/>
                <a:gd name="T5" fmla="*/ 2 h 2"/>
                <a:gd name="T6" fmla="*/ 4 w 4"/>
                <a:gd name="T7" fmla="*/ 2 h 2"/>
                <a:gd name="T8" fmla="*/ 2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2" y="2"/>
                    <a:pt x="3" y="2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4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96" name="Freeform 60"/>
            <p:cNvSpPr>
              <a:spLocks/>
            </p:cNvSpPr>
            <p:nvPr/>
          </p:nvSpPr>
          <p:spPr bwMode="auto">
            <a:xfrm>
              <a:off x="4188618" y="4186238"/>
              <a:ext cx="47625" cy="0"/>
            </a:xfrm>
            <a:custGeom>
              <a:avLst/>
              <a:gdLst>
                <a:gd name="T0" fmla="*/ 4 w 7"/>
                <a:gd name="T1" fmla="*/ 0 w 7"/>
                <a:gd name="T2" fmla="*/ 7 w 7"/>
                <a:gd name="T3" fmla="*/ 4 w 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7">
                  <a:moveTo>
                    <a:pt x="4" y="0"/>
                  </a:moveTo>
                  <a:cubicBezTo>
                    <a:pt x="2" y="0"/>
                    <a:pt x="0" y="0"/>
                    <a:pt x="0" y="0"/>
                  </a:cubicBezTo>
                  <a:cubicBezTo>
                    <a:pt x="2" y="0"/>
                    <a:pt x="5" y="0"/>
                    <a:pt x="7" y="0"/>
                  </a:cubicBezTo>
                  <a:cubicBezTo>
                    <a:pt x="7" y="0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97" name="Freeform 62"/>
            <p:cNvSpPr>
              <a:spLocks/>
            </p:cNvSpPr>
            <p:nvPr/>
          </p:nvSpPr>
          <p:spPr bwMode="auto">
            <a:xfrm>
              <a:off x="3191668" y="2725738"/>
              <a:ext cx="282575" cy="173038"/>
            </a:xfrm>
            <a:custGeom>
              <a:avLst/>
              <a:gdLst>
                <a:gd name="T0" fmla="*/ 37 w 41"/>
                <a:gd name="T1" fmla="*/ 0 h 25"/>
                <a:gd name="T2" fmla="*/ 34 w 41"/>
                <a:gd name="T3" fmla="*/ 1 h 25"/>
                <a:gd name="T4" fmla="*/ 24 w 41"/>
                <a:gd name="T5" fmla="*/ 0 h 25"/>
                <a:gd name="T6" fmla="*/ 0 w 41"/>
                <a:gd name="T7" fmla="*/ 4 h 25"/>
                <a:gd name="T8" fmla="*/ 1 w 41"/>
                <a:gd name="T9" fmla="*/ 4 h 25"/>
                <a:gd name="T10" fmla="*/ 2 w 41"/>
                <a:gd name="T11" fmla="*/ 6 h 25"/>
                <a:gd name="T12" fmla="*/ 3 w 41"/>
                <a:gd name="T13" fmla="*/ 6 h 25"/>
                <a:gd name="T14" fmla="*/ 5 w 41"/>
                <a:gd name="T15" fmla="*/ 6 h 25"/>
                <a:gd name="T16" fmla="*/ 7 w 41"/>
                <a:gd name="T17" fmla="*/ 6 h 25"/>
                <a:gd name="T18" fmla="*/ 7 w 41"/>
                <a:gd name="T19" fmla="*/ 6 h 25"/>
                <a:gd name="T20" fmla="*/ 6 w 41"/>
                <a:gd name="T21" fmla="*/ 19 h 25"/>
                <a:gd name="T22" fmla="*/ 8 w 41"/>
                <a:gd name="T23" fmla="*/ 25 h 25"/>
                <a:gd name="T24" fmla="*/ 9 w 41"/>
                <a:gd name="T25" fmla="*/ 25 h 25"/>
                <a:gd name="T26" fmla="*/ 11 w 41"/>
                <a:gd name="T27" fmla="*/ 25 h 25"/>
                <a:gd name="T28" fmla="*/ 33 w 41"/>
                <a:gd name="T29" fmla="*/ 14 h 25"/>
                <a:gd name="T30" fmla="*/ 33 w 41"/>
                <a:gd name="T31" fmla="*/ 14 h 25"/>
                <a:gd name="T32" fmla="*/ 32 w 41"/>
                <a:gd name="T33" fmla="*/ 14 h 25"/>
                <a:gd name="T34" fmla="*/ 31 w 41"/>
                <a:gd name="T35" fmla="*/ 14 h 25"/>
                <a:gd name="T36" fmla="*/ 30 w 41"/>
                <a:gd name="T37" fmla="*/ 13 h 25"/>
                <a:gd name="T38" fmla="*/ 32 w 41"/>
                <a:gd name="T39" fmla="*/ 11 h 25"/>
                <a:gd name="T40" fmla="*/ 36 w 41"/>
                <a:gd name="T41" fmla="*/ 13 h 25"/>
                <a:gd name="T42" fmla="*/ 32 w 41"/>
                <a:gd name="T43" fmla="*/ 9 h 25"/>
                <a:gd name="T44" fmla="*/ 35 w 41"/>
                <a:gd name="T45" fmla="*/ 9 h 25"/>
                <a:gd name="T46" fmla="*/ 37 w 41"/>
                <a:gd name="T47" fmla="*/ 9 h 25"/>
                <a:gd name="T48" fmla="*/ 41 w 41"/>
                <a:gd name="T49" fmla="*/ 2 h 25"/>
                <a:gd name="T50" fmla="*/ 41 w 41"/>
                <a:gd name="T51" fmla="*/ 2 h 25"/>
                <a:gd name="T52" fmla="*/ 37 w 41"/>
                <a:gd name="T5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1" h="25">
                  <a:moveTo>
                    <a:pt x="37" y="0"/>
                  </a:moveTo>
                  <a:cubicBezTo>
                    <a:pt x="35" y="0"/>
                    <a:pt x="33" y="0"/>
                    <a:pt x="34" y="1"/>
                  </a:cubicBezTo>
                  <a:cubicBezTo>
                    <a:pt x="31" y="1"/>
                    <a:pt x="28" y="0"/>
                    <a:pt x="24" y="0"/>
                  </a:cubicBezTo>
                  <a:cubicBezTo>
                    <a:pt x="16" y="0"/>
                    <a:pt x="6" y="2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4"/>
                    <a:pt x="3" y="5"/>
                    <a:pt x="2" y="6"/>
                  </a:cubicBezTo>
                  <a:cubicBezTo>
                    <a:pt x="2" y="6"/>
                    <a:pt x="3" y="6"/>
                    <a:pt x="3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9" y="11"/>
                    <a:pt x="12" y="16"/>
                    <a:pt x="6" y="19"/>
                  </a:cubicBezTo>
                  <a:cubicBezTo>
                    <a:pt x="9" y="20"/>
                    <a:pt x="4" y="24"/>
                    <a:pt x="8" y="25"/>
                  </a:cubicBezTo>
                  <a:cubicBezTo>
                    <a:pt x="8" y="25"/>
                    <a:pt x="8" y="25"/>
                    <a:pt x="9" y="25"/>
                  </a:cubicBezTo>
                  <a:cubicBezTo>
                    <a:pt x="9" y="25"/>
                    <a:pt x="10" y="25"/>
                    <a:pt x="11" y="25"/>
                  </a:cubicBezTo>
                  <a:cubicBezTo>
                    <a:pt x="16" y="17"/>
                    <a:pt x="25" y="18"/>
                    <a:pt x="33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0" y="14"/>
                    <a:pt x="30" y="14"/>
                    <a:pt x="30" y="13"/>
                  </a:cubicBezTo>
                  <a:cubicBezTo>
                    <a:pt x="31" y="13"/>
                    <a:pt x="31" y="11"/>
                    <a:pt x="32" y="11"/>
                  </a:cubicBezTo>
                  <a:cubicBezTo>
                    <a:pt x="33" y="11"/>
                    <a:pt x="34" y="12"/>
                    <a:pt x="36" y="13"/>
                  </a:cubicBezTo>
                  <a:cubicBezTo>
                    <a:pt x="36" y="10"/>
                    <a:pt x="32" y="12"/>
                    <a:pt x="32" y="9"/>
                  </a:cubicBezTo>
                  <a:cubicBezTo>
                    <a:pt x="34" y="9"/>
                    <a:pt x="34" y="9"/>
                    <a:pt x="35" y="9"/>
                  </a:cubicBezTo>
                  <a:cubicBezTo>
                    <a:pt x="35" y="9"/>
                    <a:pt x="36" y="9"/>
                    <a:pt x="37" y="9"/>
                  </a:cubicBezTo>
                  <a:cubicBezTo>
                    <a:pt x="38" y="6"/>
                    <a:pt x="40" y="4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0"/>
                    <a:pt x="39" y="0"/>
                    <a:pt x="3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98" name="Freeform 63"/>
            <p:cNvSpPr>
              <a:spLocks/>
            </p:cNvSpPr>
            <p:nvPr/>
          </p:nvSpPr>
          <p:spPr bwMode="auto">
            <a:xfrm>
              <a:off x="3432968" y="2857501"/>
              <a:ext cx="53975" cy="20638"/>
            </a:xfrm>
            <a:custGeom>
              <a:avLst/>
              <a:gdLst>
                <a:gd name="T0" fmla="*/ 5 w 8"/>
                <a:gd name="T1" fmla="*/ 0 h 3"/>
                <a:gd name="T2" fmla="*/ 0 w 8"/>
                <a:gd name="T3" fmla="*/ 2 h 3"/>
                <a:gd name="T4" fmla="*/ 2 w 8"/>
                <a:gd name="T5" fmla="*/ 3 h 3"/>
                <a:gd name="T6" fmla="*/ 8 w 8"/>
                <a:gd name="T7" fmla="*/ 2 h 3"/>
                <a:gd name="T8" fmla="*/ 5 w 8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5" y="0"/>
                  </a:moveTo>
                  <a:cubicBezTo>
                    <a:pt x="3" y="0"/>
                    <a:pt x="0" y="1"/>
                    <a:pt x="0" y="2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4" y="3"/>
                    <a:pt x="5" y="2"/>
                    <a:pt x="8" y="2"/>
                  </a:cubicBezTo>
                  <a:cubicBezTo>
                    <a:pt x="8" y="0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99" name="Freeform 64"/>
            <p:cNvSpPr>
              <a:spLocks/>
            </p:cNvSpPr>
            <p:nvPr/>
          </p:nvSpPr>
          <p:spPr bwMode="auto">
            <a:xfrm>
              <a:off x="3447255" y="3414713"/>
              <a:ext cx="19050" cy="28575"/>
            </a:xfrm>
            <a:custGeom>
              <a:avLst/>
              <a:gdLst>
                <a:gd name="T0" fmla="*/ 1 w 3"/>
                <a:gd name="T1" fmla="*/ 0 h 4"/>
                <a:gd name="T2" fmla="*/ 0 w 3"/>
                <a:gd name="T3" fmla="*/ 1 h 4"/>
                <a:gd name="T4" fmla="*/ 1 w 3"/>
                <a:gd name="T5" fmla="*/ 4 h 4"/>
                <a:gd name="T6" fmla="*/ 1 w 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2" y="3"/>
                    <a:pt x="3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00" name="Freeform 65"/>
            <p:cNvSpPr>
              <a:spLocks/>
            </p:cNvSpPr>
            <p:nvPr/>
          </p:nvSpPr>
          <p:spPr bwMode="auto">
            <a:xfrm>
              <a:off x="4537868" y="3476626"/>
              <a:ext cx="90488" cy="76200"/>
            </a:xfrm>
            <a:custGeom>
              <a:avLst/>
              <a:gdLst>
                <a:gd name="T0" fmla="*/ 8 w 13"/>
                <a:gd name="T1" fmla="*/ 0 h 11"/>
                <a:gd name="T2" fmla="*/ 5 w 13"/>
                <a:gd name="T3" fmla="*/ 2 h 11"/>
                <a:gd name="T4" fmla="*/ 2 w 13"/>
                <a:gd name="T5" fmla="*/ 5 h 11"/>
                <a:gd name="T6" fmla="*/ 1 w 13"/>
                <a:gd name="T7" fmla="*/ 4 h 11"/>
                <a:gd name="T8" fmla="*/ 2 w 13"/>
                <a:gd name="T9" fmla="*/ 10 h 11"/>
                <a:gd name="T10" fmla="*/ 10 w 13"/>
                <a:gd name="T11" fmla="*/ 11 h 11"/>
                <a:gd name="T12" fmla="*/ 13 w 13"/>
                <a:gd name="T13" fmla="*/ 4 h 11"/>
                <a:gd name="T14" fmla="*/ 11 w 13"/>
                <a:gd name="T15" fmla="*/ 0 h 11"/>
                <a:gd name="T16" fmla="*/ 11 w 13"/>
                <a:gd name="T17" fmla="*/ 0 h 11"/>
                <a:gd name="T18" fmla="*/ 9 w 13"/>
                <a:gd name="T19" fmla="*/ 3 h 11"/>
                <a:gd name="T20" fmla="*/ 9 w 13"/>
                <a:gd name="T21" fmla="*/ 0 h 11"/>
                <a:gd name="T22" fmla="*/ 8 w 13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1">
                  <a:moveTo>
                    <a:pt x="8" y="0"/>
                  </a:moveTo>
                  <a:cubicBezTo>
                    <a:pt x="7" y="0"/>
                    <a:pt x="6" y="1"/>
                    <a:pt x="5" y="2"/>
                  </a:cubicBezTo>
                  <a:cubicBezTo>
                    <a:pt x="4" y="3"/>
                    <a:pt x="3" y="5"/>
                    <a:pt x="2" y="5"/>
                  </a:cubicBezTo>
                  <a:cubicBezTo>
                    <a:pt x="2" y="5"/>
                    <a:pt x="2" y="4"/>
                    <a:pt x="1" y="4"/>
                  </a:cubicBezTo>
                  <a:cubicBezTo>
                    <a:pt x="0" y="7"/>
                    <a:pt x="3" y="7"/>
                    <a:pt x="2" y="10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9" y="7"/>
                    <a:pt x="12" y="6"/>
                    <a:pt x="13" y="4"/>
                  </a:cubicBezTo>
                  <a:cubicBezTo>
                    <a:pt x="12" y="3"/>
                    <a:pt x="12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9" y="0"/>
                    <a:pt x="10" y="2"/>
                    <a:pt x="9" y="3"/>
                  </a:cubicBezTo>
                  <a:cubicBezTo>
                    <a:pt x="8" y="1"/>
                    <a:pt x="11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  <p:sp>
          <p:nvSpPr>
            <p:cNvPr id="101" name="Freeform 66"/>
            <p:cNvSpPr>
              <a:spLocks/>
            </p:cNvSpPr>
            <p:nvPr/>
          </p:nvSpPr>
          <p:spPr bwMode="auto">
            <a:xfrm>
              <a:off x="3940968" y="3656013"/>
              <a:ext cx="68263" cy="123825"/>
            </a:xfrm>
            <a:custGeom>
              <a:avLst/>
              <a:gdLst>
                <a:gd name="T0" fmla="*/ 9 w 10"/>
                <a:gd name="T1" fmla="*/ 0 h 18"/>
                <a:gd name="T2" fmla="*/ 4 w 10"/>
                <a:gd name="T3" fmla="*/ 4 h 18"/>
                <a:gd name="T4" fmla="*/ 3 w 10"/>
                <a:gd name="T5" fmla="*/ 4 h 18"/>
                <a:gd name="T6" fmla="*/ 1 w 10"/>
                <a:gd name="T7" fmla="*/ 17 h 18"/>
                <a:gd name="T8" fmla="*/ 1 w 10"/>
                <a:gd name="T9" fmla="*/ 17 h 18"/>
                <a:gd name="T10" fmla="*/ 3 w 10"/>
                <a:gd name="T11" fmla="*/ 18 h 18"/>
                <a:gd name="T12" fmla="*/ 10 w 10"/>
                <a:gd name="T13" fmla="*/ 2 h 18"/>
                <a:gd name="T14" fmla="*/ 9 w 10"/>
                <a:gd name="T1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8">
                  <a:moveTo>
                    <a:pt x="9" y="0"/>
                  </a:moveTo>
                  <a:cubicBezTo>
                    <a:pt x="7" y="1"/>
                    <a:pt x="6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9"/>
                    <a:pt x="0" y="12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2" y="17"/>
                    <a:pt x="3" y="17"/>
                    <a:pt x="3" y="18"/>
                  </a:cubicBezTo>
                  <a:cubicBezTo>
                    <a:pt x="7" y="14"/>
                    <a:pt x="7" y="7"/>
                    <a:pt x="10" y="2"/>
                  </a:cubicBezTo>
                  <a:cubicBezTo>
                    <a:pt x="10" y="1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013"/>
            </a:p>
          </p:txBody>
        </p:sp>
      </p:grpSp>
      <p:sp>
        <p:nvSpPr>
          <p:cNvPr id="102" name="Freeform 86"/>
          <p:cNvSpPr>
            <a:spLocks/>
          </p:cNvSpPr>
          <p:nvPr/>
        </p:nvSpPr>
        <p:spPr bwMode="auto">
          <a:xfrm>
            <a:off x="6115147" y="2261820"/>
            <a:ext cx="1645926" cy="913256"/>
          </a:xfrm>
          <a:custGeom>
            <a:avLst/>
            <a:gdLst>
              <a:gd name="T0" fmla="*/ 66 w 132"/>
              <a:gd name="T1" fmla="*/ 0 h 72"/>
              <a:gd name="T2" fmla="*/ 0 w 132"/>
              <a:gd name="T3" fmla="*/ 34 h 72"/>
              <a:gd name="T4" fmla="*/ 18 w 132"/>
              <a:gd name="T5" fmla="*/ 58 h 72"/>
              <a:gd name="T6" fmla="*/ 10 w 132"/>
              <a:gd name="T7" fmla="*/ 68 h 72"/>
              <a:gd name="T8" fmla="*/ 12 w 132"/>
              <a:gd name="T9" fmla="*/ 70 h 72"/>
              <a:gd name="T10" fmla="*/ 30 w 132"/>
              <a:gd name="T11" fmla="*/ 63 h 72"/>
              <a:gd name="T12" fmla="*/ 66 w 132"/>
              <a:gd name="T13" fmla="*/ 68 h 72"/>
              <a:gd name="T14" fmla="*/ 132 w 132"/>
              <a:gd name="T15" fmla="*/ 34 h 72"/>
              <a:gd name="T16" fmla="*/ 66 w 132"/>
              <a:gd name="T17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" h="72">
                <a:moveTo>
                  <a:pt x="66" y="0"/>
                </a:moveTo>
                <a:cubicBezTo>
                  <a:pt x="29" y="0"/>
                  <a:pt x="0" y="15"/>
                  <a:pt x="0" y="34"/>
                </a:cubicBezTo>
                <a:cubicBezTo>
                  <a:pt x="0" y="43"/>
                  <a:pt x="7" y="52"/>
                  <a:pt x="18" y="58"/>
                </a:cubicBezTo>
                <a:cubicBezTo>
                  <a:pt x="10" y="68"/>
                  <a:pt x="10" y="68"/>
                  <a:pt x="10" y="68"/>
                </a:cubicBezTo>
                <a:cubicBezTo>
                  <a:pt x="8" y="70"/>
                  <a:pt x="9" y="72"/>
                  <a:pt x="12" y="70"/>
                </a:cubicBezTo>
                <a:cubicBezTo>
                  <a:pt x="30" y="63"/>
                  <a:pt x="30" y="63"/>
                  <a:pt x="30" y="63"/>
                </a:cubicBezTo>
                <a:cubicBezTo>
                  <a:pt x="40" y="66"/>
                  <a:pt x="53" y="68"/>
                  <a:pt x="66" y="68"/>
                </a:cubicBezTo>
                <a:cubicBezTo>
                  <a:pt x="102" y="68"/>
                  <a:pt x="132" y="53"/>
                  <a:pt x="132" y="34"/>
                </a:cubicBezTo>
                <a:cubicBezTo>
                  <a:pt x="132" y="15"/>
                  <a:pt x="102" y="0"/>
                  <a:pt x="66" y="0"/>
                </a:cubicBezTo>
                <a:close/>
              </a:path>
            </a:pathLst>
          </a:custGeom>
          <a:gradFill>
            <a:gsLst>
              <a:gs pos="0">
                <a:srgbClr val="ECECEC"/>
              </a:gs>
              <a:gs pos="100000">
                <a:schemeClr val="bg1"/>
              </a:gs>
            </a:gsLst>
            <a:lin ang="8100000" scaled="0"/>
          </a:gradFill>
          <a:ln w="1270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25000"/>
              </a:prst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013"/>
          </a:p>
        </p:txBody>
      </p:sp>
      <p:sp>
        <p:nvSpPr>
          <p:cNvPr id="103" name="Freeform 86"/>
          <p:cNvSpPr>
            <a:spLocks/>
          </p:cNvSpPr>
          <p:nvPr/>
        </p:nvSpPr>
        <p:spPr bwMode="auto">
          <a:xfrm>
            <a:off x="4902968" y="1349870"/>
            <a:ext cx="1645926" cy="913256"/>
          </a:xfrm>
          <a:custGeom>
            <a:avLst/>
            <a:gdLst>
              <a:gd name="T0" fmla="*/ 66 w 132"/>
              <a:gd name="T1" fmla="*/ 0 h 72"/>
              <a:gd name="T2" fmla="*/ 0 w 132"/>
              <a:gd name="T3" fmla="*/ 34 h 72"/>
              <a:gd name="T4" fmla="*/ 18 w 132"/>
              <a:gd name="T5" fmla="*/ 58 h 72"/>
              <a:gd name="T6" fmla="*/ 10 w 132"/>
              <a:gd name="T7" fmla="*/ 68 h 72"/>
              <a:gd name="T8" fmla="*/ 12 w 132"/>
              <a:gd name="T9" fmla="*/ 70 h 72"/>
              <a:gd name="T10" fmla="*/ 30 w 132"/>
              <a:gd name="T11" fmla="*/ 63 h 72"/>
              <a:gd name="T12" fmla="*/ 66 w 132"/>
              <a:gd name="T13" fmla="*/ 68 h 72"/>
              <a:gd name="T14" fmla="*/ 132 w 132"/>
              <a:gd name="T15" fmla="*/ 34 h 72"/>
              <a:gd name="T16" fmla="*/ 66 w 132"/>
              <a:gd name="T17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" h="72">
                <a:moveTo>
                  <a:pt x="66" y="0"/>
                </a:moveTo>
                <a:cubicBezTo>
                  <a:pt x="29" y="0"/>
                  <a:pt x="0" y="15"/>
                  <a:pt x="0" y="34"/>
                </a:cubicBezTo>
                <a:cubicBezTo>
                  <a:pt x="0" y="43"/>
                  <a:pt x="7" y="52"/>
                  <a:pt x="18" y="58"/>
                </a:cubicBezTo>
                <a:cubicBezTo>
                  <a:pt x="10" y="68"/>
                  <a:pt x="10" y="68"/>
                  <a:pt x="10" y="68"/>
                </a:cubicBezTo>
                <a:cubicBezTo>
                  <a:pt x="8" y="70"/>
                  <a:pt x="9" y="72"/>
                  <a:pt x="12" y="70"/>
                </a:cubicBezTo>
                <a:cubicBezTo>
                  <a:pt x="30" y="63"/>
                  <a:pt x="30" y="63"/>
                  <a:pt x="30" y="63"/>
                </a:cubicBezTo>
                <a:cubicBezTo>
                  <a:pt x="40" y="66"/>
                  <a:pt x="53" y="68"/>
                  <a:pt x="66" y="68"/>
                </a:cubicBezTo>
                <a:cubicBezTo>
                  <a:pt x="102" y="68"/>
                  <a:pt x="132" y="53"/>
                  <a:pt x="132" y="34"/>
                </a:cubicBezTo>
                <a:cubicBezTo>
                  <a:pt x="132" y="15"/>
                  <a:pt x="102" y="0"/>
                  <a:pt x="66" y="0"/>
                </a:cubicBezTo>
                <a:close/>
              </a:path>
            </a:pathLst>
          </a:custGeom>
          <a:gradFill>
            <a:gsLst>
              <a:gs pos="0">
                <a:srgbClr val="ECECEC"/>
              </a:gs>
              <a:gs pos="100000">
                <a:schemeClr val="bg1"/>
              </a:gs>
            </a:gsLst>
            <a:lin ang="8100000" scaled="0"/>
          </a:gradFill>
          <a:ln w="1270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25000"/>
              </a:prst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013"/>
          </a:p>
        </p:txBody>
      </p:sp>
      <p:sp>
        <p:nvSpPr>
          <p:cNvPr id="104" name="Freeform 86"/>
          <p:cNvSpPr>
            <a:spLocks/>
          </p:cNvSpPr>
          <p:nvPr/>
        </p:nvSpPr>
        <p:spPr bwMode="auto">
          <a:xfrm flipH="1">
            <a:off x="2764659" y="1323809"/>
            <a:ext cx="1645926" cy="913256"/>
          </a:xfrm>
          <a:custGeom>
            <a:avLst/>
            <a:gdLst>
              <a:gd name="T0" fmla="*/ 66 w 132"/>
              <a:gd name="T1" fmla="*/ 0 h 72"/>
              <a:gd name="T2" fmla="*/ 0 w 132"/>
              <a:gd name="T3" fmla="*/ 34 h 72"/>
              <a:gd name="T4" fmla="*/ 18 w 132"/>
              <a:gd name="T5" fmla="*/ 58 h 72"/>
              <a:gd name="T6" fmla="*/ 10 w 132"/>
              <a:gd name="T7" fmla="*/ 68 h 72"/>
              <a:gd name="T8" fmla="*/ 12 w 132"/>
              <a:gd name="T9" fmla="*/ 70 h 72"/>
              <a:gd name="T10" fmla="*/ 30 w 132"/>
              <a:gd name="T11" fmla="*/ 63 h 72"/>
              <a:gd name="T12" fmla="*/ 66 w 132"/>
              <a:gd name="T13" fmla="*/ 68 h 72"/>
              <a:gd name="T14" fmla="*/ 132 w 132"/>
              <a:gd name="T15" fmla="*/ 34 h 72"/>
              <a:gd name="T16" fmla="*/ 66 w 132"/>
              <a:gd name="T17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" h="72">
                <a:moveTo>
                  <a:pt x="66" y="0"/>
                </a:moveTo>
                <a:cubicBezTo>
                  <a:pt x="29" y="0"/>
                  <a:pt x="0" y="15"/>
                  <a:pt x="0" y="34"/>
                </a:cubicBezTo>
                <a:cubicBezTo>
                  <a:pt x="0" y="43"/>
                  <a:pt x="7" y="52"/>
                  <a:pt x="18" y="58"/>
                </a:cubicBezTo>
                <a:cubicBezTo>
                  <a:pt x="10" y="68"/>
                  <a:pt x="10" y="68"/>
                  <a:pt x="10" y="68"/>
                </a:cubicBezTo>
                <a:cubicBezTo>
                  <a:pt x="8" y="70"/>
                  <a:pt x="9" y="72"/>
                  <a:pt x="12" y="70"/>
                </a:cubicBezTo>
                <a:cubicBezTo>
                  <a:pt x="30" y="63"/>
                  <a:pt x="30" y="63"/>
                  <a:pt x="30" y="63"/>
                </a:cubicBezTo>
                <a:cubicBezTo>
                  <a:pt x="40" y="66"/>
                  <a:pt x="53" y="68"/>
                  <a:pt x="66" y="68"/>
                </a:cubicBezTo>
                <a:cubicBezTo>
                  <a:pt x="102" y="68"/>
                  <a:pt x="132" y="53"/>
                  <a:pt x="132" y="34"/>
                </a:cubicBezTo>
                <a:cubicBezTo>
                  <a:pt x="132" y="15"/>
                  <a:pt x="102" y="0"/>
                  <a:pt x="66" y="0"/>
                </a:cubicBezTo>
                <a:close/>
              </a:path>
            </a:pathLst>
          </a:custGeom>
          <a:gradFill flip="none" rotWithShape="1">
            <a:gsLst>
              <a:gs pos="0">
                <a:srgbClr val="ECECEC"/>
              </a:gs>
              <a:gs pos="100000">
                <a:schemeClr val="bg1"/>
              </a:gs>
            </a:gsLst>
            <a:lin ang="27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127000" dist="63500" dir="8100000" algn="tr" rotWithShape="0">
              <a:prstClr val="black">
                <a:alpha val="25000"/>
              </a:prst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013"/>
          </a:p>
        </p:txBody>
      </p:sp>
      <p:sp>
        <p:nvSpPr>
          <p:cNvPr id="105" name="Freeform 86"/>
          <p:cNvSpPr>
            <a:spLocks/>
          </p:cNvSpPr>
          <p:nvPr/>
        </p:nvSpPr>
        <p:spPr bwMode="auto">
          <a:xfrm flipH="1">
            <a:off x="1521540" y="2254895"/>
            <a:ext cx="1645926" cy="913256"/>
          </a:xfrm>
          <a:custGeom>
            <a:avLst/>
            <a:gdLst>
              <a:gd name="T0" fmla="*/ 66 w 132"/>
              <a:gd name="T1" fmla="*/ 0 h 72"/>
              <a:gd name="T2" fmla="*/ 0 w 132"/>
              <a:gd name="T3" fmla="*/ 34 h 72"/>
              <a:gd name="T4" fmla="*/ 18 w 132"/>
              <a:gd name="T5" fmla="*/ 58 h 72"/>
              <a:gd name="T6" fmla="*/ 10 w 132"/>
              <a:gd name="T7" fmla="*/ 68 h 72"/>
              <a:gd name="T8" fmla="*/ 12 w 132"/>
              <a:gd name="T9" fmla="*/ 70 h 72"/>
              <a:gd name="T10" fmla="*/ 30 w 132"/>
              <a:gd name="T11" fmla="*/ 63 h 72"/>
              <a:gd name="T12" fmla="*/ 66 w 132"/>
              <a:gd name="T13" fmla="*/ 68 h 72"/>
              <a:gd name="T14" fmla="*/ 132 w 132"/>
              <a:gd name="T15" fmla="*/ 34 h 72"/>
              <a:gd name="T16" fmla="*/ 66 w 132"/>
              <a:gd name="T17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" h="72">
                <a:moveTo>
                  <a:pt x="66" y="0"/>
                </a:moveTo>
                <a:cubicBezTo>
                  <a:pt x="29" y="0"/>
                  <a:pt x="0" y="15"/>
                  <a:pt x="0" y="34"/>
                </a:cubicBezTo>
                <a:cubicBezTo>
                  <a:pt x="0" y="43"/>
                  <a:pt x="7" y="52"/>
                  <a:pt x="18" y="58"/>
                </a:cubicBezTo>
                <a:cubicBezTo>
                  <a:pt x="10" y="68"/>
                  <a:pt x="10" y="68"/>
                  <a:pt x="10" y="68"/>
                </a:cubicBezTo>
                <a:cubicBezTo>
                  <a:pt x="8" y="70"/>
                  <a:pt x="9" y="72"/>
                  <a:pt x="12" y="70"/>
                </a:cubicBezTo>
                <a:cubicBezTo>
                  <a:pt x="30" y="63"/>
                  <a:pt x="30" y="63"/>
                  <a:pt x="30" y="63"/>
                </a:cubicBezTo>
                <a:cubicBezTo>
                  <a:pt x="40" y="66"/>
                  <a:pt x="53" y="68"/>
                  <a:pt x="66" y="68"/>
                </a:cubicBezTo>
                <a:cubicBezTo>
                  <a:pt x="102" y="68"/>
                  <a:pt x="132" y="53"/>
                  <a:pt x="132" y="34"/>
                </a:cubicBezTo>
                <a:cubicBezTo>
                  <a:pt x="132" y="15"/>
                  <a:pt x="102" y="0"/>
                  <a:pt x="66" y="0"/>
                </a:cubicBezTo>
                <a:close/>
              </a:path>
            </a:pathLst>
          </a:custGeom>
          <a:gradFill flip="none" rotWithShape="1">
            <a:gsLst>
              <a:gs pos="0">
                <a:srgbClr val="ECECEC"/>
              </a:gs>
              <a:gs pos="100000">
                <a:schemeClr val="bg1"/>
              </a:gs>
            </a:gsLst>
            <a:lin ang="2700000" scaled="1"/>
            <a:tileRect/>
          </a:gradFill>
          <a:ln w="1270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127000" dist="63500" dir="8100000" algn="tr" rotWithShape="0">
              <a:prstClr val="black">
                <a:alpha val="25000"/>
              </a:prstClr>
            </a:outerShdw>
          </a:effec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013"/>
          </a:p>
        </p:txBody>
      </p:sp>
      <p:grpSp>
        <p:nvGrpSpPr>
          <p:cNvPr id="106" name="组合 105"/>
          <p:cNvGrpSpPr/>
          <p:nvPr/>
        </p:nvGrpSpPr>
        <p:grpSpPr>
          <a:xfrm>
            <a:off x="3861186" y="2905143"/>
            <a:ext cx="212519" cy="212519"/>
            <a:chOff x="2387600" y="2311381"/>
            <a:chExt cx="1219603" cy="1219603"/>
          </a:xfrm>
        </p:grpSpPr>
        <p:sp>
          <p:nvSpPr>
            <p:cNvPr id="107" name="泪滴形 106"/>
            <p:cNvSpPr/>
            <p:nvPr/>
          </p:nvSpPr>
          <p:spPr>
            <a:xfrm rot="18900000" flipH="1" flipV="1">
              <a:off x="2387600" y="2311381"/>
              <a:ext cx="1219603" cy="1219603"/>
            </a:xfrm>
            <a:prstGeom prst="teardrop">
              <a:avLst/>
            </a:prstGeom>
            <a:gradFill flip="none"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3500000" scaled="0"/>
                <a:tileRect/>
              </a:gradFill>
            </a:ln>
            <a:effectLst>
              <a:outerShdw blurRad="101600" dist="508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08" name="椭圆 107"/>
            <p:cNvSpPr/>
            <p:nvPr/>
          </p:nvSpPr>
          <p:spPr>
            <a:xfrm>
              <a:off x="2565783" y="2489564"/>
              <a:ext cx="863236" cy="863236"/>
            </a:xfrm>
            <a:prstGeom prst="ellipse">
              <a:avLst/>
            </a:prstGeom>
            <a:solidFill>
              <a:srgbClr val="FFD597"/>
            </a:solidFill>
            <a:ln w="9525">
              <a:gradFill flip="none" rotWithShape="1">
                <a:gsLst>
                  <a:gs pos="0">
                    <a:schemeClr val="bg1">
                      <a:lumMod val="70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4376148" y="3111163"/>
            <a:ext cx="212519" cy="212519"/>
            <a:chOff x="2387600" y="2311381"/>
            <a:chExt cx="1219603" cy="1219603"/>
          </a:xfrm>
        </p:grpSpPr>
        <p:sp>
          <p:nvSpPr>
            <p:cNvPr id="110" name="泪滴形 109"/>
            <p:cNvSpPr/>
            <p:nvPr/>
          </p:nvSpPr>
          <p:spPr>
            <a:xfrm rot="18900000" flipH="1" flipV="1">
              <a:off x="2387600" y="2311381"/>
              <a:ext cx="1219603" cy="1219603"/>
            </a:xfrm>
            <a:prstGeom prst="teardrop">
              <a:avLst/>
            </a:prstGeom>
            <a:gradFill flip="none"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3500000" scaled="0"/>
                <a:tileRect/>
              </a:gradFill>
            </a:ln>
            <a:effectLst>
              <a:outerShdw blurRad="101600" dist="508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11" name="椭圆 110"/>
            <p:cNvSpPr/>
            <p:nvPr/>
          </p:nvSpPr>
          <p:spPr>
            <a:xfrm>
              <a:off x="2565783" y="2489564"/>
              <a:ext cx="863236" cy="863236"/>
            </a:xfrm>
            <a:prstGeom prst="ellipse">
              <a:avLst/>
            </a:prstGeom>
            <a:solidFill>
              <a:srgbClr val="01ACBE"/>
            </a:solidFill>
            <a:ln w="9525">
              <a:gradFill flip="none" rotWithShape="1">
                <a:gsLst>
                  <a:gs pos="0">
                    <a:schemeClr val="bg1">
                      <a:lumMod val="70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4813689" y="2839419"/>
            <a:ext cx="212519" cy="212519"/>
            <a:chOff x="2387600" y="2311381"/>
            <a:chExt cx="1219603" cy="1219603"/>
          </a:xfrm>
        </p:grpSpPr>
        <p:sp>
          <p:nvSpPr>
            <p:cNvPr id="113" name="泪滴形 112"/>
            <p:cNvSpPr/>
            <p:nvPr/>
          </p:nvSpPr>
          <p:spPr>
            <a:xfrm rot="18900000" flipH="1" flipV="1">
              <a:off x="2387600" y="2311381"/>
              <a:ext cx="1219603" cy="1219603"/>
            </a:xfrm>
            <a:prstGeom prst="teardrop">
              <a:avLst/>
            </a:prstGeom>
            <a:gradFill flip="none"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3500000" scaled="0"/>
                <a:tileRect/>
              </a:gradFill>
            </a:ln>
            <a:effectLst>
              <a:outerShdw blurRad="101600" dist="508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2565783" y="2489564"/>
              <a:ext cx="863236" cy="863236"/>
            </a:xfrm>
            <a:prstGeom prst="ellipse">
              <a:avLst/>
            </a:prstGeom>
            <a:solidFill>
              <a:srgbClr val="E87071"/>
            </a:solidFill>
            <a:ln w="9525">
              <a:gradFill flip="none" rotWithShape="1">
                <a:gsLst>
                  <a:gs pos="0">
                    <a:schemeClr val="bg1">
                      <a:lumMod val="70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5096179" y="3388535"/>
            <a:ext cx="212519" cy="212519"/>
            <a:chOff x="2387600" y="2311381"/>
            <a:chExt cx="1219603" cy="1219603"/>
          </a:xfrm>
        </p:grpSpPr>
        <p:sp>
          <p:nvSpPr>
            <p:cNvPr id="116" name="泪滴形 115"/>
            <p:cNvSpPr/>
            <p:nvPr/>
          </p:nvSpPr>
          <p:spPr>
            <a:xfrm rot="18900000" flipH="1" flipV="1">
              <a:off x="2387600" y="2311381"/>
              <a:ext cx="1219603" cy="1219603"/>
            </a:xfrm>
            <a:prstGeom prst="teardrop">
              <a:avLst/>
            </a:prstGeom>
            <a:gradFill flip="none"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3500000" scaled="0"/>
                <a:tileRect/>
              </a:gradFill>
            </a:ln>
            <a:effectLst>
              <a:outerShdw blurRad="101600" dist="508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17" name="椭圆 116"/>
            <p:cNvSpPr/>
            <p:nvPr/>
          </p:nvSpPr>
          <p:spPr>
            <a:xfrm>
              <a:off x="2565783" y="2489564"/>
              <a:ext cx="863236" cy="863236"/>
            </a:xfrm>
            <a:prstGeom prst="ellipse">
              <a:avLst/>
            </a:prstGeom>
            <a:solidFill>
              <a:srgbClr val="663A77"/>
            </a:solidFill>
            <a:ln w="9525">
              <a:gradFill flip="none" rotWithShape="1">
                <a:gsLst>
                  <a:gs pos="0">
                    <a:schemeClr val="bg1">
                      <a:lumMod val="70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sp>
        <p:nvSpPr>
          <p:cNvPr id="138" name="文本框 137"/>
          <p:cNvSpPr txBox="1"/>
          <p:nvPr/>
        </p:nvSpPr>
        <p:spPr>
          <a:xfrm>
            <a:off x="1635343" y="2532444"/>
            <a:ext cx="1442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451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每天数十亿级交易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6462434" y="2540610"/>
            <a:ext cx="1442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663A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如何对账？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5047141" y="1621176"/>
            <a:ext cx="1442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B8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热点渠道上亿交易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2950015" y="1605444"/>
            <a:ext cx="1442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01ACB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数十个渠道对账</a:t>
            </a:r>
          </a:p>
        </p:txBody>
      </p:sp>
      <p:sp>
        <p:nvSpPr>
          <p:cNvPr id="149" name="圆角矩形 3">
            <a:extLst>
              <a:ext uri="{FF2B5EF4-FFF2-40B4-BE49-F238E27FC236}">
                <a16:creationId xmlns:a16="http://schemas.microsoft.com/office/drawing/2014/main" id="{E08F5B1B-16BA-49C4-AB6C-E2F78BBBF750}"/>
              </a:ext>
            </a:extLst>
          </p:cNvPr>
          <p:cNvSpPr/>
          <p:nvPr/>
        </p:nvSpPr>
        <p:spPr>
          <a:xfrm>
            <a:off x="2740871" y="362776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A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极致对账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1D118C8-EAB8-4C5F-860B-04DA2136D395}"/>
              </a:ext>
            </a:extLst>
          </p:cNvPr>
          <p:cNvSpPr/>
          <p:nvPr/>
        </p:nvSpPr>
        <p:spPr>
          <a:xfrm>
            <a:off x="542544" y="1036045"/>
            <a:ext cx="105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A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场景：</a:t>
            </a:r>
            <a:endParaRPr lang="en-US" altLang="zh-CN" sz="1600" b="1" dirty="0">
              <a:solidFill>
                <a:srgbClr val="00A7B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2575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airplan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42" dur="100" fill="hold"/>
                                        <p:tgtEl>
                                          <p:spTgt spid="10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44" dur="200" fill="hold"/>
                                        <p:tgtEl>
                                          <p:spTgt spid="105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0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6" presetClass="emph" presetSubtype="0" fill="hold" grpId="4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8" dur="200" fill="hold"/>
                                        <p:tgtEl>
                                          <p:spTgt spid="105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7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56" dur="100" fill="hold"/>
                                        <p:tgtEl>
                                          <p:spTgt spid="10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58" dur="200" fill="hold"/>
                                        <p:tgtEl>
                                          <p:spTgt spid="104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60" dur="100" fill="hold"/>
                                        <p:tgtEl>
                                          <p:spTgt spid="1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6" presetClass="emph" presetSubtype="0" fill="hold" grpId="4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62" dur="200" fill="hold"/>
                                        <p:tgtEl>
                                          <p:spTgt spid="104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4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0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6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72" dur="200" fill="hold"/>
                                        <p:tgtEl>
                                          <p:spTgt spid="10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6" presetClass="emp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74" dur="100" fill="hold"/>
                                        <p:tgtEl>
                                          <p:spTgt spid="1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6" presetClass="emph" presetSubtype="0" fill="hold" grpId="4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76" dur="200" fill="hold"/>
                                        <p:tgtEl>
                                          <p:spTgt spid="103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1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84" dur="100" fill="hold"/>
                                        <p:tgtEl>
                                          <p:spTgt spid="10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6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86" dur="200" fill="hold"/>
                                        <p:tgtEl>
                                          <p:spTgt spid="102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6" presetClass="emp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6" presetClass="emph" presetSubtype="0" fill="hold" grpId="4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90" dur="200" fill="hold"/>
                                        <p:tgtEl>
                                          <p:spTgt spid="102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8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102" grpId="0" animBg="1"/>
      <p:bldP spid="102" grpId="1" animBg="1"/>
      <p:bldP spid="102" grpId="2" animBg="1"/>
      <p:bldP spid="102" grpId="3" animBg="1"/>
      <p:bldP spid="102" grpId="4" animBg="1"/>
      <p:bldP spid="103" grpId="0" animBg="1"/>
      <p:bldP spid="103" grpId="1" animBg="1"/>
      <p:bldP spid="103" grpId="2" animBg="1"/>
      <p:bldP spid="103" grpId="3" animBg="1"/>
      <p:bldP spid="103" grpId="4" animBg="1"/>
      <p:bldP spid="104" grpId="0" animBg="1"/>
      <p:bldP spid="104" grpId="1" animBg="1"/>
      <p:bldP spid="104" grpId="2" animBg="1"/>
      <p:bldP spid="104" grpId="3" animBg="1"/>
      <p:bldP spid="104" grpId="4" animBg="1"/>
      <p:bldP spid="105" grpId="0" animBg="1"/>
      <p:bldP spid="105" grpId="1" animBg="1"/>
      <p:bldP spid="105" grpId="2" animBg="1"/>
      <p:bldP spid="105" grpId="3" animBg="1"/>
      <p:bldP spid="105" grpId="4" animBg="1"/>
      <p:bldP spid="138" grpId="0"/>
      <p:bldP spid="141" grpId="0"/>
      <p:bldP spid="144" grpId="0"/>
      <p:bldP spid="147" grpId="0"/>
      <p:bldP spid="14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880738" y="1048199"/>
            <a:ext cx="3187245" cy="3547931"/>
            <a:chOff x="3524956" y="567003"/>
            <a:chExt cx="5142089" cy="5723994"/>
          </a:xfrm>
        </p:grpSpPr>
        <p:grpSp>
          <p:nvGrpSpPr>
            <p:cNvPr id="4" name="组合 3"/>
            <p:cNvGrpSpPr/>
            <p:nvPr/>
          </p:nvGrpSpPr>
          <p:grpSpPr>
            <a:xfrm>
              <a:off x="4584310" y="1733550"/>
              <a:ext cx="3023381" cy="3390900"/>
              <a:chOff x="4520809" y="1729054"/>
              <a:chExt cx="3023381" cy="33909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5911272" y="1729054"/>
                <a:ext cx="242455" cy="6477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sp>
            <p:nvSpPr>
              <p:cNvPr id="13" name="矩形 12"/>
              <p:cNvSpPr/>
              <p:nvPr/>
            </p:nvSpPr>
            <p:spPr>
              <a:xfrm rot="18000000">
                <a:off x="4723431" y="2414854"/>
                <a:ext cx="242455" cy="6477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sp>
            <p:nvSpPr>
              <p:cNvPr id="14" name="矩形 13"/>
              <p:cNvSpPr/>
              <p:nvPr/>
            </p:nvSpPr>
            <p:spPr>
              <a:xfrm rot="7200000">
                <a:off x="7099112" y="3786454"/>
                <a:ext cx="242455" cy="6477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sp>
            <p:nvSpPr>
              <p:cNvPr id="15" name="矩形 14"/>
              <p:cNvSpPr/>
              <p:nvPr/>
            </p:nvSpPr>
            <p:spPr>
              <a:xfrm rot="3600000">
                <a:off x="7099112" y="2414854"/>
                <a:ext cx="242455" cy="6477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sp>
            <p:nvSpPr>
              <p:cNvPr id="16" name="矩形 15"/>
              <p:cNvSpPr/>
              <p:nvPr/>
            </p:nvSpPr>
            <p:spPr>
              <a:xfrm rot="10800000">
                <a:off x="5911272" y="4472254"/>
                <a:ext cx="242455" cy="6477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sp>
            <p:nvSpPr>
              <p:cNvPr id="17" name="矩形 16"/>
              <p:cNvSpPr/>
              <p:nvPr/>
            </p:nvSpPr>
            <p:spPr>
              <a:xfrm rot="14400000">
                <a:off x="4723431" y="3786454"/>
                <a:ext cx="242455" cy="6477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</p:grpSp>
        <p:sp>
          <p:nvSpPr>
            <p:cNvPr id="5" name="椭圆 4"/>
            <p:cNvSpPr/>
            <p:nvPr/>
          </p:nvSpPr>
          <p:spPr>
            <a:xfrm>
              <a:off x="4908550" y="2241550"/>
              <a:ext cx="2374900" cy="2374900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4E4E4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304800" dist="1524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6" name="椭圆 5"/>
            <p:cNvSpPr/>
            <p:nvPr/>
          </p:nvSpPr>
          <p:spPr>
            <a:xfrm>
              <a:off x="5405703" y="567003"/>
              <a:ext cx="1380594" cy="1380594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4E4E4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889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7" name="椭圆 6"/>
            <p:cNvSpPr/>
            <p:nvPr/>
          </p:nvSpPr>
          <p:spPr>
            <a:xfrm>
              <a:off x="7286451" y="1652853"/>
              <a:ext cx="1380594" cy="1380594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4E4E4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889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8" name="椭圆 7"/>
            <p:cNvSpPr/>
            <p:nvPr/>
          </p:nvSpPr>
          <p:spPr>
            <a:xfrm>
              <a:off x="7286451" y="3824553"/>
              <a:ext cx="1380594" cy="1380594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4E4E4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889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9" name="椭圆 8"/>
            <p:cNvSpPr/>
            <p:nvPr/>
          </p:nvSpPr>
          <p:spPr>
            <a:xfrm>
              <a:off x="5405703" y="4910403"/>
              <a:ext cx="1380594" cy="1380594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4E4E4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889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0" name="椭圆 9"/>
            <p:cNvSpPr/>
            <p:nvPr/>
          </p:nvSpPr>
          <p:spPr>
            <a:xfrm>
              <a:off x="3524956" y="3824553"/>
              <a:ext cx="1380594" cy="1380594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4E4E4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889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  <p:sp>
          <p:nvSpPr>
            <p:cNvPr id="11" name="椭圆 10"/>
            <p:cNvSpPr/>
            <p:nvPr/>
          </p:nvSpPr>
          <p:spPr>
            <a:xfrm>
              <a:off x="3524956" y="1652853"/>
              <a:ext cx="1380594" cy="1380594"/>
            </a:xfrm>
            <a:prstGeom prst="ellipse">
              <a:avLst/>
            </a:prstGeom>
            <a:gradFill flip="none" rotWithShape="1">
              <a:gsLst>
                <a:gs pos="100000">
                  <a:schemeClr val="bg1"/>
                </a:gs>
                <a:gs pos="0">
                  <a:srgbClr val="E4E4E4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889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913464" y="2043349"/>
            <a:ext cx="767511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13" dirty="0">
                <a:solidFill>
                  <a:srgbClr val="00AF9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013" dirty="0">
                <a:solidFill>
                  <a:srgbClr val="00AF9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116311" y="1344860"/>
            <a:ext cx="767511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13" dirty="0">
                <a:solidFill>
                  <a:srgbClr val="FFB8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1MySQL</a:t>
            </a:r>
            <a:endParaRPr lang="zh-CN" altLang="en-US" sz="1013" dirty="0">
              <a:solidFill>
                <a:srgbClr val="FFB8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256036" y="2031790"/>
            <a:ext cx="767511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13" dirty="0">
                <a:solidFill>
                  <a:srgbClr val="E870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2Redis</a:t>
            </a:r>
            <a:endParaRPr lang="zh-CN" altLang="en-US" sz="1013" dirty="0">
              <a:solidFill>
                <a:srgbClr val="E870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20662" y="3382729"/>
            <a:ext cx="767511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13" dirty="0">
                <a:solidFill>
                  <a:srgbClr val="C65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13" dirty="0">
                <a:solidFill>
                  <a:srgbClr val="C65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183487" y="3382729"/>
            <a:ext cx="912607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13" dirty="0">
                <a:solidFill>
                  <a:srgbClr val="663A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3RocketMQ</a:t>
            </a:r>
            <a:endParaRPr lang="zh-CN" altLang="en-US" sz="1013" dirty="0">
              <a:solidFill>
                <a:srgbClr val="663A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090603" y="4055266"/>
            <a:ext cx="767511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13" dirty="0">
                <a:solidFill>
                  <a:srgbClr val="01ACB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13" dirty="0">
                <a:solidFill>
                  <a:srgbClr val="01ACB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945370" y="2676433"/>
            <a:ext cx="1109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00A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对账系统升级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762704" y="835705"/>
            <a:ext cx="4300829" cy="849091"/>
            <a:chOff x="6351301" y="884168"/>
            <a:chExt cx="4310349" cy="1132123"/>
          </a:xfrm>
        </p:grpSpPr>
        <p:sp>
          <p:nvSpPr>
            <p:cNvPr id="28" name="文本框 128"/>
            <p:cNvSpPr txBox="1"/>
            <p:nvPr/>
          </p:nvSpPr>
          <p:spPr>
            <a:xfrm>
              <a:off x="6351301" y="884168"/>
              <a:ext cx="1725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EB9624"/>
                  </a:solidFill>
                  <a:latin typeface="+mn-ea"/>
                </a:rPr>
                <a:t>01MySQL</a:t>
              </a:r>
              <a:endParaRPr lang="zh-CN" altLang="en-US" sz="1200" dirty="0">
                <a:solidFill>
                  <a:srgbClr val="EB9624"/>
                </a:solidFill>
                <a:latin typeface="+mn-ea"/>
              </a:endParaRPr>
            </a:p>
          </p:txBody>
        </p:sp>
        <p:sp>
          <p:nvSpPr>
            <p:cNvPr id="29" name="文本框 129"/>
            <p:cNvSpPr txBox="1"/>
            <p:nvPr/>
          </p:nvSpPr>
          <p:spPr>
            <a:xfrm>
              <a:off x="6357332" y="1154515"/>
              <a:ext cx="4304318" cy="861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、对账独立的数据库服务器，</a:t>
              </a:r>
              <a:r>
                <a:rPr lang="en-US" altLang="zh-CN" sz="900" dirty="0" err="1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binlog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Mixed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模式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、分库分表，考虑为热点渠道独立分库分表？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MySQL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性能优化，压测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client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缓冲区最优配置，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900" dirty="0" err="1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my.cnf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配置优化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优化，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语句优化、索引优化等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768498" y="2872468"/>
            <a:ext cx="4147096" cy="710591"/>
            <a:chOff x="6357331" y="3711593"/>
            <a:chExt cx="4310349" cy="947456"/>
          </a:xfrm>
        </p:grpSpPr>
        <p:sp>
          <p:nvSpPr>
            <p:cNvPr id="31" name="文本框 131"/>
            <p:cNvSpPr txBox="1"/>
            <p:nvPr/>
          </p:nvSpPr>
          <p:spPr>
            <a:xfrm>
              <a:off x="6357331" y="3711593"/>
              <a:ext cx="1725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01ACBE"/>
                  </a:solidFill>
                  <a:latin typeface="+mn-ea"/>
                </a:rPr>
                <a:t>04</a:t>
              </a:r>
              <a:r>
                <a:rPr lang="zh-CN" altLang="en-US" sz="1200" dirty="0">
                  <a:solidFill>
                    <a:srgbClr val="01ACBE"/>
                  </a:solidFill>
                  <a:latin typeface="+mn-ea"/>
                </a:rPr>
                <a:t>系统</a:t>
              </a:r>
            </a:p>
          </p:txBody>
        </p:sp>
        <p:sp>
          <p:nvSpPr>
            <p:cNvPr id="32" name="文本框 132"/>
            <p:cNvSpPr txBox="1"/>
            <p:nvPr/>
          </p:nvSpPr>
          <p:spPr>
            <a:xfrm>
              <a:off x="6363362" y="3981940"/>
              <a:ext cx="4304318" cy="677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、对账线程池最优化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考虑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Redis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实例最大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10000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连接数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，压测最优线程数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JVM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调优，压测最优参数配置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、对账任务请求负载均衡，各服务器获取相当的请求量，考虑队列、拒绝策略？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762702" y="1641538"/>
            <a:ext cx="4221769" cy="710591"/>
            <a:chOff x="6345271" y="1801425"/>
            <a:chExt cx="4310349" cy="947456"/>
          </a:xfrm>
        </p:grpSpPr>
        <p:sp>
          <p:nvSpPr>
            <p:cNvPr id="34" name="文本框 134"/>
            <p:cNvSpPr txBox="1"/>
            <p:nvPr/>
          </p:nvSpPr>
          <p:spPr>
            <a:xfrm>
              <a:off x="6345271" y="1801425"/>
              <a:ext cx="1725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FF7171"/>
                  </a:solidFill>
                  <a:latin typeface="+mn-ea"/>
                </a:rPr>
                <a:t>02Redis</a:t>
              </a:r>
              <a:endParaRPr lang="zh-CN" altLang="en-US" sz="1200" dirty="0">
                <a:solidFill>
                  <a:srgbClr val="FF7171"/>
                </a:solidFill>
                <a:latin typeface="+mn-ea"/>
              </a:endParaRPr>
            </a:p>
          </p:txBody>
        </p:sp>
        <p:sp>
          <p:nvSpPr>
            <p:cNvPr id="35" name="文本框 135"/>
            <p:cNvSpPr txBox="1"/>
            <p:nvPr/>
          </p:nvSpPr>
          <p:spPr>
            <a:xfrm>
              <a:off x="6351302" y="2071772"/>
              <a:ext cx="4304318" cy="677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、对账独立的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Redis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集群，考虑为热点渠道独立实例？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、大数据拆分对账，按小时对账、数据按规则拆分对账等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、压测后配置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系统最优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Redis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连接数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762704" y="4143542"/>
            <a:ext cx="4215862" cy="849091"/>
            <a:chOff x="6351301" y="5606939"/>
            <a:chExt cx="4310349" cy="1132123"/>
          </a:xfrm>
        </p:grpSpPr>
        <p:sp>
          <p:nvSpPr>
            <p:cNvPr id="37" name="文本框 137"/>
            <p:cNvSpPr txBox="1"/>
            <p:nvPr/>
          </p:nvSpPr>
          <p:spPr>
            <a:xfrm>
              <a:off x="6351301" y="5606939"/>
              <a:ext cx="1725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00B050"/>
                  </a:solidFill>
                  <a:latin typeface="+mn-ea"/>
                </a:rPr>
                <a:t>06</a:t>
              </a:r>
              <a:r>
                <a:rPr lang="zh-CN" altLang="en-US" sz="1200" dirty="0">
                  <a:solidFill>
                    <a:srgbClr val="00B050"/>
                  </a:solidFill>
                  <a:latin typeface="+mn-ea"/>
                </a:rPr>
                <a:t>监控</a:t>
              </a:r>
            </a:p>
          </p:txBody>
        </p:sp>
        <p:sp>
          <p:nvSpPr>
            <p:cNvPr id="38" name="文本框 138"/>
            <p:cNvSpPr txBox="1"/>
            <p:nvPr/>
          </p:nvSpPr>
          <p:spPr>
            <a:xfrm>
              <a:off x="6357332" y="5877286"/>
              <a:ext cx="4304318" cy="861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、数据库监控，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CPU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占比、内存消耗、耗时、数据库锁等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系统监控，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CPU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占比、内存消耗、线程数、耗时等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Redis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监控，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CPU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占比、内存消耗等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900" dirty="0" err="1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RocketMQ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监控，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CPU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占比、内存消耗、线程队列、吞吐率等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762702" y="2339621"/>
            <a:ext cx="4381298" cy="710590"/>
            <a:chOff x="6345271" y="2766917"/>
            <a:chExt cx="4310349" cy="947456"/>
          </a:xfrm>
        </p:grpSpPr>
        <p:sp>
          <p:nvSpPr>
            <p:cNvPr id="40" name="文本框 140"/>
            <p:cNvSpPr txBox="1"/>
            <p:nvPr/>
          </p:nvSpPr>
          <p:spPr>
            <a:xfrm>
              <a:off x="6345271" y="2766917"/>
              <a:ext cx="1725052" cy="615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7030A0"/>
                  </a:solidFill>
                  <a:latin typeface="+mn-ea"/>
                </a:rPr>
                <a:t>03RocketMQ</a:t>
              </a:r>
              <a:endParaRPr lang="zh-CN" altLang="en-US" sz="1200" dirty="0">
                <a:solidFill>
                  <a:srgbClr val="7030A0"/>
                </a:solidFill>
                <a:latin typeface="+mn-ea"/>
              </a:endParaRPr>
            </a:p>
            <a:p>
              <a:endParaRPr lang="zh-CN" altLang="en-US" sz="1200" dirty="0">
                <a:solidFill>
                  <a:srgbClr val="7030A0"/>
                </a:solidFill>
                <a:latin typeface="+mn-ea"/>
              </a:endParaRPr>
            </a:p>
          </p:txBody>
        </p:sp>
        <p:sp>
          <p:nvSpPr>
            <p:cNvPr id="41" name="文本框 141"/>
            <p:cNvSpPr txBox="1"/>
            <p:nvPr/>
          </p:nvSpPr>
          <p:spPr>
            <a:xfrm>
              <a:off x="6351302" y="3037263"/>
              <a:ext cx="4304318" cy="677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、对账独立的</a:t>
              </a:r>
              <a:r>
                <a:rPr lang="en-US" altLang="zh-CN" sz="900" dirty="0" err="1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RocketMQ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集群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、升级对账特性的</a:t>
              </a:r>
              <a:r>
                <a:rPr lang="en-US" altLang="zh-CN" sz="900" dirty="0" err="1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RocketMQ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版本，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MQ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通讯、</a:t>
              </a:r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MQ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异常处理、延迟等级调优等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777193" y="3569908"/>
            <a:ext cx="4135507" cy="572092"/>
            <a:chOff x="6351301" y="5606939"/>
            <a:chExt cx="4310349" cy="762790"/>
          </a:xfrm>
        </p:grpSpPr>
        <p:sp>
          <p:nvSpPr>
            <p:cNvPr id="43" name="文本框 137"/>
            <p:cNvSpPr txBox="1"/>
            <p:nvPr/>
          </p:nvSpPr>
          <p:spPr>
            <a:xfrm>
              <a:off x="6351301" y="5606939"/>
              <a:ext cx="1725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C65885"/>
                  </a:solidFill>
                  <a:latin typeface="+mn-ea"/>
                </a:rPr>
                <a:t>05</a:t>
              </a:r>
              <a:r>
                <a:rPr lang="zh-CN" altLang="en-US" sz="1200" dirty="0">
                  <a:solidFill>
                    <a:srgbClr val="C65885"/>
                  </a:solidFill>
                  <a:latin typeface="+mn-ea"/>
                </a:rPr>
                <a:t>网络</a:t>
              </a:r>
            </a:p>
          </p:txBody>
        </p:sp>
        <p:sp>
          <p:nvSpPr>
            <p:cNvPr id="44" name="文本框 138"/>
            <p:cNvSpPr txBox="1"/>
            <p:nvPr/>
          </p:nvSpPr>
          <p:spPr>
            <a:xfrm>
              <a:off x="6357332" y="5877286"/>
              <a:ext cx="430431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、控制请求银行下载的并发数、频率</a:t>
              </a:r>
              <a:endParaRPr lang="en-US" altLang="zh-CN" sz="9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lang="en-US" altLang="zh-CN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900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、申请专线供对账单下载？防止占用公网网络带宽</a:t>
              </a:r>
            </a:p>
          </p:txBody>
        </p:sp>
      </p:grpSp>
      <p:sp>
        <p:nvSpPr>
          <p:cNvPr id="45" name="圆角矩形 3">
            <a:extLst>
              <a:ext uri="{FF2B5EF4-FFF2-40B4-BE49-F238E27FC236}">
                <a16:creationId xmlns:a16="http://schemas.microsoft.com/office/drawing/2014/main" id="{390E40D5-9C30-4E55-874A-5F6AE9C730E8}"/>
              </a:ext>
            </a:extLst>
          </p:cNvPr>
          <p:cNvSpPr/>
          <p:nvPr/>
        </p:nvSpPr>
        <p:spPr>
          <a:xfrm>
            <a:off x="2740871" y="362776"/>
            <a:ext cx="3583687" cy="413943"/>
          </a:xfrm>
          <a:prstGeom prst="roundRect">
            <a:avLst>
              <a:gd name="adj" fmla="val 42270"/>
            </a:avLst>
          </a:prstGeom>
          <a:gradFill>
            <a:gsLst>
              <a:gs pos="99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>
            <a:noFill/>
          </a:ln>
          <a:effectLst>
            <a:innerShdw blurRad="63500" dist="127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A7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极致对账</a:t>
            </a:r>
          </a:p>
        </p:txBody>
      </p:sp>
    </p:spTree>
    <p:extLst>
      <p:ext uri="{BB962C8B-B14F-4D97-AF65-F5344CB8AC3E}">
        <p14:creationId xmlns:p14="http://schemas.microsoft.com/office/powerpoint/2010/main" val="26364021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airplan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4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 flipH="1">
            <a:off x="6192980" y="-33259"/>
            <a:ext cx="1196227" cy="2868726"/>
          </a:xfrm>
          <a:prstGeom prst="line">
            <a:avLst/>
          </a:prstGeom>
          <a:ln>
            <a:solidFill>
              <a:srgbClr val="EC6C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437317" y="1527066"/>
            <a:ext cx="36193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solidFill>
                  <a:srgbClr val="FFB352"/>
                </a:solidFill>
                <a:latin typeface="+mj-ea"/>
                <a:ea typeface="+mj-ea"/>
              </a:rPr>
              <a:t>T</a:t>
            </a:r>
            <a:r>
              <a:rPr lang="en-US" altLang="zh-CN" sz="8000" dirty="0">
                <a:solidFill>
                  <a:srgbClr val="E66B6B"/>
                </a:solidFill>
                <a:latin typeface="+mj-ea"/>
                <a:ea typeface="+mj-ea"/>
              </a:rPr>
              <a:t>H</a:t>
            </a:r>
            <a:r>
              <a:rPr lang="en-US" altLang="zh-CN" sz="8000" dirty="0">
                <a:solidFill>
                  <a:srgbClr val="00A6B6"/>
                </a:solidFill>
                <a:latin typeface="+mj-ea"/>
                <a:ea typeface="+mj-ea"/>
              </a:rPr>
              <a:t>X</a:t>
            </a:r>
            <a:endParaRPr lang="zh-CN" altLang="en-US" sz="8000" dirty="0">
              <a:solidFill>
                <a:srgbClr val="00A6B6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 flipH="1">
            <a:off x="2303563" y="0"/>
            <a:ext cx="1196227" cy="2868726"/>
          </a:xfrm>
          <a:prstGeom prst="line">
            <a:avLst/>
          </a:prstGeom>
          <a:ln>
            <a:solidFill>
              <a:srgbClr val="FCD9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>
            <a:off x="1585305" y="2273969"/>
            <a:ext cx="1196227" cy="2868726"/>
          </a:xfrm>
          <a:prstGeom prst="line">
            <a:avLst/>
          </a:prstGeom>
          <a:ln>
            <a:solidFill>
              <a:srgbClr val="3CB5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1457206" y="1434363"/>
            <a:ext cx="1196227" cy="2868726"/>
          </a:xfrm>
          <a:prstGeom prst="line">
            <a:avLst/>
          </a:prstGeom>
          <a:ln>
            <a:solidFill>
              <a:srgbClr val="E53B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125856" y="936835"/>
            <a:ext cx="1196227" cy="2868726"/>
          </a:xfrm>
          <a:prstGeom prst="line">
            <a:avLst/>
          </a:prstGeom>
          <a:ln>
            <a:solidFill>
              <a:srgbClr val="FCD9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5840604" y="2298309"/>
            <a:ext cx="1196227" cy="2868726"/>
          </a:xfrm>
          <a:prstGeom prst="line">
            <a:avLst/>
          </a:prstGeom>
          <a:ln>
            <a:solidFill>
              <a:srgbClr val="3CB5B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1528322" y="539346"/>
            <a:ext cx="1196227" cy="2868726"/>
          </a:xfrm>
          <a:prstGeom prst="line">
            <a:avLst/>
          </a:prstGeom>
          <a:ln>
            <a:solidFill>
              <a:srgbClr val="FCD9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463923" y="2366300"/>
            <a:ext cx="1196227" cy="2868726"/>
          </a:xfrm>
          <a:prstGeom prst="line">
            <a:avLst/>
          </a:prstGeom>
          <a:ln>
            <a:solidFill>
              <a:srgbClr val="EC6C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1037068" y="8131"/>
            <a:ext cx="1196227" cy="2868726"/>
          </a:xfrm>
          <a:prstGeom prst="line">
            <a:avLst/>
          </a:prstGeom>
          <a:ln>
            <a:solidFill>
              <a:srgbClr val="3CB5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5806326" y="3379970"/>
            <a:ext cx="1196227" cy="2868726"/>
          </a:xfrm>
          <a:prstGeom prst="line">
            <a:avLst/>
          </a:prstGeom>
          <a:ln>
            <a:solidFill>
              <a:srgbClr val="FCD9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H="1">
            <a:off x="7339569" y="-33259"/>
            <a:ext cx="1196227" cy="2868726"/>
          </a:xfrm>
          <a:prstGeom prst="line">
            <a:avLst/>
          </a:prstGeom>
          <a:ln>
            <a:solidFill>
              <a:srgbClr val="3CB5B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H="1">
            <a:off x="7013604" y="53440"/>
            <a:ext cx="1196227" cy="2868726"/>
          </a:xfrm>
          <a:prstGeom prst="line">
            <a:avLst/>
          </a:prstGeom>
          <a:ln>
            <a:solidFill>
              <a:srgbClr val="E53B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H="1">
            <a:off x="1889996" y="-1241929"/>
            <a:ext cx="1196227" cy="2868726"/>
          </a:xfrm>
          <a:prstGeom prst="line">
            <a:avLst/>
          </a:prstGeom>
          <a:ln>
            <a:solidFill>
              <a:srgbClr val="E53B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>
            <a:off x="5101056" y="2893855"/>
            <a:ext cx="1196227" cy="2868726"/>
          </a:xfrm>
          <a:prstGeom prst="line">
            <a:avLst/>
          </a:prstGeom>
          <a:ln>
            <a:solidFill>
              <a:srgbClr val="E53B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6730734" y="2023088"/>
            <a:ext cx="1196227" cy="2868726"/>
          </a:xfrm>
          <a:prstGeom prst="line">
            <a:avLst/>
          </a:prstGeom>
          <a:ln>
            <a:solidFill>
              <a:srgbClr val="EC6C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58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theme/theme1.xml><?xml version="1.0" encoding="utf-8"?>
<a:theme xmlns:a="http://schemas.openxmlformats.org/drawingml/2006/main" name="第一PPT，www.1ppt.com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6664</TotalTime>
  <Words>5777</Words>
  <Application>Microsoft Office PowerPoint</Application>
  <PresentationFormat>全屏显示(16:9)</PresentationFormat>
  <Paragraphs>615</Paragraphs>
  <Slides>43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0" baseType="lpstr">
      <vt:lpstr>方正兰亭超细黑简体</vt:lpstr>
      <vt:lpstr>黑体</vt:lpstr>
      <vt:lpstr>华文细黑</vt:lpstr>
      <vt:lpstr>楷体</vt:lpstr>
      <vt:lpstr>时尚中黑简体</vt:lpstr>
      <vt:lpstr>宋体</vt:lpstr>
      <vt:lpstr>微软雅黑</vt:lpstr>
      <vt:lpstr>Arial</vt:lpstr>
      <vt:lpstr>Calibri</vt:lpstr>
      <vt:lpstr>Calibri Light</vt:lpstr>
      <vt:lpstr>Consolas</vt:lpstr>
      <vt:lpstr>Helvetica</vt:lpstr>
      <vt:lpstr>Times New Roman</vt:lpstr>
      <vt:lpstr>verdana</vt:lpstr>
      <vt:lpstr>verdana</vt:lpstr>
      <vt:lpstr>第一PPT，www.1ppt.com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彩色微立体</dc:title>
  <dc:creator>第一PPT</dc:creator>
  <cp:keywords>www.1ppt.com</cp:keywords>
  <cp:lastModifiedBy>杨洲</cp:lastModifiedBy>
  <cp:revision>377</cp:revision>
  <dcterms:created xsi:type="dcterms:W3CDTF">2016-07-16T02:16:41Z</dcterms:created>
  <dcterms:modified xsi:type="dcterms:W3CDTF">2018-06-22T09:05:18Z</dcterms:modified>
</cp:coreProperties>
</file>
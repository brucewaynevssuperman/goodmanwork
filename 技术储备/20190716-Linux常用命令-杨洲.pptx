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8"/>
  </p:notesMasterIdLst>
  <p:handoutMasterIdLst>
    <p:handoutMasterId r:id="rId29"/>
  </p:handoutMasterIdLst>
  <p:sldIdLst>
    <p:sldId id="269" r:id="rId2"/>
    <p:sldId id="313" r:id="rId3"/>
    <p:sldId id="323" r:id="rId4"/>
    <p:sldId id="452" r:id="rId5"/>
    <p:sldId id="453" r:id="rId6"/>
    <p:sldId id="445" r:id="rId7"/>
    <p:sldId id="455" r:id="rId8"/>
    <p:sldId id="456" r:id="rId9"/>
    <p:sldId id="459" r:id="rId10"/>
    <p:sldId id="458" r:id="rId11"/>
    <p:sldId id="457" r:id="rId12"/>
    <p:sldId id="460" r:id="rId13"/>
    <p:sldId id="465" r:id="rId14"/>
    <p:sldId id="466" r:id="rId15"/>
    <p:sldId id="473" r:id="rId16"/>
    <p:sldId id="468" r:id="rId17"/>
    <p:sldId id="469" r:id="rId18"/>
    <p:sldId id="470" r:id="rId19"/>
    <p:sldId id="471" r:id="rId20"/>
    <p:sldId id="472" r:id="rId21"/>
    <p:sldId id="461" r:id="rId22"/>
    <p:sldId id="462" r:id="rId23"/>
    <p:sldId id="463" r:id="rId24"/>
    <p:sldId id="464" r:id="rId25"/>
    <p:sldId id="454" r:id="rId26"/>
    <p:sldId id="407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72727"/>
    <a:srgbClr val="EFEEED"/>
    <a:srgbClr val="B2B3B2"/>
    <a:srgbClr val="8D8E8D"/>
    <a:srgbClr val="505150"/>
    <a:srgbClr val="636463"/>
    <a:srgbClr val="776F72"/>
    <a:srgbClr val="5A5B5E"/>
    <a:srgbClr val="313134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982" autoAdjust="0"/>
    <p:restoredTop sz="99875" autoAdjust="0"/>
  </p:normalViewPr>
  <p:slideViewPr>
    <p:cSldViewPr snapToGrid="0" snapToObjects="1">
      <p:cViewPr>
        <p:scale>
          <a:sx n="123" d="100"/>
          <a:sy n="123" d="100"/>
        </p:scale>
        <p:origin x="-1398" y="-72"/>
      </p:cViewPr>
      <p:guideLst>
        <p:guide orient="horz" pos="2138"/>
        <p:guide pos="2829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C2537A-C1FE-C441-8F08-6472DE8A6393}" type="datetimeFigureOut">
              <a:rPr lang="en-US" smtClean="0"/>
              <a:t>7/16/2019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3A01E0-2117-0C43-8963-D44ACC7C4A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75681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69629A-8024-8740-A789-6BCBA6C29169}" type="datetimeFigureOut">
              <a:rPr lang="en-US" smtClean="0"/>
              <a:t>7/16/2019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EE6A7F-2053-5042-BD59-FF4F3EF99A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74538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/>
          <p:cNvSpPr>
            <a:spLocks noGrp="1"/>
          </p:cNvSpPr>
          <p:nvPr>
            <p:ph type="pic" sz="quarter" idx="10" hasCustomPrompt="1"/>
          </p:nvPr>
        </p:nvSpPr>
        <p:spPr>
          <a:xfrm>
            <a:off x="245898" y="252000"/>
            <a:ext cx="8646102" cy="4572012"/>
          </a:xfrm>
          <a:solidFill>
            <a:schemeClr val="bg2">
              <a:lumMod val="90000"/>
            </a:schemeClr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FontTx/>
              <a:buNone/>
              <a:defRPr sz="1600"/>
            </a:lvl1pPr>
          </a:lstStyle>
          <a:p>
            <a:r>
              <a:rPr lang="en-US" dirty="0" smtClean="0"/>
              <a:t>Insert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00621" y="4944156"/>
            <a:ext cx="7772400" cy="98535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 b="1" i="0" dirty="0">
                <a:latin typeface="方正兰亭中粗黑_GBK" pitchFamily="2" charset="-122"/>
                <a:ea typeface="方正兰亭中粗黑_GBK" pitchFamily="2" charset="-122"/>
                <a:cs typeface="方正兰亭中粗黑_GBK" pitchFamily="2" charset="-122"/>
              </a:defRPr>
            </a:lvl1pPr>
          </a:lstStyle>
          <a:p>
            <a:pPr lvl="0" algn="l"/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00621" y="5929514"/>
            <a:ext cx="6400800" cy="411137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0" i="0" dirty="0">
                <a:latin typeface="方正兰亭黑_GBK" pitchFamily="2" charset="-122"/>
                <a:ea typeface="方正兰亭黑_GBK" pitchFamily="2" charset="-122"/>
                <a:cs typeface="方正兰亭黑_GBK" pitchFamily="2" charset="-122"/>
              </a:defRPr>
            </a:lvl1pPr>
          </a:lstStyle>
          <a:p>
            <a:pPr marL="0" lvl="0" indent="0">
              <a:buNone/>
            </a:pPr>
            <a:r>
              <a:rPr lang="en-US" dirty="0" smtClean="0"/>
              <a:t>Click to edit Master subtitle style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9758" y="0"/>
            <a:ext cx="2005689" cy="100892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Untitled-1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632" y="3006192"/>
            <a:ext cx="8641368" cy="3599808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ctrTitle"/>
          </p:nvPr>
        </p:nvSpPr>
        <p:spPr>
          <a:xfrm>
            <a:off x="500621" y="1601248"/>
            <a:ext cx="7772400" cy="702346"/>
          </a:xfrm>
        </p:spPr>
        <p:txBody>
          <a:bodyPr anchor="t">
            <a:normAutofit/>
          </a:bodyPr>
          <a:lstStyle>
            <a:lvl1pPr algn="l">
              <a:defRPr sz="3200" b="1" i="0">
                <a:latin typeface="方正兰亭中粗黑_GBK" pitchFamily="2" charset="-122"/>
                <a:ea typeface="方正兰亭中粗黑_GBK" pitchFamily="2" charset="-122"/>
                <a:cs typeface="方正兰亭中粗黑_GBK" pitchFamily="2" charset="-122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0" name="Subtitle 2"/>
          <p:cNvSpPr>
            <a:spLocks noGrp="1"/>
          </p:cNvSpPr>
          <p:nvPr>
            <p:ph type="subTitle" idx="1"/>
          </p:nvPr>
        </p:nvSpPr>
        <p:spPr>
          <a:xfrm>
            <a:off x="500621" y="2311574"/>
            <a:ext cx="6400800" cy="411137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0" i="0" dirty="0">
                <a:latin typeface="方正兰亭黑_GBK" pitchFamily="2" charset="-122"/>
                <a:ea typeface="方正兰亭黑_GBK" pitchFamily="2" charset="-122"/>
                <a:cs typeface="方正兰亭黑_GBK" pitchFamily="2" charset="-122"/>
              </a:defRPr>
            </a:lvl1pPr>
          </a:lstStyle>
          <a:p>
            <a:pPr marL="0" lvl="0" indent="0">
              <a:buNone/>
            </a:pPr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05985" y="6186897"/>
            <a:ext cx="402934" cy="365125"/>
          </a:xfrm>
        </p:spPr>
        <p:txBody>
          <a:bodyPr anchor="t"/>
          <a:lstStyle>
            <a:lvl1pPr>
              <a:defRPr b="0" i="0">
                <a:solidFill>
                  <a:schemeClr val="tx1"/>
                </a:solidFill>
                <a:latin typeface="Gotham-Bold"/>
                <a:cs typeface="Gotham-Bold"/>
              </a:defRPr>
            </a:lvl1pPr>
          </a:lstStyle>
          <a:p>
            <a:fld id="{9380A3BF-C42B-5B4A-8FD1-FDF44958D93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9758" y="0"/>
            <a:ext cx="2005689" cy="100892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Untitled-4.png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30"/>
          <a:stretch>
            <a:fillRect/>
          </a:stretch>
        </p:blipFill>
        <p:spPr>
          <a:xfrm>
            <a:off x="250632" y="1752460"/>
            <a:ext cx="8641368" cy="4853539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9758" y="0"/>
            <a:ext cx="2005689" cy="1008922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ctrTitle"/>
          </p:nvPr>
        </p:nvSpPr>
        <p:spPr>
          <a:xfrm>
            <a:off x="500621" y="1902465"/>
            <a:ext cx="7772400" cy="70234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 b="1" i="0" dirty="0">
                <a:latin typeface="方正兰亭中粗黑_GBK" pitchFamily="2" charset="-122"/>
                <a:ea typeface="方正兰亭中粗黑_GBK" pitchFamily="2" charset="-122"/>
                <a:cs typeface="方正兰亭中粗黑_GBK" pitchFamily="2" charset="-122"/>
              </a:defRPr>
            </a:lvl1pPr>
          </a:lstStyle>
          <a:p>
            <a:pPr lvl="0" algn="l"/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0" name="Subtitle 2"/>
          <p:cNvSpPr>
            <a:spLocks noGrp="1"/>
          </p:cNvSpPr>
          <p:nvPr>
            <p:ph type="subTitle" idx="1"/>
          </p:nvPr>
        </p:nvSpPr>
        <p:spPr>
          <a:xfrm>
            <a:off x="500621" y="2612791"/>
            <a:ext cx="6400800" cy="411137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0" i="0" dirty="0">
                <a:latin typeface="方正兰亭黑_GBK" pitchFamily="2" charset="-122"/>
                <a:ea typeface="方正兰亭黑_GBK" pitchFamily="2" charset="-122"/>
                <a:cs typeface="方正兰亭黑_GBK" pitchFamily="2" charset="-122"/>
              </a:defRPr>
            </a:lvl1pPr>
          </a:lstStyle>
          <a:p>
            <a:pPr marL="0" lvl="0" indent="0">
              <a:buNone/>
            </a:pPr>
            <a:r>
              <a:rPr lang="en-US" dirty="0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3254" y="0"/>
            <a:ext cx="1433492" cy="721090"/>
          </a:xfrm>
          <a:prstGeom prst="rect">
            <a:avLst/>
          </a:prstGeom>
        </p:spPr>
      </p:pic>
      <p:pic>
        <p:nvPicPr>
          <p:cNvPr id="4" name="Picture 3" descr="Untitled-3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841" y="6353008"/>
            <a:ext cx="8641368" cy="2529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885" y="410316"/>
            <a:ext cx="6443498" cy="123204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 b="1" i="0" dirty="0">
                <a:latin typeface="方正兰亭中粗黑_GBK" pitchFamily="2" charset="-122"/>
                <a:ea typeface="方正兰亭中粗黑_GBK" pitchFamily="2" charset="-122"/>
                <a:cs typeface="方正兰亭中粗黑_GBK" pitchFamily="2" charset="-122"/>
              </a:defRPr>
            </a:lvl1pPr>
          </a:lstStyle>
          <a:p>
            <a:pPr lvl="0" algn="l"/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884" y="1708504"/>
            <a:ext cx="8143589" cy="4385466"/>
          </a:xfrm>
        </p:spPr>
        <p:txBody>
          <a:bodyPr lIns="0"/>
          <a:lstStyle>
            <a:lvl1pPr>
              <a:buClr>
                <a:schemeClr val="tx1"/>
              </a:buClr>
              <a:defRPr sz="1600" b="0" i="0">
                <a:solidFill>
                  <a:schemeClr val="tx2"/>
                </a:solidFill>
                <a:latin typeface="Gotham-Book"/>
                <a:cs typeface="Gotham-Book"/>
              </a:defRPr>
            </a:lvl1pPr>
            <a:lvl2pPr>
              <a:buClr>
                <a:schemeClr val="tx1"/>
              </a:buClr>
              <a:defRPr sz="1400" b="0" i="0">
                <a:solidFill>
                  <a:schemeClr val="tx2"/>
                </a:solidFill>
                <a:latin typeface="Gotham-Book"/>
                <a:cs typeface="Gotham-Book"/>
              </a:defRPr>
            </a:lvl2pPr>
            <a:lvl3pPr>
              <a:buClr>
                <a:schemeClr val="tx1"/>
              </a:buClr>
              <a:defRPr sz="1200" b="0" i="0">
                <a:solidFill>
                  <a:schemeClr val="tx2"/>
                </a:solidFill>
                <a:latin typeface="Gotham-Book"/>
                <a:cs typeface="Gotham-Book"/>
              </a:defRPr>
            </a:lvl3pPr>
            <a:lvl4pPr>
              <a:buClr>
                <a:schemeClr val="tx1"/>
              </a:buClr>
              <a:defRPr sz="1000" b="0" i="0">
                <a:solidFill>
                  <a:schemeClr val="tx2"/>
                </a:solidFill>
                <a:latin typeface="Gotham-Book"/>
                <a:cs typeface="Gotham-Book"/>
              </a:defRPr>
            </a:lvl4pPr>
            <a:lvl5pPr>
              <a:buClr>
                <a:schemeClr val="tx1"/>
              </a:buClr>
              <a:defRPr sz="900" b="0" i="0">
                <a:solidFill>
                  <a:schemeClr val="tx2"/>
                </a:solidFill>
                <a:latin typeface="Gotham-Book"/>
                <a:cs typeface="Gotham-Book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3"/>
          <p:cNvSpPr>
            <a:spLocks noGrp="1"/>
          </p:cNvSpPr>
          <p:nvPr>
            <p:ph type="pic" sz="quarter" idx="13" hasCustomPrompt="1"/>
          </p:nvPr>
        </p:nvSpPr>
        <p:spPr>
          <a:xfrm>
            <a:off x="255841" y="246683"/>
            <a:ext cx="8641368" cy="5853334"/>
          </a:xfrm>
          <a:solidFill>
            <a:schemeClr val="bg2">
              <a:lumMod val="90000"/>
            </a:schemeClr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FontTx/>
              <a:buNone/>
              <a:defRPr sz="1600"/>
            </a:lvl1pPr>
          </a:lstStyle>
          <a:p>
            <a:r>
              <a:rPr lang="en-US" dirty="0" smtClean="0"/>
              <a:t>Insert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38252"/>
            <a:ext cx="8229600" cy="79609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 b="1" i="0" dirty="0">
                <a:latin typeface="方正兰亭中粗黑_GBK" pitchFamily="2" charset="-122"/>
                <a:ea typeface="方正兰亭中粗黑_GBK" pitchFamily="2" charset="-122"/>
                <a:cs typeface="方正兰亭中粗黑_GBK" pitchFamily="2" charset="-122"/>
              </a:defRPr>
            </a:lvl1pPr>
          </a:lstStyle>
          <a:p>
            <a:pPr lvl="0" algn="l"/>
            <a:r>
              <a:rPr lang="en-US" dirty="0" smtClean="0"/>
              <a:t>Click to edit Master title style</a:t>
            </a:r>
            <a:endParaRPr lang="en-US" dirty="0"/>
          </a:p>
        </p:txBody>
      </p:sp>
      <p:pic>
        <p:nvPicPr>
          <p:cNvPr id="7" name="Picture 6" descr="Untitled-3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841" y="6353008"/>
            <a:ext cx="8641368" cy="2529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01 / 01 / 2013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</a:t>
            </a:r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0A3BF-C42B-5B4A-8FD1-FDF44958D93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01 / 01 / 2013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Department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80A3BF-C42B-5B4A-8FD1-FDF44958D935}" type="slidenum">
              <a:rPr lang="en-US" smtClean="0"/>
              <a:t>‹#›</a:t>
            </a:fld>
            <a:endParaRPr lang="en-US"/>
          </a:p>
        </p:txBody>
      </p:sp>
      <p:grpSp>
        <p:nvGrpSpPr>
          <p:cNvPr id="24" name="Group 23"/>
          <p:cNvGrpSpPr/>
          <p:nvPr userDrawn="1"/>
        </p:nvGrpSpPr>
        <p:grpSpPr>
          <a:xfrm>
            <a:off x="396875" y="6946006"/>
            <a:ext cx="7053930" cy="125184"/>
            <a:chOff x="396875" y="6946006"/>
            <a:chExt cx="7053930" cy="125184"/>
          </a:xfrm>
        </p:grpSpPr>
        <p:sp>
          <p:nvSpPr>
            <p:cNvPr id="8" name="Rectangle 10"/>
            <p:cNvSpPr>
              <a:spLocks noChangeArrowheads="1"/>
            </p:cNvSpPr>
            <p:nvPr userDrawn="1"/>
          </p:nvSpPr>
          <p:spPr bwMode="auto">
            <a:xfrm>
              <a:off x="777875" y="6946006"/>
              <a:ext cx="304800" cy="11906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bg1"/>
              </a:solidFill>
              <a:miter lim="800000"/>
            </a:ln>
            <a:effectLst/>
          </p:spPr>
          <p:txBody>
            <a:bodyPr wrap="none" lIns="0" tIns="0" rIns="0" bIns="0"/>
            <a:lstStyle/>
            <a:p>
              <a:pPr>
                <a:lnSpc>
                  <a:spcPct val="85000"/>
                </a:lnSpc>
              </a:pPr>
              <a:endParaRPr lang="en-US" sz="600" dirty="0">
                <a:solidFill>
                  <a:schemeClr val="bg1"/>
                </a:solidFill>
              </a:endParaRPr>
            </a:p>
            <a:p>
              <a:pPr>
                <a:lnSpc>
                  <a:spcPct val="85000"/>
                </a:lnSpc>
              </a:pPr>
              <a:endParaRPr lang="en-US" sz="600" dirty="0">
                <a:solidFill>
                  <a:schemeClr val="bg1"/>
                </a:solidFill>
              </a:endParaRPr>
            </a:p>
            <a:p>
              <a:r>
                <a:rPr lang="en-US" sz="600" dirty="0" smtClean="0">
                  <a:solidFill>
                    <a:schemeClr val="bg1"/>
                  </a:solidFill>
                </a:rPr>
                <a:t>C  90</a:t>
              </a:r>
              <a:endParaRPr lang="en-US" sz="600" dirty="0">
                <a:solidFill>
                  <a:schemeClr val="bg1"/>
                </a:solidFill>
              </a:endParaRPr>
            </a:p>
            <a:p>
              <a:r>
                <a:rPr lang="en-US" sz="600" dirty="0" smtClean="0">
                  <a:solidFill>
                    <a:schemeClr val="bg1"/>
                  </a:solidFill>
                </a:rPr>
                <a:t>M  20</a:t>
              </a:r>
              <a:endParaRPr lang="en-US" sz="600" dirty="0">
                <a:solidFill>
                  <a:schemeClr val="bg1"/>
                </a:solidFill>
              </a:endParaRPr>
            </a:p>
            <a:p>
              <a:r>
                <a:rPr lang="en-US" sz="600" dirty="0" smtClean="0">
                  <a:solidFill>
                    <a:schemeClr val="bg1"/>
                  </a:solidFill>
                </a:rPr>
                <a:t>Y  0</a:t>
              </a:r>
            </a:p>
            <a:p>
              <a:r>
                <a:rPr lang="en-US" sz="600" dirty="0" smtClean="0">
                  <a:solidFill>
                    <a:schemeClr val="bg1"/>
                  </a:solidFill>
                </a:rPr>
                <a:t>K  0</a:t>
              </a:r>
              <a:endParaRPr 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9" name="Rectangle 11"/>
            <p:cNvSpPr>
              <a:spLocks noChangeArrowheads="1"/>
            </p:cNvSpPr>
            <p:nvPr userDrawn="1"/>
          </p:nvSpPr>
          <p:spPr bwMode="auto">
            <a:xfrm>
              <a:off x="1158875" y="6946006"/>
              <a:ext cx="304800" cy="11906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</a:ln>
            <a:effectLst/>
          </p:spPr>
          <p:txBody>
            <a:bodyPr wrap="none" lIns="0" tIns="0" rIns="0" bIns="0"/>
            <a:lstStyle/>
            <a:p>
              <a:pPr>
                <a:lnSpc>
                  <a:spcPct val="85000"/>
                </a:lnSpc>
              </a:pPr>
              <a:endParaRPr lang="en-US" sz="600" dirty="0">
                <a:solidFill>
                  <a:schemeClr val="bg1"/>
                </a:solidFill>
              </a:endParaRPr>
            </a:p>
            <a:p>
              <a:pPr>
                <a:lnSpc>
                  <a:spcPct val="85000"/>
                </a:lnSpc>
              </a:pPr>
              <a:endParaRPr lang="en-US" sz="600" dirty="0">
                <a:solidFill>
                  <a:schemeClr val="bg1"/>
                </a:solidFill>
              </a:endParaRPr>
            </a:p>
            <a:p>
              <a:r>
                <a:rPr lang="en-US" sz="600" dirty="0" smtClean="0">
                  <a:solidFill>
                    <a:schemeClr val="bg1"/>
                  </a:solidFill>
                </a:rPr>
                <a:t>C  0</a:t>
              </a:r>
              <a:endParaRPr lang="en-US" sz="600" dirty="0">
                <a:solidFill>
                  <a:schemeClr val="bg1"/>
                </a:solidFill>
              </a:endParaRPr>
            </a:p>
            <a:p>
              <a:r>
                <a:rPr lang="en-US" sz="600" dirty="0" smtClean="0">
                  <a:solidFill>
                    <a:schemeClr val="bg1"/>
                  </a:solidFill>
                </a:rPr>
                <a:t>M  0</a:t>
              </a:r>
              <a:endParaRPr lang="en-US" sz="600" dirty="0">
                <a:solidFill>
                  <a:schemeClr val="bg1"/>
                </a:solidFill>
              </a:endParaRPr>
            </a:p>
            <a:p>
              <a:r>
                <a:rPr lang="en-US" sz="600" dirty="0" smtClean="0">
                  <a:solidFill>
                    <a:schemeClr val="bg1"/>
                  </a:solidFill>
                </a:rPr>
                <a:t>Y  0</a:t>
              </a:r>
            </a:p>
            <a:p>
              <a:r>
                <a:rPr lang="en-US" sz="600" dirty="0" smtClean="0">
                  <a:solidFill>
                    <a:schemeClr val="bg1"/>
                  </a:solidFill>
                </a:rPr>
                <a:t>K  0</a:t>
              </a:r>
              <a:endParaRPr 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10" name="Rectangle 12"/>
            <p:cNvSpPr>
              <a:spLocks noChangeArrowheads="1"/>
            </p:cNvSpPr>
            <p:nvPr userDrawn="1"/>
          </p:nvSpPr>
          <p:spPr bwMode="auto">
            <a:xfrm>
              <a:off x="2300780" y="6946006"/>
              <a:ext cx="304800" cy="119062"/>
            </a:xfrm>
            <a:prstGeom prst="rect">
              <a:avLst/>
            </a:prstGeom>
            <a:solidFill>
              <a:srgbClr val="272727"/>
            </a:solidFill>
            <a:ln w="9525">
              <a:solidFill>
                <a:schemeClr val="bg1"/>
              </a:solidFill>
              <a:miter lim="800000"/>
            </a:ln>
            <a:effectLst/>
          </p:spPr>
          <p:txBody>
            <a:bodyPr wrap="none" lIns="0" tIns="0" rIns="0" bIns="0"/>
            <a:lstStyle/>
            <a:p>
              <a:pPr>
                <a:lnSpc>
                  <a:spcPct val="85000"/>
                </a:lnSpc>
              </a:pPr>
              <a:endParaRPr lang="en-US" sz="600" dirty="0">
                <a:solidFill>
                  <a:schemeClr val="bg1"/>
                </a:solidFill>
              </a:endParaRPr>
            </a:p>
            <a:p>
              <a:pPr>
                <a:lnSpc>
                  <a:spcPct val="85000"/>
                </a:lnSpc>
              </a:pPr>
              <a:endParaRPr lang="en-US" sz="600" dirty="0">
                <a:solidFill>
                  <a:schemeClr val="bg1"/>
                </a:solidFill>
              </a:endParaRPr>
            </a:p>
            <a:p>
              <a:r>
                <a:rPr lang="en-US" sz="600" dirty="0" smtClean="0">
                  <a:solidFill>
                    <a:schemeClr val="bg1"/>
                  </a:solidFill>
                </a:rPr>
                <a:t>C  0</a:t>
              </a:r>
            </a:p>
            <a:p>
              <a:r>
                <a:rPr lang="en-US" sz="600" dirty="0" smtClean="0">
                  <a:solidFill>
                    <a:schemeClr val="bg1"/>
                  </a:solidFill>
                </a:rPr>
                <a:t>M  0</a:t>
              </a:r>
            </a:p>
            <a:p>
              <a:r>
                <a:rPr lang="en-US" sz="600" dirty="0" smtClean="0">
                  <a:solidFill>
                    <a:schemeClr val="bg1"/>
                  </a:solidFill>
                </a:rPr>
                <a:t>Y  0</a:t>
              </a:r>
            </a:p>
            <a:p>
              <a:r>
                <a:rPr lang="en-US" sz="600" dirty="0" smtClean="0">
                  <a:solidFill>
                    <a:schemeClr val="bg1"/>
                  </a:solidFill>
                </a:rPr>
                <a:t>K  90</a:t>
              </a:r>
              <a:endParaRPr 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11" name="Rectangle 13"/>
            <p:cNvSpPr>
              <a:spLocks noChangeArrowheads="1"/>
            </p:cNvSpPr>
            <p:nvPr userDrawn="1"/>
          </p:nvSpPr>
          <p:spPr bwMode="auto">
            <a:xfrm>
              <a:off x="2681780" y="6946006"/>
              <a:ext cx="304800" cy="119062"/>
            </a:xfrm>
            <a:prstGeom prst="rect">
              <a:avLst/>
            </a:prstGeom>
            <a:solidFill>
              <a:srgbClr val="505150"/>
            </a:solidFill>
            <a:ln w="9525">
              <a:solidFill>
                <a:schemeClr val="bg1"/>
              </a:solidFill>
              <a:miter lim="800000"/>
            </a:ln>
            <a:effectLst/>
          </p:spPr>
          <p:txBody>
            <a:bodyPr wrap="none" lIns="0" tIns="0" rIns="0" bIns="0"/>
            <a:lstStyle/>
            <a:p>
              <a:pPr>
                <a:lnSpc>
                  <a:spcPct val="85000"/>
                </a:lnSpc>
              </a:pPr>
              <a:endParaRPr lang="en-US" sz="600" dirty="0">
                <a:solidFill>
                  <a:schemeClr val="bg1"/>
                </a:solidFill>
              </a:endParaRPr>
            </a:p>
            <a:p>
              <a:pPr>
                <a:lnSpc>
                  <a:spcPct val="85000"/>
                </a:lnSpc>
              </a:pPr>
              <a:endParaRPr lang="en-US" sz="600" dirty="0">
                <a:solidFill>
                  <a:schemeClr val="bg1"/>
                </a:solidFill>
              </a:endParaRPr>
            </a:p>
            <a:p>
              <a:r>
                <a:rPr lang="en-US" sz="600" dirty="0" smtClean="0">
                  <a:solidFill>
                    <a:schemeClr val="bg1"/>
                  </a:solidFill>
                </a:rPr>
                <a:t>C  0</a:t>
              </a:r>
            </a:p>
            <a:p>
              <a:r>
                <a:rPr lang="en-US" sz="600" dirty="0" smtClean="0">
                  <a:solidFill>
                    <a:schemeClr val="bg1"/>
                  </a:solidFill>
                </a:rPr>
                <a:t>M  0</a:t>
              </a:r>
            </a:p>
            <a:p>
              <a:r>
                <a:rPr lang="en-US" sz="600" dirty="0" smtClean="0">
                  <a:solidFill>
                    <a:schemeClr val="bg1"/>
                  </a:solidFill>
                </a:rPr>
                <a:t>Y  0</a:t>
              </a:r>
            </a:p>
            <a:p>
              <a:r>
                <a:rPr lang="en-US" sz="600" dirty="0" smtClean="0">
                  <a:solidFill>
                    <a:schemeClr val="bg1"/>
                  </a:solidFill>
                </a:rPr>
                <a:t>K  70</a:t>
              </a:r>
              <a:endParaRPr 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12" name="Rectangle 14"/>
            <p:cNvSpPr>
              <a:spLocks noChangeArrowheads="1"/>
            </p:cNvSpPr>
            <p:nvPr userDrawn="1"/>
          </p:nvSpPr>
          <p:spPr bwMode="auto">
            <a:xfrm>
              <a:off x="3062780" y="6946006"/>
              <a:ext cx="304800" cy="119062"/>
            </a:xfrm>
            <a:prstGeom prst="rect">
              <a:avLst/>
            </a:prstGeom>
            <a:solidFill>
              <a:srgbClr val="636463"/>
            </a:solidFill>
            <a:ln w="9525">
              <a:solidFill>
                <a:schemeClr val="bg1"/>
              </a:solidFill>
              <a:miter lim="800000"/>
            </a:ln>
            <a:effectLst/>
          </p:spPr>
          <p:txBody>
            <a:bodyPr wrap="none" lIns="0" tIns="0" rIns="0" bIns="0"/>
            <a:lstStyle/>
            <a:p>
              <a:pPr>
                <a:lnSpc>
                  <a:spcPct val="85000"/>
                </a:lnSpc>
              </a:pPr>
              <a:endParaRPr lang="en-US" sz="600" dirty="0">
                <a:solidFill>
                  <a:schemeClr val="bg1"/>
                </a:solidFill>
              </a:endParaRPr>
            </a:p>
            <a:p>
              <a:pPr>
                <a:lnSpc>
                  <a:spcPct val="85000"/>
                </a:lnSpc>
              </a:pPr>
              <a:endParaRPr lang="en-US" sz="600" dirty="0">
                <a:solidFill>
                  <a:schemeClr val="bg1"/>
                </a:solidFill>
              </a:endParaRPr>
            </a:p>
            <a:p>
              <a:r>
                <a:rPr lang="en-US" sz="600" dirty="0" smtClean="0">
                  <a:solidFill>
                    <a:schemeClr val="bg1"/>
                  </a:solidFill>
                </a:rPr>
                <a:t>C  0</a:t>
              </a:r>
            </a:p>
            <a:p>
              <a:r>
                <a:rPr lang="en-US" sz="600" dirty="0" smtClean="0">
                  <a:solidFill>
                    <a:schemeClr val="bg1"/>
                  </a:solidFill>
                </a:rPr>
                <a:t>M  0</a:t>
              </a:r>
            </a:p>
            <a:p>
              <a:r>
                <a:rPr lang="en-US" sz="600" dirty="0" smtClean="0">
                  <a:solidFill>
                    <a:schemeClr val="bg1"/>
                  </a:solidFill>
                </a:rPr>
                <a:t>Y  0</a:t>
              </a:r>
            </a:p>
            <a:p>
              <a:r>
                <a:rPr lang="en-US" sz="600" dirty="0" smtClean="0">
                  <a:solidFill>
                    <a:schemeClr val="bg1"/>
                  </a:solidFill>
                </a:rPr>
                <a:t>K  60</a:t>
              </a:r>
              <a:endParaRPr 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13" name="Rectangle 15"/>
            <p:cNvSpPr>
              <a:spLocks noChangeArrowheads="1"/>
            </p:cNvSpPr>
            <p:nvPr userDrawn="1"/>
          </p:nvSpPr>
          <p:spPr bwMode="auto">
            <a:xfrm>
              <a:off x="3443780" y="6946006"/>
              <a:ext cx="304800" cy="119062"/>
            </a:xfrm>
            <a:prstGeom prst="rect">
              <a:avLst/>
            </a:prstGeom>
            <a:solidFill>
              <a:srgbClr val="8D8E8D"/>
            </a:solidFill>
            <a:ln w="9525">
              <a:solidFill>
                <a:schemeClr val="bg1"/>
              </a:solidFill>
              <a:miter lim="800000"/>
            </a:ln>
            <a:effectLst/>
          </p:spPr>
          <p:txBody>
            <a:bodyPr wrap="none" lIns="0" tIns="0" rIns="0" bIns="0"/>
            <a:lstStyle/>
            <a:p>
              <a:pPr>
                <a:lnSpc>
                  <a:spcPct val="85000"/>
                </a:lnSpc>
              </a:pPr>
              <a:endParaRPr lang="en-US" sz="600" dirty="0">
                <a:solidFill>
                  <a:schemeClr val="bg1"/>
                </a:solidFill>
              </a:endParaRPr>
            </a:p>
            <a:p>
              <a:pPr>
                <a:lnSpc>
                  <a:spcPct val="85000"/>
                </a:lnSpc>
              </a:pPr>
              <a:endParaRPr lang="en-US" sz="600" dirty="0">
                <a:solidFill>
                  <a:schemeClr val="bg1"/>
                </a:solidFill>
              </a:endParaRPr>
            </a:p>
            <a:p>
              <a:r>
                <a:rPr lang="en-US" sz="600" dirty="0" smtClean="0">
                  <a:solidFill>
                    <a:schemeClr val="bg1"/>
                  </a:solidFill>
                </a:rPr>
                <a:t>C  0</a:t>
              </a:r>
            </a:p>
            <a:p>
              <a:r>
                <a:rPr lang="en-US" sz="600" dirty="0" smtClean="0">
                  <a:solidFill>
                    <a:schemeClr val="bg1"/>
                  </a:solidFill>
                </a:rPr>
                <a:t>M  0</a:t>
              </a:r>
            </a:p>
            <a:p>
              <a:r>
                <a:rPr lang="en-US" sz="600" dirty="0" smtClean="0">
                  <a:solidFill>
                    <a:schemeClr val="bg1"/>
                  </a:solidFill>
                </a:rPr>
                <a:t>Y  0</a:t>
              </a:r>
            </a:p>
            <a:p>
              <a:r>
                <a:rPr lang="en-US" sz="600" dirty="0" smtClean="0">
                  <a:solidFill>
                    <a:schemeClr val="bg1"/>
                  </a:solidFill>
                </a:rPr>
                <a:t>K  40</a:t>
              </a:r>
              <a:endParaRPr 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14" name="Rectangle 27"/>
            <p:cNvSpPr>
              <a:spLocks noChangeArrowheads="1"/>
            </p:cNvSpPr>
            <p:nvPr userDrawn="1"/>
          </p:nvSpPr>
          <p:spPr bwMode="auto">
            <a:xfrm>
              <a:off x="396875" y="6963468"/>
              <a:ext cx="269304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700" b="0" i="0" dirty="0" smtClean="0">
                  <a:solidFill>
                    <a:schemeClr val="bg1"/>
                  </a:solidFill>
                  <a:latin typeface="华文黑体"/>
                  <a:ea typeface="华文黑体"/>
                  <a:cs typeface="华文黑体"/>
                </a:rPr>
                <a:t>主色：</a:t>
              </a:r>
              <a:endParaRPr lang="en-US" sz="700" b="0" i="0" dirty="0">
                <a:solidFill>
                  <a:schemeClr val="bg1"/>
                </a:solidFill>
                <a:latin typeface="华文黑体"/>
                <a:ea typeface="华文黑体"/>
                <a:cs typeface="华文黑体"/>
              </a:endParaRPr>
            </a:p>
          </p:txBody>
        </p:sp>
        <p:sp>
          <p:nvSpPr>
            <p:cNvPr id="15" name="Rectangle 14"/>
            <p:cNvSpPr>
              <a:spLocks noChangeArrowheads="1"/>
            </p:cNvSpPr>
            <p:nvPr userDrawn="1"/>
          </p:nvSpPr>
          <p:spPr bwMode="auto">
            <a:xfrm>
              <a:off x="1814826" y="6963468"/>
              <a:ext cx="359073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700" b="0" i="0" dirty="0" smtClean="0">
                  <a:solidFill>
                    <a:schemeClr val="bg1"/>
                  </a:solidFill>
                  <a:latin typeface="华文黑体"/>
                  <a:ea typeface="华文黑体"/>
                  <a:cs typeface="华文黑体"/>
                </a:rPr>
                <a:t>辅助色：</a:t>
              </a:r>
              <a:endParaRPr lang="en-US" sz="700" b="0" i="0" dirty="0">
                <a:solidFill>
                  <a:schemeClr val="bg1"/>
                </a:solidFill>
                <a:latin typeface="华文黑体"/>
                <a:ea typeface="华文黑体"/>
                <a:cs typeface="华文黑体"/>
              </a:endParaRPr>
            </a:p>
          </p:txBody>
        </p:sp>
        <p:sp>
          <p:nvSpPr>
            <p:cNvPr id="16" name="Rectangle 15"/>
            <p:cNvSpPr>
              <a:spLocks noChangeArrowheads="1"/>
            </p:cNvSpPr>
            <p:nvPr userDrawn="1"/>
          </p:nvSpPr>
          <p:spPr bwMode="auto">
            <a:xfrm>
              <a:off x="3826320" y="6946006"/>
              <a:ext cx="304800" cy="119062"/>
            </a:xfrm>
            <a:prstGeom prst="rect">
              <a:avLst/>
            </a:prstGeom>
            <a:solidFill>
              <a:srgbClr val="B2B3B2"/>
            </a:solidFill>
            <a:ln w="9525">
              <a:solidFill>
                <a:schemeClr val="bg1"/>
              </a:solidFill>
              <a:miter lim="800000"/>
            </a:ln>
            <a:effectLst/>
          </p:spPr>
          <p:txBody>
            <a:bodyPr wrap="none" lIns="0" tIns="0" rIns="0" bIns="0"/>
            <a:lstStyle/>
            <a:p>
              <a:pPr>
                <a:lnSpc>
                  <a:spcPct val="85000"/>
                </a:lnSpc>
              </a:pPr>
              <a:endParaRPr lang="en-US" sz="600" dirty="0">
                <a:solidFill>
                  <a:schemeClr val="bg1"/>
                </a:solidFill>
              </a:endParaRPr>
            </a:p>
            <a:p>
              <a:pPr>
                <a:lnSpc>
                  <a:spcPct val="85000"/>
                </a:lnSpc>
              </a:pPr>
              <a:endParaRPr lang="en-US" sz="600" dirty="0">
                <a:solidFill>
                  <a:schemeClr val="bg1"/>
                </a:solidFill>
              </a:endParaRPr>
            </a:p>
            <a:p>
              <a:r>
                <a:rPr lang="en-US" sz="600" dirty="0" smtClean="0">
                  <a:solidFill>
                    <a:schemeClr val="bg1"/>
                  </a:solidFill>
                </a:rPr>
                <a:t>C  0</a:t>
              </a:r>
            </a:p>
            <a:p>
              <a:r>
                <a:rPr lang="en-US" sz="600" dirty="0" smtClean="0">
                  <a:solidFill>
                    <a:schemeClr val="bg1"/>
                  </a:solidFill>
                </a:rPr>
                <a:t>M  0</a:t>
              </a:r>
            </a:p>
            <a:p>
              <a:r>
                <a:rPr lang="en-US" sz="600" dirty="0" smtClean="0">
                  <a:solidFill>
                    <a:schemeClr val="bg1"/>
                  </a:solidFill>
                </a:rPr>
                <a:t>Y  0</a:t>
              </a:r>
            </a:p>
            <a:p>
              <a:r>
                <a:rPr lang="en-US" sz="600" dirty="0" smtClean="0">
                  <a:solidFill>
                    <a:schemeClr val="bg1"/>
                  </a:solidFill>
                </a:rPr>
                <a:t>K  25</a:t>
              </a:r>
              <a:endParaRPr 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17" name="Rectangle 15"/>
            <p:cNvSpPr>
              <a:spLocks noChangeArrowheads="1"/>
            </p:cNvSpPr>
            <p:nvPr userDrawn="1"/>
          </p:nvSpPr>
          <p:spPr bwMode="auto">
            <a:xfrm>
              <a:off x="4213961" y="6946006"/>
              <a:ext cx="304800" cy="119062"/>
            </a:xfrm>
            <a:prstGeom prst="rect">
              <a:avLst/>
            </a:prstGeom>
            <a:solidFill>
              <a:srgbClr val="EFEEED"/>
            </a:solidFill>
            <a:ln w="9525">
              <a:solidFill>
                <a:schemeClr val="bg1"/>
              </a:solidFill>
              <a:miter lim="800000"/>
            </a:ln>
            <a:effectLst/>
          </p:spPr>
          <p:txBody>
            <a:bodyPr wrap="none" lIns="0" tIns="0" rIns="0" bIns="0"/>
            <a:lstStyle/>
            <a:p>
              <a:pPr>
                <a:lnSpc>
                  <a:spcPct val="85000"/>
                </a:lnSpc>
              </a:pPr>
              <a:endParaRPr lang="en-US" sz="600" dirty="0">
                <a:solidFill>
                  <a:schemeClr val="bg1"/>
                </a:solidFill>
              </a:endParaRPr>
            </a:p>
            <a:p>
              <a:pPr>
                <a:lnSpc>
                  <a:spcPct val="85000"/>
                </a:lnSpc>
              </a:pPr>
              <a:endParaRPr lang="en-US" sz="600" dirty="0">
                <a:solidFill>
                  <a:schemeClr val="bg1"/>
                </a:solidFill>
              </a:endParaRPr>
            </a:p>
            <a:p>
              <a:r>
                <a:rPr lang="en-US" sz="600" dirty="0" smtClean="0">
                  <a:solidFill>
                    <a:schemeClr val="bg1"/>
                  </a:solidFill>
                </a:rPr>
                <a:t>C  0</a:t>
              </a:r>
            </a:p>
            <a:p>
              <a:r>
                <a:rPr lang="en-US" sz="600" dirty="0" smtClean="0">
                  <a:solidFill>
                    <a:schemeClr val="bg1"/>
                  </a:solidFill>
                </a:rPr>
                <a:t>M  0</a:t>
              </a:r>
            </a:p>
            <a:p>
              <a:r>
                <a:rPr lang="en-US" sz="600" dirty="0" smtClean="0">
                  <a:solidFill>
                    <a:schemeClr val="bg1"/>
                  </a:solidFill>
                </a:rPr>
                <a:t>Y  0</a:t>
              </a:r>
            </a:p>
            <a:p>
              <a:r>
                <a:rPr lang="en-US" sz="600" dirty="0" smtClean="0">
                  <a:solidFill>
                    <a:schemeClr val="bg1"/>
                  </a:solidFill>
                </a:rPr>
                <a:t>K  5</a:t>
              </a:r>
              <a:endParaRPr 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18" name="Rectangle 12"/>
            <p:cNvSpPr>
              <a:spLocks noChangeArrowheads="1"/>
            </p:cNvSpPr>
            <p:nvPr userDrawn="1"/>
          </p:nvSpPr>
          <p:spPr bwMode="auto">
            <a:xfrm>
              <a:off x="5430951" y="6946006"/>
              <a:ext cx="304800" cy="119062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bg1"/>
              </a:solidFill>
              <a:miter lim="800000"/>
            </a:ln>
            <a:effectLst/>
          </p:spPr>
          <p:txBody>
            <a:bodyPr wrap="none" lIns="0" tIns="0" rIns="0" bIns="0"/>
            <a:lstStyle/>
            <a:p>
              <a:pPr>
                <a:lnSpc>
                  <a:spcPct val="85000"/>
                </a:lnSpc>
              </a:pPr>
              <a:endParaRPr lang="en-US" sz="600" dirty="0">
                <a:solidFill>
                  <a:schemeClr val="bg1"/>
                </a:solidFill>
              </a:endParaRPr>
            </a:p>
            <a:p>
              <a:pPr>
                <a:lnSpc>
                  <a:spcPct val="85000"/>
                </a:lnSpc>
              </a:pPr>
              <a:endParaRPr lang="en-US" sz="600" dirty="0">
                <a:solidFill>
                  <a:schemeClr val="bg1"/>
                </a:solidFill>
              </a:endParaRPr>
            </a:p>
            <a:p>
              <a:r>
                <a:rPr lang="en-US" sz="600" dirty="0" smtClean="0">
                  <a:solidFill>
                    <a:schemeClr val="bg1"/>
                  </a:solidFill>
                </a:rPr>
                <a:t>C  0</a:t>
              </a:r>
            </a:p>
            <a:p>
              <a:r>
                <a:rPr lang="en-US" sz="600" dirty="0" smtClean="0">
                  <a:solidFill>
                    <a:schemeClr val="bg1"/>
                  </a:solidFill>
                </a:rPr>
                <a:t>M  30</a:t>
              </a:r>
            </a:p>
            <a:p>
              <a:r>
                <a:rPr lang="en-US" sz="600" dirty="0" smtClean="0">
                  <a:solidFill>
                    <a:schemeClr val="bg1"/>
                  </a:solidFill>
                </a:rPr>
                <a:t>Y  100</a:t>
              </a:r>
            </a:p>
            <a:p>
              <a:r>
                <a:rPr lang="en-US" sz="600" dirty="0" smtClean="0">
                  <a:solidFill>
                    <a:schemeClr val="bg1"/>
                  </a:solidFill>
                </a:rPr>
                <a:t>K  0</a:t>
              </a:r>
              <a:endParaRPr 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19" name="Rectangle 18"/>
            <p:cNvSpPr>
              <a:spLocks noChangeArrowheads="1"/>
            </p:cNvSpPr>
            <p:nvPr userDrawn="1"/>
          </p:nvSpPr>
          <p:spPr bwMode="auto">
            <a:xfrm>
              <a:off x="5026605" y="6963468"/>
              <a:ext cx="359073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700" b="0" i="0" dirty="0" smtClean="0">
                  <a:solidFill>
                    <a:schemeClr val="bg1"/>
                  </a:solidFill>
                  <a:latin typeface="华文黑体"/>
                  <a:ea typeface="华文黑体"/>
                  <a:cs typeface="华文黑体"/>
                </a:rPr>
                <a:t>温暖橙：</a:t>
              </a:r>
              <a:endParaRPr lang="en-US" sz="700" b="0" i="0" dirty="0">
                <a:solidFill>
                  <a:schemeClr val="bg1"/>
                </a:solidFill>
                <a:latin typeface="华文黑体"/>
                <a:ea typeface="华文黑体"/>
                <a:cs typeface="华文黑体"/>
              </a:endParaRPr>
            </a:p>
          </p:txBody>
        </p:sp>
        <p:sp>
          <p:nvSpPr>
            <p:cNvPr id="20" name="Rectangle 12"/>
            <p:cNvSpPr>
              <a:spLocks noChangeArrowheads="1"/>
            </p:cNvSpPr>
            <p:nvPr userDrawn="1"/>
          </p:nvSpPr>
          <p:spPr bwMode="auto">
            <a:xfrm>
              <a:off x="6288257" y="6946006"/>
              <a:ext cx="304800" cy="119062"/>
            </a:xfrm>
            <a:prstGeom prst="rect">
              <a:avLst/>
            </a:prstGeom>
            <a:solidFill>
              <a:schemeClr val="accent3"/>
            </a:solidFill>
            <a:ln w="9525">
              <a:solidFill>
                <a:schemeClr val="bg1"/>
              </a:solidFill>
              <a:miter lim="800000"/>
            </a:ln>
            <a:effectLst/>
          </p:spPr>
          <p:txBody>
            <a:bodyPr wrap="none" lIns="0" tIns="0" rIns="0" bIns="0"/>
            <a:lstStyle/>
            <a:p>
              <a:pPr>
                <a:lnSpc>
                  <a:spcPct val="85000"/>
                </a:lnSpc>
              </a:pPr>
              <a:endParaRPr lang="en-US" sz="600" dirty="0">
                <a:solidFill>
                  <a:schemeClr val="bg1"/>
                </a:solidFill>
              </a:endParaRPr>
            </a:p>
            <a:p>
              <a:pPr>
                <a:lnSpc>
                  <a:spcPct val="85000"/>
                </a:lnSpc>
              </a:pPr>
              <a:endParaRPr lang="en-US" sz="600" dirty="0">
                <a:solidFill>
                  <a:schemeClr val="bg1"/>
                </a:solidFill>
              </a:endParaRPr>
            </a:p>
            <a:p>
              <a:r>
                <a:rPr lang="en-US" sz="600" dirty="0" smtClean="0">
                  <a:solidFill>
                    <a:schemeClr val="bg1"/>
                  </a:solidFill>
                </a:rPr>
                <a:t>C  30</a:t>
              </a:r>
            </a:p>
            <a:p>
              <a:r>
                <a:rPr lang="en-US" sz="600" dirty="0" smtClean="0">
                  <a:solidFill>
                    <a:schemeClr val="bg1"/>
                  </a:solidFill>
                </a:rPr>
                <a:t>M  0</a:t>
              </a:r>
            </a:p>
            <a:p>
              <a:r>
                <a:rPr lang="en-US" sz="600" dirty="0" smtClean="0">
                  <a:solidFill>
                    <a:schemeClr val="bg1"/>
                  </a:solidFill>
                </a:rPr>
                <a:t>Y  100</a:t>
              </a:r>
            </a:p>
            <a:p>
              <a:r>
                <a:rPr lang="en-US" sz="600" dirty="0" smtClean="0">
                  <a:solidFill>
                    <a:schemeClr val="bg1"/>
                  </a:solidFill>
                </a:rPr>
                <a:t>K  0</a:t>
              </a:r>
              <a:endParaRPr 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21" name="Rectangle 20"/>
            <p:cNvSpPr>
              <a:spLocks noChangeArrowheads="1"/>
            </p:cNvSpPr>
            <p:nvPr userDrawn="1"/>
          </p:nvSpPr>
          <p:spPr bwMode="auto">
            <a:xfrm>
              <a:off x="5883912" y="6963468"/>
              <a:ext cx="359073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700" b="0" i="0" dirty="0" smtClean="0">
                  <a:solidFill>
                    <a:schemeClr val="bg1"/>
                  </a:solidFill>
                  <a:latin typeface="华文黑体"/>
                  <a:ea typeface="华文黑体"/>
                  <a:cs typeface="华文黑体"/>
                </a:rPr>
                <a:t>健康绿：</a:t>
              </a:r>
              <a:endParaRPr lang="en-US" sz="700" b="0" i="0" dirty="0">
                <a:solidFill>
                  <a:schemeClr val="bg1"/>
                </a:solidFill>
                <a:latin typeface="华文黑体"/>
                <a:ea typeface="华文黑体"/>
                <a:cs typeface="华文黑体"/>
              </a:endParaRPr>
            </a:p>
          </p:txBody>
        </p:sp>
        <p:sp>
          <p:nvSpPr>
            <p:cNvPr id="22" name="Rectangle 12"/>
            <p:cNvSpPr>
              <a:spLocks noChangeArrowheads="1"/>
            </p:cNvSpPr>
            <p:nvPr userDrawn="1"/>
          </p:nvSpPr>
          <p:spPr bwMode="auto">
            <a:xfrm>
              <a:off x="7146005" y="6946006"/>
              <a:ext cx="304800" cy="119062"/>
            </a:xfrm>
            <a:prstGeom prst="rect">
              <a:avLst/>
            </a:prstGeom>
            <a:solidFill>
              <a:schemeClr val="accent4"/>
            </a:solidFill>
            <a:ln w="9525">
              <a:solidFill>
                <a:schemeClr val="bg1"/>
              </a:solidFill>
              <a:miter lim="800000"/>
            </a:ln>
            <a:effectLst/>
          </p:spPr>
          <p:txBody>
            <a:bodyPr wrap="none" lIns="0" tIns="0" rIns="0" bIns="0"/>
            <a:lstStyle/>
            <a:p>
              <a:pPr>
                <a:lnSpc>
                  <a:spcPct val="85000"/>
                </a:lnSpc>
              </a:pPr>
              <a:endParaRPr lang="en-US" sz="600" dirty="0">
                <a:solidFill>
                  <a:schemeClr val="bg1"/>
                </a:solidFill>
              </a:endParaRPr>
            </a:p>
            <a:p>
              <a:pPr>
                <a:lnSpc>
                  <a:spcPct val="85000"/>
                </a:lnSpc>
              </a:pPr>
              <a:endParaRPr lang="en-US" sz="600" dirty="0">
                <a:solidFill>
                  <a:schemeClr val="bg1"/>
                </a:solidFill>
              </a:endParaRPr>
            </a:p>
            <a:p>
              <a:r>
                <a:rPr lang="en-US" sz="600" dirty="0" smtClean="0">
                  <a:solidFill>
                    <a:schemeClr val="bg1"/>
                  </a:solidFill>
                </a:rPr>
                <a:t>C  70</a:t>
              </a:r>
            </a:p>
            <a:p>
              <a:r>
                <a:rPr lang="en-US" sz="600" dirty="0" smtClean="0">
                  <a:solidFill>
                    <a:schemeClr val="bg1"/>
                  </a:solidFill>
                </a:rPr>
                <a:t>M  0</a:t>
              </a:r>
            </a:p>
            <a:p>
              <a:r>
                <a:rPr lang="en-US" sz="600" dirty="0" smtClean="0">
                  <a:solidFill>
                    <a:schemeClr val="bg1"/>
                  </a:solidFill>
                </a:rPr>
                <a:t>Y  0</a:t>
              </a:r>
            </a:p>
            <a:p>
              <a:r>
                <a:rPr lang="en-US" sz="600" dirty="0" smtClean="0">
                  <a:solidFill>
                    <a:schemeClr val="bg1"/>
                  </a:solidFill>
                </a:rPr>
                <a:t>K  0</a:t>
              </a:r>
              <a:endParaRPr 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23" name="Rectangle 22"/>
            <p:cNvSpPr>
              <a:spLocks noChangeArrowheads="1"/>
            </p:cNvSpPr>
            <p:nvPr userDrawn="1"/>
          </p:nvSpPr>
          <p:spPr bwMode="auto">
            <a:xfrm>
              <a:off x="6735705" y="6963468"/>
              <a:ext cx="359073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700" b="0" i="0" dirty="0" smtClean="0">
                  <a:solidFill>
                    <a:schemeClr val="bg1"/>
                  </a:solidFill>
                  <a:latin typeface="华文黑体"/>
                  <a:ea typeface="华文黑体"/>
                  <a:cs typeface="华文黑体"/>
                </a:rPr>
                <a:t>科技蓝：</a:t>
              </a:r>
              <a:endParaRPr lang="en-US" sz="700" b="0" i="0" dirty="0">
                <a:solidFill>
                  <a:schemeClr val="bg1"/>
                </a:solidFill>
                <a:latin typeface="华文黑体"/>
                <a:ea typeface="华文黑体"/>
                <a:cs typeface="华文黑体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hdr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2.xml"/><Relationship Id="rId7" Type="http://schemas.openxmlformats.org/officeDocument/2006/relationships/image" Target="../media/image5.emf"/><Relationship Id="rId2" Type="http://schemas.openxmlformats.org/officeDocument/2006/relationships/tags" Target="../tags/tag1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.bin"/><Relationship Id="rId5" Type="http://schemas.openxmlformats.org/officeDocument/2006/relationships/slideLayout" Target="../slideLayouts/slideLayout4.xml"/><Relationship Id="rId4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9016" y="0"/>
            <a:ext cx="2005689" cy="1008922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2071370" y="2148205"/>
            <a:ext cx="4888230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altLang="zh-CN" sz="4000" b="1" spc="300" dirty="0">
                <a:ln w="11430"/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Linux</a:t>
            </a:r>
            <a:r>
              <a:rPr lang="zh-CN" altLang="en-US" sz="4000" b="1" spc="300" dirty="0">
                <a:ln w="11430"/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常用命令</a:t>
            </a:r>
            <a:endParaRPr lang="zh-CN" altLang="zh-CN" sz="4000" b="1" cap="none" spc="300" dirty="0">
              <a:ln w="11430"/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200140" y="3913505"/>
            <a:ext cx="1519555" cy="51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>
                <a:latin typeface="宋体" charset="0"/>
                <a:ea typeface="宋体" charset="0"/>
              </a:rPr>
              <a:t>杨  洲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对象 9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0" y="0"/>
          <a:ext cx="158750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8" name="think-cell Slide" r:id="rId6" imgW="12700" imgH="12700" progId="TCLayout.ActiveDocument.1">
                  <p:embed/>
                </p:oleObj>
              </mc:Choice>
              <mc:Fallback>
                <p:oleObj name="think-cell Slide" r:id="rId6" imgW="12700" imgH="12700" progId="TCLayout.ActiveDocument.1">
                  <p:embed/>
                  <p:pic>
                    <p:nvPicPr>
                      <p:cNvPr id="0" name="图片 7924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0" y="0"/>
                        <a:ext cx="158750" cy="158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 hidden="1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58750" cy="15875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100000"/>
                  <a:satMod val="130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endParaRPr lang="zh-CN" altLang="en-US">
              <a:latin typeface="Arial"/>
              <a:ea typeface="黑体"/>
              <a:sym typeface="Arial"/>
            </a:endParaRPr>
          </a:p>
        </p:txBody>
      </p:sp>
      <p:sp>
        <p:nvSpPr>
          <p:cNvPr id="12" name="矩形 11"/>
          <p:cNvSpPr/>
          <p:nvPr>
            <p:custDataLst>
              <p:tags r:id="rId4"/>
            </p:custDataLst>
          </p:nvPr>
        </p:nvSpPr>
        <p:spPr bwMode="gray">
          <a:xfrm>
            <a:off x="1025525" y="981710"/>
            <a:ext cx="6931660" cy="304698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l"/>
            <a:r>
              <a:rPr lang="zh-CN" altLang="en-US" sz="3200" b="1" spc="50" dirty="0">
                <a:ln w="11430"/>
                <a:solidFill>
                  <a:schemeClr val="tx1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目录：</a:t>
            </a:r>
          </a:p>
          <a:p>
            <a:pPr algn="l"/>
            <a:endParaRPr lang="zh-CN" altLang="en-US" sz="3200" b="1" spc="50" dirty="0">
              <a:ln w="11430"/>
              <a:solidFill>
                <a:schemeClr val="tx1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zh-CN" altLang="en-US" sz="3200" b="1" spc="50" dirty="0">
                <a:ln w="11430"/>
                <a:solidFill>
                  <a:schemeClr val="tx1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一</a:t>
            </a:r>
            <a:r>
              <a:rPr lang="zh-CN" altLang="en-US" sz="3200" b="1" spc="50" dirty="0" smtClean="0">
                <a:ln w="11430"/>
                <a:solidFill>
                  <a:schemeClr val="tx1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3200" b="1" spc="50" dirty="0" smtClean="0">
                <a:ln w="11430"/>
                <a:solidFill>
                  <a:schemeClr val="tx1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Linux</a:t>
            </a:r>
            <a:r>
              <a:rPr lang="zh-CN" altLang="en-US" sz="3200" b="1" spc="50" dirty="0" smtClean="0">
                <a:ln w="11430"/>
                <a:solidFill>
                  <a:schemeClr val="tx1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简介</a:t>
            </a:r>
            <a:endParaRPr lang="zh-CN" altLang="en-US" sz="3200" b="1" spc="50" dirty="0">
              <a:ln w="11430"/>
              <a:solidFill>
                <a:schemeClr val="tx1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zh-CN" altLang="en-US" sz="3200" b="1" spc="50" dirty="0">
              <a:ln w="11430"/>
              <a:solidFill>
                <a:schemeClr val="tx1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zh-CN" altLang="en-US" sz="3200" b="1" spc="50" dirty="0">
                <a:ln w="11430"/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  <a:sym typeface="+mn-ea"/>
              </a:rPr>
              <a:t>二</a:t>
            </a:r>
            <a:r>
              <a:rPr lang="zh-CN" altLang="en-US" sz="3200" b="1" spc="50" dirty="0" smtClean="0">
                <a:ln w="11430"/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  <a:sym typeface="+mn-ea"/>
              </a:rPr>
              <a:t>、</a:t>
            </a:r>
            <a:r>
              <a:rPr lang="en-US" altLang="zh-CN" sz="3200" b="1" spc="50" dirty="0" smtClean="0">
                <a:ln w="11430"/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  <a:sym typeface="+mn-ea"/>
              </a:rPr>
              <a:t>Linux</a:t>
            </a:r>
            <a:r>
              <a:rPr lang="zh-CN" altLang="en-US" sz="3200" b="1" spc="50" dirty="0" smtClean="0">
                <a:ln w="11430"/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  <a:sym typeface="+mn-ea"/>
              </a:rPr>
              <a:t>常用命令</a:t>
            </a:r>
            <a:endParaRPr lang="zh-CN" altLang="en-US" sz="3200" b="1" spc="50" dirty="0">
              <a:ln w="11430"/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微软雅黑" pitchFamily="34" charset="-122"/>
              <a:ea typeface="微软雅黑" pitchFamily="34" charset="-122"/>
              <a:sym typeface="+mn-ea"/>
            </a:endParaRPr>
          </a:p>
          <a:p>
            <a:pPr algn="l"/>
            <a:endParaRPr lang="zh-CN" altLang="zh-CN" sz="3200" b="1" spc="50" dirty="0">
              <a:ln w="11430"/>
              <a:solidFill>
                <a:schemeClr val="tx1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微软雅黑" pitchFamily="34" charset="-122"/>
              <a:ea typeface="微软雅黑" pitchFamily="3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D6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D6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720762" y="285736"/>
            <a:ext cx="7772400" cy="1143000"/>
          </a:xfrm>
        </p:spPr>
        <p:txBody>
          <a:bodyPr/>
          <a:lstStyle/>
          <a:p>
            <a:pPr algn="l"/>
            <a:r>
              <a:rPr lang="zh-CN" altLang="en-US" dirty="0"/>
              <a:t>一</a:t>
            </a:r>
            <a:r>
              <a:rPr lang="zh-CN" altLang="en-US" dirty="0" smtClean="0"/>
              <a:t>、</a:t>
            </a:r>
            <a:r>
              <a:rPr lang="en-US" altLang="zh-CN" dirty="0" smtClean="0"/>
              <a:t>Linux</a:t>
            </a:r>
            <a:r>
              <a:rPr lang="zh-CN" altLang="en-US" dirty="0" smtClean="0"/>
              <a:t>简介</a:t>
            </a:r>
            <a:endParaRPr lang="zh-CN" alt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702945" y="1104265"/>
            <a:ext cx="8023860" cy="409342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atinLnBrk="1"/>
            <a:r>
              <a:rPr lang="en-US" altLang="zh-CN" sz="2000" dirty="0" smtClean="0">
                <a:latin typeface="宋体" charset="0"/>
                <a:ea typeface="宋体" charset="0"/>
              </a:rPr>
              <a:t>	Linux </a:t>
            </a:r>
            <a:r>
              <a:rPr lang="zh-CN" altLang="en-US" sz="2000" dirty="0">
                <a:latin typeface="宋体" charset="0"/>
                <a:ea typeface="宋体" charset="0"/>
              </a:rPr>
              <a:t>内核最初只是由芬兰人林纳斯</a:t>
            </a:r>
            <a:r>
              <a:rPr lang="en-US" altLang="zh-CN" sz="2000" dirty="0">
                <a:latin typeface="宋体" charset="0"/>
                <a:ea typeface="宋体" charset="0"/>
              </a:rPr>
              <a:t>·</a:t>
            </a:r>
            <a:r>
              <a:rPr lang="zh-CN" altLang="en-US" sz="2000" dirty="0">
                <a:latin typeface="宋体" charset="0"/>
                <a:ea typeface="宋体" charset="0"/>
              </a:rPr>
              <a:t>托瓦兹（</a:t>
            </a:r>
            <a:r>
              <a:rPr lang="en-US" altLang="zh-CN" sz="2000" dirty="0">
                <a:latin typeface="宋体" charset="0"/>
                <a:ea typeface="宋体" charset="0"/>
              </a:rPr>
              <a:t>Linus Torvalds</a:t>
            </a:r>
            <a:r>
              <a:rPr lang="zh-CN" altLang="en-US" sz="2000" dirty="0">
                <a:latin typeface="宋体" charset="0"/>
                <a:ea typeface="宋体" charset="0"/>
              </a:rPr>
              <a:t>）在赫尔辛基大学上学时出于个人爱好而编写的。</a:t>
            </a:r>
          </a:p>
          <a:p>
            <a:pPr latinLnBrk="1"/>
            <a:r>
              <a:rPr lang="en-US" altLang="zh-CN" sz="2000" dirty="0" smtClean="0">
                <a:latin typeface="宋体" charset="0"/>
                <a:ea typeface="宋体" charset="0"/>
              </a:rPr>
              <a:t>	Linux </a:t>
            </a:r>
            <a:r>
              <a:rPr lang="zh-CN" altLang="en-US" sz="2000" dirty="0">
                <a:latin typeface="宋体" charset="0"/>
                <a:ea typeface="宋体" charset="0"/>
              </a:rPr>
              <a:t>是一套免费使用和自由传播的类 </a:t>
            </a:r>
            <a:r>
              <a:rPr lang="en-US" altLang="zh-CN" sz="2000" dirty="0">
                <a:latin typeface="宋体" charset="0"/>
                <a:ea typeface="宋体" charset="0"/>
              </a:rPr>
              <a:t>Unix </a:t>
            </a:r>
            <a:r>
              <a:rPr lang="zh-CN" altLang="en-US" sz="2000" dirty="0">
                <a:latin typeface="宋体" charset="0"/>
                <a:ea typeface="宋体" charset="0"/>
              </a:rPr>
              <a:t>操作系统，是一个基于 </a:t>
            </a:r>
            <a:r>
              <a:rPr lang="en-US" altLang="zh-CN" sz="2000" dirty="0">
                <a:latin typeface="宋体" charset="0"/>
                <a:ea typeface="宋体" charset="0"/>
              </a:rPr>
              <a:t>POSIX </a:t>
            </a:r>
            <a:r>
              <a:rPr lang="zh-CN" altLang="en-US" sz="2000" dirty="0">
                <a:latin typeface="宋体" charset="0"/>
                <a:ea typeface="宋体" charset="0"/>
              </a:rPr>
              <a:t>和 </a:t>
            </a:r>
            <a:r>
              <a:rPr lang="en-US" altLang="zh-CN" sz="2000" dirty="0">
                <a:latin typeface="宋体" charset="0"/>
                <a:ea typeface="宋体" charset="0"/>
              </a:rPr>
              <a:t>UNIX </a:t>
            </a:r>
            <a:r>
              <a:rPr lang="zh-CN" altLang="en-US" sz="2000" dirty="0">
                <a:latin typeface="宋体" charset="0"/>
                <a:ea typeface="宋体" charset="0"/>
              </a:rPr>
              <a:t>的多用户、多任务、支持多线程和多 </a:t>
            </a:r>
            <a:r>
              <a:rPr lang="en-US" altLang="zh-CN" sz="2000" dirty="0">
                <a:latin typeface="宋体" charset="0"/>
                <a:ea typeface="宋体" charset="0"/>
              </a:rPr>
              <a:t>CPU </a:t>
            </a:r>
            <a:r>
              <a:rPr lang="zh-CN" altLang="en-US" sz="2000" dirty="0">
                <a:latin typeface="宋体" charset="0"/>
                <a:ea typeface="宋体" charset="0"/>
              </a:rPr>
              <a:t>的操作系统。</a:t>
            </a:r>
          </a:p>
          <a:p>
            <a:pPr latinLnBrk="1"/>
            <a:r>
              <a:rPr lang="en-US" altLang="zh-CN" sz="2000" dirty="0" smtClean="0">
                <a:latin typeface="宋体" charset="0"/>
                <a:ea typeface="宋体" charset="0"/>
              </a:rPr>
              <a:t>	Linux </a:t>
            </a:r>
            <a:r>
              <a:rPr lang="zh-CN" altLang="en-US" sz="2000" dirty="0">
                <a:latin typeface="宋体" charset="0"/>
                <a:ea typeface="宋体" charset="0"/>
              </a:rPr>
              <a:t>能运行主要的 </a:t>
            </a:r>
            <a:r>
              <a:rPr lang="en-US" altLang="zh-CN" sz="2000" dirty="0">
                <a:latin typeface="宋体" charset="0"/>
                <a:ea typeface="宋体" charset="0"/>
              </a:rPr>
              <a:t>UNIX </a:t>
            </a:r>
            <a:r>
              <a:rPr lang="zh-CN" altLang="en-US" sz="2000" dirty="0">
                <a:latin typeface="宋体" charset="0"/>
                <a:ea typeface="宋体" charset="0"/>
              </a:rPr>
              <a:t>工具软件、应用程序和网络协议。它支持 </a:t>
            </a:r>
            <a:r>
              <a:rPr lang="en-US" altLang="zh-CN" sz="2000" dirty="0">
                <a:latin typeface="宋体" charset="0"/>
                <a:ea typeface="宋体" charset="0"/>
              </a:rPr>
              <a:t>32 </a:t>
            </a:r>
            <a:r>
              <a:rPr lang="zh-CN" altLang="en-US" sz="2000" dirty="0">
                <a:latin typeface="宋体" charset="0"/>
                <a:ea typeface="宋体" charset="0"/>
              </a:rPr>
              <a:t>位和 </a:t>
            </a:r>
            <a:r>
              <a:rPr lang="en-US" altLang="zh-CN" sz="2000" dirty="0">
                <a:latin typeface="宋体" charset="0"/>
                <a:ea typeface="宋体" charset="0"/>
              </a:rPr>
              <a:t>64 </a:t>
            </a:r>
            <a:r>
              <a:rPr lang="zh-CN" altLang="en-US" sz="2000" dirty="0">
                <a:latin typeface="宋体" charset="0"/>
                <a:ea typeface="宋体" charset="0"/>
              </a:rPr>
              <a:t>位硬件。</a:t>
            </a:r>
            <a:r>
              <a:rPr lang="en-US" altLang="zh-CN" sz="2000" dirty="0">
                <a:latin typeface="宋体" charset="0"/>
                <a:ea typeface="宋体" charset="0"/>
              </a:rPr>
              <a:t>Linux </a:t>
            </a:r>
            <a:r>
              <a:rPr lang="zh-CN" altLang="en-US" sz="2000" dirty="0">
                <a:latin typeface="宋体" charset="0"/>
                <a:ea typeface="宋体" charset="0"/>
              </a:rPr>
              <a:t>继承了 </a:t>
            </a:r>
            <a:r>
              <a:rPr lang="en-US" altLang="zh-CN" sz="2000" dirty="0">
                <a:latin typeface="宋体" charset="0"/>
                <a:ea typeface="宋体" charset="0"/>
              </a:rPr>
              <a:t>Unix </a:t>
            </a:r>
            <a:r>
              <a:rPr lang="zh-CN" altLang="en-US" sz="2000" dirty="0">
                <a:latin typeface="宋体" charset="0"/>
                <a:ea typeface="宋体" charset="0"/>
              </a:rPr>
              <a:t>以网络为核心的设计思想，是一个性能稳定的多用户网络操作系统</a:t>
            </a:r>
            <a:r>
              <a:rPr lang="zh-CN" altLang="en-US" sz="2000" dirty="0" smtClean="0">
                <a:latin typeface="宋体" charset="0"/>
                <a:ea typeface="宋体" charset="0"/>
              </a:rPr>
              <a:t>。</a:t>
            </a:r>
            <a:endParaRPr lang="en-US" altLang="zh-CN" sz="2000" dirty="0" smtClean="0">
              <a:latin typeface="宋体" charset="0"/>
              <a:ea typeface="宋体" charset="0"/>
            </a:endParaRPr>
          </a:p>
          <a:p>
            <a:pPr latinLnBrk="1"/>
            <a:endParaRPr lang="en-US" altLang="zh-CN" sz="2000" dirty="0">
              <a:latin typeface="宋体" charset="0"/>
              <a:ea typeface="宋体" charset="0"/>
            </a:endParaRPr>
          </a:p>
          <a:p>
            <a:pPr latinLnBrk="1"/>
            <a:r>
              <a:rPr lang="en-US" altLang="zh-CN" sz="2000" dirty="0" smtClean="0">
                <a:latin typeface="宋体" charset="0"/>
                <a:ea typeface="宋体" charset="0"/>
              </a:rPr>
              <a:t>	</a:t>
            </a:r>
            <a:r>
              <a:rPr lang="zh-CN" altLang="en-US" sz="2000" dirty="0" smtClean="0">
                <a:latin typeface="宋体" charset="0"/>
                <a:ea typeface="宋体" charset="0"/>
              </a:rPr>
              <a:t>今天</a:t>
            </a:r>
            <a:r>
              <a:rPr lang="zh-CN" altLang="en-US" sz="2000" dirty="0">
                <a:latin typeface="宋体" charset="0"/>
                <a:ea typeface="宋体" charset="0"/>
              </a:rPr>
              <a:t>各种场合都有使用各种 </a:t>
            </a:r>
            <a:r>
              <a:rPr lang="en-US" altLang="zh-CN" sz="2000" dirty="0">
                <a:latin typeface="宋体" charset="0"/>
                <a:ea typeface="宋体" charset="0"/>
              </a:rPr>
              <a:t>Linux </a:t>
            </a:r>
            <a:r>
              <a:rPr lang="zh-CN" altLang="en-US" sz="2000" dirty="0">
                <a:latin typeface="宋体" charset="0"/>
                <a:ea typeface="宋体" charset="0"/>
              </a:rPr>
              <a:t>发行版，从嵌入式设备到超级计算机，并且在服务器领域确定了地位，通常服务器使用 </a:t>
            </a:r>
            <a:r>
              <a:rPr lang="en-US" altLang="zh-CN" sz="2000" dirty="0">
                <a:latin typeface="宋体" charset="0"/>
                <a:ea typeface="宋体" charset="0"/>
              </a:rPr>
              <a:t>LAMP</a:t>
            </a:r>
            <a:r>
              <a:rPr lang="zh-CN" altLang="en-US" sz="2000" dirty="0">
                <a:latin typeface="宋体" charset="0"/>
                <a:ea typeface="宋体" charset="0"/>
              </a:rPr>
              <a:t>（</a:t>
            </a:r>
            <a:r>
              <a:rPr lang="en-US" altLang="zh-CN" sz="2000" dirty="0">
                <a:latin typeface="宋体" charset="0"/>
                <a:ea typeface="宋体" charset="0"/>
              </a:rPr>
              <a:t>Linux + Apache + MySQL + PHP</a:t>
            </a:r>
            <a:r>
              <a:rPr lang="zh-CN" altLang="en-US" sz="2000" dirty="0">
                <a:latin typeface="宋体" charset="0"/>
                <a:ea typeface="宋体" charset="0"/>
              </a:rPr>
              <a:t>）或 </a:t>
            </a:r>
            <a:r>
              <a:rPr lang="en-US" altLang="zh-CN" sz="2000" dirty="0">
                <a:latin typeface="宋体" charset="0"/>
                <a:ea typeface="宋体" charset="0"/>
              </a:rPr>
              <a:t>LNMP</a:t>
            </a:r>
            <a:r>
              <a:rPr lang="zh-CN" altLang="en-US" sz="2000" dirty="0">
                <a:latin typeface="宋体" charset="0"/>
                <a:ea typeface="宋体" charset="0"/>
              </a:rPr>
              <a:t>（</a:t>
            </a:r>
            <a:r>
              <a:rPr lang="en-US" altLang="zh-CN" sz="2000" dirty="0">
                <a:latin typeface="宋体" charset="0"/>
                <a:ea typeface="宋体" charset="0"/>
              </a:rPr>
              <a:t>Linux + Nginx+ MySQL + PHP</a:t>
            </a:r>
            <a:r>
              <a:rPr lang="zh-CN" altLang="en-US" sz="2000" dirty="0">
                <a:latin typeface="宋体" charset="0"/>
                <a:ea typeface="宋体" charset="0"/>
              </a:rPr>
              <a:t>）组合</a:t>
            </a:r>
            <a:r>
              <a:rPr lang="zh-CN" altLang="en-US" sz="2000" dirty="0" smtClean="0">
                <a:latin typeface="宋体" charset="0"/>
                <a:ea typeface="宋体" charset="0"/>
              </a:rPr>
              <a:t>。</a:t>
            </a:r>
            <a:endParaRPr lang="zh-CN" altLang="en-US" sz="2000" dirty="0">
              <a:latin typeface="宋体" charset="0"/>
              <a:ea typeface="宋体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720762" y="285736"/>
            <a:ext cx="7772400" cy="1143000"/>
          </a:xfrm>
        </p:spPr>
        <p:txBody>
          <a:bodyPr/>
          <a:lstStyle/>
          <a:p>
            <a:pPr algn="l"/>
            <a:r>
              <a:rPr lang="zh-CN" altLang="en-US" dirty="0"/>
              <a:t>一</a:t>
            </a:r>
            <a:r>
              <a:rPr lang="zh-CN" altLang="en-US" dirty="0" smtClean="0"/>
              <a:t>、</a:t>
            </a:r>
            <a:r>
              <a:rPr lang="en-US" altLang="zh-CN" dirty="0" smtClean="0"/>
              <a:t>Linux</a:t>
            </a:r>
            <a:r>
              <a:rPr lang="zh-CN" altLang="en-US" dirty="0" smtClean="0"/>
              <a:t>简介</a:t>
            </a:r>
            <a:endParaRPr lang="zh-CN" altLang="en-US" dirty="0"/>
          </a:p>
        </p:txBody>
      </p:sp>
      <p:pic>
        <p:nvPicPr>
          <p:cNvPr id="8194" name="Picture 2" descr="https://www.runoob.com/wp-content/uploads/2014/06/1511849829609658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6986" y="1839319"/>
            <a:ext cx="6705600" cy="411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矩形 2"/>
          <p:cNvSpPr/>
          <p:nvPr/>
        </p:nvSpPr>
        <p:spPr>
          <a:xfrm>
            <a:off x="829159" y="971824"/>
            <a:ext cx="788088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Linux 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的发行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版：</a:t>
            </a:r>
            <a:endParaRPr lang="zh-CN" altLang="en-US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atinLnBrk="1"/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Linux 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的发行版说简单点就是将 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Linux 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内核与应用软件做一个打包。</a:t>
            </a:r>
          </a:p>
        </p:txBody>
      </p:sp>
    </p:spTree>
    <p:extLst>
      <p:ext uri="{BB962C8B-B14F-4D97-AF65-F5344CB8AC3E}">
        <p14:creationId xmlns:p14="http://schemas.microsoft.com/office/powerpoint/2010/main" val="1727068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720762" y="285736"/>
            <a:ext cx="7772400" cy="1143000"/>
          </a:xfrm>
        </p:spPr>
        <p:txBody>
          <a:bodyPr/>
          <a:lstStyle/>
          <a:p>
            <a:pPr algn="l"/>
            <a:r>
              <a:rPr lang="zh-CN" altLang="en-US" dirty="0"/>
              <a:t>一</a:t>
            </a:r>
            <a:r>
              <a:rPr lang="zh-CN" altLang="en-US" dirty="0" smtClean="0"/>
              <a:t>、</a:t>
            </a:r>
            <a:r>
              <a:rPr lang="en-US" altLang="zh-CN" dirty="0" smtClean="0"/>
              <a:t>Linux</a:t>
            </a:r>
            <a:r>
              <a:rPr lang="zh-CN" altLang="en-US" dirty="0" smtClean="0"/>
              <a:t>简介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720762" y="913009"/>
            <a:ext cx="7175716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Linux vs </a:t>
            </a:r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</a:p>
          <a:p>
            <a:pPr latinLnBrk="1"/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目前国内 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Linux 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更多的是应用于服务器上，而桌面操作系统更多使用的是 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。主要区别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如下：</a:t>
            </a:r>
            <a:endParaRPr lang="zh-CN" altLang="en-US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762" y="1911700"/>
            <a:ext cx="7972425" cy="418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81707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720762" y="285736"/>
            <a:ext cx="7772400" cy="1143000"/>
          </a:xfrm>
        </p:spPr>
        <p:txBody>
          <a:bodyPr/>
          <a:lstStyle/>
          <a:p>
            <a:pPr algn="l"/>
            <a:r>
              <a:rPr lang="zh-CN" altLang="en-US" dirty="0" smtClean="0"/>
              <a:t>二、</a:t>
            </a:r>
            <a:r>
              <a:rPr lang="en-US" altLang="zh-CN" dirty="0" smtClean="0"/>
              <a:t>Linux</a:t>
            </a:r>
            <a:r>
              <a:rPr lang="zh-CN" altLang="en-US" dirty="0" smtClean="0"/>
              <a:t>常用命令</a:t>
            </a:r>
            <a:endParaRPr lang="zh-CN" altLang="en-US" dirty="0"/>
          </a:p>
        </p:txBody>
      </p:sp>
      <p:sp>
        <p:nvSpPr>
          <p:cNvPr id="5" name="文本框 1"/>
          <p:cNvSpPr txBox="1"/>
          <p:nvPr/>
        </p:nvSpPr>
        <p:spPr>
          <a:xfrm>
            <a:off x="1077186" y="1144934"/>
            <a:ext cx="7098170" cy="332398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 smtClean="0">
                <a:latin typeface="宋体" charset="0"/>
                <a:ea typeface="宋体" charset="0"/>
                <a:sym typeface="+mn-ea"/>
              </a:rPr>
              <a:t>2.1</a:t>
            </a:r>
            <a:r>
              <a:rPr lang="zh-CN" altLang="en-US" sz="2800" b="1" dirty="0" smtClean="0">
                <a:latin typeface="宋体" charset="0"/>
                <a:ea typeface="宋体" charset="0"/>
                <a:sym typeface="+mn-ea"/>
              </a:rPr>
              <a:t> </a:t>
            </a:r>
            <a:r>
              <a:rPr lang="zh-CN" altLang="en-US" sz="2800" b="1" dirty="0">
                <a:latin typeface="宋体" charset="0"/>
                <a:ea typeface="宋体" charset="0"/>
                <a:sym typeface="+mn-ea"/>
              </a:rPr>
              <a:t>系统</a:t>
            </a:r>
            <a:r>
              <a:rPr lang="zh-CN" altLang="en-US" sz="2800" b="1" dirty="0" smtClean="0">
                <a:latin typeface="宋体" charset="0"/>
                <a:ea typeface="宋体" charset="0"/>
                <a:sym typeface="+mn-ea"/>
              </a:rPr>
              <a:t>管理</a:t>
            </a:r>
            <a:endParaRPr lang="en-US" altLang="zh-CN" sz="2800" b="1" dirty="0" smtClean="0">
              <a:latin typeface="宋体" charset="0"/>
              <a:ea typeface="宋体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 smtClean="0">
                <a:latin typeface="宋体" charset="0"/>
                <a:ea typeface="宋体" charset="0"/>
              </a:rPr>
              <a:t>2.2 </a:t>
            </a:r>
            <a:r>
              <a:rPr lang="zh-CN" altLang="en-US" sz="2800" b="1" dirty="0" smtClean="0">
                <a:latin typeface="宋体" charset="0"/>
                <a:ea typeface="宋体" charset="0"/>
              </a:rPr>
              <a:t>文件管理</a:t>
            </a:r>
            <a:endParaRPr lang="zh-CN" altLang="en-US" sz="2800" b="1" dirty="0">
              <a:latin typeface="宋体" charset="0"/>
              <a:ea typeface="宋体" charset="0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 smtClean="0">
                <a:latin typeface="宋体" charset="0"/>
                <a:ea typeface="宋体" charset="0"/>
                <a:sym typeface="+mn-ea"/>
              </a:rPr>
              <a:t>2.3 </a:t>
            </a:r>
            <a:r>
              <a:rPr lang="zh-CN" altLang="en-US" sz="2800" b="1" dirty="0" smtClean="0">
                <a:latin typeface="宋体" charset="0"/>
                <a:ea typeface="宋体" charset="0"/>
                <a:sym typeface="+mn-ea"/>
              </a:rPr>
              <a:t>磁盘管理</a:t>
            </a:r>
            <a:endParaRPr lang="en-US" altLang="zh-CN" sz="2800" b="1" dirty="0" smtClean="0">
              <a:latin typeface="宋体" charset="0"/>
              <a:ea typeface="宋体" charset="0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 smtClean="0">
                <a:latin typeface="宋体" charset="0"/>
                <a:ea typeface="宋体" charset="0"/>
                <a:sym typeface="+mn-ea"/>
              </a:rPr>
              <a:t>2.4 </a:t>
            </a:r>
            <a:r>
              <a:rPr lang="zh-CN" altLang="en-US" sz="2800" b="1" dirty="0" smtClean="0">
                <a:latin typeface="宋体" charset="0"/>
                <a:ea typeface="宋体" charset="0"/>
                <a:sym typeface="+mn-ea"/>
              </a:rPr>
              <a:t>网络通讯</a:t>
            </a:r>
            <a:endParaRPr lang="en-US" altLang="zh-CN" sz="2800" b="1" dirty="0" smtClean="0">
              <a:latin typeface="宋体" charset="0"/>
              <a:ea typeface="宋体" charset="0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 smtClean="0">
                <a:latin typeface="宋体" charset="0"/>
                <a:ea typeface="宋体" charset="0"/>
                <a:sym typeface="+mn-ea"/>
              </a:rPr>
              <a:t>2.5 </a:t>
            </a:r>
            <a:r>
              <a:rPr lang="zh-CN" altLang="en-US" sz="2800" b="1" dirty="0" smtClean="0">
                <a:latin typeface="宋体" charset="0"/>
                <a:ea typeface="宋体" charset="0"/>
                <a:sym typeface="+mn-ea"/>
              </a:rPr>
              <a:t>备份压缩</a:t>
            </a:r>
            <a:endParaRPr lang="en-US" altLang="zh-CN" sz="2800" b="1" dirty="0" smtClean="0">
              <a:latin typeface="宋体" charset="0"/>
              <a:ea typeface="宋体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720762" y="123881"/>
            <a:ext cx="7772400" cy="1143000"/>
          </a:xfrm>
        </p:spPr>
        <p:txBody>
          <a:bodyPr/>
          <a:lstStyle/>
          <a:p>
            <a:pPr algn="l"/>
            <a:r>
              <a:rPr lang="zh-CN" altLang="en-US" dirty="0" smtClean="0"/>
              <a:t>二、</a:t>
            </a:r>
            <a:r>
              <a:rPr lang="en-US" altLang="zh-CN" dirty="0" smtClean="0"/>
              <a:t>Linux</a:t>
            </a:r>
            <a:r>
              <a:rPr lang="zh-CN" altLang="en-US" dirty="0" smtClean="0"/>
              <a:t>常用命令</a:t>
            </a:r>
            <a:endParaRPr lang="zh-CN" altLang="en-US" dirty="0"/>
          </a:p>
        </p:txBody>
      </p:sp>
      <p:sp>
        <p:nvSpPr>
          <p:cNvPr id="5" name="文本框 1"/>
          <p:cNvSpPr txBox="1"/>
          <p:nvPr/>
        </p:nvSpPr>
        <p:spPr>
          <a:xfrm>
            <a:off x="806002" y="719540"/>
            <a:ext cx="7098170" cy="523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800" b="1" dirty="0">
                <a:latin typeface="宋体" charset="0"/>
                <a:ea typeface="宋体" charset="0"/>
              </a:rPr>
              <a:t>2.1 </a:t>
            </a:r>
            <a:r>
              <a:rPr lang="zh-CN" altLang="en-US" sz="2800" b="1" dirty="0" smtClean="0">
                <a:latin typeface="宋体" charset="0"/>
                <a:ea typeface="宋体" charset="0"/>
              </a:rPr>
              <a:t>系统管理</a:t>
            </a:r>
            <a:endParaRPr lang="zh-CN" altLang="en-US" sz="2800" b="1" dirty="0">
              <a:latin typeface="宋体" charset="0"/>
              <a:ea typeface="宋体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806001" y="1266881"/>
            <a:ext cx="8396850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b="1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useradd</a:t>
            </a:r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用于建立用户帐号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保存在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etc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passwd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文本文件中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  <a:p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语法：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useradd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[-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mMnr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][-c &lt;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备注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&gt;][-d &lt;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登入目录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&gt;][-e &lt;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有效期限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&gt;]</a:t>
            </a:r>
          </a:p>
          <a:p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[-f &lt;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缓冲天数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&gt;][-g &lt;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群组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&gt;][-G &lt;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群组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&gt;][-s &lt;shell&gt;][-u &lt;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uid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&gt;][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用户帐号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]</a:t>
            </a:r>
          </a:p>
          <a:p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范例：</a:t>
            </a:r>
            <a:r>
              <a:rPr lang="pl-PL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useradd –d /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home</a:t>
            </a:r>
            <a:r>
              <a:rPr lang="pl-PL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apps</a:t>
            </a:r>
            <a:r>
              <a:rPr lang="pl-PL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-m 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apps</a:t>
            </a:r>
          </a:p>
          <a:p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说明：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创建了一个用户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apps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，其中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-d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-m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选项用来为登录名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apps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产生一个主目录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/home/apps</a:t>
            </a:r>
          </a:p>
          <a:p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usr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为默认的用户主目录所在的父目录）</a:t>
            </a:r>
          </a:p>
        </p:txBody>
      </p:sp>
      <p:sp>
        <p:nvSpPr>
          <p:cNvPr id="7" name="矩形 6"/>
          <p:cNvSpPr/>
          <p:nvPr/>
        </p:nvSpPr>
        <p:spPr>
          <a:xfrm>
            <a:off x="806001" y="2858457"/>
            <a:ext cx="3062057" cy="8617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b="1" dirty="0" err="1">
                <a:latin typeface="宋体" panose="02010600030101010101" pitchFamily="2" charset="-122"/>
                <a:ea typeface="宋体" panose="02010600030101010101" pitchFamily="2" charset="-122"/>
              </a:rPr>
              <a:t>userdel</a:t>
            </a:r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用于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删除用户帐号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  <a:p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语法：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userdel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[-r][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用户帐号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]</a:t>
            </a:r>
          </a:p>
          <a:p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范例：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userdel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apps</a:t>
            </a:r>
            <a:endParaRPr lang="zh-CN" altLang="en-US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806001" y="3841031"/>
            <a:ext cx="7986482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b="1" dirty="0" err="1">
                <a:latin typeface="宋体" panose="02010600030101010101" pitchFamily="2" charset="-122"/>
                <a:ea typeface="宋体" panose="02010600030101010101" pitchFamily="2" charset="-122"/>
              </a:rPr>
              <a:t>usermod</a:t>
            </a:r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用于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修改用户帐号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  <a:p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语法：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usermod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[-LU][-c &lt;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备注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&gt;][-d &lt;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登入目录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&gt;][-e &lt;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有效期限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&gt;][-f &lt;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缓冲天数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&gt;]</a:t>
            </a:r>
          </a:p>
          <a:p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[-g &lt;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群组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&gt;][-G &lt;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群组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&gt;][-l &lt;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帐号名称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&gt;][-s &lt;shell&gt;][-u &lt;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uid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&gt;][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用户帐号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]</a:t>
            </a:r>
          </a:p>
          <a:p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范例：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usermod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-s /bin/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ksh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-d /home/z –g developer apps</a:t>
            </a:r>
          </a:p>
          <a:p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说明：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将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用户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apps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登录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Shell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修改为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ksh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，主目录改为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/home/z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，用户组改为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developer</a:t>
            </a:r>
            <a:endParaRPr lang="zh-CN" altLang="en-US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806002" y="5235794"/>
            <a:ext cx="5626861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 err="1"/>
              <a:t>passwd</a:t>
            </a:r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用来更改使用者的密码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  <a:p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语法：</a:t>
            </a:r>
            <a:r>
              <a:rPr lang="nl-NL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passwd [-k] [-l] [-u [-f]] [-d] [-S] [username]</a:t>
            </a:r>
          </a:p>
          <a:p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范例：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passwd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apps</a:t>
            </a:r>
            <a:endParaRPr lang="zh-CN" altLang="en-US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448833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720762" y="123881"/>
            <a:ext cx="7772400" cy="1143000"/>
          </a:xfrm>
        </p:spPr>
        <p:txBody>
          <a:bodyPr/>
          <a:lstStyle/>
          <a:p>
            <a:pPr algn="l"/>
            <a:r>
              <a:rPr lang="zh-CN" altLang="en-US" dirty="0" smtClean="0"/>
              <a:t>二、</a:t>
            </a:r>
            <a:r>
              <a:rPr lang="en-US" altLang="zh-CN" dirty="0" smtClean="0"/>
              <a:t>Linux</a:t>
            </a:r>
            <a:r>
              <a:rPr lang="zh-CN" altLang="en-US" dirty="0" smtClean="0"/>
              <a:t>常用命令</a:t>
            </a:r>
            <a:endParaRPr lang="zh-CN" altLang="en-US" dirty="0"/>
          </a:p>
        </p:txBody>
      </p:sp>
      <p:sp>
        <p:nvSpPr>
          <p:cNvPr id="5" name="文本框 1"/>
          <p:cNvSpPr txBox="1"/>
          <p:nvPr/>
        </p:nvSpPr>
        <p:spPr>
          <a:xfrm>
            <a:off x="806002" y="719540"/>
            <a:ext cx="7098170" cy="523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800" b="1" dirty="0">
                <a:latin typeface="宋体" charset="0"/>
                <a:ea typeface="宋体" charset="0"/>
              </a:rPr>
              <a:t>2.1 </a:t>
            </a:r>
            <a:r>
              <a:rPr lang="zh-CN" altLang="en-US" sz="2800" b="1" dirty="0" smtClean="0">
                <a:latin typeface="宋体" charset="0"/>
                <a:ea typeface="宋体" charset="0"/>
              </a:rPr>
              <a:t>系统管理</a:t>
            </a:r>
            <a:endParaRPr lang="zh-CN" altLang="en-US" sz="2800" b="1" dirty="0">
              <a:latin typeface="宋体" charset="0"/>
              <a:ea typeface="宋体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806002" y="1426179"/>
            <a:ext cx="6647974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 err="1"/>
              <a:t>groupadd</a:t>
            </a:r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用于建立用户组，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可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对用户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组中的所有用户进行集中管理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  <a:p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语法：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groupadd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选项 用户组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范例：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groupadd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-g 101 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test </a:t>
            </a:r>
          </a:p>
          <a:p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说明：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向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系统中增加了一个新组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group2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，同时指定新组的组标识号是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101</a:t>
            </a:r>
          </a:p>
        </p:txBody>
      </p:sp>
      <p:sp>
        <p:nvSpPr>
          <p:cNvPr id="7" name="矩形 6"/>
          <p:cNvSpPr/>
          <p:nvPr/>
        </p:nvSpPr>
        <p:spPr>
          <a:xfrm>
            <a:off x="806001" y="2621808"/>
            <a:ext cx="2727029" cy="8617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 err="1"/>
              <a:t>groupdel</a:t>
            </a:r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用于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删除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用户组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语法：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groupdel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用户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组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范例：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groupdel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test</a:t>
            </a:r>
            <a:endParaRPr lang="zh-CN" altLang="en-US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806002" y="3673049"/>
            <a:ext cx="5113900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 err="1"/>
              <a:t>groupmod</a:t>
            </a:r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用于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修改用户帐号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  <a:p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语法：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groupmod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选项 用户组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范例：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groupmod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–g 10000 -n 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test1 test</a:t>
            </a:r>
          </a:p>
          <a:p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说明</a:t>
            </a:r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将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组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test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标识号改为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10000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，组名修改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为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test1</a:t>
            </a:r>
            <a:endParaRPr lang="zh-CN" altLang="en-US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09068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720762" y="123881"/>
            <a:ext cx="7772400" cy="1143000"/>
          </a:xfrm>
        </p:spPr>
        <p:txBody>
          <a:bodyPr/>
          <a:lstStyle/>
          <a:p>
            <a:pPr algn="l"/>
            <a:r>
              <a:rPr lang="zh-CN" altLang="en-US" dirty="0" smtClean="0"/>
              <a:t>二、</a:t>
            </a:r>
            <a:r>
              <a:rPr lang="en-US" altLang="zh-CN" dirty="0" smtClean="0"/>
              <a:t>Linux</a:t>
            </a:r>
            <a:r>
              <a:rPr lang="zh-CN" altLang="en-US" dirty="0" smtClean="0"/>
              <a:t>常用命令</a:t>
            </a:r>
            <a:endParaRPr lang="zh-CN" altLang="en-US" dirty="0"/>
          </a:p>
        </p:txBody>
      </p:sp>
      <p:sp>
        <p:nvSpPr>
          <p:cNvPr id="5" name="文本框 1"/>
          <p:cNvSpPr txBox="1"/>
          <p:nvPr/>
        </p:nvSpPr>
        <p:spPr>
          <a:xfrm>
            <a:off x="806002" y="719540"/>
            <a:ext cx="7098170" cy="523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800" b="1" dirty="0">
                <a:latin typeface="宋体" charset="0"/>
                <a:ea typeface="宋体" charset="0"/>
              </a:rPr>
              <a:t>2.1 </a:t>
            </a:r>
            <a:r>
              <a:rPr lang="zh-CN" altLang="en-US" sz="2800" b="1" dirty="0" smtClean="0">
                <a:latin typeface="宋体" charset="0"/>
                <a:ea typeface="宋体" charset="0"/>
              </a:rPr>
              <a:t>系统管理</a:t>
            </a:r>
            <a:endParaRPr lang="zh-CN" altLang="en-US" sz="2800" b="1" dirty="0">
              <a:latin typeface="宋体" charset="0"/>
              <a:ea typeface="宋体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806002" y="1282714"/>
            <a:ext cx="3663182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 err="1"/>
              <a:t>sudo</a:t>
            </a:r>
            <a:r>
              <a:rPr lang="en-US" altLang="zh-CN" sz="1600" dirty="0"/>
              <a:t> </a:t>
            </a:r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以系统管理者的身份执行指令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  <a:p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语法：</a:t>
            </a:r>
            <a:r>
              <a:rPr lang="en-US" altLang="zh-CN" sz="1600" dirty="0"/>
              <a:t>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sudo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command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等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范例：</a:t>
            </a:r>
            <a:r>
              <a:rPr lang="en-US" altLang="zh-CN" sz="1600" dirty="0"/>
              <a:t>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sudo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-u 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apps 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ls –l</a:t>
            </a:r>
          </a:p>
          <a:p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说明：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指定用户执行命令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806002" y="2516312"/>
            <a:ext cx="8146782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 err="1" smtClean="0"/>
              <a:t>su</a:t>
            </a:r>
            <a:r>
              <a:rPr lang="en-US" altLang="zh-CN" sz="1600" dirty="0" smtClean="0"/>
              <a:t> </a:t>
            </a:r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用于变更为其他使用者的身份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  <a:p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语法：</a:t>
            </a:r>
            <a:r>
              <a:rPr lang="en-US" altLang="zh-CN" sz="1600" dirty="0"/>
              <a:t>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su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[-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fmp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] [-c command] [-s shell] [--help] [--version] [-] [USER [ARG]]</a:t>
            </a:r>
          </a:p>
          <a:p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范例：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sudo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su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-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说明</a:t>
            </a:r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变更使用者为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root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执行指令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806002" y="4967343"/>
            <a:ext cx="6755375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 smtClean="0"/>
              <a:t>kill</a:t>
            </a:r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用于删除执行中的程序或工作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语法：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kill [-s &lt;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信息名称或编号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&gt;][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程序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]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　或　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kill [-l &lt;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信息编号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&gt;]</a:t>
            </a:r>
          </a:p>
          <a:p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范例：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kill -9 123456</a:t>
            </a:r>
          </a:p>
          <a:p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说明：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彻底杀死进程</a:t>
            </a:r>
            <a:endParaRPr lang="zh-CN" altLang="en-US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806002" y="3714725"/>
            <a:ext cx="4095993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 err="1"/>
              <a:t>ps</a:t>
            </a:r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用于显示当前进程 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(process) 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的状态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  <a:p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语法：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ps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[options] [--help]</a:t>
            </a:r>
          </a:p>
          <a:p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范例：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ps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–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aux|grep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test-app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说明</a:t>
            </a:r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显示所有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包含使用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者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的信息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24191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720762" y="123881"/>
            <a:ext cx="7772400" cy="1143000"/>
          </a:xfrm>
        </p:spPr>
        <p:txBody>
          <a:bodyPr/>
          <a:lstStyle/>
          <a:p>
            <a:pPr algn="l"/>
            <a:r>
              <a:rPr lang="zh-CN" altLang="en-US" dirty="0" smtClean="0"/>
              <a:t>二、</a:t>
            </a:r>
            <a:r>
              <a:rPr lang="en-US" altLang="zh-CN" dirty="0" smtClean="0"/>
              <a:t>Linux</a:t>
            </a:r>
            <a:r>
              <a:rPr lang="zh-CN" altLang="en-US" dirty="0" smtClean="0"/>
              <a:t>常用命令</a:t>
            </a:r>
            <a:endParaRPr lang="zh-CN" altLang="en-US" dirty="0"/>
          </a:p>
        </p:txBody>
      </p:sp>
      <p:sp>
        <p:nvSpPr>
          <p:cNvPr id="5" name="文本框 1"/>
          <p:cNvSpPr txBox="1"/>
          <p:nvPr/>
        </p:nvSpPr>
        <p:spPr>
          <a:xfrm>
            <a:off x="806002" y="719540"/>
            <a:ext cx="7098170" cy="523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800" b="1" dirty="0">
                <a:latin typeface="宋体" charset="0"/>
                <a:ea typeface="宋体" charset="0"/>
              </a:rPr>
              <a:t>2.1 </a:t>
            </a:r>
            <a:r>
              <a:rPr lang="zh-CN" altLang="en-US" sz="2800" b="1" dirty="0" smtClean="0">
                <a:latin typeface="宋体" charset="0"/>
                <a:ea typeface="宋体" charset="0"/>
              </a:rPr>
              <a:t>系统管理</a:t>
            </a:r>
            <a:endParaRPr lang="zh-CN" altLang="en-US" sz="2800" b="1" dirty="0">
              <a:latin typeface="宋体" charset="0"/>
              <a:ea typeface="宋体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720762" y="2257934"/>
            <a:ext cx="8499443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 smtClean="0"/>
              <a:t>date</a:t>
            </a:r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用于显示或设定系统的日期与时间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  <a:p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语法：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date [-u] [-d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datestr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] [-s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datestr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] [--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utc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] [--universal] [--date=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datestr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] </a:t>
            </a:r>
          </a:p>
          <a:p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[--set=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datestr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] [--help] [--version] [+FORMAT] [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MMDDhhmm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[[CC]YY][.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ss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]]</a:t>
            </a:r>
          </a:p>
          <a:p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范例：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date</a:t>
            </a:r>
            <a:endParaRPr lang="zh-CN" altLang="en-US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20762" y="1274800"/>
            <a:ext cx="5421677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top</a:t>
            </a:r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用于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实时显示 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process 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的动态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  <a:p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语法：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top [-] [d delay] [q] [c] [S] [s] [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] [n] [b]</a:t>
            </a:r>
          </a:p>
          <a:p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范例：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top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720761" y="3503398"/>
            <a:ext cx="4357283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/>
              <a:t>who</a:t>
            </a:r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用于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显示系统中有哪些使用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者正在上面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语法：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who - [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husfV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] [user]</a:t>
            </a:r>
          </a:p>
          <a:p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范例：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who 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–H</a:t>
            </a:r>
          </a:p>
          <a:p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说明：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-H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显示各栏位的标题信息列</a:t>
            </a:r>
          </a:p>
        </p:txBody>
      </p:sp>
      <p:sp>
        <p:nvSpPr>
          <p:cNvPr id="12" name="矩形 11"/>
          <p:cNvSpPr/>
          <p:nvPr/>
        </p:nvSpPr>
        <p:spPr>
          <a:xfrm>
            <a:off x="720761" y="4782166"/>
            <a:ext cx="3275256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/>
              <a:t>last</a:t>
            </a:r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用于显示用户最近登录信息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语法：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last [options]</a:t>
            </a:r>
          </a:p>
          <a:p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范例：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last -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5</a:t>
            </a:r>
          </a:p>
          <a:p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说明</a:t>
            </a:r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num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展示前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num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个</a:t>
            </a:r>
            <a:endParaRPr lang="zh-CN" altLang="en-US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87433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720762" y="123881"/>
            <a:ext cx="7772400" cy="1143000"/>
          </a:xfrm>
        </p:spPr>
        <p:txBody>
          <a:bodyPr/>
          <a:lstStyle/>
          <a:p>
            <a:pPr algn="l"/>
            <a:r>
              <a:rPr lang="zh-CN" altLang="en-US" dirty="0" smtClean="0"/>
              <a:t>二、</a:t>
            </a:r>
            <a:r>
              <a:rPr lang="en-US" altLang="zh-CN" dirty="0" smtClean="0"/>
              <a:t>Linux</a:t>
            </a:r>
            <a:r>
              <a:rPr lang="zh-CN" altLang="en-US" dirty="0" smtClean="0"/>
              <a:t>常用命令</a:t>
            </a:r>
            <a:endParaRPr lang="zh-CN" altLang="en-US" dirty="0"/>
          </a:p>
        </p:txBody>
      </p:sp>
      <p:sp>
        <p:nvSpPr>
          <p:cNvPr id="5" name="文本框 1"/>
          <p:cNvSpPr txBox="1"/>
          <p:nvPr/>
        </p:nvSpPr>
        <p:spPr>
          <a:xfrm>
            <a:off x="806002" y="719540"/>
            <a:ext cx="7098170" cy="523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800" b="1" dirty="0">
                <a:latin typeface="宋体" charset="0"/>
                <a:ea typeface="宋体" charset="0"/>
              </a:rPr>
              <a:t>2.1 </a:t>
            </a:r>
            <a:r>
              <a:rPr lang="zh-CN" altLang="en-US" sz="2800" b="1" dirty="0" smtClean="0">
                <a:latin typeface="宋体" charset="0"/>
                <a:ea typeface="宋体" charset="0"/>
              </a:rPr>
              <a:t>系统管理</a:t>
            </a:r>
            <a:endParaRPr lang="zh-CN" altLang="en-US" sz="2800" b="1" dirty="0">
              <a:latin typeface="宋体" charset="0"/>
              <a:ea typeface="宋体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806002" y="1426179"/>
            <a:ext cx="2169184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 smtClean="0"/>
              <a:t>clear</a:t>
            </a:r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用于清除屏幕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  <a:p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语法：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clear</a:t>
            </a:r>
          </a:p>
          <a:p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范例：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clear 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806002" y="2399989"/>
            <a:ext cx="3882794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/>
              <a:t>alias</a:t>
            </a:r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用于设置指令的别名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  <a:p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语法：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alias[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别名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]=[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指令名称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]</a:t>
            </a:r>
          </a:p>
          <a:p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范例：</a:t>
            </a:r>
            <a:r>
              <a:rPr lang="es-E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alias la="ls -al --color=auto"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06002" y="3453873"/>
            <a:ext cx="2762295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 smtClean="0"/>
              <a:t>exit</a:t>
            </a:r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用于退出目前的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shell.</a:t>
            </a:r>
          </a:p>
          <a:p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语法：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exit [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状态值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]</a:t>
            </a:r>
          </a:p>
          <a:p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范例：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exit 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806002" y="4512924"/>
            <a:ext cx="3435556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 err="1"/>
              <a:t>crontab</a:t>
            </a:r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用来定期执行程序的命令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  <a:p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语法：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crontab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[ -u user ] file</a:t>
            </a:r>
          </a:p>
          <a:p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范例：略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70456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720762" y="123881"/>
            <a:ext cx="7772400" cy="1143000"/>
          </a:xfrm>
        </p:spPr>
        <p:txBody>
          <a:bodyPr/>
          <a:lstStyle/>
          <a:p>
            <a:pPr algn="l"/>
            <a:r>
              <a:rPr lang="zh-CN" altLang="en-US" dirty="0" smtClean="0"/>
              <a:t>二、</a:t>
            </a:r>
            <a:r>
              <a:rPr lang="en-US" altLang="zh-CN" dirty="0" smtClean="0"/>
              <a:t>Linux</a:t>
            </a:r>
            <a:r>
              <a:rPr lang="zh-CN" altLang="en-US" dirty="0" smtClean="0"/>
              <a:t>常用命令</a:t>
            </a:r>
            <a:endParaRPr lang="zh-CN" altLang="en-US" dirty="0"/>
          </a:p>
        </p:txBody>
      </p:sp>
      <p:sp>
        <p:nvSpPr>
          <p:cNvPr id="5" name="文本框 1"/>
          <p:cNvSpPr txBox="1"/>
          <p:nvPr/>
        </p:nvSpPr>
        <p:spPr>
          <a:xfrm>
            <a:off x="806002" y="719540"/>
            <a:ext cx="7098170" cy="523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800" b="1" dirty="0" smtClean="0">
                <a:latin typeface="宋体" charset="0"/>
                <a:ea typeface="宋体" charset="0"/>
              </a:rPr>
              <a:t>2.2 </a:t>
            </a:r>
            <a:r>
              <a:rPr lang="zh-CN" altLang="en-US" sz="2800" b="1" dirty="0">
                <a:latin typeface="宋体" charset="0"/>
                <a:ea typeface="宋体" charset="0"/>
              </a:rPr>
              <a:t>文件</a:t>
            </a:r>
            <a:r>
              <a:rPr lang="zh-CN" altLang="en-US" sz="2800" b="1" dirty="0" smtClean="0">
                <a:latin typeface="宋体" charset="0"/>
                <a:ea typeface="宋体" charset="0"/>
              </a:rPr>
              <a:t>管理</a:t>
            </a:r>
            <a:endParaRPr lang="zh-CN" altLang="en-US" sz="2800" b="1" dirty="0">
              <a:latin typeface="宋体" charset="0"/>
              <a:ea typeface="宋体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806002" y="1298213"/>
            <a:ext cx="7883890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 err="1"/>
              <a:t>chmod</a:t>
            </a:r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可以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藉以控制文件如何被他人所调用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  <a:p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语法：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chmod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[-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cfvR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] [--help] [--version] mode file</a:t>
            </a:r>
          </a:p>
          <a:p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范例：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chmod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–R 775 test</a:t>
            </a:r>
          </a:p>
          <a:p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说明：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-R 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对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目前目录下的所有文件与子目录进行相同的权限变更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以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递回的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方式变更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</a:p>
          <a:p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806002" y="2399989"/>
            <a:ext cx="8294258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 err="1"/>
              <a:t>chown</a:t>
            </a:r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将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指定文件的拥有者改为指定的用户或组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  <a:p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语法：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chown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[-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cfhvR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] [--help] [--version] user[:group] file</a:t>
            </a:r>
          </a:p>
          <a:p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范例：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chown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-R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runoob:runoobgroup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*</a:t>
            </a:r>
          </a:p>
          <a:p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说明：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将目录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下的所有文件与子目录的拥有者皆设为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runoob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，群体的使用者 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runoobgroup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06002" y="3570110"/>
            <a:ext cx="7986482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/>
              <a:t>ln</a:t>
            </a:r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为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某一个文件在另外一个位置建立一个同步的链接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  <a:p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语法：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ln [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参数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][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源文件或目录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][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目标文件或目录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]</a:t>
            </a:r>
          </a:p>
          <a:p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范例：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ln -s log2013.log link2013 </a:t>
            </a:r>
          </a:p>
          <a:p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说明：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给文件创建软链接，为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log2013.log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文件创建软链接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link2013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，如果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log2013.log</a:t>
            </a:r>
          </a:p>
          <a:p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丢失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link2013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将失效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806002" y="5039866"/>
            <a:ext cx="7473521" cy="8617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/>
              <a:t>file</a:t>
            </a:r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用于辨识文件类型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  <a:p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语法：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file [-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bcLvz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][-f &lt;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名称文件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&gt;][-m &lt;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魔法数字文件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&gt;...][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文件或目录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...]</a:t>
            </a:r>
          </a:p>
          <a:p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范例：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file install.log</a:t>
            </a:r>
          </a:p>
        </p:txBody>
      </p:sp>
    </p:spTree>
    <p:extLst>
      <p:ext uri="{BB962C8B-B14F-4D97-AF65-F5344CB8AC3E}">
        <p14:creationId xmlns:p14="http://schemas.microsoft.com/office/powerpoint/2010/main" val="390578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720762" y="123881"/>
            <a:ext cx="7772400" cy="1143000"/>
          </a:xfrm>
        </p:spPr>
        <p:txBody>
          <a:bodyPr/>
          <a:lstStyle/>
          <a:p>
            <a:pPr algn="l"/>
            <a:r>
              <a:rPr lang="zh-CN" altLang="en-US" dirty="0" smtClean="0"/>
              <a:t>二、</a:t>
            </a:r>
            <a:r>
              <a:rPr lang="en-US" altLang="zh-CN" dirty="0" smtClean="0"/>
              <a:t>Linux</a:t>
            </a:r>
            <a:r>
              <a:rPr lang="zh-CN" altLang="en-US" dirty="0" smtClean="0"/>
              <a:t>常用命令</a:t>
            </a:r>
            <a:endParaRPr lang="zh-CN" altLang="en-US" dirty="0"/>
          </a:p>
        </p:txBody>
      </p:sp>
      <p:sp>
        <p:nvSpPr>
          <p:cNvPr id="5" name="文本框 1"/>
          <p:cNvSpPr txBox="1"/>
          <p:nvPr/>
        </p:nvSpPr>
        <p:spPr>
          <a:xfrm>
            <a:off x="806002" y="719540"/>
            <a:ext cx="7098170" cy="523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800" b="1" dirty="0" smtClean="0">
                <a:latin typeface="宋体" charset="0"/>
                <a:ea typeface="宋体" charset="0"/>
              </a:rPr>
              <a:t>2.2 </a:t>
            </a:r>
            <a:r>
              <a:rPr lang="zh-CN" altLang="en-US" sz="2800" b="1" dirty="0">
                <a:latin typeface="宋体" charset="0"/>
                <a:ea typeface="宋体" charset="0"/>
              </a:rPr>
              <a:t>文件</a:t>
            </a:r>
            <a:r>
              <a:rPr lang="zh-CN" altLang="en-US" sz="2800" b="1" dirty="0" smtClean="0">
                <a:latin typeface="宋体" charset="0"/>
                <a:ea typeface="宋体" charset="0"/>
              </a:rPr>
              <a:t>管理</a:t>
            </a:r>
            <a:endParaRPr lang="zh-CN" altLang="en-US" sz="2800" b="1" dirty="0">
              <a:latin typeface="宋体" charset="0"/>
              <a:ea typeface="宋体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806002" y="1298213"/>
            <a:ext cx="7731604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/>
              <a:t>tail</a:t>
            </a:r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用于查看文件的内容，有一个常用的参数 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-f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 常用于查阅正在改变的日志文件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  <a:p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语法：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tail [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参数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]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[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文件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]</a:t>
            </a:r>
          </a:p>
          <a:p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范例：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tail -1000f test.log</a:t>
            </a:r>
          </a:p>
          <a:p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说明：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显示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test.log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文件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最后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1000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行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806002" y="2399989"/>
            <a:ext cx="5626861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/>
              <a:t>cat</a:t>
            </a:r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用于连接文件并打印到标准输出设备上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  <a:p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语法：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cat [-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AbeEnstTuv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] [--help] [--version]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fileName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范例：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cat test.log</a:t>
            </a:r>
          </a:p>
        </p:txBody>
      </p:sp>
      <p:sp>
        <p:nvSpPr>
          <p:cNvPr id="10" name="矩形 9"/>
          <p:cNvSpPr/>
          <p:nvPr/>
        </p:nvSpPr>
        <p:spPr>
          <a:xfrm>
            <a:off x="806002" y="3314388"/>
            <a:ext cx="7879080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 smtClean="0"/>
              <a:t>more</a:t>
            </a:r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类似 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cat 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，不过会以一页一页的形式显示，更方便使用者逐页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阅读，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最基本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的指令就是按空白键（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space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）就往下一页显示，按 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b 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键就会往回（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back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）一页显示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  <a:p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语法</a:t>
            </a:r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pt-BR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more [-dlfpcsu] [-num] [+/pattern] [+linenum] [fileNames..]</a:t>
            </a:r>
          </a:p>
          <a:p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范例：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more test.log</a:t>
            </a:r>
          </a:p>
        </p:txBody>
      </p:sp>
      <p:sp>
        <p:nvSpPr>
          <p:cNvPr id="11" name="矩形 10"/>
          <p:cNvSpPr/>
          <p:nvPr/>
        </p:nvSpPr>
        <p:spPr>
          <a:xfrm>
            <a:off x="806002" y="4607212"/>
            <a:ext cx="7526419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 smtClean="0"/>
              <a:t>less</a:t>
            </a:r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与 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more 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类似，但使用 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less 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可以随意浏览文件，而 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more 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仅能向前移动，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却不能向后移动，而且 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less 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在查看之前不会加载整个文件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  <a:p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语法：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less [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参数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]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 文件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范例：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less test.log</a:t>
            </a:r>
          </a:p>
        </p:txBody>
      </p:sp>
    </p:spTree>
    <p:extLst>
      <p:ext uri="{BB962C8B-B14F-4D97-AF65-F5344CB8AC3E}">
        <p14:creationId xmlns:p14="http://schemas.microsoft.com/office/powerpoint/2010/main" val="2681841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720762" y="123881"/>
            <a:ext cx="7772400" cy="1143000"/>
          </a:xfrm>
        </p:spPr>
        <p:txBody>
          <a:bodyPr/>
          <a:lstStyle/>
          <a:p>
            <a:pPr algn="l"/>
            <a:r>
              <a:rPr lang="zh-CN" altLang="en-US" dirty="0" smtClean="0"/>
              <a:t>二、</a:t>
            </a:r>
            <a:r>
              <a:rPr lang="en-US" altLang="zh-CN" dirty="0" smtClean="0"/>
              <a:t>Linux</a:t>
            </a:r>
            <a:r>
              <a:rPr lang="zh-CN" altLang="en-US" dirty="0" smtClean="0"/>
              <a:t>常用命令</a:t>
            </a:r>
            <a:endParaRPr lang="zh-CN" altLang="en-US" dirty="0"/>
          </a:p>
        </p:txBody>
      </p:sp>
      <p:sp>
        <p:nvSpPr>
          <p:cNvPr id="5" name="文本框 1"/>
          <p:cNvSpPr txBox="1"/>
          <p:nvPr/>
        </p:nvSpPr>
        <p:spPr>
          <a:xfrm>
            <a:off x="806002" y="719540"/>
            <a:ext cx="7098170" cy="523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800" b="1" dirty="0" smtClean="0">
                <a:latin typeface="宋体" charset="0"/>
                <a:ea typeface="宋体" charset="0"/>
              </a:rPr>
              <a:t>2.2 </a:t>
            </a:r>
            <a:r>
              <a:rPr lang="zh-CN" altLang="en-US" sz="2800" b="1" dirty="0">
                <a:latin typeface="宋体" charset="0"/>
                <a:ea typeface="宋体" charset="0"/>
              </a:rPr>
              <a:t>文件</a:t>
            </a:r>
            <a:r>
              <a:rPr lang="zh-CN" altLang="en-US" sz="2800" b="1" dirty="0" smtClean="0">
                <a:latin typeface="宋体" charset="0"/>
                <a:ea typeface="宋体" charset="0"/>
              </a:rPr>
              <a:t>管理</a:t>
            </a:r>
            <a:endParaRPr lang="zh-CN" altLang="en-US" sz="2800" b="1" dirty="0">
              <a:latin typeface="宋体" charset="0"/>
              <a:ea typeface="宋体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806002" y="1298213"/>
            <a:ext cx="764183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/>
              <a:t>v</a:t>
            </a:r>
            <a:r>
              <a:rPr lang="en-US" altLang="zh-CN" sz="1600" dirty="0" smtClean="0"/>
              <a:t>i/vim</a:t>
            </a:r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1600" dirty="0"/>
              <a:t>所有的 </a:t>
            </a:r>
            <a:r>
              <a:rPr lang="en-US" altLang="zh-CN" sz="1600" dirty="0"/>
              <a:t>Unix Like </a:t>
            </a:r>
            <a:r>
              <a:rPr lang="zh-CN" altLang="en-US" sz="1600" dirty="0"/>
              <a:t>系统都会内建 </a:t>
            </a:r>
            <a:r>
              <a:rPr lang="en-US" altLang="zh-CN" sz="1600" dirty="0"/>
              <a:t>vi </a:t>
            </a:r>
            <a:r>
              <a:rPr lang="zh-CN" altLang="en-US" sz="1600" dirty="0"/>
              <a:t>文书</a:t>
            </a:r>
            <a:r>
              <a:rPr lang="zh-CN" altLang="en-US" sz="1600" dirty="0" smtClean="0"/>
              <a:t>编辑器，</a:t>
            </a:r>
            <a:r>
              <a:rPr lang="en-US" altLang="zh-CN" sz="1600" dirty="0"/>
              <a:t>vim </a:t>
            </a:r>
            <a:r>
              <a:rPr lang="zh-CN" altLang="en-US" sz="1600" dirty="0"/>
              <a:t>具有程序编辑的能力</a:t>
            </a:r>
            <a:r>
              <a:rPr lang="zh-CN" altLang="en-US" sz="1600" dirty="0" smtClean="0"/>
              <a:t>，</a:t>
            </a:r>
            <a:endParaRPr lang="en-US" altLang="zh-CN" sz="1600" dirty="0" smtClean="0"/>
          </a:p>
          <a:p>
            <a:r>
              <a:rPr lang="zh-CN" altLang="en-US" sz="1600" dirty="0" smtClean="0"/>
              <a:t>可以</a:t>
            </a:r>
            <a:r>
              <a:rPr lang="zh-CN" altLang="en-US" sz="1600" dirty="0"/>
              <a:t>主动的以字体颜色辨别语法的正确性，方便</a:t>
            </a:r>
            <a:r>
              <a:rPr lang="zh-CN" altLang="en-US" sz="1600" dirty="0" smtClean="0"/>
              <a:t>程序设计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</p:txBody>
      </p:sp>
      <p:pic>
        <p:nvPicPr>
          <p:cNvPr id="9218" name="Picture 2" descr="https://www.runoob.com/wp-content/uploads/2015/10/vi-vim-cheat-sheet-sch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762" y="1929539"/>
            <a:ext cx="7570832" cy="42542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7962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720762" y="123881"/>
            <a:ext cx="7772400" cy="1143000"/>
          </a:xfrm>
        </p:spPr>
        <p:txBody>
          <a:bodyPr/>
          <a:lstStyle/>
          <a:p>
            <a:pPr algn="l"/>
            <a:r>
              <a:rPr lang="zh-CN" altLang="en-US" dirty="0" smtClean="0"/>
              <a:t>二、</a:t>
            </a:r>
            <a:r>
              <a:rPr lang="en-US" altLang="zh-CN" dirty="0" smtClean="0"/>
              <a:t>Linux</a:t>
            </a:r>
            <a:r>
              <a:rPr lang="zh-CN" altLang="en-US" dirty="0" smtClean="0"/>
              <a:t>常用命令</a:t>
            </a:r>
            <a:endParaRPr lang="zh-CN" altLang="en-US" dirty="0"/>
          </a:p>
        </p:txBody>
      </p:sp>
      <p:sp>
        <p:nvSpPr>
          <p:cNvPr id="5" name="文本框 1"/>
          <p:cNvSpPr txBox="1"/>
          <p:nvPr/>
        </p:nvSpPr>
        <p:spPr>
          <a:xfrm>
            <a:off x="806002" y="719540"/>
            <a:ext cx="7098170" cy="523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800" b="1" dirty="0" smtClean="0">
                <a:latin typeface="宋体" charset="0"/>
                <a:ea typeface="宋体" charset="0"/>
              </a:rPr>
              <a:t>2.2 </a:t>
            </a:r>
            <a:r>
              <a:rPr lang="zh-CN" altLang="en-US" sz="2800" b="1" dirty="0">
                <a:latin typeface="宋体" charset="0"/>
                <a:ea typeface="宋体" charset="0"/>
              </a:rPr>
              <a:t>文件</a:t>
            </a:r>
            <a:r>
              <a:rPr lang="zh-CN" altLang="en-US" sz="2800" b="1" dirty="0" smtClean="0">
                <a:latin typeface="宋体" charset="0"/>
                <a:ea typeface="宋体" charset="0"/>
              </a:rPr>
              <a:t>管理</a:t>
            </a:r>
            <a:endParaRPr lang="zh-CN" altLang="en-US" sz="2800" b="1" dirty="0">
              <a:latin typeface="宋体" charset="0"/>
              <a:ea typeface="宋体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806002" y="1231031"/>
            <a:ext cx="757130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v</a:t>
            </a:r>
            <a:r>
              <a:rPr lang="en-US" altLang="zh-CN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i/vim</a:t>
            </a:r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基本上 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vi/vim 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共分为三种模式，分别是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命令模式（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Command mode</a:t>
            </a:r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输入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模式（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Insert mode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底线命令模式（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Last line mode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</p:txBody>
      </p:sp>
      <p:pic>
        <p:nvPicPr>
          <p:cNvPr id="10242" name="Picture 2" descr="https://www.runoob.com/wp-content/uploads/2014/07/vim-vi-workmodel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002" y="1893297"/>
            <a:ext cx="7496175" cy="4246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3408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720762" y="123881"/>
            <a:ext cx="7772400" cy="1143000"/>
          </a:xfrm>
        </p:spPr>
        <p:txBody>
          <a:bodyPr/>
          <a:lstStyle/>
          <a:p>
            <a:pPr algn="l"/>
            <a:r>
              <a:rPr lang="zh-CN" altLang="en-US" dirty="0" smtClean="0"/>
              <a:t>二、</a:t>
            </a:r>
            <a:r>
              <a:rPr lang="en-US" altLang="zh-CN" dirty="0" smtClean="0"/>
              <a:t>Linux</a:t>
            </a:r>
            <a:r>
              <a:rPr lang="zh-CN" altLang="en-US" dirty="0" smtClean="0"/>
              <a:t>常用命令</a:t>
            </a:r>
            <a:endParaRPr lang="zh-CN" altLang="en-US" dirty="0"/>
          </a:p>
        </p:txBody>
      </p:sp>
      <p:sp>
        <p:nvSpPr>
          <p:cNvPr id="5" name="文本框 1"/>
          <p:cNvSpPr txBox="1"/>
          <p:nvPr/>
        </p:nvSpPr>
        <p:spPr>
          <a:xfrm>
            <a:off x="806002" y="719540"/>
            <a:ext cx="7098170" cy="523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800" b="1" dirty="0" smtClean="0">
                <a:latin typeface="宋体" charset="0"/>
                <a:ea typeface="宋体" charset="0"/>
              </a:rPr>
              <a:t>2.2 </a:t>
            </a:r>
            <a:r>
              <a:rPr lang="zh-CN" altLang="en-US" sz="2800" b="1" dirty="0">
                <a:latin typeface="宋体" charset="0"/>
                <a:ea typeface="宋体" charset="0"/>
              </a:rPr>
              <a:t>文件</a:t>
            </a:r>
            <a:r>
              <a:rPr lang="zh-CN" altLang="en-US" sz="2800" b="1" dirty="0" smtClean="0">
                <a:latin typeface="宋体" charset="0"/>
                <a:ea typeface="宋体" charset="0"/>
              </a:rPr>
              <a:t>管理</a:t>
            </a:r>
            <a:endParaRPr lang="zh-CN" altLang="en-US" sz="2800" b="1" dirty="0">
              <a:latin typeface="宋体" charset="0"/>
              <a:ea typeface="宋体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806002" y="1251719"/>
            <a:ext cx="7986482" cy="135421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/>
              <a:t>grep</a:t>
            </a:r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用于查找文件里符合条件的字符串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  <a:p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语法</a:t>
            </a:r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grep [-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abcEFGhHilLnqrsvVwxy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][-A&lt;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显示列数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&gt;][-B&lt;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显示列数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&gt;][-C&lt;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显示列数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&gt;]</a:t>
            </a:r>
          </a:p>
          <a:p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[-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d&lt;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进行动作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&gt;][-e&lt;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范本样式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&gt;][-f&lt;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范本文件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&gt;][--help][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范本样式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][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文件或目录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...]</a:t>
            </a:r>
          </a:p>
          <a:p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范例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grep test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test.log –C 5 --color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说明</a:t>
            </a:r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查找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test.log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文件中包含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test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前后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5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行的内容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806002" y="2585965"/>
            <a:ext cx="6691255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/>
              <a:t>find</a:t>
            </a:r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用于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在指定目录下查找文件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语法</a:t>
            </a:r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find path -option [ -print ] [ -exec -ok command ] {} \;</a:t>
            </a:r>
          </a:p>
          <a:p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范例</a:t>
            </a:r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find . 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-name 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"*test*“</a:t>
            </a:r>
          </a:p>
          <a:p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说明：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将目前目录及其子目录下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所有含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test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文件列出来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06002" y="3753921"/>
            <a:ext cx="4586512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/>
              <a:t>history</a:t>
            </a:r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用于显示历史记录和执行过的指令命令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语法</a:t>
            </a:r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history [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选项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] [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参数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]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范例：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history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806001" y="4700202"/>
            <a:ext cx="4600940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b="1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wc</a:t>
            </a:r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用于计算字数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语法</a:t>
            </a:r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wc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[-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clw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][--help][--version][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文件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...]</a:t>
            </a:r>
          </a:p>
          <a:p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范例：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wc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-l 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xxx.txt</a:t>
            </a:r>
          </a:p>
          <a:p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说明：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-l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或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--lines 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只显示行数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331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720762" y="123881"/>
            <a:ext cx="7772400" cy="1143000"/>
          </a:xfrm>
        </p:spPr>
        <p:txBody>
          <a:bodyPr/>
          <a:lstStyle/>
          <a:p>
            <a:pPr algn="l"/>
            <a:r>
              <a:rPr lang="zh-CN" altLang="en-US" dirty="0" smtClean="0"/>
              <a:t>二、</a:t>
            </a:r>
            <a:r>
              <a:rPr lang="en-US" altLang="zh-CN" dirty="0" smtClean="0"/>
              <a:t>Linux</a:t>
            </a:r>
            <a:r>
              <a:rPr lang="zh-CN" altLang="en-US" dirty="0" smtClean="0"/>
              <a:t>常用命令</a:t>
            </a:r>
            <a:endParaRPr lang="zh-CN" altLang="en-US" dirty="0"/>
          </a:p>
        </p:txBody>
      </p:sp>
      <p:sp>
        <p:nvSpPr>
          <p:cNvPr id="5" name="文本框 1"/>
          <p:cNvSpPr txBox="1"/>
          <p:nvPr/>
        </p:nvSpPr>
        <p:spPr>
          <a:xfrm>
            <a:off x="806002" y="719540"/>
            <a:ext cx="7098170" cy="523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800" b="1" dirty="0" smtClean="0">
                <a:latin typeface="宋体" charset="0"/>
                <a:ea typeface="宋体" charset="0"/>
              </a:rPr>
              <a:t>2.2 </a:t>
            </a:r>
            <a:r>
              <a:rPr lang="zh-CN" altLang="en-US" sz="2800" b="1" dirty="0">
                <a:latin typeface="宋体" charset="0"/>
                <a:ea typeface="宋体" charset="0"/>
              </a:rPr>
              <a:t>文件</a:t>
            </a:r>
            <a:r>
              <a:rPr lang="zh-CN" altLang="en-US" sz="2800" b="1" dirty="0" smtClean="0">
                <a:latin typeface="宋体" charset="0"/>
                <a:ea typeface="宋体" charset="0"/>
              </a:rPr>
              <a:t>管理</a:t>
            </a:r>
            <a:endParaRPr lang="zh-CN" altLang="en-US" sz="2800" b="1" dirty="0">
              <a:latin typeface="宋体" charset="0"/>
              <a:ea typeface="宋体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806002" y="1251719"/>
            <a:ext cx="7919156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 err="1"/>
              <a:t>cp</a:t>
            </a:r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用于复制文件或目录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语法</a:t>
            </a:r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cp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[options] source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dest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范例</a:t>
            </a:r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cp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–r 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/home/apps/test /apps/test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说明：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-r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：若给出的源文件是一个目录文件，此时将复制该目录下所有的子目录和文件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806002" y="2399985"/>
            <a:ext cx="5692584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/>
              <a:t>mv</a:t>
            </a:r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用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于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为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文件或目录改名、或将文件或目录移入其它位置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语法</a:t>
            </a:r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mv [options] source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dest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范例：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mv /home/apps/test /apps/test</a:t>
            </a:r>
          </a:p>
        </p:txBody>
      </p:sp>
      <p:sp>
        <p:nvSpPr>
          <p:cNvPr id="11" name="矩形 10"/>
          <p:cNvSpPr/>
          <p:nvPr/>
        </p:nvSpPr>
        <p:spPr>
          <a:xfrm>
            <a:off x="806000" y="3376763"/>
            <a:ext cx="7576113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 err="1"/>
              <a:t>rm</a:t>
            </a:r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用于删除一个文件或者目录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语法</a:t>
            </a:r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rm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[options] name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...</a:t>
            </a:r>
          </a:p>
          <a:p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范例：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rm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–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rf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*.log</a:t>
            </a:r>
          </a:p>
          <a:p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说明：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-r 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将目录及以下之档案亦逐一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删除，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-f 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即使原档案属性设为唯读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，亦直接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删除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，无需逐一确认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806002" y="4783342"/>
            <a:ext cx="7986482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 err="1"/>
              <a:t>scp</a:t>
            </a:r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用于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Linux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之间复制文件和目录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语法</a:t>
            </a:r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scp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[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可选参数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]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file_source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file_target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范例：</a:t>
            </a:r>
            <a:r>
              <a:rPr lang="nb-NO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scp </a:t>
            </a:r>
            <a:r>
              <a:rPr lang="nb-NO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-r /log/app/user/lib 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apps</a:t>
            </a:r>
            <a:r>
              <a:rPr lang="nb-NO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@10.10.10.121</a:t>
            </a:r>
            <a:r>
              <a:rPr lang="nb-NO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:/var/app/core/user</a:t>
            </a:r>
            <a:r>
              <a:rPr lang="nb-NO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</a:p>
          <a:p>
            <a:r>
              <a:rPr lang="nb-NO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	  scp </a:t>
            </a:r>
            <a:r>
              <a:rPr lang="nb-NO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-r 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apps</a:t>
            </a:r>
            <a:r>
              <a:rPr lang="nb-NO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@10.10.10.121:/</a:t>
            </a:r>
            <a:r>
              <a:rPr lang="nb-NO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var/app/core/user/lib 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endParaRPr lang="nb-NO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说明：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将</a:t>
            </a:r>
            <a:r>
              <a:rPr lang="nb-NO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/log/app/user/lib 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目录文件上传到指定服务器目录；将指定服务器目录文件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传到当前服务器目录。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r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： 递归复制整个目录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94051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720762" y="123881"/>
            <a:ext cx="7772400" cy="1143000"/>
          </a:xfrm>
        </p:spPr>
        <p:txBody>
          <a:bodyPr/>
          <a:lstStyle/>
          <a:p>
            <a:pPr algn="l"/>
            <a:r>
              <a:rPr lang="zh-CN" altLang="en-US" dirty="0" smtClean="0"/>
              <a:t>二、</a:t>
            </a:r>
            <a:r>
              <a:rPr lang="en-US" altLang="zh-CN" dirty="0" smtClean="0"/>
              <a:t>Linux</a:t>
            </a:r>
            <a:r>
              <a:rPr lang="zh-CN" altLang="en-US" dirty="0" smtClean="0"/>
              <a:t>常用命令</a:t>
            </a:r>
            <a:endParaRPr lang="zh-CN" altLang="en-US" dirty="0"/>
          </a:p>
        </p:txBody>
      </p:sp>
      <p:sp>
        <p:nvSpPr>
          <p:cNvPr id="5" name="文本框 1"/>
          <p:cNvSpPr txBox="1"/>
          <p:nvPr/>
        </p:nvSpPr>
        <p:spPr>
          <a:xfrm>
            <a:off x="806002" y="719540"/>
            <a:ext cx="7098170" cy="523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800" b="1" dirty="0" smtClean="0">
                <a:latin typeface="宋体" charset="0"/>
                <a:ea typeface="宋体" charset="0"/>
              </a:rPr>
              <a:t>2.2 </a:t>
            </a:r>
            <a:r>
              <a:rPr lang="zh-CN" altLang="en-US" sz="2800" b="1" dirty="0">
                <a:latin typeface="宋体" charset="0"/>
                <a:ea typeface="宋体" charset="0"/>
              </a:rPr>
              <a:t>文件</a:t>
            </a:r>
            <a:r>
              <a:rPr lang="zh-CN" altLang="en-US" sz="2800" b="1" dirty="0" smtClean="0">
                <a:latin typeface="宋体" charset="0"/>
                <a:ea typeface="宋体" charset="0"/>
              </a:rPr>
              <a:t>管理</a:t>
            </a:r>
            <a:endParaRPr lang="zh-CN" altLang="en-US" sz="2800" b="1" dirty="0">
              <a:latin typeface="宋体" charset="0"/>
              <a:ea typeface="宋体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806002" y="1251719"/>
            <a:ext cx="7165744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/>
              <a:t>ftp</a:t>
            </a:r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设置文件系统相关功能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语法</a:t>
            </a:r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ftp [-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dignv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][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主机名称或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IP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地址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]</a:t>
            </a:r>
          </a:p>
          <a:p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范例</a:t>
            </a:r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ftp 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10.18.92.71</a:t>
            </a:r>
          </a:p>
          <a:p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说明：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回车后，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输入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用户名、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密码登录，然后可使用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ls cd get delete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等命令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806001" y="2399988"/>
            <a:ext cx="8007320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 err="1"/>
              <a:t>sftp</a:t>
            </a:r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ssh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内含的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安全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文件传送协议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，可以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为传输文件提供一种安全的网络的加密方法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/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语法</a:t>
            </a:r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sftp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 [-1Cv] [-B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buffer_size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] [-b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batchfile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] [-F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ssh_config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]</a:t>
            </a:r>
          </a:p>
          <a:p>
            <a:pPr fontAlgn="base"/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            [-o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ssh_option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] [-P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sftp_server_path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] [-R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num_requests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]</a:t>
            </a:r>
          </a:p>
          <a:p>
            <a:pPr fontAlgn="base"/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            [-S program] [-s subsystem |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sftp_server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] 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host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范例</a:t>
            </a:r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sftp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-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oPort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=10022 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mdzfkj@10.18.76.38</a:t>
            </a:r>
          </a:p>
          <a:p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说明：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回车后，输入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密码，可使用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pwd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cd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等命令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06001" y="4039689"/>
            <a:ext cx="7063152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 smtClean="0"/>
              <a:t>tee</a:t>
            </a:r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用于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读取标准输入的数据，并将其内容输出成文件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语法</a:t>
            </a:r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en-US" altLang="zh-CN" sz="1600" dirty="0"/>
              <a:t> 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tee [-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ai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][--help][--version][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文件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...]</a:t>
            </a:r>
          </a:p>
          <a:p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范例：</a:t>
            </a:r>
            <a:r>
              <a:rPr lang="en-US" altLang="zh-CN" sz="1600" dirty="0"/>
              <a:t> 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tee file1 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file2</a:t>
            </a:r>
          </a:p>
          <a:p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说明：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使用指令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"tee"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将用户输入的数据同时保存到文件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"file1"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"file2"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中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806002" y="5172899"/>
            <a:ext cx="7839005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 smtClean="0"/>
              <a:t>read</a:t>
            </a:r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用于从标准输入读取数值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语法</a:t>
            </a:r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en-US" altLang="zh-CN" sz="1600" dirty="0"/>
              <a:t> 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read [-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ers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] [-a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aname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] [-d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delim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] [-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text] [-n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nchars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] [-N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nchars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] 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[-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p prompt] [-t timeout] [-u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fd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] [name 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...]</a:t>
            </a:r>
          </a:p>
          <a:p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范例：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一般用于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sh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文件中，读取输入内容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88924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720762" y="99760"/>
            <a:ext cx="7772400" cy="1143000"/>
          </a:xfrm>
        </p:spPr>
        <p:txBody>
          <a:bodyPr/>
          <a:lstStyle/>
          <a:p>
            <a:pPr algn="l"/>
            <a:r>
              <a:rPr lang="zh-CN" altLang="en-US" dirty="0" smtClean="0"/>
              <a:t>二、</a:t>
            </a:r>
            <a:r>
              <a:rPr lang="en-US" altLang="zh-CN" dirty="0" smtClean="0"/>
              <a:t>Linux</a:t>
            </a:r>
            <a:r>
              <a:rPr lang="zh-CN" altLang="en-US" dirty="0" smtClean="0"/>
              <a:t>常用命令</a:t>
            </a:r>
            <a:endParaRPr lang="zh-CN" altLang="en-US" dirty="0"/>
          </a:p>
        </p:txBody>
      </p:sp>
      <p:sp>
        <p:nvSpPr>
          <p:cNvPr id="5" name="文本框 1"/>
          <p:cNvSpPr txBox="1"/>
          <p:nvPr/>
        </p:nvSpPr>
        <p:spPr>
          <a:xfrm>
            <a:off x="806002" y="649799"/>
            <a:ext cx="7098170" cy="523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800" b="1" dirty="0" smtClean="0">
                <a:latin typeface="宋体" charset="0"/>
                <a:ea typeface="宋体" charset="0"/>
              </a:rPr>
              <a:t>2.2 </a:t>
            </a:r>
            <a:r>
              <a:rPr lang="zh-CN" altLang="en-US" sz="2800" b="1" dirty="0">
                <a:latin typeface="宋体" charset="0"/>
                <a:ea typeface="宋体" charset="0"/>
              </a:rPr>
              <a:t>文件</a:t>
            </a:r>
            <a:r>
              <a:rPr lang="zh-CN" altLang="en-US" sz="2800" b="1" dirty="0" smtClean="0">
                <a:latin typeface="宋体" charset="0"/>
                <a:ea typeface="宋体" charset="0"/>
              </a:rPr>
              <a:t>管理</a:t>
            </a:r>
            <a:endParaRPr lang="zh-CN" altLang="en-US" sz="2800" b="1" dirty="0">
              <a:latin typeface="宋体" charset="0"/>
              <a:ea typeface="宋体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806002" y="2255087"/>
            <a:ext cx="6755375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b="1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cmp</a:t>
            </a:r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用于比较两个文件是否有差异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语法</a:t>
            </a:r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cmp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[-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clsv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][-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&lt;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字符数目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&gt;][--help][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第一个文件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][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第二个文件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]</a:t>
            </a:r>
          </a:p>
          <a:p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范例</a:t>
            </a:r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cmp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prog.o.bak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prog.o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806002" y="3097476"/>
            <a:ext cx="8704627" cy="160043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/>
              <a:t>diff</a:t>
            </a:r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用于比较文件的差异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/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语法</a:t>
            </a:r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diff [-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abBcdefHilnNpPqrstTuvwy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][-&lt;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行数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&gt;][-C &lt;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行数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&gt;][-D &lt;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巨集名称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&gt;][-I &lt;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字符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或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/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字符串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&gt;][-S &lt;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文件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&gt;][-W &lt;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宽度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&gt;][-x &lt;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文件或目录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&gt;][-X &lt;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文件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&gt;][--help][--left-column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]</a:t>
            </a:r>
          </a:p>
          <a:p>
            <a:pPr fontAlgn="base"/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[--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suppress-common-line][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文件或目录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1][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文件或目录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]</a:t>
            </a:r>
          </a:p>
          <a:p>
            <a:pPr fontAlgn="base"/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范例：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diff -r 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test1 test2</a:t>
            </a:r>
          </a:p>
          <a:p>
            <a:pPr fontAlgn="base"/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说明：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比较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test1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test2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目录差异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-r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或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--recursive 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　比较子目录中的文件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06002" y="4715217"/>
            <a:ext cx="7941598" cy="160043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 smtClean="0"/>
              <a:t>sort</a:t>
            </a:r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用于将文本文件内容加以排序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语法</a:t>
            </a:r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en-US" altLang="zh-CN" sz="1600" dirty="0"/>
              <a:t> 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sort [-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bcdfimMnr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][-o&lt;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输出文件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&gt;][-t&lt;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分隔字符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&gt;][+&lt;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起始栏位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&gt;-&lt;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结束栏位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&gt;]</a:t>
            </a:r>
          </a:p>
          <a:p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[--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help][--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verison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][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文件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]</a:t>
            </a:r>
          </a:p>
          <a:p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范例</a:t>
            </a:r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sort 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testfile1 |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uniq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</a:p>
          <a:p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	  sort 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testfile1 |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uniq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-d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说明：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统计各行在文件中出现的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次数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在文件中找出重复的行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806002" y="1173019"/>
            <a:ext cx="5985934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 err="1" smtClean="0"/>
              <a:t>sed</a:t>
            </a:r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利用脚本来处理文本文件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语法</a:t>
            </a:r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en-US" altLang="zh-CN" sz="1600" dirty="0"/>
              <a:t>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sed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[-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hnV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][-e&lt;script&gt;][-f&lt;script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文件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&gt;][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文本文件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]</a:t>
            </a:r>
          </a:p>
          <a:p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范例：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sed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-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's/\.$/\!/g' 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test.txt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说明：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将 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test.txt 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内每一行结尾若为 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. 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则换成 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147732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720762" y="123881"/>
            <a:ext cx="7772400" cy="1143000"/>
          </a:xfrm>
        </p:spPr>
        <p:txBody>
          <a:bodyPr/>
          <a:lstStyle/>
          <a:p>
            <a:pPr algn="l"/>
            <a:r>
              <a:rPr lang="zh-CN" altLang="en-US" dirty="0" smtClean="0"/>
              <a:t>二、</a:t>
            </a:r>
            <a:r>
              <a:rPr lang="en-US" altLang="zh-CN" dirty="0" smtClean="0"/>
              <a:t>Linux</a:t>
            </a:r>
            <a:r>
              <a:rPr lang="zh-CN" altLang="en-US" dirty="0" smtClean="0"/>
              <a:t>常用命令</a:t>
            </a:r>
            <a:endParaRPr lang="zh-CN" altLang="en-US" dirty="0"/>
          </a:p>
        </p:txBody>
      </p:sp>
      <p:sp>
        <p:nvSpPr>
          <p:cNvPr id="5" name="文本框 1"/>
          <p:cNvSpPr txBox="1"/>
          <p:nvPr/>
        </p:nvSpPr>
        <p:spPr>
          <a:xfrm>
            <a:off x="806002" y="719540"/>
            <a:ext cx="7098170" cy="523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800" b="1" dirty="0" smtClean="0">
                <a:latin typeface="宋体" charset="0"/>
                <a:ea typeface="宋体" charset="0"/>
              </a:rPr>
              <a:t>2.2 </a:t>
            </a:r>
            <a:r>
              <a:rPr lang="zh-CN" altLang="en-US" sz="2800" b="1" dirty="0">
                <a:latin typeface="宋体" charset="0"/>
                <a:ea typeface="宋体" charset="0"/>
              </a:rPr>
              <a:t>文件</a:t>
            </a:r>
            <a:r>
              <a:rPr lang="zh-CN" altLang="en-US" sz="2800" b="1" dirty="0" smtClean="0">
                <a:latin typeface="宋体" charset="0"/>
                <a:ea typeface="宋体" charset="0"/>
              </a:rPr>
              <a:t>管理</a:t>
            </a:r>
            <a:endParaRPr lang="zh-CN" altLang="en-US" sz="2800" b="1" dirty="0">
              <a:latin typeface="宋体" charset="0"/>
              <a:ea typeface="宋体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806002" y="1298213"/>
            <a:ext cx="5782352" cy="160043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 err="1"/>
              <a:t>awk</a:t>
            </a:r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一种处理文本文件的语言，是一个强大的文本分析工具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  <a:p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语法</a:t>
            </a:r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awk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[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选项参数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]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'script'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var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=value file(s) 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	  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awk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[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选项参数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]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-f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scriptfile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var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=value file(s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</a:p>
          <a:p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范例：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awk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-F, '{print $1,$2}' 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log.txt</a:t>
            </a:r>
          </a:p>
          <a:p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awk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-f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cal.awk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log.txt</a:t>
            </a:r>
          </a:p>
          <a:p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说明：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使用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“,”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分割；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awk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脚本</a:t>
            </a:r>
          </a:p>
        </p:txBody>
      </p:sp>
      <p:sp>
        <p:nvSpPr>
          <p:cNvPr id="7" name="矩形 6"/>
          <p:cNvSpPr/>
          <p:nvPr/>
        </p:nvSpPr>
        <p:spPr>
          <a:xfrm>
            <a:off x="806002" y="2977197"/>
            <a:ext cx="5828840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 err="1"/>
              <a:t>sz</a:t>
            </a:r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通过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ZMODEM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协议，可将多个文件从远程服务器下载到本地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  <a:p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语法</a:t>
            </a:r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sz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[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选项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] [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filelist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]</a:t>
            </a:r>
          </a:p>
          <a:p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范例：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sz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config.properties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disconf.properties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806002" y="4007833"/>
            <a:ext cx="6410729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 err="1" smtClean="0"/>
              <a:t>rz</a:t>
            </a:r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使用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ZMODEM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协议，将本地文件批量上传到远程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Linux/Unix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服务器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  <a:p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语法</a:t>
            </a:r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en-US" altLang="zh-CN" sz="1600" dirty="0" err="1"/>
              <a:t>rz</a:t>
            </a:r>
            <a:r>
              <a:rPr lang="en-US" altLang="zh-CN" sz="1600" dirty="0"/>
              <a:t> [</a:t>
            </a:r>
            <a:r>
              <a:rPr lang="zh-CN" altLang="en-US" sz="1600" dirty="0"/>
              <a:t>选项</a:t>
            </a:r>
            <a:r>
              <a:rPr lang="en-US" altLang="zh-CN" sz="1600" dirty="0" smtClean="0"/>
              <a:t>]</a:t>
            </a:r>
          </a:p>
          <a:p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范例：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rz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20561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720762" y="123881"/>
            <a:ext cx="7772400" cy="1143000"/>
          </a:xfrm>
        </p:spPr>
        <p:txBody>
          <a:bodyPr/>
          <a:lstStyle/>
          <a:p>
            <a:pPr algn="l"/>
            <a:r>
              <a:rPr lang="zh-CN" altLang="en-US" dirty="0" smtClean="0"/>
              <a:t>二、</a:t>
            </a:r>
            <a:r>
              <a:rPr lang="en-US" altLang="zh-CN" dirty="0" smtClean="0"/>
              <a:t>Linux</a:t>
            </a:r>
            <a:r>
              <a:rPr lang="zh-CN" altLang="en-US" dirty="0" smtClean="0"/>
              <a:t>常用命令</a:t>
            </a:r>
            <a:endParaRPr lang="zh-CN" altLang="en-US" dirty="0"/>
          </a:p>
        </p:txBody>
      </p:sp>
      <p:sp>
        <p:nvSpPr>
          <p:cNvPr id="5" name="文本框 1"/>
          <p:cNvSpPr txBox="1"/>
          <p:nvPr/>
        </p:nvSpPr>
        <p:spPr>
          <a:xfrm>
            <a:off x="806002" y="719540"/>
            <a:ext cx="7098170" cy="523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800" b="1" dirty="0" smtClean="0">
                <a:latin typeface="宋体" charset="0"/>
                <a:ea typeface="宋体" charset="0"/>
              </a:rPr>
              <a:t>2.3 </a:t>
            </a:r>
            <a:r>
              <a:rPr lang="zh-CN" altLang="en-US" sz="2800" b="1" dirty="0" smtClean="0">
                <a:latin typeface="宋体" charset="0"/>
                <a:ea typeface="宋体" charset="0"/>
              </a:rPr>
              <a:t>磁盘管理</a:t>
            </a:r>
            <a:endParaRPr lang="zh-CN" altLang="en-US" sz="2800" b="1" dirty="0">
              <a:latin typeface="宋体" charset="0"/>
              <a:ea typeface="宋体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806002" y="1426179"/>
            <a:ext cx="4806124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cd</a:t>
            </a:r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用于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切换当前工作目录至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dirName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目录参数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).</a:t>
            </a:r>
          </a:p>
          <a:p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语法：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cd [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dirName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]</a:t>
            </a:r>
          </a:p>
          <a:p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范例：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cd /home/apps 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806002" y="2399989"/>
            <a:ext cx="7310014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/>
              <a:t>ls</a:t>
            </a:r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用于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显示指定工作目录下之内容（列出目前工作目录所含之文件及子目录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).</a:t>
            </a:r>
          </a:p>
          <a:p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语法：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ls [-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alrtAFR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] [name...]</a:t>
            </a:r>
          </a:p>
          <a:p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范例：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ls 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或 </a:t>
            </a:r>
            <a:r>
              <a:rPr lang="es-E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ll</a:t>
            </a:r>
          </a:p>
          <a:p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说明：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ll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是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ls -l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的别名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806001" y="3621772"/>
            <a:ext cx="3222357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 err="1"/>
              <a:t>pwd</a:t>
            </a:r>
            <a:r>
              <a:rPr lang="en-US" altLang="zh-CN" sz="1600" dirty="0"/>
              <a:t> </a:t>
            </a:r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用于显示工作目录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  <a:p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语法：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pwd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[--help][--version]</a:t>
            </a:r>
          </a:p>
          <a:p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范例：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pwd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836441" y="4758315"/>
            <a:ext cx="4233851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 err="1" smtClean="0"/>
              <a:t>mkdir</a:t>
            </a:r>
            <a:r>
              <a:rPr lang="en-US" altLang="zh-CN" sz="1600" dirty="0" smtClean="0"/>
              <a:t> </a:t>
            </a:r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用于建立名称为 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dirName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之子目录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语法：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mkdir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[-p]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dirName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范例：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mkdir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test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99259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720762" y="123881"/>
            <a:ext cx="7772400" cy="1143000"/>
          </a:xfrm>
        </p:spPr>
        <p:txBody>
          <a:bodyPr/>
          <a:lstStyle/>
          <a:p>
            <a:pPr algn="l"/>
            <a:r>
              <a:rPr lang="zh-CN" altLang="en-US" dirty="0" smtClean="0"/>
              <a:t>二、</a:t>
            </a:r>
            <a:r>
              <a:rPr lang="en-US" altLang="zh-CN" dirty="0" smtClean="0"/>
              <a:t>Linux</a:t>
            </a:r>
            <a:r>
              <a:rPr lang="zh-CN" altLang="en-US" dirty="0" smtClean="0"/>
              <a:t>常用命令</a:t>
            </a:r>
            <a:endParaRPr lang="zh-CN" altLang="en-US" dirty="0"/>
          </a:p>
        </p:txBody>
      </p:sp>
      <p:sp>
        <p:nvSpPr>
          <p:cNvPr id="5" name="文本框 1"/>
          <p:cNvSpPr txBox="1"/>
          <p:nvPr/>
        </p:nvSpPr>
        <p:spPr>
          <a:xfrm>
            <a:off x="806002" y="719540"/>
            <a:ext cx="7098170" cy="523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800" b="1" dirty="0" smtClean="0">
                <a:latin typeface="宋体" charset="0"/>
                <a:ea typeface="宋体" charset="0"/>
              </a:rPr>
              <a:t>2.3 </a:t>
            </a:r>
            <a:r>
              <a:rPr lang="zh-CN" altLang="en-US" sz="2800" b="1" dirty="0" smtClean="0">
                <a:latin typeface="宋体" charset="0"/>
                <a:ea typeface="宋体" charset="0"/>
              </a:rPr>
              <a:t>磁盘管理</a:t>
            </a:r>
            <a:endParaRPr lang="zh-CN" altLang="en-US" sz="2800" b="1" dirty="0">
              <a:latin typeface="宋体" charset="0"/>
              <a:ea typeface="宋体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806001" y="1266881"/>
            <a:ext cx="6139822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b="1" dirty="0" err="1">
                <a:latin typeface="宋体" panose="02010600030101010101" pitchFamily="2" charset="-122"/>
                <a:ea typeface="宋体" panose="02010600030101010101" pitchFamily="2" charset="-122"/>
              </a:rPr>
              <a:t>df</a:t>
            </a:r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用于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显示目前在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Linux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系统上的文件系统的磁盘使用情况统计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  <a:p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语法：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df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[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选项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]...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[FILE]...</a:t>
            </a:r>
          </a:p>
          <a:p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范例：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df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–hl</a:t>
            </a:r>
          </a:p>
          <a:p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说明：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-h 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使用人类可读的格式 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-l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限制列出的文件结构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806001" y="2461982"/>
            <a:ext cx="8289449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 smtClean="0"/>
              <a:t>du</a:t>
            </a:r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用于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显示目录或文件的大小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  <a:p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语法：</a:t>
            </a:r>
            <a:r>
              <a:rPr lang="en-US" altLang="zh-CN" sz="1600" dirty="0"/>
              <a:t> 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du [-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abcDhHklmsSx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][-L &lt;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符号连接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&gt;][-X &lt;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文件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&gt;][--block-size]</a:t>
            </a:r>
          </a:p>
          <a:p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[--exclude=&lt;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目录或文件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&gt;][--max-depth=&lt;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目录层数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&gt;][--help][--version][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目录或文件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]</a:t>
            </a:r>
          </a:p>
          <a:p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范例：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du 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hsx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* | sort -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rh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| head -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6</a:t>
            </a:r>
          </a:p>
          <a:p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说明：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显示排序前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6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个的目录文件大小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806002" y="3927318"/>
            <a:ext cx="5992346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 smtClean="0"/>
              <a:t>mount</a:t>
            </a:r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用于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挂载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Linux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系统外的文件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  <a:p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语法：</a:t>
            </a:r>
            <a:r>
              <a:rPr lang="en-US" altLang="zh-CN" sz="1600" dirty="0"/>
              <a:t> 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mount -a [-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fFnrsvw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] [-t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vfstype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]</a:t>
            </a:r>
          </a:p>
          <a:p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范例：</a:t>
            </a:r>
            <a:r>
              <a:rPr lang="en-US" altLang="zh-CN" sz="1600" dirty="0"/>
              <a:t> 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mount /dev/hda1 /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mnt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说明</a:t>
            </a:r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将 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/dev/hda1 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挂在 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mnt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之下。</a:t>
            </a:r>
            <a:r>
              <a:rPr lang="en-US" altLang="zh-CN" sz="1600" dirty="0"/>
              <a:t>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um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ount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命令可取消挂载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806000" y="5169020"/>
            <a:ext cx="7473521" cy="8617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 smtClean="0"/>
              <a:t>tree</a:t>
            </a:r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用于以树状图列出目录的内容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  <a:p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语法：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tree 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[-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aACdDfFgilnNpqstux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][-I &lt;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范本样式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&gt;][-P &lt;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范本样式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&gt;][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目录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...]</a:t>
            </a:r>
          </a:p>
          <a:p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范例：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tree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9014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720762" y="123881"/>
            <a:ext cx="7772400" cy="1143000"/>
          </a:xfrm>
        </p:spPr>
        <p:txBody>
          <a:bodyPr/>
          <a:lstStyle/>
          <a:p>
            <a:pPr algn="l"/>
            <a:r>
              <a:rPr lang="zh-CN" altLang="en-US" dirty="0" smtClean="0"/>
              <a:t>二、</a:t>
            </a:r>
            <a:r>
              <a:rPr lang="en-US" altLang="zh-CN" dirty="0" smtClean="0"/>
              <a:t>Linux</a:t>
            </a:r>
            <a:r>
              <a:rPr lang="zh-CN" altLang="en-US" dirty="0" smtClean="0"/>
              <a:t>常用命令</a:t>
            </a:r>
            <a:endParaRPr lang="zh-CN" altLang="en-US" dirty="0"/>
          </a:p>
        </p:txBody>
      </p:sp>
      <p:sp>
        <p:nvSpPr>
          <p:cNvPr id="5" name="文本框 1"/>
          <p:cNvSpPr txBox="1"/>
          <p:nvPr/>
        </p:nvSpPr>
        <p:spPr>
          <a:xfrm>
            <a:off x="806002" y="719540"/>
            <a:ext cx="7098170" cy="523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800" b="1" dirty="0" smtClean="0">
                <a:latin typeface="宋体" charset="0"/>
                <a:ea typeface="宋体" charset="0"/>
              </a:rPr>
              <a:t>2.4 </a:t>
            </a:r>
            <a:r>
              <a:rPr lang="zh-CN" altLang="en-US" sz="2800" b="1" dirty="0" smtClean="0">
                <a:latin typeface="宋体" charset="0"/>
                <a:ea typeface="宋体" charset="0"/>
              </a:rPr>
              <a:t>网络</a:t>
            </a:r>
            <a:r>
              <a:rPr lang="zh-CN" altLang="en-US" sz="2800" b="1" dirty="0">
                <a:latin typeface="宋体" charset="0"/>
                <a:ea typeface="宋体" charset="0"/>
              </a:rPr>
              <a:t>通讯</a:t>
            </a:r>
          </a:p>
        </p:txBody>
      </p:sp>
      <p:sp>
        <p:nvSpPr>
          <p:cNvPr id="2" name="矩形 1"/>
          <p:cNvSpPr/>
          <p:nvPr/>
        </p:nvSpPr>
        <p:spPr>
          <a:xfrm>
            <a:off x="806002" y="1242760"/>
            <a:ext cx="3584636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b="1" dirty="0" err="1">
                <a:latin typeface="宋体" panose="02010600030101010101" pitchFamily="2" charset="-122"/>
                <a:ea typeface="宋体" panose="02010600030101010101" pitchFamily="2" charset="-122"/>
              </a:rPr>
              <a:t>ifconfig</a:t>
            </a:r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用于显示或设置网络设备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  <a:p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语法：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ifconfig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范例：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ifconfig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806002" y="2143500"/>
            <a:ext cx="8146782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/>
              <a:t>ping</a:t>
            </a:r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用于检测主机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  <a:p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语法：</a:t>
            </a:r>
            <a:r>
              <a:rPr lang="en-US" altLang="zh-CN" sz="1600" dirty="0"/>
              <a:t> 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ping [-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dfnqrRv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][-c&lt;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完成次数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&gt;][-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&lt;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间隔秒数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&gt;][-I&lt;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网络界面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&gt;][-l&lt;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前置载入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&gt;]</a:t>
            </a:r>
          </a:p>
          <a:p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[-p&lt;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范本样式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&gt;][-s&lt;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数据包大小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&gt;][-t&lt;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存活数值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&gt;][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主机名称或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IP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地址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]</a:t>
            </a:r>
          </a:p>
          <a:p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范例：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ping www.baidu.com</a:t>
            </a:r>
          </a:p>
        </p:txBody>
      </p:sp>
      <p:sp>
        <p:nvSpPr>
          <p:cNvPr id="11" name="矩形 10"/>
          <p:cNvSpPr/>
          <p:nvPr/>
        </p:nvSpPr>
        <p:spPr>
          <a:xfrm>
            <a:off x="806002" y="3266669"/>
            <a:ext cx="8351966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/>
              <a:t>telnet</a:t>
            </a:r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用于远端登入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  <a:p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语法：</a:t>
            </a:r>
            <a:r>
              <a:rPr lang="en-US" altLang="zh-CN" sz="1600" dirty="0"/>
              <a:t> 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telnet [-8acdEfFKLrx][-b&lt;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主机别名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&gt;][-e&lt;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脱离字符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&gt;][-k&lt;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域名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&gt;][-l&lt;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用户名称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&gt;]</a:t>
            </a:r>
          </a:p>
          <a:p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[-n&lt;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记录文件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&gt;][-S&lt;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服务类型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&gt;][-X&lt;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认证形态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&gt;][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主机名称或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IP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地址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&lt;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通信端口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&gt;]</a:t>
            </a:r>
          </a:p>
          <a:p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范例：</a:t>
            </a:r>
            <a:r>
              <a:rPr lang="en-US" altLang="zh-CN" sz="1600" dirty="0"/>
              <a:t> 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telnet 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ip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端口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806002" y="4346817"/>
            <a:ext cx="6242415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 err="1"/>
              <a:t>netstat</a:t>
            </a:r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用于显示网络状态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  <a:p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语法：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netstat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[-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acCeFghilMnNoprstuvVwx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][-A&lt;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网络类型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&gt;][--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ip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]</a:t>
            </a:r>
          </a:p>
          <a:p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范例：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netstat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–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anp|grep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端口号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说明</a:t>
            </a:r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显示对应端口号的网络状态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06002" y="5436045"/>
            <a:ext cx="5440913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 smtClean="0"/>
              <a:t>curl</a:t>
            </a:r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是一个利用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URL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规则在命令行下工作的文件传输工具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  <a:p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语法：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curl [options...] &lt;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url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&gt; </a:t>
            </a:r>
          </a:p>
          <a:p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范例：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curl http://www.baidu.com</a:t>
            </a:r>
          </a:p>
        </p:txBody>
      </p:sp>
    </p:spTree>
    <p:extLst>
      <p:ext uri="{BB962C8B-B14F-4D97-AF65-F5344CB8AC3E}">
        <p14:creationId xmlns:p14="http://schemas.microsoft.com/office/powerpoint/2010/main" val="1274571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720762" y="123881"/>
            <a:ext cx="7772400" cy="1143000"/>
          </a:xfrm>
        </p:spPr>
        <p:txBody>
          <a:bodyPr/>
          <a:lstStyle/>
          <a:p>
            <a:pPr algn="l"/>
            <a:r>
              <a:rPr lang="zh-CN" altLang="en-US" dirty="0" smtClean="0"/>
              <a:t>二、</a:t>
            </a:r>
            <a:r>
              <a:rPr lang="en-US" altLang="zh-CN" dirty="0" smtClean="0"/>
              <a:t>Linux</a:t>
            </a:r>
            <a:r>
              <a:rPr lang="zh-CN" altLang="en-US" dirty="0" smtClean="0"/>
              <a:t>常用命令</a:t>
            </a:r>
            <a:endParaRPr lang="zh-CN" altLang="en-US" dirty="0"/>
          </a:p>
        </p:txBody>
      </p:sp>
      <p:sp>
        <p:nvSpPr>
          <p:cNvPr id="5" name="文本框 1"/>
          <p:cNvSpPr txBox="1"/>
          <p:nvPr/>
        </p:nvSpPr>
        <p:spPr>
          <a:xfrm>
            <a:off x="806002" y="719540"/>
            <a:ext cx="7098170" cy="523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800" b="1" dirty="0" smtClean="0">
                <a:latin typeface="宋体" charset="0"/>
                <a:ea typeface="宋体" charset="0"/>
              </a:rPr>
              <a:t>2.5 </a:t>
            </a:r>
            <a:r>
              <a:rPr lang="zh-CN" altLang="en-US" sz="2800" b="1" dirty="0" smtClean="0">
                <a:latin typeface="宋体" charset="0"/>
                <a:ea typeface="宋体" charset="0"/>
              </a:rPr>
              <a:t>备份压缩</a:t>
            </a:r>
            <a:endParaRPr lang="zh-CN" altLang="en-US" sz="2800" b="1" dirty="0">
              <a:latin typeface="宋体" charset="0"/>
              <a:ea typeface="宋体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806001" y="1242760"/>
            <a:ext cx="6322565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tar</a:t>
            </a:r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用于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备份文件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  <a:p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语法：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略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范例：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tar –</a:t>
            </a:r>
            <a:r>
              <a:rPr lang="en-US" altLang="zh-CN" sz="1600" b="1" dirty="0" err="1">
                <a:latin typeface="宋体" panose="02010600030101010101" pitchFamily="2" charset="-122"/>
                <a:ea typeface="宋体" panose="02010600030101010101" pitchFamily="2" charset="-122"/>
              </a:rPr>
              <a:t>zcvf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 test.tar.gz test </a:t>
            </a:r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或</a:t>
            </a:r>
            <a:r>
              <a:rPr lang="en-US" altLang="zh-CN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tar –</a:t>
            </a:r>
            <a:r>
              <a:rPr lang="en-US" altLang="zh-CN" sz="1600" b="1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zxvf</a:t>
            </a:r>
            <a:r>
              <a:rPr lang="en-US" altLang="zh-CN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 test.tar.gz </a:t>
            </a:r>
            <a:endParaRPr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说明：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压缩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test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目录文件，解压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test.tar.gz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806002" y="2319978"/>
            <a:ext cx="8307082" cy="135421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 smtClean="0"/>
              <a:t>zip</a:t>
            </a:r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用于压缩文件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语法：</a:t>
            </a:r>
            <a:r>
              <a:rPr lang="en-US" altLang="zh-CN" sz="1600" dirty="0"/>
              <a:t> 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zip [-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AcdDfFghjJKlLmoqrSTuvVwXyz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$][-b &lt;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工作目录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&gt;][-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ll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][-n &lt;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字尾字符串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&gt;]</a:t>
            </a:r>
          </a:p>
          <a:p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[-t &lt;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日期时间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&gt;][-&lt;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压缩效率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&gt;][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压缩文件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][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文件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...][-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&lt;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范本样式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&gt;][-x &lt;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范本样式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&gt;]</a:t>
            </a:r>
          </a:p>
          <a:p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范例：</a:t>
            </a:r>
            <a:r>
              <a:rPr lang="en-US" altLang="zh-CN" sz="1600" dirty="0"/>
              <a:t> 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zip -q -r html.zip /home/html</a:t>
            </a:r>
          </a:p>
          <a:p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说明：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将 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/home/html/ 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这个目录下所有文件和文件夹打包为当前目录下的 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html.zip</a:t>
            </a:r>
          </a:p>
        </p:txBody>
      </p:sp>
      <p:sp>
        <p:nvSpPr>
          <p:cNvPr id="11" name="矩形 10"/>
          <p:cNvSpPr/>
          <p:nvPr/>
        </p:nvSpPr>
        <p:spPr>
          <a:xfrm>
            <a:off x="806002" y="3680442"/>
            <a:ext cx="8044190" cy="135421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/>
              <a:t>unzip</a:t>
            </a:r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用于解压缩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zip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文件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  <a:p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语法：</a:t>
            </a:r>
            <a:r>
              <a:rPr lang="en-US" altLang="zh-CN" sz="1600" dirty="0"/>
              <a:t> 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unzip [-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cflptuvz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][-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agCjLMnoqsVX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][-P &lt;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密码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&gt;][.zip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文件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][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文件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][-d &lt;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目录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&gt;]</a:t>
            </a:r>
          </a:p>
          <a:p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[-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x &lt;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文件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&gt;] 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或 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unzip [-Z]</a:t>
            </a:r>
          </a:p>
          <a:p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范例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unzip -l abc.zip</a:t>
            </a:r>
          </a:p>
          <a:p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说明：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查看压缩文件中包含的文件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806002" y="5027246"/>
            <a:ext cx="8396850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/>
              <a:t>dump</a:t>
            </a:r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用于备份文件系统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  <a:p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语法：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dump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[-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cnu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][-0123456789][-b &lt;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区块大小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&gt;][-B &lt;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区块数目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&gt;][-d &lt;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密度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&gt;][-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f 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&lt;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设备名称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&gt;][-h &lt;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层级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&gt;][-s &lt;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磁带长度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&gt;][-T &lt;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日期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&gt;][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目录或文件系统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]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 或 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dump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[-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wW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]</a:t>
            </a:r>
          </a:p>
          <a:p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范例：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dump -0 -u /dev/tape /home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</a:p>
          <a:p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说明：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“-0”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指定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的是备份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等级，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"-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u"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要求备份完毕之后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将信息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存储到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文件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etc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dumpdates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34718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24714" y="1423762"/>
            <a:ext cx="8023860" cy="218521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atinLnBrk="1"/>
            <a:r>
              <a:rPr lang="zh-CN" altLang="en-US" sz="2000" b="1" dirty="0">
                <a:latin typeface="宋体" charset="0"/>
                <a:ea typeface="宋体" charset="0"/>
              </a:rPr>
              <a:t>参考</a:t>
            </a:r>
            <a:r>
              <a:rPr lang="zh-CN" altLang="en-US" sz="2000" b="1" dirty="0" smtClean="0">
                <a:latin typeface="宋体" charset="0"/>
                <a:ea typeface="宋体" charset="0"/>
              </a:rPr>
              <a:t>：</a:t>
            </a:r>
            <a:endParaRPr lang="en-US" altLang="zh-CN" sz="2000" b="1" dirty="0" smtClean="0">
              <a:latin typeface="宋体" charset="0"/>
              <a:ea typeface="宋体" charset="0"/>
            </a:endParaRPr>
          </a:p>
          <a:p>
            <a:pPr latinLnBrk="1"/>
            <a:endParaRPr lang="en-US" altLang="zh-CN" sz="2000" b="1" dirty="0" smtClean="0">
              <a:latin typeface="宋体" charset="0"/>
              <a:ea typeface="宋体" charset="0"/>
            </a:endParaRPr>
          </a:p>
          <a:p>
            <a:pPr latinLnBrk="1"/>
            <a:endParaRPr lang="en-US" altLang="zh-CN" sz="2000" dirty="0">
              <a:latin typeface="宋体" charset="0"/>
              <a:ea typeface="宋体" charset="0"/>
            </a:endParaRPr>
          </a:p>
          <a:p>
            <a:pPr latinLnBrk="1"/>
            <a:r>
              <a:rPr lang="en-US" altLang="zh-CN" sz="1600" dirty="0" smtClean="0">
                <a:latin typeface="宋体" charset="0"/>
                <a:ea typeface="宋体" charset="0"/>
              </a:rPr>
              <a:t>1</a:t>
            </a:r>
            <a:r>
              <a:rPr lang="zh-CN" altLang="en-US" sz="1600" dirty="0" smtClean="0">
                <a:latin typeface="宋体" charset="0"/>
                <a:ea typeface="宋体" charset="0"/>
              </a:rPr>
              <a:t>、官方网站：</a:t>
            </a:r>
            <a:r>
              <a:rPr lang="en-US" altLang="zh-CN" sz="1600" dirty="0">
                <a:latin typeface="宋体" charset="0"/>
                <a:ea typeface="宋体" charset="0"/>
              </a:rPr>
              <a:t>https://</a:t>
            </a:r>
            <a:r>
              <a:rPr lang="en-US" altLang="zh-CN" sz="1600" dirty="0" smtClean="0">
                <a:latin typeface="宋体" charset="0"/>
                <a:ea typeface="宋体" charset="0"/>
              </a:rPr>
              <a:t>www.linux.org</a:t>
            </a:r>
          </a:p>
          <a:p>
            <a:endParaRPr lang="en-US" altLang="zh-CN" sz="1600" dirty="0">
              <a:latin typeface="宋体" charset="0"/>
              <a:ea typeface="宋体" charset="0"/>
            </a:endParaRPr>
          </a:p>
          <a:p>
            <a:r>
              <a:rPr lang="en-US" altLang="zh-CN" sz="1600" dirty="0" smtClean="0">
                <a:latin typeface="宋体" charset="0"/>
                <a:ea typeface="宋体" charset="0"/>
              </a:rPr>
              <a:t>2</a:t>
            </a:r>
            <a:r>
              <a:rPr lang="zh-CN" altLang="en-US" sz="1600" dirty="0" smtClean="0">
                <a:latin typeface="宋体" charset="0"/>
                <a:ea typeface="宋体" charset="0"/>
              </a:rPr>
              <a:t>、学习教程：</a:t>
            </a:r>
            <a:r>
              <a:rPr lang="en-US" altLang="zh-CN" sz="1600" dirty="0">
                <a:latin typeface="宋体" charset="0"/>
                <a:ea typeface="宋体" charset="0"/>
              </a:rPr>
              <a:t>https://www.runoob.com/linux/linux-tutorial.html</a:t>
            </a:r>
            <a:endParaRPr lang="zh-CN" altLang="en-US" sz="1600" dirty="0">
              <a:latin typeface="宋体" charset="0"/>
              <a:ea typeface="宋体" charset="0"/>
            </a:endParaRPr>
          </a:p>
          <a:p>
            <a:endParaRPr lang="zh-CN" altLang="en-US" sz="2400" dirty="0">
              <a:latin typeface="宋体" charset="0"/>
              <a:ea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6846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2500306"/>
            <a:ext cx="9144000" cy="1357322"/>
          </a:xfrm>
        </p:spPr>
        <p:txBody>
          <a:bodyPr/>
          <a:lstStyle/>
          <a:p>
            <a:pPr algn="ctr"/>
            <a:r>
              <a:rPr lang="en-US" altLang="zh-CN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Thank you!</a:t>
            </a:r>
            <a:endParaRPr lang="zh-CN" altLang="en-US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sxK3DYwUEmJFmCBD_g80w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9JGY0cqWUuGVCspJlvvVg"/>
</p:tagLst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ysClr val="window" lastClr="FFFFFF"/>
      </a:lt1>
      <a:dk2>
        <a:srgbClr val="272727"/>
      </a:dk2>
      <a:lt2>
        <a:srgbClr val="F8F8F8"/>
      </a:lt2>
      <a:accent1>
        <a:srgbClr val="007AB8"/>
      </a:accent1>
      <a:accent2>
        <a:srgbClr val="EEA420"/>
      </a:accent2>
      <a:accent3>
        <a:srgbClr val="ABCB2A"/>
      </a:accent3>
      <a:accent4>
        <a:srgbClr val="12A9D9"/>
      </a:accent4>
      <a:accent5>
        <a:srgbClr val="505150"/>
      </a:accent5>
      <a:accent6>
        <a:srgbClr val="636463"/>
      </a:accent6>
      <a:hlink>
        <a:srgbClr val="8D8E8D"/>
      </a:hlink>
      <a:folHlink>
        <a:srgbClr val="B2B3B2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1562</TotalTime>
  <Words>3080</Words>
  <Application>Microsoft Office PowerPoint</Application>
  <PresentationFormat>全屏显示(4:3)</PresentationFormat>
  <Paragraphs>323</Paragraphs>
  <Slides>26</Slides>
  <Notes>0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28" baseType="lpstr">
      <vt:lpstr>Office Theme</vt:lpstr>
      <vt:lpstr>think-cell Slide</vt:lpstr>
      <vt:lpstr>PowerPoint 演示文稿</vt:lpstr>
      <vt:lpstr>PowerPoint 演示文稿</vt:lpstr>
      <vt:lpstr>一、Linux简介</vt:lpstr>
      <vt:lpstr>一、Linux简介</vt:lpstr>
      <vt:lpstr>一、Linux简介</vt:lpstr>
      <vt:lpstr>二、Linux常用命令</vt:lpstr>
      <vt:lpstr>二、Linux常用命令</vt:lpstr>
      <vt:lpstr>二、Linux常用命令</vt:lpstr>
      <vt:lpstr>二、Linux常用命令</vt:lpstr>
      <vt:lpstr>二、Linux常用命令</vt:lpstr>
      <vt:lpstr>二、Linux常用命令</vt:lpstr>
      <vt:lpstr>二、Linux常用命令</vt:lpstr>
      <vt:lpstr>二、Linux常用命令</vt:lpstr>
      <vt:lpstr>二、Linux常用命令</vt:lpstr>
      <vt:lpstr>二、Linux常用命令</vt:lpstr>
      <vt:lpstr>二、Linux常用命令</vt:lpstr>
      <vt:lpstr>二、Linux常用命令</vt:lpstr>
      <vt:lpstr>二、Linux常用命令</vt:lpstr>
      <vt:lpstr>二、Linux常用命令</vt:lpstr>
      <vt:lpstr>二、Linux常用命令</vt:lpstr>
      <vt:lpstr>二、Linux常用命令</vt:lpstr>
      <vt:lpstr>二、Linux常用命令</vt:lpstr>
      <vt:lpstr>二、Linux常用命令</vt:lpstr>
      <vt:lpstr>二、Linux常用命令</vt:lpstr>
      <vt:lpstr>PowerPoint 演示文稿</vt:lpstr>
      <vt:lpstr>Thank you!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Gee Hwee Lim</dc:creator>
  <cp:lastModifiedBy>杨洲</cp:lastModifiedBy>
  <cp:revision>1053</cp:revision>
  <dcterms:created xsi:type="dcterms:W3CDTF">2013-04-17T08:02:00Z</dcterms:created>
  <dcterms:modified xsi:type="dcterms:W3CDTF">2019-07-16T04:53:52Z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2052-10.1.0.5740</vt:lpwstr>
  </property>
</Properties>
</file>
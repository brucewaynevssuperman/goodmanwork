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256" r:id="rId2"/>
    <p:sldId id="292" r:id="rId3"/>
    <p:sldId id="259" r:id="rId4"/>
    <p:sldId id="304" r:id="rId5"/>
    <p:sldId id="263" r:id="rId6"/>
    <p:sldId id="303" r:id="rId7"/>
    <p:sldId id="305" r:id="rId8"/>
    <p:sldId id="308" r:id="rId9"/>
    <p:sldId id="306" r:id="rId10"/>
    <p:sldId id="312" r:id="rId11"/>
    <p:sldId id="298" r:id="rId12"/>
    <p:sldId id="315" r:id="rId13"/>
    <p:sldId id="300" r:id="rId14"/>
    <p:sldId id="299" r:id="rId15"/>
    <p:sldId id="301" r:id="rId16"/>
    <p:sldId id="323" r:id="rId17"/>
    <p:sldId id="320" r:id="rId18"/>
    <p:sldId id="321" r:id="rId19"/>
    <p:sldId id="326" r:id="rId20"/>
    <p:sldId id="318" r:id="rId21"/>
    <p:sldId id="314" r:id="rId22"/>
    <p:sldId id="316" r:id="rId23"/>
    <p:sldId id="327" r:id="rId24"/>
    <p:sldId id="319" r:id="rId25"/>
    <p:sldId id="328" r:id="rId26"/>
    <p:sldId id="341" r:id="rId27"/>
    <p:sldId id="342" r:id="rId28"/>
    <p:sldId id="344" r:id="rId29"/>
    <p:sldId id="332" r:id="rId30"/>
    <p:sldId id="325" r:id="rId31"/>
    <p:sldId id="324" r:id="rId32"/>
    <p:sldId id="317" r:id="rId33"/>
    <p:sldId id="329" r:id="rId34"/>
    <p:sldId id="331" r:id="rId35"/>
    <p:sldId id="333" r:id="rId36"/>
    <p:sldId id="334" r:id="rId37"/>
    <p:sldId id="335" r:id="rId38"/>
    <p:sldId id="336" r:id="rId39"/>
    <p:sldId id="338" r:id="rId40"/>
    <p:sldId id="339" r:id="rId41"/>
    <p:sldId id="340" r:id="rId42"/>
    <p:sldId id="311" r:id="rId43"/>
    <p:sldId id="313" r:id="rId44"/>
    <p:sldId id="288" r:id="rId45"/>
  </p:sldIdLst>
  <p:sldSz cx="9144000" cy="5143500" type="screen16x9"/>
  <p:notesSz cx="6858000" cy="9144000"/>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367"/>
    <a:srgbClr val="1D4865"/>
    <a:srgbClr val="1D4971"/>
    <a:srgbClr val="51B3CD"/>
    <a:srgbClr val="83C2DB"/>
    <a:srgbClr val="2980B4"/>
    <a:srgbClr val="4287C6"/>
    <a:srgbClr val="278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257" autoAdjust="0"/>
  </p:normalViewPr>
  <p:slideViewPr>
    <p:cSldViewPr snapToGrid="0">
      <p:cViewPr varScale="1">
        <p:scale>
          <a:sx n="127" d="100"/>
          <a:sy n="127" d="100"/>
        </p:scale>
        <p:origin x="540" y="114"/>
      </p:cViewPr>
      <p:guideLst>
        <p:guide orient="horz" pos="1620"/>
        <p:guide pos="2880"/>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2018-7-25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1967190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2018-7-25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82649715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49990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060103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788286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1531442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66434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261880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900" dirty="0">
                <a:solidFill>
                  <a:srgbClr val="333333"/>
                </a:solidFill>
                <a:latin typeface="+mn-ea"/>
              </a:rPr>
              <a:t>优秀的单元测试具有极高的价值，它可以阐述你的设计、可以让重构变得容易，在扩展代码之前对每个单元的行为有一个清晰的整体印象。 </a:t>
            </a:r>
            <a:endParaRPr lang="en-US" altLang="zh-CN" sz="900" dirty="0">
              <a:solidFill>
                <a:srgbClr val="333333"/>
              </a:solidFill>
              <a:latin typeface="+mn-ea"/>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92562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782941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单元测试可能产生极高的价值，却也可能造成极大的负担，这都取决于单元测试编写的质量。而优秀的单元测试，则取决于编写者能否很好地理解单元测试的原则和目标。</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800527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633573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452227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创建</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交易订单</a:t>
            </a:r>
          </a:p>
          <a:p>
            <a:r>
              <a:rPr lang="zh-CN" altLang="en-US" sz="900" kern="1200" dirty="0">
                <a:solidFill>
                  <a:schemeClr val="tx1"/>
                </a:solidFill>
                <a:latin typeface="+mn-lt"/>
                <a:ea typeface="+mn-ea"/>
                <a:cs typeface="+mn-cs"/>
              </a:rPr>
              <a:t> * 期望入参：重复的交易订单的请求对象</a:t>
            </a:r>
          </a:p>
          <a:p>
            <a:r>
              <a:rPr lang="zh-CN" altLang="en-US" sz="900" kern="1200" dirty="0">
                <a:solidFill>
                  <a:schemeClr val="tx1"/>
                </a:solidFill>
                <a:latin typeface="+mn-lt"/>
                <a:ea typeface="+mn-ea"/>
                <a:cs typeface="+mn-cs"/>
              </a:rPr>
              <a:t> * 期望出参：返回支付订单号</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testB2COrderReq()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初始化数据</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创建订单映射</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获取交易订单号</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createMapOrder</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订单请求对象</a:t>
            </a:r>
          </a:p>
          <a:p>
            <a:pPr lvl="1"/>
            <a:r>
              <a:rPr lang="en-US" altLang="zh-CN" sz="900" kern="1200" dirty="0">
                <a:solidFill>
                  <a:schemeClr val="tx1"/>
                </a:solidFill>
                <a:latin typeface="+mn-lt"/>
                <a:ea typeface="+mn-ea"/>
                <a:cs typeface="+mn-cs"/>
              </a:rPr>
              <a:t>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 b2COrderFacadeImpl.b2COrderReq(req);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校验保存的订单信息</a:t>
            </a:r>
          </a:p>
          <a:p>
            <a:pPr lvl="1"/>
            <a:r>
              <a:rPr lang="en-US" altLang="zh-CN" sz="900" kern="1200" dirty="0">
                <a:solidFill>
                  <a:schemeClr val="tx1"/>
                </a:solidFill>
                <a:latin typeface="+mn-lt"/>
                <a:ea typeface="+mn-ea"/>
                <a:cs typeface="+mn-cs"/>
              </a:rPr>
              <a:t>checkSaveB2COrderReq(req,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校验保存的订单信息</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checkSaveB2COrderReq(B2COrderReq req, String </a:t>
            </a:r>
            <a:r>
              <a:rPr lang="en-US" altLang="zh-CN" sz="900" b="1" kern="1200" dirty="0" err="1">
                <a:solidFill>
                  <a:schemeClr val="tx1"/>
                </a:solidFill>
                <a:latin typeface="+mn-lt"/>
                <a:ea typeface="+mn-ea"/>
                <a:cs typeface="+mn-cs"/>
              </a:rPr>
              <a:t>payTotalNo</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查询已保存的订单信息</a:t>
            </a:r>
          </a:p>
          <a:p>
            <a:pPr lvl="1"/>
            <a:r>
              <a:rPr lang="en-US" altLang="zh-CN" sz="900" kern="1200" dirty="0">
                <a:solidFill>
                  <a:schemeClr val="tx1"/>
                </a:solidFill>
                <a:latin typeface="+mn-lt"/>
                <a:ea typeface="+mn-ea"/>
                <a:cs typeface="+mn-cs"/>
              </a:rPr>
              <a:t>B2COrderRsp </a:t>
            </a:r>
            <a:r>
              <a:rPr lang="en-US" altLang="zh-CN" sz="900" kern="1200" dirty="0" err="1">
                <a:solidFill>
                  <a:schemeClr val="tx1"/>
                </a:solidFill>
                <a:latin typeface="+mn-lt"/>
                <a:ea typeface="+mn-ea"/>
                <a:cs typeface="+mn-cs"/>
              </a:rPr>
              <a:t>rsp</a:t>
            </a:r>
            <a:r>
              <a:rPr lang="en-US" altLang="zh-CN" sz="900" kern="1200" dirty="0">
                <a:solidFill>
                  <a:schemeClr val="tx1"/>
                </a:solidFill>
                <a:latin typeface="+mn-lt"/>
                <a:ea typeface="+mn-ea"/>
                <a:cs typeface="+mn-cs"/>
              </a:rPr>
              <a:t> = queryB2COrderRsp(</a:t>
            </a:r>
            <a:r>
              <a:rPr lang="en-US" altLang="zh-CN" sz="900" kern="1200" dirty="0" err="1">
                <a:solidFill>
                  <a:schemeClr val="tx1"/>
                </a:solidFill>
                <a:latin typeface="+mn-lt"/>
                <a:ea typeface="+mn-ea"/>
                <a:cs typeface="+mn-cs"/>
              </a:rPr>
              <a:t>req.getTradeNo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校验传入数据是否都保存正确</a:t>
            </a:r>
          </a:p>
          <a:p>
            <a:pPr lvl="1"/>
            <a:r>
              <a:rPr lang="en-US" altLang="zh-CN" sz="900" kern="1200" dirty="0">
                <a:solidFill>
                  <a:schemeClr val="tx1"/>
                </a:solidFill>
                <a:latin typeface="+mn-lt"/>
                <a:ea typeface="+mn-ea"/>
                <a:cs typeface="+mn-cs"/>
              </a:rPr>
              <a:t>checkSaveB2COrderReq(req,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rsp</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en-US" altLang="zh-CN"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校验传入数据是否都保存正确</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a:t>
            </a:r>
            <a:r>
              <a:rPr lang="en-US" altLang="zh-CN" sz="900" b="1" kern="1200" dirty="0" err="1">
                <a:solidFill>
                  <a:schemeClr val="tx1"/>
                </a:solidFill>
                <a:latin typeface="+mn-lt"/>
                <a:ea typeface="+mn-ea"/>
                <a:cs typeface="+mn-cs"/>
              </a:rPr>
              <a:t>payTotalNo</a:t>
            </a:r>
            <a:endParaRPr lang="en-US" altLang="zh-CN" sz="900" b="1"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a:t>
            </a:r>
            <a:r>
              <a:rPr lang="en-US" altLang="zh-CN" sz="900" b="1" kern="1200" dirty="0" err="1">
                <a:solidFill>
                  <a:schemeClr val="tx1"/>
                </a:solidFill>
                <a:latin typeface="+mn-lt"/>
                <a:ea typeface="+mn-ea"/>
                <a:cs typeface="+mn-cs"/>
              </a:rPr>
              <a:t>rsp</a:t>
            </a:r>
            <a:endParaRPr lang="en-US" altLang="zh-CN" sz="900" b="1" kern="1200" dirty="0">
              <a:solidFill>
                <a:schemeClr val="tx1"/>
              </a:solidFill>
              <a:latin typeface="+mn-lt"/>
              <a:ea typeface="+mn-ea"/>
              <a:cs typeface="+mn-cs"/>
            </a:endParaRP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a:t>
            </a:r>
            <a:r>
              <a:rPr lang="en-US" altLang="zh-CN" sz="900" b="1" u="sng" kern="1200" dirty="0">
                <a:solidFill>
                  <a:schemeClr val="tx1"/>
                </a:solidFill>
                <a:latin typeface="+mn-lt"/>
                <a:ea typeface="+mn-ea"/>
                <a:cs typeface="+mn-cs"/>
              </a:rPr>
              <a:t>checkSaveB2COrderReq(B2COrderReq req, String </a:t>
            </a:r>
            <a:r>
              <a:rPr lang="en-US" altLang="zh-CN" sz="900" b="1" u="sng" kern="1200" dirty="0" err="1">
                <a:solidFill>
                  <a:schemeClr val="tx1"/>
                </a:solidFill>
                <a:latin typeface="+mn-lt"/>
                <a:ea typeface="+mn-ea"/>
                <a:cs typeface="+mn-cs"/>
              </a:rPr>
              <a:t>payTotalNo</a:t>
            </a:r>
            <a:r>
              <a:rPr lang="en-US" altLang="zh-CN" sz="900" b="1" u="sng" kern="1200" dirty="0">
                <a:solidFill>
                  <a:schemeClr val="tx1"/>
                </a:solidFill>
                <a:latin typeface="+mn-lt"/>
                <a:ea typeface="+mn-ea"/>
                <a:cs typeface="+mn-cs"/>
              </a:rPr>
              <a:t>, B2COrderRsp </a:t>
            </a:r>
            <a:r>
              <a:rPr lang="en-US" altLang="zh-CN" sz="900" b="1" u="sng" kern="1200" dirty="0" err="1">
                <a:solidFill>
                  <a:schemeClr val="tx1"/>
                </a:solidFill>
                <a:latin typeface="+mn-lt"/>
                <a:ea typeface="+mn-ea"/>
                <a:cs typeface="+mn-cs"/>
              </a:rPr>
              <a:t>rsp</a:t>
            </a:r>
            <a:r>
              <a:rPr lang="en-US" altLang="zh-CN" sz="900" b="1" u="sng"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校验支付总单号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payTotalNo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getPayTotalNo</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交易订单号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req.getTrade_no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getTradeNo</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商户交易订单号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req.getOutTradeNo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getOutTradeNo</a:t>
            </a:r>
            <a:r>
              <a:rPr lang="en-US" altLang="zh-CN" sz="900" i="1" u="sng" kern="1200" dirty="0">
                <a:solidFill>
                  <a:schemeClr val="tx1"/>
                </a:solidFill>
                <a:latin typeface="+mn-lt"/>
                <a:ea typeface="+mn-ea"/>
                <a:cs typeface="+mn-cs"/>
              </a:rPr>
              <a:t>());</a:t>
            </a:r>
          </a:p>
          <a:p>
            <a:pPr lvl="1"/>
            <a:endParaRPr lang="en-US" altLang="zh-CN"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其它交易信息参数校验</a:t>
            </a:r>
          </a:p>
          <a:p>
            <a:pPr lvl="1"/>
            <a:r>
              <a:rPr lang="en-US" altLang="zh-CN" sz="900" u="none"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714606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301012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创建</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交易订单</a:t>
            </a:r>
          </a:p>
          <a:p>
            <a:r>
              <a:rPr lang="zh-CN" altLang="en-US" sz="900" kern="1200" dirty="0">
                <a:solidFill>
                  <a:schemeClr val="tx1"/>
                </a:solidFill>
                <a:latin typeface="+mn-lt"/>
                <a:ea typeface="+mn-ea"/>
                <a:cs typeface="+mn-cs"/>
              </a:rPr>
              <a:t> * 期望入参：重复的交易订单的请求对象</a:t>
            </a:r>
          </a:p>
          <a:p>
            <a:r>
              <a:rPr lang="zh-CN" altLang="en-US" sz="900" kern="1200" dirty="0">
                <a:solidFill>
                  <a:schemeClr val="tx1"/>
                </a:solidFill>
                <a:latin typeface="+mn-lt"/>
                <a:ea typeface="+mn-ea"/>
                <a:cs typeface="+mn-cs"/>
              </a:rPr>
              <a:t> * 期望出参：返回支付订单号</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testB2COrderReq()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初始化数据</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创建订单映射</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获取交易订单号</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createMapOrder</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订单请求对象</a:t>
            </a:r>
          </a:p>
          <a:p>
            <a:pPr lvl="1"/>
            <a:r>
              <a:rPr lang="en-US" altLang="zh-CN" sz="900" kern="1200" dirty="0">
                <a:solidFill>
                  <a:schemeClr val="tx1"/>
                </a:solidFill>
                <a:latin typeface="+mn-lt"/>
                <a:ea typeface="+mn-ea"/>
                <a:cs typeface="+mn-cs"/>
              </a:rPr>
              <a:t>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 b2COrderFacadeImpl.b2COrderReq(req);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校验保存的订单信息</a:t>
            </a:r>
          </a:p>
          <a:p>
            <a:pPr lvl="1"/>
            <a:r>
              <a:rPr lang="en-US" altLang="zh-CN" sz="900" kern="1200" dirty="0">
                <a:solidFill>
                  <a:schemeClr val="tx1"/>
                </a:solidFill>
                <a:latin typeface="+mn-lt"/>
                <a:ea typeface="+mn-ea"/>
                <a:cs typeface="+mn-cs"/>
              </a:rPr>
              <a:t>checkSaveB2COrderReq(req,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校验保存的订单信息</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checkSaveB2COrderReq(B2COrderReq req, String </a:t>
            </a:r>
            <a:r>
              <a:rPr lang="en-US" altLang="zh-CN" sz="900" b="1" kern="1200" dirty="0" err="1">
                <a:solidFill>
                  <a:schemeClr val="tx1"/>
                </a:solidFill>
                <a:latin typeface="+mn-lt"/>
                <a:ea typeface="+mn-ea"/>
                <a:cs typeface="+mn-cs"/>
              </a:rPr>
              <a:t>payTotalNo</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查询已保存的订单信息</a:t>
            </a:r>
          </a:p>
          <a:p>
            <a:pPr lvl="1"/>
            <a:r>
              <a:rPr lang="en-US" altLang="zh-CN" sz="900" kern="1200" dirty="0">
                <a:solidFill>
                  <a:schemeClr val="tx1"/>
                </a:solidFill>
                <a:latin typeface="+mn-lt"/>
                <a:ea typeface="+mn-ea"/>
                <a:cs typeface="+mn-cs"/>
              </a:rPr>
              <a:t>B2COrderRsp </a:t>
            </a:r>
            <a:r>
              <a:rPr lang="en-US" altLang="zh-CN" sz="900" kern="1200" dirty="0" err="1">
                <a:solidFill>
                  <a:schemeClr val="tx1"/>
                </a:solidFill>
                <a:latin typeface="+mn-lt"/>
                <a:ea typeface="+mn-ea"/>
                <a:cs typeface="+mn-cs"/>
              </a:rPr>
              <a:t>rsp</a:t>
            </a:r>
            <a:r>
              <a:rPr lang="en-US" altLang="zh-CN" sz="900" kern="1200" dirty="0">
                <a:solidFill>
                  <a:schemeClr val="tx1"/>
                </a:solidFill>
                <a:latin typeface="+mn-lt"/>
                <a:ea typeface="+mn-ea"/>
                <a:cs typeface="+mn-cs"/>
              </a:rPr>
              <a:t> = queryB2COrderRsp(</a:t>
            </a:r>
            <a:r>
              <a:rPr lang="en-US" altLang="zh-CN" sz="900" kern="1200" dirty="0" err="1">
                <a:solidFill>
                  <a:schemeClr val="tx1"/>
                </a:solidFill>
                <a:latin typeface="+mn-lt"/>
                <a:ea typeface="+mn-ea"/>
                <a:cs typeface="+mn-cs"/>
              </a:rPr>
              <a:t>req.getTradeNo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校验传入数据是否都保存正确</a:t>
            </a:r>
          </a:p>
          <a:p>
            <a:pPr lvl="1"/>
            <a:r>
              <a:rPr lang="en-US" altLang="zh-CN" sz="900" kern="1200" dirty="0">
                <a:solidFill>
                  <a:schemeClr val="tx1"/>
                </a:solidFill>
                <a:latin typeface="+mn-lt"/>
                <a:ea typeface="+mn-ea"/>
                <a:cs typeface="+mn-cs"/>
              </a:rPr>
              <a:t>checkSaveB2COrderReq(req,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rsp</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en-US" altLang="zh-CN"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校验传入数据是否都保存正确</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a:t>
            </a:r>
            <a:r>
              <a:rPr lang="en-US" altLang="zh-CN" sz="900" b="1" kern="1200" dirty="0" err="1">
                <a:solidFill>
                  <a:schemeClr val="tx1"/>
                </a:solidFill>
                <a:latin typeface="+mn-lt"/>
                <a:ea typeface="+mn-ea"/>
                <a:cs typeface="+mn-cs"/>
              </a:rPr>
              <a:t>payTotalNo</a:t>
            </a:r>
            <a:endParaRPr lang="en-US" altLang="zh-CN" sz="900" b="1"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a:t>
            </a:r>
            <a:r>
              <a:rPr lang="en-US" altLang="zh-CN" sz="900" b="1" kern="1200" dirty="0" err="1">
                <a:solidFill>
                  <a:schemeClr val="tx1"/>
                </a:solidFill>
                <a:latin typeface="+mn-lt"/>
                <a:ea typeface="+mn-ea"/>
                <a:cs typeface="+mn-cs"/>
              </a:rPr>
              <a:t>rsp</a:t>
            </a:r>
            <a:endParaRPr lang="en-US" altLang="zh-CN" sz="900" b="1" kern="1200" dirty="0">
              <a:solidFill>
                <a:schemeClr val="tx1"/>
              </a:solidFill>
              <a:latin typeface="+mn-lt"/>
              <a:ea typeface="+mn-ea"/>
              <a:cs typeface="+mn-cs"/>
            </a:endParaRP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a:t>
            </a:r>
            <a:r>
              <a:rPr lang="en-US" altLang="zh-CN" sz="900" b="1" u="sng" kern="1200" dirty="0">
                <a:solidFill>
                  <a:schemeClr val="tx1"/>
                </a:solidFill>
                <a:latin typeface="+mn-lt"/>
                <a:ea typeface="+mn-ea"/>
                <a:cs typeface="+mn-cs"/>
              </a:rPr>
              <a:t>checkSaveB2COrderReq(B2COrderReq req, String </a:t>
            </a:r>
            <a:r>
              <a:rPr lang="en-US" altLang="zh-CN" sz="900" b="1" u="sng" kern="1200" dirty="0" err="1">
                <a:solidFill>
                  <a:schemeClr val="tx1"/>
                </a:solidFill>
                <a:latin typeface="+mn-lt"/>
                <a:ea typeface="+mn-ea"/>
                <a:cs typeface="+mn-cs"/>
              </a:rPr>
              <a:t>payTotalNo</a:t>
            </a:r>
            <a:r>
              <a:rPr lang="en-US" altLang="zh-CN" sz="900" b="1" u="sng" kern="1200" dirty="0">
                <a:solidFill>
                  <a:schemeClr val="tx1"/>
                </a:solidFill>
                <a:latin typeface="+mn-lt"/>
                <a:ea typeface="+mn-ea"/>
                <a:cs typeface="+mn-cs"/>
              </a:rPr>
              <a:t>, B2COrderRsp </a:t>
            </a:r>
            <a:r>
              <a:rPr lang="en-US" altLang="zh-CN" sz="900" b="1" u="sng" kern="1200" dirty="0" err="1">
                <a:solidFill>
                  <a:schemeClr val="tx1"/>
                </a:solidFill>
                <a:latin typeface="+mn-lt"/>
                <a:ea typeface="+mn-ea"/>
                <a:cs typeface="+mn-cs"/>
              </a:rPr>
              <a:t>rsp</a:t>
            </a:r>
            <a:r>
              <a:rPr lang="en-US" altLang="zh-CN" sz="900" b="1" u="sng"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校验支付总单号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payTotalNo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getPayTotalNo</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交易订单号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req.getTrade_no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getTradeNo</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商户交易订单号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req.getOutTradeNo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getOutTradeNo</a:t>
            </a:r>
            <a:r>
              <a:rPr lang="en-US" altLang="zh-CN" sz="900" i="1" u="sng" kern="1200" dirty="0">
                <a:solidFill>
                  <a:schemeClr val="tx1"/>
                </a:solidFill>
                <a:latin typeface="+mn-lt"/>
                <a:ea typeface="+mn-ea"/>
                <a:cs typeface="+mn-cs"/>
              </a:rPr>
              <a:t>());</a:t>
            </a:r>
          </a:p>
          <a:p>
            <a:pPr lvl="1"/>
            <a:endParaRPr lang="en-US" altLang="zh-CN"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其它交易信息参数校验</a:t>
            </a:r>
          </a:p>
          <a:p>
            <a:pPr lvl="1"/>
            <a:r>
              <a:rPr lang="en-US" altLang="zh-CN" sz="900" u="none"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139738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@Rule</a:t>
            </a:r>
          </a:p>
          <a:p>
            <a:r>
              <a:rPr lang="en-US" altLang="zh-CN" sz="900" b="1" kern="1200" dirty="0">
                <a:solidFill>
                  <a:schemeClr val="tx1"/>
                </a:solidFill>
                <a:latin typeface="+mn-lt"/>
                <a:ea typeface="+mn-ea"/>
                <a:cs typeface="+mn-cs"/>
              </a:rPr>
              <a:t>public </a:t>
            </a:r>
            <a:r>
              <a:rPr lang="en-US" altLang="zh-CN" sz="900" b="1" kern="1200" dirty="0" err="1">
                <a:solidFill>
                  <a:schemeClr val="tx1"/>
                </a:solidFill>
                <a:latin typeface="+mn-lt"/>
                <a:ea typeface="+mn-ea"/>
                <a:cs typeface="+mn-cs"/>
              </a:rPr>
              <a:t>ExpectedException</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expectedException</a:t>
            </a:r>
            <a:r>
              <a:rPr lang="en-US" altLang="zh-CN" sz="900" b="1" kern="1200" dirty="0">
                <a:solidFill>
                  <a:schemeClr val="tx1"/>
                </a:solidFill>
                <a:latin typeface="+mn-lt"/>
                <a:ea typeface="+mn-ea"/>
                <a:cs typeface="+mn-cs"/>
              </a:rPr>
              <a:t> = </a:t>
            </a:r>
            <a:r>
              <a:rPr lang="en-US" altLang="zh-CN" sz="900" b="1" kern="1200" dirty="0" err="1">
                <a:solidFill>
                  <a:schemeClr val="tx1"/>
                </a:solidFill>
                <a:latin typeface="+mn-lt"/>
                <a:ea typeface="+mn-ea"/>
                <a:cs typeface="+mn-cs"/>
              </a:rPr>
              <a:t>ExpectedException.</a:t>
            </a:r>
            <a:r>
              <a:rPr lang="en-US" altLang="zh-CN" sz="900" b="1" i="1" kern="1200" dirty="0" err="1">
                <a:solidFill>
                  <a:schemeClr val="tx1"/>
                </a:solidFill>
                <a:latin typeface="+mn-lt"/>
                <a:ea typeface="+mn-ea"/>
                <a:cs typeface="+mn-cs"/>
              </a:rPr>
              <a:t>none</a:t>
            </a:r>
            <a:r>
              <a:rPr lang="en-US" altLang="zh-CN" sz="900" b="1" i="1"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创建</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交易订单</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幂等测试</a:t>
            </a:r>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期望入参：重复的交易订单的请求对象</a:t>
            </a:r>
          </a:p>
          <a:p>
            <a:r>
              <a:rPr lang="zh-CN" altLang="en-US" sz="900" kern="1200" dirty="0">
                <a:solidFill>
                  <a:schemeClr val="tx1"/>
                </a:solidFill>
                <a:latin typeface="+mn-lt"/>
                <a:ea typeface="+mn-ea"/>
                <a:cs typeface="+mn-cs"/>
              </a:rPr>
              <a:t> * 期望结果：业务异常</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错误码为订单已存在</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testB2COrderReqForIdempotent()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期望业务异常</a:t>
            </a:r>
          </a:p>
          <a:p>
            <a:pPr lvl="1"/>
            <a:r>
              <a:rPr lang="en-US" altLang="zh-CN" sz="900" kern="1200" dirty="0" err="1">
                <a:solidFill>
                  <a:schemeClr val="tx1"/>
                </a:solidFill>
                <a:latin typeface="+mn-lt"/>
                <a:ea typeface="+mn-ea"/>
                <a:cs typeface="+mn-cs"/>
              </a:rPr>
              <a:t>expectedException.expect</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BusinessRuntimeException.</a:t>
            </a:r>
            <a:r>
              <a:rPr lang="en-US" altLang="zh-CN" sz="900" b="1" kern="1200" dirty="0" err="1">
                <a:solidFill>
                  <a:schemeClr val="tx1"/>
                </a:solidFill>
                <a:latin typeface="+mn-lt"/>
                <a:ea typeface="+mn-ea"/>
                <a:cs typeface="+mn-cs"/>
              </a:rPr>
              <a:t>class</a:t>
            </a:r>
            <a:r>
              <a:rPr lang="en-US" altLang="zh-CN" sz="900" b="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expectedException.expectMessage</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ErrorCodeEnum.</a:t>
            </a:r>
            <a:r>
              <a:rPr lang="en-US" altLang="zh-CN" sz="900" b="1" i="1" kern="1200" dirty="0" err="1">
                <a:solidFill>
                  <a:schemeClr val="tx1"/>
                </a:solidFill>
                <a:latin typeface="+mn-lt"/>
                <a:ea typeface="+mn-ea"/>
                <a:cs typeface="+mn-cs"/>
              </a:rPr>
              <a:t>ERR_ORDER_EXIST.getCode</a:t>
            </a:r>
            <a:r>
              <a:rPr lang="en-US" altLang="zh-CN" sz="900" b="1"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初始化数据</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创建订单映射</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获取交易订单号</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createMapOrder</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订单请求对象</a:t>
            </a:r>
          </a:p>
          <a:p>
            <a:pPr lvl="1"/>
            <a:r>
              <a:rPr lang="en-US" altLang="zh-CN" sz="900" kern="1200" dirty="0">
                <a:solidFill>
                  <a:schemeClr val="tx1"/>
                </a:solidFill>
                <a:latin typeface="+mn-lt"/>
                <a:ea typeface="+mn-ea"/>
                <a:cs typeface="+mn-cs"/>
              </a:rPr>
              <a:t>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a:solidFill>
                  <a:schemeClr val="tx1"/>
                </a:solidFill>
                <a:latin typeface="+mn-lt"/>
                <a:ea typeface="+mn-ea"/>
                <a:cs typeface="+mn-cs"/>
              </a:rPr>
              <a:t>b2COrderFacadeImpl.b2COrderReq(req);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再次发起请求</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幂等异常</a:t>
            </a:r>
          </a:p>
          <a:p>
            <a:pPr lvl="1"/>
            <a:r>
              <a:rPr lang="en-US" altLang="zh-CN" sz="900" kern="1200" dirty="0">
                <a:solidFill>
                  <a:schemeClr val="tx1"/>
                </a:solidFill>
                <a:latin typeface="+mn-lt"/>
                <a:ea typeface="+mn-ea"/>
                <a:cs typeface="+mn-cs"/>
              </a:rPr>
              <a:t>b2COrderFacadeImpl.b2COrderReq(req);</a:t>
            </a:r>
          </a:p>
          <a:p>
            <a:r>
              <a:rPr lang="en-US" altLang="zh-CN" sz="900" kern="1200" dirty="0">
                <a:solidFill>
                  <a:schemeClr val="tx1"/>
                </a:solidFill>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497771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创建</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交易订单</a:t>
            </a:r>
          </a:p>
          <a:p>
            <a:r>
              <a:rPr lang="zh-CN" altLang="en-US" sz="900" kern="1200" dirty="0">
                <a:solidFill>
                  <a:schemeClr val="tx1"/>
                </a:solidFill>
                <a:latin typeface="+mn-lt"/>
                <a:ea typeface="+mn-ea"/>
                <a:cs typeface="+mn-cs"/>
              </a:rPr>
              <a:t> * 期望入参：重复的交易订单的请求对象</a:t>
            </a:r>
          </a:p>
          <a:p>
            <a:r>
              <a:rPr lang="zh-CN" altLang="en-US" sz="900" kern="1200" dirty="0">
                <a:solidFill>
                  <a:schemeClr val="tx1"/>
                </a:solidFill>
                <a:latin typeface="+mn-lt"/>
                <a:ea typeface="+mn-ea"/>
                <a:cs typeface="+mn-cs"/>
              </a:rPr>
              <a:t> * 期望出参：返回支付订单号</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testB2COrderReq()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初始化数据</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创建订单映射</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获取交易订单号</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createMapOrder</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订单请求对象</a:t>
            </a:r>
          </a:p>
          <a:p>
            <a:pPr lvl="1"/>
            <a:r>
              <a:rPr lang="en-US" altLang="zh-CN" sz="900" kern="1200" dirty="0">
                <a:solidFill>
                  <a:schemeClr val="tx1"/>
                </a:solidFill>
                <a:latin typeface="+mn-lt"/>
                <a:ea typeface="+mn-ea"/>
                <a:cs typeface="+mn-cs"/>
              </a:rPr>
              <a:t>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 b2COrderFacadeImpl.b2COrderReq(req);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校验保存的订单信息</a:t>
            </a:r>
          </a:p>
          <a:p>
            <a:pPr lvl="1"/>
            <a:r>
              <a:rPr lang="en-US" altLang="zh-CN" sz="900" kern="1200" dirty="0">
                <a:solidFill>
                  <a:schemeClr val="tx1"/>
                </a:solidFill>
                <a:latin typeface="+mn-lt"/>
                <a:ea typeface="+mn-ea"/>
                <a:cs typeface="+mn-cs"/>
              </a:rPr>
              <a:t>checkSaveB2COrderReq(req,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校验保存的订单信息</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checkSaveB2COrderReq(B2COrderReq req, String </a:t>
            </a:r>
            <a:r>
              <a:rPr lang="en-US" altLang="zh-CN" sz="900" b="1" kern="1200" dirty="0" err="1">
                <a:solidFill>
                  <a:schemeClr val="tx1"/>
                </a:solidFill>
                <a:latin typeface="+mn-lt"/>
                <a:ea typeface="+mn-ea"/>
                <a:cs typeface="+mn-cs"/>
              </a:rPr>
              <a:t>payTotalNo</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查询已保存的订单信息</a:t>
            </a:r>
          </a:p>
          <a:p>
            <a:pPr lvl="1"/>
            <a:r>
              <a:rPr lang="en-US" altLang="zh-CN" sz="900" kern="1200" dirty="0">
                <a:solidFill>
                  <a:schemeClr val="tx1"/>
                </a:solidFill>
                <a:latin typeface="+mn-lt"/>
                <a:ea typeface="+mn-ea"/>
                <a:cs typeface="+mn-cs"/>
              </a:rPr>
              <a:t>B2COrderRsp </a:t>
            </a:r>
            <a:r>
              <a:rPr lang="en-US" altLang="zh-CN" sz="900" kern="1200" dirty="0" err="1">
                <a:solidFill>
                  <a:schemeClr val="tx1"/>
                </a:solidFill>
                <a:latin typeface="+mn-lt"/>
                <a:ea typeface="+mn-ea"/>
                <a:cs typeface="+mn-cs"/>
              </a:rPr>
              <a:t>rsp</a:t>
            </a:r>
            <a:r>
              <a:rPr lang="en-US" altLang="zh-CN" sz="900" kern="1200" dirty="0">
                <a:solidFill>
                  <a:schemeClr val="tx1"/>
                </a:solidFill>
                <a:latin typeface="+mn-lt"/>
                <a:ea typeface="+mn-ea"/>
                <a:cs typeface="+mn-cs"/>
              </a:rPr>
              <a:t> = queryB2COrderRsp(</a:t>
            </a:r>
            <a:r>
              <a:rPr lang="en-US" altLang="zh-CN" sz="900" kern="1200" dirty="0" err="1">
                <a:solidFill>
                  <a:schemeClr val="tx1"/>
                </a:solidFill>
                <a:latin typeface="+mn-lt"/>
                <a:ea typeface="+mn-ea"/>
                <a:cs typeface="+mn-cs"/>
              </a:rPr>
              <a:t>req.getTradeNo</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校验传入数据是否都保存正确</a:t>
            </a:r>
          </a:p>
          <a:p>
            <a:pPr lvl="1"/>
            <a:r>
              <a:rPr lang="en-US" altLang="zh-CN" sz="900" kern="1200" dirty="0">
                <a:solidFill>
                  <a:schemeClr val="tx1"/>
                </a:solidFill>
                <a:latin typeface="+mn-lt"/>
                <a:ea typeface="+mn-ea"/>
                <a:cs typeface="+mn-cs"/>
              </a:rPr>
              <a:t>checkSaveB2COrderReq(req,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rsp</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en-US" altLang="zh-CN"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校验传入数据是否都保存正确</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a:t>
            </a:r>
            <a:r>
              <a:rPr lang="en-US" altLang="zh-CN" sz="900" b="1" kern="1200" dirty="0" err="1">
                <a:solidFill>
                  <a:schemeClr val="tx1"/>
                </a:solidFill>
                <a:latin typeface="+mn-lt"/>
                <a:ea typeface="+mn-ea"/>
                <a:cs typeface="+mn-cs"/>
              </a:rPr>
              <a:t>payTotalNo</a:t>
            </a:r>
            <a:endParaRPr lang="en-US" altLang="zh-CN" sz="900" b="1"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a:t>
            </a:r>
            <a:r>
              <a:rPr lang="en-US" altLang="zh-CN" sz="900" b="1" kern="1200" dirty="0" err="1">
                <a:solidFill>
                  <a:schemeClr val="tx1"/>
                </a:solidFill>
                <a:latin typeface="+mn-lt"/>
                <a:ea typeface="+mn-ea"/>
                <a:cs typeface="+mn-cs"/>
              </a:rPr>
              <a:t>rsp</a:t>
            </a:r>
            <a:endParaRPr lang="en-US" altLang="zh-CN" sz="900" b="1" kern="1200" dirty="0">
              <a:solidFill>
                <a:schemeClr val="tx1"/>
              </a:solidFill>
              <a:latin typeface="+mn-lt"/>
              <a:ea typeface="+mn-ea"/>
              <a:cs typeface="+mn-cs"/>
            </a:endParaRP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a:t>
            </a:r>
            <a:r>
              <a:rPr lang="en-US" altLang="zh-CN" sz="900" b="1" u="sng" kern="1200" dirty="0">
                <a:solidFill>
                  <a:schemeClr val="tx1"/>
                </a:solidFill>
                <a:latin typeface="+mn-lt"/>
                <a:ea typeface="+mn-ea"/>
                <a:cs typeface="+mn-cs"/>
              </a:rPr>
              <a:t>checkSaveB2COrderReq(B2COrderReq req, String </a:t>
            </a:r>
            <a:r>
              <a:rPr lang="en-US" altLang="zh-CN" sz="900" b="1" u="sng" kern="1200" dirty="0" err="1">
                <a:solidFill>
                  <a:schemeClr val="tx1"/>
                </a:solidFill>
                <a:latin typeface="+mn-lt"/>
                <a:ea typeface="+mn-ea"/>
                <a:cs typeface="+mn-cs"/>
              </a:rPr>
              <a:t>payTotalNo</a:t>
            </a:r>
            <a:r>
              <a:rPr lang="en-US" altLang="zh-CN" sz="900" b="1" u="sng" kern="1200" dirty="0">
                <a:solidFill>
                  <a:schemeClr val="tx1"/>
                </a:solidFill>
                <a:latin typeface="+mn-lt"/>
                <a:ea typeface="+mn-ea"/>
                <a:cs typeface="+mn-cs"/>
              </a:rPr>
              <a:t>, B2COrderRsp </a:t>
            </a:r>
            <a:r>
              <a:rPr lang="en-US" altLang="zh-CN" sz="900" b="1" u="sng" kern="1200" dirty="0" err="1">
                <a:solidFill>
                  <a:schemeClr val="tx1"/>
                </a:solidFill>
                <a:latin typeface="+mn-lt"/>
                <a:ea typeface="+mn-ea"/>
                <a:cs typeface="+mn-cs"/>
              </a:rPr>
              <a:t>rsp</a:t>
            </a:r>
            <a:r>
              <a:rPr lang="en-US" altLang="zh-CN" sz="900" b="1" u="sng"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校验支付总单号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payTotalNo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getPayTotalNo</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交易订单号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req.getTrade_no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getTradeNo</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商户交易订单号</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assertEquals</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req.getOutTradeNo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rsp.</a:t>
            </a:r>
            <a:r>
              <a:rPr lang="en-US" altLang="zh-CN" sz="900" i="1" u="sng" kern="1200" dirty="0" err="1">
                <a:solidFill>
                  <a:schemeClr val="tx1"/>
                </a:solidFill>
                <a:latin typeface="+mn-lt"/>
                <a:ea typeface="+mn-ea"/>
                <a:cs typeface="+mn-cs"/>
              </a:rPr>
              <a:t>getOutTradeNo</a:t>
            </a:r>
            <a:r>
              <a:rPr lang="en-US" altLang="zh-CN" sz="900" i="1" u="sng" kern="1200" dirty="0">
                <a:solidFill>
                  <a:schemeClr val="tx1"/>
                </a:solidFill>
                <a:latin typeface="+mn-lt"/>
                <a:ea typeface="+mn-ea"/>
                <a:cs typeface="+mn-cs"/>
              </a:rPr>
              <a:t>());</a:t>
            </a:r>
          </a:p>
          <a:p>
            <a:pPr lvl="1"/>
            <a:endParaRPr lang="en-US" altLang="zh-CN"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其它交易信息参数校验</a:t>
            </a:r>
          </a:p>
          <a:p>
            <a:pPr lvl="1"/>
            <a:r>
              <a:rPr lang="en-US" altLang="zh-CN" sz="900" u="none"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607306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04647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测试基类</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@author yangzhou2</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RunWith</a:t>
            </a:r>
            <a:r>
              <a:rPr lang="en-US" altLang="zh-CN" sz="900" kern="1200" dirty="0">
                <a:solidFill>
                  <a:schemeClr val="tx1"/>
                </a:solidFill>
                <a:latin typeface="+mn-lt"/>
                <a:ea typeface="+mn-ea"/>
                <a:cs typeface="+mn-cs"/>
              </a:rPr>
              <a:t>(SpringJUnit4ClassRunner.</a:t>
            </a:r>
            <a:r>
              <a:rPr lang="en-US" altLang="zh-CN" sz="900" b="1" kern="1200" dirty="0">
                <a:solidFill>
                  <a:schemeClr val="tx1"/>
                </a:solidFill>
                <a:latin typeface="+mn-lt"/>
                <a:ea typeface="+mn-ea"/>
                <a:cs typeface="+mn-cs"/>
              </a:rPr>
              <a:t>class)    </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ContextConfiguration</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classpath</a:t>
            </a:r>
            <a:r>
              <a:rPr lang="en-US" altLang="zh-CN" sz="900" kern="1200" dirty="0">
                <a:solidFill>
                  <a:schemeClr val="tx1"/>
                </a:solidFill>
                <a:latin typeface="+mn-lt"/>
                <a:ea typeface="+mn-ea"/>
                <a:cs typeface="+mn-cs"/>
              </a:rPr>
              <a:t>*:META-INF/spring/*.xml" })  </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TransactionConfiguration</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transactionManager</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orderdimTransactionManager</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defaultRollback</a:t>
            </a:r>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true)  </a:t>
            </a:r>
          </a:p>
          <a:p>
            <a:r>
              <a:rPr lang="en-US" altLang="zh-CN" sz="900" kern="1200" dirty="0">
                <a:solidFill>
                  <a:schemeClr val="tx1"/>
                </a:solidFill>
                <a:latin typeface="+mn-lt"/>
                <a:ea typeface="+mn-ea"/>
                <a:cs typeface="+mn-cs"/>
              </a:rPr>
              <a:t>@Transactional</a:t>
            </a:r>
          </a:p>
          <a:p>
            <a:r>
              <a:rPr lang="en-US" altLang="zh-CN" sz="900" b="1" kern="1200" dirty="0">
                <a:solidFill>
                  <a:schemeClr val="tx1"/>
                </a:solidFill>
                <a:latin typeface="+mn-lt"/>
                <a:ea typeface="+mn-ea"/>
                <a:cs typeface="+mn-cs"/>
              </a:rPr>
              <a:t>public class </a:t>
            </a:r>
            <a:r>
              <a:rPr lang="en-US" altLang="zh-CN" sz="900" b="1" kern="1200" dirty="0" err="1">
                <a:solidFill>
                  <a:schemeClr val="tx1"/>
                </a:solidFill>
                <a:latin typeface="+mn-lt"/>
                <a:ea typeface="+mn-ea"/>
                <a:cs typeface="+mn-cs"/>
              </a:rPr>
              <a:t>BaseTest</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 测试商户号、用户</a:t>
            </a:r>
            <a:r>
              <a:rPr lang="en-US" altLang="zh-CN" sz="900" kern="1200" dirty="0">
                <a:solidFill>
                  <a:schemeClr val="tx1"/>
                </a:solidFill>
                <a:latin typeface="+mn-lt"/>
                <a:ea typeface="+mn-ea"/>
                <a:cs typeface="+mn-cs"/>
              </a:rPr>
              <a:t>id</a:t>
            </a:r>
          </a:p>
          <a:p>
            <a:pPr lvl="1"/>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pPr lvl="1"/>
            <a:r>
              <a:rPr lang="en-US" altLang="zh-CN" sz="900" b="1" kern="1200" dirty="0">
                <a:solidFill>
                  <a:schemeClr val="tx1"/>
                </a:solidFill>
                <a:latin typeface="+mn-lt"/>
                <a:ea typeface="+mn-ea"/>
                <a:cs typeface="+mn-cs"/>
              </a:rPr>
              <a:t>protected static final String </a:t>
            </a:r>
            <a:r>
              <a:rPr lang="en-US" altLang="zh-CN" sz="900" b="1" i="1" kern="1200" dirty="0">
                <a:solidFill>
                  <a:schemeClr val="tx1"/>
                </a:solidFill>
                <a:latin typeface="+mn-lt"/>
                <a:ea typeface="+mn-ea"/>
                <a:cs typeface="+mn-cs"/>
              </a:rPr>
              <a:t>TEST_PARTNER = "1000011005";</a:t>
            </a:r>
          </a:p>
          <a:p>
            <a:pPr lvl="1"/>
            <a:r>
              <a:rPr lang="en-US" altLang="zh-CN" sz="900" b="1" kern="1200" dirty="0">
                <a:solidFill>
                  <a:schemeClr val="tx1"/>
                </a:solidFill>
                <a:latin typeface="+mn-lt"/>
                <a:ea typeface="+mn-ea"/>
                <a:cs typeface="+mn-cs"/>
              </a:rPr>
              <a:t>protected static final int </a:t>
            </a:r>
            <a:r>
              <a:rPr lang="en-US" altLang="zh-CN" sz="900" b="1" i="1" kern="1200" dirty="0">
                <a:solidFill>
                  <a:schemeClr val="tx1"/>
                </a:solidFill>
                <a:latin typeface="+mn-lt"/>
                <a:ea typeface="+mn-ea"/>
                <a:cs typeface="+mn-cs"/>
              </a:rPr>
              <a:t>TEST_USER_ID = 900080501;</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Autowired</a:t>
            </a:r>
            <a:endParaRPr lang="en-US" altLang="zh-CN"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protected </a:t>
            </a:r>
            <a:r>
              <a:rPr lang="en-US" altLang="zh-CN" sz="900" b="1" kern="1200" dirty="0" err="1">
                <a:solidFill>
                  <a:schemeClr val="tx1"/>
                </a:solidFill>
                <a:latin typeface="+mn-lt"/>
                <a:ea typeface="+mn-ea"/>
                <a:cs typeface="+mn-cs"/>
              </a:rPr>
              <a:t>KmiSecurityFacadeImpl</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kmiSecurityFacadeImpl</a:t>
            </a:r>
            <a:r>
              <a:rPr lang="en-US" altLang="zh-CN" sz="900" b="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Autowired</a:t>
            </a:r>
            <a:endParaRPr lang="en-US" altLang="zh-CN"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protected </a:t>
            </a:r>
            <a:r>
              <a:rPr lang="en-US" altLang="zh-CN" sz="900" b="1" kern="1200" dirty="0" err="1">
                <a:solidFill>
                  <a:schemeClr val="tx1"/>
                </a:solidFill>
                <a:latin typeface="+mn-lt"/>
                <a:ea typeface="+mn-ea"/>
                <a:cs typeface="+mn-cs"/>
              </a:rPr>
              <a:t>BillnoFacade</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billnoFacade</a:t>
            </a:r>
            <a:r>
              <a:rPr lang="en-US" altLang="zh-CN" sz="900" b="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 初始化测试</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运行时</a:t>
            </a:r>
            <a:r>
              <a:rPr lang="en-US" altLang="zh-CN" sz="900" kern="1200" dirty="0">
                <a:solidFill>
                  <a:schemeClr val="tx1"/>
                </a:solidFill>
                <a:latin typeface="+mn-lt"/>
                <a:ea typeface="+mn-ea"/>
                <a:cs typeface="+mn-cs"/>
              </a:rPr>
              <a:t>SpringJUnit4ClassRunner</a:t>
            </a:r>
            <a:r>
              <a:rPr lang="zh-CN" altLang="en-US" sz="900" kern="1200" dirty="0">
                <a:solidFill>
                  <a:schemeClr val="tx1"/>
                </a:solidFill>
                <a:latin typeface="+mn-lt"/>
                <a:ea typeface="+mn-ea"/>
                <a:cs typeface="+mn-cs"/>
              </a:rPr>
              <a:t>会加载方法</a:t>
            </a:r>
          </a:p>
          <a:p>
            <a:pPr lvl="1"/>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@Test</a:t>
            </a:r>
          </a:p>
          <a:p>
            <a:pPr lvl="1"/>
            <a:r>
              <a:rPr lang="en-US" altLang="zh-CN" sz="900" b="1" kern="1200" dirty="0">
                <a:solidFill>
                  <a:schemeClr val="tx1"/>
                </a:solidFill>
                <a:latin typeface="+mn-lt"/>
                <a:ea typeface="+mn-ea"/>
                <a:cs typeface="+mn-cs"/>
              </a:rPr>
              <a:t>public void </a:t>
            </a:r>
            <a:r>
              <a:rPr lang="en-US" altLang="zh-CN" sz="900" b="1" kern="1200" dirty="0" err="1">
                <a:solidFill>
                  <a:schemeClr val="tx1"/>
                </a:solidFill>
                <a:latin typeface="+mn-lt"/>
                <a:ea typeface="+mn-ea"/>
                <a:cs typeface="+mn-cs"/>
              </a:rPr>
              <a:t>init</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assertTrue</a:t>
            </a:r>
            <a:r>
              <a:rPr lang="en-US" altLang="zh-CN" sz="900" i="1" kern="1200" dirty="0">
                <a:solidFill>
                  <a:schemeClr val="tx1"/>
                </a:solidFill>
                <a:latin typeface="+mn-lt"/>
                <a:ea typeface="+mn-ea"/>
                <a:cs typeface="+mn-cs"/>
              </a:rPr>
              <a:t>(</a:t>
            </a:r>
            <a:r>
              <a:rPr lang="en-US" altLang="zh-CN" sz="900" b="1" i="1" kern="1200" dirty="0">
                <a:solidFill>
                  <a:schemeClr val="tx1"/>
                </a:solidFill>
                <a:latin typeface="+mn-lt"/>
                <a:ea typeface="+mn-ea"/>
                <a:cs typeface="+mn-cs"/>
              </a:rPr>
              <a:t>true);</a:t>
            </a: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 获取伪造的商户外部订单号</a:t>
            </a:r>
          </a:p>
          <a:p>
            <a:pPr lvl="1"/>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@return</a:t>
            </a:r>
          </a:p>
          <a:p>
            <a:pPr lvl="1"/>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pPr lvl="1"/>
            <a:r>
              <a:rPr lang="en-US" altLang="zh-CN" sz="900" b="1" kern="1200" dirty="0">
                <a:solidFill>
                  <a:schemeClr val="tx1"/>
                </a:solidFill>
                <a:latin typeface="+mn-lt"/>
                <a:ea typeface="+mn-ea"/>
                <a:cs typeface="+mn-cs"/>
              </a:rPr>
              <a:t>public static </a:t>
            </a:r>
            <a:r>
              <a:rPr lang="en-US" altLang="zh-CN" sz="900" b="1" u="sng" kern="1200" dirty="0">
                <a:solidFill>
                  <a:schemeClr val="tx1"/>
                </a:solidFill>
                <a:latin typeface="+mn-lt"/>
                <a:ea typeface="+mn-ea"/>
                <a:cs typeface="+mn-cs"/>
              </a:rPr>
              <a:t>String </a:t>
            </a:r>
            <a:r>
              <a:rPr lang="en-US" altLang="zh-CN" sz="900" b="1" u="sng" kern="1200" dirty="0" err="1">
                <a:solidFill>
                  <a:schemeClr val="tx1"/>
                </a:solidFill>
                <a:latin typeface="+mn-lt"/>
                <a:ea typeface="+mn-ea"/>
                <a:cs typeface="+mn-cs"/>
              </a:rPr>
              <a:t>getFakeOutTradeNo</a:t>
            </a:r>
            <a:r>
              <a:rPr lang="en-US" altLang="zh-CN" sz="900" b="1" u="sng" kern="1200" dirty="0">
                <a:solidFill>
                  <a:schemeClr val="tx1"/>
                </a:solidFill>
                <a:latin typeface="+mn-lt"/>
                <a:ea typeface="+mn-ea"/>
                <a:cs typeface="+mn-cs"/>
              </a:rPr>
              <a:t>() {</a:t>
            </a:r>
          </a:p>
          <a:p>
            <a:pPr lvl="1"/>
            <a:r>
              <a:rPr lang="en-US" altLang="zh-CN" sz="900" b="1" kern="1200" dirty="0">
                <a:solidFill>
                  <a:schemeClr val="tx1"/>
                </a:solidFill>
                <a:latin typeface="+mn-lt"/>
                <a:ea typeface="+mn-ea"/>
                <a:cs typeface="+mn-cs"/>
              </a:rPr>
              <a:t>	return MD5Util.</a:t>
            </a:r>
            <a:r>
              <a:rPr lang="en-US" altLang="zh-CN" sz="900" b="1" i="1" kern="1200" dirty="0">
                <a:solidFill>
                  <a:schemeClr val="tx1"/>
                </a:solidFill>
                <a:latin typeface="+mn-lt"/>
                <a:ea typeface="+mn-ea"/>
                <a:cs typeface="+mn-cs"/>
              </a:rPr>
              <a:t>encryptMD5(</a:t>
            </a:r>
            <a:r>
              <a:rPr lang="en-US" altLang="zh-CN" sz="900" b="1" i="1" kern="1200" dirty="0" err="1">
                <a:solidFill>
                  <a:schemeClr val="tx1"/>
                </a:solidFill>
                <a:latin typeface="+mn-lt"/>
                <a:ea typeface="+mn-ea"/>
                <a:cs typeface="+mn-cs"/>
              </a:rPr>
              <a:t>UUID.randomUUID</a:t>
            </a:r>
            <a:r>
              <a:rPr lang="en-US" altLang="zh-CN" sz="900" b="1" i="1" kern="1200" dirty="0">
                <a:solidFill>
                  <a:schemeClr val="tx1"/>
                </a:solidFill>
                <a:latin typeface="+mn-lt"/>
                <a:ea typeface="+mn-ea"/>
                <a:cs typeface="+mn-cs"/>
              </a:rPr>
              <a:t>().</a:t>
            </a:r>
            <a:r>
              <a:rPr lang="en-US" altLang="zh-CN" sz="900" b="1" i="1" kern="1200" dirty="0" err="1">
                <a:solidFill>
                  <a:schemeClr val="tx1"/>
                </a:solidFill>
                <a:latin typeface="+mn-lt"/>
                <a:ea typeface="+mn-ea"/>
                <a:cs typeface="+mn-cs"/>
              </a:rPr>
              <a:t>toString</a:t>
            </a:r>
            <a:r>
              <a:rPr lang="en-US" altLang="zh-CN" sz="900" b="1"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 获取伪造的订单映射号</a:t>
            </a:r>
          </a:p>
          <a:p>
            <a:pPr lvl="1"/>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@return</a:t>
            </a:r>
          </a:p>
          <a:p>
            <a:pPr lvl="1"/>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pPr lvl="1"/>
            <a:r>
              <a:rPr lang="en-US" altLang="zh-CN" sz="900" b="1" kern="1200" dirty="0">
                <a:solidFill>
                  <a:schemeClr val="tx1"/>
                </a:solidFill>
                <a:latin typeface="+mn-lt"/>
                <a:ea typeface="+mn-ea"/>
                <a:cs typeface="+mn-cs"/>
              </a:rPr>
              <a:t>public static String </a:t>
            </a:r>
            <a:r>
              <a:rPr lang="en-US" altLang="zh-CN" sz="900" b="1" kern="1200" dirty="0" err="1">
                <a:solidFill>
                  <a:schemeClr val="tx1"/>
                </a:solidFill>
                <a:latin typeface="+mn-lt"/>
                <a:ea typeface="+mn-ea"/>
                <a:cs typeface="+mn-cs"/>
              </a:rPr>
              <a:t>getFakeMapOrderId</a:t>
            </a:r>
            <a:r>
              <a:rPr lang="en-US" altLang="zh-CN" sz="900" b="1" kern="1200" dirty="0">
                <a:solidFill>
                  <a:schemeClr val="tx1"/>
                </a:solidFill>
                <a:latin typeface="+mn-lt"/>
                <a:ea typeface="+mn-ea"/>
                <a:cs typeface="+mn-cs"/>
              </a:rPr>
              <a:t>() {</a:t>
            </a:r>
          </a:p>
          <a:p>
            <a:pPr lvl="1"/>
            <a:r>
              <a:rPr lang="en-US" altLang="zh-CN" sz="900" b="1" kern="1200" dirty="0">
                <a:solidFill>
                  <a:schemeClr val="tx1"/>
                </a:solidFill>
                <a:latin typeface="+mn-lt"/>
                <a:ea typeface="+mn-ea"/>
                <a:cs typeface="+mn-cs"/>
              </a:rPr>
              <a:t>	return MD5Util.</a:t>
            </a:r>
            <a:r>
              <a:rPr lang="en-US" altLang="zh-CN" sz="900" b="1" i="1" kern="1200" dirty="0">
                <a:solidFill>
                  <a:schemeClr val="tx1"/>
                </a:solidFill>
                <a:latin typeface="+mn-lt"/>
                <a:ea typeface="+mn-ea"/>
                <a:cs typeface="+mn-cs"/>
              </a:rPr>
              <a:t>encryptMD5(</a:t>
            </a:r>
            <a:r>
              <a:rPr lang="en-US" altLang="zh-CN" sz="900" b="1" i="1" kern="1200" dirty="0" err="1">
                <a:solidFill>
                  <a:schemeClr val="tx1"/>
                </a:solidFill>
                <a:latin typeface="+mn-lt"/>
                <a:ea typeface="+mn-ea"/>
                <a:cs typeface="+mn-cs"/>
              </a:rPr>
              <a:t>UUID.randomUUID</a:t>
            </a:r>
            <a:r>
              <a:rPr lang="en-US" altLang="zh-CN" sz="900" b="1" i="1" kern="1200" dirty="0">
                <a:solidFill>
                  <a:schemeClr val="tx1"/>
                </a:solidFill>
                <a:latin typeface="+mn-lt"/>
                <a:ea typeface="+mn-ea"/>
                <a:cs typeface="+mn-cs"/>
              </a:rPr>
              <a:t>().</a:t>
            </a:r>
            <a:r>
              <a:rPr lang="en-US" altLang="zh-CN" sz="900" b="1" i="1" kern="1200" dirty="0" err="1">
                <a:solidFill>
                  <a:schemeClr val="tx1"/>
                </a:solidFill>
                <a:latin typeface="+mn-lt"/>
                <a:ea typeface="+mn-ea"/>
                <a:cs typeface="+mn-cs"/>
              </a:rPr>
              <a:t>toString</a:t>
            </a:r>
            <a:r>
              <a:rPr lang="en-US" altLang="zh-CN" sz="900" b="1" i="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a:t>
            </a:r>
          </a:p>
          <a:p>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619657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交易支付成功确认</a:t>
            </a:r>
          </a:p>
          <a:p>
            <a:r>
              <a:rPr lang="zh-CN" altLang="en-US" sz="900" kern="1200" dirty="0">
                <a:solidFill>
                  <a:schemeClr val="tx1"/>
                </a:solidFill>
                <a:latin typeface="+mn-lt"/>
                <a:ea typeface="+mn-ea"/>
                <a:cs typeface="+mn-cs"/>
              </a:rPr>
              <a:t> * 期望输入：</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交易支付成功确认请求对象</a:t>
            </a:r>
          </a:p>
          <a:p>
            <a:r>
              <a:rPr lang="zh-CN" altLang="en-US" sz="900" kern="1200" dirty="0">
                <a:solidFill>
                  <a:schemeClr val="tx1"/>
                </a:solidFill>
                <a:latin typeface="+mn-lt"/>
                <a:ea typeface="+mn-ea"/>
                <a:cs typeface="+mn-cs"/>
              </a:rPr>
              <a:t> * 期望输出：无</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订单支付成功</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test1001ConfirmOrderForB2C() {</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初始化数据</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创建</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订单</a:t>
            </a:r>
          </a:p>
          <a:p>
            <a:r>
              <a:rPr lang="en-US" altLang="zh-CN" sz="900" kern="1200" dirty="0">
                <a:solidFill>
                  <a:schemeClr val="tx1"/>
                </a:solidFill>
                <a:latin typeface="+mn-lt"/>
                <a:ea typeface="+mn-ea"/>
                <a:cs typeface="+mn-cs"/>
              </a:rPr>
              <a:t>    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i="1" kern="1200" dirty="0" err="1">
                <a:solidFill>
                  <a:schemeClr val="tx1"/>
                </a:solidFill>
                <a:latin typeface="+mn-lt"/>
                <a:ea typeface="+mn-ea"/>
                <a:cs typeface="+mn-cs"/>
              </a:rPr>
              <a:t>getFakeNumber</a:t>
            </a:r>
            <a:r>
              <a:rPr lang="en-US" altLang="zh-CN" sz="900" i="1" kern="1200" dirty="0">
                <a:solidFill>
                  <a:schemeClr val="tx1"/>
                </a:solidFill>
                <a:latin typeface="+mn-lt"/>
                <a:ea typeface="+mn-ea"/>
                <a:cs typeface="+mn-cs"/>
              </a:rPr>
              <a:t>(32);</a:t>
            </a:r>
          </a:p>
          <a:p>
            <a:r>
              <a:rPr lang="en-US" altLang="zh-CN" sz="900" kern="1200" dirty="0">
                <a:solidFill>
                  <a:schemeClr val="tx1"/>
                </a:solidFill>
                <a:latin typeface="+mn-lt"/>
                <a:ea typeface="+mn-ea"/>
                <a:cs typeface="+mn-cs"/>
              </a:rPr>
              <a:t>    </a:t>
            </a:r>
            <a:r>
              <a:rPr lang="en-US" altLang="zh-CN" sz="900" b="1" kern="1200" dirty="0">
                <a:solidFill>
                  <a:schemeClr val="tx1"/>
                </a:solidFill>
                <a:latin typeface="+mn-lt"/>
                <a:ea typeface="+mn-ea"/>
                <a:cs typeface="+mn-cs"/>
              </a:rPr>
              <a:t>long </a:t>
            </a:r>
            <a:r>
              <a:rPr lang="en-US" altLang="zh-CN" sz="900" b="1" kern="1200" dirty="0" err="1">
                <a:solidFill>
                  <a:schemeClr val="tx1"/>
                </a:solidFill>
                <a:latin typeface="+mn-lt"/>
                <a:ea typeface="+mn-ea"/>
                <a:cs typeface="+mn-cs"/>
              </a:rPr>
              <a:t>tradeAmount</a:t>
            </a:r>
            <a:r>
              <a:rPr lang="en-US" altLang="zh-CN" sz="900" b="1" kern="1200" dirty="0">
                <a:solidFill>
                  <a:schemeClr val="tx1"/>
                </a:solidFill>
                <a:latin typeface="+mn-lt"/>
                <a:ea typeface="+mn-ea"/>
                <a:cs typeface="+mn-cs"/>
              </a:rPr>
              <a:t> = 1000l;</a:t>
            </a:r>
          </a:p>
          <a:p>
            <a:r>
              <a:rPr lang="en-US" altLang="zh-CN" sz="900" kern="1200" dirty="0">
                <a:solidFill>
                  <a:schemeClr val="tx1"/>
                </a:solidFill>
                <a:latin typeface="+mn-lt"/>
                <a:ea typeface="+mn-ea"/>
                <a:cs typeface="+mn-cs"/>
              </a:rPr>
              <a:t>    String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 createB2COrder(</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tradeAmount</a:t>
            </a:r>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获取请求数据</a:t>
            </a:r>
          </a:p>
          <a:p>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ConfirmOrderReq</a:t>
            </a:r>
            <a:r>
              <a:rPr lang="en-US" altLang="zh-CN" sz="900" kern="1200" dirty="0">
                <a:solidFill>
                  <a:schemeClr val="tx1"/>
                </a:solidFill>
                <a:latin typeface="+mn-lt"/>
                <a:ea typeface="+mn-ea"/>
                <a:cs typeface="+mn-cs"/>
              </a:rPr>
              <a:t> req = </a:t>
            </a:r>
            <a:r>
              <a:rPr lang="en-US" altLang="zh-CN" sz="900" kern="1200" dirty="0" err="1">
                <a:solidFill>
                  <a:schemeClr val="tx1"/>
                </a:solidFill>
                <a:latin typeface="+mn-lt"/>
                <a:ea typeface="+mn-ea"/>
                <a:cs typeface="+mn-cs"/>
              </a:rPr>
              <a:t>getConfirmOrderReq</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ReleOrderTypeEnum.</a:t>
            </a:r>
            <a:r>
              <a:rPr lang="en-US" altLang="zh-CN" sz="900" b="1" i="1" kern="1200" dirty="0">
                <a:solidFill>
                  <a:schemeClr val="tx1"/>
                </a:solidFill>
                <a:latin typeface="+mn-lt"/>
                <a:ea typeface="+mn-ea"/>
                <a:cs typeface="+mn-cs"/>
              </a:rPr>
              <a:t>B2C_TRADE_ORDER.getCode(), </a:t>
            </a:r>
          </a:p>
          <a:p>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OrderStateEnum.</a:t>
            </a:r>
            <a:r>
              <a:rPr lang="en-US" altLang="zh-CN" sz="900" b="1" i="1" kern="1200" dirty="0" err="1">
                <a:solidFill>
                  <a:schemeClr val="tx1"/>
                </a:solidFill>
                <a:latin typeface="+mn-lt"/>
                <a:ea typeface="+mn-ea"/>
                <a:cs typeface="+mn-cs"/>
              </a:rPr>
              <a:t>SUCCESS.getCode</a:t>
            </a:r>
            <a:r>
              <a:rPr lang="en-US" altLang="zh-CN" sz="900" b="1" i="1" kern="1200" dirty="0">
                <a:solidFill>
                  <a:schemeClr val="tx1"/>
                </a:solidFill>
                <a:latin typeface="+mn-lt"/>
                <a:ea typeface="+mn-ea"/>
                <a:cs typeface="+mn-cs"/>
              </a:rPr>
              <a:t>(), </a:t>
            </a:r>
            <a:r>
              <a:rPr lang="en-US" altLang="zh-CN" sz="900" b="1" i="1" kern="1200" dirty="0" err="1">
                <a:solidFill>
                  <a:schemeClr val="tx1"/>
                </a:solidFill>
                <a:latin typeface="+mn-lt"/>
                <a:ea typeface="+mn-ea"/>
                <a:cs typeface="+mn-cs"/>
              </a:rPr>
              <a:t>tradeAmount</a:t>
            </a:r>
            <a:r>
              <a:rPr lang="en-US" altLang="zh-CN" sz="900" b="1" i="1"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a:t>
            </a:r>
          </a:p>
          <a:p>
            <a:r>
              <a:rPr lang="en-US" altLang="zh-CN" sz="900" kern="1200" dirty="0">
                <a:solidFill>
                  <a:schemeClr val="tx1"/>
                </a:solidFill>
                <a:latin typeface="+mn-lt"/>
                <a:ea typeface="+mn-ea"/>
                <a:cs typeface="+mn-cs"/>
              </a:rPr>
              <a:t>        // Mock</a:t>
            </a:r>
            <a:r>
              <a:rPr lang="zh-CN" altLang="en-US" sz="900" kern="1200" dirty="0">
                <a:solidFill>
                  <a:schemeClr val="tx1"/>
                </a:solidFill>
                <a:latin typeface="+mn-lt"/>
                <a:ea typeface="+mn-ea"/>
                <a:cs typeface="+mn-cs"/>
              </a:rPr>
              <a:t>接口调用</a:t>
            </a:r>
          </a:p>
          <a:p>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mockInvokePayTotal</a:t>
            </a:r>
            <a:r>
              <a:rPr lang="en-US" altLang="zh-CN" sz="900" kern="1200" dirty="0">
                <a:solidFill>
                  <a:schemeClr val="tx1"/>
                </a:solidFill>
                <a:latin typeface="+mn-lt"/>
                <a:ea typeface="+mn-ea"/>
                <a:cs typeface="+mn-cs"/>
              </a:rPr>
              <a:t>(req);</a:t>
            </a:r>
          </a:p>
          <a:p>
            <a:r>
              <a:rPr lang="zh-CN" altLang="en-US" sz="900" kern="1200" dirty="0">
                <a:solidFill>
                  <a:schemeClr val="tx1"/>
                </a:solidFill>
                <a:latin typeface="+mn-lt"/>
                <a:ea typeface="+mn-ea"/>
                <a:cs typeface="+mn-cs"/>
              </a:rPr>
              <a:t>        </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orderConfirmFacadeImpl.confirmOrder</a:t>
            </a:r>
            <a:r>
              <a:rPr lang="en-US" altLang="zh-CN" sz="900" kern="1200" dirty="0">
                <a:solidFill>
                  <a:schemeClr val="tx1"/>
                </a:solidFill>
                <a:latin typeface="+mn-lt"/>
                <a:ea typeface="+mn-ea"/>
                <a:cs typeface="+mn-cs"/>
              </a:rPr>
              <a:t>(req);</a:t>
            </a:r>
          </a:p>
          <a:p>
            <a:r>
              <a:rPr lang="zh-CN" altLang="en-US" sz="900" kern="1200" dirty="0">
                <a:solidFill>
                  <a:schemeClr val="tx1"/>
                </a:solidFill>
                <a:latin typeface="+mn-lt"/>
                <a:ea typeface="+mn-ea"/>
                <a:cs typeface="+mn-cs"/>
              </a:rPr>
              <a:t>    </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结果校验</a:t>
            </a:r>
          </a:p>
          <a:p>
            <a:r>
              <a:rPr lang="en-US" altLang="zh-CN" sz="900" kern="1200" dirty="0">
                <a:solidFill>
                  <a:schemeClr val="tx1"/>
                </a:solidFill>
                <a:latin typeface="+mn-lt"/>
                <a:ea typeface="+mn-ea"/>
                <a:cs typeface="+mn-cs"/>
              </a:rPr>
              <a:t>    checkConfirmOrderForB2C(req);</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      </a:t>
            </a:r>
          </a:p>
          <a:p>
            <a:r>
              <a:rPr lang="zh-CN" altLang="en-US" sz="900" kern="1200" dirty="0">
                <a:solidFill>
                  <a:schemeClr val="tx1"/>
                </a:solidFill>
                <a:latin typeface="+mn-lt"/>
                <a:ea typeface="+mn-ea"/>
                <a:cs typeface="+mn-cs"/>
              </a:rPr>
              <a:t>     * 创建</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订单</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a:t>
            </a:r>
            <a:r>
              <a:rPr lang="en-US" altLang="zh-CN" sz="900" b="1" kern="1200" dirty="0">
                <a:solidFill>
                  <a:schemeClr val="tx1"/>
                </a:solidFill>
                <a:latin typeface="+mn-lt"/>
                <a:ea typeface="+mn-ea"/>
                <a:cs typeface="+mn-cs"/>
              </a:rPr>
              <a:t>private String createB2COrder(String </a:t>
            </a:r>
            <a:r>
              <a:rPr lang="en-US" altLang="zh-CN" sz="900" b="1" kern="1200" dirty="0" err="1">
                <a:solidFill>
                  <a:schemeClr val="tx1"/>
                </a:solidFill>
                <a:latin typeface="+mn-lt"/>
                <a:ea typeface="+mn-ea"/>
                <a:cs typeface="+mn-cs"/>
              </a:rPr>
              <a:t>tradeNo</a:t>
            </a:r>
            <a:r>
              <a:rPr lang="en-US" altLang="zh-CN" sz="900" b="1" kern="1200" dirty="0">
                <a:solidFill>
                  <a:schemeClr val="tx1"/>
                </a:solidFill>
                <a:latin typeface="+mn-lt"/>
                <a:ea typeface="+mn-ea"/>
                <a:cs typeface="+mn-cs"/>
              </a:rPr>
              <a:t>, long </a:t>
            </a:r>
            <a:r>
              <a:rPr lang="en-US" altLang="zh-CN" sz="900" b="1" kern="1200" dirty="0" err="1">
                <a:solidFill>
                  <a:schemeClr val="tx1"/>
                </a:solidFill>
                <a:latin typeface="+mn-lt"/>
                <a:ea typeface="+mn-ea"/>
                <a:cs typeface="+mn-cs"/>
              </a:rPr>
              <a:t>tradeAmount</a:t>
            </a:r>
            <a:r>
              <a:rPr lang="en-US" altLang="zh-CN" sz="900" b="1" kern="1200" dirty="0">
                <a:solidFill>
                  <a:schemeClr val="tx1"/>
                </a:solidFill>
                <a:latin typeface="+mn-lt"/>
                <a:ea typeface="+mn-ea"/>
                <a:cs typeface="+mn-cs"/>
              </a:rPr>
              <a:t>) {</a:t>
            </a:r>
          </a:p>
          <a:p>
            <a:r>
              <a:rPr lang="en-US" altLang="zh-CN" sz="900"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boolean</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isProfit</a:t>
            </a:r>
            <a:r>
              <a:rPr lang="en-US" altLang="zh-CN" sz="900" b="1" kern="1200" dirty="0">
                <a:solidFill>
                  <a:schemeClr val="tx1"/>
                </a:solidFill>
                <a:latin typeface="+mn-lt"/>
                <a:ea typeface="+mn-ea"/>
                <a:cs typeface="+mn-cs"/>
              </a:rPr>
              <a:t> = false;</a:t>
            </a:r>
          </a:p>
          <a:p>
            <a:r>
              <a:rPr lang="en-US" altLang="zh-CN" sz="900" kern="1200" dirty="0">
                <a:solidFill>
                  <a:schemeClr val="tx1"/>
                </a:solidFill>
                <a:latin typeface="+mn-lt"/>
                <a:ea typeface="+mn-ea"/>
                <a:cs typeface="+mn-cs"/>
              </a:rPr>
              <a:t>        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tradeAmount</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GuaranteeTypeEnum.</a:t>
            </a:r>
            <a:r>
              <a:rPr lang="en-US" altLang="zh-CN" sz="900" b="1" i="1" kern="1200" dirty="0" err="1">
                <a:solidFill>
                  <a:schemeClr val="tx1"/>
                </a:solidFill>
                <a:latin typeface="+mn-lt"/>
                <a:ea typeface="+mn-ea"/>
                <a:cs typeface="+mn-cs"/>
              </a:rPr>
              <a:t>INTIME.getCode</a:t>
            </a:r>
            <a:r>
              <a:rPr lang="en-US" altLang="zh-CN" sz="900" b="1" i="1" kern="1200" dirty="0">
                <a:solidFill>
                  <a:schemeClr val="tx1"/>
                </a:solidFill>
                <a:latin typeface="+mn-lt"/>
                <a:ea typeface="+mn-ea"/>
                <a:cs typeface="+mn-cs"/>
              </a:rPr>
              <a:t>(), </a:t>
            </a:r>
            <a:r>
              <a:rPr lang="en-US" altLang="zh-CN" sz="900" b="1" i="1" kern="1200" dirty="0" err="1">
                <a:solidFill>
                  <a:schemeClr val="tx1"/>
                </a:solidFill>
                <a:latin typeface="+mn-lt"/>
                <a:ea typeface="+mn-ea"/>
                <a:cs typeface="+mn-cs"/>
              </a:rPr>
              <a:t>isProfit</a:t>
            </a:r>
            <a:r>
              <a:rPr lang="en-US" altLang="zh-CN" sz="900" b="1" i="1"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a:t>
            </a:r>
          </a:p>
          <a:p>
            <a:r>
              <a:rPr lang="en-US" altLang="zh-CN" sz="900" kern="1200" dirty="0">
                <a:solidFill>
                  <a:schemeClr val="tx1"/>
                </a:solidFill>
                <a:latin typeface="+mn-lt"/>
                <a:ea typeface="+mn-ea"/>
                <a:cs typeface="+mn-cs"/>
              </a:rPr>
              <a:t>        // Mock</a:t>
            </a:r>
            <a:r>
              <a:rPr lang="zh-CN" altLang="en-US" sz="900" kern="1200" dirty="0">
                <a:solidFill>
                  <a:schemeClr val="tx1"/>
                </a:solidFill>
                <a:latin typeface="+mn-lt"/>
                <a:ea typeface="+mn-ea"/>
                <a:cs typeface="+mn-cs"/>
              </a:rPr>
              <a:t>接口调用</a:t>
            </a:r>
          </a:p>
          <a:p>
            <a:r>
              <a:rPr lang="en-US" altLang="zh-CN" sz="900" kern="1200" dirty="0">
                <a:solidFill>
                  <a:schemeClr val="tx1"/>
                </a:solidFill>
                <a:latin typeface="+mn-lt"/>
                <a:ea typeface="+mn-ea"/>
                <a:cs typeface="+mn-cs"/>
              </a:rPr>
              <a:t>        mockInvokeB2COrderReq(req,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r>
              <a:rPr lang="en-US" altLang="zh-CN" sz="900" kern="1200" dirty="0">
                <a:solidFill>
                  <a:schemeClr val="tx1"/>
                </a:solidFill>
                <a:latin typeface="+mn-lt"/>
                <a:ea typeface="+mn-ea"/>
                <a:cs typeface="+mn-cs"/>
              </a:rPr>
              <a:t>        </a:t>
            </a:r>
            <a:r>
              <a:rPr lang="en-US" altLang="zh-CN" sz="900" b="1" kern="1200" dirty="0">
                <a:solidFill>
                  <a:schemeClr val="tx1"/>
                </a:solidFill>
                <a:latin typeface="+mn-lt"/>
                <a:ea typeface="+mn-ea"/>
                <a:cs typeface="+mn-cs"/>
              </a:rPr>
              <a:t>return b2COrderFacadeImpl.b2COrderReq(req);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55019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3136608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测试基类</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RunWith</a:t>
            </a:r>
            <a:r>
              <a:rPr lang="en-US" altLang="zh-CN" sz="900" kern="1200" dirty="0">
                <a:solidFill>
                  <a:schemeClr val="tx1"/>
                </a:solidFill>
                <a:latin typeface="+mn-lt"/>
                <a:ea typeface="+mn-ea"/>
                <a:cs typeface="+mn-cs"/>
              </a:rPr>
              <a:t>(SpringJUnit4ClassRunner.</a:t>
            </a:r>
            <a:r>
              <a:rPr lang="en-US" altLang="zh-CN" sz="900" b="1" kern="1200" dirty="0">
                <a:solidFill>
                  <a:schemeClr val="tx1"/>
                </a:solidFill>
                <a:latin typeface="+mn-lt"/>
                <a:ea typeface="+mn-ea"/>
                <a:cs typeface="+mn-cs"/>
              </a:rPr>
              <a:t>class)    </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ContextConfiguration</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classpath</a:t>
            </a:r>
            <a:r>
              <a:rPr lang="en-US" altLang="zh-CN" sz="900" kern="1200" dirty="0">
                <a:solidFill>
                  <a:schemeClr val="tx1"/>
                </a:solidFill>
                <a:latin typeface="+mn-lt"/>
                <a:ea typeface="+mn-ea"/>
                <a:cs typeface="+mn-cs"/>
              </a:rPr>
              <a:t>*:META-INF/spring/*.xml" })  </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TransactionConfiguration</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transactionManager</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orderdimTransactionManager</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defaultRollback</a:t>
            </a:r>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true)  </a:t>
            </a:r>
          </a:p>
          <a:p>
            <a:r>
              <a:rPr lang="en-US" altLang="zh-CN" sz="900" kern="1200" dirty="0">
                <a:solidFill>
                  <a:schemeClr val="tx1"/>
                </a:solidFill>
                <a:latin typeface="+mn-lt"/>
                <a:ea typeface="+mn-ea"/>
                <a:cs typeface="+mn-cs"/>
              </a:rPr>
              <a:t>@Transactional</a:t>
            </a:r>
          </a:p>
          <a:p>
            <a:r>
              <a:rPr lang="en-US" altLang="zh-CN" sz="900" b="1" kern="1200" dirty="0">
                <a:solidFill>
                  <a:schemeClr val="tx1"/>
                </a:solidFill>
                <a:latin typeface="+mn-lt"/>
                <a:ea typeface="+mn-ea"/>
                <a:cs typeface="+mn-cs"/>
              </a:rPr>
              <a:t>public class </a:t>
            </a:r>
            <a:r>
              <a:rPr lang="en-US" altLang="zh-CN" sz="900" b="1" kern="1200" dirty="0" err="1">
                <a:solidFill>
                  <a:schemeClr val="tx1"/>
                </a:solidFill>
                <a:latin typeface="+mn-lt"/>
                <a:ea typeface="+mn-ea"/>
                <a:cs typeface="+mn-cs"/>
              </a:rPr>
              <a:t>BaseTest</a:t>
            </a:r>
            <a:r>
              <a:rPr lang="en-US" altLang="zh-CN" sz="900" b="1" kern="1200" dirty="0">
                <a:solidFill>
                  <a:schemeClr val="tx1"/>
                </a:solidFill>
                <a:latin typeface="+mn-lt"/>
                <a:ea typeface="+mn-ea"/>
                <a:cs typeface="+mn-cs"/>
              </a:rPr>
              <a:t> {</a:t>
            </a:r>
          </a:p>
          <a:p>
            <a:pPr lvl="1"/>
            <a:endParaRPr lang="zh-CN" altLang="en-US" sz="900" kern="1200" dirty="0">
              <a:solidFill>
                <a:schemeClr val="tx1"/>
              </a:solidFill>
              <a:latin typeface="+mn-lt"/>
              <a:ea typeface="+mn-ea"/>
              <a:cs typeface="+mn-cs"/>
            </a:endParaRPr>
          </a:p>
          <a:p>
            <a:pPr lvl="1"/>
            <a:endParaRPr lang="zh-CN" altLang="en-US" sz="900" kern="1200" dirty="0">
              <a:solidFill>
                <a:schemeClr val="tx1"/>
              </a:solidFill>
              <a:latin typeface="+mn-lt"/>
              <a:ea typeface="+mn-ea"/>
              <a:cs typeface="+mn-cs"/>
            </a:endParaRP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 公共的测试商户号、用户</a:t>
            </a:r>
            <a:r>
              <a:rPr lang="en-US" altLang="zh-CN" sz="900" kern="1200" dirty="0">
                <a:solidFill>
                  <a:schemeClr val="tx1"/>
                </a:solidFill>
                <a:latin typeface="+mn-lt"/>
                <a:ea typeface="+mn-ea"/>
                <a:cs typeface="+mn-cs"/>
              </a:rPr>
              <a:t>id</a:t>
            </a:r>
          </a:p>
          <a:p>
            <a:pPr lvl="1"/>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pPr lvl="1"/>
            <a:r>
              <a:rPr lang="en-US" altLang="zh-CN" sz="900" b="1" kern="1200" dirty="0">
                <a:solidFill>
                  <a:schemeClr val="tx1"/>
                </a:solidFill>
                <a:latin typeface="+mn-lt"/>
                <a:ea typeface="+mn-ea"/>
                <a:cs typeface="+mn-cs"/>
              </a:rPr>
              <a:t>protected static final String </a:t>
            </a:r>
            <a:r>
              <a:rPr lang="en-US" altLang="zh-CN" sz="900" b="1" i="1" kern="1200" dirty="0">
                <a:solidFill>
                  <a:schemeClr val="tx1"/>
                </a:solidFill>
                <a:latin typeface="+mn-lt"/>
                <a:ea typeface="+mn-ea"/>
                <a:cs typeface="+mn-cs"/>
              </a:rPr>
              <a:t>TEST_PARTNER = "1000011005";</a:t>
            </a:r>
          </a:p>
          <a:p>
            <a:pPr lvl="1"/>
            <a:r>
              <a:rPr lang="en-US" altLang="zh-CN" sz="900" b="1" kern="1200" dirty="0">
                <a:solidFill>
                  <a:schemeClr val="tx1"/>
                </a:solidFill>
                <a:latin typeface="+mn-lt"/>
                <a:ea typeface="+mn-ea"/>
                <a:cs typeface="+mn-cs"/>
              </a:rPr>
              <a:t>protected static final int </a:t>
            </a:r>
            <a:r>
              <a:rPr lang="en-US" altLang="zh-CN" sz="900" b="1" i="1" kern="1200" dirty="0">
                <a:solidFill>
                  <a:schemeClr val="tx1"/>
                </a:solidFill>
                <a:latin typeface="+mn-lt"/>
                <a:ea typeface="+mn-ea"/>
                <a:cs typeface="+mn-cs"/>
              </a:rPr>
              <a:t>TEST_USER_ID = 900080501;</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Autowired</a:t>
            </a:r>
            <a:endParaRPr lang="en-US" altLang="zh-CN"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protected </a:t>
            </a:r>
            <a:r>
              <a:rPr lang="en-US" altLang="zh-CN" sz="900" b="1" kern="1200" dirty="0" err="1">
                <a:solidFill>
                  <a:schemeClr val="tx1"/>
                </a:solidFill>
                <a:latin typeface="+mn-lt"/>
                <a:ea typeface="+mn-ea"/>
                <a:cs typeface="+mn-cs"/>
              </a:rPr>
              <a:t>KmiSecurityFacadeImpl</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kmiSecurityFacadeImpl</a:t>
            </a:r>
            <a:r>
              <a:rPr lang="en-US" altLang="zh-CN" sz="900" b="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Autowired</a:t>
            </a:r>
            <a:endParaRPr lang="en-US" altLang="zh-CN"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protected </a:t>
            </a:r>
            <a:r>
              <a:rPr lang="en-US" altLang="zh-CN" sz="900" b="1" kern="1200" dirty="0" err="1">
                <a:solidFill>
                  <a:schemeClr val="tx1"/>
                </a:solidFill>
                <a:latin typeface="+mn-lt"/>
                <a:ea typeface="+mn-ea"/>
                <a:cs typeface="+mn-cs"/>
              </a:rPr>
              <a:t>BillnoFacade</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billnoFacade</a:t>
            </a:r>
            <a:r>
              <a:rPr lang="en-US" altLang="zh-CN" sz="900" b="1"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p>
          <a:p>
            <a:pPr lvl="1"/>
            <a:r>
              <a:rPr lang="zh-CN" altLang="en-US" sz="900" kern="1200" dirty="0">
                <a:solidFill>
                  <a:schemeClr val="tx1"/>
                </a:solidFill>
                <a:latin typeface="+mn-lt"/>
                <a:ea typeface="+mn-ea"/>
                <a:cs typeface="+mn-cs"/>
              </a:rPr>
              <a:t> * 初始化测试</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运行时</a:t>
            </a:r>
            <a:r>
              <a:rPr lang="en-US" altLang="zh-CN" sz="900" kern="1200" dirty="0">
                <a:solidFill>
                  <a:schemeClr val="tx1"/>
                </a:solidFill>
                <a:latin typeface="+mn-lt"/>
                <a:ea typeface="+mn-ea"/>
                <a:cs typeface="+mn-cs"/>
              </a:rPr>
              <a:t>SpringJUnit4ClassRunner</a:t>
            </a:r>
            <a:r>
              <a:rPr lang="zh-CN" altLang="en-US" sz="900" kern="1200" dirty="0">
                <a:solidFill>
                  <a:schemeClr val="tx1"/>
                </a:solidFill>
                <a:latin typeface="+mn-lt"/>
                <a:ea typeface="+mn-ea"/>
                <a:cs typeface="+mn-cs"/>
              </a:rPr>
              <a:t>会加载方法</a:t>
            </a:r>
          </a:p>
          <a:p>
            <a:pPr lvl="1"/>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@Test</a:t>
            </a:r>
          </a:p>
          <a:p>
            <a:pPr lvl="1"/>
            <a:r>
              <a:rPr lang="en-US" altLang="zh-CN" sz="900" b="1" kern="1200" dirty="0">
                <a:solidFill>
                  <a:schemeClr val="tx1"/>
                </a:solidFill>
                <a:latin typeface="+mn-lt"/>
                <a:ea typeface="+mn-ea"/>
                <a:cs typeface="+mn-cs"/>
              </a:rPr>
              <a:t>public void </a:t>
            </a:r>
            <a:r>
              <a:rPr lang="en-US" altLang="zh-CN" sz="900" b="1" u="sng" kern="1200" dirty="0" err="1">
                <a:solidFill>
                  <a:schemeClr val="tx1"/>
                </a:solidFill>
                <a:latin typeface="+mn-lt"/>
                <a:ea typeface="+mn-ea"/>
                <a:cs typeface="+mn-cs"/>
              </a:rPr>
              <a:t>testBase</a:t>
            </a:r>
            <a:r>
              <a:rPr lang="en-US" altLang="zh-CN" sz="900" b="1" u="sng"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assertTrue</a:t>
            </a:r>
            <a:r>
              <a:rPr lang="en-US" altLang="zh-CN" sz="900" i="1" kern="1200" dirty="0">
                <a:solidFill>
                  <a:schemeClr val="tx1"/>
                </a:solidFill>
                <a:latin typeface="+mn-lt"/>
                <a:ea typeface="+mn-ea"/>
                <a:cs typeface="+mn-cs"/>
              </a:rPr>
              <a:t>(</a:t>
            </a:r>
            <a:r>
              <a:rPr lang="en-US" altLang="zh-CN" sz="900" b="1" i="1" kern="1200" dirty="0">
                <a:solidFill>
                  <a:schemeClr val="tx1"/>
                </a:solidFill>
                <a:latin typeface="+mn-lt"/>
                <a:ea typeface="+mn-ea"/>
                <a:cs typeface="+mn-cs"/>
              </a:rPr>
              <a:t>true);</a:t>
            </a:r>
          </a:p>
          <a:p>
            <a:pPr lvl="1"/>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6617393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2310643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42833273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 B2C</a:t>
            </a:r>
            <a:r>
              <a:rPr lang="zh-CN" altLang="en-US" sz="900" kern="1200" dirty="0">
                <a:solidFill>
                  <a:schemeClr val="tx1"/>
                </a:solidFill>
                <a:latin typeface="+mn-lt"/>
                <a:ea typeface="+mn-ea"/>
                <a:cs typeface="+mn-cs"/>
              </a:rPr>
              <a:t>订单请求</a:t>
            </a:r>
          </a:p>
          <a:p>
            <a:r>
              <a:rPr lang="zh-CN" altLang="en-US" sz="900" kern="1200" dirty="0">
                <a:solidFill>
                  <a:schemeClr val="tx1"/>
                </a:solidFill>
                <a:latin typeface="+mn-lt"/>
                <a:ea typeface="+mn-ea"/>
                <a:cs typeface="+mn-cs"/>
              </a:rPr>
              <a:t> * 期望入参：</a:t>
            </a:r>
            <a:r>
              <a:rPr lang="en-US" altLang="zh-CN" sz="900" kern="1200" dirty="0">
                <a:solidFill>
                  <a:schemeClr val="tx1"/>
                </a:solidFill>
                <a:latin typeface="+mn-lt"/>
                <a:ea typeface="+mn-ea"/>
                <a:cs typeface="+mn-cs"/>
              </a:rPr>
              <a:t>B2C</a:t>
            </a:r>
            <a:r>
              <a:rPr lang="zh-CN" altLang="en-US" sz="900" kern="1200" dirty="0">
                <a:solidFill>
                  <a:schemeClr val="tx1"/>
                </a:solidFill>
                <a:latin typeface="+mn-lt"/>
                <a:ea typeface="+mn-ea"/>
                <a:cs typeface="+mn-cs"/>
              </a:rPr>
              <a:t>交易订单请求对象</a:t>
            </a:r>
          </a:p>
          <a:p>
            <a:r>
              <a:rPr lang="zh-CN" altLang="en-US" sz="900" kern="1200" dirty="0">
                <a:solidFill>
                  <a:schemeClr val="tx1"/>
                </a:solidFill>
                <a:latin typeface="+mn-lt"/>
                <a:ea typeface="+mn-ea"/>
                <a:cs typeface="+mn-cs"/>
              </a:rPr>
              <a:t> * 期望出参：返回支付总单号</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test1001B2COrderReq()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获取请求数据</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i="1" kern="1200" dirty="0" err="1">
                <a:solidFill>
                  <a:schemeClr val="tx1"/>
                </a:solidFill>
                <a:latin typeface="+mn-lt"/>
                <a:ea typeface="+mn-ea"/>
                <a:cs typeface="+mn-cs"/>
              </a:rPr>
              <a:t>getFakeNumber</a:t>
            </a:r>
            <a:r>
              <a:rPr lang="en-US" altLang="zh-CN" sz="900" i="1" kern="1200" dirty="0">
                <a:solidFill>
                  <a:schemeClr val="tx1"/>
                </a:solidFill>
                <a:latin typeface="+mn-lt"/>
                <a:ea typeface="+mn-ea"/>
                <a:cs typeface="+mn-cs"/>
              </a:rPr>
              <a:t>(32);</a:t>
            </a:r>
          </a:p>
          <a:p>
            <a:pPr lvl="1"/>
            <a:r>
              <a:rPr lang="en-US" altLang="zh-CN" sz="900" b="1" kern="1200" dirty="0" err="1">
                <a:solidFill>
                  <a:schemeClr val="tx1"/>
                </a:solidFill>
                <a:latin typeface="+mn-lt"/>
                <a:ea typeface="+mn-ea"/>
                <a:cs typeface="+mn-cs"/>
              </a:rPr>
              <a:t>boolean</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isProfit</a:t>
            </a:r>
            <a:r>
              <a:rPr lang="en-US" altLang="zh-CN" sz="900" b="1" kern="1200" dirty="0">
                <a:solidFill>
                  <a:schemeClr val="tx1"/>
                </a:solidFill>
                <a:latin typeface="+mn-lt"/>
                <a:ea typeface="+mn-ea"/>
                <a:cs typeface="+mn-cs"/>
              </a:rPr>
              <a:t> = false;</a:t>
            </a:r>
          </a:p>
          <a:p>
            <a:pPr lvl="1"/>
            <a:r>
              <a:rPr lang="en-US" altLang="zh-CN" sz="900" kern="1200" dirty="0">
                <a:solidFill>
                  <a:schemeClr val="tx1"/>
                </a:solidFill>
                <a:latin typeface="+mn-lt"/>
                <a:ea typeface="+mn-ea"/>
                <a:cs typeface="+mn-cs"/>
              </a:rPr>
              <a:t>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a:t>
            </a:r>
            <a:r>
              <a:rPr lang="zh-CN" altLang="en-US" sz="900" kern="1200" dirty="0">
                <a:solidFill>
                  <a:schemeClr val="tx1"/>
                </a:solidFill>
                <a:latin typeface="+mn-lt"/>
                <a:ea typeface="+mn-ea"/>
                <a:cs typeface="+mn-cs"/>
              </a:rPr>
              <a:t>接口调用</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期望</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返回订单请求数据对应的订单映射对象</a:t>
            </a:r>
          </a:p>
          <a:p>
            <a:pPr lvl="1"/>
            <a:r>
              <a:rPr lang="en-US" altLang="zh-CN" sz="900" kern="1200" dirty="0">
                <a:solidFill>
                  <a:schemeClr val="tx1"/>
                </a:solidFill>
                <a:latin typeface="+mn-lt"/>
                <a:ea typeface="+mn-ea"/>
                <a:cs typeface="+mn-cs"/>
              </a:rPr>
              <a:t>mockInvokeB2COrderReq(req,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 b2COrderFacadeImpl.b2COrderReq(req);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结果校验</a:t>
            </a:r>
          </a:p>
          <a:p>
            <a:pPr lvl="1"/>
            <a:r>
              <a:rPr lang="en-US" altLang="zh-CN" sz="900" kern="1200" dirty="0">
                <a:solidFill>
                  <a:schemeClr val="tx1"/>
                </a:solidFill>
                <a:latin typeface="+mn-lt"/>
                <a:ea typeface="+mn-ea"/>
                <a:cs typeface="+mn-cs"/>
              </a:rPr>
              <a:t>checkSavedB2COrderReq(req,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 Mock</a:t>
            </a:r>
            <a:r>
              <a:rPr lang="zh-CN" altLang="en-US" sz="900" kern="1200" dirty="0">
                <a:solidFill>
                  <a:schemeClr val="tx1"/>
                </a:solidFill>
                <a:latin typeface="+mn-lt"/>
                <a:ea typeface="+mn-ea"/>
                <a:cs typeface="+mn-cs"/>
              </a:rPr>
              <a:t>接口调用</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a:t>
            </a:r>
            <a:r>
              <a:rPr lang="en-US" altLang="zh-CN" sz="900" b="1" kern="1200" dirty="0" err="1">
                <a:solidFill>
                  <a:schemeClr val="tx1"/>
                </a:solidFill>
                <a:latin typeface="+mn-lt"/>
                <a:ea typeface="+mn-ea"/>
                <a:cs typeface="+mn-cs"/>
              </a:rPr>
              <a:t>MappedOrderRsp</a:t>
            </a:r>
            <a:r>
              <a:rPr lang="en-US" altLang="zh-CN" sz="900" b="1" kern="1200" dirty="0">
                <a:solidFill>
                  <a:schemeClr val="tx1"/>
                </a:solidFill>
                <a:latin typeface="+mn-lt"/>
                <a:ea typeface="+mn-ea"/>
                <a:cs typeface="+mn-cs"/>
              </a:rPr>
              <a:t> mockInvokeB2COrderReq(B2COrderReq </a:t>
            </a:r>
            <a:r>
              <a:rPr lang="en-US" altLang="zh-CN" sz="900" b="1" kern="1200" dirty="0" err="1">
                <a:solidFill>
                  <a:schemeClr val="tx1"/>
                </a:solidFill>
                <a:latin typeface="+mn-lt"/>
                <a:ea typeface="+mn-ea"/>
                <a:cs typeface="+mn-cs"/>
              </a:rPr>
              <a:t>b2cOrderReq</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boolean</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isProfit</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的数据</a:t>
            </a:r>
          </a:p>
          <a:p>
            <a:pPr lvl="1"/>
            <a:r>
              <a:rPr lang="en-US" altLang="zh-CN" sz="900" kern="1200" dirty="0" err="1">
                <a:solidFill>
                  <a:schemeClr val="tx1"/>
                </a:solidFill>
                <a:latin typeface="+mn-lt"/>
                <a:ea typeface="+mn-ea"/>
                <a:cs typeface="+mn-cs"/>
              </a:rPr>
              <a:t>MappedOrderRsp</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mappedOrderRspMock</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getMappedOrderRspMock</a:t>
            </a:r>
            <a:r>
              <a:rPr lang="en-US" altLang="zh-CN" sz="900" kern="1200" dirty="0">
                <a:solidFill>
                  <a:schemeClr val="tx1"/>
                </a:solidFill>
                <a:latin typeface="+mn-lt"/>
                <a:ea typeface="+mn-ea"/>
                <a:cs typeface="+mn-cs"/>
              </a:rPr>
              <a:t>(b2cOrderReq,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设置触发</a:t>
            </a:r>
          </a:p>
          <a:p>
            <a:pPr lvl="1"/>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when</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orderQuerierFacadeMock.getMappedOrderRspOfInner</a:t>
            </a:r>
            <a:r>
              <a:rPr lang="en-US" altLang="zh-CN" sz="900"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b2cOrderReq.getPayeeTFAttr().</a:t>
            </a:r>
            <a:r>
              <a:rPr lang="en-US" altLang="zh-CN" sz="900" kern="1200" dirty="0" err="1">
                <a:solidFill>
                  <a:schemeClr val="tx1"/>
                </a:solidFill>
                <a:latin typeface="+mn-lt"/>
                <a:ea typeface="+mn-ea"/>
                <a:cs typeface="+mn-cs"/>
              </a:rPr>
              <a:t>getPayeeLoginAct</a:t>
            </a:r>
            <a:r>
              <a:rPr lang="en-US" altLang="zh-CN" sz="900" kern="1200" dirty="0">
                <a:solidFill>
                  <a:schemeClr val="tx1"/>
                </a:solidFill>
                <a:latin typeface="+mn-lt"/>
                <a:ea typeface="+mn-ea"/>
                <a:cs typeface="+mn-cs"/>
              </a:rPr>
              <a:t>(), b2cOrderReq.getOutTradeNo(), </a:t>
            </a:r>
          </a:p>
          <a:p>
            <a:pPr lvl="1"/>
            <a:r>
              <a:rPr lang="en-US" altLang="zh-CN" sz="900" kern="1200" dirty="0">
                <a:solidFill>
                  <a:schemeClr val="tx1"/>
                </a:solidFill>
                <a:latin typeface="+mn-lt"/>
                <a:ea typeface="+mn-ea"/>
                <a:cs typeface="+mn-cs"/>
              </a:rPr>
              <a:t>b2cOrderReq.getTrade_no())).</a:t>
            </a:r>
            <a:r>
              <a:rPr lang="en-US" altLang="zh-CN" sz="900" kern="1200" dirty="0" err="1">
                <a:solidFill>
                  <a:schemeClr val="tx1"/>
                </a:solidFill>
                <a:latin typeface="+mn-lt"/>
                <a:ea typeface="+mn-ea"/>
                <a:cs typeface="+mn-cs"/>
              </a:rPr>
              <a:t>thenReturn</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mappedOrderRspMock</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return </a:t>
            </a:r>
            <a:r>
              <a:rPr lang="en-US" altLang="zh-CN" sz="900" b="1" kern="1200" dirty="0" err="1">
                <a:solidFill>
                  <a:schemeClr val="tx1"/>
                </a:solidFill>
                <a:latin typeface="+mn-lt"/>
                <a:ea typeface="+mn-ea"/>
                <a:cs typeface="+mn-cs"/>
              </a:rPr>
              <a:t>mappedOrderRspMock</a:t>
            </a:r>
            <a:r>
              <a:rPr lang="en-US" altLang="zh-CN" sz="900" b="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2282418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30256134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 B2C</a:t>
            </a:r>
            <a:r>
              <a:rPr lang="zh-CN" altLang="en-US" sz="900" kern="1200" dirty="0">
                <a:solidFill>
                  <a:schemeClr val="tx1"/>
                </a:solidFill>
                <a:latin typeface="+mn-lt"/>
                <a:ea typeface="+mn-ea"/>
                <a:cs typeface="+mn-cs"/>
              </a:rPr>
              <a:t>订单请求</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test1001B2COrderReq()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获取请求数据</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i="1" kern="1200" dirty="0" err="1">
                <a:solidFill>
                  <a:schemeClr val="tx1"/>
                </a:solidFill>
                <a:latin typeface="+mn-lt"/>
                <a:ea typeface="+mn-ea"/>
                <a:cs typeface="+mn-cs"/>
              </a:rPr>
              <a:t>getFakeNumber</a:t>
            </a:r>
            <a:r>
              <a:rPr lang="en-US" altLang="zh-CN" sz="900" i="1" kern="1200" dirty="0">
                <a:solidFill>
                  <a:schemeClr val="tx1"/>
                </a:solidFill>
                <a:latin typeface="+mn-lt"/>
                <a:ea typeface="+mn-ea"/>
                <a:cs typeface="+mn-cs"/>
              </a:rPr>
              <a:t>(32);</a:t>
            </a:r>
          </a:p>
          <a:p>
            <a:pPr lvl="1"/>
            <a:r>
              <a:rPr lang="en-US" altLang="zh-CN" sz="900" b="1" kern="1200" dirty="0" err="1">
                <a:solidFill>
                  <a:schemeClr val="tx1"/>
                </a:solidFill>
                <a:latin typeface="+mn-lt"/>
                <a:ea typeface="+mn-ea"/>
                <a:cs typeface="+mn-cs"/>
              </a:rPr>
              <a:t>boolean</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isProfit</a:t>
            </a:r>
            <a:r>
              <a:rPr lang="en-US" altLang="zh-CN" sz="900" b="1" kern="1200" dirty="0">
                <a:solidFill>
                  <a:schemeClr val="tx1"/>
                </a:solidFill>
                <a:latin typeface="+mn-lt"/>
                <a:ea typeface="+mn-ea"/>
                <a:cs typeface="+mn-cs"/>
              </a:rPr>
              <a:t> = false;</a:t>
            </a:r>
          </a:p>
          <a:p>
            <a:pPr lvl="1"/>
            <a:r>
              <a:rPr lang="en-US" altLang="zh-CN" sz="900" kern="1200" dirty="0">
                <a:solidFill>
                  <a:schemeClr val="tx1"/>
                </a:solidFill>
                <a:latin typeface="+mn-lt"/>
                <a:ea typeface="+mn-ea"/>
                <a:cs typeface="+mn-cs"/>
              </a:rPr>
              <a:t>B2COrderReq req = getB2COrderReq(</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a:t>
            </a:r>
            <a:r>
              <a:rPr lang="zh-CN" altLang="en-US" sz="900" kern="1200" dirty="0">
                <a:solidFill>
                  <a:schemeClr val="tx1"/>
                </a:solidFill>
                <a:latin typeface="+mn-lt"/>
                <a:ea typeface="+mn-ea"/>
                <a:cs typeface="+mn-cs"/>
              </a:rPr>
              <a:t>接口调用</a:t>
            </a:r>
          </a:p>
          <a:p>
            <a:pPr lvl="1"/>
            <a:r>
              <a:rPr lang="en-US" altLang="zh-CN" sz="900" kern="1200" dirty="0">
                <a:solidFill>
                  <a:schemeClr val="tx1"/>
                </a:solidFill>
                <a:latin typeface="+mn-lt"/>
                <a:ea typeface="+mn-ea"/>
                <a:cs typeface="+mn-cs"/>
              </a:rPr>
              <a:t>mockInvokeB2COrderReq(req,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a:solidFill>
                  <a:schemeClr val="tx1"/>
                </a:solidFill>
                <a:latin typeface="+mn-lt"/>
                <a:ea typeface="+mn-ea"/>
                <a:cs typeface="+mn-cs"/>
              </a:rPr>
              <a:t>b2COrderFacadeImpl.b2COrderReq(req);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结果校验</a:t>
            </a:r>
          </a:p>
          <a:p>
            <a:pPr lvl="1"/>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verify</a:t>
            </a:r>
            <a:r>
              <a:rPr lang="en-US" altLang="zh-CN" sz="900" i="1" kern="1200" dirty="0">
                <a:solidFill>
                  <a:schemeClr val="tx1"/>
                </a:solidFill>
                <a:latin typeface="+mn-lt"/>
                <a:ea typeface="+mn-ea"/>
                <a:cs typeface="+mn-cs"/>
              </a:rPr>
              <a:t>(pay1PayJdbcTemplateMock, </a:t>
            </a:r>
            <a:r>
              <a:rPr lang="en-US" altLang="zh-CN" sz="900" i="1" kern="1200" dirty="0" err="1">
                <a:solidFill>
                  <a:schemeClr val="tx1"/>
                </a:solidFill>
                <a:latin typeface="+mn-lt"/>
                <a:ea typeface="+mn-ea"/>
                <a:cs typeface="+mn-cs"/>
              </a:rPr>
              <a:t>Mockito.times</a:t>
            </a:r>
            <a:r>
              <a:rPr lang="en-US" altLang="zh-CN" sz="900" i="1" kern="1200" dirty="0">
                <a:solidFill>
                  <a:schemeClr val="tx1"/>
                </a:solidFill>
                <a:latin typeface="+mn-lt"/>
                <a:ea typeface="+mn-ea"/>
                <a:cs typeface="+mn-cs"/>
              </a:rPr>
              <a:t>(1)).update(</a:t>
            </a:r>
            <a:r>
              <a:rPr lang="en-US" altLang="zh-CN" sz="900" i="1" kern="1200" dirty="0" err="1">
                <a:solidFill>
                  <a:schemeClr val="tx1"/>
                </a:solidFill>
                <a:latin typeface="+mn-lt"/>
                <a:ea typeface="+mn-ea"/>
                <a:cs typeface="+mn-cs"/>
              </a:rPr>
              <a:t>Mockito.anyString</a:t>
            </a:r>
            <a:r>
              <a:rPr lang="en-US" altLang="zh-CN" sz="900" i="1" kern="1200" dirty="0">
                <a:solidFill>
                  <a:schemeClr val="tx1"/>
                </a:solidFill>
                <a:latin typeface="+mn-lt"/>
                <a:ea typeface="+mn-ea"/>
                <a:cs typeface="+mn-cs"/>
              </a:rPr>
              <a:t>(), </a:t>
            </a:r>
          </a:p>
          <a:p>
            <a:pPr lvl="1"/>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anyString</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Mockito.anyString</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Mockito.anyString</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Mockito.anyObject</a:t>
            </a:r>
            <a:r>
              <a:rPr lang="en-US" altLang="zh-CN" sz="900"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any</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Date.</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 </a:t>
            </a:r>
            <a:r>
              <a:rPr lang="en-US" altLang="zh-CN" sz="900" b="1" i="1" kern="1200" dirty="0" err="1">
                <a:solidFill>
                  <a:schemeClr val="tx1"/>
                </a:solidFill>
                <a:latin typeface="+mn-lt"/>
                <a:ea typeface="+mn-ea"/>
                <a:cs typeface="+mn-cs"/>
              </a:rPr>
              <a:t>Mockito.any</a:t>
            </a:r>
            <a:r>
              <a:rPr lang="en-US" altLang="zh-CN" sz="900" b="1" i="1" kern="1200" dirty="0">
                <a:solidFill>
                  <a:schemeClr val="tx1"/>
                </a:solidFill>
                <a:latin typeface="+mn-lt"/>
                <a:ea typeface="+mn-ea"/>
                <a:cs typeface="+mn-cs"/>
              </a:rPr>
              <a:t>(</a:t>
            </a:r>
            <a:r>
              <a:rPr lang="en-US" altLang="zh-CN" sz="900" b="1" i="1" kern="1200" dirty="0" err="1">
                <a:solidFill>
                  <a:schemeClr val="tx1"/>
                </a:solidFill>
                <a:latin typeface="+mn-lt"/>
                <a:ea typeface="+mn-ea"/>
                <a:cs typeface="+mn-cs"/>
              </a:rPr>
              <a:t>Date.class</a:t>
            </a:r>
            <a:r>
              <a:rPr lang="en-US" altLang="zh-CN" sz="900" b="1" i="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 Mock</a:t>
            </a:r>
            <a:r>
              <a:rPr lang="zh-CN" altLang="en-US" sz="900" kern="1200" dirty="0">
                <a:solidFill>
                  <a:schemeClr val="tx1"/>
                </a:solidFill>
                <a:latin typeface="+mn-lt"/>
                <a:ea typeface="+mn-ea"/>
                <a:cs typeface="+mn-cs"/>
              </a:rPr>
              <a:t>接口调用</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a:t>
            </a:r>
            <a:r>
              <a:rPr lang="en-US" altLang="zh-CN" sz="900" b="1" kern="1200" dirty="0" err="1">
                <a:solidFill>
                  <a:schemeClr val="tx1"/>
                </a:solidFill>
                <a:latin typeface="+mn-lt"/>
                <a:ea typeface="+mn-ea"/>
                <a:cs typeface="+mn-cs"/>
              </a:rPr>
              <a:t>MappedOrderRsp</a:t>
            </a:r>
            <a:r>
              <a:rPr lang="en-US" altLang="zh-CN" sz="900" b="1" kern="1200" dirty="0">
                <a:solidFill>
                  <a:schemeClr val="tx1"/>
                </a:solidFill>
                <a:latin typeface="+mn-lt"/>
                <a:ea typeface="+mn-ea"/>
                <a:cs typeface="+mn-cs"/>
              </a:rPr>
              <a:t> mockInvokeB2COrderReq(B2COrderReq </a:t>
            </a:r>
            <a:r>
              <a:rPr lang="en-US" altLang="zh-CN" sz="900" b="1" kern="1200" dirty="0" err="1">
                <a:solidFill>
                  <a:schemeClr val="tx1"/>
                </a:solidFill>
                <a:latin typeface="+mn-lt"/>
                <a:ea typeface="+mn-ea"/>
                <a:cs typeface="+mn-cs"/>
              </a:rPr>
              <a:t>b2cOrderReq</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boolean</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isProfit</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Mock</a:t>
            </a:r>
            <a:r>
              <a:rPr lang="zh-CN" altLang="en-US" sz="900" kern="1200" dirty="0">
                <a:solidFill>
                  <a:schemeClr val="tx1"/>
                </a:solidFill>
                <a:latin typeface="+mn-lt"/>
                <a:ea typeface="+mn-ea"/>
                <a:cs typeface="+mn-cs"/>
              </a:rPr>
              <a:t>查询订单映射信息</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并设置触发</a:t>
            </a:r>
          </a:p>
          <a:p>
            <a:pPr lvl="1"/>
            <a:r>
              <a:rPr lang="en-US" altLang="zh-CN" sz="900" kern="1200" dirty="0" err="1">
                <a:solidFill>
                  <a:schemeClr val="tx1"/>
                </a:solidFill>
                <a:latin typeface="+mn-lt"/>
                <a:ea typeface="+mn-ea"/>
                <a:cs typeface="+mn-cs"/>
              </a:rPr>
              <a:t>MappedOrderRsp</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mappedOrderRspMock</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mockQueryMappedOrder</a:t>
            </a:r>
            <a:r>
              <a:rPr lang="en-US" altLang="zh-CN" sz="900" kern="1200" dirty="0">
                <a:solidFill>
                  <a:schemeClr val="tx1"/>
                </a:solidFill>
                <a:latin typeface="+mn-lt"/>
                <a:ea typeface="+mn-ea"/>
                <a:cs typeface="+mn-cs"/>
              </a:rPr>
              <a:t>(b2cOrderReq, </a:t>
            </a:r>
            <a:r>
              <a:rPr lang="en-US" altLang="zh-CN" sz="900" kern="1200" dirty="0" err="1">
                <a:solidFill>
                  <a:schemeClr val="tx1"/>
                </a:solidFill>
                <a:latin typeface="+mn-lt"/>
                <a:ea typeface="+mn-ea"/>
                <a:cs typeface="+mn-cs"/>
              </a:rPr>
              <a:t>isProfit</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 </a:t>
            </a:r>
            <a:r>
              <a:rPr lang="en-US" altLang="zh-CN" sz="900" kern="1200" dirty="0" err="1">
                <a:solidFill>
                  <a:schemeClr val="tx1"/>
                </a:solidFill>
                <a:latin typeface="+mn-lt"/>
                <a:ea typeface="+mn-ea"/>
                <a:cs typeface="+mn-cs"/>
              </a:rPr>
              <a:t>JdbcTemplate</a:t>
            </a:r>
            <a:endParaRPr lang="en-US" altLang="zh-CN"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pay1PayJdbcTemplateMock = </a:t>
            </a:r>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mock</a:t>
            </a:r>
            <a:r>
              <a:rPr lang="en-US" altLang="zh-CN" sz="900" i="1" kern="1200" dirty="0">
                <a:solidFill>
                  <a:schemeClr val="tx1"/>
                </a:solidFill>
                <a:latin typeface="+mn-lt"/>
                <a:ea typeface="+mn-ea"/>
                <a:cs typeface="+mn-cs"/>
              </a:rPr>
              <a:t>(Pay1payJdbcTemplate.</a:t>
            </a:r>
            <a:r>
              <a:rPr lang="en-US" altLang="zh-CN" sz="900" b="1" i="1" kern="1200" dirty="0">
                <a:solidFill>
                  <a:schemeClr val="tx1"/>
                </a:solidFill>
                <a:latin typeface="+mn-lt"/>
                <a:ea typeface="+mn-ea"/>
                <a:cs typeface="+mn-cs"/>
              </a:rPr>
              <a:t>class);</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err="1">
                <a:solidFill>
                  <a:schemeClr val="tx1"/>
                </a:solidFill>
                <a:latin typeface="+mn-lt"/>
                <a:ea typeface="+mn-ea"/>
                <a:cs typeface="+mn-cs"/>
              </a:rPr>
              <a:t>TradeOrderDao</a:t>
            </a:r>
            <a:r>
              <a:rPr lang="zh-CN" altLang="en-US" sz="900" kern="1200" dirty="0">
                <a:solidFill>
                  <a:schemeClr val="tx1"/>
                </a:solidFill>
                <a:latin typeface="+mn-lt"/>
                <a:ea typeface="+mn-ea"/>
                <a:cs typeface="+mn-cs"/>
              </a:rPr>
              <a:t>对象</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并设置</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的</a:t>
            </a:r>
            <a:r>
              <a:rPr lang="en-US" altLang="zh-CN" sz="900" kern="1200" dirty="0">
                <a:solidFill>
                  <a:schemeClr val="tx1"/>
                </a:solidFill>
                <a:latin typeface="+mn-lt"/>
                <a:ea typeface="+mn-ea"/>
                <a:cs typeface="+mn-cs"/>
              </a:rPr>
              <a:t>Pay1payJdbcTemplate</a:t>
            </a:r>
          </a:p>
          <a:p>
            <a:pPr lvl="1"/>
            <a:r>
              <a:rPr lang="en-US" altLang="zh-CN" sz="900" kern="1200" dirty="0" err="1">
                <a:solidFill>
                  <a:schemeClr val="tx1"/>
                </a:solidFill>
                <a:latin typeface="+mn-lt"/>
                <a:ea typeface="+mn-ea"/>
                <a:cs typeface="+mn-cs"/>
              </a:rPr>
              <a:t>TradeOrderDao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tradeOrderDao</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getInternalState</a:t>
            </a:r>
            <a:r>
              <a:rPr lang="en-US" altLang="zh-CN" sz="900" i="1" kern="1200" dirty="0">
                <a:solidFill>
                  <a:schemeClr val="tx1"/>
                </a:solidFill>
                <a:latin typeface="+mn-lt"/>
                <a:ea typeface="+mn-ea"/>
                <a:cs typeface="+mn-cs"/>
              </a:rPr>
              <a:t>(b2COrderFacadeImpl, "</a:t>
            </a:r>
            <a:r>
              <a:rPr lang="en-US" altLang="zh-CN" sz="900" i="1" kern="1200" dirty="0" err="1">
                <a:solidFill>
                  <a:schemeClr val="tx1"/>
                </a:solidFill>
                <a:latin typeface="+mn-lt"/>
                <a:ea typeface="+mn-ea"/>
                <a:cs typeface="+mn-cs"/>
              </a:rPr>
              <a:t>tradeOrderDao</a:t>
            </a:r>
            <a:r>
              <a:rPr lang="en-US" altLang="zh-CN" sz="900"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setInternalState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tradeOrderDao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orderdimJdbcTemplate</a:t>
            </a:r>
            <a:r>
              <a:rPr lang="en-US" altLang="zh-CN" sz="900" i="1" kern="1200" dirty="0">
                <a:solidFill>
                  <a:schemeClr val="tx1"/>
                </a:solidFill>
                <a:latin typeface="+mn-lt"/>
                <a:ea typeface="+mn-ea"/>
                <a:cs typeface="+mn-cs"/>
              </a:rPr>
              <a:t>", pay1PayJdbcTemplateMock);</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设置触发</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更新语句时返回条数为</a:t>
            </a:r>
            <a:r>
              <a:rPr lang="en-US" altLang="zh-CN" sz="900" kern="1200" dirty="0">
                <a:solidFill>
                  <a:schemeClr val="tx1"/>
                </a:solidFill>
                <a:latin typeface="+mn-lt"/>
                <a:ea typeface="+mn-ea"/>
                <a:cs typeface="+mn-cs"/>
              </a:rPr>
              <a:t>1</a:t>
            </a:r>
          </a:p>
          <a:p>
            <a:pPr lvl="1"/>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when</a:t>
            </a:r>
            <a:r>
              <a:rPr lang="en-US" altLang="zh-CN" sz="900" i="1" kern="1200" dirty="0">
                <a:solidFill>
                  <a:schemeClr val="tx1"/>
                </a:solidFill>
                <a:latin typeface="+mn-lt"/>
                <a:ea typeface="+mn-ea"/>
                <a:cs typeface="+mn-cs"/>
              </a:rPr>
              <a:t>(pay1PayJdbcTemplateMock.update(</a:t>
            </a:r>
            <a:r>
              <a:rPr lang="en-US" altLang="zh-CN" sz="900" i="1" kern="1200" dirty="0" err="1">
                <a:solidFill>
                  <a:schemeClr val="tx1"/>
                </a:solidFill>
                <a:latin typeface="+mn-lt"/>
                <a:ea typeface="+mn-ea"/>
                <a:cs typeface="+mn-cs"/>
              </a:rPr>
              <a:t>Mockito.anyString</a:t>
            </a:r>
            <a:r>
              <a:rPr lang="en-US" altLang="zh-CN" sz="900" i="1" kern="1200" dirty="0">
                <a:solidFill>
                  <a:schemeClr val="tx1"/>
                </a:solidFill>
                <a:latin typeface="+mn-lt"/>
                <a:ea typeface="+mn-ea"/>
                <a:cs typeface="+mn-cs"/>
              </a:rPr>
              <a:t>(), </a:t>
            </a:r>
          </a:p>
          <a:p>
            <a:pPr lvl="1"/>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anyString</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Mockito.anyString</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Mockito.anyString</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Mockito.anyObject</a:t>
            </a:r>
            <a:r>
              <a:rPr lang="en-US" altLang="zh-CN" sz="900"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any</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Date.</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 </a:t>
            </a:r>
            <a:r>
              <a:rPr lang="en-US" altLang="zh-CN" sz="900" b="1" i="1" kern="1200" dirty="0" err="1">
                <a:solidFill>
                  <a:schemeClr val="tx1"/>
                </a:solidFill>
                <a:latin typeface="+mn-lt"/>
                <a:ea typeface="+mn-ea"/>
                <a:cs typeface="+mn-cs"/>
              </a:rPr>
              <a:t>Mockito.any</a:t>
            </a:r>
            <a:r>
              <a:rPr lang="en-US" altLang="zh-CN" sz="900" b="1" i="1" kern="1200" dirty="0">
                <a:solidFill>
                  <a:schemeClr val="tx1"/>
                </a:solidFill>
                <a:latin typeface="+mn-lt"/>
                <a:ea typeface="+mn-ea"/>
                <a:cs typeface="+mn-cs"/>
              </a:rPr>
              <a:t>(</a:t>
            </a:r>
            <a:r>
              <a:rPr lang="en-US" altLang="zh-CN" sz="900" b="1" i="1" kern="1200" dirty="0" err="1">
                <a:solidFill>
                  <a:schemeClr val="tx1"/>
                </a:solidFill>
                <a:latin typeface="+mn-lt"/>
                <a:ea typeface="+mn-ea"/>
                <a:cs typeface="+mn-cs"/>
              </a:rPr>
              <a:t>Date.class</a:t>
            </a:r>
            <a:r>
              <a:rPr lang="en-US" altLang="zh-CN" sz="900" b="1" i="1" kern="1200" dirty="0">
                <a:solidFill>
                  <a:schemeClr val="tx1"/>
                </a:solidFill>
                <a:latin typeface="+mn-lt"/>
                <a:ea typeface="+mn-ea"/>
                <a:cs typeface="+mn-cs"/>
              </a:rPr>
              <a:t>))).</a:t>
            </a:r>
            <a:r>
              <a:rPr lang="en-US" altLang="zh-CN" sz="900" b="1" i="1" kern="1200" dirty="0" err="1">
                <a:solidFill>
                  <a:schemeClr val="tx1"/>
                </a:solidFill>
                <a:latin typeface="+mn-lt"/>
                <a:ea typeface="+mn-ea"/>
                <a:cs typeface="+mn-cs"/>
              </a:rPr>
              <a:t>thenReturn</a:t>
            </a:r>
            <a:r>
              <a:rPr lang="en-US" altLang="zh-CN" sz="900" b="1" i="1" kern="1200" dirty="0">
                <a:solidFill>
                  <a:schemeClr val="tx1"/>
                </a:solidFill>
                <a:latin typeface="+mn-lt"/>
                <a:ea typeface="+mn-ea"/>
                <a:cs typeface="+mn-cs"/>
              </a:rPr>
              <a:t>(1);</a:t>
            </a:r>
          </a:p>
          <a:p>
            <a:pPr lvl="1"/>
            <a:endParaRPr lang="zh-CN" altLang="en-US"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return </a:t>
            </a:r>
            <a:r>
              <a:rPr lang="en-US" altLang="zh-CN" sz="900" b="1" kern="1200" dirty="0" err="1">
                <a:solidFill>
                  <a:schemeClr val="tx1"/>
                </a:solidFill>
                <a:latin typeface="+mn-lt"/>
                <a:ea typeface="+mn-ea"/>
                <a:cs typeface="+mn-cs"/>
              </a:rPr>
              <a:t>mappedOrderRspMock</a:t>
            </a:r>
            <a:r>
              <a:rPr lang="en-US" altLang="zh-CN" sz="900" b="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3589568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3733571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是否在对账中</a:t>
            </a:r>
          </a:p>
          <a:p>
            <a:r>
              <a:rPr lang="zh-CN" altLang="en-US" sz="900" kern="1200" dirty="0">
                <a:solidFill>
                  <a:schemeClr val="tx1"/>
                </a:solidFill>
                <a:latin typeface="+mn-lt"/>
                <a:ea typeface="+mn-ea"/>
                <a:cs typeface="+mn-cs"/>
              </a:rPr>
              <a:t> * 期望输入：对账请求对象</a:t>
            </a:r>
          </a:p>
          <a:p>
            <a:r>
              <a:rPr lang="zh-CN" altLang="en-US" sz="900" kern="1200" dirty="0">
                <a:solidFill>
                  <a:schemeClr val="tx1"/>
                </a:solidFill>
                <a:latin typeface="+mn-lt"/>
                <a:ea typeface="+mn-ea"/>
                <a:cs typeface="+mn-cs"/>
              </a:rPr>
              <a:t> * 期望输出：</a:t>
            </a:r>
            <a:r>
              <a:rPr lang="en-US" altLang="zh-CN" sz="900" kern="1200" dirty="0">
                <a:solidFill>
                  <a:schemeClr val="tx1"/>
                </a:solidFill>
                <a:latin typeface="+mn-lt"/>
                <a:ea typeface="+mn-ea"/>
                <a:cs typeface="+mn-cs"/>
              </a:rPr>
              <a:t>true</a:t>
            </a:r>
            <a:r>
              <a:rPr lang="zh-CN" altLang="en-US" sz="900" kern="1200" dirty="0">
                <a:solidFill>
                  <a:schemeClr val="tx1"/>
                </a:solidFill>
                <a:latin typeface="+mn-lt"/>
                <a:ea typeface="+mn-ea"/>
                <a:cs typeface="+mn-cs"/>
              </a:rPr>
              <a:t>，在对账中</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test1001IsRedisReconciling()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获取请求数据</a:t>
            </a:r>
          </a:p>
          <a:p>
            <a:pPr lvl="1"/>
            <a:r>
              <a:rPr lang="en-US" altLang="zh-CN" sz="900" kern="1200" dirty="0" err="1">
                <a:solidFill>
                  <a:schemeClr val="tx1"/>
                </a:solidFill>
                <a:latin typeface="+mn-lt"/>
                <a:ea typeface="+mn-ea"/>
                <a:cs typeface="+mn-cs"/>
              </a:rPr>
              <a:t>ReconciliationReq</a:t>
            </a:r>
            <a:r>
              <a:rPr lang="en-US" altLang="zh-CN" sz="900" kern="1200" dirty="0">
                <a:solidFill>
                  <a:schemeClr val="tx1"/>
                </a:solidFill>
                <a:latin typeface="+mn-lt"/>
                <a:ea typeface="+mn-ea"/>
                <a:cs typeface="+mn-cs"/>
              </a:rPr>
              <a:t> req = </a:t>
            </a:r>
            <a:r>
              <a:rPr lang="en-US" altLang="zh-CN" sz="900" b="1" kern="1200" dirty="0">
                <a:solidFill>
                  <a:schemeClr val="tx1"/>
                </a:solidFill>
                <a:latin typeface="+mn-lt"/>
                <a:ea typeface="+mn-ea"/>
                <a:cs typeface="+mn-cs"/>
              </a:rPr>
              <a:t>new </a:t>
            </a:r>
            <a:r>
              <a:rPr lang="en-US" altLang="zh-CN" sz="900" b="1" kern="1200" dirty="0" err="1">
                <a:solidFill>
                  <a:schemeClr val="tx1"/>
                </a:solidFill>
                <a:latin typeface="+mn-lt"/>
                <a:ea typeface="+mn-ea"/>
                <a:cs typeface="+mn-cs"/>
              </a:rPr>
              <a:t>ReconciliationReq</a:t>
            </a:r>
            <a:r>
              <a:rPr lang="en-US" altLang="zh-CN" sz="900" b="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req.setProgressNo</a:t>
            </a:r>
            <a:r>
              <a:rPr lang="en-US" altLang="zh-CN" sz="900" kern="1200" dirty="0">
                <a:solidFill>
                  <a:schemeClr val="tx1"/>
                </a:solidFill>
                <a:latin typeface="+mn-lt"/>
                <a:ea typeface="+mn-ea"/>
                <a:cs typeface="+mn-cs"/>
              </a:rPr>
              <a:t>(1);</a:t>
            </a:r>
          </a:p>
          <a:p>
            <a:pPr lvl="1"/>
            <a:r>
              <a:rPr lang="en-US" altLang="zh-CN" sz="900" kern="1200" dirty="0" err="1">
                <a:solidFill>
                  <a:schemeClr val="tx1"/>
                </a:solidFill>
                <a:latin typeface="+mn-lt"/>
                <a:ea typeface="+mn-ea"/>
                <a:cs typeface="+mn-cs"/>
              </a:rPr>
              <a:t>req.setReconciliationSn</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UUID.</a:t>
            </a:r>
            <a:r>
              <a:rPr lang="en-US" altLang="zh-CN" sz="900" i="1" kern="1200" dirty="0" err="1">
                <a:solidFill>
                  <a:schemeClr val="tx1"/>
                </a:solidFill>
                <a:latin typeface="+mn-lt"/>
                <a:ea typeface="+mn-ea"/>
                <a:cs typeface="+mn-cs"/>
              </a:rPr>
              <a:t>randomUUID</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toString</a:t>
            </a:r>
            <a:r>
              <a:rPr lang="en-US" altLang="zh-CN" sz="900" i="1" kern="1200" dirty="0">
                <a:solidFill>
                  <a:schemeClr val="tx1"/>
                </a:solidFill>
                <a:latin typeface="+mn-lt"/>
                <a:ea typeface="+mn-ea"/>
                <a:cs typeface="+mn-cs"/>
              </a:rPr>
              <a:t>().substring(10));</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a:t>
            </a:r>
            <a:r>
              <a:rPr lang="zh-CN" altLang="en-US" sz="900" kern="1200" dirty="0">
                <a:solidFill>
                  <a:schemeClr val="tx1"/>
                </a:solidFill>
                <a:latin typeface="+mn-lt"/>
                <a:ea typeface="+mn-ea"/>
                <a:cs typeface="+mn-cs"/>
              </a:rPr>
              <a:t>接口调用</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根据</a:t>
            </a:r>
            <a:r>
              <a:rPr lang="en-US" altLang="zh-CN" sz="900" kern="1200" dirty="0" err="1">
                <a:solidFill>
                  <a:schemeClr val="tx1"/>
                </a:solidFill>
                <a:latin typeface="+mn-lt"/>
                <a:ea typeface="+mn-ea"/>
                <a:cs typeface="+mn-cs"/>
              </a:rPr>
              <a:t>tokenKey</a:t>
            </a:r>
            <a:r>
              <a:rPr lang="zh-CN" altLang="en-US" sz="900" kern="1200" dirty="0">
                <a:solidFill>
                  <a:schemeClr val="tx1"/>
                </a:solidFill>
                <a:latin typeface="+mn-lt"/>
                <a:ea typeface="+mn-ea"/>
                <a:cs typeface="+mn-cs"/>
              </a:rPr>
              <a:t>获取相应的值</a:t>
            </a:r>
          </a:p>
          <a:p>
            <a:pPr lvl="1"/>
            <a:r>
              <a:rPr lang="en-US" altLang="zh-CN" sz="900" kern="1200" dirty="0" err="1">
                <a:solidFill>
                  <a:schemeClr val="tx1"/>
                </a:solidFill>
                <a:latin typeface="+mn-lt"/>
                <a:ea typeface="+mn-ea"/>
                <a:cs typeface="+mn-cs"/>
              </a:rPr>
              <a:t>mockInvokeIsRedisReconciling</a:t>
            </a:r>
            <a:r>
              <a:rPr lang="en-US" altLang="zh-CN" sz="900" kern="1200" dirty="0">
                <a:solidFill>
                  <a:schemeClr val="tx1"/>
                </a:solidFill>
                <a:latin typeface="+mn-lt"/>
                <a:ea typeface="+mn-ea"/>
                <a:cs typeface="+mn-cs"/>
              </a:rPr>
              <a:t>(req);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b="1" kern="1200" dirty="0" err="1">
                <a:solidFill>
                  <a:schemeClr val="tx1"/>
                </a:solidFill>
                <a:latin typeface="+mn-lt"/>
                <a:ea typeface="+mn-ea"/>
                <a:cs typeface="+mn-cs"/>
              </a:rPr>
              <a:t>boolean</a:t>
            </a:r>
            <a:r>
              <a:rPr lang="en-US" altLang="zh-CN" sz="900" b="1" kern="1200" dirty="0">
                <a:solidFill>
                  <a:schemeClr val="tx1"/>
                </a:solidFill>
                <a:latin typeface="+mn-lt"/>
                <a:ea typeface="+mn-ea"/>
                <a:cs typeface="+mn-cs"/>
              </a:rPr>
              <a:t> result = </a:t>
            </a:r>
            <a:r>
              <a:rPr lang="en-US" altLang="zh-CN" sz="900" b="1" kern="1200" dirty="0" err="1">
                <a:solidFill>
                  <a:schemeClr val="tx1"/>
                </a:solidFill>
                <a:latin typeface="+mn-lt"/>
                <a:ea typeface="+mn-ea"/>
                <a:cs typeface="+mn-cs"/>
              </a:rPr>
              <a:t>commonReconciliationService.isRedisReconciling</a:t>
            </a:r>
            <a:r>
              <a:rPr lang="en-US" altLang="zh-CN" sz="900" b="1" kern="1200" dirty="0">
                <a:solidFill>
                  <a:schemeClr val="tx1"/>
                </a:solidFill>
                <a:latin typeface="+mn-lt"/>
                <a:ea typeface="+mn-ea"/>
                <a:cs typeface="+mn-cs"/>
              </a:rPr>
              <a:t>(req);</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校验结果为</a:t>
            </a:r>
            <a:r>
              <a:rPr lang="en-US" altLang="zh-CN" sz="900" kern="1200" dirty="0">
                <a:solidFill>
                  <a:schemeClr val="tx1"/>
                </a:solidFill>
                <a:latin typeface="+mn-lt"/>
                <a:ea typeface="+mn-ea"/>
                <a:cs typeface="+mn-cs"/>
              </a:rPr>
              <a:t>true</a:t>
            </a:r>
          </a:p>
          <a:p>
            <a:pPr lvl="1"/>
            <a:r>
              <a:rPr lang="en-US" altLang="zh-CN" sz="900" kern="1200" dirty="0" err="1">
                <a:solidFill>
                  <a:schemeClr val="tx1"/>
                </a:solidFill>
                <a:latin typeface="+mn-lt"/>
                <a:ea typeface="+mn-ea"/>
                <a:cs typeface="+mn-cs"/>
              </a:rPr>
              <a:t>Assert.</a:t>
            </a:r>
            <a:r>
              <a:rPr lang="en-US" altLang="zh-CN" sz="900" i="1" kern="1200" dirty="0" err="1">
                <a:solidFill>
                  <a:schemeClr val="tx1"/>
                </a:solidFill>
                <a:latin typeface="+mn-lt"/>
                <a:ea typeface="+mn-ea"/>
                <a:cs typeface="+mn-cs"/>
              </a:rPr>
              <a:t>assertTrue</a:t>
            </a:r>
            <a:r>
              <a:rPr lang="en-US" altLang="zh-CN" sz="900" i="1" kern="1200" dirty="0">
                <a:solidFill>
                  <a:schemeClr val="tx1"/>
                </a:solidFill>
                <a:latin typeface="+mn-lt"/>
                <a:ea typeface="+mn-ea"/>
                <a:cs typeface="+mn-cs"/>
              </a:rPr>
              <a:t>(result);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 Mock</a:t>
            </a:r>
            <a:r>
              <a:rPr lang="zh-CN" altLang="en-US" sz="900" kern="1200" dirty="0">
                <a:solidFill>
                  <a:schemeClr val="tx1"/>
                </a:solidFill>
                <a:latin typeface="+mn-lt"/>
                <a:ea typeface="+mn-ea"/>
                <a:cs typeface="+mn-cs"/>
              </a:rPr>
              <a:t>接口调用</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@param req</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SuppressWarnings</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rawtypes</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a:t>
            </a:r>
            <a:r>
              <a:rPr lang="en-US" altLang="zh-CN" sz="900" b="1" kern="1200" dirty="0" err="1">
                <a:solidFill>
                  <a:schemeClr val="tx1"/>
                </a:solidFill>
                <a:latin typeface="+mn-lt"/>
                <a:ea typeface="+mn-ea"/>
                <a:cs typeface="+mn-cs"/>
              </a:rPr>
              <a:t>mockInvokeIsRedisReconciling</a:t>
            </a:r>
            <a:r>
              <a:rPr lang="en-US" altLang="zh-CN" sz="900" b="1" kern="1200" dirty="0">
                <a:solidFill>
                  <a:schemeClr val="tx1"/>
                </a:solidFill>
                <a:latin typeface="+mn-lt"/>
                <a:ea typeface="+mn-ea"/>
                <a:cs typeface="+mn-cs"/>
              </a:rPr>
              <a:t>(</a:t>
            </a:r>
            <a:r>
              <a:rPr lang="en-US" altLang="zh-CN" sz="900" b="1" kern="1200" dirty="0" err="1">
                <a:solidFill>
                  <a:schemeClr val="tx1"/>
                </a:solidFill>
                <a:latin typeface="+mn-lt"/>
                <a:ea typeface="+mn-ea"/>
                <a:cs typeface="+mn-cs"/>
              </a:rPr>
              <a:t>ReconciliationReq</a:t>
            </a:r>
            <a:r>
              <a:rPr lang="en-US" altLang="zh-CN" sz="900" b="1" kern="1200" dirty="0">
                <a:solidFill>
                  <a:schemeClr val="tx1"/>
                </a:solidFill>
                <a:latin typeface="+mn-lt"/>
                <a:ea typeface="+mn-ea"/>
                <a:cs typeface="+mn-cs"/>
              </a:rPr>
              <a:t> req)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先获取封装的</a:t>
            </a:r>
            <a:r>
              <a:rPr lang="en-US" altLang="zh-CN" sz="900" u="sng" kern="1200" dirty="0">
                <a:solidFill>
                  <a:schemeClr val="tx1"/>
                </a:solidFill>
                <a:latin typeface="+mn-lt"/>
                <a:ea typeface="+mn-ea"/>
                <a:cs typeface="+mn-cs"/>
              </a:rPr>
              <a:t>Redis</a:t>
            </a:r>
            <a:r>
              <a:rPr lang="zh-CN" altLang="en-US" sz="900" u="sng" kern="1200" dirty="0">
                <a:solidFill>
                  <a:schemeClr val="tx1"/>
                </a:solidFill>
                <a:latin typeface="+mn-lt"/>
                <a:ea typeface="+mn-ea"/>
                <a:cs typeface="+mn-cs"/>
              </a:rPr>
              <a:t>服务对账</a:t>
            </a:r>
          </a:p>
          <a:p>
            <a:pPr lvl="1"/>
            <a:r>
              <a:rPr lang="en-US" altLang="zh-CN" sz="900" kern="1200" dirty="0" err="1">
                <a:solidFill>
                  <a:schemeClr val="tx1"/>
                </a:solidFill>
                <a:latin typeface="+mn-lt"/>
                <a:ea typeface="+mn-ea"/>
                <a:cs typeface="+mn-cs"/>
              </a:rPr>
              <a:t>RedisService</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redisService</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getInternalState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commonReconciliationService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redisService</a:t>
            </a:r>
            <a:r>
              <a:rPr lang="en-US" altLang="zh-CN" sz="900"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 </a:t>
            </a:r>
            <a:r>
              <a:rPr lang="en-US" altLang="zh-CN" sz="900" kern="1200" dirty="0" err="1">
                <a:solidFill>
                  <a:schemeClr val="tx1"/>
                </a:solidFill>
                <a:latin typeface="+mn-lt"/>
                <a:ea typeface="+mn-ea"/>
                <a:cs typeface="+mn-cs"/>
              </a:rPr>
              <a:t>RedisTemplate</a:t>
            </a:r>
            <a:endParaRPr lang="en-US" altLang="zh-CN" sz="900" kern="1200" dirty="0">
              <a:solidFill>
                <a:schemeClr val="tx1"/>
              </a:solidFill>
              <a:latin typeface="+mn-lt"/>
              <a:ea typeface="+mn-ea"/>
              <a:cs typeface="+mn-cs"/>
            </a:endParaRPr>
          </a:p>
          <a:p>
            <a:pPr lvl="1"/>
            <a:r>
              <a:rPr lang="en-US" altLang="zh-CN" sz="900" kern="1200" dirty="0" err="1">
                <a:solidFill>
                  <a:schemeClr val="tx1"/>
                </a:solidFill>
                <a:latin typeface="+mn-lt"/>
                <a:ea typeface="+mn-ea"/>
                <a:cs typeface="+mn-cs"/>
              </a:rPr>
              <a:t>RedisTemplate</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redisTemplateMock</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mock</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RedisTemplate.</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setInternalState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redisService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redisTemplate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redisTemplateMock</a:t>
            </a:r>
            <a:r>
              <a:rPr lang="en-US" altLang="zh-CN" sz="900"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设置触发</a:t>
            </a:r>
            <a:r>
              <a:rPr lang="en-US" altLang="zh-CN" sz="900" kern="1200" dirty="0" err="1">
                <a:solidFill>
                  <a:schemeClr val="tx1"/>
                </a:solidFill>
                <a:latin typeface="+mn-lt"/>
                <a:ea typeface="+mn-ea"/>
                <a:cs typeface="+mn-cs"/>
              </a:rPr>
              <a:t>opsForValue</a:t>
            </a:r>
            <a:r>
              <a:rPr lang="zh-CN" altLang="en-US" sz="900" kern="1200" dirty="0">
                <a:solidFill>
                  <a:schemeClr val="tx1"/>
                </a:solidFill>
                <a:latin typeface="+mn-lt"/>
                <a:ea typeface="+mn-ea"/>
                <a:cs typeface="+mn-cs"/>
              </a:rPr>
              <a:t>时返回</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的</a:t>
            </a:r>
            <a:r>
              <a:rPr lang="en-US" altLang="zh-CN" sz="900" kern="1200" dirty="0" err="1">
                <a:solidFill>
                  <a:schemeClr val="tx1"/>
                </a:solidFill>
                <a:latin typeface="+mn-lt"/>
                <a:ea typeface="+mn-ea"/>
                <a:cs typeface="+mn-cs"/>
              </a:rPr>
              <a:t>ValueOperations,redisTemplate.opsForValue</a:t>
            </a:r>
            <a:r>
              <a:rPr lang="en-US" altLang="zh-CN" sz="900" kern="1200" dirty="0">
                <a:solidFill>
                  <a:schemeClr val="tx1"/>
                </a:solidFill>
                <a:latin typeface="+mn-lt"/>
                <a:ea typeface="+mn-ea"/>
                <a:cs typeface="+mn-cs"/>
              </a:rPr>
              <a:t>().get(</a:t>
            </a:r>
            <a:r>
              <a:rPr lang="en-US" altLang="zh-CN" sz="900" kern="1200" dirty="0" err="1">
                <a:solidFill>
                  <a:schemeClr val="tx1"/>
                </a:solidFill>
                <a:latin typeface="+mn-lt"/>
                <a:ea typeface="+mn-ea"/>
                <a:cs typeface="+mn-cs"/>
              </a:rPr>
              <a:t>tokenKey</a:t>
            </a:r>
            <a:r>
              <a:rPr lang="en-US" altLang="zh-CN" sz="900"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ValueOperations</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valueOperationsMock</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mock</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ValueOperations.</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when</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redisTemplateMock.opsForValue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thenReturn</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valueOperationsMock</a:t>
            </a:r>
            <a:r>
              <a:rPr lang="en-US" altLang="zh-CN" sz="900"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设置触发</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的</a:t>
            </a:r>
            <a:r>
              <a:rPr lang="en-US" altLang="zh-CN" sz="900" kern="1200" dirty="0" err="1">
                <a:solidFill>
                  <a:schemeClr val="tx1"/>
                </a:solidFill>
                <a:latin typeface="+mn-lt"/>
                <a:ea typeface="+mn-ea"/>
                <a:cs typeface="+mn-cs"/>
              </a:rPr>
              <a:t>ValueOperations</a:t>
            </a:r>
            <a:r>
              <a:rPr lang="zh-CN" altLang="en-US" sz="900" kern="1200" dirty="0">
                <a:solidFill>
                  <a:schemeClr val="tx1"/>
                </a:solidFill>
                <a:latin typeface="+mn-lt"/>
                <a:ea typeface="+mn-ea"/>
                <a:cs typeface="+mn-cs"/>
              </a:rPr>
              <a:t>调用</a:t>
            </a:r>
            <a:r>
              <a:rPr lang="en-US" altLang="zh-CN" sz="900" kern="1200" dirty="0">
                <a:solidFill>
                  <a:schemeClr val="tx1"/>
                </a:solidFill>
                <a:latin typeface="+mn-lt"/>
                <a:ea typeface="+mn-ea"/>
                <a:cs typeface="+mn-cs"/>
              </a:rPr>
              <a:t>get</a:t>
            </a:r>
            <a:r>
              <a:rPr lang="zh-CN" altLang="en-US" sz="900" kern="1200" dirty="0">
                <a:solidFill>
                  <a:schemeClr val="tx1"/>
                </a:solidFill>
                <a:latin typeface="+mn-lt"/>
                <a:ea typeface="+mn-ea"/>
                <a:cs typeface="+mn-cs"/>
              </a:rPr>
              <a:t>方式时</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返回</a:t>
            </a:r>
            <a:r>
              <a:rPr lang="en-US" altLang="zh-CN" sz="900" kern="1200" dirty="0">
                <a:solidFill>
                  <a:schemeClr val="tx1"/>
                </a:solidFill>
                <a:latin typeface="+mn-lt"/>
                <a:ea typeface="+mn-ea"/>
                <a:cs typeface="+mn-cs"/>
              </a:rPr>
              <a:t>key</a:t>
            </a:r>
            <a:r>
              <a:rPr lang="zh-CN" altLang="en-US" sz="900" kern="1200" dirty="0">
                <a:solidFill>
                  <a:schemeClr val="tx1"/>
                </a:solidFill>
                <a:latin typeface="+mn-lt"/>
                <a:ea typeface="+mn-ea"/>
                <a:cs typeface="+mn-cs"/>
              </a:rPr>
              <a:t>值</a:t>
            </a:r>
          </a:p>
          <a:p>
            <a:pPr lvl="1"/>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when</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valueOperationsMock.get</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BaseService.getTokenRedisKey</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req.getProgressNo</a:t>
            </a:r>
            <a:r>
              <a:rPr lang="en-US" altLang="zh-CN" sz="900"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thenReturn</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BaseService.</a:t>
            </a:r>
            <a:r>
              <a:rPr lang="en-US" altLang="zh-CN" sz="900" i="1" kern="1200" dirty="0" err="1">
                <a:solidFill>
                  <a:schemeClr val="tx1"/>
                </a:solidFill>
                <a:latin typeface="+mn-lt"/>
                <a:ea typeface="+mn-ea"/>
                <a:cs typeface="+mn-cs"/>
              </a:rPr>
              <a:t>getReconciliationRedisKeySuffix</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req.getProgressNo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req.getReconciliationSn</a:t>
            </a:r>
            <a:r>
              <a:rPr lang="en-US" altLang="zh-CN" sz="900" i="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28</a:t>
            </a:fld>
            <a:endParaRPr lang="zh-CN" altLang="en-US"/>
          </a:p>
        </p:txBody>
      </p:sp>
    </p:spTree>
    <p:extLst>
      <p:ext uri="{BB962C8B-B14F-4D97-AF65-F5344CB8AC3E}">
        <p14:creationId xmlns:p14="http://schemas.microsoft.com/office/powerpoint/2010/main" val="31198132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单元测试执行完后</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重置接口</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@After</a:t>
            </a:r>
          </a:p>
          <a:p>
            <a:r>
              <a:rPr lang="en-US" altLang="zh-CN" sz="900" b="1" kern="1200" dirty="0">
                <a:solidFill>
                  <a:schemeClr val="tx1"/>
                </a:solidFill>
                <a:latin typeface="+mn-lt"/>
                <a:ea typeface="+mn-ea"/>
                <a:cs typeface="+mn-cs"/>
              </a:rPr>
              <a:t>public void after()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还原商户通知服务</a:t>
            </a:r>
          </a:p>
          <a:p>
            <a:pPr lvl="1"/>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setInternalState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partnerinRepairOrderFacadeImpl</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partnerNotifyService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partnerNotifyService</a:t>
            </a:r>
            <a:r>
              <a:rPr lang="en-US" altLang="zh-CN" sz="900"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还原代付</a:t>
            </a:r>
            <a:r>
              <a:rPr lang="en-US" altLang="zh-CN" sz="900" kern="1200" dirty="0">
                <a:solidFill>
                  <a:schemeClr val="tx1"/>
                </a:solidFill>
                <a:latin typeface="+mn-lt"/>
                <a:ea typeface="+mn-ea"/>
                <a:cs typeface="+mn-cs"/>
              </a:rPr>
              <a:t>Service</a:t>
            </a:r>
            <a:r>
              <a:rPr lang="zh-CN" altLang="en-US" sz="900" kern="1200" dirty="0">
                <a:solidFill>
                  <a:schemeClr val="tx1"/>
                </a:solidFill>
                <a:latin typeface="+mn-lt"/>
                <a:ea typeface="+mn-ea"/>
                <a:cs typeface="+mn-cs"/>
              </a:rPr>
              <a:t>接口</a:t>
            </a:r>
          </a:p>
          <a:p>
            <a:pPr lvl="1"/>
            <a:r>
              <a:rPr lang="en-US" altLang="zh-CN" sz="900" kern="1200" dirty="0" err="1">
                <a:solidFill>
                  <a:schemeClr val="tx1"/>
                </a:solidFill>
                <a:latin typeface="+mn-lt"/>
                <a:ea typeface="+mn-ea"/>
                <a:cs typeface="+mn-cs"/>
              </a:rPr>
              <a:t>restoreDistributeNotifyService</a:t>
            </a:r>
            <a:r>
              <a:rPr lang="en-US" altLang="zh-CN" sz="900" kern="1200" dirty="0">
                <a:solidFill>
                  <a:schemeClr val="tx1"/>
                </a:solidFill>
                <a:latin typeface="+mn-lt"/>
                <a:ea typeface="+mn-ea"/>
                <a:cs typeface="+mn-cs"/>
              </a:rPr>
              <a:t>();</a:t>
            </a:r>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还原代付</a:t>
            </a:r>
            <a:r>
              <a:rPr lang="en-US" altLang="zh-CN" sz="900" kern="1200" dirty="0">
                <a:solidFill>
                  <a:schemeClr val="tx1"/>
                </a:solidFill>
                <a:latin typeface="+mn-lt"/>
                <a:ea typeface="+mn-ea"/>
                <a:cs typeface="+mn-cs"/>
              </a:rPr>
              <a:t>Service</a:t>
            </a:r>
            <a:r>
              <a:rPr lang="zh-CN" altLang="en-US" sz="900" kern="1200" dirty="0">
                <a:solidFill>
                  <a:schemeClr val="tx1"/>
                </a:solidFill>
                <a:latin typeface="+mn-lt"/>
                <a:ea typeface="+mn-ea"/>
                <a:cs typeface="+mn-cs"/>
              </a:rPr>
              <a:t>接口</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a:t>
            </a:r>
            <a:r>
              <a:rPr lang="en-US" altLang="zh-CN" sz="900" b="1" kern="1200" dirty="0" err="1">
                <a:solidFill>
                  <a:schemeClr val="tx1"/>
                </a:solidFill>
                <a:latin typeface="+mn-lt"/>
                <a:ea typeface="+mn-ea"/>
                <a:cs typeface="+mn-cs"/>
              </a:rPr>
              <a:t>restoreDistributeNotifyService</a:t>
            </a:r>
            <a:r>
              <a:rPr lang="en-US" altLang="zh-CN" sz="900" b="1" kern="1200" dirty="0">
                <a:solidFill>
                  <a:schemeClr val="tx1"/>
                </a:solidFill>
                <a:latin typeface="+mn-lt"/>
                <a:ea typeface="+mn-ea"/>
                <a:cs typeface="+mn-cs"/>
              </a:rPr>
              <a:t>()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获取代付</a:t>
            </a:r>
            <a:r>
              <a:rPr lang="en-US" altLang="zh-CN" sz="900" kern="1200" dirty="0">
                <a:solidFill>
                  <a:schemeClr val="tx1"/>
                </a:solidFill>
                <a:latin typeface="+mn-lt"/>
                <a:ea typeface="+mn-ea"/>
                <a:cs typeface="+mn-cs"/>
              </a:rPr>
              <a:t>Service</a:t>
            </a:r>
            <a:r>
              <a:rPr lang="zh-CN" altLang="en-US" sz="900" kern="1200" dirty="0">
                <a:solidFill>
                  <a:schemeClr val="tx1"/>
                </a:solidFill>
                <a:latin typeface="+mn-lt"/>
                <a:ea typeface="+mn-ea"/>
                <a:cs typeface="+mn-cs"/>
              </a:rPr>
              <a:t>接口</a:t>
            </a:r>
          </a:p>
          <a:p>
            <a:pPr lvl="1"/>
            <a:r>
              <a:rPr lang="en-US" altLang="zh-CN" sz="900" kern="1200" dirty="0" err="1">
                <a:solidFill>
                  <a:schemeClr val="tx1"/>
                </a:solidFill>
                <a:latin typeface="+mn-lt"/>
                <a:ea typeface="+mn-ea"/>
                <a:cs typeface="+mn-cs"/>
              </a:rPr>
              <a:t>DistributePayNotifyService</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distributePayNotifyService</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getInternalState</a:t>
            </a:r>
            <a:r>
              <a:rPr lang="en-US" altLang="zh-CN" sz="900"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partnerinRepairOrderFacadeImpl</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distributePayNotifyService</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的商户通知服务接口到实现类</a:t>
            </a:r>
          </a:p>
          <a:p>
            <a:pPr lvl="1"/>
            <a:r>
              <a:rPr lang="en-US" altLang="zh-CN" sz="900" kern="1200" dirty="0" err="1">
                <a:solidFill>
                  <a:schemeClr val="tx1"/>
                </a:solidFill>
                <a:latin typeface="+mn-lt"/>
                <a:ea typeface="+mn-ea"/>
                <a:cs typeface="+mn-cs"/>
              </a:rPr>
              <a:t>Whitebox.</a:t>
            </a:r>
            <a:r>
              <a:rPr lang="en-US" altLang="zh-CN" sz="900" i="1" u="sng" kern="1200" dirty="0" err="1">
                <a:solidFill>
                  <a:schemeClr val="tx1"/>
                </a:solidFill>
                <a:latin typeface="+mn-lt"/>
                <a:ea typeface="+mn-ea"/>
                <a:cs typeface="+mn-cs"/>
              </a:rPr>
              <a:t>setInternalState</a:t>
            </a:r>
            <a:r>
              <a:rPr lang="en-US" altLang="zh-CN" sz="900" i="1" u="sng" kern="1200" dirty="0">
                <a:solidFill>
                  <a:schemeClr val="tx1"/>
                </a:solidFill>
                <a:latin typeface="+mn-lt"/>
                <a:ea typeface="+mn-ea"/>
                <a:cs typeface="+mn-cs"/>
              </a:rPr>
              <a:t>(</a:t>
            </a:r>
            <a:r>
              <a:rPr lang="en-US" altLang="zh-CN" sz="900" i="1" u="sng" kern="1200" dirty="0" err="1">
                <a:solidFill>
                  <a:schemeClr val="tx1"/>
                </a:solidFill>
                <a:latin typeface="+mn-lt"/>
                <a:ea typeface="+mn-ea"/>
                <a:cs typeface="+mn-cs"/>
              </a:rPr>
              <a:t>distributePayNotifyService</a:t>
            </a:r>
            <a:r>
              <a:rPr lang="en-US" altLang="zh-CN" sz="900" i="1" u="sng" kern="1200" dirty="0">
                <a:solidFill>
                  <a:schemeClr val="tx1"/>
                </a:solidFill>
                <a:latin typeface="+mn-lt"/>
                <a:ea typeface="+mn-ea"/>
                <a:cs typeface="+mn-cs"/>
              </a:rPr>
              <a:t>, "</a:t>
            </a:r>
            <a:r>
              <a:rPr lang="en-US" altLang="zh-CN" sz="900" i="1" u="sng" kern="1200" dirty="0" err="1">
                <a:solidFill>
                  <a:schemeClr val="tx1"/>
                </a:solidFill>
                <a:latin typeface="+mn-lt"/>
                <a:ea typeface="+mn-ea"/>
                <a:cs typeface="+mn-cs"/>
              </a:rPr>
              <a:t>partnerNotifyService</a:t>
            </a:r>
            <a:r>
              <a:rPr lang="en-US" altLang="zh-CN" sz="900" i="1" u="sng" kern="1200" dirty="0">
                <a:solidFill>
                  <a:schemeClr val="tx1"/>
                </a:solidFill>
                <a:latin typeface="+mn-lt"/>
                <a:ea typeface="+mn-ea"/>
                <a:cs typeface="+mn-cs"/>
              </a:rPr>
              <a:t>", </a:t>
            </a:r>
            <a:r>
              <a:rPr lang="en-US" altLang="zh-CN" sz="900" i="1" u="sng" kern="1200" dirty="0" err="1">
                <a:solidFill>
                  <a:schemeClr val="tx1"/>
                </a:solidFill>
                <a:latin typeface="+mn-lt"/>
                <a:ea typeface="+mn-ea"/>
                <a:cs typeface="+mn-cs"/>
              </a:rPr>
              <a:t>partnerNotifyService</a:t>
            </a:r>
            <a:r>
              <a:rPr lang="en-US" altLang="zh-CN" sz="900" i="1"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设置原接口</a:t>
            </a:r>
          </a:p>
          <a:p>
            <a:pPr lvl="1"/>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setInternalState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distributePayNotifyService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distributeOrderQueryFacade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distributeOrderQueryFacade</a:t>
            </a:r>
            <a:r>
              <a:rPr lang="en-US" altLang="zh-CN" sz="900" i="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en-US" altLang="zh-CN" sz="900" kern="1200" dirty="0">
              <a:solidFill>
                <a:schemeClr val="tx1"/>
              </a:solidFill>
              <a:latin typeface="+mn-lt"/>
              <a:ea typeface="+mn-ea"/>
              <a:cs typeface="+mn-cs"/>
            </a:endParaRPr>
          </a:p>
          <a:p>
            <a:endParaRPr lang="en-US" altLang="zh-CN" sz="900" kern="1200" dirty="0">
              <a:solidFill>
                <a:schemeClr val="tx1"/>
              </a:solidFill>
              <a:latin typeface="+mn-lt"/>
              <a:ea typeface="+mn-ea"/>
              <a:cs typeface="+mn-cs"/>
            </a:endParaRPr>
          </a:p>
          <a:p>
            <a:endParaRPr lang="en-US" altLang="zh-CN"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FixMethodOrder</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MethodSorters.</a:t>
            </a:r>
            <a:r>
              <a:rPr lang="en-US" altLang="zh-CN" sz="900" b="1" i="1" kern="1200" dirty="0" err="1">
                <a:solidFill>
                  <a:schemeClr val="tx1"/>
                </a:solidFill>
                <a:latin typeface="+mn-lt"/>
                <a:ea typeface="+mn-ea"/>
                <a:cs typeface="+mn-cs"/>
              </a:rPr>
              <a:t>NAME_ASCENDING</a:t>
            </a:r>
            <a:r>
              <a:rPr lang="en-US" altLang="zh-CN" sz="900" b="1" i="1"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public class B2COrderFacadeImplTest extends </a:t>
            </a:r>
            <a:r>
              <a:rPr lang="en-US" altLang="zh-CN" sz="900" b="1" kern="1200" dirty="0" err="1">
                <a:solidFill>
                  <a:schemeClr val="tx1"/>
                </a:solidFill>
                <a:latin typeface="+mn-lt"/>
                <a:ea typeface="+mn-ea"/>
                <a:cs typeface="+mn-cs"/>
              </a:rPr>
              <a:t>BaseTest</a:t>
            </a:r>
            <a:r>
              <a:rPr lang="en-US" altLang="zh-CN" sz="900" b="1"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Autowired</a:t>
            </a:r>
            <a:endParaRPr lang="en-US" altLang="zh-CN"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InjectMocks</a:t>
            </a:r>
            <a:endParaRPr lang="en-US" altLang="zh-CN"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private B2COrderFacadeImpl </a:t>
            </a:r>
            <a:r>
              <a:rPr lang="en-US" altLang="zh-CN" sz="900" b="1" kern="1200" dirty="0" err="1">
                <a:solidFill>
                  <a:schemeClr val="tx1"/>
                </a:solidFill>
                <a:latin typeface="+mn-lt"/>
                <a:ea typeface="+mn-ea"/>
                <a:cs typeface="+mn-cs"/>
              </a:rPr>
              <a:t>b2COrderFacadeImpl</a:t>
            </a:r>
            <a:r>
              <a:rPr lang="en-US" altLang="zh-CN" sz="900" b="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@Mock</a:t>
            </a:r>
          </a:p>
          <a:p>
            <a:pPr lvl="1"/>
            <a:r>
              <a:rPr lang="en-US" altLang="zh-CN" sz="900" b="1" kern="1200" dirty="0">
                <a:solidFill>
                  <a:schemeClr val="tx1"/>
                </a:solidFill>
                <a:latin typeface="+mn-lt"/>
                <a:ea typeface="+mn-ea"/>
                <a:cs typeface="+mn-cs"/>
              </a:rPr>
              <a:t>private </a:t>
            </a:r>
            <a:r>
              <a:rPr lang="en-US" altLang="zh-CN" sz="900" b="1" kern="1200" dirty="0" err="1">
                <a:solidFill>
                  <a:schemeClr val="tx1"/>
                </a:solidFill>
                <a:latin typeface="+mn-lt"/>
                <a:ea typeface="+mn-ea"/>
                <a:cs typeface="+mn-cs"/>
              </a:rPr>
              <a:t>TradeOrderDao</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tradeOrderDao</a:t>
            </a:r>
            <a:r>
              <a:rPr lang="en-US" altLang="zh-CN" sz="900" b="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Autowired</a:t>
            </a:r>
            <a:endParaRPr lang="en-US" altLang="zh-CN" sz="900" kern="1200" dirty="0">
              <a:solidFill>
                <a:schemeClr val="tx1"/>
              </a:solidFill>
              <a:latin typeface="+mn-lt"/>
              <a:ea typeface="+mn-ea"/>
              <a:cs typeface="+mn-cs"/>
            </a:endParaRPr>
          </a:p>
          <a:p>
            <a:pPr lvl="1"/>
            <a:r>
              <a:rPr lang="en-US" altLang="zh-CN" sz="900" b="1" kern="1200" dirty="0">
                <a:solidFill>
                  <a:schemeClr val="tx1"/>
                </a:solidFill>
                <a:latin typeface="+mn-lt"/>
                <a:ea typeface="+mn-ea"/>
                <a:cs typeface="+mn-cs"/>
              </a:rPr>
              <a:t>private </a:t>
            </a:r>
            <a:r>
              <a:rPr lang="en-US" altLang="zh-CN" sz="900" b="1" kern="1200" dirty="0" err="1">
                <a:solidFill>
                  <a:schemeClr val="tx1"/>
                </a:solidFill>
                <a:latin typeface="+mn-lt"/>
                <a:ea typeface="+mn-ea"/>
                <a:cs typeface="+mn-cs"/>
              </a:rPr>
              <a:t>TradeOrderDao</a:t>
            </a:r>
            <a:r>
              <a:rPr lang="en-US" altLang="zh-CN" sz="900" b="1" kern="1200" dirty="0">
                <a:solidFill>
                  <a:schemeClr val="tx1"/>
                </a:solidFill>
                <a:latin typeface="+mn-lt"/>
                <a:ea typeface="+mn-ea"/>
                <a:cs typeface="+mn-cs"/>
              </a:rPr>
              <a:t> </a:t>
            </a:r>
            <a:r>
              <a:rPr lang="en-US" altLang="zh-CN" sz="900" b="1" kern="1200" dirty="0" err="1">
                <a:solidFill>
                  <a:schemeClr val="tx1"/>
                </a:solidFill>
                <a:latin typeface="+mn-lt"/>
                <a:ea typeface="+mn-ea"/>
                <a:cs typeface="+mn-cs"/>
              </a:rPr>
              <a:t>oriTradeOrderDao</a:t>
            </a:r>
            <a:r>
              <a:rPr lang="en-US" altLang="zh-CN" sz="900" b="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@Before</a:t>
            </a:r>
          </a:p>
          <a:p>
            <a:pPr lvl="1"/>
            <a:r>
              <a:rPr lang="en-US" altLang="zh-CN" sz="900" b="1" kern="1200" dirty="0">
                <a:solidFill>
                  <a:schemeClr val="tx1"/>
                </a:solidFill>
                <a:latin typeface="+mn-lt"/>
                <a:ea typeface="+mn-ea"/>
                <a:cs typeface="+mn-cs"/>
              </a:rPr>
              <a:t>public void </a:t>
            </a:r>
            <a:r>
              <a:rPr lang="en-US" altLang="zh-CN" sz="900" b="1" kern="1200" dirty="0" err="1">
                <a:solidFill>
                  <a:schemeClr val="tx1"/>
                </a:solidFill>
                <a:latin typeface="+mn-lt"/>
                <a:ea typeface="+mn-ea"/>
                <a:cs typeface="+mn-cs"/>
              </a:rPr>
              <a:t>init</a:t>
            </a:r>
            <a:r>
              <a:rPr lang="en-US" altLang="zh-CN" sz="900" b="1" kern="1200" dirty="0">
                <a:solidFill>
                  <a:schemeClr val="tx1"/>
                </a:solidFill>
                <a:latin typeface="+mn-lt"/>
                <a:ea typeface="+mn-ea"/>
                <a:cs typeface="+mn-cs"/>
              </a:rPr>
              <a:t>() {</a:t>
            </a:r>
          </a:p>
          <a:p>
            <a:pPr lvl="2"/>
            <a:r>
              <a:rPr lang="en-US" altLang="zh-CN" sz="900" kern="1200" dirty="0" err="1">
                <a:solidFill>
                  <a:schemeClr val="tx1"/>
                </a:solidFill>
                <a:latin typeface="+mn-lt"/>
                <a:ea typeface="+mn-ea"/>
                <a:cs typeface="+mn-cs"/>
              </a:rPr>
              <a:t>MockitoAnnotations.</a:t>
            </a:r>
            <a:r>
              <a:rPr lang="en-US" altLang="zh-CN" sz="900" i="1" kern="1200" dirty="0" err="1">
                <a:solidFill>
                  <a:schemeClr val="tx1"/>
                </a:solidFill>
                <a:latin typeface="+mn-lt"/>
                <a:ea typeface="+mn-ea"/>
                <a:cs typeface="+mn-cs"/>
              </a:rPr>
              <a:t>initMocks</a:t>
            </a:r>
            <a:r>
              <a:rPr lang="en-US" altLang="zh-CN" sz="900" i="1" kern="1200" dirty="0">
                <a:solidFill>
                  <a:schemeClr val="tx1"/>
                </a:solidFill>
                <a:latin typeface="+mn-lt"/>
                <a:ea typeface="+mn-ea"/>
                <a:cs typeface="+mn-cs"/>
              </a:rPr>
              <a:t>(</a:t>
            </a:r>
            <a:r>
              <a:rPr lang="en-US" altLang="zh-CN" sz="900" b="1" i="1" kern="1200" dirty="0">
                <a:solidFill>
                  <a:schemeClr val="tx1"/>
                </a:solidFill>
                <a:latin typeface="+mn-lt"/>
                <a:ea typeface="+mn-ea"/>
                <a:cs typeface="+mn-cs"/>
              </a:rPr>
              <a:t>this);</a:t>
            </a:r>
          </a:p>
          <a:p>
            <a:pPr lvl="1"/>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@After</a:t>
            </a:r>
          </a:p>
          <a:p>
            <a:pPr lvl="1"/>
            <a:r>
              <a:rPr lang="en-US" altLang="zh-CN" sz="900" b="1" kern="1200" dirty="0">
                <a:solidFill>
                  <a:schemeClr val="tx1"/>
                </a:solidFill>
                <a:latin typeface="+mn-lt"/>
                <a:ea typeface="+mn-ea"/>
                <a:cs typeface="+mn-cs"/>
              </a:rPr>
              <a:t>public void after() {</a:t>
            </a:r>
          </a:p>
          <a:p>
            <a:pPr lvl="2"/>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还原交易订单</a:t>
            </a:r>
            <a:r>
              <a:rPr lang="en-US" altLang="zh-CN" sz="900" u="sng" kern="1200" dirty="0">
                <a:solidFill>
                  <a:schemeClr val="tx1"/>
                </a:solidFill>
                <a:latin typeface="+mn-lt"/>
                <a:ea typeface="+mn-ea"/>
                <a:cs typeface="+mn-cs"/>
              </a:rPr>
              <a:t>Dao</a:t>
            </a:r>
          </a:p>
          <a:p>
            <a:pPr lvl="2"/>
            <a:r>
              <a:rPr lang="en-US" altLang="zh-CN" sz="900" kern="1200" dirty="0" err="1">
                <a:solidFill>
                  <a:schemeClr val="tx1"/>
                </a:solidFill>
                <a:latin typeface="+mn-lt"/>
                <a:ea typeface="+mn-ea"/>
                <a:cs typeface="+mn-cs"/>
              </a:rPr>
              <a:t>ReflectionTestUtils.</a:t>
            </a:r>
            <a:r>
              <a:rPr lang="en-US" altLang="zh-CN" sz="900" i="1" kern="1200" dirty="0" err="1">
                <a:solidFill>
                  <a:schemeClr val="tx1"/>
                </a:solidFill>
                <a:latin typeface="+mn-lt"/>
                <a:ea typeface="+mn-ea"/>
                <a:cs typeface="+mn-cs"/>
              </a:rPr>
              <a:t>setField</a:t>
            </a:r>
            <a:r>
              <a:rPr lang="en-US" altLang="zh-CN" sz="900" i="1" kern="1200" dirty="0">
                <a:solidFill>
                  <a:schemeClr val="tx1"/>
                </a:solidFill>
                <a:latin typeface="+mn-lt"/>
                <a:ea typeface="+mn-ea"/>
                <a:cs typeface="+mn-cs"/>
              </a:rPr>
              <a:t>(b2COrderFacadeImpl, "</a:t>
            </a:r>
            <a:r>
              <a:rPr lang="en-US" altLang="zh-CN" sz="900" i="1" kern="1200" dirty="0" err="1">
                <a:solidFill>
                  <a:schemeClr val="tx1"/>
                </a:solidFill>
                <a:latin typeface="+mn-lt"/>
                <a:ea typeface="+mn-ea"/>
                <a:cs typeface="+mn-cs"/>
              </a:rPr>
              <a:t>tradeOrderDao</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oriTradeOrderDao</a:t>
            </a:r>
            <a:r>
              <a:rPr lang="en-US" altLang="zh-CN" sz="900"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29</a:t>
            </a:fld>
            <a:endParaRPr lang="zh-CN" altLang="en-US"/>
          </a:p>
        </p:txBody>
      </p:sp>
    </p:spTree>
    <p:extLst>
      <p:ext uri="{BB962C8B-B14F-4D97-AF65-F5344CB8AC3E}">
        <p14:creationId xmlns:p14="http://schemas.microsoft.com/office/powerpoint/2010/main" val="10968780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修改商户通知</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代付余额</a:t>
            </a:r>
            <a:r>
              <a:rPr lang="en-US" altLang="zh-CN" sz="900" kern="1200" dirty="0">
                <a:solidFill>
                  <a:schemeClr val="tx1"/>
                </a:solidFill>
                <a:latin typeface="+mn-lt"/>
                <a:ea typeface="+mn-ea"/>
                <a:cs typeface="+mn-cs"/>
              </a:rPr>
              <a:t>)</a:t>
            </a:r>
          </a:p>
          <a:p>
            <a:r>
              <a:rPr lang="zh-CN" altLang="en-US" sz="900" kern="1200" dirty="0">
                <a:solidFill>
                  <a:schemeClr val="tx1"/>
                </a:solidFill>
                <a:latin typeface="+mn-lt"/>
                <a:ea typeface="+mn-ea"/>
                <a:cs typeface="+mn-cs"/>
              </a:rPr>
              <a:t> * 期望输入：余额代付订单映射请求对象</a:t>
            </a:r>
          </a:p>
          <a:p>
            <a:r>
              <a:rPr lang="zh-CN" altLang="en-US" sz="900" kern="1200" dirty="0">
                <a:solidFill>
                  <a:schemeClr val="tx1"/>
                </a:solidFill>
                <a:latin typeface="+mn-lt"/>
                <a:ea typeface="+mn-ea"/>
                <a:cs typeface="+mn-cs"/>
              </a:rPr>
              <a:t> * 期望输出：无</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@Test</a:t>
            </a:r>
          </a:p>
          <a:p>
            <a:r>
              <a:rPr lang="en-US" altLang="zh-CN" sz="900" b="1" kern="1200" dirty="0">
                <a:solidFill>
                  <a:schemeClr val="tx1"/>
                </a:solidFill>
                <a:latin typeface="+mn-lt"/>
                <a:ea typeface="+mn-ea"/>
                <a:cs typeface="+mn-cs"/>
              </a:rPr>
              <a:t>public void test1006UpdatePartnerinForDistributeBalance() throws Exception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获取请求数据</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初始化物流交易订单映射数据</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 </a:t>
            </a:r>
            <a:r>
              <a:rPr lang="en-US" altLang="zh-CN" sz="900" i="1" kern="1200" dirty="0" err="1">
                <a:solidFill>
                  <a:schemeClr val="tx1"/>
                </a:solidFill>
                <a:latin typeface="+mn-lt"/>
                <a:ea typeface="+mn-ea"/>
                <a:cs typeface="+mn-cs"/>
              </a:rPr>
              <a:t>getFakePayTotalNo</a:t>
            </a:r>
            <a:r>
              <a:rPr lang="en-US" altLang="zh-CN" sz="900"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 </a:t>
            </a:r>
            <a:r>
              <a:rPr lang="en-US" altLang="zh-CN" sz="900" i="1" kern="1200" dirty="0" err="1">
                <a:solidFill>
                  <a:schemeClr val="tx1"/>
                </a:solidFill>
                <a:latin typeface="+mn-lt"/>
                <a:ea typeface="+mn-ea"/>
                <a:cs typeface="+mn-cs"/>
              </a:rPr>
              <a:t>getFakeNumber</a:t>
            </a:r>
            <a:r>
              <a:rPr lang="en-US" altLang="zh-CN" sz="900" i="1" kern="1200" dirty="0">
                <a:solidFill>
                  <a:schemeClr val="tx1"/>
                </a:solidFill>
                <a:latin typeface="+mn-lt"/>
                <a:ea typeface="+mn-ea"/>
                <a:cs typeface="+mn-cs"/>
              </a:rPr>
              <a:t>(25);</a:t>
            </a:r>
          </a:p>
          <a:p>
            <a:pPr lvl="1"/>
            <a:r>
              <a:rPr lang="en-US" altLang="zh-CN" sz="900" kern="1200" dirty="0">
                <a:solidFill>
                  <a:schemeClr val="tx1"/>
                </a:solidFill>
                <a:latin typeface="+mn-lt"/>
                <a:ea typeface="+mn-ea"/>
                <a:cs typeface="+mn-cs"/>
              </a:rPr>
              <a:t>String </a:t>
            </a:r>
            <a:r>
              <a:rPr lang="en-US" altLang="zh-CN" sz="900" kern="1200" dirty="0" err="1">
                <a:solidFill>
                  <a:schemeClr val="tx1"/>
                </a:solidFill>
                <a:latin typeface="+mn-lt"/>
                <a:ea typeface="+mn-ea"/>
                <a:cs typeface="+mn-cs"/>
              </a:rPr>
              <a:t>mapOrderId</a:t>
            </a:r>
            <a:r>
              <a:rPr lang="en-US" altLang="zh-CN" sz="900" kern="1200" dirty="0">
                <a:solidFill>
                  <a:schemeClr val="tx1"/>
                </a:solidFill>
                <a:latin typeface="+mn-lt"/>
                <a:ea typeface="+mn-ea"/>
                <a:cs typeface="+mn-cs"/>
              </a:rPr>
              <a:t> = </a:t>
            </a:r>
            <a:r>
              <a:rPr lang="en-US" altLang="zh-CN" sz="900" i="1" kern="1200" dirty="0" err="1">
                <a:solidFill>
                  <a:schemeClr val="tx1"/>
                </a:solidFill>
                <a:latin typeface="+mn-lt"/>
                <a:ea typeface="+mn-ea"/>
                <a:cs typeface="+mn-cs"/>
              </a:rPr>
              <a:t>getFakeMapOrderId</a:t>
            </a:r>
            <a:r>
              <a:rPr lang="en-US" altLang="zh-CN" sz="900"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a:t>
            </a:r>
            <a:r>
              <a:rPr lang="zh-CN" altLang="en-US" sz="900" kern="1200" dirty="0">
                <a:solidFill>
                  <a:schemeClr val="tx1"/>
                </a:solidFill>
                <a:latin typeface="+mn-lt"/>
                <a:ea typeface="+mn-ea"/>
                <a:cs typeface="+mn-cs"/>
              </a:rPr>
              <a:t>接口调用</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方法执行时</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查询订单映射时返回</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数据</a:t>
            </a:r>
          </a:p>
          <a:p>
            <a:pPr lvl="1"/>
            <a:r>
              <a:rPr lang="en-US" altLang="zh-CN" sz="900" kern="1200" dirty="0" err="1">
                <a:solidFill>
                  <a:schemeClr val="tx1"/>
                </a:solidFill>
                <a:latin typeface="+mn-lt"/>
                <a:ea typeface="+mn-ea"/>
                <a:cs typeface="+mn-cs"/>
              </a:rPr>
              <a:t>mockInvokeForDistribute</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payTotalNo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tradeNo</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mapOrderId</a:t>
            </a:r>
            <a:r>
              <a:rPr lang="en-US" altLang="zh-CN" sz="900"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ReleOrderTypeEnum.</a:t>
            </a:r>
            <a:r>
              <a:rPr lang="en-US" altLang="zh-CN" sz="900" b="1" i="1" kern="1200" dirty="0" err="1">
                <a:solidFill>
                  <a:schemeClr val="tx1"/>
                </a:solidFill>
                <a:latin typeface="+mn-lt"/>
                <a:ea typeface="+mn-ea"/>
                <a:cs typeface="+mn-cs"/>
              </a:rPr>
              <a:t>DISTRIBUTE_TO_BALANCE.getCode</a:t>
            </a:r>
            <a:r>
              <a:rPr lang="en-US" altLang="zh-CN" sz="900" b="1" i="1"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发起请求</a:t>
            </a:r>
          </a:p>
          <a:p>
            <a:pPr lvl="1"/>
            <a:r>
              <a:rPr lang="en-US" altLang="zh-CN" sz="900" kern="1200" dirty="0" err="1">
                <a:solidFill>
                  <a:schemeClr val="tx1"/>
                </a:solidFill>
                <a:latin typeface="+mn-lt"/>
                <a:ea typeface="+mn-ea"/>
                <a:cs typeface="+mn-cs"/>
              </a:rPr>
              <a:t>partnerinRepairOrderFacadeImpl.</a:t>
            </a:r>
            <a:r>
              <a:rPr lang="en-US" altLang="zh-CN" sz="900" u="sng" kern="1200" dirty="0" err="1">
                <a:solidFill>
                  <a:schemeClr val="tx1"/>
                </a:solidFill>
                <a:latin typeface="+mn-lt"/>
                <a:ea typeface="+mn-ea"/>
                <a:cs typeface="+mn-cs"/>
              </a:rPr>
              <a:t>updatePartnerin</a:t>
            </a:r>
            <a:r>
              <a:rPr lang="en-US" altLang="zh-CN" sz="900" u="sng" kern="1200" dirty="0">
                <a:solidFill>
                  <a:schemeClr val="tx1"/>
                </a:solidFill>
                <a:latin typeface="+mn-lt"/>
                <a:ea typeface="+mn-ea"/>
                <a:cs typeface="+mn-cs"/>
              </a:rPr>
              <a:t>(</a:t>
            </a:r>
            <a:r>
              <a:rPr lang="en-US" altLang="zh-CN" sz="900" u="sng" kern="1200" dirty="0" err="1">
                <a:solidFill>
                  <a:schemeClr val="tx1"/>
                </a:solidFill>
                <a:latin typeface="+mn-lt"/>
                <a:ea typeface="+mn-ea"/>
                <a:cs typeface="+mn-cs"/>
              </a:rPr>
              <a:t>payTotalNo</a:t>
            </a:r>
            <a:r>
              <a:rPr lang="en-US" altLang="zh-CN" sz="900" u="sng"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校验操作结果</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保存商户通知记录</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接口被调用</a:t>
            </a:r>
            <a:r>
              <a:rPr lang="en-US" altLang="zh-CN" sz="900" kern="1200" dirty="0">
                <a:solidFill>
                  <a:schemeClr val="tx1"/>
                </a:solidFill>
                <a:latin typeface="+mn-lt"/>
                <a:ea typeface="+mn-ea"/>
                <a:cs typeface="+mn-cs"/>
              </a:rPr>
              <a:t>1</a:t>
            </a:r>
            <a:r>
              <a:rPr lang="zh-CN" altLang="en-US" sz="900" kern="1200" dirty="0">
                <a:solidFill>
                  <a:schemeClr val="tx1"/>
                </a:solidFill>
                <a:latin typeface="+mn-lt"/>
                <a:ea typeface="+mn-ea"/>
                <a:cs typeface="+mn-cs"/>
              </a:rPr>
              <a:t>次</a:t>
            </a:r>
          </a:p>
          <a:p>
            <a:pPr lvl="1"/>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verify</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partnerNotifyServiceMock</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Mockito.times</a:t>
            </a:r>
            <a:r>
              <a:rPr lang="en-US" altLang="zh-CN" sz="900" i="1" kern="1200" dirty="0">
                <a:solidFill>
                  <a:schemeClr val="tx1"/>
                </a:solidFill>
                <a:latin typeface="+mn-lt"/>
                <a:ea typeface="+mn-ea"/>
                <a:cs typeface="+mn-cs"/>
              </a:rPr>
              <a:t>(1))</a:t>
            </a: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partnerNotify</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Mockito.</a:t>
            </a:r>
            <a:r>
              <a:rPr lang="en-US" altLang="zh-CN" sz="900" i="1" kern="1200" dirty="0" err="1">
                <a:solidFill>
                  <a:schemeClr val="tx1"/>
                </a:solidFill>
                <a:latin typeface="+mn-lt"/>
                <a:ea typeface="+mn-ea"/>
                <a:cs typeface="+mn-cs"/>
              </a:rPr>
              <a:t>any</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NotifyReq.</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a:p>
            <a:endParaRPr lang="zh-CN" altLang="en-US" sz="900" kern="1200" dirty="0">
              <a:solidFill>
                <a:schemeClr val="tx1"/>
              </a:solidFill>
              <a:latin typeface="+mn-lt"/>
              <a:ea typeface="+mn-ea"/>
              <a:cs typeface="+mn-cs"/>
            </a:endParaRPr>
          </a:p>
          <a:p>
            <a:r>
              <a:rPr lang="en-US" altLang="zh-CN" sz="900"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 * Mock</a:t>
            </a:r>
            <a:r>
              <a:rPr lang="zh-CN" altLang="en-US" sz="900" kern="1200" dirty="0">
                <a:solidFill>
                  <a:schemeClr val="tx1"/>
                </a:solidFill>
                <a:latin typeface="+mn-lt"/>
                <a:ea typeface="+mn-ea"/>
                <a:cs typeface="+mn-cs"/>
              </a:rPr>
              <a:t>代付接口</a:t>
            </a:r>
          </a:p>
          <a:p>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@throws Exception </a:t>
            </a:r>
          </a:p>
          <a:p>
            <a:r>
              <a:rPr lang="zh-CN" altLang="en-US" sz="900" kern="1200" dirty="0">
                <a:solidFill>
                  <a:schemeClr val="tx1"/>
                </a:solidFill>
                <a:latin typeface="+mn-lt"/>
                <a:ea typeface="+mn-ea"/>
                <a:cs typeface="+mn-cs"/>
              </a:rPr>
              <a:t> *</a:t>
            </a:r>
            <a:r>
              <a:rPr lang="en-US" altLang="zh-CN" sz="900"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private void </a:t>
            </a:r>
            <a:r>
              <a:rPr lang="en-US" altLang="zh-CN" sz="900" b="1" kern="1200" dirty="0" err="1">
                <a:solidFill>
                  <a:schemeClr val="tx1"/>
                </a:solidFill>
                <a:latin typeface="+mn-lt"/>
                <a:ea typeface="+mn-ea"/>
                <a:cs typeface="+mn-cs"/>
              </a:rPr>
              <a:t>mockInvokeForDistribute</a:t>
            </a:r>
            <a:r>
              <a:rPr lang="en-US" altLang="zh-CN" sz="900" b="1" kern="1200" dirty="0">
                <a:solidFill>
                  <a:schemeClr val="tx1"/>
                </a:solidFill>
                <a:latin typeface="+mn-lt"/>
                <a:ea typeface="+mn-ea"/>
                <a:cs typeface="+mn-cs"/>
              </a:rPr>
              <a:t>(String </a:t>
            </a:r>
            <a:r>
              <a:rPr lang="en-US" altLang="zh-CN" sz="900" b="1" kern="1200" dirty="0" err="1">
                <a:solidFill>
                  <a:schemeClr val="tx1"/>
                </a:solidFill>
                <a:latin typeface="+mn-lt"/>
                <a:ea typeface="+mn-ea"/>
                <a:cs typeface="+mn-cs"/>
              </a:rPr>
              <a:t>payTotalNo</a:t>
            </a:r>
            <a:r>
              <a:rPr lang="en-US" altLang="zh-CN" sz="900" b="1" kern="1200" dirty="0">
                <a:solidFill>
                  <a:schemeClr val="tx1"/>
                </a:solidFill>
                <a:latin typeface="+mn-lt"/>
                <a:ea typeface="+mn-ea"/>
                <a:cs typeface="+mn-cs"/>
              </a:rPr>
              <a:t>, String </a:t>
            </a:r>
            <a:r>
              <a:rPr lang="en-US" altLang="zh-CN" sz="900" b="1" kern="1200" dirty="0" err="1">
                <a:solidFill>
                  <a:schemeClr val="tx1"/>
                </a:solidFill>
                <a:latin typeface="+mn-lt"/>
                <a:ea typeface="+mn-ea"/>
                <a:cs typeface="+mn-cs"/>
              </a:rPr>
              <a:t>tradeNo</a:t>
            </a:r>
            <a:r>
              <a:rPr lang="en-US" altLang="zh-CN" sz="900" b="1" kern="1200" dirty="0">
                <a:solidFill>
                  <a:schemeClr val="tx1"/>
                </a:solidFill>
                <a:latin typeface="+mn-lt"/>
                <a:ea typeface="+mn-ea"/>
                <a:cs typeface="+mn-cs"/>
              </a:rPr>
              <a:t>, String </a:t>
            </a:r>
            <a:r>
              <a:rPr lang="en-US" altLang="zh-CN" sz="900" b="1" kern="1200" dirty="0" err="1">
                <a:solidFill>
                  <a:schemeClr val="tx1"/>
                </a:solidFill>
                <a:latin typeface="+mn-lt"/>
                <a:ea typeface="+mn-ea"/>
                <a:cs typeface="+mn-cs"/>
              </a:rPr>
              <a:t>mapOrderId</a:t>
            </a:r>
            <a:r>
              <a:rPr lang="en-US" altLang="zh-CN" sz="900" b="1" kern="1200" dirty="0">
                <a:solidFill>
                  <a:schemeClr val="tx1"/>
                </a:solidFill>
                <a:latin typeface="+mn-lt"/>
                <a:ea typeface="+mn-ea"/>
                <a:cs typeface="+mn-cs"/>
              </a:rPr>
              <a:t>,</a:t>
            </a:r>
          </a:p>
          <a:p>
            <a:r>
              <a:rPr lang="en-US" altLang="zh-CN" sz="900" b="1" kern="1200" dirty="0">
                <a:solidFill>
                  <a:schemeClr val="tx1"/>
                </a:solidFill>
                <a:latin typeface="+mn-lt"/>
                <a:ea typeface="+mn-ea"/>
                <a:cs typeface="+mn-cs"/>
              </a:rPr>
              <a:t>	int </a:t>
            </a:r>
            <a:r>
              <a:rPr lang="en-US" altLang="zh-CN" sz="900" b="1" kern="1200" dirty="0" err="1">
                <a:solidFill>
                  <a:schemeClr val="tx1"/>
                </a:solidFill>
                <a:latin typeface="+mn-lt"/>
                <a:ea typeface="+mn-ea"/>
                <a:cs typeface="+mn-cs"/>
              </a:rPr>
              <a:t>releOrderType</a:t>
            </a:r>
            <a:r>
              <a:rPr lang="en-US" altLang="zh-CN" sz="900" b="1" kern="1200" dirty="0">
                <a:solidFill>
                  <a:schemeClr val="tx1"/>
                </a:solidFill>
                <a:latin typeface="+mn-lt"/>
                <a:ea typeface="+mn-ea"/>
                <a:cs typeface="+mn-cs"/>
              </a:rPr>
              <a:t>) throws Exception {</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获取</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的代付订单对象</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并设置触发</a:t>
            </a:r>
          </a:p>
          <a:p>
            <a:pPr lvl="1"/>
            <a:r>
              <a:rPr lang="en-US" altLang="zh-CN" sz="900" kern="1200" dirty="0" err="1">
                <a:solidFill>
                  <a:schemeClr val="tx1"/>
                </a:solidFill>
                <a:latin typeface="+mn-lt"/>
                <a:ea typeface="+mn-ea"/>
                <a:cs typeface="+mn-cs"/>
              </a:rPr>
              <a:t>CommParamRsp</a:t>
            </a:r>
            <a:r>
              <a:rPr lang="en-US" altLang="zh-CN" sz="900" kern="1200" dirty="0">
                <a:solidFill>
                  <a:schemeClr val="tx1"/>
                </a:solidFill>
                <a:latin typeface="+mn-lt"/>
                <a:ea typeface="+mn-ea"/>
                <a:cs typeface="+mn-cs"/>
              </a:rPr>
              <a:t>&lt;String, Object&gt; </a:t>
            </a:r>
            <a:r>
              <a:rPr lang="en-US" altLang="zh-CN" sz="900" kern="1200" dirty="0" err="1">
                <a:solidFill>
                  <a:schemeClr val="tx1"/>
                </a:solidFill>
                <a:latin typeface="+mn-lt"/>
                <a:ea typeface="+mn-ea"/>
                <a:cs typeface="+mn-cs"/>
              </a:rPr>
              <a:t>distributeOrderMock</a:t>
            </a:r>
            <a:r>
              <a:rPr lang="en-US" altLang="zh-CN" sz="900" kern="1200" dirty="0">
                <a:solidFill>
                  <a:schemeClr val="tx1"/>
                </a:solidFill>
                <a:latin typeface="+mn-lt"/>
                <a:ea typeface="+mn-ea"/>
                <a:cs typeface="+mn-cs"/>
              </a:rPr>
              <a:t> = </a:t>
            </a:r>
            <a:r>
              <a:rPr lang="en-US" altLang="zh-CN" sz="900" b="1" kern="1200" dirty="0">
                <a:solidFill>
                  <a:schemeClr val="tx1"/>
                </a:solidFill>
                <a:latin typeface="+mn-lt"/>
                <a:ea typeface="+mn-ea"/>
                <a:cs typeface="+mn-cs"/>
              </a:rPr>
              <a:t>new </a:t>
            </a:r>
            <a:r>
              <a:rPr lang="en-US" altLang="zh-CN" sz="900" b="1" kern="1200" dirty="0" err="1">
                <a:solidFill>
                  <a:schemeClr val="tx1"/>
                </a:solidFill>
                <a:latin typeface="+mn-lt"/>
                <a:ea typeface="+mn-ea"/>
                <a:cs typeface="+mn-cs"/>
              </a:rPr>
              <a:t>CommParamRsp</a:t>
            </a:r>
            <a:r>
              <a:rPr lang="en-US" altLang="zh-CN" sz="900" b="1" kern="1200" dirty="0">
                <a:solidFill>
                  <a:schemeClr val="tx1"/>
                </a:solidFill>
                <a:latin typeface="+mn-lt"/>
                <a:ea typeface="+mn-ea"/>
                <a:cs typeface="+mn-cs"/>
              </a:rPr>
              <a:t>&lt;String, Object&gt;();</a:t>
            </a:r>
          </a:p>
          <a:p>
            <a:pPr lvl="1"/>
            <a:r>
              <a:rPr lang="en-US" altLang="zh-CN" sz="900" kern="1200" dirty="0" err="1">
                <a:solidFill>
                  <a:schemeClr val="tx1"/>
                </a:solidFill>
                <a:latin typeface="+mn-lt"/>
                <a:ea typeface="+mn-ea"/>
                <a:cs typeface="+mn-cs"/>
              </a:rPr>
              <a:t>distributeOrderMock.put</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map_order_id</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mapOrderId</a:t>
            </a:r>
            <a:r>
              <a:rPr lang="en-US" altLang="zh-CN" sz="900"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distributeOrderMock.put</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pay_amount</a:t>
            </a:r>
            <a:r>
              <a:rPr lang="en-US" altLang="zh-CN" sz="900" kern="1200" dirty="0">
                <a:solidFill>
                  <a:schemeClr val="tx1"/>
                </a:solidFill>
                <a:latin typeface="+mn-lt"/>
                <a:ea typeface="+mn-ea"/>
                <a:cs typeface="+mn-cs"/>
              </a:rPr>
              <a:t>", 1000l);</a:t>
            </a:r>
          </a:p>
          <a:p>
            <a:pPr lvl="1"/>
            <a:r>
              <a:rPr lang="en-US" altLang="zh-CN" sz="900" kern="1200" dirty="0" err="1">
                <a:solidFill>
                  <a:schemeClr val="tx1"/>
                </a:solidFill>
                <a:latin typeface="+mn-lt"/>
                <a:ea typeface="+mn-ea"/>
                <a:cs typeface="+mn-cs"/>
              </a:rPr>
              <a:t>distributeOrderMock.put</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pay_status</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OrderStateEnum.</a:t>
            </a:r>
            <a:r>
              <a:rPr lang="en-US" altLang="zh-CN" sz="900" b="1" i="1" kern="1200" dirty="0" err="1">
                <a:solidFill>
                  <a:schemeClr val="tx1"/>
                </a:solidFill>
                <a:latin typeface="+mn-lt"/>
                <a:ea typeface="+mn-ea"/>
                <a:cs typeface="+mn-cs"/>
              </a:rPr>
              <a:t>SUCCESS.getCode</a:t>
            </a:r>
            <a:r>
              <a:rPr lang="en-US" altLang="zh-CN" sz="900" b="1"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when</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distributeOrderQueryFacadeMock.queryOrderInMaster</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tradeNo</a:t>
            </a:r>
            <a:r>
              <a:rPr lang="en-US" altLang="zh-CN" sz="900"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thenReturn</a:t>
            </a:r>
            <a:r>
              <a:rPr lang="en-US" altLang="zh-CN" sz="900" kern="1200" dirty="0">
                <a:solidFill>
                  <a:schemeClr val="tx1"/>
                </a:solidFill>
                <a:latin typeface="+mn-lt"/>
                <a:ea typeface="+mn-ea"/>
                <a:cs typeface="+mn-cs"/>
              </a:rPr>
              <a:t>(</a:t>
            </a:r>
            <a:r>
              <a:rPr lang="en-US" altLang="zh-CN" sz="900" kern="1200" dirty="0" err="1">
                <a:solidFill>
                  <a:schemeClr val="tx1"/>
                </a:solidFill>
                <a:latin typeface="+mn-lt"/>
                <a:ea typeface="+mn-ea"/>
                <a:cs typeface="+mn-cs"/>
              </a:rPr>
              <a:t>distributeOrderMock</a:t>
            </a:r>
            <a:r>
              <a:rPr lang="en-US" altLang="zh-CN" sz="900" kern="1200" dirty="0">
                <a:solidFill>
                  <a:schemeClr val="tx1"/>
                </a:solidFill>
                <a:latin typeface="+mn-lt"/>
                <a:ea typeface="+mn-ea"/>
                <a:cs typeface="+mn-cs"/>
              </a:rPr>
              <a:t>);</a:t>
            </a:r>
          </a:p>
          <a:p>
            <a:pPr lvl="1"/>
            <a:endParaRPr lang="zh-CN" altLang="en-US" sz="900" kern="1200" dirty="0">
              <a:solidFill>
                <a:schemeClr val="tx1"/>
              </a:solidFill>
              <a:latin typeface="+mn-lt"/>
              <a:ea typeface="+mn-ea"/>
              <a:cs typeface="+mn-cs"/>
            </a:endParaRPr>
          </a:p>
          <a:p>
            <a:pPr lvl="1"/>
            <a:r>
              <a:rPr lang="en-US" altLang="zh-CN" sz="900" kern="1200" dirty="0">
                <a:solidFill>
                  <a:schemeClr val="tx1"/>
                </a:solidFill>
                <a:latin typeface="+mn-lt"/>
                <a:ea typeface="+mn-ea"/>
                <a:cs typeface="+mn-cs"/>
              </a:rPr>
              <a:t>// Mock</a:t>
            </a:r>
            <a:r>
              <a:rPr lang="zh-CN" altLang="en-US" sz="900" kern="1200" dirty="0">
                <a:solidFill>
                  <a:schemeClr val="tx1"/>
                </a:solidFill>
                <a:latin typeface="+mn-lt"/>
                <a:ea typeface="+mn-ea"/>
                <a:cs typeface="+mn-cs"/>
              </a:rPr>
              <a:t>商户通知服务</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设置触发</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什么事都不做</a:t>
            </a:r>
            <a:r>
              <a:rPr lang="en-US" altLang="zh-CN" sz="900" kern="1200" dirty="0">
                <a:solidFill>
                  <a:schemeClr val="tx1"/>
                </a:solidFill>
                <a:latin typeface="+mn-lt"/>
                <a:ea typeface="+mn-ea"/>
                <a:cs typeface="+mn-cs"/>
              </a:rPr>
              <a:t>,</a:t>
            </a:r>
            <a:r>
              <a:rPr lang="zh-CN" altLang="en-US" sz="900" kern="1200" dirty="0">
                <a:solidFill>
                  <a:schemeClr val="tx1"/>
                </a:solidFill>
                <a:latin typeface="+mn-lt"/>
                <a:ea typeface="+mn-ea"/>
                <a:cs typeface="+mn-cs"/>
              </a:rPr>
              <a:t>不用保存商户通知记录</a:t>
            </a:r>
            <a:r>
              <a:rPr lang="en-US" altLang="zh-CN" sz="900"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partnerNotifyServiceMock</a:t>
            </a:r>
            <a:r>
              <a:rPr lang="en-US" altLang="zh-CN" sz="900" kern="1200" dirty="0">
                <a:solidFill>
                  <a:schemeClr val="tx1"/>
                </a:solidFill>
                <a:latin typeface="+mn-lt"/>
                <a:ea typeface="+mn-ea"/>
                <a:cs typeface="+mn-cs"/>
              </a:rPr>
              <a:t> = </a:t>
            </a:r>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mock</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PartnerNotifyService.</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a:t>
            </a:r>
          </a:p>
          <a:p>
            <a:pPr lvl="1"/>
            <a:r>
              <a:rPr lang="en-US" altLang="zh-CN" sz="900" kern="1200" dirty="0" err="1">
                <a:solidFill>
                  <a:schemeClr val="tx1"/>
                </a:solidFill>
                <a:latin typeface="+mn-lt"/>
                <a:ea typeface="+mn-ea"/>
                <a:cs typeface="+mn-cs"/>
              </a:rPr>
              <a:t>PowerMockito.</a:t>
            </a:r>
            <a:r>
              <a:rPr lang="en-US" altLang="zh-CN" sz="900" i="1" kern="1200" dirty="0" err="1">
                <a:solidFill>
                  <a:schemeClr val="tx1"/>
                </a:solidFill>
                <a:latin typeface="+mn-lt"/>
                <a:ea typeface="+mn-ea"/>
                <a:cs typeface="+mn-cs"/>
              </a:rPr>
              <a:t>doNothing</a:t>
            </a:r>
            <a:r>
              <a:rPr lang="en-US" altLang="zh-CN" sz="900" i="1" kern="1200" dirty="0">
                <a:solidFill>
                  <a:schemeClr val="tx1"/>
                </a:solidFill>
                <a:latin typeface="+mn-lt"/>
                <a:ea typeface="+mn-ea"/>
                <a:cs typeface="+mn-cs"/>
              </a:rPr>
              <a:t>().when(</a:t>
            </a:r>
            <a:r>
              <a:rPr lang="en-US" altLang="zh-CN" sz="900" i="1" kern="1200" dirty="0" err="1">
                <a:solidFill>
                  <a:schemeClr val="tx1"/>
                </a:solidFill>
                <a:latin typeface="+mn-lt"/>
                <a:ea typeface="+mn-ea"/>
                <a:cs typeface="+mn-cs"/>
              </a:rPr>
              <a:t>partnerNotifyServiceMock</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partnerNotify</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Mockito.any</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NotifyReq.</a:t>
            </a:r>
            <a:r>
              <a:rPr lang="en-US" altLang="zh-CN" sz="900" b="1" i="1" kern="1200" dirty="0" err="1">
                <a:solidFill>
                  <a:schemeClr val="tx1"/>
                </a:solidFill>
                <a:latin typeface="+mn-lt"/>
                <a:ea typeface="+mn-ea"/>
                <a:cs typeface="+mn-cs"/>
              </a:rPr>
              <a:t>class</a:t>
            </a:r>
            <a:r>
              <a:rPr lang="en-US" altLang="zh-CN" sz="900" b="1" i="1" kern="1200" dirty="0">
                <a:solidFill>
                  <a:schemeClr val="tx1"/>
                </a:solidFill>
                <a:latin typeface="+mn-lt"/>
                <a:ea typeface="+mn-ea"/>
                <a:cs typeface="+mn-cs"/>
              </a:rPr>
              <a:t>));</a:t>
            </a:r>
          </a:p>
          <a:p>
            <a:pPr lvl="1"/>
            <a:r>
              <a:rPr lang="en-US" altLang="zh-CN" sz="900" kern="1200" dirty="0">
                <a:solidFill>
                  <a:schemeClr val="tx1"/>
                </a:solidFill>
                <a:latin typeface="+mn-lt"/>
                <a:ea typeface="+mn-ea"/>
                <a:cs typeface="+mn-cs"/>
              </a:rPr>
              <a:t>// </a:t>
            </a:r>
            <a:r>
              <a:rPr lang="zh-CN" altLang="en-US" sz="900" kern="1200" dirty="0">
                <a:solidFill>
                  <a:schemeClr val="tx1"/>
                </a:solidFill>
                <a:latin typeface="+mn-lt"/>
                <a:ea typeface="+mn-ea"/>
                <a:cs typeface="+mn-cs"/>
              </a:rPr>
              <a:t>设置</a:t>
            </a:r>
            <a:r>
              <a:rPr lang="en-US" altLang="zh-CN" sz="900" kern="1200" dirty="0">
                <a:solidFill>
                  <a:schemeClr val="tx1"/>
                </a:solidFill>
                <a:latin typeface="+mn-lt"/>
                <a:ea typeface="+mn-ea"/>
                <a:cs typeface="+mn-cs"/>
              </a:rPr>
              <a:t>Mock</a:t>
            </a:r>
            <a:r>
              <a:rPr lang="zh-CN" altLang="en-US" sz="900" kern="1200" dirty="0">
                <a:solidFill>
                  <a:schemeClr val="tx1"/>
                </a:solidFill>
                <a:latin typeface="+mn-lt"/>
                <a:ea typeface="+mn-ea"/>
                <a:cs typeface="+mn-cs"/>
              </a:rPr>
              <a:t>接口到实现类</a:t>
            </a:r>
          </a:p>
          <a:p>
            <a:pPr lvl="1"/>
            <a:r>
              <a:rPr lang="en-US" altLang="zh-CN" sz="900" kern="1200" dirty="0" err="1">
                <a:solidFill>
                  <a:schemeClr val="tx1"/>
                </a:solidFill>
                <a:latin typeface="+mn-lt"/>
                <a:ea typeface="+mn-ea"/>
                <a:cs typeface="+mn-cs"/>
              </a:rPr>
              <a:t>Whitebox.</a:t>
            </a:r>
            <a:r>
              <a:rPr lang="en-US" altLang="zh-CN" sz="900" i="1" kern="1200" dirty="0" err="1">
                <a:solidFill>
                  <a:schemeClr val="tx1"/>
                </a:solidFill>
                <a:latin typeface="+mn-lt"/>
                <a:ea typeface="+mn-ea"/>
                <a:cs typeface="+mn-cs"/>
              </a:rPr>
              <a:t>setInternalState</a:t>
            </a:r>
            <a:r>
              <a:rPr lang="en-US" altLang="zh-CN" sz="900" i="1" kern="1200" dirty="0">
                <a:solidFill>
                  <a:schemeClr val="tx1"/>
                </a:solidFill>
                <a:latin typeface="+mn-lt"/>
                <a:ea typeface="+mn-ea"/>
                <a:cs typeface="+mn-cs"/>
              </a:rPr>
              <a:t>(</a:t>
            </a:r>
            <a:r>
              <a:rPr lang="en-US" altLang="zh-CN" sz="900" i="1" kern="1200" dirty="0" err="1">
                <a:solidFill>
                  <a:schemeClr val="tx1"/>
                </a:solidFill>
                <a:latin typeface="+mn-lt"/>
                <a:ea typeface="+mn-ea"/>
                <a:cs typeface="+mn-cs"/>
              </a:rPr>
              <a:t>partnerinRepairOrderFacadeImpl</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partnerNotifyService</a:t>
            </a:r>
            <a:r>
              <a:rPr lang="en-US" altLang="zh-CN" sz="900" i="1" kern="1200" dirty="0">
                <a:solidFill>
                  <a:schemeClr val="tx1"/>
                </a:solidFill>
                <a:latin typeface="+mn-lt"/>
                <a:ea typeface="+mn-ea"/>
                <a:cs typeface="+mn-cs"/>
              </a:rPr>
              <a:t>", </a:t>
            </a:r>
            <a:r>
              <a:rPr lang="en-US" altLang="zh-CN" sz="900" i="1" kern="1200" dirty="0" err="1">
                <a:solidFill>
                  <a:schemeClr val="tx1"/>
                </a:solidFill>
                <a:latin typeface="+mn-lt"/>
                <a:ea typeface="+mn-ea"/>
                <a:cs typeface="+mn-cs"/>
              </a:rPr>
              <a:t>partnerNotifyServiceMock</a:t>
            </a:r>
            <a:r>
              <a:rPr lang="en-US" altLang="zh-CN" sz="900" i="1" kern="1200" dirty="0">
                <a:solidFill>
                  <a:schemeClr val="tx1"/>
                </a:solidFill>
                <a:latin typeface="+mn-lt"/>
                <a:ea typeface="+mn-ea"/>
                <a:cs typeface="+mn-cs"/>
              </a:rPr>
              <a:t>);</a:t>
            </a:r>
          </a:p>
          <a:p>
            <a:r>
              <a:rPr lang="en-US" altLang="zh-CN" sz="900" kern="1200" dirty="0">
                <a:solidFill>
                  <a:schemeClr val="tx1"/>
                </a:solidFill>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30</a:t>
            </a:fld>
            <a:endParaRPr lang="zh-CN" altLang="en-US"/>
          </a:p>
        </p:txBody>
      </p:sp>
    </p:spTree>
    <p:extLst>
      <p:ext uri="{BB962C8B-B14F-4D97-AF65-F5344CB8AC3E}">
        <p14:creationId xmlns:p14="http://schemas.microsoft.com/office/powerpoint/2010/main" val="40053722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6212898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32</a:t>
            </a:fld>
            <a:endParaRPr lang="zh-CN" altLang="en-US"/>
          </a:p>
        </p:txBody>
      </p:sp>
    </p:spTree>
    <p:extLst>
      <p:ext uri="{BB962C8B-B14F-4D97-AF65-F5344CB8AC3E}">
        <p14:creationId xmlns:p14="http://schemas.microsoft.com/office/powerpoint/2010/main" val="2536296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33</a:t>
            </a:fld>
            <a:endParaRPr lang="zh-CN" altLang="en-US"/>
          </a:p>
        </p:txBody>
      </p:sp>
    </p:spTree>
    <p:extLst>
      <p:ext uri="{BB962C8B-B14F-4D97-AF65-F5344CB8AC3E}">
        <p14:creationId xmlns:p14="http://schemas.microsoft.com/office/powerpoint/2010/main" val="4115823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789622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a:t>
            </a:r>
            <a:br>
              <a:rPr lang="zh-CN" altLang="en-US" dirty="0"/>
            </a:br>
            <a:r>
              <a:rPr lang="zh-CN" altLang="en-US" sz="900" b="0" i="0" kern="1200" dirty="0">
                <a:solidFill>
                  <a:schemeClr val="tx1"/>
                </a:solidFill>
                <a:effectLst/>
                <a:latin typeface="+mn-lt"/>
                <a:ea typeface="+mn-ea"/>
                <a:cs typeface="+mn-cs"/>
              </a:rPr>
              <a:t>  * 创建订单测试</a:t>
            </a:r>
            <a:br>
              <a:rPr lang="zh-CN" altLang="en-US" dirty="0"/>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a:t>
            </a:r>
            <a:br>
              <a:rPr lang="zh-CN" altLang="en-US" dirty="0"/>
            </a:br>
            <a:r>
              <a:rPr lang="en-US" altLang="zh-CN" sz="900" b="0" i="0" kern="1200" dirty="0">
                <a:solidFill>
                  <a:schemeClr val="tx1"/>
                </a:solidFill>
                <a:effectLst/>
                <a:latin typeface="+mn-lt"/>
                <a:ea typeface="+mn-ea"/>
                <a:cs typeface="+mn-cs"/>
              </a:rPr>
              <a:t>@Test</a:t>
            </a:r>
            <a:br>
              <a:rPr lang="en-US" altLang="zh-CN" dirty="0"/>
            </a:br>
            <a:r>
              <a:rPr lang="en-US" altLang="zh-CN" sz="900" b="0" i="0" kern="1200" dirty="0">
                <a:solidFill>
                  <a:schemeClr val="tx1"/>
                </a:solidFill>
                <a:effectLst/>
                <a:latin typeface="+mn-lt"/>
                <a:ea typeface="+mn-ea"/>
                <a:cs typeface="+mn-cs"/>
              </a:rPr>
              <a:t>public void test1101GetOrder() throws Exception {</a:t>
            </a:r>
            <a:br>
              <a:rPr lang="en-US" altLang="zh-CN" dirty="0"/>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期望异常</a:t>
            </a:r>
            <a:br>
              <a:rPr lang="zh-CN" altLang="en-US" dirty="0"/>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expectedException.expect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BusinessRuntimeException.class</a:t>
            </a:r>
            <a:r>
              <a:rPr lang="en-US" altLang="zh-CN" sz="900" b="0" i="0" kern="1200" dirty="0">
                <a:solidFill>
                  <a:schemeClr val="tx1"/>
                </a:solidFill>
                <a:effectLst/>
                <a:latin typeface="+mn-lt"/>
                <a:ea typeface="+mn-ea"/>
                <a:cs typeface="+mn-cs"/>
              </a:rPr>
              <a:t>);</a:t>
            </a:r>
            <a:br>
              <a:rPr lang="en-US" altLang="zh-CN" dirty="0"/>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expectedException.expectMessage</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ErrorCodeEnum.ORDER_NOT_FOUND.getCode</a:t>
            </a:r>
            <a:r>
              <a:rPr lang="en-US" altLang="zh-CN" sz="900" b="0" i="0" kern="1200" dirty="0">
                <a:solidFill>
                  <a:schemeClr val="tx1"/>
                </a:solidFill>
                <a:effectLst/>
                <a:latin typeface="+mn-lt"/>
                <a:ea typeface="+mn-ea"/>
                <a:cs typeface="+mn-cs"/>
              </a:rPr>
              <a:t>());</a:t>
            </a:r>
            <a:br>
              <a:rPr lang="en-US" altLang="zh-CN" dirty="0"/>
            </a:br>
            <a:br>
              <a:rPr lang="en-US" altLang="zh-CN" dirty="0"/>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获取请求数据</a:t>
            </a:r>
            <a:br>
              <a:rPr lang="zh-CN" altLang="en-US" dirty="0"/>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orderNo</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getFakeNumber</a:t>
            </a:r>
            <a:r>
              <a:rPr lang="en-US" altLang="zh-CN" sz="900" b="0" i="0" kern="1200" dirty="0">
                <a:solidFill>
                  <a:schemeClr val="tx1"/>
                </a:solidFill>
                <a:effectLst/>
                <a:latin typeface="+mn-lt"/>
                <a:ea typeface="+mn-ea"/>
                <a:cs typeface="+mn-cs"/>
              </a:rPr>
              <a:t>(25);</a:t>
            </a:r>
            <a:br>
              <a:rPr lang="en-US" altLang="zh-CN" dirty="0"/>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boolean</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isLock</a:t>
            </a:r>
            <a:r>
              <a:rPr lang="en-US" altLang="zh-CN" sz="900" b="0" i="0" kern="1200" dirty="0">
                <a:solidFill>
                  <a:schemeClr val="tx1"/>
                </a:solidFill>
                <a:effectLst/>
                <a:latin typeface="+mn-lt"/>
                <a:ea typeface="+mn-ea"/>
                <a:cs typeface="+mn-cs"/>
              </a:rPr>
              <a:t> = false;</a:t>
            </a:r>
            <a:br>
              <a:rPr lang="en-US" altLang="zh-CN" dirty="0"/>
            </a:br>
            <a:br>
              <a:rPr lang="en-US" altLang="zh-CN" dirty="0"/>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接口调用，</a:t>
            </a:r>
            <a:r>
              <a:rPr lang="en-US" altLang="zh-CN" sz="900" b="0" i="0" kern="1200" dirty="0" err="1">
                <a:solidFill>
                  <a:schemeClr val="tx1"/>
                </a:solidFill>
                <a:effectLst/>
                <a:latin typeface="+mn-lt"/>
                <a:ea typeface="+mn-ea"/>
                <a:cs typeface="+mn-cs"/>
              </a:rPr>
              <a:t>getOrder</a:t>
            </a:r>
            <a:r>
              <a:rPr lang="zh-CN" altLang="en-US" sz="900" b="0" i="0" kern="1200" dirty="0">
                <a:solidFill>
                  <a:schemeClr val="tx1"/>
                </a:solidFill>
                <a:effectLst/>
                <a:latin typeface="+mn-lt"/>
                <a:ea typeface="+mn-ea"/>
                <a:cs typeface="+mn-cs"/>
              </a:rPr>
              <a:t>为</a:t>
            </a:r>
            <a:r>
              <a:rPr lang="en-US" altLang="zh-CN" sz="900" b="0" i="0" kern="1200" dirty="0" err="1">
                <a:solidFill>
                  <a:schemeClr val="tx1"/>
                </a:solidFill>
                <a:effectLst/>
                <a:latin typeface="+mn-lt"/>
                <a:ea typeface="+mn-ea"/>
                <a:cs typeface="+mn-cs"/>
              </a:rPr>
              <a:t>orderDao</a:t>
            </a:r>
            <a:r>
              <a:rPr lang="zh-CN" altLang="en-US" sz="900" b="0" i="0" kern="1200" dirty="0">
                <a:solidFill>
                  <a:schemeClr val="tx1"/>
                </a:solidFill>
                <a:effectLst/>
                <a:latin typeface="+mn-lt"/>
                <a:ea typeface="+mn-ea"/>
                <a:cs typeface="+mn-cs"/>
              </a:rPr>
              <a:t>中的私有方法</a:t>
            </a:r>
            <a:br>
              <a:rPr lang="zh-CN" altLang="en-US" dirty="0"/>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Whitebox.invokeMethod</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orderDao</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getOrder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orderNo</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isLock</a:t>
            </a:r>
            <a:r>
              <a:rPr lang="en-US" altLang="zh-CN" sz="900" b="0" i="0" kern="1200" dirty="0">
                <a:solidFill>
                  <a:schemeClr val="tx1"/>
                </a:solidFill>
                <a:effectLst/>
                <a:latin typeface="+mn-lt"/>
                <a:ea typeface="+mn-ea"/>
                <a:cs typeface="+mn-cs"/>
              </a:rPr>
              <a:t>);</a:t>
            </a:r>
            <a:br>
              <a:rPr lang="en-US" altLang="zh-CN" dirty="0"/>
            </a:br>
            <a:r>
              <a:rPr lang="en-US" altLang="zh-CN" sz="9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719100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p>
          <a:p>
            <a:r>
              <a:rPr lang="en-US" altLang="zh-CN" dirty="0"/>
              <a:t> * Copyright (c) 2005-2012 https://github.com/zhangkaitao</a:t>
            </a:r>
          </a:p>
          <a:p>
            <a:r>
              <a:rPr lang="en-US" altLang="zh-CN" dirty="0"/>
              <a:t> *</a:t>
            </a:r>
          </a:p>
          <a:p>
            <a:r>
              <a:rPr lang="en-US" altLang="zh-CN" dirty="0"/>
              <a:t> * Licensed under the Apache License, Version 2.0 (the "License");</a:t>
            </a:r>
          </a:p>
          <a:p>
            <a:r>
              <a:rPr lang="en-US" altLang="zh-CN" dirty="0"/>
              <a:t> */</a:t>
            </a:r>
          </a:p>
          <a:p>
            <a:r>
              <a:rPr lang="en-US" altLang="zh-CN" dirty="0"/>
              <a:t>package com.pay1pay.repair;</a:t>
            </a:r>
          </a:p>
          <a:p>
            <a:endParaRPr lang="en-US" altLang="zh-CN" dirty="0"/>
          </a:p>
          <a:p>
            <a:r>
              <a:rPr lang="en-US" altLang="zh-CN" dirty="0"/>
              <a:t>import </a:t>
            </a:r>
            <a:r>
              <a:rPr lang="en-US" altLang="zh-CN" dirty="0" err="1"/>
              <a:t>org.aopalliance.aop.Advice</a:t>
            </a:r>
            <a:r>
              <a:rPr lang="en-US" altLang="zh-CN" dirty="0"/>
              <a:t>;</a:t>
            </a:r>
          </a:p>
          <a:p>
            <a:r>
              <a:rPr lang="en-US" altLang="zh-CN" dirty="0"/>
              <a:t>import </a:t>
            </a:r>
            <a:r>
              <a:rPr lang="en-US" altLang="zh-CN" dirty="0" err="1"/>
              <a:t>org.springframework.aop.Advisor</a:t>
            </a:r>
            <a:r>
              <a:rPr lang="en-US" altLang="zh-CN" dirty="0"/>
              <a:t>;</a:t>
            </a:r>
          </a:p>
          <a:p>
            <a:r>
              <a:rPr lang="en-US" altLang="zh-CN" dirty="0"/>
              <a:t>import </a:t>
            </a:r>
            <a:r>
              <a:rPr lang="en-US" altLang="zh-CN" dirty="0" err="1"/>
              <a:t>org.springframework.aop.TargetSource</a:t>
            </a:r>
            <a:r>
              <a:rPr lang="en-US" altLang="zh-CN" dirty="0"/>
              <a:t>;</a:t>
            </a:r>
          </a:p>
          <a:p>
            <a:r>
              <a:rPr lang="en-US" altLang="zh-CN" dirty="0"/>
              <a:t>import </a:t>
            </a:r>
            <a:r>
              <a:rPr lang="en-US" altLang="zh-CN" dirty="0" err="1"/>
              <a:t>org.springframework.aop.framework.ProxyFactory</a:t>
            </a:r>
            <a:r>
              <a:rPr lang="en-US" altLang="zh-CN" dirty="0"/>
              <a:t>;</a:t>
            </a:r>
          </a:p>
          <a:p>
            <a:r>
              <a:rPr lang="en-US" altLang="zh-CN" dirty="0"/>
              <a:t>import </a:t>
            </a:r>
            <a:r>
              <a:rPr lang="en-US" altLang="zh-CN" dirty="0" err="1"/>
              <a:t>org.springframework.aop.interceptor.AsyncExecutionInterceptor</a:t>
            </a:r>
            <a:r>
              <a:rPr lang="en-US" altLang="zh-CN" dirty="0"/>
              <a:t>;</a:t>
            </a:r>
          </a:p>
          <a:p>
            <a:r>
              <a:rPr lang="en-US" altLang="zh-CN" dirty="0"/>
              <a:t>import </a:t>
            </a:r>
            <a:r>
              <a:rPr lang="en-US" altLang="zh-CN" dirty="0" err="1"/>
              <a:t>org.springframework.aop.support.AopUtils</a:t>
            </a:r>
            <a:r>
              <a:rPr lang="en-US" altLang="zh-CN" dirty="0"/>
              <a:t>;</a:t>
            </a:r>
          </a:p>
          <a:p>
            <a:r>
              <a:rPr lang="en-US" altLang="zh-CN" dirty="0"/>
              <a:t>import org.springframework.transaction.interceptor.TransactionInterceptor;</a:t>
            </a:r>
          </a:p>
          <a:p>
            <a:r>
              <a:rPr lang="en-US" altLang="zh-CN" dirty="0"/>
              <a:t>import </a:t>
            </a:r>
            <a:r>
              <a:rPr lang="en-US" altLang="zh-CN" dirty="0" err="1"/>
              <a:t>org.springframework.util.ReflectionUtils</a:t>
            </a:r>
            <a:r>
              <a:rPr lang="en-US" altLang="zh-CN" dirty="0"/>
              <a:t>;</a:t>
            </a:r>
          </a:p>
          <a:p>
            <a:endParaRPr lang="en-US" altLang="zh-CN" dirty="0"/>
          </a:p>
          <a:p>
            <a:r>
              <a:rPr lang="en-US" altLang="zh-CN" dirty="0"/>
              <a:t>import </a:t>
            </a:r>
            <a:r>
              <a:rPr lang="en-US" altLang="zh-CN" dirty="0" err="1"/>
              <a:t>java.lang.reflect.Field</a:t>
            </a:r>
            <a:r>
              <a:rPr lang="en-US" altLang="zh-CN" dirty="0"/>
              <a:t>;</a:t>
            </a:r>
          </a:p>
          <a:p>
            <a:r>
              <a:rPr lang="en-US" altLang="zh-CN" dirty="0"/>
              <a:t>import </a:t>
            </a:r>
            <a:r>
              <a:rPr lang="en-US" altLang="zh-CN" dirty="0" err="1"/>
              <a:t>java.lang.reflect.Proxy</a:t>
            </a:r>
            <a:r>
              <a:rPr lang="en-US" altLang="zh-CN" dirty="0"/>
              <a:t>;</a:t>
            </a:r>
          </a:p>
          <a:p>
            <a:endParaRPr lang="en-US" altLang="zh-CN" dirty="0"/>
          </a:p>
          <a:p>
            <a:r>
              <a:rPr lang="en-US" altLang="zh-CN" dirty="0"/>
              <a:t>/**</a:t>
            </a:r>
          </a:p>
          <a:p>
            <a:r>
              <a:rPr lang="en-US" altLang="zh-CN" dirty="0"/>
              <a:t> * AOP</a:t>
            </a:r>
            <a:r>
              <a:rPr lang="zh-CN" altLang="en-US" dirty="0"/>
              <a:t>代理工具类</a:t>
            </a:r>
          </a:p>
          <a:p>
            <a:r>
              <a:rPr lang="zh-CN" altLang="en-US" dirty="0"/>
              <a:t> * </a:t>
            </a:r>
            <a:r>
              <a:rPr lang="en-US" altLang="zh-CN" dirty="0"/>
              <a:t>&lt;p&gt;User: Zhang </a:t>
            </a:r>
            <a:r>
              <a:rPr lang="en-US" altLang="zh-CN" dirty="0" err="1"/>
              <a:t>Kaitao</a:t>
            </a:r>
            <a:endParaRPr lang="en-US" altLang="zh-CN" dirty="0"/>
          </a:p>
          <a:p>
            <a:r>
              <a:rPr lang="en-US" altLang="zh-CN" dirty="0"/>
              <a:t> * &lt;p&gt;Date: 13-7-3 </a:t>
            </a:r>
            <a:r>
              <a:rPr lang="zh-CN" altLang="en-US" dirty="0"/>
              <a:t>下午</a:t>
            </a:r>
            <a:r>
              <a:rPr lang="en-US" altLang="zh-CN" dirty="0"/>
              <a:t>12:29</a:t>
            </a:r>
          </a:p>
          <a:p>
            <a:r>
              <a:rPr lang="en-US" altLang="zh-CN" dirty="0"/>
              <a:t> * &lt;p&gt;Version: 1.0</a:t>
            </a:r>
          </a:p>
          <a:p>
            <a:r>
              <a:rPr lang="en-US" altLang="zh-CN" dirty="0"/>
              <a:t> */</a:t>
            </a:r>
          </a:p>
          <a:p>
            <a:r>
              <a:rPr lang="en-US" altLang="zh-CN" dirty="0"/>
              <a:t>public class </a:t>
            </a:r>
            <a:r>
              <a:rPr lang="en-US" altLang="zh-CN" dirty="0" err="1"/>
              <a:t>AopProxyUtils</a:t>
            </a:r>
            <a:r>
              <a:rPr lang="en-US" altLang="zh-CN" dirty="0"/>
              <a:t> {</a:t>
            </a:r>
          </a:p>
          <a:p>
            <a:endParaRPr lang="en-US" altLang="zh-CN" dirty="0"/>
          </a:p>
          <a:p>
            <a:endParaRPr lang="en-US" altLang="zh-CN" dirty="0"/>
          </a:p>
          <a:p>
            <a:r>
              <a:rPr lang="en-US" altLang="zh-CN" dirty="0"/>
              <a:t>    /**</a:t>
            </a:r>
          </a:p>
          <a:p>
            <a:r>
              <a:rPr lang="en-US" altLang="zh-CN" dirty="0"/>
              <a:t>     * </a:t>
            </a:r>
            <a:r>
              <a:rPr lang="zh-CN" altLang="en-US" dirty="0"/>
              <a:t>是否代理了多次</a:t>
            </a:r>
          </a:p>
          <a:p>
            <a:r>
              <a:rPr lang="zh-CN" altLang="en-US" dirty="0"/>
              <a:t>     * </a:t>
            </a:r>
            <a:r>
              <a:rPr lang="en-US" altLang="zh-CN" dirty="0"/>
              <a:t>see http://jinnianshilongnian.iteye.com/blog/1894465</a:t>
            </a:r>
          </a:p>
          <a:p>
            <a:r>
              <a:rPr lang="en-US" altLang="zh-CN" dirty="0"/>
              <a:t>     * @param proxy</a:t>
            </a:r>
          </a:p>
          <a:p>
            <a:r>
              <a:rPr lang="en-US" altLang="zh-CN" dirty="0"/>
              <a:t>     * @return</a:t>
            </a:r>
          </a:p>
          <a:p>
            <a:r>
              <a:rPr lang="en-US" altLang="zh-CN" dirty="0"/>
              <a:t>     */</a:t>
            </a:r>
          </a:p>
          <a:p>
            <a:r>
              <a:rPr lang="en-US" altLang="zh-CN" dirty="0"/>
              <a:t>    public static </a:t>
            </a:r>
            <a:r>
              <a:rPr lang="en-US" altLang="zh-CN" dirty="0" err="1"/>
              <a:t>boolean</a:t>
            </a:r>
            <a:r>
              <a:rPr lang="en-US" altLang="zh-CN" dirty="0"/>
              <a:t> </a:t>
            </a:r>
            <a:r>
              <a:rPr lang="en-US" altLang="zh-CN" dirty="0" err="1"/>
              <a:t>isMultipleProxy</a:t>
            </a:r>
            <a:r>
              <a:rPr lang="en-US" altLang="zh-CN" dirty="0"/>
              <a:t>(Object proxy) {</a:t>
            </a:r>
          </a:p>
          <a:p>
            <a:r>
              <a:rPr lang="en-US" altLang="zh-CN" dirty="0"/>
              <a:t>        try {</a:t>
            </a:r>
          </a:p>
          <a:p>
            <a:r>
              <a:rPr lang="en-US" altLang="zh-CN" dirty="0"/>
              <a:t>            </a:t>
            </a:r>
            <a:r>
              <a:rPr lang="en-US" altLang="zh-CN" dirty="0" err="1"/>
              <a:t>ProxyFactory</a:t>
            </a:r>
            <a:r>
              <a:rPr lang="en-US" altLang="zh-CN" dirty="0"/>
              <a:t> </a:t>
            </a:r>
            <a:r>
              <a:rPr lang="en-US" altLang="zh-CN" dirty="0" err="1"/>
              <a:t>proxyFactory</a:t>
            </a:r>
            <a:r>
              <a:rPr lang="en-US" altLang="zh-CN" dirty="0"/>
              <a:t> = null;</a:t>
            </a:r>
          </a:p>
          <a:p>
            <a:r>
              <a:rPr lang="en-US" altLang="zh-CN" dirty="0"/>
              <a:t>            if(</a:t>
            </a:r>
            <a:r>
              <a:rPr lang="en-US" altLang="zh-CN" dirty="0" err="1"/>
              <a:t>AopUtils.isJdkDynamicProxy</a:t>
            </a:r>
            <a:r>
              <a:rPr lang="en-US" altLang="zh-CN" dirty="0"/>
              <a:t>(proxy)) {</a:t>
            </a:r>
          </a:p>
          <a:p>
            <a:r>
              <a:rPr lang="en-US" altLang="zh-CN" dirty="0"/>
              <a:t>                </a:t>
            </a:r>
            <a:r>
              <a:rPr lang="en-US" altLang="zh-CN" dirty="0" err="1"/>
              <a:t>proxyFactory</a:t>
            </a:r>
            <a:r>
              <a:rPr lang="en-US" altLang="zh-CN" dirty="0"/>
              <a:t> = </a:t>
            </a:r>
            <a:r>
              <a:rPr lang="en-US" altLang="zh-CN" dirty="0" err="1"/>
              <a:t>findJdkDynamicProxyFactory</a:t>
            </a:r>
            <a:r>
              <a:rPr lang="en-US" altLang="zh-CN" dirty="0"/>
              <a:t>(proxy);</a:t>
            </a:r>
          </a:p>
          <a:p>
            <a:r>
              <a:rPr lang="en-US" altLang="zh-CN" dirty="0"/>
              <a:t>            }</a:t>
            </a:r>
          </a:p>
          <a:p>
            <a:r>
              <a:rPr lang="en-US" altLang="zh-CN" dirty="0"/>
              <a:t>            if(</a:t>
            </a:r>
            <a:r>
              <a:rPr lang="en-US" altLang="zh-CN" dirty="0" err="1"/>
              <a:t>AopUtils.isCglibProxy</a:t>
            </a:r>
            <a:r>
              <a:rPr lang="en-US" altLang="zh-CN" dirty="0"/>
              <a:t>(proxy)) {</a:t>
            </a:r>
          </a:p>
          <a:p>
            <a:r>
              <a:rPr lang="en-US" altLang="zh-CN" dirty="0"/>
              <a:t>                </a:t>
            </a:r>
            <a:r>
              <a:rPr lang="en-US" altLang="zh-CN" dirty="0" err="1"/>
              <a:t>proxyFactory</a:t>
            </a:r>
            <a:r>
              <a:rPr lang="en-US" altLang="zh-CN" dirty="0"/>
              <a:t> = </a:t>
            </a:r>
            <a:r>
              <a:rPr lang="en-US" altLang="zh-CN" dirty="0" err="1"/>
              <a:t>findCglibProxyFactory</a:t>
            </a:r>
            <a:r>
              <a:rPr lang="en-US" altLang="zh-CN" dirty="0"/>
              <a:t>(proxy);</a:t>
            </a:r>
          </a:p>
          <a:p>
            <a:r>
              <a:rPr lang="en-US" altLang="zh-CN" dirty="0"/>
              <a:t>            }</a:t>
            </a:r>
          </a:p>
          <a:p>
            <a:r>
              <a:rPr lang="en-US" altLang="zh-CN" dirty="0"/>
              <a:t>            </a:t>
            </a:r>
            <a:r>
              <a:rPr lang="en-US" altLang="zh-CN" dirty="0" err="1"/>
              <a:t>TargetSource</a:t>
            </a:r>
            <a:r>
              <a:rPr lang="en-US" altLang="zh-CN" dirty="0"/>
              <a:t> </a:t>
            </a:r>
            <a:r>
              <a:rPr lang="en-US" altLang="zh-CN" dirty="0" err="1"/>
              <a:t>targetSource</a:t>
            </a:r>
            <a:r>
              <a:rPr lang="en-US" altLang="zh-CN" dirty="0"/>
              <a:t> = (</a:t>
            </a:r>
            <a:r>
              <a:rPr lang="en-US" altLang="zh-CN" dirty="0" err="1"/>
              <a:t>TargetSource</a:t>
            </a:r>
            <a:r>
              <a:rPr lang="en-US" altLang="zh-CN" dirty="0"/>
              <a:t>) </a:t>
            </a:r>
            <a:r>
              <a:rPr lang="en-US" altLang="zh-CN" dirty="0" err="1"/>
              <a:t>ReflectionUtils.getField</a:t>
            </a:r>
            <a:r>
              <a:rPr lang="en-US" altLang="zh-CN" dirty="0"/>
              <a:t>(</a:t>
            </a:r>
            <a:r>
              <a:rPr lang="en-US" altLang="zh-CN" dirty="0" err="1"/>
              <a:t>ProxyFactory_targetSource_FIELD</a:t>
            </a:r>
            <a:r>
              <a:rPr lang="en-US" altLang="zh-CN" dirty="0"/>
              <a:t>, </a:t>
            </a:r>
            <a:r>
              <a:rPr lang="en-US" altLang="zh-CN" dirty="0" err="1"/>
              <a:t>proxyFactory</a:t>
            </a:r>
            <a:r>
              <a:rPr lang="en-US" altLang="zh-CN" dirty="0"/>
              <a:t>);</a:t>
            </a:r>
          </a:p>
          <a:p>
            <a:r>
              <a:rPr lang="en-US" altLang="zh-CN" dirty="0"/>
              <a:t>            return </a:t>
            </a:r>
            <a:r>
              <a:rPr lang="en-US" altLang="zh-CN" dirty="0" err="1"/>
              <a:t>AopUtils.isAopProxy</a:t>
            </a:r>
            <a:r>
              <a:rPr lang="en-US" altLang="zh-CN" dirty="0"/>
              <a:t>(</a:t>
            </a:r>
            <a:r>
              <a:rPr lang="en-US" altLang="zh-CN" dirty="0" err="1"/>
              <a:t>targetSource.getTarget</a:t>
            </a:r>
            <a:r>
              <a:rPr lang="en-US" altLang="zh-CN" dirty="0"/>
              <a:t>());</a:t>
            </a:r>
          </a:p>
          <a:p>
            <a:r>
              <a:rPr lang="en-US" altLang="zh-CN" dirty="0"/>
              <a:t>        } catch (Exception e) {</a:t>
            </a:r>
          </a:p>
          <a:p>
            <a:r>
              <a:rPr lang="en-US" altLang="zh-CN" dirty="0"/>
              <a:t>            throw new </a:t>
            </a:r>
            <a:r>
              <a:rPr lang="en-US" altLang="zh-CN" dirty="0" err="1"/>
              <a:t>IllegalArgumentException</a:t>
            </a:r>
            <a:r>
              <a:rPr lang="en-US" altLang="zh-CN" dirty="0"/>
              <a:t>("proxy </a:t>
            </a:r>
            <a:r>
              <a:rPr lang="en-US" altLang="zh-CN" dirty="0" err="1"/>
              <a:t>args</a:t>
            </a:r>
            <a:r>
              <a:rPr lang="en-US" altLang="zh-CN" dirty="0"/>
              <a:t> maybe not proxy with </a:t>
            </a:r>
            <a:r>
              <a:rPr lang="en-US" altLang="zh-CN" dirty="0" err="1"/>
              <a:t>cglib</a:t>
            </a:r>
            <a:r>
              <a:rPr lang="en-US" altLang="zh-CN" dirty="0"/>
              <a:t> or </a:t>
            </a:r>
            <a:r>
              <a:rPr lang="en-US" altLang="zh-CN" dirty="0" err="1"/>
              <a:t>jdk</a:t>
            </a:r>
            <a:r>
              <a:rPr lang="en-US" altLang="zh-CN" dirty="0"/>
              <a:t> dynamic proxy. this method not support", e);</a:t>
            </a:r>
          </a:p>
          <a:p>
            <a:r>
              <a:rPr lang="en-US" altLang="zh-CN" dirty="0"/>
              <a:t>        }</a:t>
            </a:r>
          </a:p>
          <a:p>
            <a:r>
              <a:rPr lang="en-US" altLang="zh-CN" dirty="0"/>
              <a:t>    }</a:t>
            </a:r>
          </a:p>
          <a:p>
            <a:endParaRPr lang="en-US" altLang="zh-CN" dirty="0"/>
          </a:p>
          <a:p>
            <a:r>
              <a:rPr lang="en-US" altLang="zh-CN" dirty="0"/>
              <a:t>    /**</a:t>
            </a:r>
          </a:p>
          <a:p>
            <a:r>
              <a:rPr lang="en-US" altLang="zh-CN" dirty="0"/>
              <a:t>     * </a:t>
            </a:r>
            <a:r>
              <a:rPr lang="zh-CN" altLang="en-US" dirty="0"/>
              <a:t>查看指定的代理对象是否 添加事务切面</a:t>
            </a:r>
          </a:p>
          <a:p>
            <a:r>
              <a:rPr lang="zh-CN" altLang="en-US" dirty="0"/>
              <a:t>     * </a:t>
            </a:r>
            <a:r>
              <a:rPr lang="en-US" altLang="zh-CN" dirty="0"/>
              <a:t>see http://jinnianshilongnian.iteye.com/blog/1850432</a:t>
            </a:r>
          </a:p>
          <a:p>
            <a:r>
              <a:rPr lang="en-US" altLang="zh-CN" dirty="0"/>
              <a:t>     * @param proxy</a:t>
            </a:r>
          </a:p>
          <a:p>
            <a:r>
              <a:rPr lang="en-US" altLang="zh-CN" dirty="0"/>
              <a:t>     * @return</a:t>
            </a:r>
          </a:p>
          <a:p>
            <a:r>
              <a:rPr lang="en-US" altLang="zh-CN" dirty="0"/>
              <a:t>     */</a:t>
            </a:r>
          </a:p>
          <a:p>
            <a:r>
              <a:rPr lang="en-US" altLang="zh-CN" dirty="0"/>
              <a:t>    public static </a:t>
            </a:r>
            <a:r>
              <a:rPr lang="en-US" altLang="zh-CN" dirty="0" err="1"/>
              <a:t>boolean</a:t>
            </a:r>
            <a:r>
              <a:rPr lang="en-US" altLang="zh-CN" dirty="0"/>
              <a:t> </a:t>
            </a:r>
            <a:r>
              <a:rPr lang="en-US" altLang="zh-CN" dirty="0" err="1"/>
              <a:t>isTransactional</a:t>
            </a:r>
            <a:r>
              <a:rPr lang="en-US" altLang="zh-CN" dirty="0"/>
              <a:t>(Object proxy) {</a:t>
            </a:r>
          </a:p>
          <a:p>
            <a:r>
              <a:rPr lang="en-US" altLang="zh-CN" dirty="0"/>
              <a:t>       return </a:t>
            </a:r>
            <a:r>
              <a:rPr lang="en-US" altLang="zh-CN" dirty="0" err="1"/>
              <a:t>hasAdvice</a:t>
            </a:r>
            <a:r>
              <a:rPr lang="en-US" altLang="zh-CN" dirty="0"/>
              <a:t>(proxy, </a:t>
            </a:r>
            <a:r>
              <a:rPr lang="en-US" altLang="zh-CN" dirty="0" err="1"/>
              <a:t>TransactionInterceptor.class</a:t>
            </a:r>
            <a:r>
              <a:rPr lang="en-US" altLang="zh-CN" dirty="0"/>
              <a:t>);</a:t>
            </a:r>
          </a:p>
          <a:p>
            <a:r>
              <a:rPr lang="en-US" altLang="zh-CN" dirty="0"/>
              <a:t>    }</a:t>
            </a:r>
          </a:p>
          <a:p>
            <a:endParaRPr lang="en-US" altLang="zh-CN" dirty="0"/>
          </a:p>
          <a:p>
            <a:endParaRPr lang="en-US" altLang="zh-CN" dirty="0"/>
          </a:p>
          <a:p>
            <a:r>
              <a:rPr lang="en-US" altLang="zh-CN" dirty="0"/>
              <a:t>    /**</a:t>
            </a:r>
          </a:p>
          <a:p>
            <a:r>
              <a:rPr lang="en-US" altLang="zh-CN" dirty="0"/>
              <a:t>     * </a:t>
            </a:r>
            <a:r>
              <a:rPr lang="zh-CN" altLang="en-US" dirty="0"/>
              <a:t>移除代理对象的异步调用支持</a:t>
            </a:r>
          </a:p>
          <a:p>
            <a:r>
              <a:rPr lang="zh-CN" altLang="en-US" dirty="0"/>
              <a:t>     * </a:t>
            </a:r>
            <a:r>
              <a:rPr lang="en-US" altLang="zh-CN" dirty="0"/>
              <a:t>@return</a:t>
            </a:r>
          </a:p>
          <a:p>
            <a:r>
              <a:rPr lang="en-US" altLang="zh-CN" dirty="0"/>
              <a:t>     */</a:t>
            </a:r>
          </a:p>
          <a:p>
            <a:r>
              <a:rPr lang="en-US" altLang="zh-CN" dirty="0"/>
              <a:t>    public static void </a:t>
            </a:r>
            <a:r>
              <a:rPr lang="en-US" altLang="zh-CN" dirty="0" err="1"/>
              <a:t>removeTransactional</a:t>
            </a:r>
            <a:r>
              <a:rPr lang="en-US" altLang="zh-CN" dirty="0"/>
              <a:t>(Object proxy) {</a:t>
            </a:r>
          </a:p>
          <a:p>
            <a:r>
              <a:rPr lang="en-US" altLang="zh-CN" dirty="0"/>
              <a:t>         </a:t>
            </a:r>
            <a:r>
              <a:rPr lang="en-US" altLang="zh-CN" dirty="0" err="1"/>
              <a:t>removeAdvisor</a:t>
            </a:r>
            <a:r>
              <a:rPr lang="en-US" altLang="zh-CN" dirty="0"/>
              <a:t>(proxy, </a:t>
            </a:r>
            <a:r>
              <a:rPr lang="en-US" altLang="zh-CN" dirty="0" err="1"/>
              <a:t>TransactionInterceptor.class</a:t>
            </a:r>
            <a:r>
              <a:rPr lang="en-US" altLang="zh-CN" dirty="0"/>
              <a:t>);</a:t>
            </a:r>
          </a:p>
          <a:p>
            <a:r>
              <a:rPr lang="en-US" altLang="zh-CN" dirty="0"/>
              <a:t>    }</a:t>
            </a:r>
          </a:p>
          <a:p>
            <a:endParaRPr lang="en-US" altLang="zh-CN" dirty="0"/>
          </a:p>
          <a:p>
            <a:endParaRPr lang="en-US" altLang="zh-CN" dirty="0"/>
          </a:p>
          <a:p>
            <a:r>
              <a:rPr lang="en-US" altLang="zh-CN" dirty="0"/>
              <a:t>    /**</a:t>
            </a:r>
          </a:p>
          <a:p>
            <a:r>
              <a:rPr lang="en-US" altLang="zh-CN" dirty="0"/>
              <a:t>     * </a:t>
            </a:r>
            <a:r>
              <a:rPr lang="zh-CN" altLang="en-US" dirty="0"/>
              <a:t>是否是异步的代理</a:t>
            </a:r>
          </a:p>
          <a:p>
            <a:r>
              <a:rPr lang="zh-CN" altLang="en-US" dirty="0"/>
              <a:t>     * </a:t>
            </a:r>
            <a:r>
              <a:rPr lang="en-US" altLang="zh-CN" dirty="0"/>
              <a:t>@param proxy</a:t>
            </a:r>
          </a:p>
          <a:p>
            <a:r>
              <a:rPr lang="en-US" altLang="zh-CN" dirty="0"/>
              <a:t>     * @return</a:t>
            </a:r>
          </a:p>
          <a:p>
            <a:r>
              <a:rPr lang="en-US" altLang="zh-CN" dirty="0"/>
              <a:t>     */</a:t>
            </a:r>
          </a:p>
          <a:p>
            <a:r>
              <a:rPr lang="en-US" altLang="zh-CN" dirty="0"/>
              <a:t>    public static </a:t>
            </a:r>
            <a:r>
              <a:rPr lang="en-US" altLang="zh-CN" dirty="0" err="1"/>
              <a:t>boolean</a:t>
            </a:r>
            <a:r>
              <a:rPr lang="en-US" altLang="zh-CN" dirty="0"/>
              <a:t> </a:t>
            </a:r>
            <a:r>
              <a:rPr lang="en-US" altLang="zh-CN" dirty="0" err="1"/>
              <a:t>isAsync</a:t>
            </a:r>
            <a:r>
              <a:rPr lang="en-US" altLang="zh-CN" dirty="0"/>
              <a:t>(Object proxy) {</a:t>
            </a:r>
          </a:p>
          <a:p>
            <a:r>
              <a:rPr lang="en-US" altLang="zh-CN" dirty="0"/>
              <a:t>        return </a:t>
            </a:r>
            <a:r>
              <a:rPr lang="en-US" altLang="zh-CN" dirty="0" err="1"/>
              <a:t>hasAdvice</a:t>
            </a:r>
            <a:r>
              <a:rPr lang="en-US" altLang="zh-CN" dirty="0"/>
              <a:t>(proxy, </a:t>
            </a:r>
            <a:r>
              <a:rPr lang="en-US" altLang="zh-CN" dirty="0" err="1"/>
              <a:t>AsyncExecutionInterceptor.class</a:t>
            </a:r>
            <a:r>
              <a:rPr lang="en-US" altLang="zh-CN" dirty="0"/>
              <a:t>);</a:t>
            </a:r>
          </a:p>
          <a:p>
            <a:r>
              <a:rPr lang="en-US" altLang="zh-CN" dirty="0"/>
              <a:t>    }</a:t>
            </a:r>
          </a:p>
          <a:p>
            <a:endParaRPr lang="en-US" altLang="zh-CN" dirty="0"/>
          </a:p>
          <a:p>
            <a:r>
              <a:rPr lang="en-US" altLang="zh-CN" dirty="0"/>
              <a:t>    /**</a:t>
            </a:r>
          </a:p>
          <a:p>
            <a:r>
              <a:rPr lang="en-US" altLang="zh-CN" dirty="0"/>
              <a:t>     * </a:t>
            </a:r>
            <a:r>
              <a:rPr lang="zh-CN" altLang="en-US" dirty="0"/>
              <a:t>移除代理对象的异步调用支持</a:t>
            </a:r>
          </a:p>
          <a:p>
            <a:r>
              <a:rPr lang="zh-CN" altLang="en-US" dirty="0"/>
              <a:t>     * </a:t>
            </a:r>
            <a:r>
              <a:rPr lang="en-US" altLang="zh-CN" dirty="0"/>
              <a:t>@return</a:t>
            </a:r>
          </a:p>
          <a:p>
            <a:r>
              <a:rPr lang="en-US" altLang="zh-CN" dirty="0"/>
              <a:t>     */</a:t>
            </a:r>
          </a:p>
          <a:p>
            <a:r>
              <a:rPr lang="en-US" altLang="zh-CN" dirty="0"/>
              <a:t>    public static void </a:t>
            </a:r>
            <a:r>
              <a:rPr lang="en-US" altLang="zh-CN" dirty="0" err="1"/>
              <a:t>removeAsync</a:t>
            </a:r>
            <a:r>
              <a:rPr lang="en-US" altLang="zh-CN" dirty="0"/>
              <a:t>(Object proxy) {</a:t>
            </a:r>
          </a:p>
          <a:p>
            <a:r>
              <a:rPr lang="en-US" altLang="zh-CN" dirty="0"/>
              <a:t>        </a:t>
            </a:r>
            <a:r>
              <a:rPr lang="en-US" altLang="zh-CN" dirty="0" err="1"/>
              <a:t>removeAdvisor</a:t>
            </a:r>
            <a:r>
              <a:rPr lang="en-US" altLang="zh-CN" dirty="0"/>
              <a:t>(proxy, </a:t>
            </a:r>
            <a:r>
              <a:rPr lang="en-US" altLang="zh-CN" dirty="0" err="1"/>
              <a:t>AsyncExecutionInterceptor.class</a:t>
            </a:r>
            <a:r>
              <a:rPr lang="en-US" altLang="zh-CN" dirty="0"/>
              <a:t>);</a:t>
            </a:r>
          </a:p>
          <a:p>
            <a:endParaRPr lang="en-US" altLang="zh-CN" dirty="0"/>
          </a:p>
          <a:p>
            <a:r>
              <a:rPr lang="en-US" altLang="zh-CN" dirty="0"/>
              <a:t>    }</a:t>
            </a:r>
          </a:p>
          <a:p>
            <a:endParaRPr lang="en-US" altLang="zh-CN" dirty="0"/>
          </a:p>
          <a:p>
            <a:endParaRPr lang="en-US" altLang="zh-CN" dirty="0"/>
          </a:p>
          <a:p>
            <a:r>
              <a:rPr lang="en-US" altLang="zh-CN" dirty="0"/>
              <a:t>    private static void </a:t>
            </a:r>
            <a:r>
              <a:rPr lang="en-US" altLang="zh-CN" dirty="0" err="1"/>
              <a:t>removeAdvisor</a:t>
            </a:r>
            <a:r>
              <a:rPr lang="en-US" altLang="zh-CN" dirty="0"/>
              <a:t>(Object proxy, Class&lt;? extends Advice&gt; </a:t>
            </a:r>
            <a:r>
              <a:rPr lang="en-US" altLang="zh-CN" dirty="0" err="1"/>
              <a:t>adviceClass</a:t>
            </a:r>
            <a:r>
              <a:rPr lang="en-US" altLang="zh-CN" dirty="0"/>
              <a:t>) {</a:t>
            </a:r>
          </a:p>
          <a:p>
            <a:r>
              <a:rPr lang="en-US" altLang="zh-CN" dirty="0"/>
              <a:t>        if(!</a:t>
            </a:r>
            <a:r>
              <a:rPr lang="en-US" altLang="zh-CN" dirty="0" err="1"/>
              <a:t>AopUtils.isAopProxy</a:t>
            </a:r>
            <a:r>
              <a:rPr lang="en-US" altLang="zh-CN" dirty="0"/>
              <a:t>(proxy)) {</a:t>
            </a:r>
          </a:p>
          <a:p>
            <a:r>
              <a:rPr lang="en-US" altLang="zh-CN" dirty="0"/>
              <a:t>            return;</a:t>
            </a:r>
          </a:p>
          <a:p>
            <a:r>
              <a:rPr lang="en-US" altLang="zh-CN" dirty="0"/>
              <a:t>        }</a:t>
            </a:r>
          </a:p>
          <a:p>
            <a:r>
              <a:rPr lang="en-US" altLang="zh-CN" dirty="0"/>
              <a:t>        </a:t>
            </a:r>
            <a:r>
              <a:rPr lang="en-US" altLang="zh-CN" dirty="0" err="1"/>
              <a:t>ProxyFactory</a:t>
            </a:r>
            <a:r>
              <a:rPr lang="en-US" altLang="zh-CN" dirty="0"/>
              <a:t> </a:t>
            </a:r>
            <a:r>
              <a:rPr lang="en-US" altLang="zh-CN" dirty="0" err="1"/>
              <a:t>proxyFactory</a:t>
            </a:r>
            <a:r>
              <a:rPr lang="en-US" altLang="zh-CN" dirty="0"/>
              <a:t> = null;</a:t>
            </a:r>
          </a:p>
          <a:p>
            <a:r>
              <a:rPr lang="en-US" altLang="zh-CN" dirty="0"/>
              <a:t>        if(</a:t>
            </a:r>
            <a:r>
              <a:rPr lang="en-US" altLang="zh-CN" dirty="0" err="1"/>
              <a:t>AopUtils.isJdkDynamicProxy</a:t>
            </a:r>
            <a:r>
              <a:rPr lang="en-US" altLang="zh-CN" dirty="0"/>
              <a:t>(proxy)) {</a:t>
            </a:r>
          </a:p>
          <a:p>
            <a:r>
              <a:rPr lang="en-US" altLang="zh-CN" dirty="0"/>
              <a:t>            </a:t>
            </a:r>
            <a:r>
              <a:rPr lang="en-US" altLang="zh-CN" dirty="0" err="1"/>
              <a:t>proxyFactory</a:t>
            </a:r>
            <a:r>
              <a:rPr lang="en-US" altLang="zh-CN" dirty="0"/>
              <a:t> = </a:t>
            </a:r>
            <a:r>
              <a:rPr lang="en-US" altLang="zh-CN" dirty="0" err="1"/>
              <a:t>findJdkDynamicProxyFactory</a:t>
            </a:r>
            <a:r>
              <a:rPr lang="en-US" altLang="zh-CN" dirty="0"/>
              <a:t>(proxy);</a:t>
            </a:r>
          </a:p>
          <a:p>
            <a:r>
              <a:rPr lang="en-US" altLang="zh-CN" dirty="0"/>
              <a:t>        }</a:t>
            </a:r>
          </a:p>
          <a:p>
            <a:r>
              <a:rPr lang="en-US" altLang="zh-CN" dirty="0"/>
              <a:t>        if(</a:t>
            </a:r>
            <a:r>
              <a:rPr lang="en-US" altLang="zh-CN" dirty="0" err="1"/>
              <a:t>AopUtils.isCglibProxy</a:t>
            </a:r>
            <a:r>
              <a:rPr lang="en-US" altLang="zh-CN" dirty="0"/>
              <a:t>(proxy)) {</a:t>
            </a:r>
          </a:p>
          <a:p>
            <a:r>
              <a:rPr lang="en-US" altLang="zh-CN" dirty="0"/>
              <a:t>            </a:t>
            </a:r>
            <a:r>
              <a:rPr lang="en-US" altLang="zh-CN" dirty="0" err="1"/>
              <a:t>proxyFactory</a:t>
            </a:r>
            <a:r>
              <a:rPr lang="en-US" altLang="zh-CN" dirty="0"/>
              <a:t> = </a:t>
            </a:r>
            <a:r>
              <a:rPr lang="en-US" altLang="zh-CN" dirty="0" err="1"/>
              <a:t>findCglibProxyFactory</a:t>
            </a:r>
            <a:r>
              <a:rPr lang="en-US" altLang="zh-CN" dirty="0"/>
              <a:t>(proxy);</a:t>
            </a:r>
          </a:p>
          <a:p>
            <a:r>
              <a:rPr lang="en-US" altLang="zh-CN" dirty="0"/>
              <a:t>        }</a:t>
            </a:r>
          </a:p>
          <a:p>
            <a:endParaRPr lang="en-US" altLang="zh-CN" dirty="0"/>
          </a:p>
          <a:p>
            <a:r>
              <a:rPr lang="en-US" altLang="zh-CN" dirty="0"/>
              <a:t>        Advisor[] advisors = </a:t>
            </a:r>
            <a:r>
              <a:rPr lang="en-US" altLang="zh-CN" dirty="0" err="1"/>
              <a:t>proxyFactory.getAdvisors</a:t>
            </a:r>
            <a:r>
              <a:rPr lang="en-US" altLang="zh-CN" dirty="0"/>
              <a:t>();</a:t>
            </a:r>
          </a:p>
          <a:p>
            <a:endParaRPr lang="en-US" altLang="zh-CN" dirty="0"/>
          </a:p>
          <a:p>
            <a:r>
              <a:rPr lang="en-US" altLang="zh-CN" dirty="0"/>
              <a:t>        if(advisors == null || </a:t>
            </a:r>
            <a:r>
              <a:rPr lang="en-US" altLang="zh-CN" dirty="0" err="1"/>
              <a:t>advisors.length</a:t>
            </a:r>
            <a:r>
              <a:rPr lang="en-US" altLang="zh-CN" dirty="0"/>
              <a:t> == 0) {</a:t>
            </a:r>
          </a:p>
          <a:p>
            <a:r>
              <a:rPr lang="en-US" altLang="zh-CN" dirty="0"/>
              <a:t>            return;</a:t>
            </a:r>
          </a:p>
          <a:p>
            <a:r>
              <a:rPr lang="en-US" altLang="zh-CN" dirty="0"/>
              <a:t>        }</a:t>
            </a:r>
          </a:p>
          <a:p>
            <a:endParaRPr lang="en-US" altLang="zh-CN" dirty="0"/>
          </a:p>
          <a:p>
            <a:r>
              <a:rPr lang="en-US" altLang="zh-CN" dirty="0"/>
              <a:t>        for(Advisor </a:t>
            </a:r>
            <a:r>
              <a:rPr lang="en-US" altLang="zh-CN" dirty="0" err="1"/>
              <a:t>advisor</a:t>
            </a:r>
            <a:r>
              <a:rPr lang="en-US" altLang="zh-CN" dirty="0"/>
              <a:t> : advisors) {</a:t>
            </a:r>
          </a:p>
          <a:p>
            <a:r>
              <a:rPr lang="en-US" altLang="zh-CN" dirty="0"/>
              <a:t>            if(</a:t>
            </a:r>
            <a:r>
              <a:rPr lang="en-US" altLang="zh-CN" dirty="0" err="1"/>
              <a:t>adviceClass.isAssignableFrom</a:t>
            </a:r>
            <a:r>
              <a:rPr lang="en-US" altLang="zh-CN" dirty="0"/>
              <a:t>(</a:t>
            </a:r>
            <a:r>
              <a:rPr lang="en-US" altLang="zh-CN" dirty="0" err="1"/>
              <a:t>advisor.getAdvice</a:t>
            </a:r>
            <a:r>
              <a:rPr lang="en-US" altLang="zh-CN" dirty="0"/>
              <a:t>().</a:t>
            </a:r>
            <a:r>
              <a:rPr lang="en-US" altLang="zh-CN" dirty="0" err="1"/>
              <a:t>getClass</a:t>
            </a:r>
            <a:r>
              <a:rPr lang="en-US" altLang="zh-CN" dirty="0"/>
              <a:t>())) {</a:t>
            </a:r>
          </a:p>
          <a:p>
            <a:r>
              <a:rPr lang="en-US" altLang="zh-CN" dirty="0"/>
              <a:t>                </a:t>
            </a:r>
            <a:r>
              <a:rPr lang="en-US" altLang="zh-CN" dirty="0" err="1"/>
              <a:t>proxyFactory.removeAdvisor</a:t>
            </a:r>
            <a:r>
              <a:rPr lang="en-US" altLang="zh-CN" dirty="0"/>
              <a:t>(advisor);</a:t>
            </a:r>
          </a:p>
          <a:p>
            <a:r>
              <a:rPr lang="en-US" altLang="zh-CN" dirty="0"/>
              <a:t>                break;</a:t>
            </a:r>
          </a:p>
          <a:p>
            <a:r>
              <a:rPr lang="en-US" altLang="zh-CN" dirty="0"/>
              <a:t>            }</a:t>
            </a:r>
          </a:p>
          <a:p>
            <a:r>
              <a:rPr lang="en-US" altLang="zh-CN" dirty="0"/>
              <a:t>        }</a:t>
            </a:r>
          </a:p>
          <a:p>
            <a:r>
              <a:rPr lang="en-US" altLang="zh-CN" dirty="0"/>
              <a:t>    }</a:t>
            </a:r>
          </a:p>
          <a:p>
            <a:endParaRPr lang="en-US" altLang="zh-CN" dirty="0"/>
          </a:p>
          <a:p>
            <a:endParaRPr lang="en-US" altLang="zh-CN" dirty="0"/>
          </a:p>
          <a:p>
            <a:endParaRPr lang="en-US" altLang="zh-CN" dirty="0"/>
          </a:p>
          <a:p>
            <a:r>
              <a:rPr lang="en-US" altLang="zh-CN" dirty="0"/>
              <a:t>    private static </a:t>
            </a:r>
            <a:r>
              <a:rPr lang="en-US" altLang="zh-CN" dirty="0" err="1"/>
              <a:t>boolean</a:t>
            </a:r>
            <a:r>
              <a:rPr lang="en-US" altLang="zh-CN" dirty="0"/>
              <a:t> </a:t>
            </a:r>
            <a:r>
              <a:rPr lang="en-US" altLang="zh-CN" dirty="0" err="1"/>
              <a:t>hasAdvice</a:t>
            </a:r>
            <a:r>
              <a:rPr lang="en-US" altLang="zh-CN" dirty="0"/>
              <a:t>(Object proxy, Class&lt;? extends Advice&gt; </a:t>
            </a:r>
            <a:r>
              <a:rPr lang="en-US" altLang="zh-CN" dirty="0" err="1"/>
              <a:t>adviceClass</a:t>
            </a:r>
            <a:r>
              <a:rPr lang="en-US" altLang="zh-CN" dirty="0"/>
              <a:t>) {</a:t>
            </a:r>
          </a:p>
          <a:p>
            <a:r>
              <a:rPr lang="en-US" altLang="zh-CN" dirty="0"/>
              <a:t>        if(!</a:t>
            </a:r>
            <a:r>
              <a:rPr lang="en-US" altLang="zh-CN" dirty="0" err="1"/>
              <a:t>AopUtils.isAopProxy</a:t>
            </a:r>
            <a:r>
              <a:rPr lang="en-US" altLang="zh-CN" dirty="0"/>
              <a:t>(proxy)) {</a:t>
            </a:r>
          </a:p>
          <a:p>
            <a:r>
              <a:rPr lang="en-US" altLang="zh-CN" dirty="0"/>
              <a:t>            return false;</a:t>
            </a:r>
          </a:p>
          <a:p>
            <a:r>
              <a:rPr lang="en-US" altLang="zh-CN" dirty="0"/>
              <a:t>        }</a:t>
            </a:r>
          </a:p>
          <a:p>
            <a:r>
              <a:rPr lang="en-US" altLang="zh-CN" dirty="0"/>
              <a:t>        </a:t>
            </a:r>
            <a:r>
              <a:rPr lang="en-US" altLang="zh-CN" dirty="0" err="1"/>
              <a:t>ProxyFactory</a:t>
            </a:r>
            <a:r>
              <a:rPr lang="en-US" altLang="zh-CN" dirty="0"/>
              <a:t> </a:t>
            </a:r>
            <a:r>
              <a:rPr lang="en-US" altLang="zh-CN" dirty="0" err="1"/>
              <a:t>proxyFactory</a:t>
            </a:r>
            <a:r>
              <a:rPr lang="en-US" altLang="zh-CN" dirty="0"/>
              <a:t> = null;</a:t>
            </a:r>
          </a:p>
          <a:p>
            <a:r>
              <a:rPr lang="en-US" altLang="zh-CN" dirty="0"/>
              <a:t>        if(</a:t>
            </a:r>
            <a:r>
              <a:rPr lang="en-US" altLang="zh-CN" dirty="0" err="1"/>
              <a:t>AopUtils.isJdkDynamicProxy</a:t>
            </a:r>
            <a:r>
              <a:rPr lang="en-US" altLang="zh-CN" dirty="0"/>
              <a:t>(proxy)) {</a:t>
            </a:r>
          </a:p>
          <a:p>
            <a:r>
              <a:rPr lang="en-US" altLang="zh-CN" dirty="0"/>
              <a:t>            </a:t>
            </a:r>
            <a:r>
              <a:rPr lang="en-US" altLang="zh-CN" dirty="0" err="1"/>
              <a:t>proxyFactory</a:t>
            </a:r>
            <a:r>
              <a:rPr lang="en-US" altLang="zh-CN" dirty="0"/>
              <a:t> = </a:t>
            </a:r>
            <a:r>
              <a:rPr lang="en-US" altLang="zh-CN" dirty="0" err="1"/>
              <a:t>findJdkDynamicProxyFactory</a:t>
            </a:r>
            <a:r>
              <a:rPr lang="en-US" altLang="zh-CN" dirty="0"/>
              <a:t>(proxy);</a:t>
            </a:r>
          </a:p>
          <a:p>
            <a:r>
              <a:rPr lang="en-US" altLang="zh-CN" dirty="0"/>
              <a:t>        }</a:t>
            </a:r>
          </a:p>
          <a:p>
            <a:r>
              <a:rPr lang="en-US" altLang="zh-CN" dirty="0"/>
              <a:t>        if(</a:t>
            </a:r>
            <a:r>
              <a:rPr lang="en-US" altLang="zh-CN" dirty="0" err="1"/>
              <a:t>AopUtils.isCglibProxy</a:t>
            </a:r>
            <a:r>
              <a:rPr lang="en-US" altLang="zh-CN" dirty="0"/>
              <a:t>(proxy)) {</a:t>
            </a:r>
          </a:p>
          <a:p>
            <a:r>
              <a:rPr lang="en-US" altLang="zh-CN" dirty="0"/>
              <a:t>            </a:t>
            </a:r>
            <a:r>
              <a:rPr lang="en-US" altLang="zh-CN" dirty="0" err="1"/>
              <a:t>proxyFactory</a:t>
            </a:r>
            <a:r>
              <a:rPr lang="en-US" altLang="zh-CN" dirty="0"/>
              <a:t> = </a:t>
            </a:r>
            <a:r>
              <a:rPr lang="en-US" altLang="zh-CN" dirty="0" err="1"/>
              <a:t>findCglibProxyFactory</a:t>
            </a:r>
            <a:r>
              <a:rPr lang="en-US" altLang="zh-CN" dirty="0"/>
              <a:t>(proxy);</a:t>
            </a:r>
          </a:p>
          <a:p>
            <a:r>
              <a:rPr lang="en-US" altLang="zh-CN" dirty="0"/>
              <a:t>        }</a:t>
            </a:r>
          </a:p>
          <a:p>
            <a:endParaRPr lang="en-US" altLang="zh-CN" dirty="0"/>
          </a:p>
          <a:p>
            <a:r>
              <a:rPr lang="en-US" altLang="zh-CN" dirty="0"/>
              <a:t>        Advisor[] advisors = </a:t>
            </a:r>
            <a:r>
              <a:rPr lang="en-US" altLang="zh-CN" dirty="0" err="1"/>
              <a:t>proxyFactory.getAdvisors</a:t>
            </a:r>
            <a:r>
              <a:rPr lang="en-US" altLang="zh-CN" dirty="0"/>
              <a:t>();</a:t>
            </a:r>
          </a:p>
          <a:p>
            <a:endParaRPr lang="en-US" altLang="zh-CN" dirty="0"/>
          </a:p>
          <a:p>
            <a:r>
              <a:rPr lang="en-US" altLang="zh-CN" dirty="0"/>
              <a:t>        if(advisors == null || </a:t>
            </a:r>
            <a:r>
              <a:rPr lang="en-US" altLang="zh-CN" dirty="0" err="1"/>
              <a:t>advisors.length</a:t>
            </a:r>
            <a:r>
              <a:rPr lang="en-US" altLang="zh-CN" dirty="0"/>
              <a:t> == 0) {</a:t>
            </a:r>
          </a:p>
          <a:p>
            <a:r>
              <a:rPr lang="en-US" altLang="zh-CN" dirty="0"/>
              <a:t>            return false;</a:t>
            </a:r>
          </a:p>
          <a:p>
            <a:r>
              <a:rPr lang="en-US" altLang="zh-CN" dirty="0"/>
              <a:t>        }</a:t>
            </a:r>
          </a:p>
          <a:p>
            <a:endParaRPr lang="en-US" altLang="zh-CN" dirty="0"/>
          </a:p>
          <a:p>
            <a:r>
              <a:rPr lang="en-US" altLang="zh-CN" dirty="0"/>
              <a:t>        for(Advisor </a:t>
            </a:r>
            <a:r>
              <a:rPr lang="en-US" altLang="zh-CN" dirty="0" err="1"/>
              <a:t>advisor</a:t>
            </a:r>
            <a:r>
              <a:rPr lang="en-US" altLang="zh-CN" dirty="0"/>
              <a:t> : advisors) {</a:t>
            </a:r>
          </a:p>
          <a:p>
            <a:r>
              <a:rPr lang="en-US" altLang="zh-CN" dirty="0"/>
              <a:t>            if(</a:t>
            </a:r>
            <a:r>
              <a:rPr lang="en-US" altLang="zh-CN" dirty="0" err="1"/>
              <a:t>adviceClass.isAssignableFrom</a:t>
            </a:r>
            <a:r>
              <a:rPr lang="en-US" altLang="zh-CN" dirty="0"/>
              <a:t>(</a:t>
            </a:r>
            <a:r>
              <a:rPr lang="en-US" altLang="zh-CN" dirty="0" err="1"/>
              <a:t>advisor.getAdvice</a:t>
            </a:r>
            <a:r>
              <a:rPr lang="en-US" altLang="zh-CN" dirty="0"/>
              <a:t>().</a:t>
            </a:r>
            <a:r>
              <a:rPr lang="en-US" altLang="zh-CN" dirty="0" err="1"/>
              <a:t>getClass</a:t>
            </a:r>
            <a:r>
              <a:rPr lang="en-US" altLang="zh-CN" dirty="0"/>
              <a:t>())) {</a:t>
            </a:r>
          </a:p>
          <a:p>
            <a:r>
              <a:rPr lang="en-US" altLang="zh-CN" dirty="0"/>
              <a:t>                return true;</a:t>
            </a:r>
          </a:p>
          <a:p>
            <a:r>
              <a:rPr lang="en-US" altLang="zh-CN" dirty="0"/>
              <a:t>            }</a:t>
            </a:r>
          </a:p>
          <a:p>
            <a:r>
              <a:rPr lang="en-US" altLang="zh-CN" dirty="0"/>
              <a:t>        }</a:t>
            </a:r>
          </a:p>
          <a:p>
            <a:r>
              <a:rPr lang="en-US" altLang="zh-CN" dirty="0"/>
              <a:t>        return false;</a:t>
            </a:r>
          </a:p>
          <a:p>
            <a:r>
              <a:rPr lang="en-US" altLang="zh-CN" dirty="0"/>
              <a:t>    }</a:t>
            </a:r>
          </a:p>
          <a:p>
            <a:endParaRPr lang="en-US" altLang="zh-CN" dirty="0"/>
          </a:p>
          <a:p>
            <a:endParaRPr lang="en-US" altLang="zh-CN" dirty="0"/>
          </a:p>
          <a:p>
            <a:r>
              <a:rPr lang="en-US" altLang="zh-CN" dirty="0"/>
              <a:t>    private static </a:t>
            </a:r>
            <a:r>
              <a:rPr lang="en-US" altLang="zh-CN" dirty="0" err="1"/>
              <a:t>ProxyFactory</a:t>
            </a:r>
            <a:r>
              <a:rPr lang="en-US" altLang="zh-CN" dirty="0"/>
              <a:t> </a:t>
            </a:r>
            <a:r>
              <a:rPr lang="en-US" altLang="zh-CN" dirty="0" err="1"/>
              <a:t>findJdkDynamicProxyFactory</a:t>
            </a:r>
            <a:r>
              <a:rPr lang="en-US" altLang="zh-CN" dirty="0"/>
              <a:t>(final Object proxy) {</a:t>
            </a:r>
          </a:p>
          <a:p>
            <a:r>
              <a:rPr lang="en-US" altLang="zh-CN" dirty="0"/>
              <a:t>        Object </a:t>
            </a:r>
            <a:r>
              <a:rPr lang="en-US" altLang="zh-CN" dirty="0" err="1"/>
              <a:t>jdkDynamicAopProxy</a:t>
            </a:r>
            <a:r>
              <a:rPr lang="en-US" altLang="zh-CN" dirty="0"/>
              <a:t> = </a:t>
            </a:r>
            <a:r>
              <a:rPr lang="en-US" altLang="zh-CN" dirty="0" err="1"/>
              <a:t>ReflectionUtils.getField</a:t>
            </a:r>
            <a:r>
              <a:rPr lang="en-US" altLang="zh-CN" dirty="0"/>
              <a:t>(</a:t>
            </a:r>
            <a:r>
              <a:rPr lang="en-US" altLang="zh-CN" dirty="0" err="1"/>
              <a:t>JdkDynamicProxy_h_FIELD</a:t>
            </a:r>
            <a:r>
              <a:rPr lang="en-US" altLang="zh-CN" dirty="0"/>
              <a:t>, proxy);</a:t>
            </a:r>
          </a:p>
          <a:p>
            <a:r>
              <a:rPr lang="en-US" altLang="zh-CN" dirty="0"/>
              <a:t>        return (</a:t>
            </a:r>
            <a:r>
              <a:rPr lang="en-US" altLang="zh-CN" dirty="0" err="1"/>
              <a:t>ProxyFactory</a:t>
            </a:r>
            <a:r>
              <a:rPr lang="en-US" altLang="zh-CN" dirty="0"/>
              <a:t>) </a:t>
            </a:r>
            <a:r>
              <a:rPr lang="en-US" altLang="zh-CN" dirty="0" err="1"/>
              <a:t>ReflectionUtils.getField</a:t>
            </a:r>
            <a:r>
              <a:rPr lang="en-US" altLang="zh-CN" dirty="0"/>
              <a:t>(</a:t>
            </a:r>
            <a:r>
              <a:rPr lang="en-US" altLang="zh-CN" dirty="0" err="1"/>
              <a:t>JdkDynamicAopProxy_advised_FIELD</a:t>
            </a:r>
            <a:r>
              <a:rPr lang="en-US" altLang="zh-CN" dirty="0"/>
              <a:t>, </a:t>
            </a:r>
            <a:r>
              <a:rPr lang="en-US" altLang="zh-CN" dirty="0" err="1"/>
              <a:t>jdkDynamicAopProxy</a:t>
            </a:r>
            <a:r>
              <a:rPr lang="en-US" altLang="zh-CN" dirty="0"/>
              <a:t>);</a:t>
            </a:r>
          </a:p>
          <a:p>
            <a:r>
              <a:rPr lang="en-US" altLang="zh-CN" dirty="0"/>
              <a:t>    }</a:t>
            </a:r>
          </a:p>
          <a:p>
            <a:endParaRPr lang="en-US" altLang="zh-CN" dirty="0"/>
          </a:p>
          <a:p>
            <a:r>
              <a:rPr lang="en-US" altLang="zh-CN" dirty="0"/>
              <a:t>    private static </a:t>
            </a:r>
            <a:r>
              <a:rPr lang="en-US" altLang="zh-CN" dirty="0" err="1"/>
              <a:t>ProxyFactory</a:t>
            </a:r>
            <a:r>
              <a:rPr lang="en-US" altLang="zh-CN" dirty="0"/>
              <a:t> </a:t>
            </a:r>
            <a:r>
              <a:rPr lang="en-US" altLang="zh-CN" dirty="0" err="1"/>
              <a:t>findCglibProxyFactory</a:t>
            </a:r>
            <a:r>
              <a:rPr lang="en-US" altLang="zh-CN" dirty="0"/>
              <a:t>(final Object proxy) {</a:t>
            </a:r>
          </a:p>
          <a:p>
            <a:r>
              <a:rPr lang="en-US" altLang="zh-CN" dirty="0"/>
              <a:t>        Field </a:t>
            </a:r>
            <a:r>
              <a:rPr lang="en-US" altLang="zh-CN" dirty="0" err="1"/>
              <a:t>field</a:t>
            </a:r>
            <a:r>
              <a:rPr lang="en-US" altLang="zh-CN" dirty="0"/>
              <a:t>  = </a:t>
            </a:r>
            <a:r>
              <a:rPr lang="en-US" altLang="zh-CN" dirty="0" err="1"/>
              <a:t>ReflectionUtils.findField</a:t>
            </a:r>
            <a:r>
              <a:rPr lang="en-US" altLang="zh-CN" dirty="0"/>
              <a:t>(</a:t>
            </a:r>
            <a:r>
              <a:rPr lang="en-US" altLang="zh-CN" dirty="0" err="1"/>
              <a:t>proxy.getClass</a:t>
            </a:r>
            <a:r>
              <a:rPr lang="en-US" altLang="zh-CN" dirty="0"/>
              <a:t>(), "CGLIB$CALLBACK_0");</a:t>
            </a:r>
          </a:p>
          <a:p>
            <a:r>
              <a:rPr lang="en-US" altLang="zh-CN" dirty="0"/>
              <a:t>        </a:t>
            </a:r>
            <a:r>
              <a:rPr lang="en-US" altLang="zh-CN" dirty="0" err="1"/>
              <a:t>ReflectionUtils.makeAccessible</a:t>
            </a:r>
            <a:r>
              <a:rPr lang="en-US" altLang="zh-CN" dirty="0"/>
              <a:t>(field);</a:t>
            </a:r>
          </a:p>
          <a:p>
            <a:r>
              <a:rPr lang="en-US" altLang="zh-CN" dirty="0"/>
              <a:t>        Object CGLIB$CALLBACK_0 = </a:t>
            </a:r>
            <a:r>
              <a:rPr lang="en-US" altLang="zh-CN" dirty="0" err="1"/>
              <a:t>ReflectionUtils.getField</a:t>
            </a:r>
            <a:r>
              <a:rPr lang="en-US" altLang="zh-CN" dirty="0"/>
              <a:t>(field, proxy);</a:t>
            </a:r>
          </a:p>
          <a:p>
            <a:r>
              <a:rPr lang="en-US" altLang="zh-CN" dirty="0"/>
              <a:t>        return (</a:t>
            </a:r>
            <a:r>
              <a:rPr lang="en-US" altLang="zh-CN" dirty="0" err="1"/>
              <a:t>ProxyFactory</a:t>
            </a:r>
            <a:r>
              <a:rPr lang="en-US" altLang="zh-CN" dirty="0"/>
              <a:t>) </a:t>
            </a:r>
            <a:r>
              <a:rPr lang="en-US" altLang="zh-CN" dirty="0" err="1"/>
              <a:t>ReflectionUtils.getField</a:t>
            </a:r>
            <a:r>
              <a:rPr lang="en-US" altLang="zh-CN" dirty="0"/>
              <a:t>(</a:t>
            </a:r>
            <a:r>
              <a:rPr lang="en-US" altLang="zh-CN" dirty="0" err="1"/>
              <a:t>CglibAopProxy$DynamicAdvisedInterceptor_advised_FIELD</a:t>
            </a:r>
            <a:r>
              <a:rPr lang="en-US" altLang="zh-CN" dirty="0"/>
              <a:t>, CGLIB$CALLBACK_0);</a:t>
            </a:r>
          </a:p>
          <a:p>
            <a:endParaRPr lang="en-US" altLang="zh-CN" dirty="0"/>
          </a:p>
          <a:p>
            <a:r>
              <a:rPr lang="en-US" altLang="zh-CN" dirty="0"/>
              <a:t>    }</a:t>
            </a:r>
          </a:p>
          <a:p>
            <a:endParaRPr lang="en-US" altLang="zh-CN" dirty="0"/>
          </a:p>
          <a:p>
            <a:r>
              <a:rPr lang="en-US" altLang="zh-CN" dirty="0"/>
              <a:t>    ///////////////////////////////////</a:t>
            </a:r>
            <a:r>
              <a:rPr lang="zh-CN" altLang="en-US" dirty="0"/>
              <a:t>内部使用的反射 静态字段</a:t>
            </a:r>
            <a:r>
              <a:rPr lang="en-US" altLang="zh-CN" dirty="0"/>
              <a:t>///////////////////////////////////</a:t>
            </a:r>
          </a:p>
          <a:p>
            <a:r>
              <a:rPr lang="en-US" altLang="zh-CN" dirty="0"/>
              <a:t>    //JDK</a:t>
            </a:r>
            <a:r>
              <a:rPr lang="zh-CN" altLang="en-US" dirty="0"/>
              <a:t>动态代理 字段相关</a:t>
            </a:r>
          </a:p>
          <a:p>
            <a:r>
              <a:rPr lang="zh-CN" altLang="en-US" dirty="0"/>
              <a:t>    </a:t>
            </a:r>
            <a:r>
              <a:rPr lang="en-US" altLang="zh-CN" dirty="0"/>
              <a:t>private static Field </a:t>
            </a:r>
            <a:r>
              <a:rPr lang="en-US" altLang="zh-CN" dirty="0" err="1"/>
              <a:t>JdkDynamicProxy_h_FIELD</a:t>
            </a:r>
            <a:r>
              <a:rPr lang="en-US" altLang="zh-CN" dirty="0"/>
              <a:t>;</a:t>
            </a:r>
          </a:p>
          <a:p>
            <a:r>
              <a:rPr lang="en-US" altLang="zh-CN" dirty="0"/>
              <a:t>    private static Class </a:t>
            </a:r>
            <a:r>
              <a:rPr lang="en-US" altLang="zh-CN" dirty="0" err="1"/>
              <a:t>JdkDynamicAopProxy_CLASS</a:t>
            </a:r>
            <a:r>
              <a:rPr lang="en-US" altLang="zh-CN" dirty="0"/>
              <a:t>;</a:t>
            </a:r>
          </a:p>
          <a:p>
            <a:r>
              <a:rPr lang="en-US" altLang="zh-CN" dirty="0"/>
              <a:t>    private static Field </a:t>
            </a:r>
            <a:r>
              <a:rPr lang="en-US" altLang="zh-CN" dirty="0" err="1"/>
              <a:t>JdkDynamicAopProxy_advised_FIELD</a:t>
            </a:r>
            <a:r>
              <a:rPr lang="en-US" altLang="zh-CN" dirty="0"/>
              <a:t>;</a:t>
            </a:r>
          </a:p>
          <a:p>
            <a:endParaRPr lang="en-US" altLang="zh-CN" dirty="0"/>
          </a:p>
          <a:p>
            <a:r>
              <a:rPr lang="en-US" altLang="zh-CN" dirty="0"/>
              <a:t>    //CGLIB</a:t>
            </a:r>
            <a:r>
              <a:rPr lang="zh-CN" altLang="en-US" dirty="0"/>
              <a:t>代理 相关字段</a:t>
            </a:r>
          </a:p>
          <a:p>
            <a:r>
              <a:rPr lang="zh-CN" altLang="en-US" dirty="0"/>
              <a:t>    </a:t>
            </a:r>
            <a:r>
              <a:rPr lang="en-US" altLang="zh-CN" dirty="0"/>
              <a:t>private static Class </a:t>
            </a:r>
            <a:r>
              <a:rPr lang="en-US" altLang="zh-CN" dirty="0" err="1"/>
              <a:t>CglibAopProxy_CLASS</a:t>
            </a:r>
            <a:r>
              <a:rPr lang="en-US" altLang="zh-CN" dirty="0"/>
              <a:t>;</a:t>
            </a:r>
          </a:p>
          <a:p>
            <a:r>
              <a:rPr lang="en-US" altLang="zh-CN" dirty="0"/>
              <a:t>    private static Class </a:t>
            </a:r>
            <a:r>
              <a:rPr lang="en-US" altLang="zh-CN" dirty="0" err="1"/>
              <a:t>CglibAopProxy$DynamicAdvisedInterceptor_CLASS</a:t>
            </a:r>
            <a:r>
              <a:rPr lang="en-US" altLang="zh-CN" dirty="0"/>
              <a:t>;</a:t>
            </a:r>
          </a:p>
          <a:p>
            <a:r>
              <a:rPr lang="en-US" altLang="zh-CN" dirty="0"/>
              <a:t>    private static Field </a:t>
            </a:r>
            <a:r>
              <a:rPr lang="en-US" altLang="zh-CN" dirty="0" err="1"/>
              <a:t>CglibAopProxy$DynamicAdvisedInterceptor_advised_FIELD</a:t>
            </a:r>
            <a:r>
              <a:rPr lang="en-US" altLang="zh-CN" dirty="0"/>
              <a:t>;</a:t>
            </a:r>
          </a:p>
          <a:p>
            <a:endParaRPr lang="en-US" altLang="zh-CN" dirty="0"/>
          </a:p>
          <a:p>
            <a:r>
              <a:rPr lang="en-US" altLang="zh-CN" dirty="0"/>
              <a:t>    //</a:t>
            </a:r>
            <a:r>
              <a:rPr lang="en-US" altLang="zh-CN" dirty="0" err="1"/>
              <a:t>ProxyFactory</a:t>
            </a:r>
            <a:r>
              <a:rPr lang="en-US" altLang="zh-CN" dirty="0"/>
              <a:t> </a:t>
            </a:r>
            <a:r>
              <a:rPr lang="zh-CN" altLang="en-US" dirty="0"/>
              <a:t>相关字段</a:t>
            </a:r>
          </a:p>
          <a:p>
            <a:r>
              <a:rPr lang="zh-CN" altLang="en-US" dirty="0"/>
              <a:t>    </a:t>
            </a:r>
            <a:r>
              <a:rPr lang="en-US" altLang="zh-CN" dirty="0"/>
              <a:t>private static Class </a:t>
            </a:r>
            <a:r>
              <a:rPr lang="en-US" altLang="zh-CN" dirty="0" err="1"/>
              <a:t>ProxyFactory_CLASS</a:t>
            </a:r>
            <a:r>
              <a:rPr lang="en-US" altLang="zh-CN" dirty="0"/>
              <a:t>;</a:t>
            </a:r>
          </a:p>
          <a:p>
            <a:r>
              <a:rPr lang="en-US" altLang="zh-CN" dirty="0"/>
              <a:t>    private static Field </a:t>
            </a:r>
            <a:r>
              <a:rPr lang="en-US" altLang="zh-CN" dirty="0" err="1"/>
              <a:t>ProxyFactory_targetSource_FIELD</a:t>
            </a:r>
            <a:r>
              <a:rPr lang="en-US" altLang="zh-CN" dirty="0"/>
              <a:t>;</a:t>
            </a:r>
          </a:p>
          <a:p>
            <a:endParaRPr lang="en-US" altLang="zh-CN" dirty="0"/>
          </a:p>
          <a:p>
            <a:r>
              <a:rPr lang="en-US" altLang="zh-CN" dirty="0"/>
              <a:t>    static {</a:t>
            </a:r>
          </a:p>
          <a:p>
            <a:r>
              <a:rPr lang="en-US" altLang="zh-CN" dirty="0"/>
              <a:t>        </a:t>
            </a:r>
            <a:r>
              <a:rPr lang="en-US" altLang="zh-CN" dirty="0" err="1"/>
              <a:t>JdkDynamicProxy_h_FIELD</a:t>
            </a:r>
            <a:r>
              <a:rPr lang="en-US" altLang="zh-CN" dirty="0"/>
              <a:t> = </a:t>
            </a:r>
            <a:r>
              <a:rPr lang="en-US" altLang="zh-CN" dirty="0" err="1"/>
              <a:t>ReflectionUtils.findField</a:t>
            </a:r>
            <a:r>
              <a:rPr lang="en-US" altLang="zh-CN" dirty="0"/>
              <a:t>(</a:t>
            </a:r>
            <a:r>
              <a:rPr lang="en-US" altLang="zh-CN" dirty="0" err="1"/>
              <a:t>Proxy.class</a:t>
            </a:r>
            <a:r>
              <a:rPr lang="en-US" altLang="zh-CN" dirty="0"/>
              <a:t>, "h");</a:t>
            </a:r>
          </a:p>
          <a:p>
            <a:r>
              <a:rPr lang="en-US" altLang="zh-CN" dirty="0"/>
              <a:t>        </a:t>
            </a:r>
            <a:r>
              <a:rPr lang="en-US" altLang="zh-CN" dirty="0" err="1"/>
              <a:t>ReflectionUtils.makeAccessible</a:t>
            </a:r>
            <a:r>
              <a:rPr lang="en-US" altLang="zh-CN" dirty="0"/>
              <a:t>(</a:t>
            </a:r>
            <a:r>
              <a:rPr lang="en-US" altLang="zh-CN" dirty="0" err="1"/>
              <a:t>JdkDynamicProxy_h_FIELD</a:t>
            </a:r>
            <a:r>
              <a:rPr lang="en-US" altLang="zh-CN" dirty="0"/>
              <a:t>);</a:t>
            </a:r>
          </a:p>
          <a:p>
            <a:endParaRPr lang="en-US" altLang="zh-CN" dirty="0"/>
          </a:p>
          <a:p>
            <a:r>
              <a:rPr lang="en-US" altLang="zh-CN" dirty="0"/>
              <a:t>        try {</a:t>
            </a:r>
          </a:p>
          <a:p>
            <a:r>
              <a:rPr lang="en-US" altLang="zh-CN" dirty="0"/>
              <a:t>            </a:t>
            </a:r>
            <a:r>
              <a:rPr lang="en-US" altLang="zh-CN" dirty="0" err="1"/>
              <a:t>JdkDynamicAopProxy_CLASS</a:t>
            </a:r>
            <a:r>
              <a:rPr lang="en-US" altLang="zh-CN" dirty="0"/>
              <a:t> = </a:t>
            </a:r>
            <a:r>
              <a:rPr lang="en-US" altLang="zh-CN" dirty="0" err="1"/>
              <a:t>Class.forName</a:t>
            </a:r>
            <a:r>
              <a:rPr lang="en-US" altLang="zh-CN" dirty="0"/>
              <a:t>("</a:t>
            </a:r>
            <a:r>
              <a:rPr lang="en-US" altLang="zh-CN" dirty="0" err="1"/>
              <a:t>org.springframework.aop.framework.JdkDynamicAopProxy</a:t>
            </a:r>
            <a:r>
              <a:rPr lang="en-US" altLang="zh-CN" dirty="0"/>
              <a:t>");</a:t>
            </a:r>
          </a:p>
          <a:p>
            <a:r>
              <a:rPr lang="en-US" altLang="zh-CN" dirty="0"/>
              <a:t>            </a:t>
            </a:r>
            <a:r>
              <a:rPr lang="en-US" altLang="zh-CN" dirty="0" err="1"/>
              <a:t>JdkDynamicAopProxy_advised_FIELD</a:t>
            </a:r>
            <a:r>
              <a:rPr lang="en-US" altLang="zh-CN" dirty="0"/>
              <a:t> = </a:t>
            </a:r>
            <a:r>
              <a:rPr lang="en-US" altLang="zh-CN" dirty="0" err="1"/>
              <a:t>ReflectionUtils.findField</a:t>
            </a:r>
            <a:r>
              <a:rPr lang="en-US" altLang="zh-CN" dirty="0"/>
              <a:t>(</a:t>
            </a:r>
            <a:r>
              <a:rPr lang="en-US" altLang="zh-CN" dirty="0" err="1"/>
              <a:t>JdkDynamicAopProxy_CLASS</a:t>
            </a:r>
            <a:r>
              <a:rPr lang="en-US" altLang="zh-CN" dirty="0"/>
              <a:t>, "advised");</a:t>
            </a:r>
          </a:p>
          <a:p>
            <a:r>
              <a:rPr lang="en-US" altLang="zh-CN" dirty="0"/>
              <a:t>            </a:t>
            </a:r>
            <a:r>
              <a:rPr lang="en-US" altLang="zh-CN" dirty="0" err="1"/>
              <a:t>ReflectionUtils.makeAccessible</a:t>
            </a:r>
            <a:r>
              <a:rPr lang="en-US" altLang="zh-CN" dirty="0"/>
              <a:t>(</a:t>
            </a:r>
            <a:r>
              <a:rPr lang="en-US" altLang="zh-CN" dirty="0" err="1"/>
              <a:t>JdkDynamicAopProxy_advised_FIELD</a:t>
            </a:r>
            <a:r>
              <a:rPr lang="en-US" altLang="zh-CN" dirty="0"/>
              <a:t>);</a:t>
            </a:r>
          </a:p>
          <a:p>
            <a:r>
              <a:rPr lang="en-US" altLang="zh-CN" dirty="0"/>
              <a:t>        } catch (</a:t>
            </a:r>
            <a:r>
              <a:rPr lang="en-US" altLang="zh-CN" dirty="0" err="1"/>
              <a:t>ClassNotFoundException</a:t>
            </a:r>
            <a:r>
              <a:rPr lang="en-US" altLang="zh-CN" dirty="0"/>
              <a:t> e) {</a:t>
            </a:r>
          </a:p>
          <a:p>
            <a:r>
              <a:rPr lang="en-US" altLang="zh-CN" dirty="0"/>
              <a:t>            </a:t>
            </a:r>
            <a:r>
              <a:rPr lang="en-US" altLang="zh-CN" dirty="0" err="1"/>
              <a:t>e.printStackTrace</a:t>
            </a:r>
            <a:r>
              <a:rPr lang="en-US" altLang="zh-CN" dirty="0"/>
              <a:t>();</a:t>
            </a:r>
          </a:p>
          <a:p>
            <a:r>
              <a:rPr lang="en-US" altLang="zh-CN" dirty="0"/>
              <a:t>            /*ignore*/</a:t>
            </a:r>
          </a:p>
          <a:p>
            <a:r>
              <a:rPr lang="en-US" altLang="zh-CN" dirty="0"/>
              <a:t>        }</a:t>
            </a:r>
          </a:p>
          <a:p>
            <a:endParaRPr lang="en-US" altLang="zh-CN" dirty="0"/>
          </a:p>
          <a:p>
            <a:r>
              <a:rPr lang="en-US" altLang="zh-CN" dirty="0"/>
              <a:t>        try {</a:t>
            </a:r>
          </a:p>
          <a:p>
            <a:r>
              <a:rPr lang="en-US" altLang="zh-CN" dirty="0"/>
              <a:t>            </a:t>
            </a:r>
            <a:r>
              <a:rPr lang="en-US" altLang="zh-CN" dirty="0" err="1"/>
              <a:t>CglibAopProxy_CLASS</a:t>
            </a:r>
            <a:r>
              <a:rPr lang="en-US" altLang="zh-CN" dirty="0"/>
              <a:t> = </a:t>
            </a:r>
            <a:r>
              <a:rPr lang="en-US" altLang="zh-CN" dirty="0" err="1"/>
              <a:t>Class.forName</a:t>
            </a:r>
            <a:r>
              <a:rPr lang="en-US" altLang="zh-CN" dirty="0"/>
              <a:t>("</a:t>
            </a:r>
            <a:r>
              <a:rPr lang="en-US" altLang="zh-CN" dirty="0" err="1"/>
              <a:t>org.springframework.aop.framework.CglibAopProxy</a:t>
            </a:r>
            <a:r>
              <a:rPr lang="en-US" altLang="zh-CN" dirty="0"/>
              <a:t>");</a:t>
            </a:r>
          </a:p>
          <a:p>
            <a:r>
              <a:rPr lang="en-US" altLang="zh-CN" dirty="0"/>
              <a:t>            </a:t>
            </a:r>
            <a:r>
              <a:rPr lang="en-US" altLang="zh-CN" dirty="0" err="1"/>
              <a:t>CglibAopProxy$DynamicAdvisedInterceptor_CLASS</a:t>
            </a:r>
            <a:r>
              <a:rPr lang="en-US" altLang="zh-CN" dirty="0"/>
              <a:t> = </a:t>
            </a:r>
            <a:r>
              <a:rPr lang="en-US" altLang="zh-CN" dirty="0" err="1"/>
              <a:t>Class.forName</a:t>
            </a:r>
            <a:r>
              <a:rPr lang="en-US" altLang="zh-CN" dirty="0"/>
              <a:t>("org.springframework.aop.framework.CglibAopProxy$DynamicAdvisedInterceptor");</a:t>
            </a:r>
          </a:p>
          <a:p>
            <a:r>
              <a:rPr lang="en-US" altLang="zh-CN" dirty="0"/>
              <a:t>            </a:t>
            </a:r>
            <a:r>
              <a:rPr lang="en-US" altLang="zh-CN" dirty="0" err="1"/>
              <a:t>CglibAopProxy$DynamicAdvisedInterceptor_advised_FIELD</a:t>
            </a:r>
            <a:r>
              <a:rPr lang="en-US" altLang="zh-CN" dirty="0"/>
              <a:t> = </a:t>
            </a:r>
            <a:r>
              <a:rPr lang="en-US" altLang="zh-CN" dirty="0" err="1"/>
              <a:t>ReflectionUtils.findField</a:t>
            </a:r>
            <a:r>
              <a:rPr lang="en-US" altLang="zh-CN" dirty="0"/>
              <a:t>(</a:t>
            </a:r>
            <a:r>
              <a:rPr lang="en-US" altLang="zh-CN" dirty="0" err="1"/>
              <a:t>CglibAopProxy$DynamicAdvisedInterceptor_CLASS</a:t>
            </a:r>
            <a:r>
              <a:rPr lang="en-US" altLang="zh-CN" dirty="0"/>
              <a:t>, "advised");</a:t>
            </a:r>
          </a:p>
          <a:p>
            <a:r>
              <a:rPr lang="en-US" altLang="zh-CN" dirty="0"/>
              <a:t>            </a:t>
            </a:r>
            <a:r>
              <a:rPr lang="en-US" altLang="zh-CN" dirty="0" err="1"/>
              <a:t>ReflectionUtils.makeAccessible</a:t>
            </a:r>
            <a:r>
              <a:rPr lang="en-US" altLang="zh-CN" dirty="0"/>
              <a:t>(</a:t>
            </a:r>
            <a:r>
              <a:rPr lang="en-US" altLang="zh-CN" dirty="0" err="1"/>
              <a:t>CglibAopProxy$DynamicAdvisedInterceptor_advised_FIELD</a:t>
            </a:r>
            <a:r>
              <a:rPr lang="en-US" altLang="zh-CN" dirty="0"/>
              <a:t>);</a:t>
            </a:r>
          </a:p>
          <a:p>
            <a:r>
              <a:rPr lang="en-US" altLang="zh-CN" dirty="0"/>
              <a:t>        } catch (</a:t>
            </a:r>
            <a:r>
              <a:rPr lang="en-US" altLang="zh-CN" dirty="0" err="1"/>
              <a:t>ClassNotFoundException</a:t>
            </a:r>
            <a:r>
              <a:rPr lang="en-US" altLang="zh-CN" dirty="0"/>
              <a:t> e) {</a:t>
            </a:r>
          </a:p>
          <a:p>
            <a:r>
              <a:rPr lang="en-US" altLang="zh-CN" dirty="0"/>
              <a:t>            </a:t>
            </a:r>
            <a:r>
              <a:rPr lang="en-US" altLang="zh-CN" dirty="0" err="1"/>
              <a:t>e.printStackTrace</a:t>
            </a:r>
            <a:r>
              <a:rPr lang="en-US" altLang="zh-CN" dirty="0"/>
              <a:t>();</a:t>
            </a:r>
          </a:p>
          <a:p>
            <a:r>
              <a:rPr lang="en-US" altLang="zh-CN" dirty="0"/>
              <a:t>            /*ignore*/</a:t>
            </a:r>
          </a:p>
          <a:p>
            <a:r>
              <a:rPr lang="en-US" altLang="zh-CN" dirty="0"/>
              <a:t>        }</a:t>
            </a:r>
          </a:p>
          <a:p>
            <a:endParaRPr lang="en-US" altLang="zh-CN" dirty="0"/>
          </a:p>
          <a:p>
            <a:r>
              <a:rPr lang="en-US" altLang="zh-CN" dirty="0"/>
              <a:t>        </a:t>
            </a:r>
            <a:r>
              <a:rPr lang="en-US" altLang="zh-CN" dirty="0" err="1"/>
              <a:t>ProxyFactory_CLASS</a:t>
            </a:r>
            <a:r>
              <a:rPr lang="en-US" altLang="zh-CN" dirty="0"/>
              <a:t> = </a:t>
            </a:r>
            <a:r>
              <a:rPr lang="en-US" altLang="zh-CN" dirty="0" err="1"/>
              <a:t>ProxyFactory.class</a:t>
            </a:r>
            <a:r>
              <a:rPr lang="en-US" altLang="zh-CN" dirty="0"/>
              <a:t>;</a:t>
            </a:r>
          </a:p>
          <a:p>
            <a:r>
              <a:rPr lang="en-US" altLang="zh-CN" dirty="0"/>
              <a:t>        </a:t>
            </a:r>
            <a:r>
              <a:rPr lang="en-US" altLang="zh-CN" dirty="0" err="1"/>
              <a:t>ProxyFactory_targetSource_FIELD</a:t>
            </a:r>
            <a:r>
              <a:rPr lang="en-US" altLang="zh-CN" dirty="0"/>
              <a:t> = </a:t>
            </a:r>
            <a:r>
              <a:rPr lang="en-US" altLang="zh-CN" dirty="0" err="1"/>
              <a:t>ReflectionUtils.findField</a:t>
            </a:r>
            <a:r>
              <a:rPr lang="en-US" altLang="zh-CN" dirty="0"/>
              <a:t>(</a:t>
            </a:r>
            <a:r>
              <a:rPr lang="en-US" altLang="zh-CN" dirty="0" err="1"/>
              <a:t>ProxyFactory_CLASS</a:t>
            </a:r>
            <a:r>
              <a:rPr lang="en-US" altLang="zh-CN" dirty="0"/>
              <a:t>, "</a:t>
            </a:r>
            <a:r>
              <a:rPr lang="en-US" altLang="zh-CN" dirty="0" err="1"/>
              <a:t>targetSource</a:t>
            </a:r>
            <a:r>
              <a:rPr lang="en-US" altLang="zh-CN" dirty="0"/>
              <a:t>");</a:t>
            </a:r>
          </a:p>
          <a:p>
            <a:r>
              <a:rPr lang="en-US" altLang="zh-CN" dirty="0"/>
              <a:t>        </a:t>
            </a:r>
            <a:r>
              <a:rPr lang="en-US" altLang="zh-CN" dirty="0" err="1"/>
              <a:t>ReflectionUtils.makeAccessible</a:t>
            </a:r>
            <a:r>
              <a:rPr lang="en-US" altLang="zh-CN" dirty="0"/>
              <a:t>(</a:t>
            </a:r>
            <a:r>
              <a:rPr lang="en-US" altLang="zh-CN" dirty="0" err="1"/>
              <a:t>ProxyFactory_targetSource_FIELD</a:t>
            </a:r>
            <a:r>
              <a:rPr lang="en-US" altLang="zh-CN" dirty="0"/>
              <a:t>);</a:t>
            </a:r>
          </a:p>
          <a:p>
            <a:endParaRPr lang="en-US" altLang="zh-CN" dirty="0"/>
          </a:p>
          <a:p>
            <a:r>
              <a:rPr lang="en-US" altLang="zh-CN" dirty="0"/>
              <a:t>    }</a:t>
            </a:r>
          </a:p>
          <a:p>
            <a:r>
              <a:rPr lang="en-US" altLang="zh-CN" dirty="0"/>
              <a:t>}</a:t>
            </a: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36</a:t>
            </a:fld>
            <a:endParaRPr lang="zh-CN" altLang="en-US"/>
          </a:p>
        </p:txBody>
      </p:sp>
    </p:spTree>
    <p:extLst>
      <p:ext uri="{BB962C8B-B14F-4D97-AF65-F5344CB8AC3E}">
        <p14:creationId xmlns:p14="http://schemas.microsoft.com/office/powerpoint/2010/main" val="130411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WebAppConfiguration</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ContextConfiguration</a:t>
            </a:r>
            <a:r>
              <a:rPr lang="en-US" altLang="zh-CN" sz="900" b="0" i="0" kern="1200" dirty="0">
                <a:solidFill>
                  <a:schemeClr val="tx1"/>
                </a:solidFill>
                <a:effectLst/>
                <a:latin typeface="+mn-lt"/>
                <a:ea typeface="+mn-ea"/>
                <a:cs typeface="+mn-cs"/>
              </a:rPr>
              <a:t>(locations = {"</a:t>
            </a:r>
            <a:r>
              <a:rPr lang="en-US" altLang="zh-CN" sz="900" b="0" i="0" kern="1200" dirty="0" err="1">
                <a:solidFill>
                  <a:schemeClr val="tx1"/>
                </a:solidFill>
                <a:effectLst/>
                <a:latin typeface="+mn-lt"/>
                <a:ea typeface="+mn-ea"/>
                <a:cs typeface="+mn-cs"/>
              </a:rPr>
              <a:t>classpath</a:t>
            </a:r>
            <a:r>
              <a:rPr lang="en-US" altLang="zh-CN" sz="900" b="0" i="0" kern="1200" dirty="0">
                <a:solidFill>
                  <a:schemeClr val="tx1"/>
                </a:solidFill>
                <a:effectLst/>
                <a:latin typeface="+mn-lt"/>
                <a:ea typeface="+mn-ea"/>
                <a:cs typeface="+mn-cs"/>
              </a:rPr>
              <a:t>*:/META-INF/spring/*.xml"})</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public abstract class </a:t>
            </a:r>
            <a:r>
              <a:rPr lang="en-US" altLang="zh-CN" sz="900" b="0" i="0" kern="1200" dirty="0" err="1">
                <a:solidFill>
                  <a:schemeClr val="tx1"/>
                </a:solidFill>
                <a:effectLst/>
                <a:latin typeface="+mn-lt"/>
                <a:ea typeface="+mn-ea"/>
                <a:cs typeface="+mn-cs"/>
              </a:rPr>
              <a:t>BaseWebTest</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private static final Logger LOG = </a:t>
            </a:r>
            <a:r>
              <a:rPr lang="en-US" altLang="zh-CN" sz="900" b="0" i="0" kern="1200" dirty="0" err="1">
                <a:solidFill>
                  <a:schemeClr val="tx1"/>
                </a:solidFill>
                <a:effectLst/>
                <a:latin typeface="+mn-lt"/>
                <a:ea typeface="+mn-ea"/>
                <a:cs typeface="+mn-cs"/>
              </a:rPr>
              <a:t>LoggerFactory.getLogger</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AbstractContextControllerTest.class</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protected </a:t>
            </a:r>
            <a:r>
              <a:rPr lang="en-US" altLang="zh-CN" sz="900" b="0" i="0" kern="1200" dirty="0" err="1">
                <a:solidFill>
                  <a:schemeClr val="tx1"/>
                </a:solidFill>
                <a:effectLst/>
                <a:latin typeface="+mn-lt"/>
                <a:ea typeface="+mn-ea"/>
                <a:cs typeface="+mn-cs"/>
              </a:rPr>
              <a:t>MockMvc</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mockMvc</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Autowired</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protected </a:t>
            </a:r>
            <a:r>
              <a:rPr lang="en-US" altLang="zh-CN" sz="900" b="0" i="0" kern="1200" dirty="0" err="1">
                <a:solidFill>
                  <a:schemeClr val="tx1"/>
                </a:solidFill>
                <a:effectLst/>
                <a:latin typeface="+mn-lt"/>
                <a:ea typeface="+mn-ea"/>
                <a:cs typeface="+mn-cs"/>
              </a:rPr>
              <a:t>WebApplicationContext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wac</a:t>
            </a: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初始化</a:t>
            </a:r>
            <a:r>
              <a:rPr lang="en-US" altLang="zh-CN" sz="900" b="0" i="0" kern="1200" dirty="0">
                <a:solidFill>
                  <a:schemeClr val="tx1"/>
                </a:solidFill>
                <a:effectLst/>
                <a:latin typeface="+mn-lt"/>
                <a:ea typeface="+mn-ea"/>
                <a:cs typeface="+mn-cs"/>
              </a:rPr>
              <a:t>mock</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@Before</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public void </a:t>
            </a:r>
            <a:r>
              <a:rPr lang="en-US" altLang="zh-CN" sz="900" b="0" i="0" kern="1200" dirty="0" err="1">
                <a:solidFill>
                  <a:schemeClr val="tx1"/>
                </a:solidFill>
                <a:effectLst/>
                <a:latin typeface="+mn-lt"/>
                <a:ea typeface="+mn-ea"/>
                <a:cs typeface="+mn-cs"/>
              </a:rPr>
              <a:t>init</a:t>
            </a:r>
            <a:r>
              <a:rPr lang="en-US" altLang="zh-CN" sz="900" b="0" i="0" kern="1200" dirty="0">
                <a:solidFill>
                  <a:schemeClr val="tx1"/>
                </a:solidFill>
                <a:effectLst/>
                <a:latin typeface="+mn-lt"/>
                <a:ea typeface="+mn-ea"/>
                <a:cs typeface="+mn-cs"/>
              </a:rPr>
              <a:t>() 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mockMvc</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webAppContextSetup</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wac</a:t>
            </a:r>
            <a:r>
              <a:rPr lang="en-US" altLang="zh-CN" sz="900" b="0" i="0" kern="1200" dirty="0">
                <a:solidFill>
                  <a:schemeClr val="tx1"/>
                </a:solidFill>
                <a:effectLst/>
                <a:latin typeface="+mn-lt"/>
                <a:ea typeface="+mn-ea"/>
                <a:cs typeface="+mn-cs"/>
              </a:rPr>
              <a:t>).build();</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p>
          <a:p>
            <a:r>
              <a:rPr lang="en-US" altLang="zh-CN" sz="900" b="0" i="0" kern="1200" dirty="0">
                <a:solidFill>
                  <a:schemeClr val="tx1"/>
                </a:solidFill>
                <a:effectLst/>
                <a:latin typeface="+mn-lt"/>
                <a:ea typeface="+mn-ea"/>
                <a:cs typeface="+mn-cs"/>
              </a:rPr>
              <a:t> </a:t>
            </a:r>
          </a:p>
          <a:p>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创建</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a:t>
            </a:r>
            <a:r>
              <a:rPr lang="zh-CN" altLang="en-US" sz="900" b="0" i="0" kern="1200" dirty="0">
                <a:solidFill>
                  <a:schemeClr val="tx1"/>
                </a:solidFill>
                <a:effectLst/>
                <a:latin typeface="+mn-lt"/>
                <a:ea typeface="+mn-ea"/>
                <a:cs typeface="+mn-cs"/>
              </a:rPr>
              <a:t>安全认证、</a:t>
            </a:r>
            <a:r>
              <a:rPr lang="en-US" altLang="zh-CN" sz="900" b="0" i="0" kern="1200" dirty="0">
                <a:solidFill>
                  <a:schemeClr val="tx1"/>
                </a:solidFill>
                <a:effectLst/>
                <a:latin typeface="+mn-lt"/>
                <a:ea typeface="+mn-ea"/>
                <a:cs typeface="+mn-cs"/>
              </a:rPr>
              <a:t>session</a:t>
            </a:r>
            <a:r>
              <a:rPr lang="zh-CN" altLang="en-US" sz="900" b="0" i="0" kern="1200" dirty="0">
                <a:solidFill>
                  <a:schemeClr val="tx1"/>
                </a:solidFill>
                <a:effectLst/>
                <a:latin typeface="+mn-lt"/>
                <a:ea typeface="+mn-ea"/>
                <a:cs typeface="+mn-cs"/>
              </a:rPr>
              <a:t>对象不空则设值</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protected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createRequestBuilder</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RequestMethod</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requestMethod</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Map&lt;String, String&gt; params, Authentication </a:t>
            </a:r>
            <a:r>
              <a:rPr lang="en-US" altLang="zh-CN" sz="900" b="0" i="0" kern="1200" dirty="0" err="1">
                <a:solidFill>
                  <a:schemeClr val="tx1"/>
                </a:solidFill>
                <a:effectLst/>
                <a:latin typeface="+mn-lt"/>
                <a:ea typeface="+mn-ea"/>
                <a:cs typeface="+mn-cs"/>
              </a:rPr>
              <a:t>authentication,MockHttpSession</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mockHttpSession</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null;</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GET</a:t>
            </a:r>
            <a:r>
              <a:rPr lang="zh-CN" altLang="en-US" sz="900" b="0" i="0" kern="1200" dirty="0">
                <a:solidFill>
                  <a:schemeClr val="tx1"/>
                </a:solidFill>
                <a:effectLst/>
                <a:latin typeface="+mn-lt"/>
                <a:ea typeface="+mn-ea"/>
                <a:cs typeface="+mn-cs"/>
              </a:rPr>
              <a:t>、</a:t>
            </a:r>
            <a:r>
              <a:rPr lang="en-US" altLang="zh-CN" sz="900" b="0" i="0" kern="1200" dirty="0">
                <a:solidFill>
                  <a:schemeClr val="tx1"/>
                </a:solidFill>
                <a:effectLst/>
                <a:latin typeface="+mn-lt"/>
                <a:ea typeface="+mn-ea"/>
                <a:cs typeface="+mn-cs"/>
              </a:rPr>
              <a:t>POST</a:t>
            </a:r>
            <a:r>
              <a:rPr lang="zh-CN" altLang="en-US" sz="900" b="0" i="0" kern="1200" dirty="0">
                <a:solidFill>
                  <a:schemeClr val="tx1"/>
                </a:solidFill>
                <a:effectLst/>
                <a:latin typeface="+mn-lt"/>
                <a:ea typeface="+mn-ea"/>
                <a:cs typeface="+mn-cs"/>
              </a:rPr>
              <a:t>请求</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if (</a:t>
            </a:r>
            <a:r>
              <a:rPr lang="en-US" altLang="zh-CN" sz="900" b="0" i="0" kern="1200" dirty="0" err="1">
                <a:solidFill>
                  <a:schemeClr val="tx1"/>
                </a:solidFill>
                <a:effectLst/>
                <a:latin typeface="+mn-lt"/>
                <a:ea typeface="+mn-ea"/>
                <a:cs typeface="+mn-cs"/>
              </a:rPr>
              <a:t>requestMethod</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RequestMethod.GET</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MockMvcRequestBuilders.get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else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MockMvcRequestBuilders.post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添加请求参数</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for (Entry&lt;String, String&gt; entry : </a:t>
            </a:r>
            <a:r>
              <a:rPr lang="en-US" altLang="zh-CN" sz="900" b="0" i="0" kern="1200" dirty="0" err="1">
                <a:solidFill>
                  <a:schemeClr val="tx1"/>
                </a:solidFill>
                <a:effectLst/>
                <a:latin typeface="+mn-lt"/>
                <a:ea typeface="+mn-ea"/>
                <a:cs typeface="+mn-cs"/>
              </a:rPr>
              <a:t>params.entrySet</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builder.param</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entry.getKey</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entry.getValue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添加安全认证对象</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if (authentication != null)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builder.with</a:t>
            </a:r>
            <a:r>
              <a:rPr lang="en-US" altLang="zh-CN" sz="900" b="0" i="0" kern="1200" dirty="0">
                <a:solidFill>
                  <a:schemeClr val="tx1"/>
                </a:solidFill>
                <a:effectLst/>
                <a:latin typeface="+mn-lt"/>
                <a:ea typeface="+mn-ea"/>
                <a:cs typeface="+mn-cs"/>
              </a:rPr>
              <a:t>(authentication(authentication));</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a:t>
            </a:r>
            <a:r>
              <a:rPr lang="en-US" altLang="zh-CN" sz="900" b="0" i="0" kern="1200" dirty="0">
                <a:solidFill>
                  <a:schemeClr val="tx1"/>
                </a:solidFill>
                <a:effectLst/>
                <a:latin typeface="+mn-lt"/>
                <a:ea typeface="+mn-ea"/>
                <a:cs typeface="+mn-cs"/>
              </a:rPr>
              <a:t>session</a:t>
            </a:r>
            <a:r>
              <a:rPr lang="zh-CN" altLang="en-US" sz="900" b="0" i="0" kern="1200" dirty="0">
                <a:solidFill>
                  <a:schemeClr val="tx1"/>
                </a:solidFill>
                <a:effectLst/>
                <a:latin typeface="+mn-lt"/>
                <a:ea typeface="+mn-ea"/>
                <a:cs typeface="+mn-cs"/>
              </a:rPr>
              <a:t>对象</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if (</a:t>
            </a:r>
            <a:r>
              <a:rPr lang="en-US" altLang="zh-CN" sz="900" b="0" i="0" kern="1200" dirty="0" err="1">
                <a:solidFill>
                  <a:schemeClr val="tx1"/>
                </a:solidFill>
                <a:effectLst/>
                <a:latin typeface="+mn-lt"/>
                <a:ea typeface="+mn-ea"/>
                <a:cs typeface="+mn-cs"/>
              </a:rPr>
              <a:t>mockHttpSession</a:t>
            </a:r>
            <a:r>
              <a:rPr lang="en-US" altLang="zh-CN" sz="900" b="0" i="0" kern="1200" dirty="0">
                <a:solidFill>
                  <a:schemeClr val="tx1"/>
                </a:solidFill>
                <a:effectLst/>
                <a:latin typeface="+mn-lt"/>
                <a:ea typeface="+mn-ea"/>
                <a:cs typeface="+mn-cs"/>
              </a:rPr>
              <a:t> != null)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builder.session</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mockHttpSession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builder.header</a:t>
            </a:r>
            <a:r>
              <a:rPr lang="en-US" altLang="zh-CN" sz="900" b="0" i="0" kern="1200" dirty="0">
                <a:solidFill>
                  <a:schemeClr val="tx1"/>
                </a:solidFill>
                <a:effectLst/>
                <a:latin typeface="+mn-lt"/>
                <a:ea typeface="+mn-ea"/>
                <a:cs typeface="+mn-cs"/>
              </a:rPr>
              <a:t>("X-Requested-With", "</a:t>
            </a:r>
            <a:r>
              <a:rPr lang="en-US" altLang="zh-CN" sz="900" b="0" i="0" kern="1200" dirty="0" err="1">
                <a:solidFill>
                  <a:schemeClr val="tx1"/>
                </a:solidFill>
                <a:effectLst/>
                <a:latin typeface="+mn-lt"/>
                <a:ea typeface="+mn-ea"/>
                <a:cs typeface="+mn-cs"/>
              </a:rPr>
              <a:t>XMLHttpRequest</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p>
          <a:p>
            <a:r>
              <a:rPr lang="en-US" altLang="zh-CN" sz="900" b="0" i="0" kern="1200" dirty="0">
                <a:solidFill>
                  <a:schemeClr val="tx1"/>
                </a:solidFill>
                <a:effectLst/>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37</a:t>
            </a:fld>
            <a:endParaRPr lang="zh-CN" altLang="en-US"/>
          </a:p>
        </p:txBody>
      </p:sp>
    </p:spTree>
    <p:extLst>
      <p:ext uri="{BB962C8B-B14F-4D97-AF65-F5344CB8AC3E}">
        <p14:creationId xmlns:p14="http://schemas.microsoft.com/office/powerpoint/2010/main" val="3492227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获取注册交易权限</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@Test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public void test1001GetTradeAuth() 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 "/register/</a:t>
            </a:r>
            <a:r>
              <a:rPr lang="en-US" altLang="zh-CN" sz="900" b="0" i="0" kern="1200" dirty="0" err="1">
                <a:solidFill>
                  <a:schemeClr val="tx1"/>
                </a:solidFill>
                <a:effectLst/>
                <a:latin typeface="+mn-lt"/>
                <a:ea typeface="+mn-ea"/>
                <a:cs typeface="+mn-cs"/>
              </a:rPr>
              <a:t>getTradeAuth</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 new HashMap&lt;String, String&gt;();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发起请求</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mockMvc.perform</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createPostRequestBuilderNoSession</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andReturn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校验期望结果数据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Map&lt;String, Object&gt;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 = new HashMap&lt;String, Object&gt;();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StringConstant.CODE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StringConstant.COMMON_OUT_SUCCESS_CODE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assertResult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a:t>
            </a:r>
            <a:r>
              <a:rPr lang="en-US" altLang="zh-CN" sz="900" b="0" i="0" kern="1200" dirty="0">
                <a:solidFill>
                  <a:schemeClr val="tx1"/>
                </a:solidFill>
                <a:effectLst/>
                <a:latin typeface="+mn-lt"/>
                <a:ea typeface="+mn-ea"/>
                <a:cs typeface="+mn-cs"/>
              </a:rPr>
              <a:t>Builder(POST</a:t>
            </a:r>
            <a:r>
              <a:rPr lang="zh-CN" altLang="en-US" sz="900" b="0" i="0" kern="1200" dirty="0">
                <a:solidFill>
                  <a:schemeClr val="tx1"/>
                </a:solidFill>
                <a:effectLst/>
                <a:latin typeface="+mn-lt"/>
                <a:ea typeface="+mn-ea"/>
                <a:cs typeface="+mn-cs"/>
              </a:rPr>
              <a:t>请求</a:t>
            </a:r>
            <a:r>
              <a:rPr lang="en-US" altLang="zh-CN" sz="900" b="0" i="0" kern="1200" dirty="0">
                <a:solidFill>
                  <a:schemeClr val="tx1"/>
                </a:solidFill>
                <a:effectLst/>
                <a:latin typeface="+mn-lt"/>
                <a:ea typeface="+mn-ea"/>
                <a:cs typeface="+mn-cs"/>
              </a:rPr>
              <a:t>,</a:t>
            </a:r>
            <a:r>
              <a:rPr lang="zh-CN" altLang="en-US" sz="900" b="0" i="0" kern="1200" dirty="0">
                <a:solidFill>
                  <a:schemeClr val="tx1"/>
                </a:solidFill>
                <a:effectLst/>
                <a:latin typeface="+mn-lt"/>
                <a:ea typeface="+mn-ea"/>
                <a:cs typeface="+mn-cs"/>
              </a:rPr>
              <a:t>无</a:t>
            </a:r>
            <a:r>
              <a:rPr lang="en-US" altLang="zh-CN" sz="900" b="0" i="0" kern="1200" dirty="0">
                <a:solidFill>
                  <a:schemeClr val="tx1"/>
                </a:solidFill>
                <a:effectLst/>
                <a:latin typeface="+mn-lt"/>
                <a:ea typeface="+mn-ea"/>
                <a:cs typeface="+mn-cs"/>
              </a:rPr>
              <a:t>session</a:t>
            </a:r>
            <a:r>
              <a:rPr lang="zh-CN" altLang="en-US" sz="900" b="0" i="0" kern="1200" dirty="0">
                <a:solidFill>
                  <a:schemeClr val="tx1"/>
                </a:solidFill>
                <a:effectLst/>
                <a:latin typeface="+mn-lt"/>
                <a:ea typeface="+mn-ea"/>
                <a:cs typeface="+mn-cs"/>
              </a:rPr>
              <a:t>信息</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a:t>
            </a:r>
            <a:r>
              <a:rPr lang="en-US" altLang="zh-CN" sz="900" b="0" i="0" kern="1200" dirty="0" err="1">
                <a:solidFill>
                  <a:schemeClr val="tx1"/>
                </a:solidFill>
                <a:effectLst/>
                <a:latin typeface="+mn-lt"/>
                <a:ea typeface="+mn-ea"/>
                <a:cs typeface="+mn-cs"/>
              </a:rPr>
              <a:t>uri</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a:t>
            </a:r>
            <a:r>
              <a:rPr lang="en-US" altLang="zh-CN" sz="900" b="0" i="0" kern="1200" dirty="0" err="1">
                <a:solidFill>
                  <a:schemeClr val="tx1"/>
                </a:solidFill>
                <a:effectLst/>
                <a:latin typeface="+mn-lt"/>
                <a:ea typeface="+mn-ea"/>
                <a:cs typeface="+mn-cs"/>
              </a:rPr>
              <a:t>paramsMap</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@return</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private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createPostRequestBuilderNoSession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a:t>
            </a:r>
            <a:r>
              <a:rPr lang="en-US" altLang="zh-CN" sz="900" b="0" i="0" kern="1200" dirty="0" err="1">
                <a:solidFill>
                  <a:schemeClr val="tx1"/>
                </a:solidFill>
                <a:effectLst/>
                <a:latin typeface="+mn-lt"/>
                <a:ea typeface="+mn-ea"/>
                <a:cs typeface="+mn-cs"/>
              </a:rPr>
              <a:t>createRequestBuilder</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RequestMethod.POST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null, null);</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38</a:t>
            </a:fld>
            <a:endParaRPr lang="zh-CN" altLang="en-US"/>
          </a:p>
        </p:txBody>
      </p:sp>
    </p:spTree>
    <p:extLst>
      <p:ext uri="{BB962C8B-B14F-4D97-AF65-F5344CB8AC3E}">
        <p14:creationId xmlns:p14="http://schemas.microsoft.com/office/powerpoint/2010/main" val="17624924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确认签约</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@Test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public void test2101EnsureSign() 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 "/register/</a:t>
            </a:r>
            <a:r>
              <a:rPr lang="en-US" altLang="zh-CN" sz="900" b="0" i="0" kern="1200" dirty="0" err="1">
                <a:solidFill>
                  <a:schemeClr val="tx1"/>
                </a:solidFill>
                <a:effectLst/>
                <a:latin typeface="+mn-lt"/>
                <a:ea typeface="+mn-ea"/>
                <a:cs typeface="+mn-cs"/>
              </a:rPr>
              <a:t>ensureSign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 new HashMap&lt;String, String&gt;();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getRequestBuilderAndSetEnsureSignSession</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getFakeHistoryNo</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发起请求</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mockMvc.perform</a:t>
            </a:r>
            <a:r>
              <a:rPr lang="en-US" altLang="zh-CN" sz="900" b="0" i="0" kern="1200" dirty="0">
                <a:solidFill>
                  <a:schemeClr val="tx1"/>
                </a:solidFill>
                <a:effectLst/>
                <a:latin typeface="+mn-lt"/>
                <a:ea typeface="+mn-ea"/>
                <a:cs typeface="+mn-cs"/>
              </a:rPr>
              <a:t>(builder).</a:t>
            </a:r>
            <a:r>
              <a:rPr lang="en-US" altLang="zh-CN" sz="900" b="0" i="0" kern="1200" dirty="0" err="1">
                <a:solidFill>
                  <a:schemeClr val="tx1"/>
                </a:solidFill>
                <a:effectLst/>
                <a:latin typeface="+mn-lt"/>
                <a:ea typeface="+mn-ea"/>
                <a:cs typeface="+mn-cs"/>
              </a:rPr>
              <a:t>andReturn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校验期望结果数据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Map&lt;String, Object&gt;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 = new HashMap&lt;String, Object&gt;();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StringConstant.CODE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StringConstant.COMMON_OUT_SUCCESS_CODE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assertResult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private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getRequestBuilderAndSetSession</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historyNo</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获取安全认证对象</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MchUserAuthentication</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mchUserAuth</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getMchUserAuth</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session</a:t>
            </a:r>
            <a:r>
              <a:rPr lang="zh-CN" altLang="en-US" sz="900" b="0" i="0" kern="1200" dirty="0">
                <a:solidFill>
                  <a:schemeClr val="tx1"/>
                </a:solidFill>
                <a:effectLst/>
                <a:latin typeface="+mn-lt"/>
                <a:ea typeface="+mn-ea"/>
                <a:cs typeface="+mn-cs"/>
              </a:rPr>
              <a:t>信息</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MockHttpSession</a:t>
            </a:r>
            <a:r>
              <a:rPr lang="en-US" altLang="zh-CN" sz="900" b="0" i="0" kern="1200" dirty="0">
                <a:solidFill>
                  <a:schemeClr val="tx1"/>
                </a:solidFill>
                <a:effectLst/>
                <a:latin typeface="+mn-lt"/>
                <a:ea typeface="+mn-ea"/>
                <a:cs typeface="+mn-cs"/>
              </a:rPr>
              <a:t> session = new </a:t>
            </a:r>
            <a:r>
              <a:rPr lang="en-US" altLang="zh-CN" sz="900" b="0" i="0" kern="1200" dirty="0" err="1">
                <a:solidFill>
                  <a:schemeClr val="tx1"/>
                </a:solidFill>
                <a:effectLst/>
                <a:latin typeface="+mn-lt"/>
                <a:ea typeface="+mn-ea"/>
                <a:cs typeface="+mn-cs"/>
              </a:rPr>
              <a:t>MockHttpSession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session.setAttribute</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StringConstant.CONTEXT_NAME_REGISTER_FACE_QR_HISTORY_NO</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historyNo</a:t>
            </a: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记录号</a:t>
            </a:r>
            <a:br>
              <a:rPr lang="zh-CN" altLang="en-US" sz="900" b="0" i="0" kern="1200" dirty="0">
                <a:solidFill>
                  <a:schemeClr val="tx1"/>
                </a:solidFill>
                <a:effectLst/>
                <a:latin typeface="+mn-lt"/>
                <a:ea typeface="+mn-ea"/>
                <a:cs typeface="+mn-cs"/>
              </a:rPr>
            </a:b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 </a:t>
            </a:r>
            <a:r>
              <a:rPr lang="zh-CN" altLang="en-US" sz="900" b="0" i="0" kern="1200" dirty="0">
                <a:solidFill>
                  <a:schemeClr val="tx1"/>
                </a:solidFill>
                <a:effectLst/>
                <a:latin typeface="+mn-lt"/>
                <a:ea typeface="+mn-ea"/>
                <a:cs typeface="+mn-cs"/>
              </a:rPr>
              <a:t>获取请求</a:t>
            </a:r>
            <a:r>
              <a:rPr lang="en-US" altLang="zh-CN" sz="900" b="0" i="0" kern="1200" dirty="0" err="1">
                <a:solidFill>
                  <a:schemeClr val="tx1"/>
                </a:solidFill>
                <a:effectLst/>
                <a:latin typeface="+mn-lt"/>
                <a:ea typeface="+mn-ea"/>
                <a:cs typeface="+mn-cs"/>
              </a:rPr>
              <a:t>Builder,GET</a:t>
            </a:r>
            <a:r>
              <a:rPr lang="zh-CN" altLang="en-US" sz="900" b="0" i="0" kern="1200" dirty="0">
                <a:solidFill>
                  <a:schemeClr val="tx1"/>
                </a:solidFill>
                <a:effectLst/>
                <a:latin typeface="+mn-lt"/>
                <a:ea typeface="+mn-ea"/>
                <a:cs typeface="+mn-cs"/>
              </a:rPr>
              <a:t>请求</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createRequestBuilder</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RequestMethod.POST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mchUserAuth</a:t>
            </a:r>
            <a:r>
              <a:rPr lang="en-US" altLang="zh-CN" sz="900" b="0" i="0" kern="1200" dirty="0">
                <a:solidFill>
                  <a:schemeClr val="tx1"/>
                </a:solidFill>
                <a:effectLst/>
                <a:latin typeface="+mn-lt"/>
                <a:ea typeface="+mn-ea"/>
                <a:cs typeface="+mn-cs"/>
              </a:rPr>
              <a:t>, session);</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endParaRPr lang="en-US" altLang="zh-CN" sz="9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17338175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创建</a:t>
            </a:r>
            <a:r>
              <a:rPr lang="en-US" altLang="zh-CN" sz="900" b="0" i="0" kern="1200" dirty="0">
                <a:solidFill>
                  <a:schemeClr val="tx1"/>
                </a:solidFill>
                <a:effectLst/>
                <a:latin typeface="+mn-lt"/>
                <a:ea typeface="+mn-ea"/>
                <a:cs typeface="+mn-cs"/>
              </a:rPr>
              <a:t>file</a:t>
            </a:r>
            <a:r>
              <a:rPr lang="zh-CN" altLang="en-US" sz="900" b="0" i="0" kern="1200" dirty="0">
                <a:solidFill>
                  <a:schemeClr val="tx1"/>
                </a:solidFill>
                <a:effectLst/>
                <a:latin typeface="+mn-lt"/>
                <a:ea typeface="+mn-ea"/>
                <a:cs typeface="+mn-cs"/>
              </a:rPr>
              <a:t>请求的</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a:t>
            </a:r>
            <a:r>
              <a:rPr lang="zh-CN" altLang="en-US" sz="900" b="0" i="0" kern="1200" dirty="0">
                <a:solidFill>
                  <a:schemeClr val="tx1"/>
                </a:solidFill>
                <a:effectLst/>
                <a:latin typeface="+mn-lt"/>
                <a:ea typeface="+mn-ea"/>
                <a:cs typeface="+mn-cs"/>
              </a:rPr>
              <a:t>多个文件对象</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a:t>
            </a:r>
            <a:r>
              <a:rPr lang="en-US" altLang="zh-CN" sz="900" b="0" i="0" kern="1200" dirty="0" err="1">
                <a:solidFill>
                  <a:schemeClr val="tx1"/>
                </a:solidFill>
                <a:effectLst/>
                <a:latin typeface="+mn-lt"/>
                <a:ea typeface="+mn-ea"/>
                <a:cs typeface="+mn-cs"/>
              </a:rPr>
              <a:t>uri</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params</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a:t>
            </a:r>
            <a:r>
              <a:rPr lang="en-US" altLang="zh-CN" sz="900" b="0" i="0" kern="1200" dirty="0" err="1">
                <a:solidFill>
                  <a:schemeClr val="tx1"/>
                </a:solidFill>
                <a:effectLst/>
                <a:latin typeface="+mn-lt"/>
                <a:ea typeface="+mn-ea"/>
                <a:cs typeface="+mn-cs"/>
              </a:rPr>
              <a:t>mockFiles</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@return</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protected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fileUpload</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Map&lt;String, String&gt; params,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创建文件上传请求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MockMultipartHttpServletRequestBuilder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MockMvcRequestBuilders.fileUpload</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添加请求参数</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for (Entry&lt;String, String&gt; entry : </a:t>
            </a:r>
            <a:r>
              <a:rPr lang="en-US" altLang="zh-CN" sz="900" b="0" i="0" kern="1200" dirty="0" err="1">
                <a:solidFill>
                  <a:schemeClr val="tx1"/>
                </a:solidFill>
                <a:effectLst/>
                <a:latin typeface="+mn-lt"/>
                <a:ea typeface="+mn-ea"/>
                <a:cs typeface="+mn-cs"/>
              </a:rPr>
              <a:t>params.entrySet</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builder.param</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entry.getKey</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entry.getValue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a:t>
            </a:r>
            <a:r>
              <a:rPr lang="en-US" altLang="zh-CN" sz="900" b="0" i="0" kern="1200" dirty="0">
                <a:solidFill>
                  <a:schemeClr val="tx1"/>
                </a:solidFill>
                <a:effectLst/>
                <a:latin typeface="+mn-lt"/>
                <a:ea typeface="+mn-ea"/>
                <a:cs typeface="+mn-cs"/>
              </a:rPr>
              <a:t>Mock</a:t>
            </a:r>
            <a:r>
              <a:rPr lang="zh-CN" altLang="en-US" sz="900" b="0" i="0" kern="1200" dirty="0">
                <a:solidFill>
                  <a:schemeClr val="tx1"/>
                </a:solidFill>
                <a:effectLst/>
                <a:latin typeface="+mn-lt"/>
                <a:ea typeface="+mn-ea"/>
                <a:cs typeface="+mn-cs"/>
              </a:rPr>
              <a:t>的文件对象</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for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mockFile:mockFiles</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builder.file</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mockFile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上传注册照片</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 </a:t>
            </a:r>
            <a:r>
              <a:rPr lang="en-US" altLang="zh-CN" sz="900" b="0" i="0" kern="1200" dirty="0">
                <a:solidFill>
                  <a:schemeClr val="tx1"/>
                </a:solidFill>
                <a:effectLst/>
                <a:latin typeface="+mn-lt"/>
                <a:ea typeface="+mn-ea"/>
                <a:cs typeface="+mn-cs"/>
              </a:rPr>
              <a:t>@throws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@Test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public void test1201UploadRegisterImgForIdentity() 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 "/register/</a:t>
            </a:r>
            <a:r>
              <a:rPr lang="en-US" altLang="zh-CN" sz="900" b="0" i="0" kern="1200" dirty="0" err="1">
                <a:solidFill>
                  <a:schemeClr val="tx1"/>
                </a:solidFill>
                <a:effectLst/>
                <a:latin typeface="+mn-lt"/>
                <a:ea typeface="+mn-ea"/>
                <a:cs typeface="+mn-cs"/>
              </a:rPr>
              <a:t>uploadRegisterImg</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 new HashMap&lt;String, String&gt;();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certType</a:t>
            </a:r>
            <a:r>
              <a:rPr lang="en-US" altLang="zh-CN" sz="900" b="0" i="0" kern="1200" dirty="0">
                <a:solidFill>
                  <a:schemeClr val="tx1"/>
                </a:solidFill>
                <a:effectLst/>
                <a:latin typeface="+mn-lt"/>
                <a:ea typeface="+mn-ea"/>
                <a:cs typeface="+mn-cs"/>
              </a:rPr>
              <a:t>", "1"); // </a:t>
            </a:r>
            <a:r>
              <a:rPr lang="zh-CN" altLang="en-US" sz="900" b="0" i="0" kern="1200" dirty="0">
                <a:solidFill>
                  <a:schemeClr val="tx1"/>
                </a:solidFill>
                <a:effectLst/>
                <a:latin typeface="+mn-lt"/>
                <a:ea typeface="+mn-ea"/>
                <a:cs typeface="+mn-cs"/>
              </a:rPr>
              <a:t>证件类型</a:t>
            </a:r>
            <a:r>
              <a:rPr lang="en-US" altLang="zh-CN" sz="900" b="0" i="0" kern="1200" dirty="0">
                <a:solidFill>
                  <a:schemeClr val="tx1"/>
                </a:solidFill>
                <a:effectLst/>
                <a:latin typeface="+mn-lt"/>
                <a:ea typeface="+mn-ea"/>
                <a:cs typeface="+mn-cs"/>
              </a:rPr>
              <a:t>,1:</a:t>
            </a:r>
            <a:r>
              <a:rPr lang="zh-CN" altLang="en-US" sz="900" b="0" i="0" kern="1200" dirty="0">
                <a:solidFill>
                  <a:schemeClr val="tx1"/>
                </a:solidFill>
                <a:effectLst/>
                <a:latin typeface="+mn-lt"/>
                <a:ea typeface="+mn-ea"/>
                <a:cs typeface="+mn-cs"/>
              </a:rPr>
              <a:t>身份证 </a:t>
            </a:r>
            <a:r>
              <a:rPr lang="en-US" altLang="zh-CN" sz="900" b="0" i="0" kern="1200" dirty="0">
                <a:solidFill>
                  <a:schemeClr val="tx1"/>
                </a:solidFill>
                <a:effectLst/>
                <a:latin typeface="+mn-lt"/>
                <a:ea typeface="+mn-ea"/>
                <a:cs typeface="+mn-cs"/>
              </a:rPr>
              <a:t>2:</a:t>
            </a:r>
            <a:r>
              <a:rPr lang="zh-CN" altLang="en-US" sz="900" b="0" i="0" kern="1200" dirty="0">
                <a:solidFill>
                  <a:schemeClr val="tx1"/>
                </a:solidFill>
                <a:effectLst/>
                <a:latin typeface="+mn-lt"/>
                <a:ea typeface="+mn-ea"/>
                <a:cs typeface="+mn-cs"/>
              </a:rPr>
              <a:t>营业执照</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genContextToken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a:t>
            </a:r>
            <a:r>
              <a:rPr lang="en-US" altLang="zh-CN" sz="900" b="0" i="0" kern="1200" dirty="0">
                <a:solidFill>
                  <a:schemeClr val="tx1"/>
                </a:solidFill>
                <a:effectLst/>
                <a:latin typeface="+mn-lt"/>
                <a:ea typeface="+mn-ea"/>
                <a:cs typeface="+mn-cs"/>
              </a:rPr>
              <a:t>Mock</a:t>
            </a:r>
            <a:r>
              <a:rPr lang="zh-CN" altLang="en-US" sz="900" b="0" i="0" kern="1200" dirty="0">
                <a:solidFill>
                  <a:schemeClr val="tx1"/>
                </a:solidFill>
                <a:effectLst/>
                <a:latin typeface="+mn-lt"/>
                <a:ea typeface="+mn-ea"/>
                <a:cs typeface="+mn-cs"/>
              </a:rPr>
              <a:t>的文件对象数组</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getCertImgMockFiles</a:t>
            </a:r>
            <a:r>
              <a:rPr lang="en-US" altLang="zh-CN" sz="900" b="0" i="0" kern="1200" dirty="0">
                <a:solidFill>
                  <a:schemeClr val="tx1"/>
                </a:solidFill>
                <a:effectLst/>
                <a:latin typeface="+mn-lt"/>
                <a:ea typeface="+mn-ea"/>
                <a:cs typeface="+mn-cs"/>
              </a:rPr>
              <a:t>(new String[]{ "</a:t>
            </a:r>
            <a:r>
              <a:rPr lang="en-US" altLang="zh-CN" sz="900" b="0" i="0" kern="1200" dirty="0" err="1">
                <a:solidFill>
                  <a:schemeClr val="tx1"/>
                </a:solidFill>
                <a:effectLst/>
                <a:latin typeface="+mn-lt"/>
                <a:ea typeface="+mn-ea"/>
                <a:cs typeface="+mn-cs"/>
              </a:rPr>
              <a:t>src</a:t>
            </a:r>
            <a:r>
              <a:rPr lang="en-US" altLang="zh-CN" sz="900" b="0" i="0" kern="1200" dirty="0">
                <a:solidFill>
                  <a:schemeClr val="tx1"/>
                </a:solidFill>
                <a:effectLst/>
                <a:latin typeface="+mn-lt"/>
                <a:ea typeface="+mn-ea"/>
                <a:cs typeface="+mn-cs"/>
              </a:rPr>
              <a:t>/test/resources/register/identity1.jpg",  "</a:t>
            </a:r>
            <a:r>
              <a:rPr lang="en-US" altLang="zh-CN" sz="900" b="0" i="0" kern="1200" dirty="0" err="1">
                <a:solidFill>
                  <a:schemeClr val="tx1"/>
                </a:solidFill>
                <a:effectLst/>
                <a:latin typeface="+mn-lt"/>
                <a:ea typeface="+mn-ea"/>
                <a:cs typeface="+mn-cs"/>
              </a:rPr>
              <a:t>src</a:t>
            </a:r>
            <a:r>
              <a:rPr lang="en-US" altLang="zh-CN" sz="900" b="0" i="0" kern="1200" dirty="0">
                <a:solidFill>
                  <a:schemeClr val="tx1"/>
                </a:solidFill>
                <a:effectLst/>
                <a:latin typeface="+mn-lt"/>
                <a:ea typeface="+mn-ea"/>
                <a:cs typeface="+mn-cs"/>
              </a:rPr>
              <a:t>/test/resources/register/identity2.jpg")});</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获取文件上传请求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getFileUploadBuilderAndSetSession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发起请求</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mockMvc.perform</a:t>
            </a:r>
            <a:r>
              <a:rPr lang="en-US" altLang="zh-CN" sz="900" b="0" i="0" kern="1200" dirty="0">
                <a:solidFill>
                  <a:schemeClr val="tx1"/>
                </a:solidFill>
                <a:effectLst/>
                <a:latin typeface="+mn-lt"/>
                <a:ea typeface="+mn-ea"/>
                <a:cs typeface="+mn-cs"/>
              </a:rPr>
              <a:t>(builder).</a:t>
            </a:r>
            <a:r>
              <a:rPr lang="en-US" altLang="zh-CN" sz="900" b="0" i="0" kern="1200" dirty="0" err="1">
                <a:solidFill>
                  <a:schemeClr val="tx1"/>
                </a:solidFill>
                <a:effectLst/>
                <a:latin typeface="+mn-lt"/>
                <a:ea typeface="+mn-ea"/>
                <a:cs typeface="+mn-cs"/>
              </a:rPr>
              <a:t>andReturn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校验期望结果数据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Map&lt;String, Object&gt;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 = new HashMap&lt;String, Object&gt;();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StringConstant.CODE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StringConstant.COMMON_OUT_SUCCESS_CODE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assertResult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获取文件上传</a:t>
            </a:r>
            <a:r>
              <a:rPr lang="en-US" altLang="zh-CN" sz="900" b="0" i="0" kern="1200" dirty="0">
                <a:solidFill>
                  <a:schemeClr val="tx1"/>
                </a:solidFill>
                <a:effectLst/>
                <a:latin typeface="+mn-lt"/>
                <a:ea typeface="+mn-ea"/>
                <a:cs typeface="+mn-cs"/>
              </a:rPr>
              <a:t>builder(</a:t>
            </a:r>
            <a:r>
              <a:rPr lang="zh-CN" altLang="en-US" sz="900" b="0" i="0" kern="1200" dirty="0">
                <a:solidFill>
                  <a:schemeClr val="tx1"/>
                </a:solidFill>
                <a:effectLst/>
                <a:latin typeface="+mn-lt"/>
                <a:ea typeface="+mn-ea"/>
                <a:cs typeface="+mn-cs"/>
              </a:rPr>
              <a:t>设值上下文信息</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private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getFileUploadBuilderAndSetSession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fileUpload</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设值上下文信息</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Map&lt;String, Object&gt; </a:t>
            </a:r>
            <a:r>
              <a:rPr lang="en-US" altLang="zh-CN" sz="900" b="0" i="0" kern="1200" dirty="0" err="1">
                <a:solidFill>
                  <a:schemeClr val="tx1"/>
                </a:solidFill>
                <a:effectLst/>
                <a:latin typeface="+mn-lt"/>
                <a:ea typeface="+mn-ea"/>
                <a:cs typeface="+mn-cs"/>
              </a:rPr>
              <a:t>sessionAttributes</a:t>
            </a:r>
            <a:r>
              <a:rPr lang="en-US" altLang="zh-CN" sz="900" b="0" i="0" kern="1200" dirty="0">
                <a:solidFill>
                  <a:schemeClr val="tx1"/>
                </a:solidFill>
                <a:effectLst/>
                <a:latin typeface="+mn-lt"/>
                <a:ea typeface="+mn-ea"/>
                <a:cs typeface="+mn-cs"/>
              </a:rPr>
              <a:t> = new HashMap&lt;String, Object&gt;();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sessionAttributes.put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StringConstant.SESSION_NAME_CONTEXT_MAP.concat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new </a:t>
            </a:r>
            <a:r>
              <a:rPr lang="en-US" altLang="zh-CN" sz="900" b="0" i="0" kern="1200" dirty="0" err="1">
                <a:solidFill>
                  <a:schemeClr val="tx1"/>
                </a:solidFill>
                <a:effectLst/>
                <a:latin typeface="+mn-lt"/>
                <a:ea typeface="+mn-ea"/>
                <a:cs typeface="+mn-cs"/>
              </a:rPr>
              <a:t>RegistAuditInfo</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a:t>
            </a:r>
            <a:r>
              <a:rPr lang="en-US" altLang="zh-CN" sz="900" b="0" i="0" kern="1200" dirty="0">
                <a:solidFill>
                  <a:schemeClr val="tx1"/>
                </a:solidFill>
                <a:effectLst/>
                <a:latin typeface="+mn-lt"/>
                <a:ea typeface="+mn-ea"/>
                <a:cs typeface="+mn-cs"/>
              </a:rPr>
              <a:t>session</a:t>
            </a:r>
            <a:r>
              <a:rPr lang="zh-CN" altLang="en-US" sz="900" b="0" i="0" kern="1200" dirty="0">
                <a:solidFill>
                  <a:schemeClr val="tx1"/>
                </a:solidFill>
                <a:effectLst/>
                <a:latin typeface="+mn-lt"/>
                <a:ea typeface="+mn-ea"/>
                <a:cs typeface="+mn-cs"/>
              </a:rPr>
              <a:t>属性</a:t>
            </a:r>
            <a:r>
              <a:rPr lang="en-US" altLang="zh-CN" sz="900" b="0" i="0" kern="1200" dirty="0">
                <a:solidFill>
                  <a:schemeClr val="tx1"/>
                </a:solidFill>
                <a:effectLst/>
                <a:latin typeface="+mn-lt"/>
                <a:ea typeface="+mn-ea"/>
                <a:cs typeface="+mn-cs"/>
              </a:rPr>
              <a:t>Map</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a:t>
            </a:r>
            <a:r>
              <a:rPr lang="en-US" altLang="zh-CN" sz="900" b="0" i="0" kern="1200" dirty="0" err="1">
                <a:solidFill>
                  <a:schemeClr val="tx1"/>
                </a:solidFill>
                <a:effectLst/>
                <a:latin typeface="+mn-lt"/>
                <a:ea typeface="+mn-ea"/>
                <a:cs typeface="+mn-cs"/>
              </a:rPr>
              <a:t>builder.sessionAttrs</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sessionAttributes</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1588727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创建</a:t>
            </a:r>
            <a:r>
              <a:rPr lang="en-US" altLang="zh-CN" sz="900" b="0" i="0" kern="1200" dirty="0">
                <a:solidFill>
                  <a:schemeClr val="tx1"/>
                </a:solidFill>
                <a:effectLst/>
                <a:latin typeface="+mn-lt"/>
                <a:ea typeface="+mn-ea"/>
                <a:cs typeface="+mn-cs"/>
              </a:rPr>
              <a:t>file</a:t>
            </a:r>
            <a:r>
              <a:rPr lang="zh-CN" altLang="en-US" sz="900" b="0" i="0" kern="1200" dirty="0">
                <a:solidFill>
                  <a:schemeClr val="tx1"/>
                </a:solidFill>
                <a:effectLst/>
                <a:latin typeface="+mn-lt"/>
                <a:ea typeface="+mn-ea"/>
                <a:cs typeface="+mn-cs"/>
              </a:rPr>
              <a:t>请求的</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a:t>
            </a:r>
            <a:r>
              <a:rPr lang="zh-CN" altLang="en-US" sz="900" b="0" i="0" kern="1200" dirty="0">
                <a:solidFill>
                  <a:schemeClr val="tx1"/>
                </a:solidFill>
                <a:effectLst/>
                <a:latin typeface="+mn-lt"/>
                <a:ea typeface="+mn-ea"/>
                <a:cs typeface="+mn-cs"/>
              </a:rPr>
              <a:t>多个文件对象</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a:t>
            </a:r>
            <a:r>
              <a:rPr lang="en-US" altLang="zh-CN" sz="900" b="0" i="0" kern="1200" dirty="0" err="1">
                <a:solidFill>
                  <a:schemeClr val="tx1"/>
                </a:solidFill>
                <a:effectLst/>
                <a:latin typeface="+mn-lt"/>
                <a:ea typeface="+mn-ea"/>
                <a:cs typeface="+mn-cs"/>
              </a:rPr>
              <a:t>uri</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params</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@param </a:t>
            </a:r>
            <a:r>
              <a:rPr lang="en-US" altLang="zh-CN" sz="900" b="0" i="0" kern="1200" dirty="0" err="1">
                <a:solidFill>
                  <a:schemeClr val="tx1"/>
                </a:solidFill>
                <a:effectLst/>
                <a:latin typeface="+mn-lt"/>
                <a:ea typeface="+mn-ea"/>
                <a:cs typeface="+mn-cs"/>
              </a:rPr>
              <a:t>mockFiles</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@return</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protected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fileUpload</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Map&lt;String, String&gt; params,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创建文件上传请求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MockMultipartHttpServletRequestBuilder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MockMvcRequestBuilders.fileUpload</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添加请求参数</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for (Entry&lt;String, String&gt; entry : </a:t>
            </a:r>
            <a:r>
              <a:rPr lang="en-US" altLang="zh-CN" sz="900" b="0" i="0" kern="1200" dirty="0" err="1">
                <a:solidFill>
                  <a:schemeClr val="tx1"/>
                </a:solidFill>
                <a:effectLst/>
                <a:latin typeface="+mn-lt"/>
                <a:ea typeface="+mn-ea"/>
                <a:cs typeface="+mn-cs"/>
              </a:rPr>
              <a:t>params.entrySet</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builder.param</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entry.getKey</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entry.getValue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a:t>
            </a:r>
            <a:r>
              <a:rPr lang="en-US" altLang="zh-CN" sz="900" b="0" i="0" kern="1200" dirty="0">
                <a:solidFill>
                  <a:schemeClr val="tx1"/>
                </a:solidFill>
                <a:effectLst/>
                <a:latin typeface="+mn-lt"/>
                <a:ea typeface="+mn-ea"/>
                <a:cs typeface="+mn-cs"/>
              </a:rPr>
              <a:t>Mock</a:t>
            </a:r>
            <a:r>
              <a:rPr lang="zh-CN" altLang="en-US" sz="900" b="0" i="0" kern="1200" dirty="0">
                <a:solidFill>
                  <a:schemeClr val="tx1"/>
                </a:solidFill>
                <a:effectLst/>
                <a:latin typeface="+mn-lt"/>
                <a:ea typeface="+mn-ea"/>
                <a:cs typeface="+mn-cs"/>
              </a:rPr>
              <a:t>的文件对象</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for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mockFile:mockFiles</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builder.file</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mockFile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上传注册照片</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 </a:t>
            </a:r>
            <a:r>
              <a:rPr lang="en-US" altLang="zh-CN" sz="900" b="0" i="0" kern="1200" dirty="0">
                <a:solidFill>
                  <a:schemeClr val="tx1"/>
                </a:solidFill>
                <a:effectLst/>
                <a:latin typeface="+mn-lt"/>
                <a:ea typeface="+mn-ea"/>
                <a:cs typeface="+mn-cs"/>
              </a:rPr>
              <a:t>@throws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@Test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public void test1201UploadRegisterImgForIdentity() throws Exception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 "/register/</a:t>
            </a:r>
            <a:r>
              <a:rPr lang="en-US" altLang="zh-CN" sz="900" b="0" i="0" kern="1200" dirty="0" err="1">
                <a:solidFill>
                  <a:schemeClr val="tx1"/>
                </a:solidFill>
                <a:effectLst/>
                <a:latin typeface="+mn-lt"/>
                <a:ea typeface="+mn-ea"/>
                <a:cs typeface="+mn-cs"/>
              </a:rPr>
              <a:t>uploadRegisterImg</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 new HashMap&lt;String, String&gt;();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certType</a:t>
            </a:r>
            <a:r>
              <a:rPr lang="en-US" altLang="zh-CN" sz="900" b="0" i="0" kern="1200" dirty="0">
                <a:solidFill>
                  <a:schemeClr val="tx1"/>
                </a:solidFill>
                <a:effectLst/>
                <a:latin typeface="+mn-lt"/>
                <a:ea typeface="+mn-ea"/>
                <a:cs typeface="+mn-cs"/>
              </a:rPr>
              <a:t>", "1"); // </a:t>
            </a:r>
            <a:r>
              <a:rPr lang="zh-CN" altLang="en-US" sz="900" b="0" i="0" kern="1200" dirty="0">
                <a:solidFill>
                  <a:schemeClr val="tx1"/>
                </a:solidFill>
                <a:effectLst/>
                <a:latin typeface="+mn-lt"/>
                <a:ea typeface="+mn-ea"/>
                <a:cs typeface="+mn-cs"/>
              </a:rPr>
              <a:t>证件类型</a:t>
            </a:r>
            <a:r>
              <a:rPr lang="en-US" altLang="zh-CN" sz="900" b="0" i="0" kern="1200" dirty="0">
                <a:solidFill>
                  <a:schemeClr val="tx1"/>
                </a:solidFill>
                <a:effectLst/>
                <a:latin typeface="+mn-lt"/>
                <a:ea typeface="+mn-ea"/>
                <a:cs typeface="+mn-cs"/>
              </a:rPr>
              <a:t>,1:</a:t>
            </a:r>
            <a:r>
              <a:rPr lang="zh-CN" altLang="en-US" sz="900" b="0" i="0" kern="1200" dirty="0">
                <a:solidFill>
                  <a:schemeClr val="tx1"/>
                </a:solidFill>
                <a:effectLst/>
                <a:latin typeface="+mn-lt"/>
                <a:ea typeface="+mn-ea"/>
                <a:cs typeface="+mn-cs"/>
              </a:rPr>
              <a:t>身份证 </a:t>
            </a:r>
            <a:r>
              <a:rPr lang="en-US" altLang="zh-CN" sz="900" b="0" i="0" kern="1200" dirty="0">
                <a:solidFill>
                  <a:schemeClr val="tx1"/>
                </a:solidFill>
                <a:effectLst/>
                <a:latin typeface="+mn-lt"/>
                <a:ea typeface="+mn-ea"/>
                <a:cs typeface="+mn-cs"/>
              </a:rPr>
              <a:t>2:</a:t>
            </a:r>
            <a:r>
              <a:rPr lang="zh-CN" altLang="en-US" sz="900" b="0" i="0" kern="1200" dirty="0">
                <a:solidFill>
                  <a:schemeClr val="tx1"/>
                </a:solidFill>
                <a:effectLst/>
                <a:latin typeface="+mn-lt"/>
                <a:ea typeface="+mn-ea"/>
                <a:cs typeface="+mn-cs"/>
              </a:rPr>
              <a:t>营业执照</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String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genContextToken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a:t>
            </a:r>
            <a:r>
              <a:rPr lang="en-US" altLang="zh-CN" sz="900" b="0" i="0" kern="1200" dirty="0">
                <a:solidFill>
                  <a:schemeClr val="tx1"/>
                </a:solidFill>
                <a:effectLst/>
                <a:latin typeface="+mn-lt"/>
                <a:ea typeface="+mn-ea"/>
                <a:cs typeface="+mn-cs"/>
              </a:rPr>
              <a:t>Mock</a:t>
            </a:r>
            <a:r>
              <a:rPr lang="zh-CN" altLang="en-US" sz="900" b="0" i="0" kern="1200" dirty="0">
                <a:solidFill>
                  <a:schemeClr val="tx1"/>
                </a:solidFill>
                <a:effectLst/>
                <a:latin typeface="+mn-lt"/>
                <a:ea typeface="+mn-ea"/>
                <a:cs typeface="+mn-cs"/>
              </a:rPr>
              <a:t>的文件对象数组</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getCertImgMockFiles</a:t>
            </a:r>
            <a:r>
              <a:rPr lang="en-US" altLang="zh-CN" sz="900" b="0" i="0" kern="1200" dirty="0">
                <a:solidFill>
                  <a:schemeClr val="tx1"/>
                </a:solidFill>
                <a:effectLst/>
                <a:latin typeface="+mn-lt"/>
                <a:ea typeface="+mn-ea"/>
                <a:cs typeface="+mn-cs"/>
              </a:rPr>
              <a:t>(new String[]{ "</a:t>
            </a:r>
            <a:r>
              <a:rPr lang="en-US" altLang="zh-CN" sz="900" b="0" i="0" kern="1200" dirty="0" err="1">
                <a:solidFill>
                  <a:schemeClr val="tx1"/>
                </a:solidFill>
                <a:effectLst/>
                <a:latin typeface="+mn-lt"/>
                <a:ea typeface="+mn-ea"/>
                <a:cs typeface="+mn-cs"/>
              </a:rPr>
              <a:t>src</a:t>
            </a:r>
            <a:r>
              <a:rPr lang="en-US" altLang="zh-CN" sz="900" b="0" i="0" kern="1200" dirty="0">
                <a:solidFill>
                  <a:schemeClr val="tx1"/>
                </a:solidFill>
                <a:effectLst/>
                <a:latin typeface="+mn-lt"/>
                <a:ea typeface="+mn-ea"/>
                <a:cs typeface="+mn-cs"/>
              </a:rPr>
              <a:t>/test/resources/register/identity1.jpg",  "</a:t>
            </a:r>
            <a:r>
              <a:rPr lang="en-US" altLang="zh-CN" sz="900" b="0" i="0" kern="1200" dirty="0" err="1">
                <a:solidFill>
                  <a:schemeClr val="tx1"/>
                </a:solidFill>
                <a:effectLst/>
                <a:latin typeface="+mn-lt"/>
                <a:ea typeface="+mn-ea"/>
                <a:cs typeface="+mn-cs"/>
              </a:rPr>
              <a:t>src</a:t>
            </a:r>
            <a:r>
              <a:rPr lang="en-US" altLang="zh-CN" sz="900" b="0" i="0" kern="1200" dirty="0">
                <a:solidFill>
                  <a:schemeClr val="tx1"/>
                </a:solidFill>
                <a:effectLst/>
                <a:latin typeface="+mn-lt"/>
                <a:ea typeface="+mn-ea"/>
                <a:cs typeface="+mn-cs"/>
              </a:rPr>
              <a:t>/test/resources/register/identity2.jpg")});</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获取文件上传请求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getFileUploadBuilderAndSetSession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发起请求</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 </a:t>
            </a:r>
            <a:r>
              <a:rPr lang="en-US" altLang="zh-CN" sz="900" b="0" i="0" kern="1200" dirty="0" err="1">
                <a:solidFill>
                  <a:schemeClr val="tx1"/>
                </a:solidFill>
                <a:effectLst/>
                <a:latin typeface="+mn-lt"/>
                <a:ea typeface="+mn-ea"/>
                <a:cs typeface="+mn-cs"/>
              </a:rPr>
              <a:t>mockMvc.perform</a:t>
            </a:r>
            <a:r>
              <a:rPr lang="en-US" altLang="zh-CN" sz="900" b="0" i="0" kern="1200" dirty="0">
                <a:solidFill>
                  <a:schemeClr val="tx1"/>
                </a:solidFill>
                <a:effectLst/>
                <a:latin typeface="+mn-lt"/>
                <a:ea typeface="+mn-ea"/>
                <a:cs typeface="+mn-cs"/>
              </a:rPr>
              <a:t>(builder).</a:t>
            </a:r>
            <a:r>
              <a:rPr lang="en-US" altLang="zh-CN" sz="900" b="0" i="0" kern="1200" dirty="0" err="1">
                <a:solidFill>
                  <a:schemeClr val="tx1"/>
                </a:solidFill>
                <a:effectLst/>
                <a:latin typeface="+mn-lt"/>
                <a:ea typeface="+mn-ea"/>
                <a:cs typeface="+mn-cs"/>
              </a:rPr>
              <a:t>andReturn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校验期望结果数据</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Map&lt;String, Object&gt;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 = new HashMap&lt;String, Object&gt;();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StringConstant.CODE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StringConstant.COMMON_OUT_SUCCESS_CODE</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assertResult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mvcResult</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expectMap</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a:t>
            </a:r>
          </a:p>
          <a:p>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获取文件上传</a:t>
            </a:r>
            <a:r>
              <a:rPr lang="en-US" altLang="zh-CN" sz="900" b="0" i="0" kern="1200" dirty="0">
                <a:solidFill>
                  <a:schemeClr val="tx1"/>
                </a:solidFill>
                <a:effectLst/>
                <a:latin typeface="+mn-lt"/>
                <a:ea typeface="+mn-ea"/>
                <a:cs typeface="+mn-cs"/>
              </a:rPr>
              <a:t>builder(</a:t>
            </a:r>
            <a:r>
              <a:rPr lang="zh-CN" altLang="en-US" sz="900" b="0" i="0" kern="1200" dirty="0">
                <a:solidFill>
                  <a:schemeClr val="tx1"/>
                </a:solidFill>
                <a:effectLst/>
                <a:latin typeface="+mn-lt"/>
                <a:ea typeface="+mn-ea"/>
                <a:cs typeface="+mn-cs"/>
              </a:rPr>
              <a:t>设值上下文信息</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private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getFileUploadBuilderAndSetSession</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Map&lt;String, String&gt;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MockMultipartFile</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 String </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获取请求</a:t>
            </a:r>
            <a:r>
              <a:rPr lang="en-US" altLang="zh-CN" sz="900" b="0" i="0" kern="1200" dirty="0">
                <a:solidFill>
                  <a:schemeClr val="tx1"/>
                </a:solidFill>
                <a:effectLst/>
                <a:latin typeface="+mn-lt"/>
                <a:ea typeface="+mn-ea"/>
                <a:cs typeface="+mn-cs"/>
              </a:rPr>
              <a:t>builder</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MockHttpServletRequestBuilder</a:t>
            </a:r>
            <a:r>
              <a:rPr lang="en-US" altLang="zh-CN" sz="900" b="0" i="0" kern="1200" dirty="0">
                <a:solidFill>
                  <a:schemeClr val="tx1"/>
                </a:solidFill>
                <a:effectLst/>
                <a:latin typeface="+mn-lt"/>
                <a:ea typeface="+mn-ea"/>
                <a:cs typeface="+mn-cs"/>
              </a:rPr>
              <a:t> builder = </a:t>
            </a:r>
            <a:r>
              <a:rPr lang="en-US" altLang="zh-CN" sz="900" b="0" i="0" kern="1200" dirty="0" err="1">
                <a:solidFill>
                  <a:schemeClr val="tx1"/>
                </a:solidFill>
                <a:effectLst/>
                <a:latin typeface="+mn-lt"/>
                <a:ea typeface="+mn-ea"/>
                <a:cs typeface="+mn-cs"/>
              </a:rPr>
              <a:t>fileUpload</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uri</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paramsMap</a:t>
            </a: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mockFiles</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设值上下文信息</a:t>
            </a:r>
            <a:br>
              <a:rPr lang="zh-CN" altLang="en-US" sz="900" b="0" i="0" kern="1200" dirty="0">
                <a:solidFill>
                  <a:schemeClr val="tx1"/>
                </a:solidFill>
                <a:effectLst/>
                <a:latin typeface="+mn-lt"/>
                <a:ea typeface="+mn-ea"/>
                <a:cs typeface="+mn-cs"/>
              </a:rPr>
            </a:br>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Map&lt;String, Object&gt; </a:t>
            </a:r>
            <a:r>
              <a:rPr lang="en-US" altLang="zh-CN" sz="900" b="0" i="0" kern="1200" dirty="0" err="1">
                <a:solidFill>
                  <a:schemeClr val="tx1"/>
                </a:solidFill>
                <a:effectLst/>
                <a:latin typeface="+mn-lt"/>
                <a:ea typeface="+mn-ea"/>
                <a:cs typeface="+mn-cs"/>
              </a:rPr>
              <a:t>sessionAttributes</a:t>
            </a:r>
            <a:r>
              <a:rPr lang="en-US" altLang="zh-CN" sz="900" b="0" i="0" kern="1200" dirty="0">
                <a:solidFill>
                  <a:schemeClr val="tx1"/>
                </a:solidFill>
                <a:effectLst/>
                <a:latin typeface="+mn-lt"/>
                <a:ea typeface="+mn-ea"/>
                <a:cs typeface="+mn-cs"/>
              </a:rPr>
              <a:t> = new HashMap&lt;String, Object&gt;();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a:t>
            </a:r>
            <a:r>
              <a:rPr lang="en-US" altLang="zh-CN" sz="900" b="0" i="0" kern="1200" dirty="0" err="1">
                <a:solidFill>
                  <a:schemeClr val="tx1"/>
                </a:solidFill>
                <a:effectLst/>
                <a:latin typeface="+mn-lt"/>
                <a:ea typeface="+mn-ea"/>
                <a:cs typeface="+mn-cs"/>
              </a:rPr>
              <a:t>sessionAttributes.put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StringConstant.SESSION_NAME_CONTEXT_MAP.concat</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contextToken</a:t>
            </a:r>
            <a:r>
              <a:rPr lang="en-US" altLang="zh-CN" sz="900" b="0" i="0" kern="1200" dirty="0">
                <a:solidFill>
                  <a:schemeClr val="tx1"/>
                </a:solidFill>
                <a:effectLst/>
                <a:latin typeface="+mn-lt"/>
                <a:ea typeface="+mn-ea"/>
                <a:cs typeface="+mn-cs"/>
              </a:rPr>
              <a:t>), </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new </a:t>
            </a:r>
            <a:r>
              <a:rPr lang="en-US" altLang="zh-CN" sz="900" b="0" i="0" kern="1200" dirty="0" err="1">
                <a:solidFill>
                  <a:schemeClr val="tx1"/>
                </a:solidFill>
                <a:effectLst/>
                <a:latin typeface="+mn-lt"/>
                <a:ea typeface="+mn-ea"/>
                <a:cs typeface="+mn-cs"/>
              </a:rPr>
              <a:t>RegistAuditInfo</a:t>
            </a:r>
            <a:r>
              <a:rPr lang="en-US" altLang="zh-CN" sz="900" b="0" i="0" kern="1200" dirty="0">
                <a:solidFill>
                  <a:schemeClr val="tx1"/>
                </a:solidFill>
                <a:effectLst/>
                <a:latin typeface="+mn-lt"/>
                <a:ea typeface="+mn-ea"/>
                <a:cs typeface="+mn-cs"/>
              </a:rPr>
              <a:t>());</a:t>
            </a:r>
            <a:br>
              <a:rPr lang="en-US" altLang="zh-CN" sz="900" b="0" i="0" kern="1200" dirty="0">
                <a:solidFill>
                  <a:schemeClr val="tx1"/>
                </a:solidFill>
                <a:effectLst/>
                <a:latin typeface="+mn-lt"/>
                <a:ea typeface="+mn-ea"/>
                <a:cs typeface="+mn-cs"/>
              </a:rPr>
            </a:b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 </a:t>
            </a:r>
            <a:r>
              <a:rPr lang="zh-CN" altLang="en-US" sz="900" b="0" i="0" kern="1200" dirty="0">
                <a:solidFill>
                  <a:schemeClr val="tx1"/>
                </a:solidFill>
                <a:effectLst/>
                <a:latin typeface="+mn-lt"/>
                <a:ea typeface="+mn-ea"/>
                <a:cs typeface="+mn-cs"/>
              </a:rPr>
              <a:t>添加</a:t>
            </a:r>
            <a:r>
              <a:rPr lang="en-US" altLang="zh-CN" sz="900" b="0" i="0" kern="1200" dirty="0">
                <a:solidFill>
                  <a:schemeClr val="tx1"/>
                </a:solidFill>
                <a:effectLst/>
                <a:latin typeface="+mn-lt"/>
                <a:ea typeface="+mn-ea"/>
                <a:cs typeface="+mn-cs"/>
              </a:rPr>
              <a:t>session</a:t>
            </a:r>
            <a:r>
              <a:rPr lang="zh-CN" altLang="en-US" sz="900" b="0" i="0" kern="1200" dirty="0">
                <a:solidFill>
                  <a:schemeClr val="tx1"/>
                </a:solidFill>
                <a:effectLst/>
                <a:latin typeface="+mn-lt"/>
                <a:ea typeface="+mn-ea"/>
                <a:cs typeface="+mn-cs"/>
              </a:rPr>
              <a:t>属性</a:t>
            </a:r>
            <a:r>
              <a:rPr lang="en-US" altLang="zh-CN" sz="900" b="0" i="0" kern="1200" dirty="0">
                <a:solidFill>
                  <a:schemeClr val="tx1"/>
                </a:solidFill>
                <a:effectLst/>
                <a:latin typeface="+mn-lt"/>
                <a:ea typeface="+mn-ea"/>
                <a:cs typeface="+mn-cs"/>
              </a:rPr>
              <a:t>Map</a:t>
            </a:r>
            <a:br>
              <a:rPr lang="en-US" altLang="zh-CN" sz="900" b="0" i="0" kern="1200" dirty="0">
                <a:solidFill>
                  <a:schemeClr val="tx1"/>
                </a:solidFill>
                <a:effectLst/>
                <a:latin typeface="+mn-lt"/>
                <a:ea typeface="+mn-ea"/>
                <a:cs typeface="+mn-cs"/>
              </a:rPr>
            </a:br>
            <a:r>
              <a:rPr lang="en-US" altLang="zh-CN" sz="900" b="0" i="0" kern="1200" dirty="0">
                <a:solidFill>
                  <a:schemeClr val="tx1"/>
                </a:solidFill>
                <a:effectLst/>
                <a:latin typeface="+mn-lt"/>
                <a:ea typeface="+mn-ea"/>
                <a:cs typeface="+mn-cs"/>
              </a:rPr>
              <a:t>       return </a:t>
            </a:r>
            <a:r>
              <a:rPr lang="en-US" altLang="zh-CN" sz="900" b="0" i="0" kern="1200" dirty="0" err="1">
                <a:solidFill>
                  <a:schemeClr val="tx1"/>
                </a:solidFill>
                <a:effectLst/>
                <a:latin typeface="+mn-lt"/>
                <a:ea typeface="+mn-ea"/>
                <a:cs typeface="+mn-cs"/>
              </a:rPr>
              <a:t>builder.sessionAttrs</a:t>
            </a:r>
            <a:r>
              <a:rPr lang="en-US" altLang="zh-CN" sz="900" b="0" i="0" kern="1200" dirty="0">
                <a:solidFill>
                  <a:schemeClr val="tx1"/>
                </a:solidFill>
                <a:effectLst/>
                <a:latin typeface="+mn-lt"/>
                <a:ea typeface="+mn-ea"/>
                <a:cs typeface="+mn-cs"/>
              </a:rPr>
              <a:t>(</a:t>
            </a:r>
            <a:r>
              <a:rPr lang="en-US" altLang="zh-CN" sz="900" b="0" i="0" kern="1200" dirty="0" err="1">
                <a:solidFill>
                  <a:schemeClr val="tx1"/>
                </a:solidFill>
                <a:effectLst/>
                <a:latin typeface="+mn-lt"/>
                <a:ea typeface="+mn-ea"/>
                <a:cs typeface="+mn-cs"/>
              </a:rPr>
              <a:t>sessionAttributes</a:t>
            </a:r>
            <a:r>
              <a:rPr lang="en-US" altLang="zh-CN" sz="900" b="0" i="0" kern="1200">
                <a:solidFill>
                  <a:schemeClr val="tx1"/>
                </a:solidFill>
                <a:effectLst/>
                <a:latin typeface="+mn-lt"/>
                <a:ea typeface="+mn-ea"/>
                <a:cs typeface="+mn-cs"/>
              </a:rPr>
              <a:t>);</a:t>
            </a:r>
            <a:br>
              <a:rPr lang="en-US" altLang="zh-CN" sz="900" b="0" i="0" kern="1200">
                <a:solidFill>
                  <a:schemeClr val="tx1"/>
                </a:solidFill>
                <a:effectLst/>
                <a:latin typeface="+mn-lt"/>
                <a:ea typeface="+mn-ea"/>
                <a:cs typeface="+mn-cs"/>
              </a:rPr>
            </a:br>
            <a:r>
              <a:rPr lang="en-US" altLang="zh-CN" sz="900" b="0" i="0" kern="1200">
                <a:solidFill>
                  <a:schemeClr val="tx1"/>
                </a:solidFill>
                <a:effectLst/>
                <a:latin typeface="+mn-lt"/>
                <a:ea typeface="+mn-ea"/>
                <a:cs typeface="+mn-cs"/>
              </a:rPr>
              <a:t>}</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10597952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42</a:t>
            </a:fld>
            <a:endParaRPr lang="zh-CN" altLang="en-US"/>
          </a:p>
        </p:txBody>
      </p:sp>
    </p:spTree>
    <p:extLst>
      <p:ext uri="{BB962C8B-B14F-4D97-AF65-F5344CB8AC3E}">
        <p14:creationId xmlns:p14="http://schemas.microsoft.com/office/powerpoint/2010/main" val="4049970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16345848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3878379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4" name="内容占位符 3"/>
          <p:cNvSpPr>
            <a:spLocks noGrp="1"/>
          </p:cNvSpPr>
          <p:nvPr>
            <p:ph sz="half" idx="2"/>
          </p:nvPr>
        </p:nvSpPr>
        <p:spPr>
          <a:xfrm>
            <a:off x="890080" y="1999034"/>
            <a:ext cx="3655181"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342900"/>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3"/>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3"/>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3"/>
            <a:ext cx="7886700" cy="435887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2018-7-25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t>2018-7-25</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confluence.midea.com/pages/viewpage.action?pageId=15863857"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3292749" y="1745178"/>
            <a:ext cx="5340191" cy="500137"/>
          </a:xfrm>
          <a:prstGeom prst="rect">
            <a:avLst/>
          </a:prstGeom>
          <a:noFill/>
        </p:spPr>
        <p:txBody>
          <a:bodyPr wrap="square" lIns="68580" tIns="34290" rIns="68580" bIns="34290" rtlCol="0">
            <a:spAutoFit/>
          </a:bodyPr>
          <a:lstStyle/>
          <a:p>
            <a:r>
              <a:rPr lang="zh-CN" altLang="en-US" sz="2800" b="1" dirty="0">
                <a:solidFill>
                  <a:srgbClr val="1B4367"/>
                </a:solidFill>
                <a:cs typeface="+mn-ea"/>
                <a:sym typeface="+mn-lt"/>
              </a:rPr>
              <a:t>如何编写优秀的单元测试</a:t>
            </a:r>
          </a:p>
        </p:txBody>
      </p:sp>
      <p:sp>
        <p:nvSpPr>
          <p:cNvPr id="3075" name="文本框 3074"/>
          <p:cNvSpPr txBox="1"/>
          <p:nvPr/>
        </p:nvSpPr>
        <p:spPr>
          <a:xfrm>
            <a:off x="6102773" y="2898186"/>
            <a:ext cx="1240357" cy="807913"/>
          </a:xfrm>
          <a:prstGeom prst="rect">
            <a:avLst/>
          </a:prstGeom>
          <a:noFill/>
          <a:ln w="9525">
            <a:noFill/>
            <a:miter/>
          </a:ln>
          <a:effectLst/>
        </p:spPr>
        <p:txBody>
          <a:bodyPr vert="horz" wrap="square" lIns="68580" tIns="34290" rIns="68580" bIns="34290" anchor="t">
            <a:spAutoFit/>
          </a:bodyPr>
          <a:lstStyle/>
          <a:p>
            <a:pPr lvl="0" algn="ctr" eaLnBrk="0" hangingPunct="0"/>
            <a:r>
              <a:rPr lang="zh-CN" altLang="en-US" sz="1600" dirty="0">
                <a:solidFill>
                  <a:schemeClr val="tx1">
                    <a:lumMod val="75000"/>
                    <a:lumOff val="25000"/>
                  </a:schemeClr>
                </a:solidFill>
                <a:cs typeface="+mn-ea"/>
                <a:sym typeface="+mn-lt"/>
              </a:rPr>
              <a:t>杨  洲</a:t>
            </a:r>
            <a:endParaRPr lang="en-US" altLang="zh-CN" sz="1600" dirty="0">
              <a:solidFill>
                <a:schemeClr val="tx1">
                  <a:lumMod val="75000"/>
                  <a:lumOff val="25000"/>
                </a:schemeClr>
              </a:solidFill>
              <a:cs typeface="+mn-ea"/>
              <a:sym typeface="+mn-lt"/>
            </a:endParaRPr>
          </a:p>
          <a:p>
            <a:pPr lvl="0" algn="ctr" eaLnBrk="0" hangingPunct="0"/>
            <a:endParaRPr lang="en-US" altLang="zh-CN" sz="1600" dirty="0">
              <a:solidFill>
                <a:schemeClr val="tx1">
                  <a:lumMod val="75000"/>
                  <a:lumOff val="25000"/>
                </a:schemeClr>
              </a:solidFill>
              <a:cs typeface="+mn-ea"/>
              <a:sym typeface="+mn-lt"/>
            </a:endParaRPr>
          </a:p>
          <a:p>
            <a:pPr lvl="0" algn="ctr" eaLnBrk="0" hangingPunct="0"/>
            <a:r>
              <a:rPr lang="en-US" altLang="zh-CN" sz="1600" dirty="0">
                <a:solidFill>
                  <a:schemeClr val="tx1">
                    <a:lumMod val="75000"/>
                    <a:lumOff val="25000"/>
                  </a:schemeClr>
                </a:solidFill>
                <a:cs typeface="+mn-ea"/>
                <a:sym typeface="+mn-lt"/>
              </a:rPr>
              <a:t>2018.07.21</a:t>
            </a:r>
            <a:r>
              <a:rPr lang="zh-CN" altLang="en-US" sz="1600" dirty="0">
                <a:solidFill>
                  <a:schemeClr val="tx1">
                    <a:lumMod val="75000"/>
                    <a:lumOff val="25000"/>
                  </a:schemeClr>
                </a:solidFill>
                <a:cs typeface="+mn-ea"/>
                <a:sym typeface="+mn-lt"/>
              </a:rPr>
              <a:t>     </a:t>
            </a:r>
            <a:endParaRPr lang="en-US" altLang="zh-CN" sz="16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3075"/>
                                        </p:tgtEl>
                                        <p:attrNameLst>
                                          <p:attrName>style.visibility</p:attrName>
                                        </p:attrNameLst>
                                      </p:cBhvr>
                                      <p:to>
                                        <p:strVal val="visible"/>
                                      </p:to>
                                    </p:set>
                                    <p:anim calcmode="lin" valueType="num">
                                      <p:cBhvr additive="base">
                                        <p:cTn id="15" dur="500"/>
                                        <p:tgtEl>
                                          <p:spTgt spid="3075"/>
                                        </p:tgtEl>
                                        <p:attrNameLst>
                                          <p:attrName>ppt_x</p:attrName>
                                        </p:attrNameLst>
                                      </p:cBhvr>
                                      <p:tavLst>
                                        <p:tav tm="0">
                                          <p:val>
                                            <p:strVal val="#ppt_x-#ppt_w*1.125000"/>
                                          </p:val>
                                        </p:tav>
                                        <p:tav tm="100000">
                                          <p:val>
                                            <p:strVal val="#ppt_x"/>
                                          </p:val>
                                        </p:tav>
                                      </p:tavLst>
                                    </p:anim>
                                    <p:animEffect transition="in" filter="wipe(right)">
                                      <p:cBhvr>
                                        <p:cTn id="16"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7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0" name="椭圆 99"/>
          <p:cNvSpPr/>
          <p:nvPr/>
        </p:nvSpPr>
        <p:spPr>
          <a:xfrm>
            <a:off x="4021122" y="1122925"/>
            <a:ext cx="1117601" cy="1017449"/>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1"/>
          <p:cNvSpPr txBox="1"/>
          <p:nvPr/>
        </p:nvSpPr>
        <p:spPr>
          <a:xfrm>
            <a:off x="2208107" y="2709756"/>
            <a:ext cx="4836160" cy="1792798"/>
          </a:xfrm>
          <a:prstGeom prst="rect">
            <a:avLst/>
          </a:prstGeom>
          <a:noFill/>
        </p:spPr>
        <p:txBody>
          <a:bodyPr wrap="square" lIns="68580" tIns="34290" rIns="68580" bIns="34290" rtlCol="0">
            <a:spAutoFit/>
          </a:bodyPr>
          <a:lstStyle/>
          <a:p>
            <a:r>
              <a:rPr lang="en-US" altLang="zh-CN" sz="1600" b="1" dirty="0">
                <a:solidFill>
                  <a:srgbClr val="1B4367"/>
                </a:solidFill>
                <a:latin typeface="+mn-ea"/>
                <a:cs typeface="+mn-ea"/>
                <a:sym typeface="+mn-lt"/>
              </a:rPr>
              <a:t>       </a:t>
            </a:r>
            <a:r>
              <a:rPr lang="zh-CN" altLang="en-US" sz="1600" b="1" dirty="0">
                <a:solidFill>
                  <a:srgbClr val="1B4367"/>
                </a:solidFill>
                <a:latin typeface="+mn-ea"/>
                <a:cs typeface="+mn-ea"/>
                <a:sym typeface="+mn-lt"/>
              </a:rPr>
              <a:t>单元测试推广数月来，各项目组都陆续开始了单元测试实践，因项目排期的关系，仍然有相当量的单元测试产出，令人很欣慰。但在单元测试的规范性、代码质量和覆盖率上，却还有待进一步提高。</a:t>
            </a:r>
            <a:endParaRPr lang="en-US" altLang="zh-CN" sz="1600" b="1" dirty="0">
              <a:solidFill>
                <a:srgbClr val="1B4367"/>
              </a:solidFill>
              <a:latin typeface="+mn-ea"/>
              <a:cs typeface="+mn-ea"/>
              <a:sym typeface="+mn-lt"/>
            </a:endParaRPr>
          </a:p>
          <a:p>
            <a:r>
              <a:rPr lang="en-US" altLang="zh-CN" sz="1600" b="1" dirty="0">
                <a:solidFill>
                  <a:srgbClr val="1B4367"/>
                </a:solidFill>
                <a:latin typeface="+mn-ea"/>
                <a:cs typeface="+mn-ea"/>
                <a:sym typeface="+mn-lt"/>
              </a:rPr>
              <a:t>       </a:t>
            </a:r>
            <a:r>
              <a:rPr lang="zh-CN" altLang="en-US" sz="1600" b="1" dirty="0">
                <a:solidFill>
                  <a:srgbClr val="1B4367"/>
                </a:solidFill>
                <a:latin typeface="+mn-ea"/>
                <a:cs typeface="+mn-ea"/>
                <a:sym typeface="+mn-lt"/>
              </a:rPr>
              <a:t>技术出身都比较喜欢极致，有了先前实战技巧的分享，那如何才能编写优秀的单元测试呢？今天同大家一起分享和探讨。</a:t>
            </a:r>
          </a:p>
        </p:txBody>
      </p:sp>
      <p:sp>
        <p:nvSpPr>
          <p:cNvPr id="103" name="文本框 11"/>
          <p:cNvSpPr txBox="1"/>
          <p:nvPr/>
        </p:nvSpPr>
        <p:spPr>
          <a:xfrm>
            <a:off x="3713475" y="1500535"/>
            <a:ext cx="1732894" cy="838691"/>
          </a:xfrm>
          <a:prstGeom prst="rect">
            <a:avLst/>
          </a:prstGeom>
          <a:noFill/>
        </p:spPr>
        <p:txBody>
          <a:bodyPr wrap="square" lIns="68580" tIns="34290" rIns="68580" bIns="34290" rtlCol="0">
            <a:spAutoFit/>
          </a:bodyPr>
          <a:lstStyle/>
          <a:p>
            <a:pPr algn="ctr">
              <a:lnSpc>
                <a:spcPts val="3000"/>
              </a:lnSpc>
            </a:pPr>
            <a:r>
              <a:rPr lang="zh-CN" altLang="en-US" sz="3600" dirty="0">
                <a:solidFill>
                  <a:schemeClr val="bg1"/>
                </a:solidFill>
                <a:cs typeface="+mn-ea"/>
                <a:sym typeface="+mn-lt"/>
              </a:rPr>
              <a:t>前言</a:t>
            </a:r>
          </a:p>
          <a:p>
            <a:pPr algn="ctr">
              <a:lnSpc>
                <a:spcPts val="3000"/>
              </a:lnSpc>
            </a:pPr>
            <a:r>
              <a:rPr lang="en-US" altLang="zh-CN" sz="2400" dirty="0">
                <a:solidFill>
                  <a:schemeClr val="bg1"/>
                </a:solidFill>
                <a:cs typeface="+mn-ea"/>
                <a:sym typeface="+mn-lt"/>
              </a:rPr>
              <a:t> </a:t>
            </a:r>
          </a:p>
        </p:txBody>
      </p:sp>
    </p:spTree>
    <p:extLst>
      <p:ext uri="{BB962C8B-B14F-4D97-AF65-F5344CB8AC3E}">
        <p14:creationId xmlns:p14="http://schemas.microsoft.com/office/powerpoint/2010/main" val="11750232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heel(1)">
                                      <p:cBhvr>
                                        <p:cTn id="7" dur="600"/>
                                        <p:tgtEl>
                                          <p:spTgt spid="100"/>
                                        </p:tgtEl>
                                      </p:cBhvr>
                                    </p:animEffect>
                                  </p:childTnLst>
                                </p:cTn>
                              </p:par>
                            </p:childTnLst>
                          </p:cTn>
                        </p:par>
                        <p:par>
                          <p:cTn id="8" fill="hold">
                            <p:stCondLst>
                              <p:cond delay="600"/>
                            </p:stCondLst>
                            <p:childTnLst>
                              <p:par>
                                <p:cTn id="9" presetID="53" presetClass="entr" presetSubtype="16"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 calcmode="lin" valueType="num">
                                      <p:cBhvr>
                                        <p:cTn id="11" dur="500" fill="hold"/>
                                        <p:tgtEl>
                                          <p:spTgt spid="103"/>
                                        </p:tgtEl>
                                        <p:attrNameLst>
                                          <p:attrName>ppt_w</p:attrName>
                                        </p:attrNameLst>
                                      </p:cBhvr>
                                      <p:tavLst>
                                        <p:tav tm="0">
                                          <p:val>
                                            <p:fltVal val="0"/>
                                          </p:val>
                                        </p:tav>
                                        <p:tav tm="100000">
                                          <p:val>
                                            <p:strVal val="#ppt_w"/>
                                          </p:val>
                                        </p:tav>
                                      </p:tavLst>
                                    </p:anim>
                                    <p:anim calcmode="lin" valueType="num">
                                      <p:cBhvr>
                                        <p:cTn id="12" dur="500" fill="hold"/>
                                        <p:tgtEl>
                                          <p:spTgt spid="103"/>
                                        </p:tgtEl>
                                        <p:attrNameLst>
                                          <p:attrName>ppt_h</p:attrName>
                                        </p:attrNameLst>
                                      </p:cBhvr>
                                      <p:tavLst>
                                        <p:tav tm="0">
                                          <p:val>
                                            <p:fltVal val="0"/>
                                          </p:val>
                                        </p:tav>
                                        <p:tav tm="100000">
                                          <p:val>
                                            <p:strVal val="#ppt_h"/>
                                          </p:val>
                                        </p:tav>
                                      </p:tavLst>
                                    </p:anim>
                                    <p:animEffect transition="in" filter="fade">
                                      <p:cBhvr>
                                        <p:cTn id="13" dur="500"/>
                                        <p:tgtEl>
                                          <p:spTgt spid="103"/>
                                        </p:tgtEl>
                                      </p:cBhvr>
                                    </p:animEffect>
                                  </p:childTnLst>
                                </p:cTn>
                              </p:par>
                            </p:childTnLst>
                          </p:cTn>
                        </p:par>
                      </p:childTnLst>
                    </p:cTn>
                  </p:par>
                  <p:par>
                    <p:cTn id="14" fill="hold">
                      <p:stCondLst>
                        <p:cond delay="indefinite"/>
                      </p:stCondLst>
                      <p:childTnLst>
                        <p:par>
                          <p:cTn id="15" fill="hold">
                            <p:stCondLst>
                              <p:cond delay="0"/>
                            </p:stCondLst>
                            <p:childTnLst>
                              <p:par>
                                <p:cTn id="16" presetID="41" presetClass="entr" presetSubtype="0" fill="hold" grpId="0" nodeType="clickEffect">
                                  <p:stCondLst>
                                    <p:cond delay="0"/>
                                  </p:stCondLst>
                                  <p:iterate type="lt">
                                    <p:tmPct val="10000"/>
                                  </p:iterate>
                                  <p:childTnLst>
                                    <p:set>
                                      <p:cBhvr>
                                        <p:cTn id="17" dur="1" fill="hold">
                                          <p:stCondLst>
                                            <p:cond delay="0"/>
                                          </p:stCondLst>
                                        </p:cTn>
                                        <p:tgtEl>
                                          <p:spTgt spid="101"/>
                                        </p:tgtEl>
                                        <p:attrNameLst>
                                          <p:attrName>style.visibility</p:attrName>
                                        </p:attrNameLst>
                                      </p:cBhvr>
                                      <p:to>
                                        <p:strVal val="visible"/>
                                      </p:to>
                                    </p:set>
                                    <p:anim calcmode="lin" valueType="num">
                                      <p:cBhvr>
                                        <p:cTn id="18" dur="500" fill="hold"/>
                                        <p:tgtEl>
                                          <p:spTgt spid="101"/>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101"/>
                                        </p:tgtEl>
                                        <p:attrNameLst>
                                          <p:attrName>ppt_y</p:attrName>
                                        </p:attrNameLst>
                                      </p:cBhvr>
                                      <p:tavLst>
                                        <p:tav tm="0">
                                          <p:val>
                                            <p:strVal val="#ppt_y"/>
                                          </p:val>
                                        </p:tav>
                                        <p:tav tm="100000">
                                          <p:val>
                                            <p:strVal val="#ppt_y"/>
                                          </p:val>
                                        </p:tav>
                                      </p:tavLst>
                                    </p:anim>
                                    <p:anim calcmode="lin" valueType="num">
                                      <p:cBhvr>
                                        <p:cTn id="20" dur="500" fill="hold"/>
                                        <p:tgtEl>
                                          <p:spTgt spid="101"/>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101"/>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p:bldP spid="10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文本框 10"/>
          <p:cNvSpPr txBox="1"/>
          <p:nvPr/>
        </p:nvSpPr>
        <p:spPr>
          <a:xfrm>
            <a:off x="5645032" y="1704778"/>
            <a:ext cx="1962476"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优秀单元测试简介</a:t>
            </a:r>
          </a:p>
        </p:txBody>
      </p:sp>
      <p:grpSp>
        <p:nvGrpSpPr>
          <p:cNvPr id="2" name="组合 1"/>
          <p:cNvGrpSpPr/>
          <p:nvPr/>
        </p:nvGrpSpPr>
        <p:grpSpPr>
          <a:xfrm>
            <a:off x="5126790" y="1706415"/>
            <a:ext cx="478533" cy="393570"/>
            <a:chOff x="5640108" y="966369"/>
            <a:chExt cx="476097" cy="391567"/>
          </a:xfrm>
        </p:grpSpPr>
        <p:sp>
          <p:nvSpPr>
            <p:cNvPr id="25" name="椭圆 2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01</a:t>
              </a:r>
            </a:p>
          </p:txBody>
        </p:sp>
      </p:grpSp>
      <p:sp>
        <p:nvSpPr>
          <p:cNvPr id="33" name="文本框 32"/>
          <p:cNvSpPr txBox="1"/>
          <p:nvPr/>
        </p:nvSpPr>
        <p:spPr>
          <a:xfrm>
            <a:off x="2866491" y="2012712"/>
            <a:ext cx="2147298" cy="769441"/>
          </a:xfrm>
          <a:prstGeom prst="rect">
            <a:avLst/>
          </a:prstGeom>
          <a:noFill/>
        </p:spPr>
        <p:txBody>
          <a:bodyPr vert="horz" wrap="square" rtlCol="0">
            <a:spAutoFit/>
          </a:bodyPr>
          <a:lstStyle/>
          <a:p>
            <a:r>
              <a:rPr lang="zh-CN" altLang="en-US" sz="4400" b="1" spc="-225" dirty="0">
                <a:solidFill>
                  <a:srgbClr val="1B4367"/>
                </a:solidFill>
                <a:cs typeface="+mn-ea"/>
                <a:sym typeface="+mn-lt"/>
              </a:rPr>
              <a:t>目 录</a:t>
            </a:r>
          </a:p>
        </p:txBody>
      </p:sp>
      <p:sp>
        <p:nvSpPr>
          <p:cNvPr id="3" name="文本框 2"/>
          <p:cNvSpPr txBox="1"/>
          <p:nvPr/>
        </p:nvSpPr>
        <p:spPr>
          <a:xfrm>
            <a:off x="2866491" y="2643910"/>
            <a:ext cx="2113154" cy="461665"/>
          </a:xfrm>
          <a:prstGeom prst="rect">
            <a:avLst/>
          </a:prstGeom>
          <a:noFill/>
        </p:spPr>
        <p:txBody>
          <a:bodyPr vert="horz" wrap="square" rtlCol="0">
            <a:spAutoFit/>
          </a:bodyPr>
          <a:lstStyle/>
          <a:p>
            <a:r>
              <a:rPr lang="en-US" altLang="zh-CN" sz="2400" b="1" dirty="0">
                <a:solidFill>
                  <a:srgbClr val="1B4367"/>
                </a:solidFill>
                <a:cs typeface="+mn-ea"/>
                <a:sym typeface="+mn-lt"/>
              </a:rPr>
              <a:t>CONTENTS</a:t>
            </a:r>
          </a:p>
        </p:txBody>
      </p:sp>
      <p:sp>
        <p:nvSpPr>
          <p:cNvPr id="83" name="文本框 10"/>
          <p:cNvSpPr txBox="1"/>
          <p:nvPr/>
        </p:nvSpPr>
        <p:spPr>
          <a:xfrm>
            <a:off x="5645032" y="2812241"/>
            <a:ext cx="1962476"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优秀单元测试实践</a:t>
            </a:r>
          </a:p>
        </p:txBody>
      </p:sp>
      <p:grpSp>
        <p:nvGrpSpPr>
          <p:cNvPr id="84" name="组合 83"/>
          <p:cNvGrpSpPr/>
          <p:nvPr/>
        </p:nvGrpSpPr>
        <p:grpSpPr>
          <a:xfrm>
            <a:off x="5135755" y="2792427"/>
            <a:ext cx="478533" cy="393570"/>
            <a:chOff x="5640108" y="966369"/>
            <a:chExt cx="476097" cy="391567"/>
          </a:xfrm>
        </p:grpSpPr>
        <p:sp>
          <p:nvSpPr>
            <p:cNvPr id="85" name="椭圆 8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02</a:t>
              </a:r>
            </a:p>
          </p:txBody>
        </p:sp>
      </p:grpSp>
      <p:sp>
        <p:nvSpPr>
          <p:cNvPr id="4" name="燕尾形 3"/>
          <p:cNvSpPr/>
          <p:nvPr/>
        </p:nvSpPr>
        <p:spPr>
          <a:xfrm>
            <a:off x="4284324" y="2183489"/>
            <a:ext cx="256853" cy="448435"/>
          </a:xfrm>
          <a:prstGeom prst="chevron">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right)">
                                      <p:cBhvr>
                                        <p:cTn id="8" dur="500"/>
                                        <p:tgtEl>
                                          <p:spTgt spid="33"/>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ppt_x</p:attrName>
                                        </p:attrNameLst>
                                      </p:cBhvr>
                                      <p:tavLst>
                                        <p:tav tm="0">
                                          <p:val>
                                            <p:strVal val="#ppt_x-#ppt_w*1.125000"/>
                                          </p:val>
                                        </p:tav>
                                        <p:tav tm="100000">
                                          <p:val>
                                            <p:strVal val="#ppt_x"/>
                                          </p:val>
                                        </p:tav>
                                      </p:tavLst>
                                    </p:anim>
                                    <p:animEffect transition="in" filter="wipe(right)">
                                      <p:cBhvr>
                                        <p:cTn id="13" dur="500"/>
                                        <p:tgtEl>
                                          <p:spTgt spid="3"/>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p:tgtEl>
                                          <p:spTgt spid="4"/>
                                        </p:tgtEl>
                                        <p:attrNameLst>
                                          <p:attrName>ppt_x</p:attrName>
                                        </p:attrNameLst>
                                      </p:cBhvr>
                                      <p:tavLst>
                                        <p:tav tm="0">
                                          <p:val>
                                            <p:strVal val="#ppt_x-#ppt_w*1.125000"/>
                                          </p:val>
                                        </p:tav>
                                        <p:tav tm="100000">
                                          <p:val>
                                            <p:strVal val="#ppt_x"/>
                                          </p:val>
                                        </p:tav>
                                      </p:tavLst>
                                    </p:anim>
                                    <p:animEffect transition="in" filter="wipe(right)">
                                      <p:cBhvr>
                                        <p:cTn id="18" dur="500"/>
                                        <p:tgtEl>
                                          <p:spTgt spid="4"/>
                                        </p:tgtEl>
                                      </p:cBhvr>
                                    </p:animEffect>
                                  </p:childTnLst>
                                </p:cTn>
                              </p:par>
                            </p:childTnLst>
                          </p:cTn>
                        </p:par>
                        <p:par>
                          <p:cTn id="19" fill="hold">
                            <p:stCondLst>
                              <p:cond delay="1500"/>
                            </p:stCondLst>
                            <p:childTnLst>
                              <p:par>
                                <p:cTn id="20" presetID="53" presetClass="entr" presetSubtype="52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anim calcmode="lin" valueType="num">
                                      <p:cBhvr>
                                        <p:cTn id="25" dur="500" fill="hold"/>
                                        <p:tgtEl>
                                          <p:spTgt spid="2"/>
                                        </p:tgtEl>
                                        <p:attrNameLst>
                                          <p:attrName>ppt_x</p:attrName>
                                        </p:attrNameLst>
                                      </p:cBhvr>
                                      <p:tavLst>
                                        <p:tav tm="0">
                                          <p:val>
                                            <p:fltVal val="0.5"/>
                                          </p:val>
                                        </p:tav>
                                        <p:tav tm="100000">
                                          <p:val>
                                            <p:strVal val="#ppt_x"/>
                                          </p:val>
                                        </p:tav>
                                      </p:tavLst>
                                    </p:anim>
                                    <p:anim calcmode="lin" valueType="num">
                                      <p:cBhvr>
                                        <p:cTn id="26" dur="500" fill="hold"/>
                                        <p:tgtEl>
                                          <p:spTgt spid="2"/>
                                        </p:tgtEl>
                                        <p:attrNameLst>
                                          <p:attrName>ppt_y</p:attrName>
                                        </p:attrNameLst>
                                      </p:cBhvr>
                                      <p:tavLst>
                                        <p:tav tm="0">
                                          <p:val>
                                            <p:fltVal val="0.5"/>
                                          </p:val>
                                        </p:tav>
                                        <p:tav tm="100000">
                                          <p:val>
                                            <p:strVal val="#ppt_y"/>
                                          </p:val>
                                        </p:tav>
                                      </p:tavLst>
                                    </p:anim>
                                  </p:childTnLst>
                                </p:cTn>
                              </p:par>
                            </p:childTnLst>
                          </p:cTn>
                        </p:par>
                        <p:par>
                          <p:cTn id="27" fill="hold">
                            <p:stCondLst>
                              <p:cond delay="2000"/>
                            </p:stCondLst>
                            <p:childTnLst>
                              <p:par>
                                <p:cTn id="28" presetID="2" presetClass="entr" presetSubtype="2"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1+#ppt_w/2"/>
                                          </p:val>
                                        </p:tav>
                                        <p:tav tm="100000">
                                          <p:val>
                                            <p:strVal val="#ppt_x"/>
                                          </p:val>
                                        </p:tav>
                                      </p:tavLst>
                                    </p:anim>
                                    <p:anim calcmode="lin" valueType="num">
                                      <p:cBhvr additive="base">
                                        <p:cTn id="31" dur="500" fill="hold"/>
                                        <p:tgtEl>
                                          <p:spTgt spid="11"/>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53" presetClass="entr" presetSubtype="528" fill="hold" nodeType="afterEffect">
                                  <p:stCondLst>
                                    <p:cond delay="0"/>
                                  </p:stCondLst>
                                  <p:childTnLst>
                                    <p:set>
                                      <p:cBhvr>
                                        <p:cTn id="34" dur="1" fill="hold">
                                          <p:stCondLst>
                                            <p:cond delay="0"/>
                                          </p:stCondLst>
                                        </p:cTn>
                                        <p:tgtEl>
                                          <p:spTgt spid="84"/>
                                        </p:tgtEl>
                                        <p:attrNameLst>
                                          <p:attrName>style.visibility</p:attrName>
                                        </p:attrNameLst>
                                      </p:cBhvr>
                                      <p:to>
                                        <p:strVal val="visible"/>
                                      </p:to>
                                    </p:set>
                                    <p:anim calcmode="lin" valueType="num">
                                      <p:cBhvr>
                                        <p:cTn id="35" dur="500" fill="hold"/>
                                        <p:tgtEl>
                                          <p:spTgt spid="84"/>
                                        </p:tgtEl>
                                        <p:attrNameLst>
                                          <p:attrName>ppt_w</p:attrName>
                                        </p:attrNameLst>
                                      </p:cBhvr>
                                      <p:tavLst>
                                        <p:tav tm="0">
                                          <p:val>
                                            <p:fltVal val="0"/>
                                          </p:val>
                                        </p:tav>
                                        <p:tav tm="100000">
                                          <p:val>
                                            <p:strVal val="#ppt_w"/>
                                          </p:val>
                                        </p:tav>
                                      </p:tavLst>
                                    </p:anim>
                                    <p:anim calcmode="lin" valueType="num">
                                      <p:cBhvr>
                                        <p:cTn id="36" dur="500" fill="hold"/>
                                        <p:tgtEl>
                                          <p:spTgt spid="84"/>
                                        </p:tgtEl>
                                        <p:attrNameLst>
                                          <p:attrName>ppt_h</p:attrName>
                                        </p:attrNameLst>
                                      </p:cBhvr>
                                      <p:tavLst>
                                        <p:tav tm="0">
                                          <p:val>
                                            <p:fltVal val="0"/>
                                          </p:val>
                                        </p:tav>
                                        <p:tav tm="100000">
                                          <p:val>
                                            <p:strVal val="#ppt_h"/>
                                          </p:val>
                                        </p:tav>
                                      </p:tavLst>
                                    </p:anim>
                                    <p:animEffect transition="in" filter="fade">
                                      <p:cBhvr>
                                        <p:cTn id="37" dur="500"/>
                                        <p:tgtEl>
                                          <p:spTgt spid="84"/>
                                        </p:tgtEl>
                                      </p:cBhvr>
                                    </p:animEffect>
                                    <p:anim calcmode="lin" valueType="num">
                                      <p:cBhvr>
                                        <p:cTn id="38" dur="500" fill="hold"/>
                                        <p:tgtEl>
                                          <p:spTgt spid="84"/>
                                        </p:tgtEl>
                                        <p:attrNameLst>
                                          <p:attrName>ppt_x</p:attrName>
                                        </p:attrNameLst>
                                      </p:cBhvr>
                                      <p:tavLst>
                                        <p:tav tm="0">
                                          <p:val>
                                            <p:fltVal val="0.5"/>
                                          </p:val>
                                        </p:tav>
                                        <p:tav tm="100000">
                                          <p:val>
                                            <p:strVal val="#ppt_x"/>
                                          </p:val>
                                        </p:tav>
                                      </p:tavLst>
                                    </p:anim>
                                    <p:anim calcmode="lin" valueType="num">
                                      <p:cBhvr>
                                        <p:cTn id="39" dur="500" fill="hold"/>
                                        <p:tgtEl>
                                          <p:spTgt spid="84"/>
                                        </p:tgtEl>
                                        <p:attrNameLst>
                                          <p:attrName>ppt_y</p:attrName>
                                        </p:attrNameLst>
                                      </p:cBhvr>
                                      <p:tavLst>
                                        <p:tav tm="0">
                                          <p:val>
                                            <p:fltVal val="0.5"/>
                                          </p:val>
                                        </p:tav>
                                        <p:tav tm="100000">
                                          <p:val>
                                            <p:strVal val="#ppt_y"/>
                                          </p:val>
                                        </p:tav>
                                      </p:tavLst>
                                    </p:anim>
                                  </p:childTnLst>
                                </p:cTn>
                              </p:par>
                            </p:childTnLst>
                          </p:cTn>
                        </p:par>
                        <p:par>
                          <p:cTn id="40" fill="hold">
                            <p:stCondLst>
                              <p:cond delay="3000"/>
                            </p:stCondLst>
                            <p:childTnLst>
                              <p:par>
                                <p:cTn id="41" presetID="2" presetClass="entr" presetSubtype="2" fill="hold" grpId="0" nodeType="afterEffect">
                                  <p:stCondLst>
                                    <p:cond delay="0"/>
                                  </p:stCondLst>
                                  <p:childTnLst>
                                    <p:set>
                                      <p:cBhvr>
                                        <p:cTn id="42" dur="1" fill="hold">
                                          <p:stCondLst>
                                            <p:cond delay="0"/>
                                          </p:stCondLst>
                                        </p:cTn>
                                        <p:tgtEl>
                                          <p:spTgt spid="83"/>
                                        </p:tgtEl>
                                        <p:attrNameLst>
                                          <p:attrName>style.visibility</p:attrName>
                                        </p:attrNameLst>
                                      </p:cBhvr>
                                      <p:to>
                                        <p:strVal val="visible"/>
                                      </p:to>
                                    </p:set>
                                    <p:anim calcmode="lin" valueType="num">
                                      <p:cBhvr additive="base">
                                        <p:cTn id="43" dur="500" fill="hold"/>
                                        <p:tgtEl>
                                          <p:spTgt spid="83"/>
                                        </p:tgtEl>
                                        <p:attrNameLst>
                                          <p:attrName>ppt_x</p:attrName>
                                        </p:attrNameLst>
                                      </p:cBhvr>
                                      <p:tavLst>
                                        <p:tav tm="0">
                                          <p:val>
                                            <p:strVal val="1+#ppt_w/2"/>
                                          </p:val>
                                        </p:tav>
                                        <p:tav tm="100000">
                                          <p:val>
                                            <p:strVal val="#ppt_x"/>
                                          </p:val>
                                        </p:tav>
                                      </p:tavLst>
                                    </p:anim>
                                    <p:anim calcmode="lin" valueType="num">
                                      <p:cBhvr additive="base">
                                        <p:cTn id="44" dur="500" fill="hold"/>
                                        <p:tgtEl>
                                          <p:spTgt spid="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3" grpId="0"/>
      <p:bldP spid="3" grpId="0"/>
      <p:bldP spid="8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 name="椭圆 101"/>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1"/>
          <p:cNvSpPr txBox="1"/>
          <p:nvPr/>
        </p:nvSpPr>
        <p:spPr>
          <a:xfrm>
            <a:off x="2483768" y="2709756"/>
            <a:ext cx="4171762" cy="592470"/>
          </a:xfrm>
          <a:prstGeom prst="rect">
            <a:avLst/>
          </a:prstGeom>
          <a:noFill/>
        </p:spPr>
        <p:txBody>
          <a:bodyPr wrap="square" lIns="68580" tIns="34290" rIns="68580" bIns="34290" rtlCol="0">
            <a:spAutoFit/>
          </a:bodyPr>
          <a:lstStyle/>
          <a:p>
            <a:pPr algn="ctr"/>
            <a:r>
              <a:rPr lang="zh-CN" altLang="en-US" sz="3400" b="1" dirty="0">
                <a:solidFill>
                  <a:srgbClr val="1B4367"/>
                </a:solidFill>
                <a:cs typeface="+mn-ea"/>
                <a:sym typeface="+mn-lt"/>
              </a:rPr>
              <a:t>优秀单元测试简介</a:t>
            </a:r>
          </a:p>
        </p:txBody>
      </p:sp>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01</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
        <p:nvSpPr>
          <p:cNvPr id="7" name="文本框 10">
            <a:extLst>
              <a:ext uri="{FF2B5EF4-FFF2-40B4-BE49-F238E27FC236}">
                <a16:creationId xmlns:a16="http://schemas.microsoft.com/office/drawing/2014/main" id="{6AFC108A-3758-4879-B5E5-C4964C1E35A3}"/>
              </a:ext>
            </a:extLst>
          </p:cNvPr>
          <p:cNvSpPr txBox="1"/>
          <p:nvPr/>
        </p:nvSpPr>
        <p:spPr>
          <a:xfrm>
            <a:off x="2204171" y="3858641"/>
            <a:ext cx="217233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优秀单元测试的定义</a:t>
            </a:r>
          </a:p>
        </p:txBody>
      </p:sp>
      <p:sp>
        <p:nvSpPr>
          <p:cNvPr id="8" name="文本框 10">
            <a:extLst>
              <a:ext uri="{FF2B5EF4-FFF2-40B4-BE49-F238E27FC236}">
                <a16:creationId xmlns:a16="http://schemas.microsoft.com/office/drawing/2014/main" id="{7D74564E-E365-4E4F-96A6-85F4BE1273D0}"/>
              </a:ext>
            </a:extLst>
          </p:cNvPr>
          <p:cNvSpPr txBox="1"/>
          <p:nvPr/>
        </p:nvSpPr>
        <p:spPr>
          <a:xfrm>
            <a:off x="4767491" y="3858642"/>
            <a:ext cx="217233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优秀单元测试的价值</a:t>
            </a:r>
          </a:p>
        </p:txBody>
      </p:sp>
    </p:spTree>
    <p:extLst>
      <p:ext uri="{BB962C8B-B14F-4D97-AF65-F5344CB8AC3E}">
        <p14:creationId xmlns:p14="http://schemas.microsoft.com/office/powerpoint/2010/main" val="584490659"/>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600"/>
                                        <p:tgtEl>
                                          <p:spTgt spid="102"/>
                                        </p:tgtEl>
                                      </p:cBhvr>
                                    </p:animEffect>
                                  </p:childTnLst>
                                </p:cTn>
                              </p:par>
                            </p:childTnLst>
                          </p:cTn>
                        </p:par>
                        <p:par>
                          <p:cTn id="8" fill="hold">
                            <p:stCondLst>
                              <p:cond delay="600"/>
                            </p:stCondLst>
                            <p:childTnLst>
                              <p:par>
                                <p:cTn id="9" presetID="53" presetClass="entr" presetSubtype="16"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animEffect transition="in" filter="fade">
                                      <p:cBhvr>
                                        <p:cTn id="13" dur="500"/>
                                        <p:tgtEl>
                                          <p:spTgt spid="105"/>
                                        </p:tgtEl>
                                      </p:cBhvr>
                                    </p:animEffect>
                                  </p:childTnLst>
                                </p:cTn>
                              </p:par>
                            </p:childTnLst>
                          </p:cTn>
                        </p:par>
                        <p:par>
                          <p:cTn id="14" fill="hold">
                            <p:stCondLst>
                              <p:cond delay="11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3"/>
                                        </p:tgtEl>
                                        <p:attrNameLst>
                                          <p:attrName>style.visibility</p:attrName>
                                        </p:attrNameLst>
                                      </p:cBhvr>
                                      <p:to>
                                        <p:strVal val="visible"/>
                                      </p:to>
                                    </p:set>
                                    <p:anim calcmode="lin" valueType="num">
                                      <p:cBhvr>
                                        <p:cTn id="17" dur="500" fill="hold"/>
                                        <p:tgtEl>
                                          <p:spTgt spid="10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3"/>
                                        </p:tgtEl>
                                        <p:attrNameLst>
                                          <p:attrName>ppt_y</p:attrName>
                                        </p:attrNameLst>
                                      </p:cBhvr>
                                      <p:tavLst>
                                        <p:tav tm="0">
                                          <p:val>
                                            <p:strVal val="#ppt_y"/>
                                          </p:val>
                                        </p:tav>
                                        <p:tav tm="100000">
                                          <p:val>
                                            <p:strVal val="#ppt_y"/>
                                          </p:val>
                                        </p:tav>
                                      </p:tavLst>
                                    </p:anim>
                                    <p:anim calcmode="lin" valueType="num">
                                      <p:cBhvr>
                                        <p:cTn id="19" dur="500" fill="hold"/>
                                        <p:tgtEl>
                                          <p:spTgt spid="10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3"/>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p:bldP spid="105" grpId="0"/>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优秀单元测试的定义</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25315CCF-5C61-4D4B-80D5-E4B1114846B7}"/>
              </a:ext>
            </a:extLst>
          </p:cNvPr>
          <p:cNvSpPr/>
          <p:nvPr/>
        </p:nvSpPr>
        <p:spPr>
          <a:xfrm>
            <a:off x="629586" y="1741769"/>
            <a:ext cx="7959777" cy="2862322"/>
          </a:xfrm>
          <a:prstGeom prst="rect">
            <a:avLst/>
          </a:prstGeom>
        </p:spPr>
        <p:txBody>
          <a:bodyPr wrap="square">
            <a:spAutoFit/>
          </a:bodyPr>
          <a:lstStyle/>
          <a:p>
            <a:r>
              <a:rPr lang="en-US" altLang="zh-CN" dirty="0">
                <a:solidFill>
                  <a:srgbClr val="333333"/>
                </a:solidFill>
                <a:latin typeface="+mn-ea"/>
              </a:rPr>
              <a:t>1</a:t>
            </a:r>
            <a:r>
              <a:rPr lang="zh-CN" altLang="en-US" dirty="0">
                <a:solidFill>
                  <a:srgbClr val="333333"/>
                </a:solidFill>
                <a:latin typeface="+mn-ea"/>
              </a:rPr>
              <a:t>、    自动化（</a:t>
            </a:r>
            <a:r>
              <a:rPr lang="en-US" altLang="zh-CN" dirty="0">
                <a:solidFill>
                  <a:srgbClr val="333333"/>
                </a:solidFill>
                <a:latin typeface="+mn-ea"/>
              </a:rPr>
              <a:t>Automatic</a:t>
            </a:r>
            <a:r>
              <a:rPr lang="zh-CN" altLang="en-US" dirty="0">
                <a:solidFill>
                  <a:srgbClr val="333333"/>
                </a:solidFill>
                <a:latin typeface="+mn-ea"/>
              </a:rPr>
              <a:t>）：单元测试需要能够自动的运行，包含调用测试的自动化以及结果检查的自动化。</a:t>
            </a:r>
          </a:p>
          <a:p>
            <a:r>
              <a:rPr lang="zh-CN" altLang="en-US" sz="1200" dirty="0">
                <a:solidFill>
                  <a:srgbClr val="333333"/>
                </a:solidFill>
                <a:latin typeface="+mn-ea"/>
              </a:rPr>
              <a:t>       调用测试的自动化：代码首先需要能够正确的被调用，并且所有的测试可以有选择的依次执行，可以通过集成</a:t>
            </a:r>
            <a:r>
              <a:rPr lang="en-US" altLang="zh-CN" sz="1200" dirty="0">
                <a:solidFill>
                  <a:srgbClr val="333333"/>
                </a:solidFill>
                <a:latin typeface="+mn-ea"/>
              </a:rPr>
              <a:t>IDE</a:t>
            </a:r>
            <a:r>
              <a:rPr lang="zh-CN" altLang="en-US" sz="1200" dirty="0">
                <a:solidFill>
                  <a:srgbClr val="333333"/>
                </a:solidFill>
                <a:latin typeface="+mn-ea"/>
              </a:rPr>
              <a:t>完成。</a:t>
            </a:r>
          </a:p>
          <a:p>
            <a:r>
              <a:rPr lang="zh-CN" altLang="en-US" sz="1200" dirty="0">
                <a:solidFill>
                  <a:srgbClr val="333333"/>
                </a:solidFill>
                <a:latin typeface="+mn-ea"/>
              </a:rPr>
              <a:t>       结果检查的自动化：在测试代码执行后，需要展示出相应的测试结果信息，告知测试用例是否通过了验证。</a:t>
            </a:r>
            <a:endParaRPr lang="en-US" altLang="zh-CN" sz="1200" dirty="0">
              <a:solidFill>
                <a:srgbClr val="333333"/>
              </a:solidFill>
              <a:latin typeface="+mn-ea"/>
            </a:endParaRPr>
          </a:p>
          <a:p>
            <a:endParaRPr lang="en-US" altLang="zh-CN" dirty="0">
              <a:solidFill>
                <a:srgbClr val="333333"/>
              </a:solidFill>
              <a:latin typeface="+mn-ea"/>
            </a:endParaRPr>
          </a:p>
          <a:p>
            <a:endParaRPr lang="zh-CN" altLang="en-US" dirty="0">
              <a:solidFill>
                <a:srgbClr val="333333"/>
              </a:solidFill>
              <a:latin typeface="+mn-ea"/>
            </a:endParaRPr>
          </a:p>
          <a:p>
            <a:r>
              <a:rPr lang="en-US" altLang="zh-CN" dirty="0">
                <a:solidFill>
                  <a:srgbClr val="333333"/>
                </a:solidFill>
                <a:latin typeface="+mn-ea"/>
              </a:rPr>
              <a:t>2</a:t>
            </a:r>
            <a:r>
              <a:rPr lang="zh-CN" altLang="en-US" dirty="0">
                <a:solidFill>
                  <a:srgbClr val="333333"/>
                </a:solidFill>
                <a:latin typeface="+mn-ea"/>
              </a:rPr>
              <a:t>、    彻底的（</a:t>
            </a:r>
            <a:r>
              <a:rPr lang="en-US" altLang="zh-CN" dirty="0">
                <a:solidFill>
                  <a:srgbClr val="333333"/>
                </a:solidFill>
                <a:latin typeface="+mn-ea"/>
              </a:rPr>
              <a:t>Thorough</a:t>
            </a:r>
            <a:r>
              <a:rPr lang="zh-CN" altLang="en-US" dirty="0">
                <a:solidFill>
                  <a:srgbClr val="333333"/>
                </a:solidFill>
                <a:latin typeface="+mn-ea"/>
              </a:rPr>
              <a:t>）：好的单元测试应该是彻底的，测试了所有的场景、可能会出现问题的情况。</a:t>
            </a:r>
          </a:p>
          <a:p>
            <a:r>
              <a:rPr lang="zh-CN" altLang="en-US" sz="1200" dirty="0">
                <a:solidFill>
                  <a:srgbClr val="333333"/>
                </a:solidFill>
                <a:latin typeface="+mn-ea"/>
              </a:rPr>
              <a:t>       一个极端是每行代码、代码可能每一个分支、每一个可能抛出的异常等等，都作为测试对象。另一个极端是仅仅测试最可能的情形：边界条件、残缺和畸形的数据等等。</a:t>
            </a:r>
          </a:p>
          <a:p>
            <a:r>
              <a:rPr lang="zh-CN" altLang="en-US" sz="1200" dirty="0">
                <a:solidFill>
                  <a:srgbClr val="333333"/>
                </a:solidFill>
                <a:latin typeface="+mn-ea"/>
              </a:rPr>
              <a:t>另外请注意：</a:t>
            </a:r>
            <a:r>
              <a:rPr lang="en-US" altLang="zh-CN" sz="1200" dirty="0">
                <a:solidFill>
                  <a:srgbClr val="333333"/>
                </a:solidFill>
                <a:latin typeface="+mn-ea"/>
              </a:rPr>
              <a:t>Bug</a:t>
            </a:r>
            <a:r>
              <a:rPr lang="zh-CN" altLang="en-US" sz="1200" dirty="0">
                <a:solidFill>
                  <a:srgbClr val="333333"/>
                </a:solidFill>
                <a:latin typeface="+mn-ea"/>
              </a:rPr>
              <a:t>往往集中的出现在代码的某块区域中，而不是均匀的分布在代码的每块区域中的。对于这种现象，业内引出了一个著名的战斗口号“不要修修补补，完全重写！”。一般情况下，完全抛弃一块</a:t>
            </a:r>
            <a:r>
              <a:rPr lang="en-US" altLang="zh-CN" sz="1200" dirty="0">
                <a:solidFill>
                  <a:srgbClr val="333333"/>
                </a:solidFill>
                <a:latin typeface="+mn-ea"/>
              </a:rPr>
              <a:t>Bug</a:t>
            </a:r>
            <a:r>
              <a:rPr lang="zh-CN" altLang="en-US" sz="1200" dirty="0">
                <a:solidFill>
                  <a:srgbClr val="333333"/>
                </a:solidFill>
                <a:latin typeface="+mn-ea"/>
              </a:rPr>
              <a:t>很多的代码块，并进行重写会令开销更小，痛苦更少。总之，单元测试越多，代码问题越少。</a:t>
            </a:r>
          </a:p>
        </p:txBody>
      </p:sp>
      <p:sp>
        <p:nvSpPr>
          <p:cNvPr id="4" name="矩形 3">
            <a:extLst>
              <a:ext uri="{FF2B5EF4-FFF2-40B4-BE49-F238E27FC236}">
                <a16:creationId xmlns:a16="http://schemas.microsoft.com/office/drawing/2014/main" id="{2D553852-4400-41D0-98E9-D6E73E1065FC}"/>
              </a:ext>
            </a:extLst>
          </p:cNvPr>
          <p:cNvSpPr/>
          <p:nvPr/>
        </p:nvSpPr>
        <p:spPr>
          <a:xfrm>
            <a:off x="629586" y="856813"/>
            <a:ext cx="7764906" cy="584775"/>
          </a:xfrm>
          <a:prstGeom prst="rect">
            <a:avLst/>
          </a:prstGeom>
        </p:spPr>
        <p:txBody>
          <a:bodyPr wrap="square">
            <a:spAutoFit/>
          </a:bodyPr>
          <a:lstStyle/>
          <a:p>
            <a:r>
              <a:rPr lang="zh-CN" altLang="en-US" sz="1600" dirty="0">
                <a:solidFill>
                  <a:srgbClr val="333333"/>
                </a:solidFill>
                <a:latin typeface="+mn-ea"/>
              </a:rPr>
              <a:t>优秀的单元测试应该具备的品质有 ：自动化（</a:t>
            </a:r>
            <a:r>
              <a:rPr lang="en-US" altLang="zh-CN" sz="1600" dirty="0">
                <a:solidFill>
                  <a:srgbClr val="333333"/>
                </a:solidFill>
                <a:latin typeface="+mn-ea"/>
              </a:rPr>
              <a:t>Automatic</a:t>
            </a:r>
            <a:r>
              <a:rPr lang="zh-CN" altLang="en-US" sz="1600" dirty="0">
                <a:solidFill>
                  <a:srgbClr val="333333"/>
                </a:solidFill>
                <a:latin typeface="+mn-ea"/>
              </a:rPr>
              <a:t>）、彻底的（</a:t>
            </a:r>
            <a:r>
              <a:rPr lang="en-US" altLang="zh-CN" sz="1600" dirty="0">
                <a:solidFill>
                  <a:srgbClr val="333333"/>
                </a:solidFill>
                <a:latin typeface="+mn-ea"/>
              </a:rPr>
              <a:t>Thorough</a:t>
            </a:r>
            <a:r>
              <a:rPr lang="zh-CN" altLang="en-US" sz="1600" dirty="0">
                <a:solidFill>
                  <a:srgbClr val="333333"/>
                </a:solidFill>
                <a:latin typeface="+mn-ea"/>
              </a:rPr>
              <a:t>）、可重复（</a:t>
            </a:r>
            <a:r>
              <a:rPr lang="en-US" altLang="zh-CN" sz="1600" dirty="0">
                <a:solidFill>
                  <a:srgbClr val="333333"/>
                </a:solidFill>
                <a:latin typeface="+mn-ea"/>
              </a:rPr>
              <a:t>Repeatable</a:t>
            </a:r>
            <a:r>
              <a:rPr lang="zh-CN" altLang="en-US" sz="1600" dirty="0">
                <a:solidFill>
                  <a:srgbClr val="333333"/>
                </a:solidFill>
                <a:latin typeface="+mn-ea"/>
              </a:rPr>
              <a:t>）、独立的（</a:t>
            </a:r>
            <a:r>
              <a:rPr lang="en-US" altLang="zh-CN" sz="1600" dirty="0">
                <a:solidFill>
                  <a:srgbClr val="333333"/>
                </a:solidFill>
                <a:latin typeface="+mn-ea"/>
              </a:rPr>
              <a:t>Independent</a:t>
            </a:r>
            <a:r>
              <a:rPr lang="zh-CN" altLang="en-US" sz="1600" dirty="0">
                <a:solidFill>
                  <a:srgbClr val="333333"/>
                </a:solidFill>
                <a:latin typeface="+mn-ea"/>
              </a:rPr>
              <a:t>）、专业的（</a:t>
            </a:r>
            <a:r>
              <a:rPr lang="en-US" altLang="zh-CN" sz="1600" dirty="0">
                <a:solidFill>
                  <a:srgbClr val="333333"/>
                </a:solidFill>
                <a:latin typeface="+mn-ea"/>
              </a:rPr>
              <a:t>Professional</a:t>
            </a:r>
            <a:r>
              <a:rPr lang="zh-CN" altLang="en-US" sz="1600" dirty="0">
                <a:solidFill>
                  <a:srgbClr val="333333"/>
                </a:solidFill>
                <a:latin typeface="+mn-ea"/>
              </a:rPr>
              <a: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优秀单元测试的定义</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36420B4B-35CA-4F13-8A7C-4EBA6EC671DF}"/>
              </a:ext>
            </a:extLst>
          </p:cNvPr>
          <p:cNvSpPr/>
          <p:nvPr/>
        </p:nvSpPr>
        <p:spPr>
          <a:xfrm>
            <a:off x="566207" y="1106026"/>
            <a:ext cx="7700868" cy="3262432"/>
          </a:xfrm>
          <a:prstGeom prst="rect">
            <a:avLst/>
          </a:prstGeom>
        </p:spPr>
        <p:txBody>
          <a:bodyPr wrap="square">
            <a:spAutoFit/>
          </a:bodyPr>
          <a:lstStyle/>
          <a:p>
            <a:r>
              <a:rPr lang="en-US" altLang="zh-CN" dirty="0">
                <a:solidFill>
                  <a:srgbClr val="333333"/>
                </a:solidFill>
                <a:latin typeface="+mn-ea"/>
              </a:rPr>
              <a:t>3</a:t>
            </a:r>
            <a:r>
              <a:rPr lang="zh-CN" altLang="en-US" dirty="0">
                <a:solidFill>
                  <a:srgbClr val="333333"/>
                </a:solidFill>
                <a:latin typeface="+mn-ea"/>
              </a:rPr>
              <a:t>、    可重复（</a:t>
            </a:r>
            <a:r>
              <a:rPr lang="en-US" altLang="zh-CN" dirty="0">
                <a:solidFill>
                  <a:srgbClr val="333333"/>
                </a:solidFill>
                <a:latin typeface="+mn-ea"/>
              </a:rPr>
              <a:t>Repeatable</a:t>
            </a:r>
            <a:r>
              <a:rPr lang="zh-CN" altLang="en-US" dirty="0">
                <a:solidFill>
                  <a:srgbClr val="333333"/>
                </a:solidFill>
                <a:latin typeface="+mn-ea"/>
              </a:rPr>
              <a:t>）：每一个测试用例都可以重复的执行，并且确定唯一的结果。</a:t>
            </a:r>
          </a:p>
          <a:p>
            <a:r>
              <a:rPr lang="zh-CN" altLang="en-US" sz="1200" dirty="0">
                <a:solidFill>
                  <a:srgbClr val="333333"/>
                </a:solidFill>
                <a:latin typeface="+mn-ea"/>
              </a:rPr>
              <a:t>       测试的目标只有一个，就是测试应该能够一次又一次的执行，并且产生相同的结果。意味着，测试不能依赖不受控制的任何外部因素，这个话题引出了“测试替身”的概念，必要的时候，需要用测试替身来隔离所有的外界因素。</a:t>
            </a:r>
            <a:endParaRPr lang="en-US" altLang="zh-CN" sz="1200" dirty="0">
              <a:solidFill>
                <a:srgbClr val="333333"/>
              </a:solidFill>
              <a:latin typeface="+mn-ea"/>
            </a:endParaRPr>
          </a:p>
          <a:p>
            <a:endParaRPr lang="en-US" altLang="zh-CN" sz="1200" dirty="0">
              <a:solidFill>
                <a:srgbClr val="333333"/>
              </a:solidFill>
              <a:latin typeface="+mn-ea"/>
            </a:endParaRPr>
          </a:p>
          <a:p>
            <a:endParaRPr lang="zh-CN" altLang="en-US" dirty="0">
              <a:solidFill>
                <a:srgbClr val="333333"/>
              </a:solidFill>
              <a:latin typeface="+mn-ea"/>
            </a:endParaRPr>
          </a:p>
          <a:p>
            <a:r>
              <a:rPr lang="en-US" altLang="zh-CN" dirty="0">
                <a:solidFill>
                  <a:srgbClr val="333333"/>
                </a:solidFill>
                <a:latin typeface="+mn-ea"/>
              </a:rPr>
              <a:t>4</a:t>
            </a:r>
            <a:r>
              <a:rPr lang="zh-CN" altLang="en-US" dirty="0">
                <a:solidFill>
                  <a:srgbClr val="333333"/>
                </a:solidFill>
                <a:latin typeface="+mn-ea"/>
              </a:rPr>
              <a:t>、    独立的（</a:t>
            </a:r>
            <a:r>
              <a:rPr lang="en-US" altLang="zh-CN" dirty="0">
                <a:solidFill>
                  <a:srgbClr val="333333"/>
                </a:solidFill>
                <a:latin typeface="+mn-ea"/>
              </a:rPr>
              <a:t>Independent</a:t>
            </a:r>
            <a:r>
              <a:rPr lang="zh-CN" altLang="en-US" dirty="0">
                <a:solidFill>
                  <a:srgbClr val="333333"/>
                </a:solidFill>
                <a:latin typeface="+mn-ea"/>
              </a:rPr>
              <a:t>）：每个测试用例都应有强的针对性，应对同一业务代码编写相应的测试用例，并且需要独立于其它测试和环境。</a:t>
            </a:r>
          </a:p>
          <a:p>
            <a:r>
              <a:rPr lang="zh-CN" altLang="en-US" sz="1200" dirty="0">
                <a:solidFill>
                  <a:srgbClr val="333333"/>
                </a:solidFill>
                <a:latin typeface="+mn-ea"/>
              </a:rPr>
              <a:t>       所有的测试用例，可能在任何时间点，被多个开发人员以任何顺序，运行任何测试用例，所以应保证每个测试用例都能独立运行。</a:t>
            </a:r>
            <a:endParaRPr lang="en-US" altLang="zh-CN" sz="1200" dirty="0">
              <a:solidFill>
                <a:srgbClr val="333333"/>
              </a:solidFill>
              <a:latin typeface="+mn-ea"/>
            </a:endParaRPr>
          </a:p>
          <a:p>
            <a:endParaRPr lang="en-US" altLang="zh-CN" sz="1200" dirty="0">
              <a:solidFill>
                <a:srgbClr val="333333"/>
              </a:solidFill>
              <a:latin typeface="+mn-ea"/>
            </a:endParaRPr>
          </a:p>
          <a:p>
            <a:endParaRPr lang="zh-CN" altLang="en-US" dirty="0">
              <a:solidFill>
                <a:srgbClr val="333333"/>
              </a:solidFill>
              <a:latin typeface="+mn-ea"/>
            </a:endParaRPr>
          </a:p>
          <a:p>
            <a:r>
              <a:rPr lang="en-US" altLang="zh-CN" dirty="0">
                <a:solidFill>
                  <a:srgbClr val="333333"/>
                </a:solidFill>
                <a:latin typeface="+mn-ea"/>
              </a:rPr>
              <a:t>5</a:t>
            </a:r>
            <a:r>
              <a:rPr lang="zh-CN" altLang="en-US" dirty="0">
                <a:solidFill>
                  <a:srgbClr val="333333"/>
                </a:solidFill>
                <a:latin typeface="+mn-ea"/>
              </a:rPr>
              <a:t>、    专业的（</a:t>
            </a:r>
            <a:r>
              <a:rPr lang="en-US" altLang="zh-CN" dirty="0">
                <a:solidFill>
                  <a:srgbClr val="333333"/>
                </a:solidFill>
                <a:latin typeface="+mn-ea"/>
              </a:rPr>
              <a:t>Professional</a:t>
            </a:r>
            <a:r>
              <a:rPr lang="zh-CN" altLang="en-US" dirty="0">
                <a:solidFill>
                  <a:srgbClr val="333333"/>
                </a:solidFill>
                <a:latin typeface="+mn-ea"/>
              </a:rPr>
              <a:t>）：测试代码需要是专业的，多次编写测试的时候，需要注意抽取相同的代码逻辑，进行封装设计。</a:t>
            </a:r>
          </a:p>
          <a:p>
            <a:r>
              <a:rPr lang="zh-CN" altLang="en-US" sz="1200" dirty="0">
                <a:solidFill>
                  <a:srgbClr val="333333"/>
                </a:solidFill>
                <a:latin typeface="+mn-ea"/>
              </a:rPr>
              <a:t>       测试代码，也是真实的代码，应该保持简洁而精炼，便于后期维护、阅读。测试的代码应该和开发的代码量大体相当，所以测试代码需要保持专业，有良好的设计。在必要的时候，需要创建一个框架进行测试。</a:t>
            </a:r>
          </a:p>
        </p:txBody>
      </p:sp>
    </p:spTree>
    <p:extLst>
      <p:ext uri="{BB962C8B-B14F-4D97-AF65-F5344CB8AC3E}">
        <p14:creationId xmlns:p14="http://schemas.microsoft.com/office/powerpoint/2010/main" val="15578532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优秀单元测试的价值</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B5A9123-AB2C-499D-B1EF-36CFCCC9B0C1}"/>
              </a:ext>
            </a:extLst>
          </p:cNvPr>
          <p:cNvSpPr/>
          <p:nvPr/>
        </p:nvSpPr>
        <p:spPr>
          <a:xfrm>
            <a:off x="716109" y="1005996"/>
            <a:ext cx="6719012" cy="338554"/>
          </a:xfrm>
          <a:prstGeom prst="rect">
            <a:avLst/>
          </a:prstGeom>
        </p:spPr>
        <p:txBody>
          <a:bodyPr wrap="square">
            <a:spAutoFit/>
          </a:bodyPr>
          <a:lstStyle/>
          <a:p>
            <a:r>
              <a:rPr lang="zh-CN" altLang="en-US" sz="1600" dirty="0">
                <a:solidFill>
                  <a:srgbClr val="333333"/>
                </a:solidFill>
                <a:latin typeface="+mn-ea"/>
              </a:rPr>
              <a:t>很多人往往会觉得写单元测试比较繁琐，而且没有太多挑战而不愿意去写？</a:t>
            </a:r>
            <a:endParaRPr lang="en-US" altLang="zh-CN" sz="1600" dirty="0">
              <a:solidFill>
                <a:srgbClr val="333333"/>
              </a:solidFill>
              <a:latin typeface="+mn-ea"/>
            </a:endParaRPr>
          </a:p>
        </p:txBody>
      </p:sp>
      <p:sp>
        <p:nvSpPr>
          <p:cNvPr id="7" name="矩形 6">
            <a:extLst>
              <a:ext uri="{FF2B5EF4-FFF2-40B4-BE49-F238E27FC236}">
                <a16:creationId xmlns:a16="http://schemas.microsoft.com/office/drawing/2014/main" id="{A07F2F53-C7A4-4299-B5D3-A47C75C8FE02}"/>
              </a:ext>
            </a:extLst>
          </p:cNvPr>
          <p:cNvSpPr/>
          <p:nvPr/>
        </p:nvSpPr>
        <p:spPr>
          <a:xfrm>
            <a:off x="716109" y="1699599"/>
            <a:ext cx="6719012" cy="1354217"/>
          </a:xfrm>
          <a:prstGeom prst="rect">
            <a:avLst/>
          </a:prstGeom>
        </p:spPr>
        <p:txBody>
          <a:bodyPr wrap="square">
            <a:spAutoFit/>
          </a:bodyPr>
          <a:lstStyle/>
          <a:p>
            <a:r>
              <a:rPr lang="zh-CN" altLang="en-US" sz="1600" dirty="0">
                <a:solidFill>
                  <a:srgbClr val="333333"/>
                </a:solidFill>
                <a:latin typeface="+mn-ea"/>
              </a:rPr>
              <a:t>优秀单元测试的价值：</a:t>
            </a:r>
            <a:endParaRPr lang="en-US" altLang="zh-CN" sz="1600" dirty="0">
              <a:solidFill>
                <a:srgbClr val="333333"/>
              </a:solidFill>
              <a:latin typeface="+mn-ea"/>
            </a:endParaRPr>
          </a:p>
          <a:p>
            <a:endParaRPr lang="en-US" altLang="zh-CN" sz="1600" dirty="0">
              <a:solidFill>
                <a:srgbClr val="333333"/>
              </a:solidFill>
              <a:latin typeface="+mn-ea"/>
            </a:endParaRPr>
          </a:p>
          <a:p>
            <a:r>
              <a:rPr lang="en-US" altLang="zh-CN" dirty="0">
                <a:solidFill>
                  <a:srgbClr val="333333"/>
                </a:solidFill>
                <a:latin typeface="+mn-ea"/>
              </a:rPr>
              <a:t>1</a:t>
            </a:r>
            <a:r>
              <a:rPr lang="zh-CN" altLang="en-US" dirty="0">
                <a:solidFill>
                  <a:srgbClr val="333333"/>
                </a:solidFill>
                <a:latin typeface="+mn-ea"/>
              </a:rPr>
              <a:t>、让我们对自己的代码有信心 </a:t>
            </a:r>
            <a:endParaRPr lang="en-US" altLang="zh-CN" dirty="0">
              <a:solidFill>
                <a:srgbClr val="333333"/>
              </a:solidFill>
              <a:latin typeface="+mn-ea"/>
            </a:endParaRPr>
          </a:p>
          <a:p>
            <a:r>
              <a:rPr lang="zh-CN" altLang="en-US" sz="1200" dirty="0"/>
              <a:t>       </a:t>
            </a:r>
            <a:r>
              <a:rPr lang="zh-CN" altLang="en-US" sz="1200" dirty="0">
                <a:solidFill>
                  <a:srgbClr val="333333"/>
                </a:solidFill>
                <a:latin typeface="+mn-ea"/>
              </a:rPr>
              <a:t>很多人都有过这样的经历：自己写的代码要上线的时候就开始紧张，总是有一种铤而走险的感觉，这些都是对自己写的代码没信心的表现。单元测试虽不能百分百保证代码完全正确，但明显能增加对代码的信心。</a:t>
            </a:r>
            <a:endParaRPr lang="en-US" altLang="zh-CN" sz="1200" dirty="0">
              <a:solidFill>
                <a:srgbClr val="333333"/>
              </a:solidFill>
              <a:latin typeface="+mn-ea"/>
            </a:endParaRPr>
          </a:p>
        </p:txBody>
      </p:sp>
      <p:sp>
        <p:nvSpPr>
          <p:cNvPr id="6" name="矩形 5">
            <a:extLst>
              <a:ext uri="{FF2B5EF4-FFF2-40B4-BE49-F238E27FC236}">
                <a16:creationId xmlns:a16="http://schemas.microsoft.com/office/drawing/2014/main" id="{DAEF29EE-FBF7-4DD0-98EA-8028C21C98D5}"/>
              </a:ext>
            </a:extLst>
          </p:cNvPr>
          <p:cNvSpPr/>
          <p:nvPr/>
        </p:nvSpPr>
        <p:spPr>
          <a:xfrm>
            <a:off x="716109" y="3251469"/>
            <a:ext cx="6614081" cy="1077218"/>
          </a:xfrm>
          <a:prstGeom prst="rect">
            <a:avLst/>
          </a:prstGeom>
        </p:spPr>
        <p:txBody>
          <a:bodyPr wrap="square">
            <a:spAutoFit/>
          </a:bodyPr>
          <a:lstStyle/>
          <a:p>
            <a:r>
              <a:rPr lang="en-US" altLang="zh-CN" dirty="0">
                <a:solidFill>
                  <a:srgbClr val="333333"/>
                </a:solidFill>
                <a:latin typeface="+mn-ea"/>
              </a:rPr>
              <a:t>2</a:t>
            </a:r>
            <a:r>
              <a:rPr lang="zh-CN" altLang="en-US" dirty="0">
                <a:solidFill>
                  <a:srgbClr val="333333"/>
                </a:solidFill>
                <a:latin typeface="+mn-ea"/>
              </a:rPr>
              <a:t>、自信的重构和改进实现 </a:t>
            </a:r>
            <a:endParaRPr lang="en-US" altLang="zh-CN" dirty="0">
              <a:solidFill>
                <a:srgbClr val="333333"/>
              </a:solidFill>
              <a:latin typeface="+mn-ea"/>
            </a:endParaRPr>
          </a:p>
          <a:p>
            <a:r>
              <a:rPr lang="zh-CN" altLang="en-US" dirty="0">
                <a:latin typeface="+mn-ea"/>
              </a:rPr>
              <a:t>      </a:t>
            </a:r>
            <a:r>
              <a:rPr lang="zh-CN" altLang="en-US" sz="1200" dirty="0">
                <a:solidFill>
                  <a:srgbClr val="333333"/>
                </a:solidFill>
                <a:latin typeface="+mn-ea"/>
              </a:rPr>
              <a:t>单元测试不仅仅用来保证当前代码的正确性，更重要的是用来保证代码修复、改进或重构之后的正确性。在没有进行单元测试的代码中，重构是有着巨大风险的行为，单元测试可以为重构的行为提供信心。同时有良好的单元测试作为保障，在修复、改进或重构代码时，可以防止引入新的</a:t>
            </a:r>
            <a:r>
              <a:rPr lang="en-US" altLang="zh-CN" sz="1200" dirty="0">
                <a:solidFill>
                  <a:srgbClr val="333333"/>
                </a:solidFill>
                <a:latin typeface="+mn-ea"/>
              </a:rPr>
              <a:t>Bug</a:t>
            </a:r>
            <a:r>
              <a:rPr lang="zh-CN" altLang="en-US" sz="1200" dirty="0">
                <a:solidFill>
                  <a:srgbClr val="333333"/>
                </a:solidFill>
                <a:latin typeface="+mn-ea"/>
              </a:rPr>
              <a:t>。</a:t>
            </a:r>
            <a:endParaRPr lang="en-US" altLang="zh-CN" sz="1200" dirty="0">
              <a:solidFill>
                <a:srgbClr val="333333"/>
              </a:solidFill>
              <a:latin typeface="+mn-ea"/>
            </a:endParaRPr>
          </a:p>
        </p:txBody>
      </p:sp>
    </p:spTree>
    <p:extLst>
      <p:ext uri="{BB962C8B-B14F-4D97-AF65-F5344CB8AC3E}">
        <p14:creationId xmlns:p14="http://schemas.microsoft.com/office/powerpoint/2010/main" val="6623746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p:bldP spid="7"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优秀单元测试的好处</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A07F2F53-C7A4-4299-B5D3-A47C75C8FE02}"/>
              </a:ext>
            </a:extLst>
          </p:cNvPr>
          <p:cNvSpPr/>
          <p:nvPr/>
        </p:nvSpPr>
        <p:spPr>
          <a:xfrm>
            <a:off x="663641" y="931934"/>
            <a:ext cx="6719012" cy="861774"/>
          </a:xfrm>
          <a:prstGeom prst="rect">
            <a:avLst/>
          </a:prstGeom>
        </p:spPr>
        <p:txBody>
          <a:bodyPr wrap="square">
            <a:spAutoFit/>
          </a:bodyPr>
          <a:lstStyle/>
          <a:p>
            <a:r>
              <a:rPr lang="en-US" altLang="zh-CN" dirty="0">
                <a:solidFill>
                  <a:srgbClr val="333333"/>
                </a:solidFill>
                <a:latin typeface="+mn-ea"/>
              </a:rPr>
              <a:t>3</a:t>
            </a:r>
            <a:r>
              <a:rPr lang="zh-CN" altLang="en-US" dirty="0">
                <a:solidFill>
                  <a:srgbClr val="333333"/>
                </a:solidFill>
                <a:latin typeface="+mn-ea"/>
              </a:rPr>
              <a:t>、提高团队效率 </a:t>
            </a:r>
            <a:endParaRPr lang="en-US" altLang="zh-CN" dirty="0">
              <a:solidFill>
                <a:srgbClr val="333333"/>
              </a:solidFill>
              <a:latin typeface="+mn-ea"/>
            </a:endParaRPr>
          </a:p>
          <a:p>
            <a:r>
              <a:rPr lang="zh-CN" altLang="en-US" sz="1200" dirty="0"/>
              <a:t>       </a:t>
            </a:r>
            <a:r>
              <a:rPr lang="zh-CN" altLang="en-US" sz="1200" dirty="0">
                <a:solidFill>
                  <a:srgbClr val="333333"/>
                </a:solidFill>
                <a:latin typeface="+mn-ea"/>
              </a:rPr>
              <a:t>在一个项目中，经过单元测试通过的代码，可以称为高质量的代码。写单元测试的过程，可修改错误的设计或错误的编码。如果没有优秀单元测试的自我保证，那么只有将所有组件都完成以后才能完整运行，这将大大影响开发联调、</a:t>
            </a:r>
            <a:r>
              <a:rPr lang="en-US" altLang="zh-CN" sz="1200" dirty="0">
                <a:solidFill>
                  <a:srgbClr val="333333"/>
                </a:solidFill>
                <a:latin typeface="+mn-ea"/>
              </a:rPr>
              <a:t>SIT</a:t>
            </a:r>
            <a:r>
              <a:rPr lang="zh-CN" altLang="en-US" sz="1200" dirty="0">
                <a:solidFill>
                  <a:srgbClr val="333333"/>
                </a:solidFill>
                <a:latin typeface="+mn-ea"/>
              </a:rPr>
              <a:t>测试的效率。 </a:t>
            </a:r>
            <a:endParaRPr lang="en-US" altLang="zh-CN" sz="1200" dirty="0">
              <a:solidFill>
                <a:srgbClr val="333333"/>
              </a:solidFill>
              <a:latin typeface="+mn-ea"/>
            </a:endParaRPr>
          </a:p>
        </p:txBody>
      </p:sp>
      <p:sp>
        <p:nvSpPr>
          <p:cNvPr id="6" name="矩形 5">
            <a:extLst>
              <a:ext uri="{FF2B5EF4-FFF2-40B4-BE49-F238E27FC236}">
                <a16:creationId xmlns:a16="http://schemas.microsoft.com/office/drawing/2014/main" id="{DAEF29EE-FBF7-4DD0-98EA-8028C21C98D5}"/>
              </a:ext>
            </a:extLst>
          </p:cNvPr>
          <p:cNvSpPr/>
          <p:nvPr/>
        </p:nvSpPr>
        <p:spPr>
          <a:xfrm>
            <a:off x="663643" y="2173156"/>
            <a:ext cx="6614081" cy="1077218"/>
          </a:xfrm>
          <a:prstGeom prst="rect">
            <a:avLst/>
          </a:prstGeom>
        </p:spPr>
        <p:txBody>
          <a:bodyPr wrap="square">
            <a:spAutoFit/>
          </a:bodyPr>
          <a:lstStyle/>
          <a:p>
            <a:r>
              <a:rPr lang="en-US" altLang="zh-CN" dirty="0">
                <a:solidFill>
                  <a:srgbClr val="333333"/>
                </a:solidFill>
                <a:latin typeface="+mn-ea"/>
              </a:rPr>
              <a:t>4</a:t>
            </a:r>
            <a:r>
              <a:rPr lang="zh-CN" altLang="en-US" dirty="0">
                <a:solidFill>
                  <a:srgbClr val="333333"/>
                </a:solidFill>
                <a:latin typeface="+mn-ea"/>
              </a:rPr>
              <a:t>、带来更高的测试覆盖率</a:t>
            </a:r>
            <a:endParaRPr lang="en-US" altLang="zh-CN" dirty="0">
              <a:solidFill>
                <a:srgbClr val="333333"/>
              </a:solidFill>
              <a:latin typeface="+mn-ea"/>
            </a:endParaRPr>
          </a:p>
          <a:p>
            <a:r>
              <a:rPr lang="zh-CN" altLang="en-US" dirty="0">
                <a:latin typeface="+mn-ea"/>
              </a:rPr>
              <a:t>      </a:t>
            </a:r>
            <a:r>
              <a:rPr lang="zh-CN" altLang="en-US" sz="1200" dirty="0">
                <a:solidFill>
                  <a:srgbClr val="333333"/>
                </a:solidFill>
                <a:latin typeface="+mn-ea"/>
              </a:rPr>
              <a:t>功能测试大约可以覆盖到</a:t>
            </a:r>
            <a:r>
              <a:rPr lang="en-US" altLang="zh-CN" sz="1200" dirty="0">
                <a:solidFill>
                  <a:srgbClr val="333333"/>
                </a:solidFill>
                <a:latin typeface="+mn-ea"/>
              </a:rPr>
              <a:t>70%</a:t>
            </a:r>
            <a:r>
              <a:rPr lang="zh-CN" altLang="en-US" sz="1200" dirty="0">
                <a:solidFill>
                  <a:srgbClr val="333333"/>
                </a:solidFill>
                <a:latin typeface="+mn-ea"/>
              </a:rPr>
              <a:t>的应用程序代码，对于一些特别复杂的系统，再强大的测试团队也是无法模拟所有的测试场景和测试用例的，所以编写单元测试显得尤为重要了。单元测试可以很容易的模拟错误条件，这一点在功能测试中却很难办到，有些情况下甚至是不可能办到，等到生产去验证有极大的风险，应尽早规避。</a:t>
            </a:r>
            <a:endParaRPr lang="en-US" altLang="zh-CN" sz="1200" dirty="0">
              <a:solidFill>
                <a:srgbClr val="333333"/>
              </a:solidFill>
              <a:latin typeface="+mn-ea"/>
            </a:endParaRPr>
          </a:p>
        </p:txBody>
      </p:sp>
      <p:sp>
        <p:nvSpPr>
          <p:cNvPr id="8" name="矩形 7">
            <a:extLst>
              <a:ext uri="{FF2B5EF4-FFF2-40B4-BE49-F238E27FC236}">
                <a16:creationId xmlns:a16="http://schemas.microsoft.com/office/drawing/2014/main" id="{E24315F5-81F1-4A30-969C-A899F848F63C}"/>
              </a:ext>
            </a:extLst>
          </p:cNvPr>
          <p:cNvSpPr/>
          <p:nvPr/>
        </p:nvSpPr>
        <p:spPr>
          <a:xfrm>
            <a:off x="663643" y="3629822"/>
            <a:ext cx="6614081" cy="892552"/>
          </a:xfrm>
          <a:prstGeom prst="rect">
            <a:avLst/>
          </a:prstGeom>
        </p:spPr>
        <p:txBody>
          <a:bodyPr wrap="square">
            <a:spAutoFit/>
          </a:bodyPr>
          <a:lstStyle/>
          <a:p>
            <a:r>
              <a:rPr lang="en-US" altLang="zh-CN" dirty="0">
                <a:solidFill>
                  <a:srgbClr val="333333"/>
                </a:solidFill>
                <a:latin typeface="+mn-ea"/>
              </a:rPr>
              <a:t>5</a:t>
            </a:r>
            <a:r>
              <a:rPr lang="zh-CN" altLang="en-US" dirty="0">
                <a:solidFill>
                  <a:srgbClr val="333333"/>
                </a:solidFill>
                <a:latin typeface="+mn-ea"/>
              </a:rPr>
              <a:t>、将预期的行为文档化</a:t>
            </a:r>
            <a:endParaRPr lang="en-US" altLang="zh-CN" dirty="0">
              <a:solidFill>
                <a:srgbClr val="333333"/>
              </a:solidFill>
              <a:latin typeface="+mn-ea"/>
            </a:endParaRPr>
          </a:p>
          <a:p>
            <a:r>
              <a:rPr lang="zh-CN" altLang="en-US" dirty="0">
                <a:latin typeface="+mn-ea"/>
              </a:rPr>
              <a:t>      </a:t>
            </a:r>
            <a:r>
              <a:rPr lang="zh-CN" altLang="en-US" sz="1200" dirty="0">
                <a:solidFill>
                  <a:srgbClr val="333333"/>
                </a:solidFill>
                <a:latin typeface="+mn-ea"/>
              </a:rPr>
              <a:t>优秀的单元测试是一种无价的文档，这份文档是可编译、可运行的，比起其它形式的文档，单元测试必须始终是最新的、最有效的，完整的单元测试就是</a:t>
            </a:r>
            <a:r>
              <a:rPr lang="en-US" altLang="zh-CN" sz="1200" dirty="0">
                <a:solidFill>
                  <a:srgbClr val="333333"/>
                </a:solidFill>
                <a:latin typeface="+mn-ea"/>
              </a:rPr>
              <a:t>API</a:t>
            </a:r>
            <a:r>
              <a:rPr lang="zh-CN" altLang="en-US" sz="1200" dirty="0">
                <a:solidFill>
                  <a:srgbClr val="333333"/>
                </a:solidFill>
                <a:latin typeface="+mn-ea"/>
              </a:rPr>
              <a:t>最好的实例。后续其他人员或新进人员维护，可通过单元测试快速熟悉代码。</a:t>
            </a:r>
            <a:endParaRPr lang="en-US" altLang="zh-CN" sz="1200" dirty="0">
              <a:solidFill>
                <a:srgbClr val="333333"/>
              </a:solidFill>
              <a:latin typeface="+mn-ea"/>
            </a:endParaRPr>
          </a:p>
        </p:txBody>
      </p:sp>
      <p:sp>
        <p:nvSpPr>
          <p:cNvPr id="2" name="矩形 1">
            <a:extLst>
              <a:ext uri="{FF2B5EF4-FFF2-40B4-BE49-F238E27FC236}">
                <a16:creationId xmlns:a16="http://schemas.microsoft.com/office/drawing/2014/main" id="{E1E6661B-5E8E-407D-AE4E-CFD8E355B41D}"/>
              </a:ext>
            </a:extLst>
          </p:cNvPr>
          <p:cNvSpPr/>
          <p:nvPr/>
        </p:nvSpPr>
        <p:spPr>
          <a:xfrm>
            <a:off x="663642" y="4486083"/>
            <a:ext cx="6719011" cy="307777"/>
          </a:xfrm>
          <a:prstGeom prst="rect">
            <a:avLst/>
          </a:prstGeom>
        </p:spPr>
        <p:txBody>
          <a:bodyPr wrap="square">
            <a:spAutoFit/>
          </a:bodyPr>
          <a:lstStyle/>
          <a:p>
            <a:r>
              <a:rPr lang="zh-CN" altLang="en-US" dirty="0">
                <a:solidFill>
                  <a:srgbClr val="333333"/>
                </a:solidFill>
                <a:latin typeface="+mn-ea"/>
              </a:rPr>
              <a:t>       </a:t>
            </a:r>
          </a:p>
        </p:txBody>
      </p:sp>
    </p:spTree>
    <p:extLst>
      <p:ext uri="{BB962C8B-B14F-4D97-AF65-F5344CB8AC3E}">
        <p14:creationId xmlns:p14="http://schemas.microsoft.com/office/powerpoint/2010/main" val="34337674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 name="椭圆 101"/>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1"/>
          <p:cNvSpPr txBox="1"/>
          <p:nvPr/>
        </p:nvSpPr>
        <p:spPr>
          <a:xfrm>
            <a:off x="2483768" y="2709756"/>
            <a:ext cx="4171762" cy="592470"/>
          </a:xfrm>
          <a:prstGeom prst="rect">
            <a:avLst/>
          </a:prstGeom>
          <a:noFill/>
        </p:spPr>
        <p:txBody>
          <a:bodyPr wrap="square" lIns="68580" tIns="34290" rIns="68580" bIns="34290" rtlCol="0">
            <a:spAutoFit/>
          </a:bodyPr>
          <a:lstStyle/>
          <a:p>
            <a:pPr algn="ctr"/>
            <a:r>
              <a:rPr lang="zh-CN" altLang="en-US" sz="3400" b="1" dirty="0">
                <a:solidFill>
                  <a:srgbClr val="1B4367"/>
                </a:solidFill>
                <a:cs typeface="+mn-ea"/>
                <a:sym typeface="+mn-lt"/>
              </a:rPr>
              <a:t>优秀单元测试实践</a:t>
            </a:r>
          </a:p>
        </p:txBody>
      </p:sp>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02</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
        <p:nvSpPr>
          <p:cNvPr id="7" name="文本框 10">
            <a:extLst>
              <a:ext uri="{FF2B5EF4-FFF2-40B4-BE49-F238E27FC236}">
                <a16:creationId xmlns:a16="http://schemas.microsoft.com/office/drawing/2014/main" id="{6AFC108A-3758-4879-B5E5-C4964C1E35A3}"/>
              </a:ext>
            </a:extLst>
          </p:cNvPr>
          <p:cNvSpPr txBox="1"/>
          <p:nvPr/>
        </p:nvSpPr>
        <p:spPr>
          <a:xfrm>
            <a:off x="2204171" y="3858641"/>
            <a:ext cx="217233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编写规范的单元测试</a:t>
            </a:r>
          </a:p>
        </p:txBody>
      </p:sp>
      <p:sp>
        <p:nvSpPr>
          <p:cNvPr id="8" name="文本框 10">
            <a:extLst>
              <a:ext uri="{FF2B5EF4-FFF2-40B4-BE49-F238E27FC236}">
                <a16:creationId xmlns:a16="http://schemas.microsoft.com/office/drawing/2014/main" id="{7D74564E-E365-4E4F-96A6-85F4BE1273D0}"/>
              </a:ext>
            </a:extLst>
          </p:cNvPr>
          <p:cNvSpPr txBox="1"/>
          <p:nvPr/>
        </p:nvSpPr>
        <p:spPr>
          <a:xfrm>
            <a:off x="4767491" y="3858642"/>
            <a:ext cx="217233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编写可靠的单元测试</a:t>
            </a:r>
          </a:p>
        </p:txBody>
      </p:sp>
      <p:sp>
        <p:nvSpPr>
          <p:cNvPr id="9" name="文本框 10">
            <a:extLst>
              <a:ext uri="{FF2B5EF4-FFF2-40B4-BE49-F238E27FC236}">
                <a16:creationId xmlns:a16="http://schemas.microsoft.com/office/drawing/2014/main" id="{ABA0B307-5311-4207-96D6-85969DBD28D3}"/>
              </a:ext>
            </a:extLst>
          </p:cNvPr>
          <p:cNvSpPr txBox="1"/>
          <p:nvPr/>
        </p:nvSpPr>
        <p:spPr>
          <a:xfrm>
            <a:off x="3230998" y="4415056"/>
            <a:ext cx="2622662"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编写高覆盖率的单元测试</a:t>
            </a:r>
          </a:p>
        </p:txBody>
      </p:sp>
    </p:spTree>
    <p:extLst>
      <p:ext uri="{BB962C8B-B14F-4D97-AF65-F5344CB8AC3E}">
        <p14:creationId xmlns:p14="http://schemas.microsoft.com/office/powerpoint/2010/main" val="693485491"/>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600"/>
                                        <p:tgtEl>
                                          <p:spTgt spid="102"/>
                                        </p:tgtEl>
                                      </p:cBhvr>
                                    </p:animEffect>
                                  </p:childTnLst>
                                </p:cTn>
                              </p:par>
                            </p:childTnLst>
                          </p:cTn>
                        </p:par>
                        <p:par>
                          <p:cTn id="8" fill="hold">
                            <p:stCondLst>
                              <p:cond delay="600"/>
                            </p:stCondLst>
                            <p:childTnLst>
                              <p:par>
                                <p:cTn id="9" presetID="53" presetClass="entr" presetSubtype="16"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animEffect transition="in" filter="fade">
                                      <p:cBhvr>
                                        <p:cTn id="13" dur="500"/>
                                        <p:tgtEl>
                                          <p:spTgt spid="105"/>
                                        </p:tgtEl>
                                      </p:cBhvr>
                                    </p:animEffect>
                                  </p:childTnLst>
                                </p:cTn>
                              </p:par>
                            </p:childTnLst>
                          </p:cTn>
                        </p:par>
                        <p:par>
                          <p:cTn id="14" fill="hold">
                            <p:stCondLst>
                              <p:cond delay="11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3"/>
                                        </p:tgtEl>
                                        <p:attrNameLst>
                                          <p:attrName>style.visibility</p:attrName>
                                        </p:attrNameLst>
                                      </p:cBhvr>
                                      <p:to>
                                        <p:strVal val="visible"/>
                                      </p:to>
                                    </p:set>
                                    <p:anim calcmode="lin" valueType="num">
                                      <p:cBhvr>
                                        <p:cTn id="17" dur="500" fill="hold"/>
                                        <p:tgtEl>
                                          <p:spTgt spid="10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3"/>
                                        </p:tgtEl>
                                        <p:attrNameLst>
                                          <p:attrName>ppt_y</p:attrName>
                                        </p:attrNameLst>
                                      </p:cBhvr>
                                      <p:tavLst>
                                        <p:tav tm="0">
                                          <p:val>
                                            <p:strVal val="#ppt_y"/>
                                          </p:val>
                                        </p:tav>
                                        <p:tav tm="100000">
                                          <p:val>
                                            <p:strVal val="#ppt_y"/>
                                          </p:val>
                                        </p:tav>
                                      </p:tavLst>
                                    </p:anim>
                                    <p:anim calcmode="lin" valueType="num">
                                      <p:cBhvr>
                                        <p:cTn id="19" dur="500" fill="hold"/>
                                        <p:tgtEl>
                                          <p:spTgt spid="10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3"/>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p:bldP spid="105" grpId="0"/>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6454106" y="4426565"/>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28" name="矩形 27">
            <a:extLst>
              <a:ext uri="{FF2B5EF4-FFF2-40B4-BE49-F238E27FC236}">
                <a16:creationId xmlns:a16="http://schemas.microsoft.com/office/drawing/2014/main" id="{A0DF36B1-25B2-4FE1-9D67-1D3BD0B5BBC2}"/>
              </a:ext>
            </a:extLst>
          </p:cNvPr>
          <p:cNvSpPr/>
          <p:nvPr/>
        </p:nvSpPr>
        <p:spPr>
          <a:xfrm>
            <a:off x="1846965" y="4436226"/>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sp>
        <p:nvSpPr>
          <p:cNvPr id="9" name="矩形 8">
            <a:extLst>
              <a:ext uri="{FF2B5EF4-FFF2-40B4-BE49-F238E27FC236}">
                <a16:creationId xmlns:a16="http://schemas.microsoft.com/office/drawing/2014/main" id="{4A44D80D-005E-4E32-A211-ADF1983EB173}"/>
              </a:ext>
            </a:extLst>
          </p:cNvPr>
          <p:cNvSpPr/>
          <p:nvPr/>
        </p:nvSpPr>
        <p:spPr>
          <a:xfrm>
            <a:off x="631169" y="773150"/>
            <a:ext cx="7770818" cy="677108"/>
          </a:xfrm>
          <a:prstGeom prst="rect">
            <a:avLst/>
          </a:prstGeom>
        </p:spPr>
        <p:txBody>
          <a:bodyPr wrap="square">
            <a:spAutoFit/>
          </a:bodyPr>
          <a:lstStyle/>
          <a:p>
            <a:r>
              <a:rPr lang="en-US" altLang="zh-CN" dirty="0">
                <a:solidFill>
                  <a:srgbClr val="333333"/>
                </a:solidFill>
                <a:latin typeface="+mn-ea"/>
              </a:rPr>
              <a:t>1</a:t>
            </a:r>
            <a:r>
              <a:rPr lang="zh-CN" altLang="en-US" dirty="0">
                <a:solidFill>
                  <a:srgbClr val="333333"/>
                </a:solidFill>
                <a:latin typeface="+mn-ea"/>
              </a:rPr>
              <a:t>、测试类名、方法名命名规范</a:t>
            </a:r>
            <a:endParaRPr lang="en-US" altLang="zh-CN" dirty="0">
              <a:solidFill>
                <a:srgbClr val="333333"/>
              </a:solidFill>
              <a:latin typeface="+mn-ea"/>
            </a:endParaRPr>
          </a:p>
          <a:p>
            <a:r>
              <a:rPr lang="zh-CN" altLang="en-US" sz="1200" dirty="0">
                <a:solidFill>
                  <a:srgbClr val="333333"/>
                </a:solidFill>
                <a:latin typeface="+mn-ea"/>
              </a:rPr>
              <a:t>      </a:t>
            </a:r>
            <a:r>
              <a:rPr lang="en-US" altLang="zh-CN" sz="1200" dirty="0">
                <a:solidFill>
                  <a:srgbClr val="333333"/>
                </a:solidFill>
                <a:latin typeface="+mn-ea"/>
                <a:hlinkClick r:id="rId3"/>
              </a:rPr>
              <a:t>http://confluence.midea.com/pages/viewpage.action?pageId=15863857</a:t>
            </a:r>
            <a:r>
              <a:rPr lang="en-US" altLang="zh-CN" sz="1200" dirty="0">
                <a:solidFill>
                  <a:srgbClr val="333333"/>
                </a:solidFill>
                <a:latin typeface="+mn-ea"/>
              </a:rPr>
              <a:t>   3.2    </a:t>
            </a:r>
            <a:r>
              <a:rPr lang="zh-CN" altLang="en-US" sz="1200" dirty="0">
                <a:solidFill>
                  <a:srgbClr val="333333"/>
                </a:solidFill>
                <a:latin typeface="+mn-ea"/>
              </a:rPr>
              <a:t>命名规范</a:t>
            </a:r>
          </a:p>
          <a:p>
            <a:endParaRPr lang="zh-CN" altLang="en-US" sz="1200" dirty="0">
              <a:solidFill>
                <a:srgbClr val="333333"/>
              </a:solidFill>
              <a:latin typeface="+mn-ea"/>
            </a:endParaRPr>
          </a:p>
        </p:txBody>
      </p:sp>
      <p:pic>
        <p:nvPicPr>
          <p:cNvPr id="2" name="图片 1">
            <a:extLst>
              <a:ext uri="{FF2B5EF4-FFF2-40B4-BE49-F238E27FC236}">
                <a16:creationId xmlns:a16="http://schemas.microsoft.com/office/drawing/2014/main" id="{17957143-B433-4814-B374-2C7214E5EE73}"/>
              </a:ext>
            </a:extLst>
          </p:cNvPr>
          <p:cNvPicPr>
            <a:picLocks noChangeAspect="1"/>
          </p:cNvPicPr>
          <p:nvPr/>
        </p:nvPicPr>
        <p:blipFill>
          <a:blip r:embed="rId4"/>
          <a:stretch>
            <a:fillRect/>
          </a:stretch>
        </p:blipFill>
        <p:spPr>
          <a:xfrm>
            <a:off x="187377" y="1386590"/>
            <a:ext cx="4017364" cy="3099493"/>
          </a:xfrm>
          <a:prstGeom prst="rect">
            <a:avLst/>
          </a:prstGeom>
        </p:spPr>
      </p:pic>
      <p:pic>
        <p:nvPicPr>
          <p:cNvPr id="4" name="图片 3">
            <a:extLst>
              <a:ext uri="{FF2B5EF4-FFF2-40B4-BE49-F238E27FC236}">
                <a16:creationId xmlns:a16="http://schemas.microsoft.com/office/drawing/2014/main" id="{D7A3BA8D-FB16-45FA-9692-922B7FE07667}"/>
              </a:ext>
            </a:extLst>
          </p:cNvPr>
          <p:cNvPicPr>
            <a:picLocks noChangeAspect="1"/>
          </p:cNvPicPr>
          <p:nvPr/>
        </p:nvPicPr>
        <p:blipFill>
          <a:blip r:embed="rId5"/>
          <a:stretch>
            <a:fillRect/>
          </a:stretch>
        </p:blipFill>
        <p:spPr>
          <a:xfrm>
            <a:off x="4459575" y="1386590"/>
            <a:ext cx="4017364" cy="3099494"/>
          </a:xfrm>
          <a:prstGeom prst="rect">
            <a:avLst/>
          </a:prstGeom>
        </p:spPr>
      </p:pic>
      <p:sp>
        <p:nvSpPr>
          <p:cNvPr id="11" name="矩形 10">
            <a:extLst>
              <a:ext uri="{FF2B5EF4-FFF2-40B4-BE49-F238E27FC236}">
                <a16:creationId xmlns:a16="http://schemas.microsoft.com/office/drawing/2014/main" id="{E0260C41-A24B-4B1B-9386-0C190E5DFAB9}"/>
              </a:ext>
            </a:extLst>
          </p:cNvPr>
          <p:cNvSpPr/>
          <p:nvPr/>
        </p:nvSpPr>
        <p:spPr>
          <a:xfrm>
            <a:off x="394676" y="1928301"/>
            <a:ext cx="3746573" cy="1169551"/>
          </a:xfrm>
          <a:prstGeom prst="rect">
            <a:avLst/>
          </a:prstGeom>
        </p:spPr>
        <p:txBody>
          <a:bodyPr wrap="square">
            <a:spAutoFit/>
          </a:bodyPr>
          <a:lstStyle/>
          <a:p>
            <a:r>
              <a:rPr lang="zh-CN" altLang="en-US" dirty="0">
                <a:solidFill>
                  <a:srgbClr val="FF0000"/>
                </a:solidFill>
                <a:latin typeface="+mn-ea"/>
              </a:rPr>
              <a:t>错误原因：测试类名应为被测试类</a:t>
            </a:r>
            <a:r>
              <a:rPr lang="en-US" altLang="zh-CN" dirty="0">
                <a:solidFill>
                  <a:srgbClr val="FF0000"/>
                </a:solidFill>
                <a:latin typeface="+mn-ea"/>
              </a:rPr>
              <a:t>+Test</a:t>
            </a:r>
            <a:r>
              <a:rPr lang="zh-CN" altLang="en-US" dirty="0">
                <a:solidFill>
                  <a:srgbClr val="FF0000"/>
                </a:solidFill>
                <a:latin typeface="+mn-ea"/>
              </a:rPr>
              <a:t>，方法名命名应为</a:t>
            </a:r>
            <a:r>
              <a:rPr lang="en-US" altLang="zh-CN" dirty="0">
                <a:solidFill>
                  <a:srgbClr val="FF0000"/>
                </a:solidFill>
                <a:latin typeface="+mn-ea"/>
              </a:rPr>
              <a:t>test+</a:t>
            </a:r>
            <a:r>
              <a:rPr lang="zh-CN" altLang="en-US" dirty="0">
                <a:solidFill>
                  <a:srgbClr val="FF0000"/>
                </a:solidFill>
                <a:latin typeface="+mn-ea"/>
              </a:rPr>
              <a:t>首字母大写的方法名。</a:t>
            </a:r>
            <a:endParaRPr lang="en-US" altLang="zh-CN" dirty="0">
              <a:solidFill>
                <a:srgbClr val="FF0000"/>
              </a:solidFill>
              <a:latin typeface="+mn-ea"/>
            </a:endParaRPr>
          </a:p>
          <a:p>
            <a:r>
              <a:rPr lang="zh-CN" altLang="en-US" dirty="0">
                <a:solidFill>
                  <a:srgbClr val="FF0000"/>
                </a:solidFill>
                <a:latin typeface="+mn-ea"/>
              </a:rPr>
              <a:t>若该方法需要覆盖测试多种场景，可在其后加测试描述，如</a:t>
            </a:r>
            <a:r>
              <a:rPr lang="en-US" altLang="zh-CN" dirty="0" err="1">
                <a:solidFill>
                  <a:srgbClr val="FF0000"/>
                </a:solidFill>
                <a:latin typeface="+mn-ea"/>
              </a:rPr>
              <a:t>testConfirmForQuickpay</a:t>
            </a:r>
            <a:endParaRPr lang="zh-CN" altLang="en-US" dirty="0">
              <a:solidFill>
                <a:srgbClr val="FF0000"/>
              </a:solidFill>
              <a:latin typeface="+mn-ea"/>
            </a:endParaRPr>
          </a:p>
          <a:p>
            <a:endParaRPr lang="en-US" altLang="zh-CN" dirty="0">
              <a:solidFill>
                <a:srgbClr val="FF0000"/>
              </a:solidFill>
              <a:latin typeface="+mn-ea"/>
            </a:endParaRPr>
          </a:p>
        </p:txBody>
      </p:sp>
    </p:spTree>
    <p:extLst>
      <p:ext uri="{BB962C8B-B14F-4D97-AF65-F5344CB8AC3E}">
        <p14:creationId xmlns:p14="http://schemas.microsoft.com/office/powerpoint/2010/main" val="429437765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1000"/>
                                        <p:tgtEl>
                                          <p:spTgt spid="4"/>
                                        </p:tgtEl>
                                      </p:cBhvr>
                                    </p:animEffect>
                                    <p:anim calcmode="lin" valueType="num">
                                      <p:cBhvr>
                                        <p:cTn id="45" dur="1000" fill="hold"/>
                                        <p:tgtEl>
                                          <p:spTgt spid="4"/>
                                        </p:tgtEl>
                                        <p:attrNameLst>
                                          <p:attrName>ppt_x</p:attrName>
                                        </p:attrNameLst>
                                      </p:cBhvr>
                                      <p:tavLst>
                                        <p:tav tm="0">
                                          <p:val>
                                            <p:strVal val="#ppt_x"/>
                                          </p:val>
                                        </p:tav>
                                        <p:tav tm="100000">
                                          <p:val>
                                            <p:strVal val="#ppt_x"/>
                                          </p:val>
                                        </p:tav>
                                      </p:tavLst>
                                    </p:anim>
                                    <p:anim calcmode="lin" valueType="num">
                                      <p:cBhvr>
                                        <p:cTn id="46" dur="1000" fill="hold"/>
                                        <p:tgtEl>
                                          <p:spTgt spid="4"/>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28" grpId="0"/>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6058926" y="4440374"/>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28" name="矩形 27">
            <a:extLst>
              <a:ext uri="{FF2B5EF4-FFF2-40B4-BE49-F238E27FC236}">
                <a16:creationId xmlns:a16="http://schemas.microsoft.com/office/drawing/2014/main" id="{A0DF36B1-25B2-4FE1-9D67-1D3BD0B5BBC2}"/>
              </a:ext>
            </a:extLst>
          </p:cNvPr>
          <p:cNvSpPr/>
          <p:nvPr/>
        </p:nvSpPr>
        <p:spPr>
          <a:xfrm>
            <a:off x="1719435" y="4440375"/>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pic>
        <p:nvPicPr>
          <p:cNvPr id="15" name="图片 14">
            <a:extLst>
              <a:ext uri="{FF2B5EF4-FFF2-40B4-BE49-F238E27FC236}">
                <a16:creationId xmlns:a16="http://schemas.microsoft.com/office/drawing/2014/main" id="{58620F12-175E-4C93-B209-51DF8733F082}"/>
              </a:ext>
            </a:extLst>
          </p:cNvPr>
          <p:cNvPicPr>
            <a:picLocks noChangeAspect="1"/>
          </p:cNvPicPr>
          <p:nvPr/>
        </p:nvPicPr>
        <p:blipFill>
          <a:blip r:embed="rId3"/>
          <a:stretch>
            <a:fillRect/>
          </a:stretch>
        </p:blipFill>
        <p:spPr>
          <a:xfrm>
            <a:off x="263772" y="1634924"/>
            <a:ext cx="3746098" cy="2851159"/>
          </a:xfrm>
          <a:prstGeom prst="rect">
            <a:avLst/>
          </a:prstGeom>
        </p:spPr>
      </p:pic>
      <p:pic>
        <p:nvPicPr>
          <p:cNvPr id="17" name="图片 16">
            <a:extLst>
              <a:ext uri="{FF2B5EF4-FFF2-40B4-BE49-F238E27FC236}">
                <a16:creationId xmlns:a16="http://schemas.microsoft.com/office/drawing/2014/main" id="{4350A27B-DBA8-4BDF-9424-F859FC3BFE51}"/>
              </a:ext>
            </a:extLst>
          </p:cNvPr>
          <p:cNvPicPr>
            <a:picLocks noChangeAspect="1"/>
          </p:cNvPicPr>
          <p:nvPr/>
        </p:nvPicPr>
        <p:blipFill>
          <a:blip r:embed="rId4"/>
          <a:stretch>
            <a:fillRect/>
          </a:stretch>
        </p:blipFill>
        <p:spPr>
          <a:xfrm>
            <a:off x="4369633" y="1634924"/>
            <a:ext cx="3887060" cy="2851159"/>
          </a:xfrm>
          <a:prstGeom prst="rect">
            <a:avLst/>
          </a:prstGeom>
        </p:spPr>
      </p:pic>
      <p:sp>
        <p:nvSpPr>
          <p:cNvPr id="9" name="矩形 8">
            <a:extLst>
              <a:ext uri="{FF2B5EF4-FFF2-40B4-BE49-F238E27FC236}">
                <a16:creationId xmlns:a16="http://schemas.microsoft.com/office/drawing/2014/main" id="{4A44D80D-005E-4E32-A211-ADF1983EB173}"/>
              </a:ext>
            </a:extLst>
          </p:cNvPr>
          <p:cNvSpPr/>
          <p:nvPr/>
        </p:nvSpPr>
        <p:spPr>
          <a:xfrm>
            <a:off x="631169" y="773150"/>
            <a:ext cx="6848923" cy="892552"/>
          </a:xfrm>
          <a:prstGeom prst="rect">
            <a:avLst/>
          </a:prstGeom>
        </p:spPr>
        <p:txBody>
          <a:bodyPr wrap="square">
            <a:spAutoFit/>
          </a:bodyPr>
          <a:lstStyle/>
          <a:p>
            <a:r>
              <a:rPr lang="en-US" altLang="zh-CN" dirty="0">
                <a:solidFill>
                  <a:srgbClr val="333333"/>
                </a:solidFill>
                <a:latin typeface="+mn-ea"/>
              </a:rPr>
              <a:t>2</a:t>
            </a:r>
            <a:r>
              <a:rPr lang="zh-CN" altLang="en-US" dirty="0">
                <a:solidFill>
                  <a:srgbClr val="333333"/>
                </a:solidFill>
                <a:latin typeface="+mn-ea"/>
              </a:rPr>
              <a:t>、编写可读的单元测试代码</a:t>
            </a:r>
            <a:endParaRPr lang="en-US" altLang="zh-CN" dirty="0">
              <a:solidFill>
                <a:srgbClr val="333333"/>
              </a:solidFill>
              <a:latin typeface="+mn-ea"/>
            </a:endParaRPr>
          </a:p>
          <a:p>
            <a:r>
              <a:rPr lang="zh-CN" altLang="en-US" sz="1200" dirty="0">
                <a:solidFill>
                  <a:srgbClr val="333333"/>
                </a:solidFill>
                <a:latin typeface="+mn-ea"/>
              </a:rPr>
              <a:t>      优秀的单元测试是一种无价的文档，所以应该编写结构清晰、相当注释量的单元测试代码。每个测试方法都应该增加适当的注释，说明此测试方法的适用场景及其用途。另单元测试代码中，不应包含包含</a:t>
            </a:r>
            <a:r>
              <a:rPr lang="en-US" altLang="zh-CN" sz="1200" dirty="0">
                <a:solidFill>
                  <a:srgbClr val="333333"/>
                </a:solidFill>
                <a:latin typeface="+mn-ea"/>
              </a:rPr>
              <a:t>switch</a:t>
            </a:r>
            <a:r>
              <a:rPr lang="zh-CN" altLang="en-US" sz="1200" dirty="0">
                <a:solidFill>
                  <a:srgbClr val="333333"/>
                </a:solidFill>
                <a:latin typeface="+mn-ea"/>
              </a:rPr>
              <a:t>、</a:t>
            </a:r>
            <a:r>
              <a:rPr lang="en-US" altLang="zh-CN" sz="1200" dirty="0">
                <a:solidFill>
                  <a:srgbClr val="333333"/>
                </a:solidFill>
                <a:latin typeface="+mn-ea"/>
              </a:rPr>
              <a:t>if/else</a:t>
            </a:r>
            <a:r>
              <a:rPr lang="zh-CN" altLang="en-US" sz="1200" dirty="0">
                <a:solidFill>
                  <a:srgbClr val="333333"/>
                </a:solidFill>
                <a:latin typeface="+mn-ea"/>
              </a:rPr>
              <a:t>、</a:t>
            </a:r>
            <a:r>
              <a:rPr lang="en-US" altLang="zh-CN" sz="1200" dirty="0">
                <a:solidFill>
                  <a:srgbClr val="333333"/>
                </a:solidFill>
                <a:latin typeface="+mn-ea"/>
              </a:rPr>
              <a:t>for/while</a:t>
            </a:r>
            <a:r>
              <a:rPr lang="zh-CN" altLang="en-US" sz="1200" dirty="0">
                <a:solidFill>
                  <a:srgbClr val="333333"/>
                </a:solidFill>
                <a:latin typeface="+mn-ea"/>
              </a:rPr>
              <a:t>等控制流语句，复杂度高且可读性差。</a:t>
            </a:r>
          </a:p>
        </p:txBody>
      </p:sp>
      <p:sp>
        <p:nvSpPr>
          <p:cNvPr id="11" name="矩形 10">
            <a:extLst>
              <a:ext uri="{FF2B5EF4-FFF2-40B4-BE49-F238E27FC236}">
                <a16:creationId xmlns:a16="http://schemas.microsoft.com/office/drawing/2014/main" id="{885CB62C-C4C7-4CDE-AF25-8EFB553FC6FD}"/>
              </a:ext>
            </a:extLst>
          </p:cNvPr>
          <p:cNvSpPr/>
          <p:nvPr/>
        </p:nvSpPr>
        <p:spPr>
          <a:xfrm>
            <a:off x="309057" y="2784523"/>
            <a:ext cx="3746573" cy="523220"/>
          </a:xfrm>
          <a:prstGeom prst="rect">
            <a:avLst/>
          </a:prstGeom>
        </p:spPr>
        <p:txBody>
          <a:bodyPr wrap="square">
            <a:spAutoFit/>
          </a:bodyPr>
          <a:lstStyle/>
          <a:p>
            <a:r>
              <a:rPr lang="zh-CN" altLang="en-US" dirty="0">
                <a:solidFill>
                  <a:srgbClr val="FF0000"/>
                </a:solidFill>
                <a:latin typeface="+mn-ea"/>
              </a:rPr>
              <a:t>错误原因：缺少足够的注释，代码逻辑结构不清晰。</a:t>
            </a:r>
            <a:endParaRPr lang="en-US" altLang="zh-CN" dirty="0">
              <a:solidFill>
                <a:srgbClr val="FF0000"/>
              </a:solidFill>
              <a:latin typeface="+mn-ea"/>
            </a:endParaRPr>
          </a:p>
        </p:txBody>
      </p:sp>
    </p:spTree>
    <p:extLst>
      <p:ext uri="{BB962C8B-B14F-4D97-AF65-F5344CB8AC3E}">
        <p14:creationId xmlns:p14="http://schemas.microsoft.com/office/powerpoint/2010/main" val="156200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1000"/>
                                        <p:tgtEl>
                                          <p:spTgt spid="17"/>
                                        </p:tgtEl>
                                      </p:cBhvr>
                                    </p:animEffect>
                                    <p:anim calcmode="lin" valueType="num">
                                      <p:cBhvr>
                                        <p:cTn id="45" dur="1000" fill="hold"/>
                                        <p:tgtEl>
                                          <p:spTgt spid="17"/>
                                        </p:tgtEl>
                                        <p:attrNameLst>
                                          <p:attrName>ppt_x</p:attrName>
                                        </p:attrNameLst>
                                      </p:cBhvr>
                                      <p:tavLst>
                                        <p:tav tm="0">
                                          <p:val>
                                            <p:strVal val="#ppt_x"/>
                                          </p:val>
                                        </p:tav>
                                        <p:tav tm="100000">
                                          <p:val>
                                            <p:strVal val="#ppt_x"/>
                                          </p:val>
                                        </p:tav>
                                      </p:tavLst>
                                    </p:anim>
                                    <p:anim calcmode="lin" valueType="num">
                                      <p:cBhvr>
                                        <p:cTn id="46" dur="1000" fill="hold"/>
                                        <p:tgtEl>
                                          <p:spTgt spid="17"/>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28" grpId="0"/>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6053583" y="4428566"/>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28" name="矩形 27">
            <a:extLst>
              <a:ext uri="{FF2B5EF4-FFF2-40B4-BE49-F238E27FC236}">
                <a16:creationId xmlns:a16="http://schemas.microsoft.com/office/drawing/2014/main" id="{A0DF36B1-25B2-4FE1-9D67-1D3BD0B5BBC2}"/>
              </a:ext>
            </a:extLst>
          </p:cNvPr>
          <p:cNvSpPr/>
          <p:nvPr/>
        </p:nvSpPr>
        <p:spPr>
          <a:xfrm>
            <a:off x="1846965" y="4432270"/>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pic>
        <p:nvPicPr>
          <p:cNvPr id="15" name="图片 14">
            <a:extLst>
              <a:ext uri="{FF2B5EF4-FFF2-40B4-BE49-F238E27FC236}">
                <a16:creationId xmlns:a16="http://schemas.microsoft.com/office/drawing/2014/main" id="{58620F12-175E-4C93-B209-51DF8733F082}"/>
              </a:ext>
            </a:extLst>
          </p:cNvPr>
          <p:cNvPicPr>
            <a:picLocks noChangeAspect="1"/>
          </p:cNvPicPr>
          <p:nvPr/>
        </p:nvPicPr>
        <p:blipFill>
          <a:blip r:embed="rId3"/>
          <a:stretch>
            <a:fillRect/>
          </a:stretch>
        </p:blipFill>
        <p:spPr>
          <a:xfrm>
            <a:off x="263772" y="1483708"/>
            <a:ext cx="3641166" cy="3002375"/>
          </a:xfrm>
          <a:prstGeom prst="rect">
            <a:avLst/>
          </a:prstGeom>
        </p:spPr>
      </p:pic>
      <p:sp>
        <p:nvSpPr>
          <p:cNvPr id="9" name="矩形 8">
            <a:extLst>
              <a:ext uri="{FF2B5EF4-FFF2-40B4-BE49-F238E27FC236}">
                <a16:creationId xmlns:a16="http://schemas.microsoft.com/office/drawing/2014/main" id="{4A44D80D-005E-4E32-A211-ADF1983EB173}"/>
              </a:ext>
            </a:extLst>
          </p:cNvPr>
          <p:cNvSpPr/>
          <p:nvPr/>
        </p:nvSpPr>
        <p:spPr>
          <a:xfrm>
            <a:off x="631169" y="773150"/>
            <a:ext cx="6848923" cy="677108"/>
          </a:xfrm>
          <a:prstGeom prst="rect">
            <a:avLst/>
          </a:prstGeom>
        </p:spPr>
        <p:txBody>
          <a:bodyPr wrap="square">
            <a:spAutoFit/>
          </a:bodyPr>
          <a:lstStyle/>
          <a:p>
            <a:r>
              <a:rPr lang="en-US" altLang="zh-CN" dirty="0">
                <a:solidFill>
                  <a:srgbClr val="333333"/>
                </a:solidFill>
                <a:latin typeface="+mn-ea"/>
              </a:rPr>
              <a:t>3</a:t>
            </a:r>
            <a:r>
              <a:rPr lang="zh-CN" altLang="en-US" dirty="0">
                <a:solidFill>
                  <a:srgbClr val="333333"/>
                </a:solidFill>
                <a:latin typeface="+mn-ea"/>
              </a:rPr>
              <a:t>、单个测试方法应构建具有确定性结果</a:t>
            </a:r>
            <a:endParaRPr lang="en-US" altLang="zh-CN" dirty="0">
              <a:solidFill>
                <a:srgbClr val="333333"/>
              </a:solidFill>
              <a:latin typeface="+mn-ea"/>
            </a:endParaRPr>
          </a:p>
          <a:p>
            <a:r>
              <a:rPr lang="zh-CN" altLang="en-US" sz="1200" dirty="0">
                <a:solidFill>
                  <a:srgbClr val="333333"/>
                </a:solidFill>
                <a:latin typeface="+mn-ea"/>
              </a:rPr>
              <a:t>      对于确定性结果，应验证测试结果的正确性。若测试结果校验不够详细，无法确保功能的正确性，应详细校验返回结果的所有参数。若测试无参返回的方法，应验证预期的结果数据。</a:t>
            </a:r>
          </a:p>
        </p:txBody>
      </p:sp>
      <p:pic>
        <p:nvPicPr>
          <p:cNvPr id="11" name="图片 10">
            <a:extLst>
              <a:ext uri="{FF2B5EF4-FFF2-40B4-BE49-F238E27FC236}">
                <a16:creationId xmlns:a16="http://schemas.microsoft.com/office/drawing/2014/main" id="{740D2862-CE63-4BD5-A495-A0724AA687FC}"/>
              </a:ext>
            </a:extLst>
          </p:cNvPr>
          <p:cNvPicPr>
            <a:picLocks noChangeAspect="1"/>
          </p:cNvPicPr>
          <p:nvPr/>
        </p:nvPicPr>
        <p:blipFill>
          <a:blip r:embed="rId4"/>
          <a:stretch>
            <a:fillRect/>
          </a:stretch>
        </p:blipFill>
        <p:spPr>
          <a:xfrm>
            <a:off x="4167265" y="1483707"/>
            <a:ext cx="4143615" cy="3002375"/>
          </a:xfrm>
          <a:prstGeom prst="rect">
            <a:avLst/>
          </a:prstGeom>
        </p:spPr>
      </p:pic>
      <p:sp>
        <p:nvSpPr>
          <p:cNvPr id="12" name="矩形 11">
            <a:extLst>
              <a:ext uri="{FF2B5EF4-FFF2-40B4-BE49-F238E27FC236}">
                <a16:creationId xmlns:a16="http://schemas.microsoft.com/office/drawing/2014/main" id="{C5D221C6-6526-4F19-8527-AB4A42DBC59B}"/>
              </a:ext>
            </a:extLst>
          </p:cNvPr>
          <p:cNvSpPr/>
          <p:nvPr/>
        </p:nvSpPr>
        <p:spPr>
          <a:xfrm>
            <a:off x="435664" y="2571750"/>
            <a:ext cx="3746573" cy="523220"/>
          </a:xfrm>
          <a:prstGeom prst="rect">
            <a:avLst/>
          </a:prstGeom>
        </p:spPr>
        <p:txBody>
          <a:bodyPr wrap="square">
            <a:spAutoFit/>
          </a:bodyPr>
          <a:lstStyle/>
          <a:p>
            <a:r>
              <a:rPr lang="zh-CN" altLang="en-US" dirty="0">
                <a:solidFill>
                  <a:srgbClr val="FF0000"/>
                </a:solidFill>
                <a:latin typeface="+mn-ea"/>
              </a:rPr>
              <a:t>错误原因：测试方法调用后，未验证返回</a:t>
            </a:r>
            <a:endParaRPr lang="en-US" altLang="zh-CN" dirty="0">
              <a:solidFill>
                <a:srgbClr val="FF0000"/>
              </a:solidFill>
              <a:latin typeface="+mn-ea"/>
            </a:endParaRPr>
          </a:p>
          <a:p>
            <a:r>
              <a:rPr lang="zh-CN" altLang="en-US" dirty="0">
                <a:solidFill>
                  <a:srgbClr val="FF0000"/>
                </a:solidFill>
                <a:latin typeface="+mn-ea"/>
              </a:rPr>
              <a:t>结果，或未验证预期的结果数据。</a:t>
            </a:r>
            <a:endParaRPr lang="en-US" altLang="zh-CN" dirty="0">
              <a:solidFill>
                <a:srgbClr val="FF0000"/>
              </a:solidFill>
              <a:latin typeface="+mn-ea"/>
            </a:endParaRPr>
          </a:p>
        </p:txBody>
      </p:sp>
    </p:spTree>
    <p:extLst>
      <p:ext uri="{BB962C8B-B14F-4D97-AF65-F5344CB8AC3E}">
        <p14:creationId xmlns:p14="http://schemas.microsoft.com/office/powerpoint/2010/main" val="20755334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28" grpId="0"/>
      <p:bldP spid="9"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5932371" y="4426565"/>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28" name="矩形 27">
            <a:extLst>
              <a:ext uri="{FF2B5EF4-FFF2-40B4-BE49-F238E27FC236}">
                <a16:creationId xmlns:a16="http://schemas.microsoft.com/office/drawing/2014/main" id="{A0DF36B1-25B2-4FE1-9D67-1D3BD0B5BBC2}"/>
              </a:ext>
            </a:extLst>
          </p:cNvPr>
          <p:cNvSpPr/>
          <p:nvPr/>
        </p:nvSpPr>
        <p:spPr>
          <a:xfrm>
            <a:off x="1793530" y="4426565"/>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pic>
        <p:nvPicPr>
          <p:cNvPr id="7" name="图片 6">
            <a:extLst>
              <a:ext uri="{FF2B5EF4-FFF2-40B4-BE49-F238E27FC236}">
                <a16:creationId xmlns:a16="http://schemas.microsoft.com/office/drawing/2014/main" id="{C10A295D-E11F-4AC3-9A43-F00A642B9331}"/>
              </a:ext>
            </a:extLst>
          </p:cNvPr>
          <p:cNvPicPr>
            <a:picLocks noChangeAspect="1"/>
          </p:cNvPicPr>
          <p:nvPr/>
        </p:nvPicPr>
        <p:blipFill>
          <a:blip r:embed="rId3"/>
          <a:stretch>
            <a:fillRect/>
          </a:stretch>
        </p:blipFill>
        <p:spPr>
          <a:xfrm>
            <a:off x="4062335" y="1450257"/>
            <a:ext cx="4248546" cy="3035825"/>
          </a:xfrm>
          <a:prstGeom prst="rect">
            <a:avLst/>
          </a:prstGeom>
        </p:spPr>
      </p:pic>
      <p:pic>
        <p:nvPicPr>
          <p:cNvPr id="2" name="图片 1">
            <a:extLst>
              <a:ext uri="{FF2B5EF4-FFF2-40B4-BE49-F238E27FC236}">
                <a16:creationId xmlns:a16="http://schemas.microsoft.com/office/drawing/2014/main" id="{6A68FCAE-D176-4775-AD26-5C64D7239A2C}"/>
              </a:ext>
            </a:extLst>
          </p:cNvPr>
          <p:cNvPicPr>
            <a:picLocks noChangeAspect="1"/>
          </p:cNvPicPr>
          <p:nvPr/>
        </p:nvPicPr>
        <p:blipFill>
          <a:blip r:embed="rId4"/>
          <a:stretch>
            <a:fillRect/>
          </a:stretch>
        </p:blipFill>
        <p:spPr>
          <a:xfrm>
            <a:off x="234049" y="1450258"/>
            <a:ext cx="3580948" cy="3035824"/>
          </a:xfrm>
          <a:prstGeom prst="rect">
            <a:avLst/>
          </a:prstGeom>
        </p:spPr>
      </p:pic>
      <p:sp>
        <p:nvSpPr>
          <p:cNvPr id="4" name="矩形 3">
            <a:extLst>
              <a:ext uri="{FF2B5EF4-FFF2-40B4-BE49-F238E27FC236}">
                <a16:creationId xmlns:a16="http://schemas.microsoft.com/office/drawing/2014/main" id="{D3219201-CB6D-47AC-9628-E029479B5857}"/>
              </a:ext>
            </a:extLst>
          </p:cNvPr>
          <p:cNvSpPr/>
          <p:nvPr/>
        </p:nvSpPr>
        <p:spPr>
          <a:xfrm>
            <a:off x="631169" y="773150"/>
            <a:ext cx="6848923" cy="492443"/>
          </a:xfrm>
          <a:prstGeom prst="rect">
            <a:avLst/>
          </a:prstGeom>
        </p:spPr>
        <p:txBody>
          <a:bodyPr wrap="square">
            <a:spAutoFit/>
          </a:bodyPr>
          <a:lstStyle/>
          <a:p>
            <a:r>
              <a:rPr lang="en-US" altLang="zh-CN" dirty="0">
                <a:solidFill>
                  <a:srgbClr val="333333"/>
                </a:solidFill>
                <a:latin typeface="+mn-ea"/>
              </a:rPr>
              <a:t>4</a:t>
            </a:r>
            <a:r>
              <a:rPr lang="zh-CN" altLang="en-US" dirty="0">
                <a:solidFill>
                  <a:srgbClr val="333333"/>
                </a:solidFill>
                <a:latin typeface="+mn-ea"/>
              </a:rPr>
              <a:t>、测试类一次仅测试一个类，测试方法一次仅测试一个方法</a:t>
            </a:r>
            <a:endParaRPr lang="en-US" altLang="zh-CN" dirty="0">
              <a:solidFill>
                <a:srgbClr val="333333"/>
              </a:solidFill>
              <a:latin typeface="+mn-ea"/>
            </a:endParaRPr>
          </a:p>
          <a:p>
            <a:r>
              <a:rPr lang="zh-CN" altLang="en-US" sz="1200" dirty="0">
                <a:solidFill>
                  <a:srgbClr val="333333"/>
                </a:solidFill>
                <a:latin typeface="+mn-ea"/>
              </a:rPr>
              <a:t>       一个测试方法只能用来测试一种行为，不应对多个方法进行测试及结果验证。</a:t>
            </a:r>
          </a:p>
        </p:txBody>
      </p:sp>
      <p:sp>
        <p:nvSpPr>
          <p:cNvPr id="9" name="矩形 8">
            <a:extLst>
              <a:ext uri="{FF2B5EF4-FFF2-40B4-BE49-F238E27FC236}">
                <a16:creationId xmlns:a16="http://schemas.microsoft.com/office/drawing/2014/main" id="{2637FAEE-A5A7-47D3-A416-898F5821B0EF}"/>
              </a:ext>
            </a:extLst>
          </p:cNvPr>
          <p:cNvSpPr/>
          <p:nvPr/>
        </p:nvSpPr>
        <p:spPr>
          <a:xfrm>
            <a:off x="375208" y="2968169"/>
            <a:ext cx="3746573" cy="523220"/>
          </a:xfrm>
          <a:prstGeom prst="rect">
            <a:avLst/>
          </a:prstGeom>
        </p:spPr>
        <p:txBody>
          <a:bodyPr wrap="square">
            <a:spAutoFit/>
          </a:bodyPr>
          <a:lstStyle/>
          <a:p>
            <a:r>
              <a:rPr lang="zh-CN" altLang="en-US" dirty="0">
                <a:solidFill>
                  <a:srgbClr val="FF0000"/>
                </a:solidFill>
                <a:latin typeface="+mn-ea"/>
              </a:rPr>
              <a:t>错误原因：测试方法一次仅测试一个方法，</a:t>
            </a:r>
            <a:endParaRPr lang="en-US" altLang="zh-CN" dirty="0">
              <a:solidFill>
                <a:srgbClr val="FF0000"/>
              </a:solidFill>
              <a:latin typeface="+mn-ea"/>
            </a:endParaRPr>
          </a:p>
          <a:p>
            <a:r>
              <a:rPr lang="zh-CN" altLang="en-US" dirty="0">
                <a:solidFill>
                  <a:srgbClr val="FF0000"/>
                </a:solidFill>
                <a:latin typeface="+mn-ea"/>
              </a:rPr>
              <a:t>不应对多个方法进行测试及结果验证。</a:t>
            </a:r>
            <a:endParaRPr lang="en-US" altLang="zh-CN" dirty="0">
              <a:solidFill>
                <a:srgbClr val="FF0000"/>
              </a:solidFill>
              <a:latin typeface="+mn-ea"/>
            </a:endParaRPr>
          </a:p>
        </p:txBody>
      </p:sp>
    </p:spTree>
    <p:extLst>
      <p:ext uri="{BB962C8B-B14F-4D97-AF65-F5344CB8AC3E}">
        <p14:creationId xmlns:p14="http://schemas.microsoft.com/office/powerpoint/2010/main" val="2715899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28" grpId="0"/>
      <p:bldP spid="4"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6007321" y="4426565"/>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28" name="矩形 27">
            <a:extLst>
              <a:ext uri="{FF2B5EF4-FFF2-40B4-BE49-F238E27FC236}">
                <a16:creationId xmlns:a16="http://schemas.microsoft.com/office/drawing/2014/main" id="{A0DF36B1-25B2-4FE1-9D67-1D3BD0B5BBC2}"/>
              </a:ext>
            </a:extLst>
          </p:cNvPr>
          <p:cNvSpPr/>
          <p:nvPr/>
        </p:nvSpPr>
        <p:spPr>
          <a:xfrm>
            <a:off x="1846965" y="4426565"/>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pic>
        <p:nvPicPr>
          <p:cNvPr id="7" name="图片 6">
            <a:extLst>
              <a:ext uri="{FF2B5EF4-FFF2-40B4-BE49-F238E27FC236}">
                <a16:creationId xmlns:a16="http://schemas.microsoft.com/office/drawing/2014/main" id="{C10A295D-E11F-4AC3-9A43-F00A642B9331}"/>
              </a:ext>
            </a:extLst>
          </p:cNvPr>
          <p:cNvPicPr>
            <a:picLocks noChangeAspect="1"/>
          </p:cNvPicPr>
          <p:nvPr/>
        </p:nvPicPr>
        <p:blipFill>
          <a:blip r:embed="rId3"/>
          <a:stretch>
            <a:fillRect/>
          </a:stretch>
        </p:blipFill>
        <p:spPr>
          <a:xfrm>
            <a:off x="4212236" y="1506510"/>
            <a:ext cx="4098644" cy="2979572"/>
          </a:xfrm>
          <a:prstGeom prst="rect">
            <a:avLst/>
          </a:prstGeom>
        </p:spPr>
      </p:pic>
      <p:pic>
        <p:nvPicPr>
          <p:cNvPr id="8" name="图片 7">
            <a:extLst>
              <a:ext uri="{FF2B5EF4-FFF2-40B4-BE49-F238E27FC236}">
                <a16:creationId xmlns:a16="http://schemas.microsoft.com/office/drawing/2014/main" id="{821D2081-DD04-40BB-AC86-70D53BD21A15}"/>
              </a:ext>
            </a:extLst>
          </p:cNvPr>
          <p:cNvPicPr>
            <a:picLocks noChangeAspect="1"/>
          </p:cNvPicPr>
          <p:nvPr/>
        </p:nvPicPr>
        <p:blipFill>
          <a:blip r:embed="rId4"/>
          <a:stretch>
            <a:fillRect/>
          </a:stretch>
        </p:blipFill>
        <p:spPr>
          <a:xfrm>
            <a:off x="131504" y="1506510"/>
            <a:ext cx="3840889" cy="2979569"/>
          </a:xfrm>
          <a:prstGeom prst="rect">
            <a:avLst/>
          </a:prstGeom>
        </p:spPr>
      </p:pic>
      <p:sp>
        <p:nvSpPr>
          <p:cNvPr id="9" name="矩形 8">
            <a:extLst>
              <a:ext uri="{FF2B5EF4-FFF2-40B4-BE49-F238E27FC236}">
                <a16:creationId xmlns:a16="http://schemas.microsoft.com/office/drawing/2014/main" id="{833CC8F9-8CAB-4389-A896-CA9062C93947}"/>
              </a:ext>
            </a:extLst>
          </p:cNvPr>
          <p:cNvSpPr/>
          <p:nvPr/>
        </p:nvSpPr>
        <p:spPr>
          <a:xfrm>
            <a:off x="631169" y="773150"/>
            <a:ext cx="6848923" cy="677108"/>
          </a:xfrm>
          <a:prstGeom prst="rect">
            <a:avLst/>
          </a:prstGeom>
        </p:spPr>
        <p:txBody>
          <a:bodyPr wrap="square">
            <a:spAutoFit/>
          </a:bodyPr>
          <a:lstStyle/>
          <a:p>
            <a:r>
              <a:rPr lang="en-US" altLang="zh-CN" dirty="0">
                <a:solidFill>
                  <a:srgbClr val="333333"/>
                </a:solidFill>
                <a:latin typeface="+mn-ea"/>
              </a:rPr>
              <a:t>5</a:t>
            </a:r>
            <a:r>
              <a:rPr lang="zh-CN" altLang="en-US" dirty="0">
                <a:solidFill>
                  <a:srgbClr val="333333"/>
                </a:solidFill>
                <a:latin typeface="+mn-ea"/>
              </a:rPr>
              <a:t>、应使用断言而不是</a:t>
            </a:r>
            <a:r>
              <a:rPr lang="en-US" altLang="zh-CN" dirty="0">
                <a:solidFill>
                  <a:srgbClr val="333333"/>
                </a:solidFill>
                <a:latin typeface="+mn-ea"/>
              </a:rPr>
              <a:t>Print</a:t>
            </a:r>
            <a:r>
              <a:rPr lang="zh-CN" altLang="en-US" dirty="0">
                <a:solidFill>
                  <a:srgbClr val="333333"/>
                </a:solidFill>
                <a:latin typeface="+mn-ea"/>
              </a:rPr>
              <a:t>语句</a:t>
            </a:r>
            <a:endParaRPr lang="en-US" altLang="zh-CN" dirty="0">
              <a:solidFill>
                <a:srgbClr val="333333"/>
              </a:solidFill>
              <a:latin typeface="+mn-ea"/>
            </a:endParaRPr>
          </a:p>
          <a:p>
            <a:r>
              <a:rPr lang="zh-CN" altLang="en-US" sz="1200" dirty="0">
                <a:solidFill>
                  <a:srgbClr val="333333"/>
                </a:solidFill>
                <a:latin typeface="+mn-ea"/>
              </a:rPr>
              <a:t>      禁止使用</a:t>
            </a:r>
            <a:r>
              <a:rPr lang="en-US" altLang="zh-CN" sz="1200" dirty="0">
                <a:solidFill>
                  <a:srgbClr val="333333"/>
                </a:solidFill>
                <a:latin typeface="+mn-ea"/>
              </a:rPr>
              <a:t>print</a:t>
            </a:r>
            <a:r>
              <a:rPr lang="zh-CN" altLang="en-US" sz="1200" dirty="0">
                <a:solidFill>
                  <a:srgbClr val="333333"/>
                </a:solidFill>
                <a:latin typeface="+mn-ea"/>
              </a:rPr>
              <a:t>的方式输出后人工判断，人工判断无法实现单元测试的自动化，应正确使用断言，验证测试结果的正确性。另不应使用已废弃的</a:t>
            </a:r>
            <a:r>
              <a:rPr lang="en-US" altLang="zh-CN" sz="1200" dirty="0" err="1">
                <a:solidFill>
                  <a:srgbClr val="333333"/>
                </a:solidFill>
                <a:latin typeface="+mn-ea"/>
              </a:rPr>
              <a:t>junit.framework.Assert</a:t>
            </a:r>
            <a:r>
              <a:rPr lang="zh-CN" altLang="en-US" sz="1200" dirty="0">
                <a:solidFill>
                  <a:srgbClr val="333333"/>
                </a:solidFill>
                <a:latin typeface="+mn-ea"/>
              </a:rPr>
              <a:t>，应使用</a:t>
            </a:r>
            <a:r>
              <a:rPr lang="en-US" altLang="zh-CN" sz="1200" dirty="0" err="1">
                <a:solidFill>
                  <a:srgbClr val="333333"/>
                </a:solidFill>
                <a:latin typeface="+mn-ea"/>
              </a:rPr>
              <a:t>org.junit.Assert</a:t>
            </a:r>
            <a:r>
              <a:rPr lang="zh-CN" altLang="en-US" sz="1200" dirty="0">
                <a:solidFill>
                  <a:srgbClr val="333333"/>
                </a:solidFill>
                <a:latin typeface="+mn-ea"/>
              </a:rPr>
              <a:t>。</a:t>
            </a:r>
          </a:p>
        </p:txBody>
      </p:sp>
      <p:sp>
        <p:nvSpPr>
          <p:cNvPr id="11" name="矩形 10">
            <a:extLst>
              <a:ext uri="{FF2B5EF4-FFF2-40B4-BE49-F238E27FC236}">
                <a16:creationId xmlns:a16="http://schemas.microsoft.com/office/drawing/2014/main" id="{56FFEF32-DAAF-4596-A427-71ED3BD0B90B}"/>
              </a:ext>
            </a:extLst>
          </p:cNvPr>
          <p:cNvSpPr/>
          <p:nvPr/>
        </p:nvSpPr>
        <p:spPr>
          <a:xfrm>
            <a:off x="375208" y="2968169"/>
            <a:ext cx="3746573" cy="523220"/>
          </a:xfrm>
          <a:prstGeom prst="rect">
            <a:avLst/>
          </a:prstGeom>
        </p:spPr>
        <p:txBody>
          <a:bodyPr wrap="square">
            <a:spAutoFit/>
          </a:bodyPr>
          <a:lstStyle/>
          <a:p>
            <a:r>
              <a:rPr lang="zh-CN" altLang="en-US" dirty="0">
                <a:solidFill>
                  <a:srgbClr val="FF0000"/>
                </a:solidFill>
                <a:latin typeface="+mn-ea"/>
              </a:rPr>
              <a:t>错误原因：不应使用</a:t>
            </a:r>
            <a:r>
              <a:rPr lang="en-US" altLang="zh-CN" dirty="0">
                <a:solidFill>
                  <a:srgbClr val="FF0000"/>
                </a:solidFill>
                <a:latin typeface="+mn-ea"/>
              </a:rPr>
              <a:t>print</a:t>
            </a:r>
            <a:r>
              <a:rPr lang="zh-CN" altLang="en-US" dirty="0">
                <a:solidFill>
                  <a:srgbClr val="FF0000"/>
                </a:solidFill>
                <a:latin typeface="+mn-ea"/>
              </a:rPr>
              <a:t>打印结果信息，</a:t>
            </a:r>
            <a:endParaRPr lang="en-US" altLang="zh-CN" dirty="0">
              <a:solidFill>
                <a:srgbClr val="FF0000"/>
              </a:solidFill>
              <a:latin typeface="+mn-ea"/>
            </a:endParaRPr>
          </a:p>
          <a:p>
            <a:r>
              <a:rPr lang="zh-CN" altLang="en-US" dirty="0">
                <a:solidFill>
                  <a:srgbClr val="FF0000"/>
                </a:solidFill>
                <a:latin typeface="+mn-ea"/>
              </a:rPr>
              <a:t>应使用断言验证结果的正确性。</a:t>
            </a:r>
            <a:endParaRPr lang="en-US" altLang="zh-CN" dirty="0">
              <a:solidFill>
                <a:srgbClr val="FF0000"/>
              </a:solidFill>
              <a:latin typeface="+mn-ea"/>
            </a:endParaRPr>
          </a:p>
        </p:txBody>
      </p:sp>
    </p:spTree>
    <p:extLst>
      <p:ext uri="{BB962C8B-B14F-4D97-AF65-F5344CB8AC3E}">
        <p14:creationId xmlns:p14="http://schemas.microsoft.com/office/powerpoint/2010/main" val="4289432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28" grpId="0"/>
      <p:bldP spid="9"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6223116" y="4426564"/>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28" name="矩形 27">
            <a:extLst>
              <a:ext uri="{FF2B5EF4-FFF2-40B4-BE49-F238E27FC236}">
                <a16:creationId xmlns:a16="http://schemas.microsoft.com/office/drawing/2014/main" id="{A0DF36B1-25B2-4FE1-9D67-1D3BD0B5BBC2}"/>
              </a:ext>
            </a:extLst>
          </p:cNvPr>
          <p:cNvSpPr/>
          <p:nvPr/>
        </p:nvSpPr>
        <p:spPr>
          <a:xfrm>
            <a:off x="1950427" y="4426564"/>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pic>
        <p:nvPicPr>
          <p:cNvPr id="6" name="图片 5">
            <a:extLst>
              <a:ext uri="{FF2B5EF4-FFF2-40B4-BE49-F238E27FC236}">
                <a16:creationId xmlns:a16="http://schemas.microsoft.com/office/drawing/2014/main" id="{CD54E4AE-3145-43D2-B810-E431A6B627A1}"/>
              </a:ext>
            </a:extLst>
          </p:cNvPr>
          <p:cNvPicPr>
            <a:picLocks noChangeAspect="1"/>
          </p:cNvPicPr>
          <p:nvPr/>
        </p:nvPicPr>
        <p:blipFill>
          <a:blip r:embed="rId3"/>
          <a:stretch>
            <a:fillRect/>
          </a:stretch>
        </p:blipFill>
        <p:spPr>
          <a:xfrm>
            <a:off x="259757" y="1634924"/>
            <a:ext cx="3843327" cy="2851156"/>
          </a:xfrm>
          <a:prstGeom prst="rect">
            <a:avLst/>
          </a:prstGeom>
        </p:spPr>
      </p:pic>
      <p:pic>
        <p:nvPicPr>
          <p:cNvPr id="8" name="图片 7">
            <a:extLst>
              <a:ext uri="{FF2B5EF4-FFF2-40B4-BE49-F238E27FC236}">
                <a16:creationId xmlns:a16="http://schemas.microsoft.com/office/drawing/2014/main" id="{28051B15-063A-46FE-B955-E256D8C5CB1A}"/>
              </a:ext>
            </a:extLst>
          </p:cNvPr>
          <p:cNvPicPr>
            <a:picLocks noChangeAspect="1"/>
          </p:cNvPicPr>
          <p:nvPr/>
        </p:nvPicPr>
        <p:blipFill>
          <a:blip r:embed="rId4"/>
          <a:stretch>
            <a:fillRect/>
          </a:stretch>
        </p:blipFill>
        <p:spPr>
          <a:xfrm>
            <a:off x="4309672" y="1634924"/>
            <a:ext cx="4075715" cy="2851156"/>
          </a:xfrm>
          <a:prstGeom prst="rect">
            <a:avLst/>
          </a:prstGeom>
        </p:spPr>
      </p:pic>
      <p:sp>
        <p:nvSpPr>
          <p:cNvPr id="9" name="矩形 8">
            <a:extLst>
              <a:ext uri="{FF2B5EF4-FFF2-40B4-BE49-F238E27FC236}">
                <a16:creationId xmlns:a16="http://schemas.microsoft.com/office/drawing/2014/main" id="{91D77719-E2F9-41AC-B62A-7B06B5DADC09}"/>
              </a:ext>
            </a:extLst>
          </p:cNvPr>
          <p:cNvSpPr/>
          <p:nvPr/>
        </p:nvSpPr>
        <p:spPr>
          <a:xfrm>
            <a:off x="631169" y="773150"/>
            <a:ext cx="6848923" cy="861774"/>
          </a:xfrm>
          <a:prstGeom prst="rect">
            <a:avLst/>
          </a:prstGeom>
        </p:spPr>
        <p:txBody>
          <a:bodyPr wrap="square">
            <a:spAutoFit/>
          </a:bodyPr>
          <a:lstStyle/>
          <a:p>
            <a:r>
              <a:rPr lang="en-US" altLang="zh-CN" dirty="0">
                <a:solidFill>
                  <a:srgbClr val="333333"/>
                </a:solidFill>
                <a:latin typeface="+mn-ea"/>
              </a:rPr>
              <a:t>6</a:t>
            </a:r>
            <a:r>
              <a:rPr lang="zh-CN" altLang="en-US" dirty="0">
                <a:solidFill>
                  <a:srgbClr val="333333"/>
                </a:solidFill>
                <a:latin typeface="+mn-ea"/>
              </a:rPr>
              <a:t>、测试方法中不应使用</a:t>
            </a:r>
            <a:r>
              <a:rPr lang="en-US" altLang="zh-CN" dirty="0">
                <a:solidFill>
                  <a:srgbClr val="333333"/>
                </a:solidFill>
                <a:latin typeface="+mn-ea"/>
              </a:rPr>
              <a:t>try catch</a:t>
            </a:r>
            <a:r>
              <a:rPr lang="zh-CN" altLang="en-US" dirty="0">
                <a:solidFill>
                  <a:srgbClr val="333333"/>
                </a:solidFill>
                <a:latin typeface="+mn-ea"/>
              </a:rPr>
              <a:t>捕获异常</a:t>
            </a:r>
          </a:p>
          <a:p>
            <a:r>
              <a:rPr lang="zh-CN" altLang="en-US" sz="1200" dirty="0">
                <a:solidFill>
                  <a:srgbClr val="333333"/>
                </a:solidFill>
                <a:latin typeface="+mn-ea"/>
              </a:rPr>
              <a:t>       对于异常的测试方法，应使用期望异常。对于未知异常，也不应使用</a:t>
            </a:r>
            <a:r>
              <a:rPr lang="en-US" altLang="zh-CN" sz="1200" dirty="0">
                <a:solidFill>
                  <a:srgbClr val="333333"/>
                </a:solidFill>
                <a:latin typeface="+mn-ea"/>
              </a:rPr>
              <a:t>try catch</a:t>
            </a:r>
            <a:r>
              <a:rPr lang="zh-CN" altLang="en-US" sz="1200" dirty="0">
                <a:solidFill>
                  <a:srgbClr val="333333"/>
                </a:solidFill>
                <a:latin typeface="+mn-ea"/>
              </a:rPr>
              <a:t>，</a:t>
            </a:r>
            <a:r>
              <a:rPr lang="en-US" altLang="zh-CN" sz="1200" dirty="0" err="1">
                <a:solidFill>
                  <a:srgbClr val="333333"/>
                </a:solidFill>
                <a:latin typeface="+mn-ea"/>
              </a:rPr>
              <a:t>junit</a:t>
            </a:r>
            <a:r>
              <a:rPr lang="zh-CN" altLang="en-US" sz="1200" dirty="0">
                <a:solidFill>
                  <a:srgbClr val="333333"/>
                </a:solidFill>
                <a:latin typeface="+mn-ea"/>
              </a:rPr>
              <a:t>本身会捕获异常，若非期望异常会不通过。</a:t>
            </a:r>
            <a:r>
              <a:rPr lang="en-US" altLang="zh-CN" sz="1200" dirty="0">
                <a:solidFill>
                  <a:srgbClr val="333333"/>
                </a:solidFill>
                <a:latin typeface="+mn-ea"/>
              </a:rPr>
              <a:t>@Rule </a:t>
            </a:r>
            <a:r>
              <a:rPr lang="en-US" altLang="zh-CN" sz="1200" dirty="0" err="1">
                <a:solidFill>
                  <a:srgbClr val="333333"/>
                </a:solidFill>
                <a:latin typeface="+mn-ea"/>
              </a:rPr>
              <a:t>ExpectedException</a:t>
            </a:r>
            <a:r>
              <a:rPr lang="zh-CN" altLang="en-US" sz="1200" dirty="0">
                <a:solidFill>
                  <a:srgbClr val="333333"/>
                </a:solidFill>
                <a:latin typeface="+mn-ea"/>
              </a:rPr>
              <a:t>不应放在测试基类中，应放在有异常流程的测试类，因为每个测试方法都会执行该规则，请谨慎使用。</a:t>
            </a:r>
          </a:p>
        </p:txBody>
      </p:sp>
      <p:sp>
        <p:nvSpPr>
          <p:cNvPr id="11" name="矩形 10">
            <a:extLst>
              <a:ext uri="{FF2B5EF4-FFF2-40B4-BE49-F238E27FC236}">
                <a16:creationId xmlns:a16="http://schemas.microsoft.com/office/drawing/2014/main" id="{FEBD0122-9792-44A0-A08E-354C8FEAE206}"/>
              </a:ext>
            </a:extLst>
          </p:cNvPr>
          <p:cNvSpPr/>
          <p:nvPr/>
        </p:nvSpPr>
        <p:spPr>
          <a:xfrm>
            <a:off x="459805" y="2769134"/>
            <a:ext cx="3746573" cy="523220"/>
          </a:xfrm>
          <a:prstGeom prst="rect">
            <a:avLst/>
          </a:prstGeom>
        </p:spPr>
        <p:txBody>
          <a:bodyPr wrap="square">
            <a:spAutoFit/>
          </a:bodyPr>
          <a:lstStyle/>
          <a:p>
            <a:r>
              <a:rPr lang="zh-CN" altLang="en-US" dirty="0">
                <a:solidFill>
                  <a:srgbClr val="FF0000"/>
                </a:solidFill>
                <a:latin typeface="+mn-ea"/>
              </a:rPr>
              <a:t>错误原因：不应使用</a:t>
            </a:r>
            <a:r>
              <a:rPr lang="en-US" altLang="zh-CN" dirty="0">
                <a:solidFill>
                  <a:srgbClr val="FF0000"/>
                </a:solidFill>
                <a:latin typeface="+mn-ea"/>
              </a:rPr>
              <a:t>try catch</a:t>
            </a:r>
            <a:r>
              <a:rPr lang="zh-CN" altLang="en-US" dirty="0">
                <a:solidFill>
                  <a:srgbClr val="FF0000"/>
                </a:solidFill>
                <a:latin typeface="+mn-ea"/>
              </a:rPr>
              <a:t>捕获预期或未知异常，应使用期望异常。</a:t>
            </a:r>
            <a:endParaRPr lang="en-US" altLang="zh-CN" dirty="0">
              <a:solidFill>
                <a:srgbClr val="FF0000"/>
              </a:solidFill>
              <a:latin typeface="+mn-ea"/>
            </a:endParaRPr>
          </a:p>
        </p:txBody>
      </p:sp>
    </p:spTree>
    <p:extLst>
      <p:ext uri="{BB962C8B-B14F-4D97-AF65-F5344CB8AC3E}">
        <p14:creationId xmlns:p14="http://schemas.microsoft.com/office/powerpoint/2010/main" val="37103698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28" grpId="0"/>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A0DF36B1-25B2-4FE1-9D67-1D3BD0B5BBC2}"/>
              </a:ext>
            </a:extLst>
          </p:cNvPr>
          <p:cNvSpPr/>
          <p:nvPr/>
        </p:nvSpPr>
        <p:spPr>
          <a:xfrm>
            <a:off x="4055630" y="4406282"/>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sp>
        <p:nvSpPr>
          <p:cNvPr id="9" name="矩形 8">
            <a:extLst>
              <a:ext uri="{FF2B5EF4-FFF2-40B4-BE49-F238E27FC236}">
                <a16:creationId xmlns:a16="http://schemas.microsoft.com/office/drawing/2014/main" id="{4A44D80D-005E-4E32-A211-ADF1983EB173}"/>
              </a:ext>
            </a:extLst>
          </p:cNvPr>
          <p:cNvSpPr/>
          <p:nvPr/>
        </p:nvSpPr>
        <p:spPr>
          <a:xfrm>
            <a:off x="631169" y="773150"/>
            <a:ext cx="6848923" cy="492443"/>
          </a:xfrm>
          <a:prstGeom prst="rect">
            <a:avLst/>
          </a:prstGeom>
        </p:spPr>
        <p:txBody>
          <a:bodyPr wrap="square">
            <a:spAutoFit/>
          </a:bodyPr>
          <a:lstStyle/>
          <a:p>
            <a:r>
              <a:rPr lang="en-US" altLang="zh-CN" dirty="0">
                <a:solidFill>
                  <a:srgbClr val="333333"/>
                </a:solidFill>
                <a:latin typeface="+mn-ea"/>
              </a:rPr>
              <a:t>7</a:t>
            </a:r>
            <a:r>
              <a:rPr lang="zh-CN" altLang="en-US" dirty="0">
                <a:solidFill>
                  <a:srgbClr val="333333"/>
                </a:solidFill>
                <a:latin typeface="+mn-ea"/>
              </a:rPr>
              <a:t>、拒绝过度保护</a:t>
            </a:r>
            <a:endParaRPr lang="en-US" altLang="zh-CN" dirty="0">
              <a:solidFill>
                <a:srgbClr val="333333"/>
              </a:solidFill>
              <a:latin typeface="+mn-ea"/>
            </a:endParaRPr>
          </a:p>
          <a:p>
            <a:r>
              <a:rPr lang="zh-CN" altLang="en-US" sz="1200" dirty="0">
                <a:solidFill>
                  <a:srgbClr val="333333"/>
                </a:solidFill>
                <a:latin typeface="+mn-ea"/>
              </a:rPr>
              <a:t>      </a:t>
            </a:r>
            <a:r>
              <a:rPr lang="zh-CN" altLang="zh-CN" sz="1200" dirty="0">
                <a:solidFill>
                  <a:srgbClr val="333333"/>
                </a:solidFill>
                <a:latin typeface="+mn-ea"/>
              </a:rPr>
              <a:t>过分保护的测试代码，基本上是不能提供附加价值的断言和测试语句，应删除冗余的断言。</a:t>
            </a:r>
            <a:endParaRPr lang="zh-CN" altLang="en-US" sz="1200" dirty="0">
              <a:solidFill>
                <a:srgbClr val="333333"/>
              </a:solidFill>
              <a:latin typeface="+mn-ea"/>
            </a:endParaRPr>
          </a:p>
        </p:txBody>
      </p:sp>
      <p:pic>
        <p:nvPicPr>
          <p:cNvPr id="2" name="图片 1">
            <a:extLst>
              <a:ext uri="{FF2B5EF4-FFF2-40B4-BE49-F238E27FC236}">
                <a16:creationId xmlns:a16="http://schemas.microsoft.com/office/drawing/2014/main" id="{9ACB9418-CCE9-45EE-910E-DDA59963C9E6}"/>
              </a:ext>
            </a:extLst>
          </p:cNvPr>
          <p:cNvPicPr>
            <a:picLocks noChangeAspect="1"/>
          </p:cNvPicPr>
          <p:nvPr/>
        </p:nvPicPr>
        <p:blipFill>
          <a:blip r:embed="rId3"/>
          <a:stretch>
            <a:fillRect/>
          </a:stretch>
        </p:blipFill>
        <p:spPr>
          <a:xfrm>
            <a:off x="1499017" y="1428941"/>
            <a:ext cx="5981076" cy="2880732"/>
          </a:xfrm>
          <a:prstGeom prst="rect">
            <a:avLst/>
          </a:prstGeom>
        </p:spPr>
      </p:pic>
      <p:sp>
        <p:nvSpPr>
          <p:cNvPr id="7" name="矩形 6">
            <a:extLst>
              <a:ext uri="{FF2B5EF4-FFF2-40B4-BE49-F238E27FC236}">
                <a16:creationId xmlns:a16="http://schemas.microsoft.com/office/drawing/2014/main" id="{58381563-3297-494F-87A0-A206792A9769}"/>
              </a:ext>
            </a:extLst>
          </p:cNvPr>
          <p:cNvSpPr/>
          <p:nvPr/>
        </p:nvSpPr>
        <p:spPr>
          <a:xfrm>
            <a:off x="2016552" y="3883062"/>
            <a:ext cx="4754542" cy="523220"/>
          </a:xfrm>
          <a:prstGeom prst="rect">
            <a:avLst/>
          </a:prstGeom>
        </p:spPr>
        <p:txBody>
          <a:bodyPr wrap="square">
            <a:spAutoFit/>
          </a:bodyPr>
          <a:lstStyle/>
          <a:p>
            <a:r>
              <a:rPr lang="zh-CN" altLang="en-US" dirty="0">
                <a:solidFill>
                  <a:srgbClr val="FF0000"/>
                </a:solidFill>
                <a:latin typeface="+mn-ea"/>
              </a:rPr>
              <a:t>错误原因：不应过度保护测试代码，</a:t>
            </a:r>
            <a:r>
              <a:rPr lang="en-US" altLang="zh-CN" dirty="0">
                <a:solidFill>
                  <a:srgbClr val="FF0000"/>
                </a:solidFill>
                <a:latin typeface="+mn-ea"/>
              </a:rPr>
              <a:t>data</a:t>
            </a:r>
            <a:r>
              <a:rPr lang="zh-CN" altLang="en-US" dirty="0">
                <a:solidFill>
                  <a:srgbClr val="FF0000"/>
                </a:solidFill>
                <a:latin typeface="+mn-ea"/>
              </a:rPr>
              <a:t>为</a:t>
            </a:r>
            <a:r>
              <a:rPr lang="en-US" altLang="zh-CN" dirty="0">
                <a:solidFill>
                  <a:srgbClr val="FF0000"/>
                </a:solidFill>
                <a:latin typeface="+mn-ea"/>
              </a:rPr>
              <a:t>null</a:t>
            </a:r>
            <a:r>
              <a:rPr lang="zh-CN" altLang="en-US" dirty="0">
                <a:solidFill>
                  <a:srgbClr val="FF0000"/>
                </a:solidFill>
                <a:latin typeface="+mn-ea"/>
              </a:rPr>
              <a:t>时，在</a:t>
            </a:r>
            <a:r>
              <a:rPr lang="en-US" altLang="zh-CN" dirty="0" err="1">
                <a:solidFill>
                  <a:srgbClr val="FF0000"/>
                </a:solidFill>
                <a:latin typeface="+mn-ea"/>
              </a:rPr>
              <a:t>data.count</a:t>
            </a:r>
            <a:r>
              <a:rPr lang="en-US" altLang="zh-CN" dirty="0">
                <a:solidFill>
                  <a:srgbClr val="FF0000"/>
                </a:solidFill>
                <a:latin typeface="+mn-ea"/>
              </a:rPr>
              <a:t>()</a:t>
            </a:r>
            <a:r>
              <a:rPr lang="zh-CN" altLang="en-US" dirty="0">
                <a:solidFill>
                  <a:srgbClr val="FF0000"/>
                </a:solidFill>
                <a:latin typeface="+mn-ea"/>
              </a:rPr>
              <a:t>时会抛出异常，</a:t>
            </a:r>
            <a:r>
              <a:rPr lang="en-US" altLang="zh-CN" dirty="0" err="1">
                <a:solidFill>
                  <a:srgbClr val="FF0000"/>
                </a:solidFill>
                <a:latin typeface="+mn-ea"/>
              </a:rPr>
              <a:t>junit</a:t>
            </a:r>
            <a:r>
              <a:rPr lang="zh-CN" altLang="en-US" dirty="0">
                <a:solidFill>
                  <a:srgbClr val="FF0000"/>
                </a:solidFill>
                <a:latin typeface="+mn-ea"/>
              </a:rPr>
              <a:t>会捕获异常，测试失败。</a:t>
            </a:r>
            <a:endParaRPr lang="en-US" altLang="zh-CN" dirty="0">
              <a:solidFill>
                <a:srgbClr val="FF0000"/>
              </a:solidFill>
              <a:latin typeface="+mn-ea"/>
            </a:endParaRPr>
          </a:p>
        </p:txBody>
      </p:sp>
    </p:spTree>
    <p:extLst>
      <p:ext uri="{BB962C8B-B14F-4D97-AF65-F5344CB8AC3E}">
        <p14:creationId xmlns:p14="http://schemas.microsoft.com/office/powerpoint/2010/main" val="24042594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8" grpId="0"/>
      <p:bldP spid="9"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A0DF36B1-25B2-4FE1-9D67-1D3BD0B5BBC2}"/>
              </a:ext>
            </a:extLst>
          </p:cNvPr>
          <p:cNvSpPr/>
          <p:nvPr/>
        </p:nvSpPr>
        <p:spPr>
          <a:xfrm>
            <a:off x="2009472" y="4315213"/>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sp>
        <p:nvSpPr>
          <p:cNvPr id="9" name="矩形 8">
            <a:extLst>
              <a:ext uri="{FF2B5EF4-FFF2-40B4-BE49-F238E27FC236}">
                <a16:creationId xmlns:a16="http://schemas.microsoft.com/office/drawing/2014/main" id="{4A44D80D-005E-4E32-A211-ADF1983EB173}"/>
              </a:ext>
            </a:extLst>
          </p:cNvPr>
          <p:cNvSpPr/>
          <p:nvPr/>
        </p:nvSpPr>
        <p:spPr>
          <a:xfrm>
            <a:off x="631169" y="773150"/>
            <a:ext cx="6848923" cy="492443"/>
          </a:xfrm>
          <a:prstGeom prst="rect">
            <a:avLst/>
          </a:prstGeom>
        </p:spPr>
        <p:txBody>
          <a:bodyPr wrap="square">
            <a:spAutoFit/>
          </a:bodyPr>
          <a:lstStyle/>
          <a:p>
            <a:r>
              <a:rPr lang="en-US" altLang="zh-CN" dirty="0">
                <a:solidFill>
                  <a:srgbClr val="333333"/>
                </a:solidFill>
                <a:latin typeface="+mn-ea"/>
              </a:rPr>
              <a:t>8</a:t>
            </a:r>
            <a:r>
              <a:rPr lang="zh-CN" altLang="en-US" dirty="0">
                <a:solidFill>
                  <a:srgbClr val="333333"/>
                </a:solidFill>
                <a:latin typeface="+mn-ea"/>
              </a:rPr>
              <a:t>、拒绝过度断言</a:t>
            </a:r>
            <a:endParaRPr lang="en-US" altLang="zh-CN" dirty="0">
              <a:solidFill>
                <a:srgbClr val="333333"/>
              </a:solidFill>
              <a:latin typeface="+mn-ea"/>
            </a:endParaRPr>
          </a:p>
          <a:p>
            <a:r>
              <a:rPr lang="zh-CN" altLang="en-US" sz="1200" dirty="0">
                <a:solidFill>
                  <a:srgbClr val="333333"/>
                </a:solidFill>
                <a:latin typeface="+mn-ea"/>
              </a:rPr>
              <a:t>      </a:t>
            </a:r>
            <a:r>
              <a:rPr lang="zh-CN" altLang="zh-CN" sz="1200" dirty="0">
                <a:solidFill>
                  <a:srgbClr val="333333"/>
                </a:solidFill>
                <a:latin typeface="+mn-ea"/>
              </a:rPr>
              <a:t>当遇到过度断言，很难理解其测试意图，可能会导致程序变化会造成输出与期望不同。</a:t>
            </a:r>
            <a:endParaRPr lang="zh-CN" altLang="en-US" sz="1200" dirty="0">
              <a:solidFill>
                <a:srgbClr val="333333"/>
              </a:solidFill>
              <a:latin typeface="+mn-ea"/>
            </a:endParaRPr>
          </a:p>
        </p:txBody>
      </p:sp>
      <p:pic>
        <p:nvPicPr>
          <p:cNvPr id="14" name="图片 13">
            <a:extLst>
              <a:ext uri="{FF2B5EF4-FFF2-40B4-BE49-F238E27FC236}">
                <a16:creationId xmlns:a16="http://schemas.microsoft.com/office/drawing/2014/main" id="{55793B04-B247-43B1-B507-F03E7F380996}"/>
              </a:ext>
            </a:extLst>
          </p:cNvPr>
          <p:cNvPicPr/>
          <p:nvPr/>
        </p:nvPicPr>
        <p:blipFill>
          <a:blip r:embed="rId3"/>
          <a:stretch>
            <a:fillRect/>
          </a:stretch>
        </p:blipFill>
        <p:spPr>
          <a:xfrm>
            <a:off x="278432" y="1391374"/>
            <a:ext cx="3956289" cy="2978975"/>
          </a:xfrm>
          <a:prstGeom prst="rect">
            <a:avLst/>
          </a:prstGeom>
        </p:spPr>
      </p:pic>
      <p:sp>
        <p:nvSpPr>
          <p:cNvPr id="17" name="矩形 16">
            <a:extLst>
              <a:ext uri="{FF2B5EF4-FFF2-40B4-BE49-F238E27FC236}">
                <a16:creationId xmlns:a16="http://schemas.microsoft.com/office/drawing/2014/main" id="{175F2AB3-FEDD-4FB2-AEEC-7565E7A8D9DC}"/>
              </a:ext>
            </a:extLst>
          </p:cNvPr>
          <p:cNvSpPr/>
          <p:nvPr/>
        </p:nvSpPr>
        <p:spPr>
          <a:xfrm>
            <a:off x="6165857" y="4315213"/>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18" name="图片 17">
            <a:extLst>
              <a:ext uri="{FF2B5EF4-FFF2-40B4-BE49-F238E27FC236}">
                <a16:creationId xmlns:a16="http://schemas.microsoft.com/office/drawing/2014/main" id="{B5AC88DB-2F89-4F01-9BF7-A3800DB61346}"/>
              </a:ext>
            </a:extLst>
          </p:cNvPr>
          <p:cNvPicPr/>
          <p:nvPr/>
        </p:nvPicPr>
        <p:blipFill>
          <a:blip r:embed="rId4"/>
          <a:stretch>
            <a:fillRect/>
          </a:stretch>
        </p:blipFill>
        <p:spPr>
          <a:xfrm>
            <a:off x="4393232" y="1391373"/>
            <a:ext cx="4053725" cy="2978975"/>
          </a:xfrm>
          <a:prstGeom prst="rect">
            <a:avLst/>
          </a:prstGeom>
        </p:spPr>
      </p:pic>
      <p:sp>
        <p:nvSpPr>
          <p:cNvPr id="10" name="矩形 9">
            <a:extLst>
              <a:ext uri="{FF2B5EF4-FFF2-40B4-BE49-F238E27FC236}">
                <a16:creationId xmlns:a16="http://schemas.microsoft.com/office/drawing/2014/main" id="{30E78F16-A183-423D-A365-E0E660ACB750}"/>
              </a:ext>
            </a:extLst>
          </p:cNvPr>
          <p:cNvSpPr/>
          <p:nvPr/>
        </p:nvSpPr>
        <p:spPr>
          <a:xfrm>
            <a:off x="366493" y="3831701"/>
            <a:ext cx="4754542" cy="738664"/>
          </a:xfrm>
          <a:prstGeom prst="rect">
            <a:avLst/>
          </a:prstGeom>
        </p:spPr>
        <p:txBody>
          <a:bodyPr wrap="square">
            <a:spAutoFit/>
          </a:bodyPr>
          <a:lstStyle/>
          <a:p>
            <a:r>
              <a:rPr lang="zh-CN" altLang="en-US" dirty="0">
                <a:solidFill>
                  <a:srgbClr val="FF0000"/>
                </a:solidFill>
                <a:latin typeface="+mn-ea"/>
              </a:rPr>
              <a:t>错误原因：该测试方法过度断言了，测试意图不</a:t>
            </a:r>
            <a:endParaRPr lang="en-US" altLang="zh-CN" dirty="0">
              <a:solidFill>
                <a:srgbClr val="FF0000"/>
              </a:solidFill>
              <a:latin typeface="+mn-ea"/>
            </a:endParaRPr>
          </a:p>
          <a:p>
            <a:r>
              <a:rPr lang="zh-CN" altLang="en-US" dirty="0">
                <a:solidFill>
                  <a:srgbClr val="FF0000"/>
                </a:solidFill>
                <a:latin typeface="+mn-ea"/>
              </a:rPr>
              <a:t>明显，且测试内容太多可能导致与预期结果不符，</a:t>
            </a:r>
            <a:endParaRPr lang="en-US" altLang="zh-CN" dirty="0">
              <a:solidFill>
                <a:srgbClr val="FF0000"/>
              </a:solidFill>
              <a:latin typeface="+mn-ea"/>
            </a:endParaRPr>
          </a:p>
          <a:p>
            <a:r>
              <a:rPr lang="zh-CN" altLang="en-US" dirty="0">
                <a:solidFill>
                  <a:srgbClr val="FF0000"/>
                </a:solidFill>
                <a:latin typeface="+mn-ea"/>
              </a:rPr>
              <a:t>应适时拆分。</a:t>
            </a:r>
            <a:endParaRPr lang="en-US" altLang="zh-CN" dirty="0">
              <a:solidFill>
                <a:srgbClr val="FF0000"/>
              </a:solidFill>
              <a:latin typeface="+mn-ea"/>
            </a:endParaRPr>
          </a:p>
        </p:txBody>
      </p:sp>
    </p:spTree>
    <p:extLst>
      <p:ext uri="{BB962C8B-B14F-4D97-AF65-F5344CB8AC3E}">
        <p14:creationId xmlns:p14="http://schemas.microsoft.com/office/powerpoint/2010/main" val="40811674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1000"/>
                                        <p:tgtEl>
                                          <p:spTgt spid="18"/>
                                        </p:tgtEl>
                                      </p:cBhvr>
                                    </p:animEffect>
                                    <p:anim calcmode="lin" valueType="num">
                                      <p:cBhvr>
                                        <p:cTn id="45" dur="1000" fill="hold"/>
                                        <p:tgtEl>
                                          <p:spTgt spid="18"/>
                                        </p:tgtEl>
                                        <p:attrNameLst>
                                          <p:attrName>ppt_x</p:attrName>
                                        </p:attrNameLst>
                                      </p:cBhvr>
                                      <p:tavLst>
                                        <p:tav tm="0">
                                          <p:val>
                                            <p:strVal val="#ppt_x"/>
                                          </p:val>
                                        </p:tav>
                                        <p:tav tm="100000">
                                          <p:val>
                                            <p:strVal val="#ppt_x"/>
                                          </p:val>
                                        </p:tav>
                                      </p:tavLst>
                                    </p:anim>
                                    <p:anim calcmode="lin" valueType="num">
                                      <p:cBhvr>
                                        <p:cTn id="46" dur="100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8" grpId="0"/>
      <p:bldP spid="9" grpId="0"/>
      <p:bldP spid="17"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3958789" y="4585793"/>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6848923" cy="861774"/>
          </a:xfrm>
          <a:prstGeom prst="rect">
            <a:avLst/>
          </a:prstGeom>
        </p:spPr>
        <p:txBody>
          <a:bodyPr wrap="square">
            <a:spAutoFit/>
          </a:bodyPr>
          <a:lstStyle/>
          <a:p>
            <a:r>
              <a:rPr lang="en-US" altLang="zh-CN" dirty="0">
                <a:solidFill>
                  <a:srgbClr val="333333"/>
                </a:solidFill>
                <a:latin typeface="+mn-ea"/>
              </a:rPr>
              <a:t>9</a:t>
            </a:r>
            <a:r>
              <a:rPr lang="zh-CN" altLang="en-US" dirty="0">
                <a:solidFill>
                  <a:srgbClr val="333333"/>
                </a:solidFill>
                <a:latin typeface="+mn-ea"/>
              </a:rPr>
              <a:t>、拒绝重复的测试代码</a:t>
            </a:r>
          </a:p>
          <a:p>
            <a:r>
              <a:rPr lang="en-US" altLang="zh-CN" sz="1200" dirty="0">
                <a:solidFill>
                  <a:srgbClr val="333333"/>
                </a:solidFill>
                <a:latin typeface="+mn-ea"/>
              </a:rPr>
              <a:t>       </a:t>
            </a:r>
            <a:r>
              <a:rPr lang="zh-CN" altLang="zh-CN" sz="1200" dirty="0">
                <a:solidFill>
                  <a:srgbClr val="333333"/>
                </a:solidFill>
                <a:latin typeface="+mn-ea"/>
              </a:rPr>
              <a:t>重复就是导致代码失去整洁的罪魁祸首之一，使得散落在各处的概念和逻辑很难理解</a:t>
            </a:r>
            <a:r>
              <a:rPr lang="zh-CN" altLang="en-US" sz="1200" dirty="0">
                <a:solidFill>
                  <a:srgbClr val="333333"/>
                </a:solidFill>
                <a:latin typeface="+mn-ea"/>
              </a:rPr>
              <a:t>。</a:t>
            </a:r>
            <a:r>
              <a:rPr lang="zh-CN" altLang="zh-CN" sz="1200" dirty="0">
                <a:solidFill>
                  <a:srgbClr val="333333"/>
                </a:solidFill>
                <a:latin typeface="+mn-ea"/>
              </a:rPr>
              <a:t>应适时抽取相同的代码逻辑，进行封装设计，保证测试代码的整洁。</a:t>
            </a:r>
          </a:p>
          <a:p>
            <a:endParaRPr lang="zh-CN" altLang="en-US" sz="1200" dirty="0">
              <a:solidFill>
                <a:srgbClr val="333333"/>
              </a:solidFill>
              <a:latin typeface="+mn-ea"/>
            </a:endParaRPr>
          </a:p>
        </p:txBody>
      </p:sp>
      <p:pic>
        <p:nvPicPr>
          <p:cNvPr id="5" name="图片 4">
            <a:extLst>
              <a:ext uri="{FF2B5EF4-FFF2-40B4-BE49-F238E27FC236}">
                <a16:creationId xmlns:a16="http://schemas.microsoft.com/office/drawing/2014/main" id="{6B92FC56-70D4-452D-8E09-BF3098C8537E}"/>
              </a:ext>
            </a:extLst>
          </p:cNvPr>
          <p:cNvPicPr>
            <a:picLocks noChangeAspect="1"/>
          </p:cNvPicPr>
          <p:nvPr/>
        </p:nvPicPr>
        <p:blipFill>
          <a:blip r:embed="rId3"/>
          <a:stretch>
            <a:fillRect/>
          </a:stretch>
        </p:blipFill>
        <p:spPr>
          <a:xfrm>
            <a:off x="755629" y="1431560"/>
            <a:ext cx="7548921" cy="3237875"/>
          </a:xfrm>
          <a:prstGeom prst="rect">
            <a:avLst/>
          </a:prstGeom>
        </p:spPr>
      </p:pic>
    </p:spTree>
    <p:extLst>
      <p:ext uri="{BB962C8B-B14F-4D97-AF65-F5344CB8AC3E}">
        <p14:creationId xmlns:p14="http://schemas.microsoft.com/office/powerpoint/2010/main" val="9480869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91D77719-E2F9-41AC-B62A-7B06B5DADC09}"/>
              </a:ext>
            </a:extLst>
          </p:cNvPr>
          <p:cNvSpPr/>
          <p:nvPr/>
        </p:nvSpPr>
        <p:spPr>
          <a:xfrm>
            <a:off x="631169" y="773150"/>
            <a:ext cx="6848923" cy="677108"/>
          </a:xfrm>
          <a:prstGeom prst="rect">
            <a:avLst/>
          </a:prstGeom>
        </p:spPr>
        <p:txBody>
          <a:bodyPr wrap="square">
            <a:spAutoFit/>
          </a:bodyPr>
          <a:lstStyle/>
          <a:p>
            <a:r>
              <a:rPr lang="en-US" altLang="zh-CN" dirty="0">
                <a:solidFill>
                  <a:srgbClr val="333333"/>
                </a:solidFill>
                <a:latin typeface="+mn-ea"/>
              </a:rPr>
              <a:t>11</a:t>
            </a:r>
            <a:r>
              <a:rPr lang="zh-CN" altLang="en-US" dirty="0">
                <a:solidFill>
                  <a:srgbClr val="333333"/>
                </a:solidFill>
                <a:latin typeface="+mn-ea"/>
              </a:rPr>
              <a:t>、应保持单个测试方法的独立性</a:t>
            </a:r>
          </a:p>
          <a:p>
            <a:r>
              <a:rPr lang="zh-CN" altLang="en-US" sz="1200" dirty="0">
                <a:solidFill>
                  <a:srgbClr val="333333"/>
                </a:solidFill>
                <a:latin typeface="+mn-ea"/>
              </a:rPr>
              <a:t>       单个测试方法应具有独立性，不应依赖先前测试方法的结果，防止数据依赖导致所有测试用例失败。</a:t>
            </a:r>
          </a:p>
        </p:txBody>
      </p:sp>
      <p:sp>
        <p:nvSpPr>
          <p:cNvPr id="8" name="矩形 7">
            <a:extLst>
              <a:ext uri="{FF2B5EF4-FFF2-40B4-BE49-F238E27FC236}">
                <a16:creationId xmlns:a16="http://schemas.microsoft.com/office/drawing/2014/main" id="{B53FDB1E-FA63-4CCC-9BAE-37769099788E}"/>
              </a:ext>
            </a:extLst>
          </p:cNvPr>
          <p:cNvSpPr/>
          <p:nvPr/>
        </p:nvSpPr>
        <p:spPr>
          <a:xfrm>
            <a:off x="3903444" y="4573434"/>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5" name="图片 4">
            <a:extLst>
              <a:ext uri="{FF2B5EF4-FFF2-40B4-BE49-F238E27FC236}">
                <a16:creationId xmlns:a16="http://schemas.microsoft.com/office/drawing/2014/main" id="{F3B3CA12-0A6E-4D57-9EBC-B82CF534D21F}"/>
              </a:ext>
            </a:extLst>
          </p:cNvPr>
          <p:cNvPicPr>
            <a:picLocks noChangeAspect="1"/>
          </p:cNvPicPr>
          <p:nvPr/>
        </p:nvPicPr>
        <p:blipFill>
          <a:blip r:embed="rId3"/>
          <a:stretch>
            <a:fillRect/>
          </a:stretch>
        </p:blipFill>
        <p:spPr>
          <a:xfrm>
            <a:off x="716109" y="1450258"/>
            <a:ext cx="7648401" cy="3226673"/>
          </a:xfrm>
          <a:prstGeom prst="rect">
            <a:avLst/>
          </a:prstGeom>
        </p:spPr>
      </p:pic>
    </p:spTree>
    <p:extLst>
      <p:ext uri="{BB962C8B-B14F-4D97-AF65-F5344CB8AC3E}">
        <p14:creationId xmlns:p14="http://schemas.microsoft.com/office/powerpoint/2010/main" val="20453519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A0DF36B1-25B2-4FE1-9D67-1D3BD0B5BBC2}"/>
              </a:ext>
            </a:extLst>
          </p:cNvPr>
          <p:cNvSpPr/>
          <p:nvPr/>
        </p:nvSpPr>
        <p:spPr>
          <a:xfrm>
            <a:off x="3824637" y="4426565"/>
            <a:ext cx="461986"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3600" b="1" dirty="0">
                <a:ln w="22225">
                  <a:solidFill>
                    <a:srgbClr val="FF0000"/>
                  </a:solidFill>
                  <a:prstDash val="solid"/>
                </a:ln>
                <a:solidFill>
                  <a:srgbClr val="FF0000"/>
                </a:solidFill>
              </a:rPr>
              <a:t>╳</a:t>
            </a:r>
            <a:endParaRPr lang="zh-CN" altLang="en-US" sz="3600" b="1" dirty="0">
              <a:ln w="22225">
                <a:solidFill>
                  <a:srgbClr val="FF0000"/>
                </a:solidFill>
                <a:prstDash val="solid"/>
              </a:ln>
              <a:solidFill>
                <a:srgbClr val="FF0000"/>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6848923" cy="492443"/>
          </a:xfrm>
          <a:prstGeom prst="rect">
            <a:avLst/>
          </a:prstGeom>
        </p:spPr>
        <p:txBody>
          <a:bodyPr wrap="square">
            <a:spAutoFit/>
          </a:bodyPr>
          <a:lstStyle/>
          <a:p>
            <a:r>
              <a:rPr lang="en-US" altLang="zh-CN" dirty="0">
                <a:solidFill>
                  <a:srgbClr val="333333"/>
                </a:solidFill>
                <a:latin typeface="+mn-ea"/>
              </a:rPr>
              <a:t>10</a:t>
            </a:r>
            <a:r>
              <a:rPr lang="zh-CN" altLang="en-US" dirty="0">
                <a:solidFill>
                  <a:srgbClr val="333333"/>
                </a:solidFill>
                <a:latin typeface="+mn-ea"/>
              </a:rPr>
              <a:t>、不应使用</a:t>
            </a:r>
            <a:r>
              <a:rPr lang="en-US" altLang="zh-CN" dirty="0">
                <a:solidFill>
                  <a:srgbClr val="333333"/>
                </a:solidFill>
                <a:latin typeface="+mn-ea"/>
              </a:rPr>
              <a:t>@Ignore</a:t>
            </a:r>
            <a:endParaRPr lang="zh-CN" altLang="en-US" dirty="0">
              <a:solidFill>
                <a:srgbClr val="333333"/>
              </a:solidFill>
              <a:latin typeface="+mn-ea"/>
            </a:endParaRPr>
          </a:p>
          <a:p>
            <a:r>
              <a:rPr lang="zh-CN" altLang="en-US" sz="1200" dirty="0">
                <a:solidFill>
                  <a:srgbClr val="333333"/>
                </a:solidFill>
                <a:latin typeface="+mn-ea"/>
              </a:rPr>
              <a:t>       忽略方法没有意义，</a:t>
            </a:r>
            <a:r>
              <a:rPr lang="en-US" altLang="zh-CN" sz="1200" dirty="0">
                <a:solidFill>
                  <a:srgbClr val="333333"/>
                </a:solidFill>
                <a:latin typeface="+mn-ea"/>
              </a:rPr>
              <a:t>Sonar</a:t>
            </a:r>
            <a:r>
              <a:rPr lang="zh-CN" altLang="en-US" sz="1200" dirty="0">
                <a:solidFill>
                  <a:srgbClr val="333333"/>
                </a:solidFill>
                <a:latin typeface="+mn-ea"/>
              </a:rPr>
              <a:t> </a:t>
            </a:r>
            <a:r>
              <a:rPr lang="en-US" altLang="zh-CN" sz="1200" dirty="0">
                <a:solidFill>
                  <a:srgbClr val="333333"/>
                </a:solidFill>
                <a:latin typeface="+mn-ea"/>
              </a:rPr>
              <a:t>Lint</a:t>
            </a:r>
            <a:r>
              <a:rPr lang="zh-CN" altLang="en-US" sz="1200" dirty="0">
                <a:solidFill>
                  <a:srgbClr val="333333"/>
                </a:solidFill>
                <a:latin typeface="+mn-ea"/>
              </a:rPr>
              <a:t>也会告警。</a:t>
            </a:r>
          </a:p>
        </p:txBody>
      </p:sp>
      <p:pic>
        <p:nvPicPr>
          <p:cNvPr id="2" name="图片 1">
            <a:extLst>
              <a:ext uri="{FF2B5EF4-FFF2-40B4-BE49-F238E27FC236}">
                <a16:creationId xmlns:a16="http://schemas.microsoft.com/office/drawing/2014/main" id="{074BB03F-2118-4F89-9851-2F742606CB28}"/>
              </a:ext>
            </a:extLst>
          </p:cNvPr>
          <p:cNvPicPr>
            <a:picLocks noChangeAspect="1"/>
          </p:cNvPicPr>
          <p:nvPr/>
        </p:nvPicPr>
        <p:blipFill>
          <a:blip r:embed="rId3"/>
          <a:stretch>
            <a:fillRect/>
          </a:stretch>
        </p:blipFill>
        <p:spPr>
          <a:xfrm>
            <a:off x="1525254" y="1436555"/>
            <a:ext cx="5060752" cy="2819048"/>
          </a:xfrm>
          <a:prstGeom prst="rect">
            <a:avLst/>
          </a:prstGeom>
        </p:spPr>
      </p:pic>
      <p:sp>
        <p:nvSpPr>
          <p:cNvPr id="7" name="矩形 6">
            <a:extLst>
              <a:ext uri="{FF2B5EF4-FFF2-40B4-BE49-F238E27FC236}">
                <a16:creationId xmlns:a16="http://schemas.microsoft.com/office/drawing/2014/main" id="{E4245870-8B9F-47D1-B816-15D3C42EB3D4}"/>
              </a:ext>
            </a:extLst>
          </p:cNvPr>
          <p:cNvSpPr/>
          <p:nvPr/>
        </p:nvSpPr>
        <p:spPr>
          <a:xfrm>
            <a:off x="1909352" y="2698147"/>
            <a:ext cx="4754542" cy="307777"/>
          </a:xfrm>
          <a:prstGeom prst="rect">
            <a:avLst/>
          </a:prstGeom>
        </p:spPr>
        <p:txBody>
          <a:bodyPr wrap="square">
            <a:spAutoFit/>
          </a:bodyPr>
          <a:lstStyle/>
          <a:p>
            <a:r>
              <a:rPr lang="zh-CN" altLang="en-US" dirty="0">
                <a:solidFill>
                  <a:srgbClr val="FF0000"/>
                </a:solidFill>
                <a:latin typeface="+mn-ea"/>
              </a:rPr>
              <a:t>错误原因：不应使用忽略注解。</a:t>
            </a:r>
            <a:endParaRPr lang="en-US" altLang="zh-CN" dirty="0">
              <a:solidFill>
                <a:srgbClr val="FF0000"/>
              </a:solidFill>
              <a:latin typeface="+mn-ea"/>
            </a:endParaRPr>
          </a:p>
        </p:txBody>
      </p:sp>
    </p:spTree>
    <p:extLst>
      <p:ext uri="{BB962C8B-B14F-4D97-AF65-F5344CB8AC3E}">
        <p14:creationId xmlns:p14="http://schemas.microsoft.com/office/powerpoint/2010/main" val="41013717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8"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3801393" y="4370350"/>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6848923" cy="861774"/>
          </a:xfrm>
          <a:prstGeom prst="rect">
            <a:avLst/>
          </a:prstGeom>
        </p:spPr>
        <p:txBody>
          <a:bodyPr wrap="square">
            <a:spAutoFit/>
          </a:bodyPr>
          <a:lstStyle/>
          <a:p>
            <a:r>
              <a:rPr lang="en-US" altLang="zh-CN" dirty="0">
                <a:solidFill>
                  <a:srgbClr val="333333"/>
                </a:solidFill>
                <a:latin typeface="+mn-ea"/>
              </a:rPr>
              <a:t>11</a:t>
            </a:r>
            <a:r>
              <a:rPr lang="zh-CN" altLang="en-US" dirty="0">
                <a:solidFill>
                  <a:srgbClr val="333333"/>
                </a:solidFill>
                <a:latin typeface="+mn-ea"/>
              </a:rPr>
              <a:t>、防止引入测试脏数据</a:t>
            </a:r>
          </a:p>
          <a:p>
            <a:r>
              <a:rPr lang="zh-CN" altLang="en-US" sz="1200" dirty="0">
                <a:solidFill>
                  <a:srgbClr val="333333"/>
                </a:solidFill>
                <a:latin typeface="+mn-ea"/>
              </a:rPr>
              <a:t>       若使用了数据库的，应实用</a:t>
            </a:r>
            <a:r>
              <a:rPr lang="en-US" altLang="zh-CN" sz="1200" dirty="0">
                <a:solidFill>
                  <a:srgbClr val="333333"/>
                </a:solidFill>
                <a:latin typeface="+mn-ea"/>
              </a:rPr>
              <a:t>spring-test</a:t>
            </a:r>
            <a:r>
              <a:rPr lang="zh-CN" altLang="en-US" sz="1200" dirty="0">
                <a:solidFill>
                  <a:srgbClr val="333333"/>
                </a:solidFill>
                <a:latin typeface="+mn-ea"/>
              </a:rPr>
              <a:t>的事务回滚机制，防止进行单元测试时，产生无用的垃圾数据。另对于多个测试方法共用的数据，可集中管理或抽取测试基类，如公共的请求数据、相同的</a:t>
            </a:r>
            <a:r>
              <a:rPr lang="en-US" altLang="zh-CN" sz="1200" dirty="0">
                <a:solidFill>
                  <a:srgbClr val="333333"/>
                </a:solidFill>
                <a:latin typeface="+mn-ea"/>
              </a:rPr>
              <a:t>spring-test</a:t>
            </a:r>
            <a:r>
              <a:rPr lang="zh-CN" altLang="en-US" sz="1200" dirty="0">
                <a:solidFill>
                  <a:srgbClr val="333333"/>
                </a:solidFill>
                <a:latin typeface="+mn-ea"/>
              </a:rPr>
              <a:t>配置</a:t>
            </a:r>
            <a:r>
              <a:rPr lang="en-US" altLang="zh-CN" sz="1200" dirty="0">
                <a:solidFill>
                  <a:srgbClr val="333333"/>
                </a:solidFill>
                <a:latin typeface="+mn-ea"/>
              </a:rPr>
              <a:t>(</a:t>
            </a:r>
            <a:r>
              <a:rPr lang="zh-CN" altLang="en-US" sz="1200" dirty="0">
                <a:solidFill>
                  <a:srgbClr val="333333"/>
                </a:solidFill>
                <a:latin typeface="+mn-ea"/>
              </a:rPr>
              <a:t>事务管理</a:t>
            </a:r>
            <a:r>
              <a:rPr lang="en-US" altLang="zh-CN" sz="1200" dirty="0">
                <a:solidFill>
                  <a:srgbClr val="333333"/>
                </a:solidFill>
                <a:latin typeface="+mn-ea"/>
              </a:rPr>
              <a:t>)</a:t>
            </a:r>
            <a:r>
              <a:rPr lang="zh-CN" altLang="en-US" sz="1200" dirty="0">
                <a:solidFill>
                  <a:srgbClr val="333333"/>
                </a:solidFill>
                <a:latin typeface="+mn-ea"/>
              </a:rPr>
              <a:t>。</a:t>
            </a:r>
          </a:p>
        </p:txBody>
      </p:sp>
      <p:pic>
        <p:nvPicPr>
          <p:cNvPr id="2" name="图片 1">
            <a:extLst>
              <a:ext uri="{FF2B5EF4-FFF2-40B4-BE49-F238E27FC236}">
                <a16:creationId xmlns:a16="http://schemas.microsoft.com/office/drawing/2014/main" id="{816D1284-B6AD-4AED-A542-1C4670085AB4}"/>
              </a:ext>
            </a:extLst>
          </p:cNvPr>
          <p:cNvPicPr>
            <a:picLocks noChangeAspect="1"/>
          </p:cNvPicPr>
          <p:nvPr/>
        </p:nvPicPr>
        <p:blipFill>
          <a:blip r:embed="rId3"/>
          <a:stretch>
            <a:fillRect/>
          </a:stretch>
        </p:blipFill>
        <p:spPr>
          <a:xfrm>
            <a:off x="775330" y="2091565"/>
            <a:ext cx="6704762" cy="1600799"/>
          </a:xfrm>
          <a:prstGeom prst="rect">
            <a:avLst/>
          </a:prstGeom>
        </p:spPr>
      </p:pic>
    </p:spTree>
    <p:extLst>
      <p:ext uri="{BB962C8B-B14F-4D97-AF65-F5344CB8AC3E}">
        <p14:creationId xmlns:p14="http://schemas.microsoft.com/office/powerpoint/2010/main" val="258902450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7E08725-907A-4C6E-AE26-EC246617C408}"/>
              </a:ext>
            </a:extLst>
          </p:cNvPr>
          <p:cNvSpPr/>
          <p:nvPr/>
        </p:nvSpPr>
        <p:spPr>
          <a:xfrm>
            <a:off x="631169" y="1414444"/>
            <a:ext cx="7231172" cy="738664"/>
          </a:xfrm>
          <a:prstGeom prst="rect">
            <a:avLst/>
          </a:prstGeom>
        </p:spPr>
        <p:txBody>
          <a:bodyPr wrap="square">
            <a:spAutoFit/>
          </a:bodyPr>
          <a:lstStyle/>
          <a:p>
            <a:r>
              <a:rPr lang="zh-CN" altLang="en-US" dirty="0">
                <a:solidFill>
                  <a:srgbClr val="2F2F2F"/>
                </a:solidFill>
                <a:latin typeface="-apple-system"/>
              </a:rPr>
              <a:t>         所谓</a:t>
            </a:r>
            <a:r>
              <a:rPr lang="zh-CN" altLang="en-US" b="1" dirty="0">
                <a:solidFill>
                  <a:srgbClr val="2F2F2F"/>
                </a:solidFill>
                <a:latin typeface="-apple-system"/>
              </a:rPr>
              <a:t>可靠性</a:t>
            </a:r>
            <a:r>
              <a:rPr lang="zh-CN" altLang="en-US" dirty="0">
                <a:solidFill>
                  <a:srgbClr val="2F2F2F"/>
                </a:solidFill>
                <a:latin typeface="-apple-system"/>
              </a:rPr>
              <a:t>是指单元测试本身是正确的，设计出的覆盖各种正常和异常场景的测试用例，在任何预期或非预期的情况下都能正确运行。只有保证单元测试的可靠性，才能让开发人员信任该单元测试。</a:t>
            </a:r>
            <a:endParaRPr lang="zh-CN" altLang="en-US" dirty="0"/>
          </a:p>
        </p:txBody>
      </p:sp>
      <p:sp>
        <p:nvSpPr>
          <p:cNvPr id="5" name="矩形 4">
            <a:extLst>
              <a:ext uri="{FF2B5EF4-FFF2-40B4-BE49-F238E27FC236}">
                <a16:creationId xmlns:a16="http://schemas.microsoft.com/office/drawing/2014/main" id="{7E4C749E-C985-410A-9751-605B695FE458}"/>
              </a:ext>
            </a:extLst>
          </p:cNvPr>
          <p:cNvSpPr/>
          <p:nvPr/>
        </p:nvSpPr>
        <p:spPr>
          <a:xfrm>
            <a:off x="631169" y="952779"/>
            <a:ext cx="3057247" cy="830997"/>
          </a:xfrm>
          <a:prstGeom prst="rect">
            <a:avLst/>
          </a:prstGeom>
        </p:spPr>
        <p:txBody>
          <a:bodyPr wrap="none">
            <a:spAutoFit/>
          </a:bodyPr>
          <a:lstStyle/>
          <a:p>
            <a:r>
              <a:rPr lang="zh-CN" altLang="en-US" sz="1600" dirty="0">
                <a:solidFill>
                  <a:srgbClr val="333333"/>
                </a:solidFill>
                <a:latin typeface="+mn-ea"/>
              </a:rPr>
              <a:t>怎样的单元测试才是可靠的呢？</a:t>
            </a:r>
            <a:endParaRPr lang="en-US" altLang="zh-CN" sz="1600" dirty="0">
              <a:solidFill>
                <a:srgbClr val="333333"/>
              </a:solidFill>
              <a:latin typeface="+mn-ea"/>
            </a:endParaRPr>
          </a:p>
          <a:p>
            <a:r>
              <a:rPr lang="en-US" altLang="zh-CN" sz="1600" dirty="0">
                <a:solidFill>
                  <a:srgbClr val="333333"/>
                </a:solidFill>
                <a:latin typeface="+mn-ea"/>
              </a:rPr>
              <a:t>​</a:t>
            </a:r>
          </a:p>
          <a:p>
            <a:endParaRPr lang="zh-CN" altLang="en-US" sz="1600" dirty="0">
              <a:solidFill>
                <a:srgbClr val="333333"/>
              </a:solidFill>
              <a:latin typeface="+mn-ea"/>
            </a:endParaRPr>
          </a:p>
        </p:txBody>
      </p:sp>
      <p:sp>
        <p:nvSpPr>
          <p:cNvPr id="9" name="矩形 8">
            <a:extLst>
              <a:ext uri="{FF2B5EF4-FFF2-40B4-BE49-F238E27FC236}">
                <a16:creationId xmlns:a16="http://schemas.microsoft.com/office/drawing/2014/main" id="{3E870AD9-CA1A-4047-9DAE-594EDB289D3F}"/>
              </a:ext>
            </a:extLst>
          </p:cNvPr>
          <p:cNvSpPr/>
          <p:nvPr/>
        </p:nvSpPr>
        <p:spPr>
          <a:xfrm>
            <a:off x="631169" y="3177566"/>
            <a:ext cx="6490740" cy="338554"/>
          </a:xfrm>
          <a:prstGeom prst="rect">
            <a:avLst/>
          </a:prstGeom>
        </p:spPr>
        <p:txBody>
          <a:bodyPr wrap="square">
            <a:spAutoFit/>
          </a:bodyPr>
          <a:lstStyle/>
          <a:p>
            <a:r>
              <a:rPr lang="zh-CN" altLang="en-US" sz="1600" dirty="0">
                <a:solidFill>
                  <a:srgbClr val="333333"/>
                </a:solidFill>
                <a:latin typeface="+mn-ea"/>
              </a:rPr>
              <a:t>从哪些角度的思考与设计，可以让单元测试代码变得可信赖和可靠呢</a:t>
            </a:r>
            <a:r>
              <a:rPr lang="en-US" altLang="zh-CN" sz="1600" dirty="0">
                <a:solidFill>
                  <a:srgbClr val="333333"/>
                </a:solidFill>
                <a:latin typeface="+mn-ea"/>
              </a:rPr>
              <a:t>?</a:t>
            </a:r>
          </a:p>
        </p:txBody>
      </p:sp>
    </p:spTree>
    <p:extLst>
      <p:ext uri="{BB962C8B-B14F-4D97-AF65-F5344CB8AC3E}">
        <p14:creationId xmlns:p14="http://schemas.microsoft.com/office/powerpoint/2010/main" val="38162659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p:bldP spid="5"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编写规范的单元测试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91D77719-E2F9-41AC-B62A-7B06B5DADC09}"/>
              </a:ext>
            </a:extLst>
          </p:cNvPr>
          <p:cNvSpPr/>
          <p:nvPr/>
        </p:nvSpPr>
        <p:spPr>
          <a:xfrm>
            <a:off x="571208" y="1837392"/>
            <a:ext cx="6848923" cy="861774"/>
          </a:xfrm>
          <a:prstGeom prst="rect">
            <a:avLst/>
          </a:prstGeom>
        </p:spPr>
        <p:txBody>
          <a:bodyPr wrap="square">
            <a:spAutoFit/>
          </a:bodyPr>
          <a:lstStyle/>
          <a:p>
            <a:r>
              <a:rPr lang="en-US" altLang="zh-CN" dirty="0">
                <a:solidFill>
                  <a:srgbClr val="333333"/>
                </a:solidFill>
                <a:latin typeface="+mn-ea"/>
              </a:rPr>
              <a:t>2</a:t>
            </a:r>
            <a:r>
              <a:rPr lang="zh-CN" altLang="en-US" dirty="0">
                <a:solidFill>
                  <a:srgbClr val="333333"/>
                </a:solidFill>
                <a:latin typeface="+mn-ea"/>
              </a:rPr>
              <a:t>、依据实际情况合理地删除或修改单元测试</a:t>
            </a:r>
          </a:p>
          <a:p>
            <a:r>
              <a:rPr lang="zh-CN" altLang="en-US" sz="1200" dirty="0">
                <a:solidFill>
                  <a:srgbClr val="333333"/>
                </a:solidFill>
                <a:latin typeface="+mn-ea"/>
              </a:rPr>
              <a:t>       若修改或重构源码方法，则需要根据实际情况合理地删除或修改单元测试。或者确定是测试缺陷，而不是被测试代码缺陷时，也需要立刻修改相关单元测试代码，应保证单元测试始终是最新的、正确的。</a:t>
            </a:r>
          </a:p>
        </p:txBody>
      </p:sp>
      <p:sp>
        <p:nvSpPr>
          <p:cNvPr id="7" name="矩形 6">
            <a:extLst>
              <a:ext uri="{FF2B5EF4-FFF2-40B4-BE49-F238E27FC236}">
                <a16:creationId xmlns:a16="http://schemas.microsoft.com/office/drawing/2014/main" id="{CD7E16DA-2AD4-449C-B8E8-C287C0B81A5C}"/>
              </a:ext>
            </a:extLst>
          </p:cNvPr>
          <p:cNvSpPr/>
          <p:nvPr/>
        </p:nvSpPr>
        <p:spPr>
          <a:xfrm>
            <a:off x="571208" y="908979"/>
            <a:ext cx="6968844" cy="523220"/>
          </a:xfrm>
          <a:prstGeom prst="rect">
            <a:avLst/>
          </a:prstGeom>
        </p:spPr>
        <p:txBody>
          <a:bodyPr wrap="square">
            <a:spAutoFit/>
          </a:bodyPr>
          <a:lstStyle/>
          <a:p>
            <a:r>
              <a:rPr lang="en-US" altLang="zh-CN" dirty="0">
                <a:solidFill>
                  <a:srgbClr val="333333"/>
                </a:solidFill>
                <a:latin typeface="+mn-ea"/>
              </a:rPr>
              <a:t>1</a:t>
            </a:r>
            <a:r>
              <a:rPr lang="zh-CN" altLang="en-US" dirty="0">
                <a:solidFill>
                  <a:srgbClr val="333333"/>
                </a:solidFill>
                <a:latin typeface="+mn-ea"/>
              </a:rPr>
              <a:t>、保持你的测试是幂等的</a:t>
            </a:r>
            <a:endParaRPr lang="en-US" altLang="zh-CN" dirty="0">
              <a:solidFill>
                <a:srgbClr val="333333"/>
              </a:solidFill>
              <a:latin typeface="+mn-ea"/>
            </a:endParaRPr>
          </a:p>
          <a:p>
            <a:r>
              <a:rPr lang="en-US" altLang="zh-CN" dirty="0">
                <a:solidFill>
                  <a:srgbClr val="333333"/>
                </a:solidFill>
                <a:latin typeface="+mn-ea"/>
              </a:rPr>
              <a:t>      </a:t>
            </a:r>
            <a:r>
              <a:rPr lang="zh-CN" altLang="en-US" sz="1200" dirty="0">
                <a:solidFill>
                  <a:srgbClr val="333333"/>
                </a:solidFill>
                <a:latin typeface="+mn-ea"/>
              </a:rPr>
              <a:t>单个测试方法测试多次，结果都应该是一样的。</a:t>
            </a:r>
          </a:p>
        </p:txBody>
      </p:sp>
    </p:spTree>
    <p:extLst>
      <p:ext uri="{BB962C8B-B14F-4D97-AF65-F5344CB8AC3E}">
        <p14:creationId xmlns:p14="http://schemas.microsoft.com/office/powerpoint/2010/main" val="32990663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4055630" y="460281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7411054" cy="677108"/>
          </a:xfrm>
          <a:prstGeom prst="rect">
            <a:avLst/>
          </a:prstGeom>
        </p:spPr>
        <p:txBody>
          <a:bodyPr wrap="square">
            <a:spAutoFit/>
          </a:bodyPr>
          <a:lstStyle/>
          <a:p>
            <a:r>
              <a:rPr lang="en-US" altLang="zh-CN" dirty="0">
                <a:solidFill>
                  <a:srgbClr val="333333"/>
                </a:solidFill>
                <a:latin typeface="+mn-ea"/>
              </a:rPr>
              <a:t>3</a:t>
            </a:r>
            <a:r>
              <a:rPr lang="zh-CN" altLang="en-US" dirty="0">
                <a:solidFill>
                  <a:srgbClr val="333333"/>
                </a:solidFill>
                <a:latin typeface="+mn-ea"/>
              </a:rPr>
              <a:t>、不应依赖运行环境的数据</a:t>
            </a:r>
          </a:p>
          <a:p>
            <a:r>
              <a:rPr lang="zh-CN" altLang="en-US" sz="1200" dirty="0">
                <a:solidFill>
                  <a:srgbClr val="333333"/>
                </a:solidFill>
                <a:latin typeface="+mn-ea"/>
              </a:rPr>
              <a:t>       对于必须的初始化数据，可使用</a:t>
            </a:r>
            <a:r>
              <a:rPr lang="en-US" altLang="zh-CN" sz="1200" dirty="0">
                <a:solidFill>
                  <a:srgbClr val="333333"/>
                </a:solidFill>
                <a:latin typeface="+mn-ea"/>
              </a:rPr>
              <a:t>Mock</a:t>
            </a:r>
            <a:r>
              <a:rPr lang="zh-CN" altLang="en-US" sz="1200" dirty="0">
                <a:solidFill>
                  <a:srgbClr val="333333"/>
                </a:solidFill>
                <a:latin typeface="+mn-ea"/>
              </a:rPr>
              <a:t>组装。不应通过</a:t>
            </a:r>
            <a:r>
              <a:rPr lang="en-US" altLang="zh-CN" sz="1200" dirty="0">
                <a:solidFill>
                  <a:srgbClr val="333333"/>
                </a:solidFill>
                <a:latin typeface="+mn-ea"/>
              </a:rPr>
              <a:t>SQL</a:t>
            </a:r>
            <a:r>
              <a:rPr lang="zh-CN" altLang="en-US" sz="1200" dirty="0">
                <a:solidFill>
                  <a:srgbClr val="333333"/>
                </a:solidFill>
                <a:latin typeface="+mn-ea"/>
              </a:rPr>
              <a:t>脚本初始化数据再删除</a:t>
            </a:r>
            <a:r>
              <a:rPr lang="en-US" altLang="zh-CN" sz="1200" dirty="0">
                <a:solidFill>
                  <a:srgbClr val="333333"/>
                </a:solidFill>
                <a:latin typeface="+mn-ea"/>
              </a:rPr>
              <a:t>(</a:t>
            </a:r>
            <a:r>
              <a:rPr lang="zh-CN" altLang="en-US" sz="1200" dirty="0">
                <a:solidFill>
                  <a:srgbClr val="333333"/>
                </a:solidFill>
                <a:latin typeface="+mn-ea"/>
              </a:rPr>
              <a:t>防止删除时发生异常数据库依然会有脏数据</a:t>
            </a:r>
            <a:r>
              <a:rPr lang="en-US" altLang="zh-CN" sz="1200" dirty="0">
                <a:solidFill>
                  <a:srgbClr val="333333"/>
                </a:solidFill>
                <a:latin typeface="+mn-ea"/>
              </a:rPr>
              <a:t>)</a:t>
            </a:r>
            <a:r>
              <a:rPr lang="zh-CN" altLang="en-US" sz="1200" dirty="0">
                <a:solidFill>
                  <a:srgbClr val="333333"/>
                </a:solidFill>
                <a:latin typeface="+mn-ea"/>
              </a:rPr>
              <a:t>，或者依赖本地资源文件、数据，否则单元测试在其它环境将无法运行。</a:t>
            </a:r>
          </a:p>
        </p:txBody>
      </p:sp>
      <p:pic>
        <p:nvPicPr>
          <p:cNvPr id="4" name="图片 3">
            <a:extLst>
              <a:ext uri="{FF2B5EF4-FFF2-40B4-BE49-F238E27FC236}">
                <a16:creationId xmlns:a16="http://schemas.microsoft.com/office/drawing/2014/main" id="{AC76E902-5521-4B1A-994B-30AD7A98A723}"/>
              </a:ext>
            </a:extLst>
          </p:cNvPr>
          <p:cNvPicPr>
            <a:picLocks noChangeAspect="1"/>
          </p:cNvPicPr>
          <p:nvPr/>
        </p:nvPicPr>
        <p:blipFill>
          <a:blip r:embed="rId3"/>
          <a:stretch>
            <a:fillRect/>
          </a:stretch>
        </p:blipFill>
        <p:spPr>
          <a:xfrm>
            <a:off x="807821" y="1450258"/>
            <a:ext cx="7316848" cy="3211683"/>
          </a:xfrm>
          <a:prstGeom prst="rect">
            <a:avLst/>
          </a:prstGeom>
        </p:spPr>
      </p:pic>
    </p:spTree>
    <p:extLst>
      <p:ext uri="{BB962C8B-B14F-4D97-AF65-F5344CB8AC3E}">
        <p14:creationId xmlns:p14="http://schemas.microsoft.com/office/powerpoint/2010/main" val="4929212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4055630" y="460281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7313618" cy="861774"/>
          </a:xfrm>
          <a:prstGeom prst="rect">
            <a:avLst/>
          </a:prstGeom>
        </p:spPr>
        <p:txBody>
          <a:bodyPr wrap="square">
            <a:spAutoFit/>
          </a:bodyPr>
          <a:lstStyle/>
          <a:p>
            <a:r>
              <a:rPr lang="en-US" altLang="zh-CN" dirty="0">
                <a:solidFill>
                  <a:srgbClr val="333333"/>
                </a:solidFill>
                <a:latin typeface="+mn-ea"/>
              </a:rPr>
              <a:t>4</a:t>
            </a:r>
            <a:r>
              <a:rPr lang="zh-CN" altLang="en-US" dirty="0">
                <a:solidFill>
                  <a:srgbClr val="333333"/>
                </a:solidFill>
                <a:latin typeface="+mn-ea"/>
              </a:rPr>
              <a:t>、不应依赖数据库等不可控组件</a:t>
            </a:r>
          </a:p>
          <a:p>
            <a:r>
              <a:rPr lang="zh-CN" altLang="en-US" sz="1200" dirty="0">
                <a:solidFill>
                  <a:srgbClr val="333333"/>
                </a:solidFill>
                <a:latin typeface="+mn-ea"/>
              </a:rPr>
              <a:t>       如果代码中依赖了数据库、</a:t>
            </a:r>
            <a:r>
              <a:rPr lang="en-US" altLang="zh-CN" sz="1200" dirty="0">
                <a:solidFill>
                  <a:srgbClr val="333333"/>
                </a:solidFill>
                <a:latin typeface="+mn-ea"/>
              </a:rPr>
              <a:t>Redis</a:t>
            </a:r>
            <a:r>
              <a:rPr lang="zh-CN" altLang="en-US" sz="1200" dirty="0">
                <a:solidFill>
                  <a:srgbClr val="333333"/>
                </a:solidFill>
                <a:latin typeface="+mn-ea"/>
              </a:rPr>
              <a:t>集群等不可控的组件，则这些测试代码在其它运行环境，可能无法运行。对于这些复杂的模块或类，需要通过</a:t>
            </a:r>
            <a:r>
              <a:rPr lang="en-US" altLang="zh-CN" sz="1200" dirty="0">
                <a:solidFill>
                  <a:srgbClr val="333333"/>
                </a:solidFill>
                <a:latin typeface="+mn-ea"/>
              </a:rPr>
              <a:t>Mock</a:t>
            </a:r>
            <a:r>
              <a:rPr lang="zh-CN" altLang="en-US" sz="1200" dirty="0">
                <a:solidFill>
                  <a:srgbClr val="333333"/>
                </a:solidFill>
                <a:latin typeface="+mn-ea"/>
              </a:rPr>
              <a:t>的方式，将这些不可控的部分变成可控，确保单元测试在何时何地都能够成功运行。</a:t>
            </a:r>
          </a:p>
        </p:txBody>
      </p:sp>
      <p:pic>
        <p:nvPicPr>
          <p:cNvPr id="5" name="图片 4">
            <a:extLst>
              <a:ext uri="{FF2B5EF4-FFF2-40B4-BE49-F238E27FC236}">
                <a16:creationId xmlns:a16="http://schemas.microsoft.com/office/drawing/2014/main" id="{4FCE08D9-C194-42DC-B018-28FF712A469A}"/>
              </a:ext>
            </a:extLst>
          </p:cNvPr>
          <p:cNvPicPr>
            <a:picLocks noChangeAspect="1"/>
          </p:cNvPicPr>
          <p:nvPr/>
        </p:nvPicPr>
        <p:blipFill>
          <a:blip r:embed="rId3"/>
          <a:stretch>
            <a:fillRect/>
          </a:stretch>
        </p:blipFill>
        <p:spPr>
          <a:xfrm>
            <a:off x="481047" y="1634924"/>
            <a:ext cx="7877022" cy="3042874"/>
          </a:xfrm>
          <a:prstGeom prst="rect">
            <a:avLst/>
          </a:prstGeom>
        </p:spPr>
      </p:pic>
    </p:spTree>
    <p:extLst>
      <p:ext uri="{BB962C8B-B14F-4D97-AF65-F5344CB8AC3E}">
        <p14:creationId xmlns:p14="http://schemas.microsoft.com/office/powerpoint/2010/main" val="24982162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4055630" y="460281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7313618" cy="492443"/>
          </a:xfrm>
          <a:prstGeom prst="rect">
            <a:avLst/>
          </a:prstGeom>
        </p:spPr>
        <p:txBody>
          <a:bodyPr wrap="square">
            <a:spAutoFit/>
          </a:bodyPr>
          <a:lstStyle/>
          <a:p>
            <a:r>
              <a:rPr lang="zh-CN" altLang="en-US" dirty="0">
                <a:solidFill>
                  <a:srgbClr val="333333"/>
                </a:solidFill>
                <a:latin typeface="+mn-ea"/>
              </a:rPr>
              <a:t>不应依赖数据库：</a:t>
            </a:r>
          </a:p>
          <a:p>
            <a:r>
              <a:rPr lang="zh-CN" altLang="en-US" sz="1200" dirty="0">
                <a:solidFill>
                  <a:srgbClr val="333333"/>
                </a:solidFill>
                <a:latin typeface="+mn-ea"/>
              </a:rPr>
              <a:t>       </a:t>
            </a:r>
          </a:p>
        </p:txBody>
      </p:sp>
      <p:pic>
        <p:nvPicPr>
          <p:cNvPr id="2" name="图片 1">
            <a:extLst>
              <a:ext uri="{FF2B5EF4-FFF2-40B4-BE49-F238E27FC236}">
                <a16:creationId xmlns:a16="http://schemas.microsoft.com/office/drawing/2014/main" id="{D445A491-5CE3-46EE-981A-0DE8C5529F9A}"/>
              </a:ext>
            </a:extLst>
          </p:cNvPr>
          <p:cNvPicPr>
            <a:picLocks noChangeAspect="1"/>
          </p:cNvPicPr>
          <p:nvPr/>
        </p:nvPicPr>
        <p:blipFill>
          <a:blip r:embed="rId3"/>
          <a:stretch>
            <a:fillRect/>
          </a:stretch>
        </p:blipFill>
        <p:spPr>
          <a:xfrm>
            <a:off x="3211736" y="1088212"/>
            <a:ext cx="5161447" cy="3597144"/>
          </a:xfrm>
          <a:prstGeom prst="rect">
            <a:avLst/>
          </a:prstGeom>
        </p:spPr>
      </p:pic>
      <p:pic>
        <p:nvPicPr>
          <p:cNvPr id="4" name="图片 3">
            <a:extLst>
              <a:ext uri="{FF2B5EF4-FFF2-40B4-BE49-F238E27FC236}">
                <a16:creationId xmlns:a16="http://schemas.microsoft.com/office/drawing/2014/main" id="{4492A662-D13D-4B33-9684-A437E2B1CDF5}"/>
              </a:ext>
            </a:extLst>
          </p:cNvPr>
          <p:cNvPicPr>
            <a:picLocks noChangeAspect="1"/>
          </p:cNvPicPr>
          <p:nvPr/>
        </p:nvPicPr>
        <p:blipFill>
          <a:blip r:embed="rId4"/>
          <a:stretch>
            <a:fillRect/>
          </a:stretch>
        </p:blipFill>
        <p:spPr>
          <a:xfrm>
            <a:off x="141544" y="1617775"/>
            <a:ext cx="2994621" cy="1956698"/>
          </a:xfrm>
          <a:prstGeom prst="rect">
            <a:avLst/>
          </a:prstGeom>
        </p:spPr>
      </p:pic>
    </p:spTree>
    <p:extLst>
      <p:ext uri="{BB962C8B-B14F-4D97-AF65-F5344CB8AC3E}">
        <p14:creationId xmlns:p14="http://schemas.microsoft.com/office/powerpoint/2010/main" val="23253322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anim calcmode="lin" valueType="num">
                                      <p:cBhvr>
                                        <p:cTn id="26" dur="1000" fill="hold"/>
                                        <p:tgtEl>
                                          <p:spTgt spid="2"/>
                                        </p:tgtEl>
                                        <p:attrNameLst>
                                          <p:attrName>ppt_x</p:attrName>
                                        </p:attrNameLst>
                                      </p:cBhvr>
                                      <p:tavLst>
                                        <p:tav tm="0">
                                          <p:val>
                                            <p:strVal val="#ppt_x"/>
                                          </p:val>
                                        </p:tav>
                                        <p:tav tm="100000">
                                          <p:val>
                                            <p:strVal val="#ppt_x"/>
                                          </p:val>
                                        </p:tav>
                                      </p:tavLst>
                                    </p:anim>
                                    <p:anim calcmode="lin" valueType="num">
                                      <p:cBhvr>
                                        <p:cTn id="27" dur="1000" fill="hold"/>
                                        <p:tgtEl>
                                          <p:spTgt spid="2"/>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1000"/>
                                        <p:tgtEl>
                                          <p:spTgt spid="10"/>
                                        </p:tgtEl>
                                      </p:cBhvr>
                                    </p:animEffect>
                                    <p:anim calcmode="lin" valueType="num">
                                      <p:cBhvr>
                                        <p:cTn id="31" dur="1000" fill="hold"/>
                                        <p:tgtEl>
                                          <p:spTgt spid="10"/>
                                        </p:tgtEl>
                                        <p:attrNameLst>
                                          <p:attrName>ppt_x</p:attrName>
                                        </p:attrNameLst>
                                      </p:cBhvr>
                                      <p:tavLst>
                                        <p:tav tm="0">
                                          <p:val>
                                            <p:strVal val="#ppt_x"/>
                                          </p:val>
                                        </p:tav>
                                        <p:tav tm="100000">
                                          <p:val>
                                            <p:strVal val="#ppt_x"/>
                                          </p:val>
                                        </p:tav>
                                      </p:tavLst>
                                    </p:anim>
                                    <p:anim calcmode="lin" valueType="num">
                                      <p:cBhvr>
                                        <p:cTn id="3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4055630" y="460281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773150"/>
            <a:ext cx="7313618" cy="492443"/>
          </a:xfrm>
          <a:prstGeom prst="rect">
            <a:avLst/>
          </a:prstGeom>
        </p:spPr>
        <p:txBody>
          <a:bodyPr wrap="square">
            <a:spAutoFit/>
          </a:bodyPr>
          <a:lstStyle/>
          <a:p>
            <a:r>
              <a:rPr lang="zh-CN" altLang="en-US" dirty="0">
                <a:solidFill>
                  <a:srgbClr val="333333"/>
                </a:solidFill>
                <a:latin typeface="+mn-ea"/>
              </a:rPr>
              <a:t>不应依赖</a:t>
            </a:r>
            <a:r>
              <a:rPr lang="en-US" altLang="zh-CN" dirty="0">
                <a:solidFill>
                  <a:srgbClr val="333333"/>
                </a:solidFill>
                <a:latin typeface="+mn-ea"/>
              </a:rPr>
              <a:t>Redis</a:t>
            </a:r>
            <a:r>
              <a:rPr lang="zh-CN" altLang="en-US" dirty="0">
                <a:solidFill>
                  <a:srgbClr val="333333"/>
                </a:solidFill>
                <a:latin typeface="+mn-ea"/>
              </a:rPr>
              <a:t>集群：</a:t>
            </a:r>
          </a:p>
          <a:p>
            <a:r>
              <a:rPr lang="zh-CN" altLang="en-US" sz="1200" dirty="0">
                <a:solidFill>
                  <a:srgbClr val="333333"/>
                </a:solidFill>
                <a:latin typeface="+mn-ea"/>
              </a:rPr>
              <a:t>       </a:t>
            </a:r>
          </a:p>
        </p:txBody>
      </p:sp>
      <p:pic>
        <p:nvPicPr>
          <p:cNvPr id="5" name="图片 4">
            <a:extLst>
              <a:ext uri="{FF2B5EF4-FFF2-40B4-BE49-F238E27FC236}">
                <a16:creationId xmlns:a16="http://schemas.microsoft.com/office/drawing/2014/main" id="{F5479487-22CA-4C8F-A573-730A007225E6}"/>
              </a:ext>
            </a:extLst>
          </p:cNvPr>
          <p:cNvPicPr>
            <a:picLocks noChangeAspect="1"/>
          </p:cNvPicPr>
          <p:nvPr/>
        </p:nvPicPr>
        <p:blipFill>
          <a:blip r:embed="rId3"/>
          <a:stretch>
            <a:fillRect/>
          </a:stretch>
        </p:blipFill>
        <p:spPr>
          <a:xfrm>
            <a:off x="377852" y="1174210"/>
            <a:ext cx="7957546" cy="3311873"/>
          </a:xfrm>
          <a:prstGeom prst="rect">
            <a:avLst/>
          </a:prstGeom>
        </p:spPr>
      </p:pic>
    </p:spTree>
    <p:extLst>
      <p:ext uri="{BB962C8B-B14F-4D97-AF65-F5344CB8AC3E}">
        <p14:creationId xmlns:p14="http://schemas.microsoft.com/office/powerpoint/2010/main" val="15564886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2B0F32E-C445-439C-8E0D-7FBEDC089E4F}"/>
              </a:ext>
            </a:extLst>
          </p:cNvPr>
          <p:cNvSpPr/>
          <p:nvPr/>
        </p:nvSpPr>
        <p:spPr>
          <a:xfrm>
            <a:off x="4055630" y="460281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9" name="矩形 8">
            <a:extLst>
              <a:ext uri="{FF2B5EF4-FFF2-40B4-BE49-F238E27FC236}">
                <a16:creationId xmlns:a16="http://schemas.microsoft.com/office/drawing/2014/main" id="{91D77719-E2F9-41AC-B62A-7B06B5DADC09}"/>
              </a:ext>
            </a:extLst>
          </p:cNvPr>
          <p:cNvSpPr/>
          <p:nvPr/>
        </p:nvSpPr>
        <p:spPr>
          <a:xfrm>
            <a:off x="631169" y="675456"/>
            <a:ext cx="7313618" cy="492443"/>
          </a:xfrm>
          <a:prstGeom prst="rect">
            <a:avLst/>
          </a:prstGeom>
        </p:spPr>
        <p:txBody>
          <a:bodyPr wrap="square">
            <a:spAutoFit/>
          </a:bodyPr>
          <a:lstStyle/>
          <a:p>
            <a:r>
              <a:rPr lang="zh-CN" altLang="en-US" dirty="0">
                <a:solidFill>
                  <a:srgbClr val="333333"/>
                </a:solidFill>
                <a:latin typeface="+mn-ea"/>
              </a:rPr>
              <a:t>不应依赖</a:t>
            </a:r>
            <a:r>
              <a:rPr lang="en-US" altLang="zh-CN" dirty="0">
                <a:solidFill>
                  <a:srgbClr val="333333"/>
                </a:solidFill>
                <a:latin typeface="+mn-ea"/>
              </a:rPr>
              <a:t>Redis</a:t>
            </a:r>
            <a:r>
              <a:rPr lang="zh-CN" altLang="en-US" dirty="0">
                <a:solidFill>
                  <a:srgbClr val="333333"/>
                </a:solidFill>
                <a:latin typeface="+mn-ea"/>
              </a:rPr>
              <a:t>集群：</a:t>
            </a:r>
          </a:p>
          <a:p>
            <a:r>
              <a:rPr lang="zh-CN" altLang="en-US" sz="1200" dirty="0">
                <a:solidFill>
                  <a:srgbClr val="333333"/>
                </a:solidFill>
                <a:latin typeface="+mn-ea"/>
              </a:rPr>
              <a:t>       </a:t>
            </a:r>
          </a:p>
        </p:txBody>
      </p:sp>
      <p:pic>
        <p:nvPicPr>
          <p:cNvPr id="6" name="图片 5">
            <a:extLst>
              <a:ext uri="{FF2B5EF4-FFF2-40B4-BE49-F238E27FC236}">
                <a16:creationId xmlns:a16="http://schemas.microsoft.com/office/drawing/2014/main" id="{CA5F9951-30FF-4EC8-AC2F-E67474B4CF1D}"/>
              </a:ext>
            </a:extLst>
          </p:cNvPr>
          <p:cNvPicPr>
            <a:picLocks noChangeAspect="1"/>
          </p:cNvPicPr>
          <p:nvPr/>
        </p:nvPicPr>
        <p:blipFill>
          <a:blip r:embed="rId3"/>
          <a:stretch>
            <a:fillRect/>
          </a:stretch>
        </p:blipFill>
        <p:spPr>
          <a:xfrm>
            <a:off x="782548" y="998326"/>
            <a:ext cx="7578904" cy="3694586"/>
          </a:xfrm>
          <a:prstGeom prst="rect">
            <a:avLst/>
          </a:prstGeom>
        </p:spPr>
      </p:pic>
    </p:spTree>
    <p:extLst>
      <p:ext uri="{BB962C8B-B14F-4D97-AF65-F5344CB8AC3E}">
        <p14:creationId xmlns:p14="http://schemas.microsoft.com/office/powerpoint/2010/main" val="27221639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91D77719-E2F9-41AC-B62A-7B06B5DADC09}"/>
              </a:ext>
            </a:extLst>
          </p:cNvPr>
          <p:cNvSpPr/>
          <p:nvPr/>
        </p:nvSpPr>
        <p:spPr>
          <a:xfrm>
            <a:off x="631169" y="773150"/>
            <a:ext cx="7396064" cy="1046440"/>
          </a:xfrm>
          <a:prstGeom prst="rect">
            <a:avLst/>
          </a:prstGeom>
        </p:spPr>
        <p:txBody>
          <a:bodyPr wrap="square">
            <a:spAutoFit/>
          </a:bodyPr>
          <a:lstStyle/>
          <a:p>
            <a:r>
              <a:rPr lang="en-US" altLang="zh-CN" dirty="0">
                <a:solidFill>
                  <a:srgbClr val="333333"/>
                </a:solidFill>
                <a:latin typeface="+mn-ea"/>
              </a:rPr>
              <a:t>5</a:t>
            </a:r>
            <a:r>
              <a:rPr lang="zh-CN" altLang="en-US" dirty="0">
                <a:solidFill>
                  <a:srgbClr val="333333"/>
                </a:solidFill>
                <a:latin typeface="+mn-ea"/>
              </a:rPr>
              <a:t>、应用</a:t>
            </a:r>
            <a:r>
              <a:rPr lang="en-US" altLang="zh-CN" dirty="0">
                <a:solidFill>
                  <a:srgbClr val="333333"/>
                </a:solidFill>
                <a:latin typeface="+mn-ea"/>
              </a:rPr>
              <a:t>Mock</a:t>
            </a:r>
            <a:r>
              <a:rPr lang="zh-CN" altLang="en-US" dirty="0">
                <a:solidFill>
                  <a:srgbClr val="333333"/>
                </a:solidFill>
                <a:latin typeface="+mn-ea"/>
              </a:rPr>
              <a:t>工具后应还原</a:t>
            </a:r>
          </a:p>
          <a:p>
            <a:r>
              <a:rPr lang="zh-CN" altLang="en-US" sz="1200" dirty="0">
                <a:solidFill>
                  <a:srgbClr val="333333"/>
                </a:solidFill>
                <a:latin typeface="+mn-ea"/>
              </a:rPr>
              <a:t>       </a:t>
            </a:r>
            <a:r>
              <a:rPr lang="zh-CN" altLang="zh-CN" sz="1200" dirty="0">
                <a:solidFill>
                  <a:srgbClr val="333333"/>
                </a:solidFill>
                <a:latin typeface="+mn-ea"/>
              </a:rPr>
              <a:t>使用了</a:t>
            </a:r>
            <a:r>
              <a:rPr lang="en-US" altLang="zh-CN" sz="1200" dirty="0">
                <a:solidFill>
                  <a:srgbClr val="333333"/>
                </a:solidFill>
                <a:latin typeface="+mn-ea"/>
              </a:rPr>
              <a:t>Mock</a:t>
            </a:r>
            <a:r>
              <a:rPr lang="zh-CN" altLang="zh-CN" sz="1200" dirty="0">
                <a:solidFill>
                  <a:srgbClr val="333333"/>
                </a:solidFill>
                <a:latin typeface="+mn-ea"/>
              </a:rPr>
              <a:t>、</a:t>
            </a:r>
            <a:r>
              <a:rPr lang="en-US" altLang="zh-CN" sz="1200" dirty="0">
                <a:solidFill>
                  <a:srgbClr val="333333"/>
                </a:solidFill>
                <a:latin typeface="+mn-ea"/>
              </a:rPr>
              <a:t>Spy</a:t>
            </a:r>
            <a:r>
              <a:rPr lang="zh-CN" altLang="zh-CN" sz="1200" dirty="0">
                <a:solidFill>
                  <a:srgbClr val="333333"/>
                </a:solidFill>
                <a:latin typeface="+mn-ea"/>
              </a:rPr>
              <a:t>的单元测试类，在结束后都重置回原接口实现</a:t>
            </a:r>
            <a:r>
              <a:rPr lang="en-US" altLang="zh-CN" sz="1200" dirty="0">
                <a:solidFill>
                  <a:srgbClr val="333333"/>
                </a:solidFill>
                <a:latin typeface="+mn-ea"/>
              </a:rPr>
              <a:t>(</a:t>
            </a:r>
            <a:r>
              <a:rPr lang="zh-CN" altLang="zh-CN" sz="1200" dirty="0">
                <a:solidFill>
                  <a:srgbClr val="333333"/>
                </a:solidFill>
                <a:latin typeface="+mn-ea"/>
              </a:rPr>
              <a:t>因为测试一般在同一应用上下文，</a:t>
            </a:r>
            <a:r>
              <a:rPr lang="en-US" altLang="zh-CN" sz="1200" dirty="0">
                <a:solidFill>
                  <a:srgbClr val="333333"/>
                </a:solidFill>
                <a:latin typeface="+mn-ea"/>
              </a:rPr>
              <a:t>mock</a:t>
            </a:r>
            <a:r>
              <a:rPr lang="zh-CN" altLang="zh-CN" sz="1200" dirty="0">
                <a:solidFill>
                  <a:srgbClr val="333333"/>
                </a:solidFill>
                <a:latin typeface="+mn-ea"/>
              </a:rPr>
              <a:t>未还原，可能会对其它单元测试类有影响，比如同一业务的</a:t>
            </a:r>
            <a:r>
              <a:rPr lang="en-US" altLang="zh-CN" sz="1200" dirty="0">
                <a:solidFill>
                  <a:srgbClr val="333333"/>
                </a:solidFill>
                <a:latin typeface="+mn-ea"/>
              </a:rPr>
              <a:t>query</a:t>
            </a:r>
            <a:r>
              <a:rPr lang="zh-CN" altLang="zh-CN" sz="1200" dirty="0">
                <a:solidFill>
                  <a:srgbClr val="333333"/>
                </a:solidFill>
                <a:latin typeface="+mn-ea"/>
              </a:rPr>
              <a:t>、</a:t>
            </a:r>
            <a:r>
              <a:rPr lang="en-US" altLang="zh-CN" sz="1200" dirty="0" err="1">
                <a:solidFill>
                  <a:srgbClr val="333333"/>
                </a:solidFill>
                <a:latin typeface="+mn-ea"/>
              </a:rPr>
              <a:t>writter</a:t>
            </a:r>
            <a:r>
              <a:rPr lang="zh-CN" altLang="zh-CN" sz="1200" dirty="0">
                <a:solidFill>
                  <a:srgbClr val="333333"/>
                </a:solidFill>
                <a:latin typeface="+mn-ea"/>
              </a:rPr>
              <a:t>接口</a:t>
            </a:r>
            <a:r>
              <a:rPr lang="en-US" altLang="zh-CN" sz="1200" dirty="0">
                <a:solidFill>
                  <a:srgbClr val="333333"/>
                </a:solidFill>
                <a:latin typeface="+mn-ea"/>
              </a:rPr>
              <a:t>)</a:t>
            </a:r>
            <a:r>
              <a:rPr lang="zh-CN" altLang="en-US" sz="1200" dirty="0">
                <a:solidFill>
                  <a:srgbClr val="333333"/>
                </a:solidFill>
                <a:latin typeface="+mn-ea"/>
              </a:rPr>
              <a:t>。可使用WhiteBox、ReflectionTestUtils、 Mock 注解等工具。</a:t>
            </a:r>
          </a:p>
          <a:p>
            <a:endParaRPr lang="zh-CN" altLang="en-US" sz="1200" dirty="0">
              <a:solidFill>
                <a:srgbClr val="333333"/>
              </a:solidFill>
              <a:latin typeface="+mn-ea"/>
            </a:endParaRPr>
          </a:p>
        </p:txBody>
      </p:sp>
      <p:sp>
        <p:nvSpPr>
          <p:cNvPr id="8" name="矩形 7">
            <a:extLst>
              <a:ext uri="{FF2B5EF4-FFF2-40B4-BE49-F238E27FC236}">
                <a16:creationId xmlns:a16="http://schemas.microsoft.com/office/drawing/2014/main" id="{18531D2D-05ED-4F22-AA88-EA8A82C47FF5}"/>
              </a:ext>
            </a:extLst>
          </p:cNvPr>
          <p:cNvSpPr/>
          <p:nvPr/>
        </p:nvSpPr>
        <p:spPr>
          <a:xfrm>
            <a:off x="2026847" y="435607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
        <p:nvSpPr>
          <p:cNvPr id="10" name="矩形 9">
            <a:extLst>
              <a:ext uri="{FF2B5EF4-FFF2-40B4-BE49-F238E27FC236}">
                <a16:creationId xmlns:a16="http://schemas.microsoft.com/office/drawing/2014/main" id="{158BEB1E-A434-4DCB-82B8-D91C094F7FAD}"/>
              </a:ext>
            </a:extLst>
          </p:cNvPr>
          <p:cNvSpPr/>
          <p:nvPr/>
        </p:nvSpPr>
        <p:spPr>
          <a:xfrm>
            <a:off x="6280091" y="4370350"/>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13" name="图片 12">
            <a:extLst>
              <a:ext uri="{FF2B5EF4-FFF2-40B4-BE49-F238E27FC236}">
                <a16:creationId xmlns:a16="http://schemas.microsoft.com/office/drawing/2014/main" id="{998A8E04-27C4-44F0-8FA9-F0B629BE1CE0}"/>
              </a:ext>
            </a:extLst>
          </p:cNvPr>
          <p:cNvPicPr/>
          <p:nvPr/>
        </p:nvPicPr>
        <p:blipFill>
          <a:blip r:embed="rId3"/>
          <a:stretch>
            <a:fillRect/>
          </a:stretch>
        </p:blipFill>
        <p:spPr>
          <a:xfrm>
            <a:off x="145574" y="1675704"/>
            <a:ext cx="3879286" cy="2694646"/>
          </a:xfrm>
          <a:prstGeom prst="rect">
            <a:avLst/>
          </a:prstGeom>
        </p:spPr>
      </p:pic>
      <p:pic>
        <p:nvPicPr>
          <p:cNvPr id="5" name="图片 4">
            <a:extLst>
              <a:ext uri="{FF2B5EF4-FFF2-40B4-BE49-F238E27FC236}">
                <a16:creationId xmlns:a16="http://schemas.microsoft.com/office/drawing/2014/main" id="{DF87CC59-C267-4596-8F74-39FFB5AC654A}"/>
              </a:ext>
            </a:extLst>
          </p:cNvPr>
          <p:cNvPicPr>
            <a:picLocks noChangeAspect="1"/>
          </p:cNvPicPr>
          <p:nvPr/>
        </p:nvPicPr>
        <p:blipFill>
          <a:blip r:embed="rId4"/>
          <a:stretch>
            <a:fillRect/>
          </a:stretch>
        </p:blipFill>
        <p:spPr>
          <a:xfrm>
            <a:off x="4129791" y="1675705"/>
            <a:ext cx="4426638" cy="2694646"/>
          </a:xfrm>
          <a:prstGeom prst="rect">
            <a:avLst/>
          </a:prstGeom>
        </p:spPr>
      </p:pic>
    </p:spTree>
    <p:extLst>
      <p:ext uri="{BB962C8B-B14F-4D97-AF65-F5344CB8AC3E}">
        <p14:creationId xmlns:p14="http://schemas.microsoft.com/office/powerpoint/2010/main" val="38610028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000"/>
                                        <p:tgtEl>
                                          <p:spTgt spid="13"/>
                                        </p:tgtEl>
                                      </p:cBhvr>
                                    </p:animEffect>
                                    <p:anim calcmode="lin" valueType="num">
                                      <p:cBhvr>
                                        <p:cTn id="21" dur="1000" fill="hold"/>
                                        <p:tgtEl>
                                          <p:spTgt spid="13"/>
                                        </p:tgtEl>
                                        <p:attrNameLst>
                                          <p:attrName>ppt_x</p:attrName>
                                        </p:attrNameLst>
                                      </p:cBhvr>
                                      <p:tavLst>
                                        <p:tav tm="0">
                                          <p:val>
                                            <p:strVal val="#ppt_x"/>
                                          </p:val>
                                        </p:tav>
                                        <p:tav tm="100000">
                                          <p:val>
                                            <p:strVal val="#ppt_x"/>
                                          </p:val>
                                        </p:tav>
                                      </p:tavLst>
                                    </p:anim>
                                    <p:anim calcmode="lin" valueType="num">
                                      <p:cBhvr>
                                        <p:cTn id="22" dur="1000" fill="hold"/>
                                        <p:tgtEl>
                                          <p:spTgt spid="13"/>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91D77719-E2F9-41AC-B62A-7B06B5DADC09}"/>
              </a:ext>
            </a:extLst>
          </p:cNvPr>
          <p:cNvSpPr/>
          <p:nvPr/>
        </p:nvSpPr>
        <p:spPr>
          <a:xfrm>
            <a:off x="631169" y="773150"/>
            <a:ext cx="6848923" cy="492443"/>
          </a:xfrm>
          <a:prstGeom prst="rect">
            <a:avLst/>
          </a:prstGeom>
        </p:spPr>
        <p:txBody>
          <a:bodyPr wrap="square">
            <a:spAutoFit/>
          </a:bodyPr>
          <a:lstStyle/>
          <a:p>
            <a:r>
              <a:rPr lang="en-US" altLang="zh-CN" dirty="0">
                <a:solidFill>
                  <a:srgbClr val="333333"/>
                </a:solidFill>
                <a:latin typeface="+mn-ea"/>
              </a:rPr>
              <a:t>6</a:t>
            </a:r>
            <a:r>
              <a:rPr lang="zh-CN" altLang="en-US" dirty="0">
                <a:solidFill>
                  <a:srgbClr val="333333"/>
                </a:solidFill>
                <a:latin typeface="+mn-ea"/>
              </a:rPr>
              <a:t>、应对</a:t>
            </a:r>
            <a:r>
              <a:rPr lang="en-US" altLang="zh-CN" dirty="0">
                <a:solidFill>
                  <a:srgbClr val="333333"/>
                </a:solidFill>
                <a:latin typeface="+mn-ea"/>
              </a:rPr>
              <a:t>Mock</a:t>
            </a:r>
            <a:r>
              <a:rPr lang="zh-CN" altLang="en-US" dirty="0">
                <a:solidFill>
                  <a:srgbClr val="333333"/>
                </a:solidFill>
                <a:latin typeface="+mn-ea"/>
              </a:rPr>
              <a:t>接口验证预期执行</a:t>
            </a:r>
          </a:p>
          <a:p>
            <a:r>
              <a:rPr lang="zh-CN" altLang="en-US" sz="1200" dirty="0">
                <a:solidFill>
                  <a:srgbClr val="333333"/>
                </a:solidFill>
                <a:latin typeface="+mn-ea"/>
              </a:rPr>
              <a:t>       测试调用了</a:t>
            </a:r>
            <a:r>
              <a:rPr lang="en-US" altLang="zh-CN" sz="1200" dirty="0">
                <a:solidFill>
                  <a:srgbClr val="333333"/>
                </a:solidFill>
                <a:latin typeface="+mn-ea"/>
              </a:rPr>
              <a:t>Mock</a:t>
            </a:r>
            <a:r>
              <a:rPr lang="zh-CN" altLang="en-US" sz="1200" dirty="0">
                <a:solidFill>
                  <a:srgbClr val="333333"/>
                </a:solidFill>
                <a:latin typeface="+mn-ea"/>
              </a:rPr>
              <a:t>接口的方法，应验证</a:t>
            </a:r>
            <a:r>
              <a:rPr lang="en-US" altLang="zh-CN" sz="1200" dirty="0">
                <a:solidFill>
                  <a:srgbClr val="333333"/>
                </a:solidFill>
                <a:latin typeface="+mn-ea"/>
              </a:rPr>
              <a:t>Mock</a:t>
            </a:r>
            <a:r>
              <a:rPr lang="zh-CN" altLang="en-US" sz="1200" dirty="0">
                <a:solidFill>
                  <a:srgbClr val="333333"/>
                </a:solidFill>
                <a:latin typeface="+mn-ea"/>
              </a:rPr>
              <a:t>方法是否按预期执行。</a:t>
            </a:r>
          </a:p>
        </p:txBody>
      </p:sp>
      <p:sp>
        <p:nvSpPr>
          <p:cNvPr id="12" name="矩形 11">
            <a:extLst>
              <a:ext uri="{FF2B5EF4-FFF2-40B4-BE49-F238E27FC236}">
                <a16:creationId xmlns:a16="http://schemas.microsoft.com/office/drawing/2014/main" id="{9EF0CBE8-8E00-4924-8CA4-70CE774C8782}"/>
              </a:ext>
            </a:extLst>
          </p:cNvPr>
          <p:cNvSpPr/>
          <p:nvPr/>
        </p:nvSpPr>
        <p:spPr>
          <a:xfrm>
            <a:off x="3801393" y="452714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6" name="图片 5">
            <a:extLst>
              <a:ext uri="{FF2B5EF4-FFF2-40B4-BE49-F238E27FC236}">
                <a16:creationId xmlns:a16="http://schemas.microsoft.com/office/drawing/2014/main" id="{3709A08B-DB87-46A1-8773-AC97577CAAA2}"/>
              </a:ext>
            </a:extLst>
          </p:cNvPr>
          <p:cNvPicPr>
            <a:picLocks noChangeAspect="1"/>
          </p:cNvPicPr>
          <p:nvPr/>
        </p:nvPicPr>
        <p:blipFill>
          <a:blip r:embed="rId3"/>
          <a:stretch>
            <a:fillRect/>
          </a:stretch>
        </p:blipFill>
        <p:spPr>
          <a:xfrm>
            <a:off x="631169" y="1249887"/>
            <a:ext cx="7456024" cy="3352093"/>
          </a:xfrm>
          <a:prstGeom prst="rect">
            <a:avLst/>
          </a:prstGeom>
        </p:spPr>
      </p:pic>
    </p:spTree>
    <p:extLst>
      <p:ext uri="{BB962C8B-B14F-4D97-AF65-F5344CB8AC3E}">
        <p14:creationId xmlns:p14="http://schemas.microsoft.com/office/powerpoint/2010/main" val="23078030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anim calcmode="lin" valueType="num">
                                      <p:cBhvr>
                                        <p:cTn id="26" dur="1000" fill="hold"/>
                                        <p:tgtEl>
                                          <p:spTgt spid="12"/>
                                        </p:tgtEl>
                                        <p:attrNameLst>
                                          <p:attrName>ppt_x</p:attrName>
                                        </p:attrNameLst>
                                      </p:cBhvr>
                                      <p:tavLst>
                                        <p:tav tm="0">
                                          <p:val>
                                            <p:strVal val="#ppt_x"/>
                                          </p:val>
                                        </p:tav>
                                        <p:tav tm="100000">
                                          <p:val>
                                            <p:strVal val="#ppt_x"/>
                                          </p:val>
                                        </p:tav>
                                      </p:tavLst>
                                    </p:anim>
                                    <p:anim calcmode="lin" valueType="num">
                                      <p:cBhvr>
                                        <p:cTn id="2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261711" cy="59247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编写可靠的单元测试</a:t>
            </a:r>
          </a:p>
          <a:p>
            <a:endParaRPr lang="zh-CN" altLang="en-US" sz="1700" b="1" dirty="0">
              <a:solidFill>
                <a:srgbClr val="1B4367"/>
              </a:solidFill>
              <a:cs typeface="+mn-ea"/>
              <a:sym typeface="+mn-lt"/>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91D77719-E2F9-41AC-B62A-7B06B5DADC09}"/>
              </a:ext>
            </a:extLst>
          </p:cNvPr>
          <p:cNvSpPr/>
          <p:nvPr/>
        </p:nvSpPr>
        <p:spPr>
          <a:xfrm>
            <a:off x="631169" y="773150"/>
            <a:ext cx="7396064" cy="861774"/>
          </a:xfrm>
          <a:prstGeom prst="rect">
            <a:avLst/>
          </a:prstGeom>
        </p:spPr>
        <p:txBody>
          <a:bodyPr wrap="square">
            <a:spAutoFit/>
          </a:bodyPr>
          <a:lstStyle/>
          <a:p>
            <a:r>
              <a:rPr lang="en-US" altLang="zh-CN" dirty="0">
                <a:solidFill>
                  <a:srgbClr val="333333"/>
                </a:solidFill>
                <a:latin typeface="+mn-ea"/>
              </a:rPr>
              <a:t>7</a:t>
            </a:r>
            <a:r>
              <a:rPr lang="zh-CN" altLang="en-US" dirty="0">
                <a:solidFill>
                  <a:srgbClr val="333333"/>
                </a:solidFill>
                <a:latin typeface="+mn-ea"/>
              </a:rPr>
              <a:t>、拒绝滥用</a:t>
            </a:r>
            <a:r>
              <a:rPr lang="en-US" altLang="zh-CN" dirty="0">
                <a:solidFill>
                  <a:srgbClr val="333333"/>
                </a:solidFill>
                <a:latin typeface="+mn-ea"/>
              </a:rPr>
              <a:t>Mock</a:t>
            </a:r>
            <a:endParaRPr lang="zh-CN" altLang="en-US" dirty="0">
              <a:solidFill>
                <a:srgbClr val="333333"/>
              </a:solidFill>
              <a:latin typeface="+mn-ea"/>
            </a:endParaRPr>
          </a:p>
          <a:p>
            <a:r>
              <a:rPr lang="zh-CN" altLang="en-US" sz="1200" dirty="0">
                <a:solidFill>
                  <a:srgbClr val="333333"/>
                </a:solidFill>
                <a:latin typeface="+mn-ea"/>
              </a:rPr>
              <a:t>       </a:t>
            </a:r>
            <a:r>
              <a:rPr lang="zh-CN" altLang="zh-CN" sz="1200" dirty="0">
                <a:solidFill>
                  <a:srgbClr val="333333"/>
                </a:solidFill>
                <a:latin typeface="+mn-ea"/>
              </a:rPr>
              <a:t>滥用</a:t>
            </a:r>
            <a:r>
              <a:rPr lang="en-US" altLang="zh-CN" sz="1200" dirty="0">
                <a:solidFill>
                  <a:srgbClr val="333333"/>
                </a:solidFill>
                <a:latin typeface="+mn-ea"/>
              </a:rPr>
              <a:t>Mock</a:t>
            </a:r>
            <a:r>
              <a:rPr lang="zh-CN" altLang="zh-CN" sz="1200" dirty="0">
                <a:solidFill>
                  <a:srgbClr val="333333"/>
                </a:solidFill>
                <a:latin typeface="+mn-ea"/>
              </a:rPr>
              <a:t>会导致一些基本功能无法得到验证，</a:t>
            </a:r>
            <a:r>
              <a:rPr lang="en-US" altLang="zh-CN" sz="1200" dirty="0">
                <a:solidFill>
                  <a:srgbClr val="333333"/>
                </a:solidFill>
                <a:latin typeface="+mn-ea"/>
              </a:rPr>
              <a:t>Mock</a:t>
            </a:r>
            <a:r>
              <a:rPr lang="zh-CN" altLang="zh-CN" sz="1200" dirty="0">
                <a:solidFill>
                  <a:srgbClr val="333333"/>
                </a:solidFill>
                <a:latin typeface="+mn-ea"/>
              </a:rPr>
              <a:t>更适用一些已经被验证的方法、远程接口调用、发送邮件、网络通讯等场景的模拟。</a:t>
            </a:r>
            <a:r>
              <a:rPr lang="zh-CN" altLang="en-US" sz="1200" dirty="0">
                <a:solidFill>
                  <a:srgbClr val="333333"/>
                </a:solidFill>
                <a:latin typeface="+mn-ea"/>
              </a:rPr>
              <a:t>另</a:t>
            </a:r>
            <a:r>
              <a:rPr lang="en-US" altLang="zh-CN" sz="1200" dirty="0">
                <a:solidFill>
                  <a:srgbClr val="333333"/>
                </a:solidFill>
                <a:latin typeface="+mn-ea"/>
              </a:rPr>
              <a:t>RPC</a:t>
            </a:r>
            <a:r>
              <a:rPr lang="zh-CN" altLang="zh-CN" sz="1200" dirty="0">
                <a:solidFill>
                  <a:srgbClr val="333333"/>
                </a:solidFill>
                <a:latin typeface="+mn-ea"/>
              </a:rPr>
              <a:t>调用建议使用</a:t>
            </a:r>
            <a:r>
              <a:rPr lang="en-US" altLang="zh-CN" sz="1200" dirty="0">
                <a:solidFill>
                  <a:srgbClr val="333333"/>
                </a:solidFill>
                <a:latin typeface="+mn-ea"/>
              </a:rPr>
              <a:t>Mock</a:t>
            </a:r>
            <a:r>
              <a:rPr lang="zh-CN" altLang="zh-CN" sz="1200" dirty="0">
                <a:solidFill>
                  <a:srgbClr val="333333"/>
                </a:solidFill>
                <a:latin typeface="+mn-ea"/>
              </a:rPr>
              <a:t>，非</a:t>
            </a:r>
            <a:r>
              <a:rPr lang="en-US" altLang="zh-CN" sz="1200" dirty="0">
                <a:solidFill>
                  <a:srgbClr val="333333"/>
                </a:solidFill>
                <a:latin typeface="+mn-ea"/>
              </a:rPr>
              <a:t>RPC</a:t>
            </a:r>
            <a:r>
              <a:rPr lang="zh-CN" altLang="zh-CN" sz="1200" dirty="0">
                <a:solidFill>
                  <a:srgbClr val="333333"/>
                </a:solidFill>
                <a:latin typeface="+mn-ea"/>
              </a:rPr>
              <a:t>调用建议使用</a:t>
            </a:r>
            <a:r>
              <a:rPr lang="en-US" altLang="zh-CN" sz="1200" dirty="0">
                <a:solidFill>
                  <a:srgbClr val="333333"/>
                </a:solidFill>
                <a:latin typeface="+mn-ea"/>
              </a:rPr>
              <a:t>Spy(spy</a:t>
            </a:r>
            <a:r>
              <a:rPr lang="zh-CN" altLang="zh-CN" sz="1200" dirty="0">
                <a:solidFill>
                  <a:srgbClr val="333333"/>
                </a:solidFill>
                <a:latin typeface="+mn-ea"/>
              </a:rPr>
              <a:t>会真实调用执行</a:t>
            </a:r>
            <a:r>
              <a:rPr lang="en-US" altLang="zh-CN" sz="1200" dirty="0">
                <a:solidFill>
                  <a:srgbClr val="333333"/>
                </a:solidFill>
                <a:latin typeface="+mn-ea"/>
              </a:rPr>
              <a:t>,</a:t>
            </a:r>
            <a:r>
              <a:rPr lang="zh-CN" altLang="zh-CN" sz="1200" dirty="0">
                <a:solidFill>
                  <a:srgbClr val="333333"/>
                </a:solidFill>
                <a:latin typeface="+mn-ea"/>
              </a:rPr>
              <a:t>但返回预期设置结果</a:t>
            </a:r>
            <a:r>
              <a:rPr lang="en-US" altLang="zh-CN" sz="1200" dirty="0">
                <a:solidFill>
                  <a:srgbClr val="333333"/>
                </a:solidFill>
                <a:latin typeface="+mn-ea"/>
              </a:rPr>
              <a:t>)</a:t>
            </a:r>
            <a:r>
              <a:rPr lang="zh-CN" altLang="en-US" sz="1200" dirty="0">
                <a:solidFill>
                  <a:srgbClr val="333333"/>
                </a:solidFill>
                <a:latin typeface="+mn-ea"/>
              </a:rPr>
              <a:t>。</a:t>
            </a:r>
          </a:p>
        </p:txBody>
      </p:sp>
      <p:pic>
        <p:nvPicPr>
          <p:cNvPr id="11" name="图片 10">
            <a:extLst>
              <a:ext uri="{FF2B5EF4-FFF2-40B4-BE49-F238E27FC236}">
                <a16:creationId xmlns:a16="http://schemas.microsoft.com/office/drawing/2014/main" id="{5380F97F-AD13-47A7-B6B5-6CF0A41FD422}"/>
              </a:ext>
            </a:extLst>
          </p:cNvPr>
          <p:cNvPicPr/>
          <p:nvPr/>
        </p:nvPicPr>
        <p:blipFill>
          <a:blip r:embed="rId3"/>
          <a:stretch>
            <a:fillRect/>
          </a:stretch>
        </p:blipFill>
        <p:spPr>
          <a:xfrm>
            <a:off x="2540832" y="1634924"/>
            <a:ext cx="4339653" cy="2619695"/>
          </a:xfrm>
          <a:prstGeom prst="rect">
            <a:avLst/>
          </a:prstGeom>
        </p:spPr>
      </p:pic>
      <p:sp>
        <p:nvSpPr>
          <p:cNvPr id="12" name="矩形 11">
            <a:extLst>
              <a:ext uri="{FF2B5EF4-FFF2-40B4-BE49-F238E27FC236}">
                <a16:creationId xmlns:a16="http://schemas.microsoft.com/office/drawing/2014/main" id="{9EF0CBE8-8E00-4924-8CA4-70CE774C8782}"/>
              </a:ext>
            </a:extLst>
          </p:cNvPr>
          <p:cNvSpPr/>
          <p:nvPr/>
        </p:nvSpPr>
        <p:spPr>
          <a:xfrm>
            <a:off x="4329201" y="437106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Tree>
    <p:extLst>
      <p:ext uri="{BB962C8B-B14F-4D97-AF65-F5344CB8AC3E}">
        <p14:creationId xmlns:p14="http://schemas.microsoft.com/office/powerpoint/2010/main" val="21246806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anim calcmode="lin" valueType="num">
                                      <p:cBhvr>
                                        <p:cTn id="26" dur="1000" fill="hold"/>
                                        <p:tgtEl>
                                          <p:spTgt spid="12"/>
                                        </p:tgtEl>
                                        <p:attrNameLst>
                                          <p:attrName>ppt_x</p:attrName>
                                        </p:attrNameLst>
                                      </p:cBhvr>
                                      <p:tavLst>
                                        <p:tav tm="0">
                                          <p:val>
                                            <p:strVal val="#ppt_x"/>
                                          </p:val>
                                        </p:tav>
                                        <p:tav tm="100000">
                                          <p:val>
                                            <p:strVal val="#ppt_x"/>
                                          </p:val>
                                        </p:tav>
                                      </p:tavLst>
                                    </p:anim>
                                    <p:anim calcmode="lin" valueType="num">
                                      <p:cBhvr>
                                        <p:cTn id="2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F22045F6-E5A2-4F09-B07F-A139B6978663}"/>
              </a:ext>
            </a:extLst>
          </p:cNvPr>
          <p:cNvSpPr/>
          <p:nvPr/>
        </p:nvSpPr>
        <p:spPr>
          <a:xfrm>
            <a:off x="648652" y="844863"/>
            <a:ext cx="7768323" cy="1815882"/>
          </a:xfrm>
          <a:prstGeom prst="rect">
            <a:avLst/>
          </a:prstGeom>
        </p:spPr>
        <p:txBody>
          <a:bodyPr wrap="square">
            <a:spAutoFit/>
          </a:bodyPr>
          <a:lstStyle/>
          <a:p>
            <a:r>
              <a:rPr lang="zh-CN" altLang="en-US" dirty="0">
                <a:solidFill>
                  <a:srgbClr val="3E3E3E"/>
                </a:solidFill>
                <a:latin typeface="微软雅黑" panose="020B0503020204020204" pitchFamily="34" charset="-122"/>
                <a:ea typeface="微软雅黑" panose="020B0503020204020204" pitchFamily="34" charset="-122"/>
              </a:rPr>
              <a:t>       单元测试的目的是为了以较小的代价（白盒）换取软件正确，而覆盖率的目的是在有效单元测试的基础上统计测试代码测试被测对象的充分程度。</a:t>
            </a:r>
            <a:endParaRPr lang="en-US" altLang="zh-CN" dirty="0">
              <a:solidFill>
                <a:srgbClr val="3E3E3E"/>
              </a:solidFill>
              <a:latin typeface="微软雅黑" panose="020B0503020204020204" pitchFamily="34" charset="-122"/>
              <a:ea typeface="微软雅黑" panose="020B0503020204020204" pitchFamily="34" charset="-122"/>
            </a:endParaRPr>
          </a:p>
          <a:p>
            <a:endParaRPr lang="zh-CN" altLang="en-US" dirty="0"/>
          </a:p>
          <a:p>
            <a:r>
              <a:rPr lang="zh-CN" altLang="en-US" dirty="0">
                <a:solidFill>
                  <a:srgbClr val="3E3E3E"/>
                </a:solidFill>
                <a:latin typeface="微软雅黑" panose="020B0503020204020204" pitchFamily="34" charset="-122"/>
                <a:ea typeface="微软雅黑" panose="020B0503020204020204" pitchFamily="34" charset="-122"/>
              </a:rPr>
              <a:t>       单元测试覆盖率是比较容易量化的指标，常常作为单元测试写的好坏的评判标准，有很多现成的工具专门用来做单元测试代码覆盖率统计，比如</a:t>
            </a:r>
            <a:r>
              <a:rPr lang="en-US" altLang="zh-CN" dirty="0" err="1">
                <a:solidFill>
                  <a:srgbClr val="3E3E3E"/>
                </a:solidFill>
                <a:latin typeface="微软雅黑" panose="020B0503020204020204" pitchFamily="34" charset="-122"/>
                <a:ea typeface="微软雅黑" panose="020B0503020204020204" pitchFamily="34" charset="-122"/>
              </a:rPr>
              <a:t>Jacoco</a:t>
            </a:r>
            <a:r>
              <a:rPr lang="zh-CN" altLang="en-US" dirty="0">
                <a:solidFill>
                  <a:srgbClr val="3E3E3E"/>
                </a:solidFill>
                <a:latin typeface="微软雅黑" panose="020B0503020204020204" pitchFamily="34" charset="-122"/>
                <a:ea typeface="微软雅黑" panose="020B0503020204020204" pitchFamily="34" charset="-122"/>
              </a:rPr>
              <a:t>，</a:t>
            </a:r>
            <a:r>
              <a:rPr lang="en-US" altLang="zh-CN" dirty="0" err="1">
                <a:solidFill>
                  <a:srgbClr val="3E3E3E"/>
                </a:solidFill>
                <a:latin typeface="微软雅黑" panose="020B0503020204020204" pitchFamily="34" charset="-122"/>
                <a:ea typeface="微软雅黑" panose="020B0503020204020204" pitchFamily="34" charset="-122"/>
              </a:rPr>
              <a:t>Cobertura</a:t>
            </a:r>
            <a:r>
              <a:rPr lang="en-US" altLang="zh-CN" dirty="0">
                <a:solidFill>
                  <a:srgbClr val="3E3E3E"/>
                </a:solidFill>
                <a:latin typeface="微软雅黑" panose="020B0503020204020204" pitchFamily="34" charset="-122"/>
                <a:ea typeface="微软雅黑" panose="020B0503020204020204" pitchFamily="34" charset="-122"/>
              </a:rPr>
              <a:t>, Emma, Clover</a:t>
            </a:r>
            <a:r>
              <a:rPr lang="zh-CN" altLang="en-US" dirty="0">
                <a:solidFill>
                  <a:srgbClr val="3E3E3E"/>
                </a:solidFill>
                <a:latin typeface="微软雅黑" panose="020B0503020204020204" pitchFamily="34" charset="-122"/>
                <a:ea typeface="微软雅黑" panose="020B0503020204020204" pitchFamily="34" charset="-122"/>
              </a:rPr>
              <a:t>等。</a:t>
            </a:r>
            <a:r>
              <a:rPr lang="en-US" altLang="zh-CN" dirty="0">
                <a:solidFill>
                  <a:srgbClr val="3E3E3E"/>
                </a:solidFill>
                <a:latin typeface="微软雅黑" panose="020B0503020204020204" pitchFamily="34" charset="-122"/>
                <a:ea typeface="微软雅黑" panose="020B0503020204020204" pitchFamily="34" charset="-122"/>
              </a:rPr>
              <a:t>Eclipse</a:t>
            </a:r>
            <a:r>
              <a:rPr lang="zh-CN" altLang="en-US" dirty="0">
                <a:solidFill>
                  <a:srgbClr val="3E3E3E"/>
                </a:solidFill>
                <a:latin typeface="微软雅黑" panose="020B0503020204020204" pitchFamily="34" charset="-122"/>
                <a:ea typeface="微软雅黑" panose="020B0503020204020204" pitchFamily="34" charset="-122"/>
              </a:rPr>
              <a:t>中建议安装</a:t>
            </a:r>
            <a:r>
              <a:rPr lang="en-US" altLang="zh-CN" dirty="0" err="1">
                <a:solidFill>
                  <a:srgbClr val="3E3E3E"/>
                </a:solidFill>
                <a:latin typeface="微软雅黑" panose="020B0503020204020204" pitchFamily="34" charset="-122"/>
                <a:ea typeface="微软雅黑" panose="020B0503020204020204" pitchFamily="34" charset="-122"/>
              </a:rPr>
              <a:t>EclEmma</a:t>
            </a:r>
            <a:r>
              <a:rPr lang="zh-CN" altLang="en-US" dirty="0">
                <a:solidFill>
                  <a:srgbClr val="3E3E3E"/>
                </a:solidFill>
                <a:latin typeface="微软雅黑" panose="020B0503020204020204" pitchFamily="34" charset="-122"/>
                <a:ea typeface="微软雅黑" panose="020B0503020204020204" pitchFamily="34" charset="-122"/>
              </a:rPr>
              <a:t>插件，</a:t>
            </a:r>
            <a:r>
              <a:rPr lang="en-US" altLang="zh-CN" dirty="0">
                <a:solidFill>
                  <a:srgbClr val="3E3E3E"/>
                </a:solidFill>
                <a:latin typeface="微软雅黑" panose="020B0503020204020204" pitchFamily="34" charset="-122"/>
                <a:ea typeface="微软雅黑" panose="020B0503020204020204" pitchFamily="34" charset="-122"/>
              </a:rPr>
              <a:t>IntelliJ IDEA</a:t>
            </a:r>
            <a:r>
              <a:rPr lang="zh-CN" altLang="en-US" dirty="0">
                <a:solidFill>
                  <a:srgbClr val="3E3E3E"/>
                </a:solidFill>
                <a:latin typeface="微软雅黑" panose="020B0503020204020204" pitchFamily="34" charset="-122"/>
                <a:ea typeface="微软雅黑" panose="020B0503020204020204" pitchFamily="34" charset="-122"/>
              </a:rPr>
              <a:t>中有</a:t>
            </a:r>
            <a:r>
              <a:rPr lang="en-US" altLang="zh-CN" dirty="0">
                <a:solidFill>
                  <a:srgbClr val="3E3E3E"/>
                </a:solidFill>
                <a:latin typeface="微软雅黑" panose="020B0503020204020204" pitchFamily="34" charset="-122"/>
                <a:ea typeface="微软雅黑" panose="020B0503020204020204" pitchFamily="34" charset="-122"/>
              </a:rPr>
              <a:t>Coverage</a:t>
            </a:r>
            <a:r>
              <a:rPr lang="zh-CN" altLang="en-US" dirty="0">
                <a:solidFill>
                  <a:srgbClr val="3E3E3E"/>
                </a:solidFill>
                <a:latin typeface="微软雅黑" panose="020B0503020204020204" pitchFamily="34" charset="-122"/>
                <a:ea typeface="微软雅黑" panose="020B0503020204020204" pitchFamily="34" charset="-122"/>
              </a:rPr>
              <a:t>插件。</a:t>
            </a:r>
            <a:endParaRPr lang="en-US" altLang="zh-CN" dirty="0">
              <a:solidFill>
                <a:srgbClr val="3E3E3E"/>
              </a:solidFill>
              <a:latin typeface="微软雅黑" panose="020B0503020204020204" pitchFamily="34" charset="-122"/>
              <a:ea typeface="微软雅黑" panose="020B0503020204020204" pitchFamily="34" charset="-122"/>
            </a:endParaRPr>
          </a:p>
          <a:p>
            <a:endParaRPr lang="en-US" altLang="zh-CN" dirty="0">
              <a:solidFill>
                <a:srgbClr val="3E3E3E"/>
              </a:solidFill>
              <a:latin typeface="微软雅黑" panose="020B0503020204020204" pitchFamily="34" charset="-122"/>
              <a:ea typeface="微软雅黑" panose="020B0503020204020204" pitchFamily="34" charset="-122"/>
            </a:endParaRPr>
          </a:p>
          <a:p>
            <a:endParaRPr lang="en-US" altLang="zh-CN" dirty="0">
              <a:solidFill>
                <a:srgbClr val="3E3E3E"/>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A662E51A-891C-4D81-A332-4A306AD25BF4}"/>
              </a:ext>
            </a:extLst>
          </p:cNvPr>
          <p:cNvSpPr/>
          <p:nvPr/>
        </p:nvSpPr>
        <p:spPr>
          <a:xfrm>
            <a:off x="648652" y="2332031"/>
            <a:ext cx="7768322" cy="1354217"/>
          </a:xfrm>
          <a:prstGeom prst="rect">
            <a:avLst/>
          </a:prstGeom>
        </p:spPr>
        <p:txBody>
          <a:bodyPr wrap="square">
            <a:spAutoFit/>
          </a:bodyPr>
          <a:lstStyle/>
          <a:p>
            <a:r>
              <a:rPr lang="zh-CN" altLang="en-US" dirty="0">
                <a:solidFill>
                  <a:srgbClr val="3E3E3E"/>
                </a:solidFill>
                <a:latin typeface="微软雅黑" panose="020B0503020204020204" pitchFamily="34" charset="-122"/>
                <a:ea typeface="微软雅黑" panose="020B0503020204020204" pitchFamily="34" charset="-122"/>
              </a:rPr>
              <a:t>对于覆盖率的计算方式，有以下几种：</a:t>
            </a:r>
          </a:p>
          <a:p>
            <a:r>
              <a:rPr lang="zh-CN" altLang="en-US" dirty="0">
                <a:solidFill>
                  <a:srgbClr val="3E3E3E"/>
                </a:solidFill>
                <a:latin typeface="微软雅黑" panose="020B0503020204020204" pitchFamily="34" charset="-122"/>
                <a:ea typeface="微软雅黑" panose="020B0503020204020204" pitchFamily="34" charset="-122"/>
              </a:rPr>
              <a:t>　　</a:t>
            </a:r>
            <a:r>
              <a:rPr lang="en-US" altLang="zh-CN" dirty="0">
                <a:solidFill>
                  <a:srgbClr val="3E3E3E"/>
                </a:solidFill>
                <a:latin typeface="微软雅黑" panose="020B0503020204020204" pitchFamily="34" charset="-122"/>
                <a:ea typeface="微软雅黑" panose="020B0503020204020204" pitchFamily="34" charset="-122"/>
              </a:rPr>
              <a:t>· </a:t>
            </a:r>
            <a:r>
              <a:rPr lang="zh-CN" altLang="en-US" dirty="0">
                <a:solidFill>
                  <a:srgbClr val="3E3E3E"/>
                </a:solidFill>
                <a:latin typeface="微软雅黑" panose="020B0503020204020204" pitchFamily="34" charset="-122"/>
                <a:ea typeface="微软雅黑" panose="020B0503020204020204" pitchFamily="34" charset="-122"/>
              </a:rPr>
              <a:t>函数覆盖（</a:t>
            </a:r>
            <a:r>
              <a:rPr lang="en-US" altLang="zh-CN" dirty="0">
                <a:solidFill>
                  <a:srgbClr val="3E3E3E"/>
                </a:solidFill>
                <a:latin typeface="微软雅黑" panose="020B0503020204020204" pitchFamily="34" charset="-122"/>
                <a:ea typeface="微软雅黑" panose="020B0503020204020204" pitchFamily="34" charset="-122"/>
              </a:rPr>
              <a:t>Function Coverage</a:t>
            </a:r>
            <a:r>
              <a:rPr lang="zh-CN" altLang="en-US" dirty="0">
                <a:solidFill>
                  <a:srgbClr val="3E3E3E"/>
                </a:solidFill>
                <a:latin typeface="微软雅黑" panose="020B0503020204020204" pitchFamily="34" charset="-122"/>
                <a:ea typeface="微软雅黑" panose="020B0503020204020204" pitchFamily="34" charset="-122"/>
              </a:rPr>
              <a:t>）：</a:t>
            </a:r>
            <a:r>
              <a:rPr lang="zh-CN" altLang="zh-CN" sz="1200" dirty="0">
                <a:solidFill>
                  <a:srgbClr val="3E3E3E"/>
                </a:solidFill>
                <a:latin typeface="微软雅黑" panose="020B0503020204020204" pitchFamily="34" charset="-122"/>
                <a:ea typeface="微软雅黑" panose="020B0503020204020204" pitchFamily="34" charset="-122"/>
              </a:rPr>
              <a:t>保证每一个</a:t>
            </a:r>
            <a:r>
              <a:rPr lang="zh-CN" altLang="en-US" sz="1200" dirty="0">
                <a:solidFill>
                  <a:srgbClr val="3E3E3E"/>
                </a:solidFill>
                <a:latin typeface="微软雅黑" panose="020B0503020204020204" pitchFamily="34" charset="-122"/>
                <a:ea typeface="微软雅黑" panose="020B0503020204020204" pitchFamily="34" charset="-122"/>
              </a:rPr>
              <a:t>方法</a:t>
            </a:r>
            <a:r>
              <a:rPr lang="zh-CN" altLang="zh-CN" sz="1200" dirty="0">
                <a:solidFill>
                  <a:srgbClr val="3E3E3E"/>
                </a:solidFill>
                <a:latin typeface="微软雅黑" panose="020B0503020204020204" pitchFamily="34" charset="-122"/>
                <a:ea typeface="微软雅黑" panose="020B0503020204020204" pitchFamily="34" charset="-122"/>
              </a:rPr>
              <a:t>都执行到了</a:t>
            </a:r>
            <a:endParaRPr lang="zh-CN" altLang="en-US" sz="1200" dirty="0">
              <a:solidFill>
                <a:srgbClr val="3E3E3E"/>
              </a:solidFill>
              <a:latin typeface="微软雅黑" panose="020B0503020204020204" pitchFamily="34" charset="-122"/>
              <a:ea typeface="微软雅黑" panose="020B0503020204020204" pitchFamily="34" charset="-122"/>
            </a:endParaRPr>
          </a:p>
          <a:p>
            <a:r>
              <a:rPr lang="zh-CN" altLang="en-US" dirty="0">
                <a:solidFill>
                  <a:srgbClr val="3E3E3E"/>
                </a:solidFill>
                <a:latin typeface="微软雅黑" panose="020B0503020204020204" pitchFamily="34" charset="-122"/>
                <a:ea typeface="微软雅黑" panose="020B0503020204020204" pitchFamily="34" charset="-122"/>
              </a:rPr>
              <a:t>　　</a:t>
            </a:r>
            <a:r>
              <a:rPr lang="en-US" altLang="zh-CN" dirty="0">
                <a:solidFill>
                  <a:srgbClr val="3E3E3E"/>
                </a:solidFill>
                <a:latin typeface="微软雅黑" panose="020B0503020204020204" pitchFamily="34" charset="-122"/>
                <a:ea typeface="微软雅黑" panose="020B0503020204020204" pitchFamily="34" charset="-122"/>
              </a:rPr>
              <a:t>· </a:t>
            </a:r>
            <a:r>
              <a:rPr lang="zh-CN" altLang="en-US" dirty="0">
                <a:solidFill>
                  <a:srgbClr val="3E3E3E"/>
                </a:solidFill>
                <a:latin typeface="微软雅黑" panose="020B0503020204020204" pitchFamily="34" charset="-122"/>
                <a:ea typeface="微软雅黑" panose="020B0503020204020204" pitchFamily="34" charset="-122"/>
              </a:rPr>
              <a:t>语句覆盖（</a:t>
            </a:r>
            <a:r>
              <a:rPr lang="en-US" altLang="zh-CN" dirty="0">
                <a:solidFill>
                  <a:srgbClr val="3E3E3E"/>
                </a:solidFill>
                <a:latin typeface="微软雅黑" panose="020B0503020204020204" pitchFamily="34" charset="-122"/>
                <a:ea typeface="微软雅黑" panose="020B0503020204020204" pitchFamily="34" charset="-122"/>
              </a:rPr>
              <a:t>Statement Coverage</a:t>
            </a:r>
            <a:r>
              <a:rPr lang="zh-CN" altLang="en-US" dirty="0">
                <a:solidFill>
                  <a:srgbClr val="3E3E3E"/>
                </a:solidFill>
                <a:latin typeface="微软雅黑" panose="020B0503020204020204" pitchFamily="34" charset="-122"/>
                <a:ea typeface="微软雅黑" panose="020B0503020204020204" pitchFamily="34" charset="-122"/>
              </a:rPr>
              <a:t>）：</a:t>
            </a:r>
            <a:r>
              <a:rPr lang="zh-CN" altLang="zh-CN" sz="1200" dirty="0">
                <a:solidFill>
                  <a:srgbClr val="3E3E3E"/>
                </a:solidFill>
                <a:latin typeface="微软雅黑" panose="020B0503020204020204" pitchFamily="34" charset="-122"/>
                <a:ea typeface="微软雅黑" panose="020B0503020204020204" pitchFamily="34" charset="-122"/>
              </a:rPr>
              <a:t>保证每一个语句都执行到了</a:t>
            </a:r>
            <a:endParaRPr lang="zh-CN" altLang="en-US" sz="1200" dirty="0">
              <a:solidFill>
                <a:srgbClr val="3E3E3E"/>
              </a:solidFill>
              <a:latin typeface="微软雅黑" panose="020B0503020204020204" pitchFamily="34" charset="-122"/>
              <a:ea typeface="微软雅黑" panose="020B0503020204020204" pitchFamily="34" charset="-122"/>
            </a:endParaRPr>
          </a:p>
          <a:p>
            <a:r>
              <a:rPr lang="zh-CN" altLang="en-US" dirty="0">
                <a:solidFill>
                  <a:srgbClr val="3E3E3E"/>
                </a:solidFill>
                <a:latin typeface="微软雅黑" panose="020B0503020204020204" pitchFamily="34" charset="-122"/>
                <a:ea typeface="微软雅黑" panose="020B0503020204020204" pitchFamily="34" charset="-122"/>
              </a:rPr>
              <a:t>　　</a:t>
            </a:r>
            <a:r>
              <a:rPr lang="en-US" altLang="zh-CN" dirty="0">
                <a:solidFill>
                  <a:srgbClr val="3E3E3E"/>
                </a:solidFill>
                <a:latin typeface="微软雅黑" panose="020B0503020204020204" pitchFamily="34" charset="-122"/>
                <a:ea typeface="微软雅黑" panose="020B0503020204020204" pitchFamily="34" charset="-122"/>
              </a:rPr>
              <a:t>· </a:t>
            </a:r>
            <a:r>
              <a:rPr lang="zh-CN" altLang="en-US" dirty="0">
                <a:solidFill>
                  <a:srgbClr val="3E3E3E"/>
                </a:solidFill>
                <a:latin typeface="微软雅黑" panose="020B0503020204020204" pitchFamily="34" charset="-122"/>
                <a:ea typeface="微软雅黑" panose="020B0503020204020204" pitchFamily="34" charset="-122"/>
              </a:rPr>
              <a:t>决策覆盖（</a:t>
            </a:r>
            <a:r>
              <a:rPr lang="en-US" altLang="zh-CN" dirty="0">
                <a:solidFill>
                  <a:srgbClr val="3E3E3E"/>
                </a:solidFill>
                <a:latin typeface="微软雅黑" panose="020B0503020204020204" pitchFamily="34" charset="-122"/>
                <a:ea typeface="微软雅黑" panose="020B0503020204020204" pitchFamily="34" charset="-122"/>
              </a:rPr>
              <a:t>Decision Coverage</a:t>
            </a:r>
            <a:r>
              <a:rPr lang="zh-CN" altLang="en-US" dirty="0">
                <a:solidFill>
                  <a:srgbClr val="3E3E3E"/>
                </a:solidFill>
                <a:latin typeface="微软雅黑" panose="020B0503020204020204" pitchFamily="34" charset="-122"/>
                <a:ea typeface="微软雅黑" panose="020B0503020204020204" pitchFamily="34" charset="-122"/>
              </a:rPr>
              <a:t>）：</a:t>
            </a:r>
            <a:r>
              <a:rPr lang="zh-CN" altLang="zh-CN" sz="1200" dirty="0">
                <a:solidFill>
                  <a:srgbClr val="3E3E3E"/>
                </a:solidFill>
                <a:latin typeface="微软雅黑" panose="020B0503020204020204" pitchFamily="34" charset="-122"/>
                <a:ea typeface="微软雅黑" panose="020B0503020204020204" pitchFamily="34" charset="-122"/>
              </a:rPr>
              <a:t>保证每一个分支都执行到</a:t>
            </a:r>
            <a:endParaRPr lang="zh-CN" altLang="en-US" sz="1200" dirty="0">
              <a:solidFill>
                <a:srgbClr val="3E3E3E"/>
              </a:solidFill>
              <a:latin typeface="微软雅黑" panose="020B0503020204020204" pitchFamily="34" charset="-122"/>
              <a:ea typeface="微软雅黑" panose="020B0503020204020204" pitchFamily="34" charset="-122"/>
            </a:endParaRPr>
          </a:p>
          <a:p>
            <a:r>
              <a:rPr lang="zh-CN" altLang="en-US" dirty="0">
                <a:solidFill>
                  <a:srgbClr val="3E3E3E"/>
                </a:solidFill>
                <a:latin typeface="微软雅黑" panose="020B0503020204020204" pitchFamily="34" charset="-122"/>
                <a:ea typeface="微软雅黑" panose="020B0503020204020204" pitchFamily="34" charset="-122"/>
              </a:rPr>
              <a:t>　　</a:t>
            </a:r>
            <a:r>
              <a:rPr lang="en-US" altLang="zh-CN" dirty="0">
                <a:solidFill>
                  <a:srgbClr val="3E3E3E"/>
                </a:solidFill>
                <a:latin typeface="微软雅黑" panose="020B0503020204020204" pitchFamily="34" charset="-122"/>
                <a:ea typeface="微软雅黑" panose="020B0503020204020204" pitchFamily="34" charset="-122"/>
              </a:rPr>
              <a:t>· </a:t>
            </a:r>
            <a:r>
              <a:rPr lang="zh-CN" altLang="en-US" dirty="0">
                <a:solidFill>
                  <a:srgbClr val="3E3E3E"/>
                </a:solidFill>
                <a:latin typeface="微软雅黑" panose="020B0503020204020204" pitchFamily="34" charset="-122"/>
                <a:ea typeface="微软雅黑" panose="020B0503020204020204" pitchFamily="34" charset="-122"/>
              </a:rPr>
              <a:t>条件覆盖（</a:t>
            </a:r>
            <a:r>
              <a:rPr lang="en-US" altLang="zh-CN" dirty="0">
                <a:solidFill>
                  <a:srgbClr val="3E3E3E"/>
                </a:solidFill>
                <a:latin typeface="微软雅黑" panose="020B0503020204020204" pitchFamily="34" charset="-122"/>
                <a:ea typeface="微软雅黑" panose="020B0503020204020204" pitchFamily="34" charset="-122"/>
              </a:rPr>
              <a:t>Condition Coverage</a:t>
            </a:r>
            <a:r>
              <a:rPr lang="zh-CN" altLang="en-US" dirty="0">
                <a:solidFill>
                  <a:srgbClr val="3E3E3E"/>
                </a:solidFill>
                <a:latin typeface="微软雅黑" panose="020B0503020204020204" pitchFamily="34" charset="-122"/>
                <a:ea typeface="微软雅黑" panose="020B0503020204020204" pitchFamily="34" charset="-122"/>
              </a:rPr>
              <a:t>）：</a:t>
            </a:r>
            <a:r>
              <a:rPr lang="zh-CN" altLang="zh-CN" sz="1200" dirty="0">
                <a:solidFill>
                  <a:srgbClr val="3E3E3E"/>
                </a:solidFill>
                <a:latin typeface="微软雅黑" panose="020B0503020204020204" pitchFamily="34" charset="-122"/>
                <a:ea typeface="微软雅黑" panose="020B0503020204020204" pitchFamily="34" charset="-122"/>
              </a:rPr>
              <a:t>保证每一个条件都覆盖到</a:t>
            </a:r>
            <a:r>
              <a:rPr lang="en-US" altLang="zh-CN" sz="1200" dirty="0">
                <a:solidFill>
                  <a:srgbClr val="3E3E3E"/>
                </a:solidFill>
                <a:latin typeface="微软雅黑" panose="020B0503020204020204" pitchFamily="34" charset="-122"/>
                <a:ea typeface="微软雅黑" panose="020B0503020204020204" pitchFamily="34" charset="-122"/>
              </a:rPr>
              <a:t>true</a:t>
            </a:r>
            <a:r>
              <a:rPr lang="zh-CN" altLang="zh-CN" sz="1200" dirty="0">
                <a:solidFill>
                  <a:srgbClr val="3E3E3E"/>
                </a:solidFill>
                <a:latin typeface="微软雅黑" panose="020B0503020204020204" pitchFamily="34" charset="-122"/>
                <a:ea typeface="微软雅黑" panose="020B0503020204020204" pitchFamily="34" charset="-122"/>
              </a:rPr>
              <a:t>和</a:t>
            </a:r>
            <a:r>
              <a:rPr lang="en-US" altLang="zh-CN" sz="1200" dirty="0">
                <a:solidFill>
                  <a:srgbClr val="3E3E3E"/>
                </a:solidFill>
                <a:latin typeface="微软雅黑" panose="020B0503020204020204" pitchFamily="34" charset="-122"/>
                <a:ea typeface="微软雅黑" panose="020B0503020204020204" pitchFamily="34" charset="-122"/>
              </a:rPr>
              <a:t>false</a:t>
            </a:r>
            <a:r>
              <a:rPr lang="zh-CN" altLang="zh-CN" sz="1200" dirty="0">
                <a:solidFill>
                  <a:srgbClr val="3E3E3E"/>
                </a:solidFill>
                <a:latin typeface="微软雅黑" panose="020B0503020204020204" pitchFamily="34" charset="-122"/>
                <a:ea typeface="微软雅黑" panose="020B0503020204020204" pitchFamily="34" charset="-122"/>
              </a:rPr>
              <a:t>（即</a:t>
            </a:r>
            <a:r>
              <a:rPr lang="en-US" altLang="zh-CN" sz="1200" dirty="0">
                <a:solidFill>
                  <a:srgbClr val="3E3E3E"/>
                </a:solidFill>
                <a:latin typeface="微软雅黑" panose="020B0503020204020204" pitchFamily="34" charset="-122"/>
                <a:ea typeface="微软雅黑" panose="020B0503020204020204" pitchFamily="34" charset="-122"/>
              </a:rPr>
              <a:t>if</a:t>
            </a:r>
            <a:r>
              <a:rPr lang="zh-CN" altLang="zh-CN" sz="1200" dirty="0">
                <a:solidFill>
                  <a:srgbClr val="3E3E3E"/>
                </a:solidFill>
                <a:latin typeface="微软雅黑" panose="020B0503020204020204" pitchFamily="34" charset="-122"/>
                <a:ea typeface="微软雅黑" panose="020B0503020204020204" pitchFamily="34" charset="-122"/>
              </a:rPr>
              <a:t>、</a:t>
            </a:r>
            <a:r>
              <a:rPr lang="en-US" altLang="zh-CN" sz="1200" dirty="0">
                <a:solidFill>
                  <a:srgbClr val="3E3E3E"/>
                </a:solidFill>
                <a:latin typeface="微软雅黑" panose="020B0503020204020204" pitchFamily="34" charset="-122"/>
                <a:ea typeface="微软雅黑" panose="020B0503020204020204" pitchFamily="34" charset="-122"/>
              </a:rPr>
              <a:t>while</a:t>
            </a:r>
            <a:r>
              <a:rPr lang="zh-CN" altLang="zh-CN" sz="1200" dirty="0">
                <a:solidFill>
                  <a:srgbClr val="3E3E3E"/>
                </a:solidFill>
                <a:latin typeface="微软雅黑" panose="020B0503020204020204" pitchFamily="34" charset="-122"/>
                <a:ea typeface="微软雅黑" panose="020B0503020204020204" pitchFamily="34" charset="-122"/>
              </a:rPr>
              <a:t>中的条件语句）</a:t>
            </a:r>
            <a:endParaRPr lang="zh-CN" altLang="en-US" sz="1200" dirty="0">
              <a:solidFill>
                <a:srgbClr val="3E3E3E"/>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E05014F6-AE46-4FDD-ADE3-3DDC464FDCD3}"/>
              </a:ext>
            </a:extLst>
          </p:cNvPr>
          <p:cNvSpPr/>
          <p:nvPr/>
        </p:nvSpPr>
        <p:spPr>
          <a:xfrm>
            <a:off x="648652" y="3978636"/>
            <a:ext cx="3262432" cy="338554"/>
          </a:xfrm>
          <a:prstGeom prst="rect">
            <a:avLst/>
          </a:prstGeom>
        </p:spPr>
        <p:txBody>
          <a:bodyPr wrap="none">
            <a:spAutoFit/>
          </a:bodyPr>
          <a:lstStyle/>
          <a:p>
            <a:r>
              <a:rPr lang="zh-CN" altLang="en-US" sz="1600" dirty="0">
                <a:solidFill>
                  <a:srgbClr val="333333"/>
                </a:solidFill>
                <a:latin typeface="+mn-ea"/>
              </a:rPr>
              <a:t>如何编写高覆盖率的单元测试呢？</a:t>
            </a:r>
            <a:endParaRPr lang="en-US" altLang="zh-CN" sz="1600" dirty="0">
              <a:solidFill>
                <a:srgbClr val="333333"/>
              </a:solidFill>
              <a:latin typeface="+mn-ea"/>
            </a:endParaRPr>
          </a:p>
        </p:txBody>
      </p:sp>
    </p:spTree>
    <p:extLst>
      <p:ext uri="{BB962C8B-B14F-4D97-AF65-F5344CB8AC3E}">
        <p14:creationId xmlns:p14="http://schemas.microsoft.com/office/powerpoint/2010/main" val="5939086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2"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135C34B-E1C6-4E80-89A0-A5A32C2F0E46}"/>
              </a:ext>
            </a:extLst>
          </p:cNvPr>
          <p:cNvSpPr/>
          <p:nvPr/>
        </p:nvSpPr>
        <p:spPr>
          <a:xfrm>
            <a:off x="661149" y="960527"/>
            <a:ext cx="6848923" cy="492443"/>
          </a:xfrm>
          <a:prstGeom prst="rect">
            <a:avLst/>
          </a:prstGeom>
        </p:spPr>
        <p:txBody>
          <a:bodyPr wrap="square">
            <a:spAutoFit/>
          </a:bodyPr>
          <a:lstStyle/>
          <a:p>
            <a:r>
              <a:rPr lang="en-US" altLang="zh-CN" dirty="0">
                <a:solidFill>
                  <a:srgbClr val="333333"/>
                </a:solidFill>
                <a:latin typeface="+mn-ea"/>
              </a:rPr>
              <a:t>1</a:t>
            </a:r>
            <a:r>
              <a:rPr lang="zh-CN" altLang="en-US" dirty="0">
                <a:solidFill>
                  <a:srgbClr val="333333"/>
                </a:solidFill>
                <a:latin typeface="+mn-ea"/>
              </a:rPr>
              <a:t>、应遵循</a:t>
            </a:r>
            <a:r>
              <a:rPr lang="en-US" altLang="zh-CN" dirty="0">
                <a:solidFill>
                  <a:srgbClr val="333333"/>
                </a:solidFill>
                <a:latin typeface="+mn-ea"/>
              </a:rPr>
              <a:t>28</a:t>
            </a:r>
            <a:r>
              <a:rPr lang="zh-CN" altLang="en-US" dirty="0"/>
              <a:t>原则</a:t>
            </a:r>
            <a:endParaRPr lang="en-US" altLang="zh-CN" sz="1200" dirty="0">
              <a:solidFill>
                <a:srgbClr val="333333"/>
              </a:solidFill>
              <a:latin typeface="+mn-ea"/>
            </a:endParaRPr>
          </a:p>
          <a:p>
            <a:r>
              <a:rPr lang="zh-CN" altLang="en-US" sz="1200" dirty="0"/>
              <a:t>       </a:t>
            </a:r>
            <a:endParaRPr lang="zh-CN" altLang="en-US" sz="1200" dirty="0">
              <a:solidFill>
                <a:srgbClr val="333333"/>
              </a:solidFill>
              <a:latin typeface="+mn-ea"/>
            </a:endParaRPr>
          </a:p>
        </p:txBody>
      </p:sp>
      <p:sp>
        <p:nvSpPr>
          <p:cNvPr id="4" name="矩形 3">
            <a:extLst>
              <a:ext uri="{FF2B5EF4-FFF2-40B4-BE49-F238E27FC236}">
                <a16:creationId xmlns:a16="http://schemas.microsoft.com/office/drawing/2014/main" id="{80A0B47B-1696-479E-8684-6D3BB8F65E14}"/>
              </a:ext>
            </a:extLst>
          </p:cNvPr>
          <p:cNvSpPr/>
          <p:nvPr/>
        </p:nvSpPr>
        <p:spPr>
          <a:xfrm>
            <a:off x="663644" y="1288018"/>
            <a:ext cx="7288637" cy="461665"/>
          </a:xfrm>
          <a:prstGeom prst="rect">
            <a:avLst/>
          </a:prstGeom>
        </p:spPr>
        <p:txBody>
          <a:bodyPr wrap="square">
            <a:spAutoFit/>
          </a:bodyPr>
          <a:lstStyle/>
          <a:p>
            <a:r>
              <a:rPr lang="zh-CN" altLang="en-US" sz="1200" dirty="0">
                <a:latin typeface="+mn-ea"/>
              </a:rPr>
              <a:t>       应用</a:t>
            </a:r>
            <a:r>
              <a:rPr lang="en-US" altLang="zh-CN" sz="1200" dirty="0">
                <a:latin typeface="+mn-ea"/>
              </a:rPr>
              <a:t>20%</a:t>
            </a:r>
            <a:r>
              <a:rPr lang="zh-CN" altLang="en-US" sz="1200" dirty="0">
                <a:latin typeface="+mn-ea"/>
              </a:rPr>
              <a:t>的测试代码，覆盖</a:t>
            </a:r>
            <a:r>
              <a:rPr lang="en-US" altLang="zh-CN" sz="1200" dirty="0">
                <a:latin typeface="+mn-ea"/>
              </a:rPr>
              <a:t>80%</a:t>
            </a:r>
            <a:r>
              <a:rPr lang="zh-CN" altLang="en-US" sz="1200" dirty="0">
                <a:latin typeface="+mn-ea"/>
              </a:rPr>
              <a:t>的源代码。因开发时间极其有限，应尽量提高单元测试编写效率，用较少的测试用例，覆盖较多的源代码。</a:t>
            </a:r>
          </a:p>
        </p:txBody>
      </p:sp>
    </p:spTree>
    <p:extLst>
      <p:ext uri="{BB962C8B-B14F-4D97-AF65-F5344CB8AC3E}">
        <p14:creationId xmlns:p14="http://schemas.microsoft.com/office/powerpoint/2010/main" val="1468879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7524817" cy="677108"/>
          </a:xfrm>
          <a:prstGeom prst="rect">
            <a:avLst/>
          </a:prstGeom>
        </p:spPr>
        <p:txBody>
          <a:bodyPr wrap="none">
            <a:spAutoFit/>
          </a:bodyPr>
          <a:lstStyle/>
          <a:p>
            <a:r>
              <a:rPr lang="en-US" altLang="zh-CN" dirty="0">
                <a:solidFill>
                  <a:srgbClr val="333333"/>
                </a:solidFill>
                <a:latin typeface="+mn-ea"/>
              </a:rPr>
              <a:t>2</a:t>
            </a:r>
            <a:r>
              <a:rPr lang="zh-CN" altLang="en-US" dirty="0">
                <a:solidFill>
                  <a:srgbClr val="333333"/>
                </a:solidFill>
                <a:latin typeface="+mn-ea"/>
              </a:rPr>
              <a:t>、</a:t>
            </a:r>
            <a:r>
              <a:rPr lang="en-US" altLang="zh-CN" dirty="0">
                <a:solidFill>
                  <a:srgbClr val="333333"/>
                </a:solidFill>
                <a:latin typeface="+mn-ea"/>
              </a:rPr>
              <a:t>Mock</a:t>
            </a:r>
            <a:r>
              <a:rPr lang="zh-CN" altLang="en-US" dirty="0">
                <a:solidFill>
                  <a:srgbClr val="333333"/>
                </a:solidFill>
                <a:latin typeface="+mn-ea"/>
              </a:rPr>
              <a:t>应用</a:t>
            </a:r>
            <a:endParaRPr lang="en-US" altLang="zh-CN" dirty="0">
              <a:solidFill>
                <a:srgbClr val="333333"/>
              </a:solidFill>
              <a:latin typeface="+mn-ea"/>
            </a:endParaRPr>
          </a:p>
          <a:p>
            <a:r>
              <a:rPr lang="en-US" altLang="zh-CN" sz="1200" dirty="0">
                <a:latin typeface="+mn-ea"/>
              </a:rPr>
              <a:t>       Mock</a:t>
            </a:r>
            <a:r>
              <a:rPr lang="zh-CN" altLang="zh-CN" sz="1200" dirty="0">
                <a:latin typeface="+mn-ea"/>
              </a:rPr>
              <a:t>适用一些已经被验证的方法、远程接口调用、发送邮件、网络通讯等场景的模拟</a:t>
            </a:r>
            <a:r>
              <a:rPr lang="zh-CN" altLang="en-US" sz="1200" dirty="0">
                <a:latin typeface="+mn-ea"/>
              </a:rPr>
              <a:t>，以及一些初始化</a:t>
            </a:r>
            <a:endParaRPr lang="en-US" altLang="zh-CN" sz="1200" dirty="0">
              <a:latin typeface="+mn-ea"/>
            </a:endParaRPr>
          </a:p>
          <a:p>
            <a:r>
              <a:rPr lang="zh-CN" altLang="en-US" sz="1200" dirty="0">
                <a:latin typeface="+mn-ea"/>
              </a:rPr>
              <a:t>数据、数据库资源的模拟。</a:t>
            </a:r>
            <a:endParaRPr lang="en-US" altLang="zh-CN" sz="1200" dirty="0">
              <a:latin typeface="+mn-ea"/>
            </a:endParaRPr>
          </a:p>
        </p:txBody>
      </p:sp>
      <p:pic>
        <p:nvPicPr>
          <p:cNvPr id="7" name="图片 6">
            <a:extLst>
              <a:ext uri="{FF2B5EF4-FFF2-40B4-BE49-F238E27FC236}">
                <a16:creationId xmlns:a16="http://schemas.microsoft.com/office/drawing/2014/main" id="{2FC0602D-2D00-4841-BE4B-4C84FB74A683}"/>
              </a:ext>
            </a:extLst>
          </p:cNvPr>
          <p:cNvPicPr>
            <a:picLocks noChangeAspect="1"/>
          </p:cNvPicPr>
          <p:nvPr/>
        </p:nvPicPr>
        <p:blipFill>
          <a:blip r:embed="rId3"/>
          <a:stretch>
            <a:fillRect/>
          </a:stretch>
        </p:blipFill>
        <p:spPr>
          <a:xfrm>
            <a:off x="774478" y="1473449"/>
            <a:ext cx="7316848" cy="3211683"/>
          </a:xfrm>
          <a:prstGeom prst="rect">
            <a:avLst/>
          </a:prstGeom>
        </p:spPr>
      </p:pic>
      <p:sp>
        <p:nvSpPr>
          <p:cNvPr id="8" name="矩形 7">
            <a:extLst>
              <a:ext uri="{FF2B5EF4-FFF2-40B4-BE49-F238E27FC236}">
                <a16:creationId xmlns:a16="http://schemas.microsoft.com/office/drawing/2014/main" id="{7D0D4625-8D59-496A-B927-8FDA0A07A6E7}"/>
              </a:ext>
            </a:extLst>
          </p:cNvPr>
          <p:cNvSpPr/>
          <p:nvPr/>
        </p:nvSpPr>
        <p:spPr>
          <a:xfrm>
            <a:off x="4317763" y="4617687"/>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Tree>
    <p:extLst>
      <p:ext uri="{BB962C8B-B14F-4D97-AF65-F5344CB8AC3E}">
        <p14:creationId xmlns:p14="http://schemas.microsoft.com/office/powerpoint/2010/main" val="41417384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7387343" cy="492443"/>
          </a:xfrm>
          <a:prstGeom prst="rect">
            <a:avLst/>
          </a:prstGeom>
        </p:spPr>
        <p:txBody>
          <a:bodyPr wrap="none">
            <a:spAutoFit/>
          </a:bodyPr>
          <a:lstStyle/>
          <a:p>
            <a:r>
              <a:rPr lang="en-US" altLang="zh-CN" dirty="0">
                <a:solidFill>
                  <a:srgbClr val="333333"/>
                </a:solidFill>
                <a:latin typeface="+mn-ea"/>
              </a:rPr>
              <a:t>3</a:t>
            </a:r>
            <a:r>
              <a:rPr lang="zh-CN" altLang="en-US" dirty="0">
                <a:solidFill>
                  <a:srgbClr val="333333"/>
                </a:solidFill>
                <a:latin typeface="+mn-ea"/>
              </a:rPr>
              <a:t>、</a:t>
            </a:r>
            <a:r>
              <a:rPr lang="zh-CN" altLang="zh-CN" dirty="0">
                <a:solidFill>
                  <a:srgbClr val="333333"/>
                </a:solidFill>
                <a:latin typeface="+mn-ea"/>
              </a:rPr>
              <a:t>私有方法测试</a:t>
            </a:r>
            <a:endParaRPr lang="en-US" altLang="zh-CN" dirty="0">
              <a:solidFill>
                <a:srgbClr val="333333"/>
              </a:solidFill>
              <a:latin typeface="+mn-ea"/>
            </a:endParaRPr>
          </a:p>
          <a:p>
            <a:r>
              <a:rPr lang="en-US" altLang="zh-CN" sz="1200" dirty="0">
                <a:latin typeface="+mn-ea"/>
              </a:rPr>
              <a:t>       </a:t>
            </a:r>
            <a:r>
              <a:rPr lang="zh-CN" altLang="en-US" sz="1200" dirty="0">
                <a:latin typeface="+mn-ea"/>
              </a:rPr>
              <a:t>某些场景不好模拟，为了高覆盖率，需要覆盖私有方法，可使用</a:t>
            </a:r>
            <a:r>
              <a:rPr lang="en-US" altLang="zh-CN" sz="1200" dirty="0" err="1">
                <a:latin typeface="+mn-ea"/>
              </a:rPr>
              <a:t>Whitebox.invokeMethod</a:t>
            </a:r>
            <a:r>
              <a:rPr lang="zh-CN" altLang="en-US" sz="1200" dirty="0">
                <a:latin typeface="+mn-ea"/>
              </a:rPr>
              <a:t>进行覆盖。</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3901308" y="449034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9" name="图片 8">
            <a:extLst>
              <a:ext uri="{FF2B5EF4-FFF2-40B4-BE49-F238E27FC236}">
                <a16:creationId xmlns:a16="http://schemas.microsoft.com/office/drawing/2014/main" id="{E0C9C5F0-F493-42AA-8ADE-ACDF62D51BB6}"/>
              </a:ext>
            </a:extLst>
          </p:cNvPr>
          <p:cNvPicPr/>
          <p:nvPr/>
        </p:nvPicPr>
        <p:blipFill>
          <a:blip r:embed="rId3"/>
          <a:stretch>
            <a:fillRect/>
          </a:stretch>
        </p:blipFill>
        <p:spPr>
          <a:xfrm>
            <a:off x="1014607" y="1878314"/>
            <a:ext cx="6339725" cy="2165350"/>
          </a:xfrm>
          <a:prstGeom prst="rect">
            <a:avLst/>
          </a:prstGeom>
        </p:spPr>
      </p:pic>
    </p:spTree>
    <p:extLst>
      <p:ext uri="{BB962C8B-B14F-4D97-AF65-F5344CB8AC3E}">
        <p14:creationId xmlns:p14="http://schemas.microsoft.com/office/powerpoint/2010/main" val="40734668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7649145" cy="677108"/>
          </a:xfrm>
          <a:prstGeom prst="rect">
            <a:avLst/>
          </a:prstGeom>
        </p:spPr>
        <p:txBody>
          <a:bodyPr wrap="none">
            <a:spAutoFit/>
          </a:bodyPr>
          <a:lstStyle/>
          <a:p>
            <a:r>
              <a:rPr lang="en-US" altLang="zh-CN" dirty="0">
                <a:solidFill>
                  <a:srgbClr val="333333"/>
                </a:solidFill>
                <a:latin typeface="+mn-ea"/>
              </a:rPr>
              <a:t>4</a:t>
            </a:r>
            <a:r>
              <a:rPr lang="zh-CN" altLang="en-US" dirty="0">
                <a:solidFill>
                  <a:srgbClr val="333333"/>
                </a:solidFill>
                <a:latin typeface="+mn-ea"/>
              </a:rPr>
              <a:t>、</a:t>
            </a:r>
            <a:r>
              <a:rPr lang="zh-CN" altLang="zh-CN" dirty="0">
                <a:solidFill>
                  <a:srgbClr val="333333"/>
                </a:solidFill>
                <a:latin typeface="+mn-ea"/>
              </a:rPr>
              <a:t>异步方法测试</a:t>
            </a:r>
            <a:endParaRPr lang="en-US" altLang="zh-CN" dirty="0">
              <a:solidFill>
                <a:srgbClr val="333333"/>
              </a:solidFill>
              <a:latin typeface="+mn-ea"/>
            </a:endParaRPr>
          </a:p>
          <a:p>
            <a:r>
              <a:rPr lang="zh-CN" altLang="en-US" sz="1200" dirty="0">
                <a:latin typeface="+mn-ea"/>
              </a:rPr>
              <a:t>       对于不好覆盖的异步注解方法，在测试环境</a:t>
            </a:r>
            <a:r>
              <a:rPr lang="en-US" altLang="zh-CN" sz="1200" dirty="0">
                <a:latin typeface="+mn-ea"/>
              </a:rPr>
              <a:t>Spring</a:t>
            </a:r>
            <a:r>
              <a:rPr lang="zh-CN" altLang="en-US" sz="1200" dirty="0">
                <a:latin typeface="+mn-ea"/>
              </a:rPr>
              <a:t>配置中不添加</a:t>
            </a:r>
            <a:r>
              <a:rPr lang="en-US" altLang="zh-CN" sz="1200" dirty="0">
                <a:latin typeface="+mn-ea"/>
              </a:rPr>
              <a:t>&lt;</a:t>
            </a:r>
            <a:r>
              <a:rPr lang="en-US" altLang="zh-CN" sz="1200" dirty="0" err="1">
                <a:latin typeface="+mn-ea"/>
              </a:rPr>
              <a:t>task:annotation-driven</a:t>
            </a:r>
            <a:r>
              <a:rPr lang="en-US" altLang="zh-CN" sz="1200" dirty="0">
                <a:latin typeface="+mn-ea"/>
              </a:rPr>
              <a:t>&gt;</a:t>
            </a:r>
            <a:r>
              <a:rPr lang="zh-CN" altLang="en-US" sz="1200" dirty="0">
                <a:latin typeface="+mn-ea"/>
              </a:rPr>
              <a:t>，或者可使用</a:t>
            </a:r>
            <a:endParaRPr lang="en-US" altLang="zh-CN" sz="1200" dirty="0">
              <a:latin typeface="+mn-ea"/>
            </a:endParaRPr>
          </a:p>
          <a:p>
            <a:r>
              <a:rPr lang="en-US" altLang="zh-CN" sz="1200" dirty="0" err="1">
                <a:latin typeface="+mn-ea"/>
              </a:rPr>
              <a:t>AopProxyUtils</a:t>
            </a:r>
            <a:r>
              <a:rPr lang="zh-CN" altLang="en-US" sz="1200" dirty="0">
                <a:latin typeface="+mn-ea"/>
              </a:rPr>
              <a:t>工具类，移除异步注解后测试。</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1696197" y="459450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4" name="图片 3">
            <a:extLst>
              <a:ext uri="{FF2B5EF4-FFF2-40B4-BE49-F238E27FC236}">
                <a16:creationId xmlns:a16="http://schemas.microsoft.com/office/drawing/2014/main" id="{F58ABD26-4AE3-490A-B674-B3154F4AC3BE}"/>
              </a:ext>
            </a:extLst>
          </p:cNvPr>
          <p:cNvPicPr>
            <a:picLocks noChangeAspect="1"/>
          </p:cNvPicPr>
          <p:nvPr/>
        </p:nvPicPr>
        <p:blipFill>
          <a:blip r:embed="rId3"/>
          <a:stretch>
            <a:fillRect/>
          </a:stretch>
        </p:blipFill>
        <p:spPr>
          <a:xfrm>
            <a:off x="191223" y="3448194"/>
            <a:ext cx="3698955" cy="1207857"/>
          </a:xfrm>
          <a:prstGeom prst="rect">
            <a:avLst/>
          </a:prstGeom>
        </p:spPr>
      </p:pic>
      <p:pic>
        <p:nvPicPr>
          <p:cNvPr id="5" name="图片 4">
            <a:extLst>
              <a:ext uri="{FF2B5EF4-FFF2-40B4-BE49-F238E27FC236}">
                <a16:creationId xmlns:a16="http://schemas.microsoft.com/office/drawing/2014/main" id="{77373D32-F7E4-4681-A98B-4DF28AEC5D2B}"/>
              </a:ext>
            </a:extLst>
          </p:cNvPr>
          <p:cNvPicPr>
            <a:picLocks noChangeAspect="1"/>
          </p:cNvPicPr>
          <p:nvPr/>
        </p:nvPicPr>
        <p:blipFill>
          <a:blip r:embed="rId4"/>
          <a:stretch>
            <a:fillRect/>
          </a:stretch>
        </p:blipFill>
        <p:spPr>
          <a:xfrm>
            <a:off x="3990108" y="1483368"/>
            <a:ext cx="4435975" cy="3172685"/>
          </a:xfrm>
          <a:prstGeom prst="rect">
            <a:avLst/>
          </a:prstGeom>
        </p:spPr>
      </p:pic>
      <p:pic>
        <p:nvPicPr>
          <p:cNvPr id="6" name="图片 5">
            <a:extLst>
              <a:ext uri="{FF2B5EF4-FFF2-40B4-BE49-F238E27FC236}">
                <a16:creationId xmlns:a16="http://schemas.microsoft.com/office/drawing/2014/main" id="{EFFD0A24-57AF-4A84-9E2B-A40BF278BB87}"/>
              </a:ext>
            </a:extLst>
          </p:cNvPr>
          <p:cNvPicPr>
            <a:picLocks noChangeAspect="1"/>
          </p:cNvPicPr>
          <p:nvPr/>
        </p:nvPicPr>
        <p:blipFill>
          <a:blip r:embed="rId5"/>
          <a:stretch>
            <a:fillRect/>
          </a:stretch>
        </p:blipFill>
        <p:spPr>
          <a:xfrm>
            <a:off x="227917" y="1483368"/>
            <a:ext cx="3698955" cy="1463872"/>
          </a:xfrm>
          <a:prstGeom prst="rect">
            <a:avLst/>
          </a:prstGeom>
        </p:spPr>
      </p:pic>
      <p:sp>
        <p:nvSpPr>
          <p:cNvPr id="10" name="矩形 9">
            <a:extLst>
              <a:ext uri="{FF2B5EF4-FFF2-40B4-BE49-F238E27FC236}">
                <a16:creationId xmlns:a16="http://schemas.microsoft.com/office/drawing/2014/main" id="{9566BC6A-4CEC-4355-8C6B-59618E4386B0}"/>
              </a:ext>
            </a:extLst>
          </p:cNvPr>
          <p:cNvSpPr/>
          <p:nvPr/>
        </p:nvSpPr>
        <p:spPr>
          <a:xfrm>
            <a:off x="1696196" y="2863405"/>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spTree>
    <p:extLst>
      <p:ext uri="{BB962C8B-B14F-4D97-AF65-F5344CB8AC3E}">
        <p14:creationId xmlns:p14="http://schemas.microsoft.com/office/powerpoint/2010/main" val="3590427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1000" fill="hold"/>
                                        <p:tgtEl>
                                          <p:spTgt spid="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anim calcmode="lin" valueType="num">
                                      <p:cBhvr>
                                        <p:cTn id="50" dur="1000" fill="hold"/>
                                        <p:tgtEl>
                                          <p:spTgt spid="5"/>
                                        </p:tgtEl>
                                        <p:attrNameLst>
                                          <p:attrName>ppt_x</p:attrName>
                                        </p:attrNameLst>
                                      </p:cBhvr>
                                      <p:tavLst>
                                        <p:tav tm="0">
                                          <p:val>
                                            <p:strVal val="#ppt_x"/>
                                          </p:val>
                                        </p:tav>
                                        <p:tav tm="100000">
                                          <p:val>
                                            <p:strVal val="#ppt_x"/>
                                          </p:val>
                                        </p:tav>
                                      </p:tavLst>
                                    </p:anim>
                                    <p:anim calcmode="lin" valueType="num">
                                      <p:cBhvr>
                                        <p:cTn id="5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8"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3090783" cy="492443"/>
          </a:xfrm>
          <a:prstGeom prst="rect">
            <a:avLst/>
          </a:prstGeom>
        </p:spPr>
        <p:txBody>
          <a:bodyPr wrap="none">
            <a:spAutoFit/>
          </a:bodyPr>
          <a:lstStyle/>
          <a:p>
            <a:r>
              <a:rPr lang="en-US" altLang="zh-CN" dirty="0">
                <a:solidFill>
                  <a:srgbClr val="333333"/>
                </a:solidFill>
                <a:latin typeface="+mn-ea"/>
              </a:rPr>
              <a:t>5</a:t>
            </a:r>
            <a:r>
              <a:rPr lang="zh-CN" altLang="en-US" dirty="0">
                <a:solidFill>
                  <a:srgbClr val="333333"/>
                </a:solidFill>
                <a:latin typeface="+mn-ea"/>
              </a:rPr>
              <a:t>、</a:t>
            </a:r>
            <a:r>
              <a:rPr lang="en-US" altLang="zh-CN" dirty="0">
                <a:solidFill>
                  <a:srgbClr val="333333"/>
                </a:solidFill>
                <a:latin typeface="+mn-ea"/>
              </a:rPr>
              <a:t>Web </a:t>
            </a:r>
            <a:r>
              <a:rPr lang="en-US" altLang="zh-CN" dirty="0" err="1"/>
              <a:t>MockMvc</a:t>
            </a:r>
            <a:r>
              <a:rPr lang="zh-CN" altLang="en-US" dirty="0"/>
              <a:t>应用</a:t>
            </a:r>
            <a:endParaRPr lang="en-US" altLang="zh-CN" dirty="0">
              <a:solidFill>
                <a:srgbClr val="333333"/>
              </a:solidFill>
              <a:latin typeface="+mn-ea"/>
            </a:endParaRPr>
          </a:p>
          <a:p>
            <a:r>
              <a:rPr lang="zh-CN" altLang="en-US" sz="1200" dirty="0">
                <a:latin typeface="+mn-ea"/>
              </a:rPr>
              <a:t>       对于</a:t>
            </a:r>
            <a:r>
              <a:rPr lang="en-US" altLang="zh-CN" sz="1200" dirty="0">
                <a:latin typeface="+mn-ea"/>
              </a:rPr>
              <a:t>Web</a:t>
            </a:r>
            <a:r>
              <a:rPr lang="zh-CN" altLang="en-US" sz="1200" dirty="0">
                <a:latin typeface="+mn-ea"/>
              </a:rPr>
              <a:t>的测试，应使用</a:t>
            </a:r>
            <a:r>
              <a:rPr lang="en-US" altLang="zh-CN" sz="1200" dirty="0" err="1">
                <a:latin typeface="+mn-ea"/>
              </a:rPr>
              <a:t>MockMvc</a:t>
            </a:r>
            <a:r>
              <a:rPr lang="zh-CN" altLang="en-US" sz="1200" dirty="0">
                <a:latin typeface="+mn-ea"/>
              </a:rPr>
              <a:t>。</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4317763" y="4496130"/>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6" name="图片 5">
            <a:extLst>
              <a:ext uri="{FF2B5EF4-FFF2-40B4-BE49-F238E27FC236}">
                <a16:creationId xmlns:a16="http://schemas.microsoft.com/office/drawing/2014/main" id="{1EF59223-6419-4E30-BBD3-605920FE0264}"/>
              </a:ext>
            </a:extLst>
          </p:cNvPr>
          <p:cNvPicPr/>
          <p:nvPr/>
        </p:nvPicPr>
        <p:blipFill>
          <a:blip r:embed="rId3"/>
          <a:stretch>
            <a:fillRect/>
          </a:stretch>
        </p:blipFill>
        <p:spPr>
          <a:xfrm>
            <a:off x="612118" y="1423361"/>
            <a:ext cx="3763398" cy="3072769"/>
          </a:xfrm>
          <a:prstGeom prst="rect">
            <a:avLst/>
          </a:prstGeom>
        </p:spPr>
      </p:pic>
      <p:pic>
        <p:nvPicPr>
          <p:cNvPr id="7" name="图片 6">
            <a:extLst>
              <a:ext uri="{FF2B5EF4-FFF2-40B4-BE49-F238E27FC236}">
                <a16:creationId xmlns:a16="http://schemas.microsoft.com/office/drawing/2014/main" id="{CFDF8F73-F7DF-4614-95F0-CA7381BB7A22}"/>
              </a:ext>
            </a:extLst>
          </p:cNvPr>
          <p:cNvPicPr/>
          <p:nvPr/>
        </p:nvPicPr>
        <p:blipFill>
          <a:blip r:embed="rId4"/>
          <a:stretch>
            <a:fillRect/>
          </a:stretch>
        </p:blipFill>
        <p:spPr>
          <a:xfrm>
            <a:off x="4571999" y="1423361"/>
            <a:ext cx="4156364" cy="3072770"/>
          </a:xfrm>
          <a:prstGeom prst="rect">
            <a:avLst/>
          </a:prstGeom>
        </p:spPr>
      </p:pic>
      <p:pic>
        <p:nvPicPr>
          <p:cNvPr id="9" name="图片 8">
            <a:extLst>
              <a:ext uri="{FF2B5EF4-FFF2-40B4-BE49-F238E27FC236}">
                <a16:creationId xmlns:a16="http://schemas.microsoft.com/office/drawing/2014/main" id="{F3A45F2F-DA81-471C-AF85-E2797564EE55}"/>
              </a:ext>
            </a:extLst>
          </p:cNvPr>
          <p:cNvPicPr/>
          <p:nvPr/>
        </p:nvPicPr>
        <p:blipFill>
          <a:blip r:embed="rId3"/>
          <a:stretch>
            <a:fillRect/>
          </a:stretch>
        </p:blipFill>
        <p:spPr>
          <a:xfrm>
            <a:off x="612118" y="1413313"/>
            <a:ext cx="3763398" cy="3072769"/>
          </a:xfrm>
          <a:prstGeom prst="rect">
            <a:avLst/>
          </a:prstGeom>
        </p:spPr>
      </p:pic>
      <p:pic>
        <p:nvPicPr>
          <p:cNvPr id="10" name="图片 9">
            <a:extLst>
              <a:ext uri="{FF2B5EF4-FFF2-40B4-BE49-F238E27FC236}">
                <a16:creationId xmlns:a16="http://schemas.microsoft.com/office/drawing/2014/main" id="{FA58DCB3-3A98-418C-9179-A08A38D4DDBB}"/>
              </a:ext>
            </a:extLst>
          </p:cNvPr>
          <p:cNvPicPr/>
          <p:nvPr/>
        </p:nvPicPr>
        <p:blipFill>
          <a:blip r:embed="rId4"/>
          <a:stretch>
            <a:fillRect/>
          </a:stretch>
        </p:blipFill>
        <p:spPr>
          <a:xfrm>
            <a:off x="4571999" y="1413313"/>
            <a:ext cx="4156364" cy="3072770"/>
          </a:xfrm>
          <a:prstGeom prst="rect">
            <a:avLst/>
          </a:prstGeom>
        </p:spPr>
      </p:pic>
    </p:spTree>
    <p:extLst>
      <p:ext uri="{BB962C8B-B14F-4D97-AF65-F5344CB8AC3E}">
        <p14:creationId xmlns:p14="http://schemas.microsoft.com/office/powerpoint/2010/main" val="34168040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498855" cy="276999"/>
          </a:xfrm>
          <a:prstGeom prst="rect">
            <a:avLst/>
          </a:prstGeom>
        </p:spPr>
        <p:txBody>
          <a:bodyPr wrap="none">
            <a:spAutoFit/>
          </a:bodyPr>
          <a:lstStyle/>
          <a:p>
            <a:r>
              <a:rPr lang="zh-CN" altLang="en-US" sz="1200" dirty="0">
                <a:latin typeface="+mn-ea"/>
              </a:rPr>
              <a:t>       </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3553264" y="449716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9" name="图片 8">
            <a:extLst>
              <a:ext uri="{FF2B5EF4-FFF2-40B4-BE49-F238E27FC236}">
                <a16:creationId xmlns:a16="http://schemas.microsoft.com/office/drawing/2014/main" id="{A74B7EC1-4795-46FA-805F-8023BE86EA6F}"/>
              </a:ext>
            </a:extLst>
          </p:cNvPr>
          <p:cNvPicPr/>
          <p:nvPr/>
        </p:nvPicPr>
        <p:blipFill>
          <a:blip r:embed="rId3"/>
          <a:stretch>
            <a:fillRect/>
          </a:stretch>
        </p:blipFill>
        <p:spPr>
          <a:xfrm>
            <a:off x="929514" y="1179779"/>
            <a:ext cx="6574611" cy="3167380"/>
          </a:xfrm>
          <a:prstGeom prst="rect">
            <a:avLst/>
          </a:prstGeom>
        </p:spPr>
      </p:pic>
      <p:sp>
        <p:nvSpPr>
          <p:cNvPr id="4" name="矩形 3">
            <a:extLst>
              <a:ext uri="{FF2B5EF4-FFF2-40B4-BE49-F238E27FC236}">
                <a16:creationId xmlns:a16="http://schemas.microsoft.com/office/drawing/2014/main" id="{C2D1B3FC-3BD6-49CE-9DD3-135D526CA404}"/>
              </a:ext>
            </a:extLst>
          </p:cNvPr>
          <p:cNvSpPr/>
          <p:nvPr/>
        </p:nvSpPr>
        <p:spPr>
          <a:xfrm>
            <a:off x="851563" y="806390"/>
            <a:ext cx="1478482" cy="307777"/>
          </a:xfrm>
          <a:prstGeom prst="rect">
            <a:avLst/>
          </a:prstGeom>
        </p:spPr>
        <p:txBody>
          <a:bodyPr wrap="none">
            <a:spAutoFit/>
          </a:bodyPr>
          <a:lstStyle/>
          <a:p>
            <a:r>
              <a:rPr lang="en-US" altLang="zh-CN" dirty="0">
                <a:latin typeface="+mn-ea"/>
              </a:rPr>
              <a:t>Web</a:t>
            </a:r>
            <a:r>
              <a:rPr lang="zh-CN" altLang="en-US" dirty="0">
                <a:latin typeface="+mn-ea"/>
              </a:rPr>
              <a:t>单元测试：</a:t>
            </a:r>
            <a:endParaRPr lang="zh-CN" altLang="en-US" dirty="0"/>
          </a:p>
        </p:txBody>
      </p:sp>
    </p:spTree>
    <p:extLst>
      <p:ext uri="{BB962C8B-B14F-4D97-AF65-F5344CB8AC3E}">
        <p14:creationId xmlns:p14="http://schemas.microsoft.com/office/powerpoint/2010/main" val="7359675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2743059" cy="492443"/>
          </a:xfrm>
          <a:prstGeom prst="rect">
            <a:avLst/>
          </a:prstGeom>
        </p:spPr>
        <p:txBody>
          <a:bodyPr wrap="none">
            <a:spAutoFit/>
          </a:bodyPr>
          <a:lstStyle/>
          <a:p>
            <a:r>
              <a:rPr lang="en-US" altLang="zh-CN" dirty="0">
                <a:solidFill>
                  <a:srgbClr val="333333"/>
                </a:solidFill>
                <a:latin typeface="+mn-ea"/>
              </a:rPr>
              <a:t>6</a:t>
            </a:r>
            <a:r>
              <a:rPr lang="zh-CN" altLang="en-US" dirty="0">
                <a:solidFill>
                  <a:srgbClr val="333333"/>
                </a:solidFill>
                <a:latin typeface="+mn-ea"/>
              </a:rPr>
              <a:t>、</a:t>
            </a:r>
            <a:r>
              <a:rPr lang="zh-CN" altLang="zh-CN" dirty="0"/>
              <a:t>模拟</a:t>
            </a:r>
            <a:r>
              <a:rPr lang="en-US" altLang="zh-CN" dirty="0"/>
              <a:t>Web</a:t>
            </a:r>
            <a:r>
              <a:rPr lang="zh-CN" altLang="zh-CN" dirty="0"/>
              <a:t>登录</a:t>
            </a:r>
            <a:endParaRPr lang="en-US" altLang="zh-CN" dirty="0"/>
          </a:p>
          <a:p>
            <a:r>
              <a:rPr lang="zh-CN" altLang="en-US" sz="1200" dirty="0">
                <a:latin typeface="+mn-ea"/>
              </a:rPr>
              <a:t>    </a:t>
            </a:r>
            <a:r>
              <a:rPr lang="zh-CN" altLang="zh-CN" sz="1200" dirty="0"/>
              <a:t>设置安全认证信息、</a:t>
            </a:r>
            <a:r>
              <a:rPr lang="en-US" altLang="zh-CN" sz="1200" dirty="0"/>
              <a:t>session</a:t>
            </a:r>
            <a:r>
              <a:rPr lang="zh-CN" altLang="zh-CN" sz="1200" dirty="0"/>
              <a:t>信息</a:t>
            </a:r>
            <a:r>
              <a:rPr lang="zh-CN" altLang="en-US" sz="1200" dirty="0">
                <a:latin typeface="+mn-ea"/>
              </a:rPr>
              <a:t>。</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3947468" y="449716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9" name="图片 8">
            <a:extLst>
              <a:ext uri="{FF2B5EF4-FFF2-40B4-BE49-F238E27FC236}">
                <a16:creationId xmlns:a16="http://schemas.microsoft.com/office/drawing/2014/main" id="{4DCB38BB-1B8E-4C9F-AC49-62127A52F7E3}"/>
              </a:ext>
            </a:extLst>
          </p:cNvPr>
          <p:cNvPicPr/>
          <p:nvPr/>
        </p:nvPicPr>
        <p:blipFill>
          <a:blip r:embed="rId3"/>
          <a:stretch>
            <a:fillRect/>
          </a:stretch>
        </p:blipFill>
        <p:spPr>
          <a:xfrm>
            <a:off x="3869197" y="1288784"/>
            <a:ext cx="4558693" cy="3260545"/>
          </a:xfrm>
          <a:prstGeom prst="rect">
            <a:avLst/>
          </a:prstGeom>
        </p:spPr>
      </p:pic>
      <p:pic>
        <p:nvPicPr>
          <p:cNvPr id="10" name="图片 9">
            <a:extLst>
              <a:ext uri="{FF2B5EF4-FFF2-40B4-BE49-F238E27FC236}">
                <a16:creationId xmlns:a16="http://schemas.microsoft.com/office/drawing/2014/main" id="{770CAA1F-25D6-439B-86AF-F1334D5546EA}"/>
              </a:ext>
            </a:extLst>
          </p:cNvPr>
          <p:cNvPicPr/>
          <p:nvPr/>
        </p:nvPicPr>
        <p:blipFill>
          <a:blip r:embed="rId4"/>
          <a:stretch>
            <a:fillRect/>
          </a:stretch>
        </p:blipFill>
        <p:spPr>
          <a:xfrm>
            <a:off x="400770" y="1288783"/>
            <a:ext cx="3324844" cy="3260545"/>
          </a:xfrm>
          <a:prstGeom prst="rect">
            <a:avLst/>
          </a:prstGeom>
        </p:spPr>
      </p:pic>
    </p:spTree>
    <p:extLst>
      <p:ext uri="{BB962C8B-B14F-4D97-AF65-F5344CB8AC3E}">
        <p14:creationId xmlns:p14="http://schemas.microsoft.com/office/powerpoint/2010/main" val="35172077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1943353" cy="492443"/>
          </a:xfrm>
          <a:prstGeom prst="rect">
            <a:avLst/>
          </a:prstGeom>
        </p:spPr>
        <p:txBody>
          <a:bodyPr wrap="none">
            <a:spAutoFit/>
          </a:bodyPr>
          <a:lstStyle/>
          <a:p>
            <a:r>
              <a:rPr lang="en-US" altLang="zh-CN" dirty="0">
                <a:solidFill>
                  <a:srgbClr val="333333"/>
                </a:solidFill>
                <a:latin typeface="+mn-ea"/>
              </a:rPr>
              <a:t>7</a:t>
            </a:r>
            <a:r>
              <a:rPr lang="zh-CN" altLang="en-US" dirty="0">
                <a:solidFill>
                  <a:srgbClr val="333333"/>
                </a:solidFill>
                <a:latin typeface="+mn-ea"/>
              </a:rPr>
              <a:t>、</a:t>
            </a:r>
            <a:r>
              <a:rPr lang="zh-CN" altLang="zh-CN" dirty="0"/>
              <a:t>模拟</a:t>
            </a:r>
            <a:r>
              <a:rPr lang="en-US" altLang="zh-CN" dirty="0"/>
              <a:t>Web</a:t>
            </a:r>
            <a:r>
              <a:rPr lang="zh-CN" altLang="en-US" dirty="0"/>
              <a:t>文件上传</a:t>
            </a:r>
            <a:endParaRPr lang="en-US" altLang="zh-CN" dirty="0"/>
          </a:p>
          <a:p>
            <a:r>
              <a:rPr lang="zh-CN" altLang="en-US" sz="1200" dirty="0">
                <a:latin typeface="+mn-ea"/>
              </a:rPr>
              <a:t>    </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3947468" y="449716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11" name="图片 10">
            <a:extLst>
              <a:ext uri="{FF2B5EF4-FFF2-40B4-BE49-F238E27FC236}">
                <a16:creationId xmlns:a16="http://schemas.microsoft.com/office/drawing/2014/main" id="{B82CC52F-36A9-43A1-9EF2-802C44F3E21E}"/>
              </a:ext>
            </a:extLst>
          </p:cNvPr>
          <p:cNvPicPr/>
          <p:nvPr/>
        </p:nvPicPr>
        <p:blipFill>
          <a:blip r:embed="rId3"/>
          <a:stretch>
            <a:fillRect/>
          </a:stretch>
        </p:blipFill>
        <p:spPr>
          <a:xfrm>
            <a:off x="219400" y="1057983"/>
            <a:ext cx="3728068" cy="3511946"/>
          </a:xfrm>
          <a:prstGeom prst="rect">
            <a:avLst/>
          </a:prstGeom>
        </p:spPr>
      </p:pic>
      <p:pic>
        <p:nvPicPr>
          <p:cNvPr id="12" name="图片 11">
            <a:extLst>
              <a:ext uri="{FF2B5EF4-FFF2-40B4-BE49-F238E27FC236}">
                <a16:creationId xmlns:a16="http://schemas.microsoft.com/office/drawing/2014/main" id="{9FA0A28F-55DE-4393-87D3-CF8B76CA6BCF}"/>
              </a:ext>
            </a:extLst>
          </p:cNvPr>
          <p:cNvPicPr/>
          <p:nvPr/>
        </p:nvPicPr>
        <p:blipFill>
          <a:blip r:embed="rId4"/>
          <a:stretch>
            <a:fillRect/>
          </a:stretch>
        </p:blipFill>
        <p:spPr>
          <a:xfrm>
            <a:off x="4141250" y="1057983"/>
            <a:ext cx="4224376" cy="3511945"/>
          </a:xfrm>
          <a:prstGeom prst="rect">
            <a:avLst/>
          </a:prstGeom>
        </p:spPr>
      </p:pic>
    </p:spTree>
    <p:extLst>
      <p:ext uri="{BB962C8B-B14F-4D97-AF65-F5344CB8AC3E}">
        <p14:creationId xmlns:p14="http://schemas.microsoft.com/office/powerpoint/2010/main" val="32418424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C053AA4E-A94E-4B83-876E-569ED17195CD}"/>
              </a:ext>
            </a:extLst>
          </p:cNvPr>
          <p:cNvSpPr/>
          <p:nvPr/>
        </p:nvSpPr>
        <p:spPr>
          <a:xfrm>
            <a:off x="716110" y="796341"/>
            <a:ext cx="1837554" cy="492443"/>
          </a:xfrm>
          <a:prstGeom prst="rect">
            <a:avLst/>
          </a:prstGeom>
        </p:spPr>
        <p:txBody>
          <a:bodyPr wrap="none">
            <a:spAutoFit/>
          </a:bodyPr>
          <a:lstStyle/>
          <a:p>
            <a:r>
              <a:rPr lang="zh-CN" altLang="zh-CN" dirty="0"/>
              <a:t>模拟</a:t>
            </a:r>
            <a:r>
              <a:rPr lang="en-US" altLang="zh-CN" dirty="0"/>
              <a:t>Web</a:t>
            </a:r>
            <a:r>
              <a:rPr lang="zh-CN" altLang="en-US" dirty="0"/>
              <a:t>文件上传：</a:t>
            </a:r>
            <a:endParaRPr lang="en-US" altLang="zh-CN" dirty="0"/>
          </a:p>
          <a:p>
            <a:r>
              <a:rPr lang="zh-CN" altLang="en-US" sz="1200" dirty="0">
                <a:latin typeface="+mn-ea"/>
              </a:rPr>
              <a:t>    </a:t>
            </a:r>
            <a:endParaRPr lang="en-US" altLang="zh-CN" sz="1200" dirty="0">
              <a:latin typeface="+mn-ea"/>
            </a:endParaRPr>
          </a:p>
        </p:txBody>
      </p:sp>
      <p:sp>
        <p:nvSpPr>
          <p:cNvPr id="8" name="矩形 7">
            <a:extLst>
              <a:ext uri="{FF2B5EF4-FFF2-40B4-BE49-F238E27FC236}">
                <a16:creationId xmlns:a16="http://schemas.microsoft.com/office/drawing/2014/main" id="{7D0D4625-8D59-496A-B927-8FDA0A07A6E7}"/>
              </a:ext>
            </a:extLst>
          </p:cNvPr>
          <p:cNvSpPr/>
          <p:nvPr/>
        </p:nvSpPr>
        <p:spPr>
          <a:xfrm>
            <a:off x="3947468" y="4497169"/>
            <a:ext cx="508473"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dirty="0">
                <a:ln w="22225">
                  <a:solidFill>
                    <a:schemeClr val="accent6"/>
                  </a:solidFill>
                  <a:prstDash val="solid"/>
                </a:ln>
                <a:solidFill>
                  <a:schemeClr val="accent6"/>
                </a:solidFill>
                <a:cs typeface="+mn-ea"/>
                <a:sym typeface="+mn-lt"/>
              </a:rPr>
              <a:t>√</a:t>
            </a:r>
            <a:endParaRPr lang="zh-CN" altLang="en-US" sz="3600" b="1" dirty="0">
              <a:ln w="22225">
                <a:solidFill>
                  <a:schemeClr val="accent6"/>
                </a:solidFill>
                <a:prstDash val="solid"/>
              </a:ln>
              <a:solidFill>
                <a:schemeClr val="accent6"/>
              </a:solidFill>
            </a:endParaRPr>
          </a:p>
        </p:txBody>
      </p:sp>
      <p:pic>
        <p:nvPicPr>
          <p:cNvPr id="9" name="图片 8">
            <a:extLst>
              <a:ext uri="{FF2B5EF4-FFF2-40B4-BE49-F238E27FC236}">
                <a16:creationId xmlns:a16="http://schemas.microsoft.com/office/drawing/2014/main" id="{0148C457-F3F2-4483-B59C-A8202A539A09}"/>
              </a:ext>
            </a:extLst>
          </p:cNvPr>
          <p:cNvPicPr/>
          <p:nvPr/>
        </p:nvPicPr>
        <p:blipFill>
          <a:blip r:embed="rId3"/>
          <a:stretch>
            <a:fillRect/>
          </a:stretch>
        </p:blipFill>
        <p:spPr>
          <a:xfrm>
            <a:off x="325198" y="1110884"/>
            <a:ext cx="3891622" cy="3468674"/>
          </a:xfrm>
          <a:prstGeom prst="rect">
            <a:avLst/>
          </a:prstGeom>
        </p:spPr>
      </p:pic>
      <p:pic>
        <p:nvPicPr>
          <p:cNvPr id="10" name="图片 9">
            <a:extLst>
              <a:ext uri="{FF2B5EF4-FFF2-40B4-BE49-F238E27FC236}">
                <a16:creationId xmlns:a16="http://schemas.microsoft.com/office/drawing/2014/main" id="{283077C5-4366-4E30-B8C3-E79BBA9FA727}"/>
              </a:ext>
            </a:extLst>
          </p:cNvPr>
          <p:cNvPicPr/>
          <p:nvPr/>
        </p:nvPicPr>
        <p:blipFill>
          <a:blip r:embed="rId4"/>
          <a:stretch>
            <a:fillRect/>
          </a:stretch>
        </p:blipFill>
        <p:spPr>
          <a:xfrm>
            <a:off x="4353093" y="1110884"/>
            <a:ext cx="4074797" cy="3468673"/>
          </a:xfrm>
          <a:prstGeom prst="rect">
            <a:avLst/>
          </a:prstGeom>
        </p:spPr>
      </p:pic>
    </p:spTree>
    <p:extLst>
      <p:ext uri="{BB962C8B-B14F-4D97-AF65-F5344CB8AC3E}">
        <p14:creationId xmlns:p14="http://schemas.microsoft.com/office/powerpoint/2010/main" val="23775570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anim calcmode="lin" valueType="num">
                                      <p:cBhvr>
                                        <p:cTn id="31" dur="1000" fill="hold"/>
                                        <p:tgtEl>
                                          <p:spTgt spid="8"/>
                                        </p:tgtEl>
                                        <p:attrNameLst>
                                          <p:attrName>ppt_x</p:attrName>
                                        </p:attrNameLst>
                                      </p:cBhvr>
                                      <p:tavLst>
                                        <p:tav tm="0">
                                          <p:val>
                                            <p:strVal val="#ppt_x"/>
                                          </p:val>
                                        </p:tav>
                                        <p:tav tm="100000">
                                          <p:val>
                                            <p:strVal val="#ppt_x"/>
                                          </p:val>
                                        </p:tav>
                                      </p:tavLst>
                                    </p:anim>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16110" y="316509"/>
            <a:ext cx="2649182"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编写高覆盖率的单元测试</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4A44D80D-005E-4E32-A211-ADF1983EB173}"/>
              </a:ext>
            </a:extLst>
          </p:cNvPr>
          <p:cNvSpPr/>
          <p:nvPr/>
        </p:nvSpPr>
        <p:spPr>
          <a:xfrm>
            <a:off x="560000" y="845228"/>
            <a:ext cx="6848923" cy="553998"/>
          </a:xfrm>
          <a:prstGeom prst="rect">
            <a:avLst/>
          </a:prstGeom>
        </p:spPr>
        <p:txBody>
          <a:bodyPr wrap="square">
            <a:spAutoFit/>
          </a:bodyPr>
          <a:lstStyle/>
          <a:p>
            <a:r>
              <a:rPr lang="zh-CN" altLang="en-US" sz="1600" dirty="0">
                <a:solidFill>
                  <a:srgbClr val="333333"/>
                </a:solidFill>
                <a:latin typeface="+mn-ea"/>
              </a:rPr>
              <a:t>高覆盖率就是完美的单元测试吗？</a:t>
            </a:r>
            <a:endParaRPr lang="en-US" altLang="zh-CN" sz="1600" dirty="0">
              <a:solidFill>
                <a:srgbClr val="333333"/>
              </a:solidFill>
              <a:latin typeface="+mn-ea"/>
            </a:endParaRPr>
          </a:p>
          <a:p>
            <a:r>
              <a:rPr lang="zh-CN" altLang="en-US" dirty="0">
                <a:solidFill>
                  <a:srgbClr val="333333"/>
                </a:solidFill>
                <a:latin typeface="+mn-ea"/>
              </a:rPr>
              <a:t>       </a:t>
            </a:r>
            <a:endParaRPr lang="en-US" altLang="zh-CN" dirty="0">
              <a:solidFill>
                <a:srgbClr val="333333"/>
              </a:solidFill>
              <a:latin typeface="+mn-ea"/>
            </a:endParaRPr>
          </a:p>
        </p:txBody>
      </p:sp>
      <p:pic>
        <p:nvPicPr>
          <p:cNvPr id="2" name="图片 1">
            <a:extLst>
              <a:ext uri="{FF2B5EF4-FFF2-40B4-BE49-F238E27FC236}">
                <a16:creationId xmlns:a16="http://schemas.microsoft.com/office/drawing/2014/main" id="{80D88731-E3FC-4E6D-ADFA-1B3A1C9CD86C}"/>
              </a:ext>
            </a:extLst>
          </p:cNvPr>
          <p:cNvPicPr>
            <a:picLocks noChangeAspect="1"/>
          </p:cNvPicPr>
          <p:nvPr/>
        </p:nvPicPr>
        <p:blipFill>
          <a:blip r:embed="rId3"/>
          <a:stretch>
            <a:fillRect/>
          </a:stretch>
        </p:blipFill>
        <p:spPr>
          <a:xfrm>
            <a:off x="595768" y="2296998"/>
            <a:ext cx="3458651" cy="657143"/>
          </a:xfrm>
          <a:prstGeom prst="rect">
            <a:avLst/>
          </a:prstGeom>
        </p:spPr>
      </p:pic>
      <p:sp>
        <p:nvSpPr>
          <p:cNvPr id="4" name="矩形 3">
            <a:extLst>
              <a:ext uri="{FF2B5EF4-FFF2-40B4-BE49-F238E27FC236}">
                <a16:creationId xmlns:a16="http://schemas.microsoft.com/office/drawing/2014/main" id="{484A42B3-F474-479E-8D20-EE1CFC5F3679}"/>
              </a:ext>
            </a:extLst>
          </p:cNvPr>
          <p:cNvSpPr/>
          <p:nvPr/>
        </p:nvSpPr>
        <p:spPr>
          <a:xfrm>
            <a:off x="560001" y="2992733"/>
            <a:ext cx="7423549" cy="461665"/>
          </a:xfrm>
          <a:prstGeom prst="rect">
            <a:avLst/>
          </a:prstGeom>
        </p:spPr>
        <p:txBody>
          <a:bodyPr wrap="square">
            <a:spAutoFit/>
          </a:bodyPr>
          <a:lstStyle/>
          <a:p>
            <a:r>
              <a:rPr lang="zh-CN" altLang="en-US" sz="1200" dirty="0">
                <a:solidFill>
                  <a:srgbClr val="333333"/>
                </a:solidFill>
                <a:latin typeface="+mn-ea"/>
              </a:rPr>
              <a:t>       这个例子中，我们只需要一个测试用例就可以做到覆盖率</a:t>
            </a:r>
            <a:r>
              <a:rPr lang="en-US" altLang="zh-CN" sz="1200" dirty="0">
                <a:solidFill>
                  <a:srgbClr val="333333"/>
                </a:solidFill>
                <a:latin typeface="+mn-ea"/>
              </a:rPr>
              <a:t>100%</a:t>
            </a:r>
            <a:r>
              <a:rPr lang="zh-CN" altLang="en-US" sz="1200" dirty="0">
                <a:solidFill>
                  <a:srgbClr val="333333"/>
                </a:solidFill>
                <a:latin typeface="+mn-ea"/>
              </a:rPr>
              <a:t>，比如 </a:t>
            </a:r>
            <a:r>
              <a:rPr lang="en-US" altLang="zh-CN" sz="1200" dirty="0" err="1">
                <a:solidFill>
                  <a:srgbClr val="333333"/>
                </a:solidFill>
                <a:latin typeface="+mn-ea"/>
              </a:rPr>
              <a:t>cal</a:t>
            </a:r>
            <a:r>
              <a:rPr lang="en-US" altLang="zh-CN" sz="1200" dirty="0">
                <a:solidFill>
                  <a:srgbClr val="333333"/>
                </a:solidFill>
                <a:latin typeface="+mn-ea"/>
              </a:rPr>
              <a:t>(10.0, 2.0)</a:t>
            </a:r>
            <a:r>
              <a:rPr lang="zh-CN" altLang="en-US" sz="1200" dirty="0">
                <a:solidFill>
                  <a:srgbClr val="333333"/>
                </a:solidFill>
                <a:latin typeface="+mn-ea"/>
              </a:rPr>
              <a:t>，但并不代表测试足够全面了，我们还需要考虑除数等于０的情况下是否运行符合预期。</a:t>
            </a:r>
          </a:p>
        </p:txBody>
      </p:sp>
      <p:sp>
        <p:nvSpPr>
          <p:cNvPr id="5" name="矩形 4">
            <a:extLst>
              <a:ext uri="{FF2B5EF4-FFF2-40B4-BE49-F238E27FC236}">
                <a16:creationId xmlns:a16="http://schemas.microsoft.com/office/drawing/2014/main" id="{6C111917-7059-4811-9BF8-E002FFF9709E}"/>
              </a:ext>
            </a:extLst>
          </p:cNvPr>
          <p:cNvSpPr/>
          <p:nvPr/>
        </p:nvSpPr>
        <p:spPr>
          <a:xfrm>
            <a:off x="560000" y="1981408"/>
            <a:ext cx="1569660" cy="276999"/>
          </a:xfrm>
          <a:prstGeom prst="rect">
            <a:avLst/>
          </a:prstGeom>
        </p:spPr>
        <p:txBody>
          <a:bodyPr wrap="none">
            <a:spAutoFit/>
          </a:bodyPr>
          <a:lstStyle/>
          <a:p>
            <a:r>
              <a:rPr lang="zh-CN" altLang="en-US" sz="1200" dirty="0">
                <a:solidFill>
                  <a:srgbClr val="333333"/>
                </a:solidFill>
                <a:latin typeface="+mn-ea"/>
              </a:rPr>
              <a:t>举个简单的小例子：</a:t>
            </a:r>
          </a:p>
        </p:txBody>
      </p:sp>
      <p:sp>
        <p:nvSpPr>
          <p:cNvPr id="8" name="矩形 7">
            <a:extLst>
              <a:ext uri="{FF2B5EF4-FFF2-40B4-BE49-F238E27FC236}">
                <a16:creationId xmlns:a16="http://schemas.microsoft.com/office/drawing/2014/main" id="{07DD051E-4737-427E-8C01-882DAF93A9F8}"/>
              </a:ext>
            </a:extLst>
          </p:cNvPr>
          <p:cNvSpPr/>
          <p:nvPr/>
        </p:nvSpPr>
        <p:spPr>
          <a:xfrm>
            <a:off x="560001" y="3927033"/>
            <a:ext cx="6988836" cy="738664"/>
          </a:xfrm>
          <a:prstGeom prst="rect">
            <a:avLst/>
          </a:prstGeom>
        </p:spPr>
        <p:txBody>
          <a:bodyPr wrap="square">
            <a:spAutoFit/>
          </a:bodyPr>
          <a:lstStyle/>
          <a:p>
            <a:r>
              <a:rPr lang="zh-CN" altLang="en-US" dirty="0">
                <a:solidFill>
                  <a:srgbClr val="333333"/>
                </a:solidFill>
                <a:latin typeface="+mn-ea"/>
              </a:rPr>
              <a:t>注意：</a:t>
            </a:r>
            <a:endParaRPr lang="en-US" altLang="zh-CN" dirty="0">
              <a:solidFill>
                <a:srgbClr val="333333"/>
              </a:solidFill>
              <a:latin typeface="+mn-ea"/>
            </a:endParaRPr>
          </a:p>
          <a:p>
            <a:r>
              <a:rPr lang="zh-CN" altLang="en-US" dirty="0">
                <a:solidFill>
                  <a:srgbClr val="333333"/>
                </a:solidFill>
                <a:latin typeface="+mn-ea"/>
              </a:rPr>
              <a:t>      百分百覆盖率并不能确保功能没有缺陷，所以我们更应该多些思考，确保写出有意义的、高质量的单元测试代码。</a:t>
            </a:r>
          </a:p>
        </p:txBody>
      </p:sp>
      <p:sp>
        <p:nvSpPr>
          <p:cNvPr id="6" name="矩形 5">
            <a:extLst>
              <a:ext uri="{FF2B5EF4-FFF2-40B4-BE49-F238E27FC236}">
                <a16:creationId xmlns:a16="http://schemas.microsoft.com/office/drawing/2014/main" id="{05589857-7313-4482-A605-E6482CA4AA39}"/>
              </a:ext>
            </a:extLst>
          </p:cNvPr>
          <p:cNvSpPr/>
          <p:nvPr/>
        </p:nvSpPr>
        <p:spPr>
          <a:xfrm>
            <a:off x="560000" y="1178028"/>
            <a:ext cx="7339815" cy="523220"/>
          </a:xfrm>
          <a:prstGeom prst="rect">
            <a:avLst/>
          </a:prstGeom>
        </p:spPr>
        <p:txBody>
          <a:bodyPr wrap="square">
            <a:spAutoFit/>
          </a:bodyPr>
          <a:lstStyle/>
          <a:p>
            <a:r>
              <a:rPr lang="zh-CN" altLang="en-US" dirty="0">
                <a:solidFill>
                  <a:srgbClr val="333333"/>
                </a:solidFill>
                <a:latin typeface="+mn-ea"/>
              </a:rPr>
              <a:t>       代码覆盖率统计是用来发现没有被测试覆盖的代码，不能完全用来衡量代码质量。还要看测试用例是否覆盖了所有的情况，特别是一些边界情况。</a:t>
            </a:r>
            <a:endParaRPr lang="zh-CN" altLang="en-US" dirty="0"/>
          </a:p>
        </p:txBody>
      </p:sp>
    </p:spTree>
    <p:extLst>
      <p:ext uri="{BB962C8B-B14F-4D97-AF65-F5344CB8AC3E}">
        <p14:creationId xmlns:p14="http://schemas.microsoft.com/office/powerpoint/2010/main" val="35054950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1000"/>
                                        <p:tgtEl>
                                          <p:spTgt spid="2"/>
                                        </p:tgtEl>
                                      </p:cBhvr>
                                    </p:animEffect>
                                    <p:anim calcmode="lin" valueType="num">
                                      <p:cBhvr>
                                        <p:cTn id="40" dur="1000" fill="hold"/>
                                        <p:tgtEl>
                                          <p:spTgt spid="2"/>
                                        </p:tgtEl>
                                        <p:attrNameLst>
                                          <p:attrName>ppt_x</p:attrName>
                                        </p:attrNameLst>
                                      </p:cBhvr>
                                      <p:tavLst>
                                        <p:tav tm="0">
                                          <p:val>
                                            <p:strVal val="#ppt_x"/>
                                          </p:val>
                                        </p:tav>
                                        <p:tav tm="100000">
                                          <p:val>
                                            <p:strVal val="#ppt_x"/>
                                          </p:val>
                                        </p:tav>
                                      </p:tavLst>
                                    </p:anim>
                                    <p:anim calcmode="lin" valueType="num">
                                      <p:cBhvr>
                                        <p:cTn id="41" dur="1000" fill="hold"/>
                                        <p:tgtEl>
                                          <p:spTgt spid="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1000"/>
                                        <p:tgtEl>
                                          <p:spTgt spid="4"/>
                                        </p:tgtEl>
                                      </p:cBhvr>
                                    </p:animEffect>
                                    <p:anim calcmode="lin" valueType="num">
                                      <p:cBhvr>
                                        <p:cTn id="45" dur="1000" fill="hold"/>
                                        <p:tgtEl>
                                          <p:spTgt spid="4"/>
                                        </p:tgtEl>
                                        <p:attrNameLst>
                                          <p:attrName>ppt_x</p:attrName>
                                        </p:attrNameLst>
                                      </p:cBhvr>
                                      <p:tavLst>
                                        <p:tav tm="0">
                                          <p:val>
                                            <p:strVal val="#ppt_x"/>
                                          </p:val>
                                        </p:tav>
                                        <p:tav tm="100000">
                                          <p:val>
                                            <p:strVal val="#ppt_x"/>
                                          </p:val>
                                        </p:tav>
                                      </p:tavLst>
                                    </p:anim>
                                    <p:anim calcmode="lin" valueType="num">
                                      <p:cBhvr>
                                        <p:cTn id="4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1000"/>
                                        <p:tgtEl>
                                          <p:spTgt spid="8"/>
                                        </p:tgtEl>
                                      </p:cBhvr>
                                    </p:animEffect>
                                    <p:anim calcmode="lin" valueType="num">
                                      <p:cBhvr>
                                        <p:cTn id="52" dur="1000" fill="hold"/>
                                        <p:tgtEl>
                                          <p:spTgt spid="8"/>
                                        </p:tgtEl>
                                        <p:attrNameLst>
                                          <p:attrName>ppt_x</p:attrName>
                                        </p:attrNameLst>
                                      </p:cBhvr>
                                      <p:tavLst>
                                        <p:tav tm="0">
                                          <p:val>
                                            <p:strVal val="#ppt_x"/>
                                          </p:val>
                                        </p:tav>
                                        <p:tav tm="100000">
                                          <p:val>
                                            <p:strVal val="#ppt_x"/>
                                          </p:val>
                                        </p:tav>
                                      </p:tavLst>
                                    </p:anim>
                                    <p:anim calcmode="lin" valueType="num">
                                      <p:cBhvr>
                                        <p:cTn id="5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4" grpId="0"/>
      <p:bldP spid="5" grpId="0"/>
      <p:bldP spid="8"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结语</a:t>
            </a:r>
          </a:p>
        </p:txBody>
      </p:sp>
      <p:cxnSp>
        <p:nvCxnSpPr>
          <p:cNvPr id="49" name="直接连接符 48"/>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67318ABE-997C-4F44-A2EC-BEC6C5E07259}"/>
              </a:ext>
            </a:extLst>
          </p:cNvPr>
          <p:cNvSpPr/>
          <p:nvPr/>
        </p:nvSpPr>
        <p:spPr>
          <a:xfrm>
            <a:off x="685097" y="1602280"/>
            <a:ext cx="6382766" cy="523220"/>
          </a:xfrm>
          <a:prstGeom prst="rect">
            <a:avLst/>
          </a:prstGeom>
        </p:spPr>
        <p:txBody>
          <a:bodyPr wrap="square">
            <a:spAutoFit/>
          </a:bodyPr>
          <a:lstStyle/>
          <a:p>
            <a:r>
              <a:rPr lang="zh-CN" altLang="en-US" dirty="0">
                <a:solidFill>
                  <a:srgbClr val="333333"/>
                </a:solidFill>
                <a:latin typeface="+mn-ea"/>
              </a:rPr>
              <a:t>       想想这个方法做什么的？传入什么参数，走什么流程？输出参数或操作结果的验证？</a:t>
            </a:r>
          </a:p>
        </p:txBody>
      </p:sp>
      <p:sp>
        <p:nvSpPr>
          <p:cNvPr id="4" name="矩形 3">
            <a:extLst>
              <a:ext uri="{FF2B5EF4-FFF2-40B4-BE49-F238E27FC236}">
                <a16:creationId xmlns:a16="http://schemas.microsoft.com/office/drawing/2014/main" id="{71DD79E0-ED0A-4E1F-8DA6-A11D876EF617}"/>
              </a:ext>
            </a:extLst>
          </p:cNvPr>
          <p:cNvSpPr/>
          <p:nvPr/>
        </p:nvSpPr>
        <p:spPr>
          <a:xfrm>
            <a:off x="709385" y="935639"/>
            <a:ext cx="6268535" cy="523220"/>
          </a:xfrm>
          <a:prstGeom prst="rect">
            <a:avLst/>
          </a:prstGeom>
        </p:spPr>
        <p:txBody>
          <a:bodyPr wrap="square">
            <a:spAutoFit/>
          </a:bodyPr>
          <a:lstStyle/>
          <a:p>
            <a:r>
              <a:rPr lang="zh-CN" altLang="en-US" dirty="0">
                <a:solidFill>
                  <a:srgbClr val="333333"/>
                </a:solidFill>
                <a:latin typeface="+mn-ea"/>
              </a:rPr>
              <a:t>       单元测试的目的是为了验证方法的行为是否符合预期，编写测试方法前一定要先想清楚验证的行为是什么。</a:t>
            </a:r>
          </a:p>
        </p:txBody>
      </p:sp>
      <p:sp>
        <p:nvSpPr>
          <p:cNvPr id="54" name="矩形 53">
            <a:extLst>
              <a:ext uri="{FF2B5EF4-FFF2-40B4-BE49-F238E27FC236}">
                <a16:creationId xmlns:a16="http://schemas.microsoft.com/office/drawing/2014/main" id="{FDA49B6D-7FBF-4397-9B26-9224DAEB4809}"/>
              </a:ext>
            </a:extLst>
          </p:cNvPr>
          <p:cNvSpPr/>
          <p:nvPr/>
        </p:nvSpPr>
        <p:spPr>
          <a:xfrm>
            <a:off x="685097" y="2420494"/>
            <a:ext cx="6268534" cy="307777"/>
          </a:xfrm>
          <a:prstGeom prst="rect">
            <a:avLst/>
          </a:prstGeom>
        </p:spPr>
        <p:txBody>
          <a:bodyPr wrap="square">
            <a:spAutoFit/>
          </a:bodyPr>
          <a:lstStyle/>
          <a:p>
            <a:r>
              <a:rPr lang="zh-CN" altLang="en-US" dirty="0">
                <a:solidFill>
                  <a:srgbClr val="333333"/>
                </a:solidFill>
                <a:latin typeface="+mn-ea"/>
              </a:rPr>
              <a:t>       多一些思考，也是对被测试方法逻辑的多一次验证。</a:t>
            </a:r>
            <a:endParaRPr lang="en-US" altLang="zh-CN" dirty="0">
              <a:solidFill>
                <a:srgbClr val="333333"/>
              </a:solidFill>
              <a:latin typeface="+mn-ea"/>
            </a:endParaRPr>
          </a:p>
        </p:txBody>
      </p:sp>
      <p:sp>
        <p:nvSpPr>
          <p:cNvPr id="6" name="矩形 5">
            <a:extLst>
              <a:ext uri="{FF2B5EF4-FFF2-40B4-BE49-F238E27FC236}">
                <a16:creationId xmlns:a16="http://schemas.microsoft.com/office/drawing/2014/main" id="{6EDB85B9-A471-4975-AA85-F5680C3E5D95}"/>
              </a:ext>
            </a:extLst>
          </p:cNvPr>
          <p:cNvSpPr/>
          <p:nvPr/>
        </p:nvSpPr>
        <p:spPr>
          <a:xfrm>
            <a:off x="709386" y="3483928"/>
            <a:ext cx="6268534" cy="523220"/>
          </a:xfrm>
          <a:prstGeom prst="rect">
            <a:avLst/>
          </a:prstGeom>
        </p:spPr>
        <p:txBody>
          <a:bodyPr wrap="square">
            <a:spAutoFit/>
          </a:bodyPr>
          <a:lstStyle/>
          <a:p>
            <a:r>
              <a:rPr lang="en-US" altLang="zh-CN" dirty="0">
                <a:solidFill>
                  <a:srgbClr val="333333"/>
                </a:solidFill>
                <a:latin typeface="+mn-ea"/>
              </a:rPr>
              <a:t>       </a:t>
            </a:r>
            <a:r>
              <a:rPr lang="zh-CN" altLang="en-US" dirty="0">
                <a:solidFill>
                  <a:srgbClr val="333333"/>
                </a:solidFill>
                <a:latin typeface="+mn-ea"/>
              </a:rPr>
              <a:t>像生产代码一样对待你的单元测试代码</a:t>
            </a:r>
            <a:r>
              <a:rPr lang="en-US" altLang="zh-CN" dirty="0">
                <a:solidFill>
                  <a:srgbClr val="333333"/>
                </a:solidFill>
                <a:latin typeface="+mn-ea"/>
              </a:rPr>
              <a:t>——</a:t>
            </a:r>
            <a:r>
              <a:rPr lang="zh-CN" altLang="en-US" dirty="0">
                <a:solidFill>
                  <a:srgbClr val="333333"/>
                </a:solidFill>
                <a:latin typeface="+mn-ea"/>
              </a:rPr>
              <a:t>大胆重构、创建和维护高质量的单元测试，去编写优秀的单元测试，去实现优秀单元测试的价值！</a:t>
            </a:r>
            <a:endParaRPr lang="zh-CN" altLang="en-US" dirty="0"/>
          </a:p>
        </p:txBody>
      </p:sp>
    </p:spTree>
    <p:extLst>
      <p:ext uri="{BB962C8B-B14F-4D97-AF65-F5344CB8AC3E}">
        <p14:creationId xmlns:p14="http://schemas.microsoft.com/office/powerpoint/2010/main" val="10021240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550"/>
                            </p:stCondLst>
                            <p:childTnLst>
                              <p:par>
                                <p:cTn id="13" presetID="22" presetClass="entr" presetSubtype="8"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ipe(left)">
                                      <p:cBhvr>
                                        <p:cTn id="15" dur="3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1000"/>
                                        <p:tgtEl>
                                          <p:spTgt spid="54"/>
                                        </p:tgtEl>
                                      </p:cBhvr>
                                    </p:animEffect>
                                    <p:anim calcmode="lin" valueType="num">
                                      <p:cBhvr>
                                        <p:cTn id="35" dur="1000" fill="hold"/>
                                        <p:tgtEl>
                                          <p:spTgt spid="54"/>
                                        </p:tgtEl>
                                        <p:attrNameLst>
                                          <p:attrName>ppt_x</p:attrName>
                                        </p:attrNameLst>
                                      </p:cBhvr>
                                      <p:tavLst>
                                        <p:tav tm="0">
                                          <p:val>
                                            <p:strVal val="#ppt_x"/>
                                          </p:val>
                                        </p:tav>
                                        <p:tav tm="100000">
                                          <p:val>
                                            <p:strVal val="#ppt_x"/>
                                          </p:val>
                                        </p:tav>
                                      </p:tavLst>
                                    </p:anim>
                                    <p:anim calcmode="lin" valueType="num">
                                      <p:cBhvr>
                                        <p:cTn id="36"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1000"/>
                                        <p:tgtEl>
                                          <p:spTgt spid="6"/>
                                        </p:tgtEl>
                                      </p:cBhvr>
                                    </p:animEffect>
                                    <p:anim calcmode="lin" valueType="num">
                                      <p:cBhvr>
                                        <p:cTn id="42" dur="1000" fill="hold"/>
                                        <p:tgtEl>
                                          <p:spTgt spid="6"/>
                                        </p:tgtEl>
                                        <p:attrNameLst>
                                          <p:attrName>ppt_x</p:attrName>
                                        </p:attrNameLst>
                                      </p:cBhvr>
                                      <p:tavLst>
                                        <p:tav tm="0">
                                          <p:val>
                                            <p:strVal val="#ppt_x"/>
                                          </p:val>
                                        </p:tav>
                                        <p:tav tm="100000">
                                          <p:val>
                                            <p:strVal val="#ppt_x"/>
                                          </p:val>
                                        </p:tav>
                                      </p:tavLst>
                                    </p:anim>
                                    <p:anim calcmode="lin" valueType="num">
                                      <p:cBhvr>
                                        <p:cTn id="4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 grpId="0"/>
      <p:bldP spid="4" grpId="0"/>
      <p:bldP spid="54"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文本框 9"/>
          <p:cNvSpPr txBox="1"/>
          <p:nvPr/>
        </p:nvSpPr>
        <p:spPr>
          <a:xfrm>
            <a:off x="2374137" y="1884748"/>
            <a:ext cx="4272439" cy="1084912"/>
          </a:xfrm>
          <a:prstGeom prst="rect">
            <a:avLst/>
          </a:prstGeom>
          <a:noFill/>
        </p:spPr>
        <p:txBody>
          <a:bodyPr wrap="square" lIns="68580" tIns="34290" rIns="68580" bIns="34290" rtlCol="0">
            <a:spAutoFit/>
          </a:bodyPr>
          <a:lstStyle/>
          <a:p>
            <a:pPr algn="ctr">
              <a:defRPr/>
            </a:pPr>
            <a:r>
              <a:rPr lang="en-US" altLang="zh-CN" sz="6600" b="1" dirty="0">
                <a:solidFill>
                  <a:srgbClr val="1B4367"/>
                </a:solidFill>
                <a:cs typeface="+mn-ea"/>
                <a:sym typeface="+mn-lt"/>
              </a:rPr>
              <a:t>THANKS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2357</TotalTime>
  <Words>6410</Words>
  <Application>Microsoft Office PowerPoint</Application>
  <PresentationFormat>全屏显示(16:9)</PresentationFormat>
  <Paragraphs>1016</Paragraphs>
  <Slides>44</Slides>
  <Notes>44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-apple-system</vt:lpstr>
      <vt:lpstr>宋体</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杨洲</cp:lastModifiedBy>
  <cp:revision>303</cp:revision>
  <dcterms:created xsi:type="dcterms:W3CDTF">2016-05-20T12:59:00Z</dcterms:created>
  <dcterms:modified xsi:type="dcterms:W3CDTF">2018-07-25T10:51:05Z</dcterms:modified>
  <cp:contentStatus>ytfcells</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2052-10.1.0.5745</vt:lpwstr>
  </property>
</Properties>
</file>
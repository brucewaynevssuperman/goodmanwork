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323" r:id="rId2"/>
    <p:sldId id="290" r:id="rId3"/>
    <p:sldId id="314" r:id="rId4"/>
    <p:sldId id="319" r:id="rId5"/>
    <p:sldId id="325" r:id="rId6"/>
    <p:sldId id="326" r:id="rId7"/>
    <p:sldId id="327" r:id="rId8"/>
    <p:sldId id="328" r:id="rId9"/>
    <p:sldId id="334" r:id="rId10"/>
    <p:sldId id="335" r:id="rId11"/>
    <p:sldId id="333" r:id="rId12"/>
    <p:sldId id="329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30" r:id="rId36"/>
    <p:sldId id="359" r:id="rId37"/>
    <p:sldId id="358" r:id="rId38"/>
    <p:sldId id="360" r:id="rId39"/>
    <p:sldId id="361" r:id="rId40"/>
    <p:sldId id="362" r:id="rId41"/>
    <p:sldId id="363" r:id="rId42"/>
    <p:sldId id="364" r:id="rId43"/>
    <p:sldId id="365" r:id="rId44"/>
    <p:sldId id="366" r:id="rId45"/>
    <p:sldId id="367" r:id="rId46"/>
    <p:sldId id="332" r:id="rId47"/>
    <p:sldId id="295" r:id="rId48"/>
  </p:sldIdLst>
  <p:sldSz cx="9144000" cy="6858000" type="screen4x3"/>
  <p:notesSz cx="6858000" cy="9144000"/>
  <p:custDataLst>
    <p:tags r:id="rId5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754" userDrawn="1">
          <p15:clr>
            <a:srgbClr val="A4A3A4"/>
          </p15:clr>
        </p15:guide>
        <p15:guide id="2" pos="3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-" initials="U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E8D"/>
    <a:srgbClr val="EFEEED"/>
    <a:srgbClr val="B2B3B2"/>
    <a:srgbClr val="272727"/>
    <a:srgbClr val="505150"/>
    <a:srgbClr val="636463"/>
    <a:srgbClr val="776F72"/>
    <a:srgbClr val="5A5B5E"/>
    <a:srgbClr val="313134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0" autoAdjust="0"/>
    <p:restoredTop sz="90526" autoAdjust="0"/>
  </p:normalViewPr>
  <p:slideViewPr>
    <p:cSldViewPr snapToGrid="0" snapToObjects="1">
      <p:cViewPr>
        <p:scale>
          <a:sx n="100" d="100"/>
          <a:sy n="100" d="100"/>
        </p:scale>
        <p:origin x="-1932" y="168"/>
      </p:cViewPr>
      <p:guideLst>
        <p:guide orient="horz" pos="754"/>
        <p:guide pos="317"/>
      </p:guideLst>
    </p:cSldViewPr>
  </p:slideViewPr>
  <p:outlineViewPr>
    <p:cViewPr>
      <p:scale>
        <a:sx n="33" d="100"/>
        <a:sy n="33" d="100"/>
      </p:scale>
      <p:origin x="0" y="29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77DDEC-502C-4261-BB9A-99EC0BB2BF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07B0355-7BC3-4C37-A203-079A3C3F6614}">
      <dgm:prSet phldrT="[文本]"/>
      <dgm:spPr/>
      <dgm:t>
        <a:bodyPr/>
        <a:lstStyle/>
        <a:p>
          <a:r>
            <a:rPr lang="en-US" altLang="zh-CN" dirty="0" smtClean="0"/>
            <a:t>1</a:t>
          </a:r>
          <a:r>
            <a:rPr lang="zh-CN" altLang="en-US" dirty="0" smtClean="0"/>
            <a:t>、</a:t>
          </a:r>
          <a:r>
            <a:rPr lang="en-US" altLang="zh-CN" dirty="0" smtClean="0"/>
            <a:t>Groovy</a:t>
          </a:r>
          <a:r>
            <a:rPr lang="zh-CN" altLang="en-US" dirty="0" smtClean="0"/>
            <a:t>入门</a:t>
          </a:r>
          <a:endParaRPr lang="zh-CN" altLang="en-US" dirty="0"/>
        </a:p>
      </dgm:t>
    </dgm:pt>
    <dgm:pt modelId="{85B1B3B1-3D8D-46FE-AD85-758570DF86BE}" type="parTrans" cxnId="{6FE0DDBA-6158-4A54-9A24-07124439B017}">
      <dgm:prSet/>
      <dgm:spPr/>
      <dgm:t>
        <a:bodyPr/>
        <a:lstStyle/>
        <a:p>
          <a:endParaRPr lang="zh-CN" altLang="en-US"/>
        </a:p>
      </dgm:t>
    </dgm:pt>
    <dgm:pt modelId="{EF918857-9F24-4F11-A8A0-0518635F00AD}" type="sibTrans" cxnId="{6FE0DDBA-6158-4A54-9A24-07124439B017}">
      <dgm:prSet/>
      <dgm:spPr/>
      <dgm:t>
        <a:bodyPr/>
        <a:lstStyle/>
        <a:p>
          <a:endParaRPr lang="zh-CN" altLang="en-US"/>
        </a:p>
      </dgm:t>
    </dgm:pt>
    <dgm:pt modelId="{34E22613-2FF9-454D-AA70-8C305A1175AE}">
      <dgm:prSet phldrT="[文本]"/>
      <dgm:spPr/>
      <dgm:t>
        <a:bodyPr/>
        <a:lstStyle/>
        <a:p>
          <a:r>
            <a:rPr lang="en-US" altLang="zh-CN" dirty="0" smtClean="0"/>
            <a:t>2</a:t>
          </a:r>
          <a:r>
            <a:rPr lang="zh-CN" altLang="en-US" dirty="0" smtClean="0"/>
            <a:t>、</a:t>
          </a:r>
          <a:r>
            <a:rPr lang="en-US" altLang="zh-CN" dirty="0" smtClean="0"/>
            <a:t>Groovy</a:t>
          </a:r>
          <a:r>
            <a:rPr lang="zh-CN" altLang="en-US" dirty="0" smtClean="0"/>
            <a:t>特性</a:t>
          </a:r>
          <a:endParaRPr lang="en-US" altLang="zh-CN" dirty="0" smtClean="0"/>
        </a:p>
      </dgm:t>
    </dgm:pt>
    <dgm:pt modelId="{A03A043E-6046-4632-A3FE-82CD576CF270}" type="parTrans" cxnId="{30FB2CB0-A7A8-4E8A-BDFF-306EEB3CD0B5}">
      <dgm:prSet/>
      <dgm:spPr/>
      <dgm:t>
        <a:bodyPr/>
        <a:lstStyle/>
        <a:p>
          <a:endParaRPr lang="zh-CN" altLang="en-US"/>
        </a:p>
      </dgm:t>
    </dgm:pt>
    <dgm:pt modelId="{DBE7DC73-4E02-43A9-8C6F-91CC2C2B0222}" type="sibTrans" cxnId="{30FB2CB0-A7A8-4E8A-BDFF-306EEB3CD0B5}">
      <dgm:prSet/>
      <dgm:spPr/>
      <dgm:t>
        <a:bodyPr/>
        <a:lstStyle/>
        <a:p>
          <a:endParaRPr lang="zh-CN" altLang="en-US"/>
        </a:p>
      </dgm:t>
    </dgm:pt>
    <dgm:pt modelId="{14B04D7A-3BB0-430A-B1D1-5804F5F52F5A}">
      <dgm:prSet phldrT="[文本]"/>
      <dgm:spPr/>
      <dgm:t>
        <a:bodyPr/>
        <a:lstStyle/>
        <a:p>
          <a:r>
            <a:rPr lang="en-US" altLang="zh-CN" dirty="0" smtClean="0"/>
            <a:t>3</a:t>
          </a:r>
          <a:r>
            <a:rPr lang="zh-CN" altLang="en-US" dirty="0" smtClean="0"/>
            <a:t>、</a:t>
          </a:r>
          <a:r>
            <a:rPr lang="en-US" altLang="zh-CN" dirty="0" smtClean="0"/>
            <a:t>Groovy</a:t>
          </a:r>
          <a:r>
            <a:rPr lang="zh-CN" altLang="en-US" dirty="0" smtClean="0"/>
            <a:t>高级用法</a:t>
          </a:r>
          <a:endParaRPr lang="en-US" altLang="zh-CN" dirty="0" smtClean="0"/>
        </a:p>
      </dgm:t>
    </dgm:pt>
    <dgm:pt modelId="{78365874-1A58-4522-BA4F-CFBA67B520F2}" type="parTrans" cxnId="{8A7E6BD8-38C4-495A-944E-B59FFBFC1714}">
      <dgm:prSet/>
      <dgm:spPr/>
      <dgm:t>
        <a:bodyPr/>
        <a:lstStyle/>
        <a:p>
          <a:endParaRPr lang="zh-CN" altLang="en-US"/>
        </a:p>
      </dgm:t>
    </dgm:pt>
    <dgm:pt modelId="{17EEAF3C-1E7A-4A43-9EAC-EAD64DA0E864}" type="sibTrans" cxnId="{8A7E6BD8-38C4-495A-944E-B59FFBFC1714}">
      <dgm:prSet/>
      <dgm:spPr/>
      <dgm:t>
        <a:bodyPr/>
        <a:lstStyle/>
        <a:p>
          <a:endParaRPr lang="zh-CN" altLang="en-US"/>
        </a:p>
      </dgm:t>
    </dgm:pt>
    <dgm:pt modelId="{F2C78E01-6E8B-4D35-AC16-1A18C141EEE9}" type="pres">
      <dgm:prSet presAssocID="{2977DDEC-502C-4261-BB9A-99EC0BB2BFCC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B6425B6D-12B5-4712-ACBF-C2113ABCE374}" type="pres">
      <dgm:prSet presAssocID="{307B0355-7BC3-4C37-A203-079A3C3F6614}" presName="parentLin" presStyleCnt="0"/>
      <dgm:spPr/>
    </dgm:pt>
    <dgm:pt modelId="{709AE6A8-055B-454A-A02B-E4E7F729DD91}" type="pres">
      <dgm:prSet presAssocID="{307B0355-7BC3-4C37-A203-079A3C3F6614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DDEB2F94-4AE3-4A2A-A8DB-C41E6397E24C}" type="pres">
      <dgm:prSet presAssocID="{307B0355-7BC3-4C37-A203-079A3C3F6614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D8B4526-03FC-44C2-92EB-4F8B9A53AD7A}" type="pres">
      <dgm:prSet presAssocID="{307B0355-7BC3-4C37-A203-079A3C3F6614}" presName="negativeSpace" presStyleCnt="0"/>
      <dgm:spPr/>
    </dgm:pt>
    <dgm:pt modelId="{301F4945-2654-4892-BCC5-36B2F510A36D}" type="pres">
      <dgm:prSet presAssocID="{307B0355-7BC3-4C37-A203-079A3C3F6614}" presName="childText" presStyleLbl="conFgAcc1" presStyleIdx="0" presStyleCnt="3">
        <dgm:presLayoutVars>
          <dgm:bulletEnabled val="1"/>
        </dgm:presLayoutVars>
      </dgm:prSet>
      <dgm:spPr/>
    </dgm:pt>
    <dgm:pt modelId="{81F9261B-CCAA-45DE-A83A-C9AF614264FF}" type="pres">
      <dgm:prSet presAssocID="{EF918857-9F24-4F11-A8A0-0518635F00AD}" presName="spaceBetweenRectangles" presStyleCnt="0"/>
      <dgm:spPr/>
    </dgm:pt>
    <dgm:pt modelId="{2E975587-64D0-4CDE-BEC2-2F534F0FD0A6}" type="pres">
      <dgm:prSet presAssocID="{34E22613-2FF9-454D-AA70-8C305A1175AE}" presName="parentLin" presStyleCnt="0"/>
      <dgm:spPr/>
    </dgm:pt>
    <dgm:pt modelId="{7F40D748-1CDA-407C-85EB-796D3E835CDE}" type="pres">
      <dgm:prSet presAssocID="{34E22613-2FF9-454D-AA70-8C305A1175AE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EC4A9B96-4D67-4CE2-90A8-00BFC23CB23C}" type="pres">
      <dgm:prSet presAssocID="{34E22613-2FF9-454D-AA70-8C305A1175AE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4824492-B292-4FC3-B425-710C13C7B6CB}" type="pres">
      <dgm:prSet presAssocID="{34E22613-2FF9-454D-AA70-8C305A1175AE}" presName="negativeSpace" presStyleCnt="0"/>
      <dgm:spPr/>
    </dgm:pt>
    <dgm:pt modelId="{E4930568-3823-40A6-AC2F-3C381F375821}" type="pres">
      <dgm:prSet presAssocID="{34E22613-2FF9-454D-AA70-8C305A1175AE}" presName="childText" presStyleLbl="conFgAcc1" presStyleIdx="1" presStyleCnt="3">
        <dgm:presLayoutVars>
          <dgm:bulletEnabled val="1"/>
        </dgm:presLayoutVars>
      </dgm:prSet>
      <dgm:spPr/>
    </dgm:pt>
    <dgm:pt modelId="{38F4D514-2E13-48C3-A7C7-2D7F8234C712}" type="pres">
      <dgm:prSet presAssocID="{DBE7DC73-4E02-43A9-8C6F-91CC2C2B0222}" presName="spaceBetweenRectangles" presStyleCnt="0"/>
      <dgm:spPr/>
    </dgm:pt>
    <dgm:pt modelId="{5C03F572-E20A-4684-B48F-7E5D1C4BD9BC}" type="pres">
      <dgm:prSet presAssocID="{14B04D7A-3BB0-430A-B1D1-5804F5F52F5A}" presName="parentLin" presStyleCnt="0"/>
      <dgm:spPr/>
    </dgm:pt>
    <dgm:pt modelId="{A818636B-A0A9-4E4E-8897-6689AB58CE9C}" type="pres">
      <dgm:prSet presAssocID="{14B04D7A-3BB0-430A-B1D1-5804F5F52F5A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980E50B6-09B8-400B-88B8-D45084F597F3}" type="pres">
      <dgm:prSet presAssocID="{14B04D7A-3BB0-430A-B1D1-5804F5F52F5A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4BC5758-FD8B-4A08-811E-88A808572FA0}" type="pres">
      <dgm:prSet presAssocID="{14B04D7A-3BB0-430A-B1D1-5804F5F52F5A}" presName="negativeSpace" presStyleCnt="0"/>
      <dgm:spPr/>
    </dgm:pt>
    <dgm:pt modelId="{AAFCE5D6-63D5-4FBD-9A80-684E7CC388C9}" type="pres">
      <dgm:prSet presAssocID="{14B04D7A-3BB0-430A-B1D1-5804F5F52F5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A7E6BD8-38C4-495A-944E-B59FFBFC1714}" srcId="{2977DDEC-502C-4261-BB9A-99EC0BB2BFCC}" destId="{14B04D7A-3BB0-430A-B1D1-5804F5F52F5A}" srcOrd="2" destOrd="0" parTransId="{78365874-1A58-4522-BA4F-CFBA67B520F2}" sibTransId="{17EEAF3C-1E7A-4A43-9EAC-EAD64DA0E864}"/>
    <dgm:cxn modelId="{D84CDC73-6B87-4FD5-8FBD-CBCE36AAE825}" type="presOf" srcId="{34E22613-2FF9-454D-AA70-8C305A1175AE}" destId="{EC4A9B96-4D67-4CE2-90A8-00BFC23CB23C}" srcOrd="1" destOrd="0" presId="urn:microsoft.com/office/officeart/2005/8/layout/list1"/>
    <dgm:cxn modelId="{1E333E62-DC46-4A71-9A72-FA4C4FD7F32E}" type="presOf" srcId="{307B0355-7BC3-4C37-A203-079A3C3F6614}" destId="{709AE6A8-055B-454A-A02B-E4E7F729DD91}" srcOrd="0" destOrd="0" presId="urn:microsoft.com/office/officeart/2005/8/layout/list1"/>
    <dgm:cxn modelId="{30FB2CB0-A7A8-4E8A-BDFF-306EEB3CD0B5}" srcId="{2977DDEC-502C-4261-BB9A-99EC0BB2BFCC}" destId="{34E22613-2FF9-454D-AA70-8C305A1175AE}" srcOrd="1" destOrd="0" parTransId="{A03A043E-6046-4632-A3FE-82CD576CF270}" sibTransId="{DBE7DC73-4E02-43A9-8C6F-91CC2C2B0222}"/>
    <dgm:cxn modelId="{6FE0DDBA-6158-4A54-9A24-07124439B017}" srcId="{2977DDEC-502C-4261-BB9A-99EC0BB2BFCC}" destId="{307B0355-7BC3-4C37-A203-079A3C3F6614}" srcOrd="0" destOrd="0" parTransId="{85B1B3B1-3D8D-46FE-AD85-758570DF86BE}" sibTransId="{EF918857-9F24-4F11-A8A0-0518635F00AD}"/>
    <dgm:cxn modelId="{F314E43F-C582-486D-92E2-4360F56CEBC8}" type="presOf" srcId="{2977DDEC-502C-4261-BB9A-99EC0BB2BFCC}" destId="{F2C78E01-6E8B-4D35-AC16-1A18C141EEE9}" srcOrd="0" destOrd="0" presId="urn:microsoft.com/office/officeart/2005/8/layout/list1"/>
    <dgm:cxn modelId="{6A30F06D-83C3-4E5E-A1EE-7992E987C095}" type="presOf" srcId="{307B0355-7BC3-4C37-A203-079A3C3F6614}" destId="{DDEB2F94-4AE3-4A2A-A8DB-C41E6397E24C}" srcOrd="1" destOrd="0" presId="urn:microsoft.com/office/officeart/2005/8/layout/list1"/>
    <dgm:cxn modelId="{971326A6-EA3F-4FAE-9013-B05B0D0EE961}" type="presOf" srcId="{14B04D7A-3BB0-430A-B1D1-5804F5F52F5A}" destId="{A818636B-A0A9-4E4E-8897-6689AB58CE9C}" srcOrd="0" destOrd="0" presId="urn:microsoft.com/office/officeart/2005/8/layout/list1"/>
    <dgm:cxn modelId="{43FD027F-434F-4B17-848F-CE806674A030}" type="presOf" srcId="{14B04D7A-3BB0-430A-B1D1-5804F5F52F5A}" destId="{980E50B6-09B8-400B-88B8-D45084F597F3}" srcOrd="1" destOrd="0" presId="urn:microsoft.com/office/officeart/2005/8/layout/list1"/>
    <dgm:cxn modelId="{BCD6AA8F-EAF4-4B55-A47E-79DB7067CDD7}" type="presOf" srcId="{34E22613-2FF9-454D-AA70-8C305A1175AE}" destId="{7F40D748-1CDA-407C-85EB-796D3E835CDE}" srcOrd="0" destOrd="0" presId="urn:microsoft.com/office/officeart/2005/8/layout/list1"/>
    <dgm:cxn modelId="{8101D732-01CB-40B1-940C-5A9A9735EC26}" type="presParOf" srcId="{F2C78E01-6E8B-4D35-AC16-1A18C141EEE9}" destId="{B6425B6D-12B5-4712-ACBF-C2113ABCE374}" srcOrd="0" destOrd="0" presId="urn:microsoft.com/office/officeart/2005/8/layout/list1"/>
    <dgm:cxn modelId="{618DA519-6BD4-4A94-AF4F-C7A22FBB7CBE}" type="presParOf" srcId="{B6425B6D-12B5-4712-ACBF-C2113ABCE374}" destId="{709AE6A8-055B-454A-A02B-E4E7F729DD91}" srcOrd="0" destOrd="0" presId="urn:microsoft.com/office/officeart/2005/8/layout/list1"/>
    <dgm:cxn modelId="{DD9ED9C1-4F0B-4DBF-8B6C-1370B1C69440}" type="presParOf" srcId="{B6425B6D-12B5-4712-ACBF-C2113ABCE374}" destId="{DDEB2F94-4AE3-4A2A-A8DB-C41E6397E24C}" srcOrd="1" destOrd="0" presId="urn:microsoft.com/office/officeart/2005/8/layout/list1"/>
    <dgm:cxn modelId="{232D64EF-CDC1-4119-B4BD-FAAA31F8DEAD}" type="presParOf" srcId="{F2C78E01-6E8B-4D35-AC16-1A18C141EEE9}" destId="{8D8B4526-03FC-44C2-92EB-4F8B9A53AD7A}" srcOrd="1" destOrd="0" presId="urn:microsoft.com/office/officeart/2005/8/layout/list1"/>
    <dgm:cxn modelId="{BCB7BE10-B735-4A9A-A0AF-290E9C3F0CE2}" type="presParOf" srcId="{F2C78E01-6E8B-4D35-AC16-1A18C141EEE9}" destId="{301F4945-2654-4892-BCC5-36B2F510A36D}" srcOrd="2" destOrd="0" presId="urn:microsoft.com/office/officeart/2005/8/layout/list1"/>
    <dgm:cxn modelId="{09EED49C-D26C-4043-9384-C6C42E1798E7}" type="presParOf" srcId="{F2C78E01-6E8B-4D35-AC16-1A18C141EEE9}" destId="{81F9261B-CCAA-45DE-A83A-C9AF614264FF}" srcOrd="3" destOrd="0" presId="urn:microsoft.com/office/officeart/2005/8/layout/list1"/>
    <dgm:cxn modelId="{DEDA0937-6E17-42A1-B0FB-64901548DA30}" type="presParOf" srcId="{F2C78E01-6E8B-4D35-AC16-1A18C141EEE9}" destId="{2E975587-64D0-4CDE-BEC2-2F534F0FD0A6}" srcOrd="4" destOrd="0" presId="urn:microsoft.com/office/officeart/2005/8/layout/list1"/>
    <dgm:cxn modelId="{39183845-B8F7-4684-B1AD-077335BE2591}" type="presParOf" srcId="{2E975587-64D0-4CDE-BEC2-2F534F0FD0A6}" destId="{7F40D748-1CDA-407C-85EB-796D3E835CDE}" srcOrd="0" destOrd="0" presId="urn:microsoft.com/office/officeart/2005/8/layout/list1"/>
    <dgm:cxn modelId="{C81DC99C-9D2D-4101-B72C-9385670E75A6}" type="presParOf" srcId="{2E975587-64D0-4CDE-BEC2-2F534F0FD0A6}" destId="{EC4A9B96-4D67-4CE2-90A8-00BFC23CB23C}" srcOrd="1" destOrd="0" presId="urn:microsoft.com/office/officeart/2005/8/layout/list1"/>
    <dgm:cxn modelId="{532C9EA6-0DC0-40B2-8B5C-EC38A642BBDD}" type="presParOf" srcId="{F2C78E01-6E8B-4D35-AC16-1A18C141EEE9}" destId="{54824492-B292-4FC3-B425-710C13C7B6CB}" srcOrd="5" destOrd="0" presId="urn:microsoft.com/office/officeart/2005/8/layout/list1"/>
    <dgm:cxn modelId="{52815295-019E-442C-A355-0D32F0A766C3}" type="presParOf" srcId="{F2C78E01-6E8B-4D35-AC16-1A18C141EEE9}" destId="{E4930568-3823-40A6-AC2F-3C381F375821}" srcOrd="6" destOrd="0" presId="urn:microsoft.com/office/officeart/2005/8/layout/list1"/>
    <dgm:cxn modelId="{C17D9771-5849-44A7-B046-738EF89E04EF}" type="presParOf" srcId="{F2C78E01-6E8B-4D35-AC16-1A18C141EEE9}" destId="{38F4D514-2E13-48C3-A7C7-2D7F8234C712}" srcOrd="7" destOrd="0" presId="urn:microsoft.com/office/officeart/2005/8/layout/list1"/>
    <dgm:cxn modelId="{69D7EFE7-D02A-44B4-9FF0-7A4ACC61EF8A}" type="presParOf" srcId="{F2C78E01-6E8B-4D35-AC16-1A18C141EEE9}" destId="{5C03F572-E20A-4684-B48F-7E5D1C4BD9BC}" srcOrd="8" destOrd="0" presId="urn:microsoft.com/office/officeart/2005/8/layout/list1"/>
    <dgm:cxn modelId="{CCA98F99-08C2-49A0-A712-2F647B4F1972}" type="presParOf" srcId="{5C03F572-E20A-4684-B48F-7E5D1C4BD9BC}" destId="{A818636B-A0A9-4E4E-8897-6689AB58CE9C}" srcOrd="0" destOrd="0" presId="urn:microsoft.com/office/officeart/2005/8/layout/list1"/>
    <dgm:cxn modelId="{FE969C22-BDA6-45E9-BB15-6228E67BF8C4}" type="presParOf" srcId="{5C03F572-E20A-4684-B48F-7E5D1C4BD9BC}" destId="{980E50B6-09B8-400B-88B8-D45084F597F3}" srcOrd="1" destOrd="0" presId="urn:microsoft.com/office/officeart/2005/8/layout/list1"/>
    <dgm:cxn modelId="{808BDA87-B5AA-430E-97F7-883EF2B91179}" type="presParOf" srcId="{F2C78E01-6E8B-4D35-AC16-1A18C141EEE9}" destId="{E4BC5758-FD8B-4A08-811E-88A808572FA0}" srcOrd="9" destOrd="0" presId="urn:microsoft.com/office/officeart/2005/8/layout/list1"/>
    <dgm:cxn modelId="{E9D9C722-A872-4DB1-BADE-DA36F3D24051}" type="presParOf" srcId="{F2C78E01-6E8B-4D35-AC16-1A18C141EEE9}" destId="{AAFCE5D6-63D5-4FBD-9A80-684E7CC388C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1F4945-2654-4892-BCC5-36B2F510A36D}">
      <dsp:nvSpPr>
        <dsp:cNvPr id="0" name=""/>
        <dsp:cNvSpPr/>
      </dsp:nvSpPr>
      <dsp:spPr>
        <a:xfrm>
          <a:off x="0" y="523991"/>
          <a:ext cx="8143875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EB2F94-4AE3-4A2A-A8DB-C41E6397E24C}">
      <dsp:nvSpPr>
        <dsp:cNvPr id="0" name=""/>
        <dsp:cNvSpPr/>
      </dsp:nvSpPr>
      <dsp:spPr>
        <a:xfrm>
          <a:off x="407193" y="36911"/>
          <a:ext cx="5700712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473" tIns="0" rIns="215473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300" kern="1200" dirty="0" smtClean="0"/>
            <a:t>1</a:t>
          </a:r>
          <a:r>
            <a:rPr lang="zh-CN" altLang="en-US" sz="3300" kern="1200" dirty="0" smtClean="0"/>
            <a:t>、</a:t>
          </a:r>
          <a:r>
            <a:rPr lang="en-US" altLang="zh-CN" sz="3300" kern="1200" dirty="0" smtClean="0"/>
            <a:t>Groovy</a:t>
          </a:r>
          <a:r>
            <a:rPr lang="zh-CN" altLang="en-US" sz="3300" kern="1200" dirty="0" smtClean="0"/>
            <a:t>入门</a:t>
          </a:r>
          <a:endParaRPr lang="zh-CN" altLang="en-US" sz="3300" kern="1200" dirty="0"/>
        </a:p>
      </dsp:txBody>
      <dsp:txXfrm>
        <a:off x="454748" y="84466"/>
        <a:ext cx="5605602" cy="879050"/>
      </dsp:txXfrm>
    </dsp:sp>
    <dsp:sp modelId="{E4930568-3823-40A6-AC2F-3C381F375821}">
      <dsp:nvSpPr>
        <dsp:cNvPr id="0" name=""/>
        <dsp:cNvSpPr/>
      </dsp:nvSpPr>
      <dsp:spPr>
        <a:xfrm>
          <a:off x="0" y="2020871"/>
          <a:ext cx="8143875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4A9B96-4D67-4CE2-90A8-00BFC23CB23C}">
      <dsp:nvSpPr>
        <dsp:cNvPr id="0" name=""/>
        <dsp:cNvSpPr/>
      </dsp:nvSpPr>
      <dsp:spPr>
        <a:xfrm>
          <a:off x="407193" y="1533791"/>
          <a:ext cx="5700712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473" tIns="0" rIns="215473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300" kern="1200" dirty="0" smtClean="0"/>
            <a:t>2</a:t>
          </a:r>
          <a:r>
            <a:rPr lang="zh-CN" altLang="en-US" sz="3300" kern="1200" dirty="0" smtClean="0"/>
            <a:t>、</a:t>
          </a:r>
          <a:r>
            <a:rPr lang="en-US" altLang="zh-CN" sz="3300" kern="1200" dirty="0" smtClean="0"/>
            <a:t>Groovy</a:t>
          </a:r>
          <a:r>
            <a:rPr lang="zh-CN" altLang="en-US" sz="3300" kern="1200" dirty="0" smtClean="0"/>
            <a:t>特性</a:t>
          </a:r>
          <a:endParaRPr lang="en-US" altLang="zh-CN" sz="3300" kern="1200" dirty="0" smtClean="0"/>
        </a:p>
      </dsp:txBody>
      <dsp:txXfrm>
        <a:off x="454748" y="1581346"/>
        <a:ext cx="5605602" cy="879050"/>
      </dsp:txXfrm>
    </dsp:sp>
    <dsp:sp modelId="{AAFCE5D6-63D5-4FBD-9A80-684E7CC388C9}">
      <dsp:nvSpPr>
        <dsp:cNvPr id="0" name=""/>
        <dsp:cNvSpPr/>
      </dsp:nvSpPr>
      <dsp:spPr>
        <a:xfrm>
          <a:off x="0" y="3517751"/>
          <a:ext cx="8143875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0E50B6-09B8-400B-88B8-D45084F597F3}">
      <dsp:nvSpPr>
        <dsp:cNvPr id="0" name=""/>
        <dsp:cNvSpPr/>
      </dsp:nvSpPr>
      <dsp:spPr>
        <a:xfrm>
          <a:off x="407193" y="3030671"/>
          <a:ext cx="5700712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473" tIns="0" rIns="215473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300" kern="1200" dirty="0" smtClean="0"/>
            <a:t>3</a:t>
          </a:r>
          <a:r>
            <a:rPr lang="zh-CN" altLang="en-US" sz="3300" kern="1200" dirty="0" smtClean="0"/>
            <a:t>、</a:t>
          </a:r>
          <a:r>
            <a:rPr lang="en-US" altLang="zh-CN" sz="3300" kern="1200" dirty="0" smtClean="0"/>
            <a:t>Groovy</a:t>
          </a:r>
          <a:r>
            <a:rPr lang="zh-CN" altLang="en-US" sz="3300" kern="1200" dirty="0" smtClean="0"/>
            <a:t>高级用法</a:t>
          </a:r>
          <a:endParaRPr lang="en-US" altLang="zh-CN" sz="3300" kern="1200" dirty="0" smtClean="0"/>
        </a:p>
      </dsp:txBody>
      <dsp:txXfrm>
        <a:off x="454748" y="3078226"/>
        <a:ext cx="5605602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2537A-C1FE-C441-8F08-6472DE8A6393}" type="datetimeFigureOut">
              <a:rPr lang="en-US" smtClean="0"/>
              <a:t>8/17/2017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A01E0-2117-0C43-8963-D44ACC7C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920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9629A-8024-8740-A789-6BCBA6C29169}" type="datetimeFigureOut">
              <a:rPr lang="en-US" smtClean="0"/>
              <a:t>8/17/2017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E6A7F-2053-5042-BD59-FF4F3EF9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935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01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80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as:</a:t>
            </a:r>
            <a:r>
              <a:rPr lang="en-US" altLang="zh-CN" baseline="0" dirty="0" smtClean="0"/>
              <a:t> </a:t>
            </a:r>
            <a:r>
              <a:rPr lang="zh-CN" altLang="en-US" baseline="0" dirty="0" smtClean="0"/>
              <a:t>强制转换</a:t>
            </a:r>
            <a:endParaRPr lang="en-US" altLang="zh-CN" baseline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参考实际代码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E6A7F-2053-5042-BD59-FF4F3EF99AC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3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245898" y="252000"/>
            <a:ext cx="8646102" cy="4572012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r>
              <a:rPr lang="en-US" dirty="0" smtClean="0"/>
              <a:t>Insert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621" y="4944156"/>
            <a:ext cx="7772400" cy="98535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b="1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algn="l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21" y="5929514"/>
            <a:ext cx="6400800" cy="41113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758" y="0"/>
            <a:ext cx="2005689" cy="100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22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titled-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32" y="3006192"/>
            <a:ext cx="8641368" cy="35998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500621" y="1601248"/>
            <a:ext cx="7772400" cy="702346"/>
          </a:xfrm>
        </p:spPr>
        <p:txBody>
          <a:bodyPr anchor="t">
            <a:normAutofit/>
          </a:bodyPr>
          <a:lstStyle>
            <a:lvl1pPr algn="l">
              <a:defRPr sz="3200" b="1" i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00621" y="2311574"/>
            <a:ext cx="6400800" cy="41113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985" y="6186897"/>
            <a:ext cx="402934" cy="365125"/>
          </a:xfrm>
          <a:prstGeom prst="rect">
            <a:avLst/>
          </a:prstGeom>
        </p:spPr>
        <p:txBody>
          <a:bodyPr anchor="t"/>
          <a:lstStyle>
            <a:lvl1pPr>
              <a:defRPr b="0" i="0">
                <a:solidFill>
                  <a:schemeClr val="tx1"/>
                </a:solidFill>
                <a:latin typeface="Gotham-Bold"/>
                <a:cs typeface="Gotham-Bold"/>
              </a:defRPr>
            </a:lvl1pPr>
          </a:lstStyle>
          <a:p>
            <a:fld id="{9380A3BF-C42B-5B4A-8FD1-FDF44958D93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758" y="0"/>
            <a:ext cx="2005689" cy="100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7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Untitled-4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0"/>
          <a:stretch/>
        </p:blipFill>
        <p:spPr>
          <a:xfrm>
            <a:off x="250632" y="1752460"/>
            <a:ext cx="8641368" cy="48535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758" y="0"/>
            <a:ext cx="2005689" cy="1008922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2885" y="410316"/>
            <a:ext cx="6443498" cy="1232047"/>
          </a:xfrm>
        </p:spPr>
        <p:txBody>
          <a:bodyPr vert="horz" lIns="91440" tIns="45720" rIns="91440" bIns="45720" rtlCol="0" anchor="t">
            <a:normAutofit/>
          </a:bodyPr>
          <a:lstStyle>
            <a:lvl1pPr algn="l">
              <a:defRPr lang="en-US" sz="3200" b="1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algn="l"/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35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254" y="0"/>
            <a:ext cx="1433492" cy="721090"/>
          </a:xfrm>
          <a:prstGeom prst="rect">
            <a:avLst/>
          </a:prstGeom>
        </p:spPr>
      </p:pic>
      <p:pic>
        <p:nvPicPr>
          <p:cNvPr id="4" name="Picture 3" descr="Untitled-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41" y="6353008"/>
            <a:ext cx="8641368" cy="2529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885" y="410316"/>
            <a:ext cx="6443498" cy="1232047"/>
          </a:xfrm>
        </p:spPr>
        <p:txBody>
          <a:bodyPr vert="horz" lIns="91440" tIns="45720" rIns="91440" bIns="45720" rtlCol="0" anchor="t">
            <a:normAutofit/>
          </a:bodyPr>
          <a:lstStyle>
            <a:lvl1pPr algn="l">
              <a:defRPr lang="en-US" sz="3200" b="1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algn="l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884" y="1708504"/>
            <a:ext cx="8143589" cy="4385466"/>
          </a:xfrm>
        </p:spPr>
        <p:txBody>
          <a:bodyPr lIns="0"/>
          <a:lstStyle>
            <a:lvl1pPr>
              <a:buClr>
                <a:schemeClr val="tx1"/>
              </a:buClr>
              <a:defRPr sz="1600" b="0" i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buClr>
                <a:schemeClr val="tx1"/>
              </a:buClr>
              <a:defRPr sz="1400" b="0" i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buClr>
                <a:schemeClr val="tx1"/>
              </a:buClr>
              <a:defRPr sz="1200" b="0" i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buClr>
                <a:schemeClr val="tx1"/>
              </a:buClr>
              <a:defRPr sz="1000" b="0" i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buClr>
                <a:schemeClr val="tx1"/>
              </a:buClr>
              <a:defRPr sz="900" b="0" i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492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255841" y="246683"/>
            <a:ext cx="8641368" cy="5853334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r>
              <a:rPr lang="en-US" dirty="0" smtClean="0"/>
              <a:t>Insert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38252"/>
            <a:ext cx="8229600" cy="7960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b="1" i="0" dirty="0">
                <a:latin typeface="方正兰亭中粗黑_GBK" pitchFamily="2" charset="-122"/>
                <a:ea typeface="方正兰亭中粗黑_GBK" pitchFamily="2" charset="-122"/>
                <a:cs typeface="方正兰亭中粗黑_GBK" pitchFamily="2" charset="-122"/>
              </a:defRPr>
            </a:lvl1pPr>
          </a:lstStyle>
          <a:p>
            <a:pPr lvl="0" algn="l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7" name="Picture 6" descr="Untitled-3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41" y="6353008"/>
            <a:ext cx="8641368" cy="25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55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18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337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01 / 01 / 2013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Department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380A3BF-C42B-5B4A-8FD1-FDF44958D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8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396875" y="6946006"/>
            <a:ext cx="7053930" cy="125184"/>
            <a:chOff x="396875" y="6946006"/>
            <a:chExt cx="7053930" cy="125184"/>
          </a:xfrm>
        </p:grpSpPr>
        <p:sp>
          <p:nvSpPr>
            <p:cNvPr id="8" name="Rectangle 10"/>
            <p:cNvSpPr>
              <a:spLocks noChangeArrowheads="1"/>
            </p:cNvSpPr>
            <p:nvPr userDrawn="1"/>
          </p:nvSpPr>
          <p:spPr bwMode="auto">
            <a:xfrm>
              <a:off x="777875" y="6946006"/>
              <a:ext cx="304800" cy="1190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90</a:t>
              </a: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20</a:t>
              </a: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 userDrawn="1"/>
          </p:nvSpPr>
          <p:spPr bwMode="auto">
            <a:xfrm>
              <a:off x="1158875" y="6946006"/>
              <a:ext cx="304800" cy="119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12"/>
            <p:cNvSpPr>
              <a:spLocks noChangeArrowheads="1"/>
            </p:cNvSpPr>
            <p:nvPr userDrawn="1"/>
          </p:nvSpPr>
          <p:spPr bwMode="auto">
            <a:xfrm>
              <a:off x="2300780" y="6946006"/>
              <a:ext cx="304800" cy="119062"/>
            </a:xfrm>
            <a:prstGeom prst="rect">
              <a:avLst/>
            </a:prstGeom>
            <a:solidFill>
              <a:srgbClr val="272727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90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1" name="Rectangle 13"/>
            <p:cNvSpPr>
              <a:spLocks noChangeArrowheads="1"/>
            </p:cNvSpPr>
            <p:nvPr userDrawn="1"/>
          </p:nvSpPr>
          <p:spPr bwMode="auto">
            <a:xfrm>
              <a:off x="2681780" y="6946006"/>
              <a:ext cx="304800" cy="119062"/>
            </a:xfrm>
            <a:prstGeom prst="rect">
              <a:avLst/>
            </a:prstGeom>
            <a:solidFill>
              <a:srgbClr val="50515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70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 14"/>
            <p:cNvSpPr>
              <a:spLocks noChangeArrowheads="1"/>
            </p:cNvSpPr>
            <p:nvPr userDrawn="1"/>
          </p:nvSpPr>
          <p:spPr bwMode="auto">
            <a:xfrm>
              <a:off x="3062780" y="6946006"/>
              <a:ext cx="304800" cy="119062"/>
            </a:xfrm>
            <a:prstGeom prst="rect">
              <a:avLst/>
            </a:prstGeom>
            <a:solidFill>
              <a:srgbClr val="63646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60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5"/>
            <p:cNvSpPr>
              <a:spLocks noChangeArrowheads="1"/>
            </p:cNvSpPr>
            <p:nvPr userDrawn="1"/>
          </p:nvSpPr>
          <p:spPr bwMode="auto">
            <a:xfrm>
              <a:off x="3443780" y="6946006"/>
              <a:ext cx="304800" cy="119062"/>
            </a:xfrm>
            <a:prstGeom prst="rect">
              <a:avLst/>
            </a:prstGeom>
            <a:solidFill>
              <a:srgbClr val="8D8E8D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40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27"/>
            <p:cNvSpPr>
              <a:spLocks noChangeArrowheads="1"/>
            </p:cNvSpPr>
            <p:nvPr userDrawn="1"/>
          </p:nvSpPr>
          <p:spPr bwMode="auto">
            <a:xfrm>
              <a:off x="396875" y="6963468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主色：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 userDrawn="1"/>
          </p:nvSpPr>
          <p:spPr bwMode="auto">
            <a:xfrm>
              <a:off x="1814826" y="6963468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辅助色：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 userDrawn="1"/>
          </p:nvSpPr>
          <p:spPr bwMode="auto">
            <a:xfrm>
              <a:off x="3826320" y="6946006"/>
              <a:ext cx="304800" cy="119062"/>
            </a:xfrm>
            <a:prstGeom prst="rect">
              <a:avLst/>
            </a:prstGeom>
            <a:solidFill>
              <a:srgbClr val="B2B3B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25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 userDrawn="1"/>
          </p:nvSpPr>
          <p:spPr bwMode="auto">
            <a:xfrm>
              <a:off x="4213961" y="6946006"/>
              <a:ext cx="304800" cy="119062"/>
            </a:xfrm>
            <a:prstGeom prst="rect">
              <a:avLst/>
            </a:prstGeom>
            <a:solidFill>
              <a:srgbClr val="EFEEED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5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8" name="Rectangle 12"/>
            <p:cNvSpPr>
              <a:spLocks noChangeArrowheads="1"/>
            </p:cNvSpPr>
            <p:nvPr userDrawn="1"/>
          </p:nvSpPr>
          <p:spPr bwMode="auto">
            <a:xfrm>
              <a:off x="5430951" y="6946006"/>
              <a:ext cx="304800" cy="11906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30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100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 userDrawn="1"/>
          </p:nvSpPr>
          <p:spPr bwMode="auto">
            <a:xfrm>
              <a:off x="5026605" y="6963468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温暖橙：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  <p:sp>
          <p:nvSpPr>
            <p:cNvPr id="20" name="Rectangle 12"/>
            <p:cNvSpPr>
              <a:spLocks noChangeArrowheads="1"/>
            </p:cNvSpPr>
            <p:nvPr userDrawn="1"/>
          </p:nvSpPr>
          <p:spPr bwMode="auto">
            <a:xfrm>
              <a:off x="6288257" y="6946006"/>
              <a:ext cx="304800" cy="119062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30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100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 userDrawn="1"/>
          </p:nvSpPr>
          <p:spPr bwMode="auto">
            <a:xfrm>
              <a:off x="5883912" y="6963468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健康绿：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  <p:sp>
          <p:nvSpPr>
            <p:cNvPr id="22" name="Rectangle 12"/>
            <p:cNvSpPr>
              <a:spLocks noChangeArrowheads="1"/>
            </p:cNvSpPr>
            <p:nvPr userDrawn="1"/>
          </p:nvSpPr>
          <p:spPr bwMode="auto">
            <a:xfrm>
              <a:off x="7146005" y="6946006"/>
              <a:ext cx="304800" cy="119062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70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 userDrawn="1"/>
          </p:nvSpPr>
          <p:spPr bwMode="auto">
            <a:xfrm>
              <a:off x="6735705" y="6963468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科技蓝：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927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  <p:sldLayoutId id="2147483650" r:id="rId4"/>
    <p:sldLayoutId id="2147483656" r:id="rId5"/>
    <p:sldLayoutId id="2147483655" r:id="rId6"/>
    <p:sldLayoutId id="2147483658" r:id="rId7"/>
    <p:sldLayoutId id="2147483659" r:id="rId8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oovy-lang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dist.springsource.org/release/GRECLIPSE/e4.4/" TargetMode="External"/><Relationship Id="rId7" Type="http://schemas.openxmlformats.org/officeDocument/2006/relationships/hyperlink" Target="http://dist.springsource.org/release/GRECLIPSE/e3.7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dist.springsource.org/release/GRECLIPSE/e4.2/" TargetMode="External"/><Relationship Id="rId5" Type="http://schemas.openxmlformats.org/officeDocument/2006/relationships/hyperlink" Target="http://dist.springsource.org/release/GRECLIPSE/e4.3-j8/" TargetMode="External"/><Relationship Id="rId4" Type="http://schemas.openxmlformats.org/officeDocument/2006/relationships/hyperlink" Target="http://dist.springsource.org/release/GRECLIPSE/e4.3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marketplace.eclipse.org/content/groovygrails-tool-suite-ggts-eclipse-luna-44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marketplace.eclipse.org/content/groovygrails-tool-suite-ggts-eclipse-luna-4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98" y="253095"/>
            <a:ext cx="8646102" cy="4569821"/>
          </a:xfrm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90975" y="4971564"/>
            <a:ext cx="7772400" cy="6473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dirty="0" smtClean="0">
                <a:cs typeface="华文黑体"/>
              </a:rPr>
              <a:t>Groovy</a:t>
            </a:r>
            <a:r>
              <a:rPr lang="zh-CN" altLang="en-US" dirty="0" smtClean="0">
                <a:cs typeface="华文黑体"/>
              </a:rPr>
              <a:t>入门分享</a:t>
            </a:r>
            <a:endParaRPr lang="en-US" dirty="0">
              <a:cs typeface="华文黑体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491200" y="5536649"/>
            <a:ext cx="6400800" cy="566456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zh-CN" altLang="en-US" sz="2000" b="1" i="1" dirty="0" smtClean="0">
                <a:cs typeface="华文黑体"/>
              </a:rPr>
              <a:t>                                                代超  </a:t>
            </a:r>
            <a:r>
              <a:rPr lang="en-US" altLang="zh-CN" sz="2000" b="1" i="1" dirty="0" smtClean="0">
                <a:cs typeface="华文黑体"/>
              </a:rPr>
              <a:t>2017-08-18</a:t>
            </a:r>
            <a:endParaRPr lang="en-US" sz="2000" b="1" i="1" dirty="0">
              <a:cs typeface="华文黑体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016" y="0"/>
            <a:ext cx="2005689" cy="100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4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322357"/>
              </p:ext>
            </p:extLst>
          </p:nvPr>
        </p:nvGraphicFramePr>
        <p:xfrm>
          <a:off x="502885" y="1098550"/>
          <a:ext cx="8143875" cy="438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381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98160" y="1252603"/>
            <a:ext cx="7764293" cy="4296696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885" y="410317"/>
            <a:ext cx="6443498" cy="554188"/>
          </a:xfrm>
        </p:spPr>
        <p:txBody>
          <a:bodyPr>
            <a:normAutofit fontScale="90000"/>
          </a:bodyPr>
          <a:lstStyle/>
          <a:p>
            <a:pPr lvl="0"/>
            <a:r>
              <a:rPr lang="en-US" altLang="zh-CN" dirty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入门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02884" y="1065475"/>
            <a:ext cx="8143589" cy="502849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419225" y="1885950"/>
            <a:ext cx="6819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Groovy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是一种基于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的面向对象的开发语言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官方网站：</a:t>
            </a:r>
            <a:r>
              <a:rPr lang="en-US" altLang="zh-CN" sz="1600" u="sng" dirty="0">
                <a:hlinkClick r:id="rId3"/>
              </a:rPr>
              <a:t>http://www.groovy-lang.org/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76349" y="143726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是什么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76350" y="244769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的特点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495425" y="2932656"/>
            <a:ext cx="6819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可以运行在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JVM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中，可以和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互相调用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同时支持静态和动态类型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支持运算符重载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对正则表达式的本地支持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各种标记语言的原生支持，如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XML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语法非常相似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Groovy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扩展了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java.lang.Object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类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9504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465545"/>
            <a:ext cx="8269640" cy="3858930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33425" y="1698979"/>
            <a:ext cx="6819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Groovy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插件环境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安装方式一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100607"/>
              </p:ext>
            </p:extLst>
          </p:nvPr>
        </p:nvGraphicFramePr>
        <p:xfrm>
          <a:off x="619124" y="2260441"/>
          <a:ext cx="8027349" cy="2606040"/>
        </p:xfrm>
        <a:graphic>
          <a:graphicData uri="http://schemas.openxmlformats.org/drawingml/2006/table">
            <a:tbl>
              <a:tblPr/>
              <a:tblGrid>
                <a:gridCol w="2133601"/>
                <a:gridCol w="5893748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Eclipse Level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Release Update Site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4.4 (Luna)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none" strike="noStrike">
                          <a:solidFill>
                            <a:srgbClr val="0366D6"/>
                          </a:solidFill>
                          <a:effectLst/>
                          <a:hlinkClick r:id="rId3"/>
                        </a:rPr>
                        <a:t>http://dist.springsource.org/release/GRECLIPSE/e4.4/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4.3 (Kepler)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none" strike="noStrike">
                          <a:solidFill>
                            <a:srgbClr val="0366D6"/>
                          </a:solidFill>
                          <a:effectLst/>
                          <a:hlinkClick r:id="rId4"/>
                        </a:rPr>
                        <a:t>http://dist.springsource.org/release/GRECLIPSE/e4.3/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4.3-8 (Kepler with Java 8)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none" strike="noStrike" dirty="0">
                          <a:solidFill>
                            <a:srgbClr val="0366D6"/>
                          </a:solidFill>
                          <a:effectLst/>
                          <a:hlinkClick r:id="rId5"/>
                        </a:rPr>
                        <a:t>http://dist.springsource.org/release/GRECLIPSE/e4.3-j8/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4.2 and 3.8 (Juno)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none" strike="noStrike">
                          <a:solidFill>
                            <a:srgbClr val="0366D6"/>
                          </a:solidFill>
                          <a:effectLst/>
                          <a:hlinkClick r:id="rId6"/>
                        </a:rPr>
                        <a:t>http://dist.springsource.org/release/GRECLIPSE/e4.2/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3.7 (Indigo)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u="none" strike="noStrike" dirty="0">
                          <a:solidFill>
                            <a:srgbClr val="0366D6"/>
                          </a:solidFill>
                          <a:effectLst/>
                          <a:hlinkClick r:id="rId7"/>
                        </a:rPr>
                        <a:t>http://dist.springsource.org/release/GRECLIPSE/e3.7/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2542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137004"/>
            <a:ext cx="8269640" cy="5292371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28650" y="1218089"/>
            <a:ext cx="6819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Groovy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插件环境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安装方式二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8650" y="1547935"/>
            <a:ext cx="8017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hlinkClick r:id="rId3"/>
              </a:rPr>
              <a:t>http</a:t>
            </a:r>
            <a:r>
              <a:rPr lang="en-US" altLang="zh-CN" sz="1600" dirty="0">
                <a:hlinkClick r:id="rId3"/>
              </a:rPr>
              <a:t>://</a:t>
            </a:r>
            <a:r>
              <a:rPr lang="en-US" altLang="zh-CN" sz="1600" dirty="0" smtClean="0">
                <a:hlinkClick r:id="rId3"/>
              </a:rPr>
              <a:t>marketplace.eclipse.org/content/groovygrails-tool-suite-ggts-eclipse-luna-44</a:t>
            </a:r>
            <a:endParaRPr lang="zh-CN" altLang="en-US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7" y="1886489"/>
            <a:ext cx="8420019" cy="39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692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228725"/>
            <a:ext cx="8269640" cy="4514850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28649" y="1622495"/>
            <a:ext cx="6819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Groovy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插件环境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安装方式二（续）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8649" y="2081335"/>
            <a:ext cx="80178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hlinkClick r:id="rId3"/>
              </a:rPr>
              <a:t>http</a:t>
            </a:r>
            <a:r>
              <a:rPr lang="en-US" altLang="zh-CN" sz="1600" dirty="0">
                <a:hlinkClick r:id="rId3"/>
              </a:rPr>
              <a:t>://</a:t>
            </a:r>
            <a:r>
              <a:rPr lang="en-US" altLang="zh-CN" sz="1600" dirty="0" smtClean="0">
                <a:hlinkClick r:id="rId3"/>
              </a:rPr>
              <a:t>marketplace.eclipse.org/content/groovygrails-tool-suite-ggts-eclipse-luna-44</a:t>
            </a:r>
            <a:endParaRPr lang="zh-CN" alt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2709863"/>
            <a:ext cx="6684963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9580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环境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228725"/>
            <a:ext cx="8269640" cy="5067300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9" y="1315937"/>
            <a:ext cx="4748212" cy="486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6706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基本语法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228725"/>
            <a:ext cx="8269640" cy="4648200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66749" y="1273031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版本的</a:t>
            </a:r>
            <a:r>
              <a:rPr lang="en-US" altLang="zh-CN" dirty="0" smtClean="0"/>
              <a:t>Hello World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88" y="1819275"/>
            <a:ext cx="4505325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1958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基本语法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228725"/>
            <a:ext cx="8269640" cy="4648200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66749" y="1568306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默认导入的代码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27755" y="2304006"/>
            <a:ext cx="68199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import java.lang</a:t>
            </a:r>
            <a:r>
              <a:rPr lang="en-US" altLang="zh-CN" sz="1600" dirty="0" smtClean="0"/>
              <a:t>.*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import java.util</a:t>
            </a:r>
            <a:r>
              <a:rPr lang="en-US" altLang="zh-CN" sz="1600" dirty="0" smtClean="0"/>
              <a:t>.*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import java.io</a:t>
            </a:r>
            <a:r>
              <a:rPr lang="en-US" altLang="zh-CN" sz="1600" dirty="0" smtClean="0"/>
              <a:t>.*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import java.net</a:t>
            </a:r>
            <a:r>
              <a:rPr lang="en-US" altLang="zh-CN" sz="1600" dirty="0" smtClean="0"/>
              <a:t>.*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import groovy.lang</a:t>
            </a:r>
            <a:r>
              <a:rPr lang="en-US" altLang="zh-CN" sz="1600" dirty="0" smtClean="0"/>
              <a:t>.*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import groovy.util</a:t>
            </a:r>
            <a:r>
              <a:rPr lang="en-US" altLang="zh-CN" sz="1600" dirty="0" smtClean="0"/>
              <a:t>.*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import </a:t>
            </a:r>
            <a:r>
              <a:rPr lang="en-US" altLang="zh-CN" sz="1600" dirty="0" err="1" smtClean="0"/>
              <a:t>java.math.BigInteger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/>
              <a:t>import </a:t>
            </a:r>
            <a:r>
              <a:rPr lang="en-US" altLang="zh-CN" sz="1600" dirty="0" err="1"/>
              <a:t>java.math.BigDecimal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490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基本语法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228725"/>
            <a:ext cx="8269640" cy="4648200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66749" y="1568306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关键字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866600"/>
              </p:ext>
            </p:extLst>
          </p:nvPr>
        </p:nvGraphicFramePr>
        <p:xfrm>
          <a:off x="666748" y="2475861"/>
          <a:ext cx="8020052" cy="2774640"/>
        </p:xfrm>
        <a:graphic>
          <a:graphicData uri="http://schemas.openxmlformats.org/drawingml/2006/table">
            <a:tbl>
              <a:tblPr/>
              <a:tblGrid>
                <a:gridCol w="2005013"/>
                <a:gridCol w="2005013"/>
                <a:gridCol w="2005013"/>
                <a:gridCol w="2005013"/>
              </a:tblGrid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as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assert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break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case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catch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class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const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continue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def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default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do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else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enum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extends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false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Finally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for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goto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if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implements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import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in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instanceof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interface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new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pull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package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return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super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switch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this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throw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throws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trait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true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try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while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 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 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 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674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基本语法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228725"/>
            <a:ext cx="8269640" cy="4648200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1352550"/>
            <a:ext cx="6913563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0267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123950"/>
            <a:ext cx="8269640" cy="4905375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75355" y="1569653"/>
            <a:ext cx="68199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byte</a:t>
            </a:r>
            <a:r>
              <a:rPr lang="zh-CN" altLang="en-US" sz="1600" dirty="0" smtClean="0"/>
              <a:t>（</a:t>
            </a:r>
            <a:r>
              <a:rPr lang="en-US" altLang="zh-CN" sz="1600" dirty="0" smtClean="0"/>
              <a:t>-128</a:t>
            </a:r>
            <a:r>
              <a:rPr lang="zh-CN" altLang="en-US" sz="1600" dirty="0" smtClean="0"/>
              <a:t>到</a:t>
            </a:r>
            <a:r>
              <a:rPr lang="en-US" altLang="zh-CN" sz="1600" dirty="0" smtClean="0"/>
              <a:t>127</a:t>
            </a:r>
            <a:r>
              <a:rPr lang="zh-CN" altLang="en-US" sz="1600" dirty="0" smtClean="0"/>
              <a:t>）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short</a:t>
            </a:r>
            <a:r>
              <a:rPr lang="zh-CN" altLang="en-US" sz="1600" dirty="0" smtClean="0"/>
              <a:t>（</a:t>
            </a:r>
            <a:r>
              <a:rPr lang="en-US" altLang="zh-CN" sz="1600" dirty="0" smtClean="0"/>
              <a:t>-32768</a:t>
            </a:r>
            <a:r>
              <a:rPr lang="zh-CN" altLang="en-US" sz="1600" dirty="0" smtClean="0"/>
              <a:t>到</a:t>
            </a:r>
            <a:r>
              <a:rPr lang="en-US" altLang="zh-CN" sz="1600" dirty="0" smtClean="0"/>
              <a:t>32767</a:t>
            </a:r>
            <a:r>
              <a:rPr lang="zh-CN" altLang="en-US" sz="1600" dirty="0" smtClean="0"/>
              <a:t>）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int</a:t>
            </a:r>
            <a:r>
              <a:rPr lang="zh-CN" altLang="en-US" sz="1600" dirty="0" smtClean="0"/>
              <a:t>（</a:t>
            </a:r>
            <a:r>
              <a:rPr lang="en-US" altLang="zh-CN" sz="1600" dirty="0" smtClean="0"/>
              <a:t>-2^31</a:t>
            </a:r>
            <a:r>
              <a:rPr lang="zh-CN" altLang="en-US" sz="1600" dirty="0" smtClean="0"/>
              <a:t>到</a:t>
            </a:r>
            <a:r>
              <a:rPr lang="en-US" altLang="zh-CN" sz="1600" dirty="0" smtClean="0"/>
              <a:t>2^31-1</a:t>
            </a:r>
            <a:r>
              <a:rPr lang="zh-CN" altLang="en-US" sz="1600" dirty="0" smtClean="0"/>
              <a:t>）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long</a:t>
            </a:r>
            <a:r>
              <a:rPr lang="zh-CN" altLang="en-US" sz="1600" dirty="0"/>
              <a:t>（</a:t>
            </a:r>
            <a:r>
              <a:rPr lang="en-US" altLang="zh-CN" sz="1600" dirty="0"/>
              <a:t>-</a:t>
            </a:r>
            <a:r>
              <a:rPr lang="en-US" altLang="zh-CN" sz="1600" dirty="0" smtClean="0"/>
              <a:t>2^63</a:t>
            </a:r>
            <a:r>
              <a:rPr lang="zh-CN" altLang="en-US" sz="1600" dirty="0" smtClean="0"/>
              <a:t>到</a:t>
            </a:r>
            <a:r>
              <a:rPr lang="en-US" altLang="zh-CN" sz="1600" dirty="0" smtClean="0"/>
              <a:t>2^63-1</a:t>
            </a:r>
            <a:r>
              <a:rPr lang="zh-CN" altLang="en-US" sz="1600" dirty="0" smtClean="0"/>
              <a:t>）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float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double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char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boolean</a:t>
            </a:r>
            <a:endParaRPr lang="en-US" altLang="zh-CN" sz="1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752474" y="1200321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基本数据类型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38174" y="3631756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类类型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75355" y="4001676"/>
            <a:ext cx="68199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java.lang.Byte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java.lang.Short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java.lang.Integer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java.lang.Long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java.lang.Float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java.lang.Double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java.math.BigInteger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/>
              <a:t>java.math.BigDecimal</a:t>
            </a:r>
            <a:endParaRPr lang="en-US" altLang="zh-CN" sz="1600" dirty="0" smtClean="0"/>
          </a:p>
        </p:txBody>
      </p:sp>
    </p:spTree>
    <p:extLst>
      <p:ext uri="{BB962C8B-B14F-4D97-AF65-F5344CB8AC3E}">
        <p14:creationId xmlns:p14="http://schemas.microsoft.com/office/powerpoint/2010/main" val="3512372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数据类型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228725"/>
            <a:ext cx="8269640" cy="4800600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088" y="1504950"/>
            <a:ext cx="4200525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155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228725"/>
            <a:ext cx="8269640" cy="4800600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2474" y="1363965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变量的声明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75355" y="1855403"/>
            <a:ext cx="6819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直接使用数据类型声明一个变量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使用</a:t>
            </a:r>
            <a:r>
              <a:rPr lang="en-US" altLang="zh-CN" sz="1600" dirty="0" err="1" smtClean="0"/>
              <a:t>def</a:t>
            </a:r>
            <a:r>
              <a:rPr lang="zh-CN" altLang="en-US" sz="1600" dirty="0" smtClean="0"/>
              <a:t>声明一个变量</a:t>
            </a:r>
            <a:endParaRPr lang="en-US" altLang="zh-CN" sz="1600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63" y="2514600"/>
            <a:ext cx="381952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7811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/>
              <a:t>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438274"/>
            <a:ext cx="8269640" cy="4486275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27755" y="2334427"/>
            <a:ext cx="68199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算术运算符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关系运算符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逻辑运算符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位运算符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赋值运算符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范围运算符</a:t>
            </a:r>
            <a:endParaRPr lang="en-US" altLang="zh-CN" sz="16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923924" y="1733297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运算符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513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/>
              <a:t>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438274"/>
            <a:ext cx="8269640" cy="4486275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23924" y="1733297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算术运算符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17962"/>
              </p:ext>
            </p:extLst>
          </p:nvPr>
        </p:nvGraphicFramePr>
        <p:xfrm>
          <a:off x="740723" y="2296125"/>
          <a:ext cx="7905750" cy="3438912"/>
        </p:xfrm>
        <a:graphic>
          <a:graphicData uri="http://schemas.openxmlformats.org/drawingml/2006/table">
            <a:tbl>
              <a:tblPr/>
              <a:tblGrid>
                <a:gridCol w="2635250"/>
                <a:gridCol w="2635250"/>
                <a:gridCol w="2635250"/>
              </a:tblGrid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b="1" dirty="0">
                          <a:effectLst/>
                        </a:rPr>
                        <a:t>运算符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b="1" dirty="0">
                          <a:effectLst/>
                        </a:rPr>
                        <a:t>描述</a:t>
                      </a:r>
                      <a:endParaRPr lang="zh-CN" altLang="en-US" sz="1600" dirty="0">
                        <a:effectLst/>
                      </a:endParaRP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b="1">
                          <a:effectLst/>
                        </a:rPr>
                        <a:t>例子</a:t>
                      </a:r>
                      <a:endParaRPr lang="zh-CN" altLang="en-US" sz="1600">
                        <a:effectLst/>
                      </a:endParaRP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+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两个操作数的加法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 + 2 </a:t>
                      </a:r>
                      <a:r>
                        <a:rPr lang="zh-CN" altLang="en-US" sz="1600">
                          <a:effectLst/>
                        </a:rPr>
                        <a:t>将得到 </a:t>
                      </a:r>
                      <a:r>
                        <a:rPr lang="en-US" altLang="zh-CN" sz="1600">
                          <a:effectLst/>
                        </a:rPr>
                        <a:t>3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818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-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第一第二操作数相减</a:t>
                      </a:r>
                      <a:br>
                        <a:rPr lang="zh-CN" altLang="en-US" sz="1600">
                          <a:effectLst/>
                        </a:rPr>
                      </a:br>
                      <a:endParaRPr lang="zh-CN" altLang="en-US" sz="1600">
                        <a:effectLst/>
                      </a:endParaRP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2 - 1 </a:t>
                      </a:r>
                      <a:r>
                        <a:rPr lang="zh-CN" altLang="en-US" sz="1600">
                          <a:effectLst/>
                        </a:rPr>
                        <a:t>将得到 </a:t>
                      </a:r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*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两个操作数的乘法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2 * 2 </a:t>
                      </a:r>
                      <a:r>
                        <a:rPr lang="zh-CN" altLang="en-US" sz="1600">
                          <a:effectLst/>
                        </a:rPr>
                        <a:t>将得到</a:t>
                      </a:r>
                      <a:r>
                        <a:rPr lang="en-US" altLang="zh-CN" sz="1600">
                          <a:effectLst/>
                        </a:rPr>
                        <a:t>4 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/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两个操作数的除法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3/2 </a:t>
                      </a:r>
                      <a:r>
                        <a:rPr lang="zh-CN" altLang="en-US" sz="1600">
                          <a:effectLst/>
                        </a:rPr>
                        <a:t>将得到 </a:t>
                      </a:r>
                      <a:r>
                        <a:rPr lang="en-US" altLang="zh-CN" sz="1600">
                          <a:effectLst/>
                        </a:rPr>
                        <a:t>1.5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％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取模运算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3</a:t>
                      </a:r>
                      <a:r>
                        <a:rPr lang="zh-CN" altLang="en-US" sz="1600">
                          <a:effectLst/>
                        </a:rPr>
                        <a:t>％</a:t>
                      </a:r>
                      <a:r>
                        <a:rPr lang="en-US" altLang="zh-CN" sz="1600">
                          <a:effectLst/>
                        </a:rPr>
                        <a:t>2 </a:t>
                      </a:r>
                      <a:r>
                        <a:rPr lang="zh-CN" altLang="en-US" sz="1600">
                          <a:effectLst/>
                        </a:rPr>
                        <a:t>将得到 </a:t>
                      </a:r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914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++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自增运算，在自身值的基础上加</a:t>
                      </a:r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INT X = 5;</a:t>
                      </a:r>
                    </a:p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X ++;</a:t>
                      </a:r>
                    </a:p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X </a:t>
                      </a:r>
                      <a:r>
                        <a:rPr lang="zh-CN" altLang="en-US" sz="1600">
                          <a:solidFill>
                            <a:srgbClr val="000000"/>
                          </a:solidFill>
                          <a:effectLst/>
                        </a:rPr>
                        <a:t>将得到 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914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--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自减运算</a:t>
                      </a:r>
                      <a:r>
                        <a:rPr lang="en-US" altLang="zh-CN" sz="1600">
                          <a:effectLst/>
                        </a:rPr>
                        <a:t>,</a:t>
                      </a:r>
                      <a:r>
                        <a:rPr lang="zh-CN" altLang="en-US" sz="1600">
                          <a:effectLst/>
                        </a:rPr>
                        <a:t>在自身值的基础上减</a:t>
                      </a:r>
                      <a:r>
                        <a:rPr lang="en-US" altLang="zh-CN" sz="1600">
                          <a:effectLst/>
                        </a:rPr>
                        <a:t>1</a:t>
                      </a:r>
                      <a:br>
                        <a:rPr lang="en-US" altLang="zh-CN" sz="1600">
                          <a:effectLst/>
                        </a:rPr>
                      </a:br>
                      <a:endParaRPr lang="en-US" altLang="zh-CN" sz="1600">
                        <a:effectLst/>
                      </a:endParaRP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INT X = 5;</a:t>
                      </a:r>
                    </a:p>
                    <a:p>
                      <a:pPr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X - -;</a:t>
                      </a:r>
                    </a:p>
                    <a:p>
                      <a:pPr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X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将得到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046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/>
              <a:t>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642363"/>
            <a:ext cx="8269640" cy="4282186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6267" y="1917963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关系运算符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476842"/>
              </p:ext>
            </p:extLst>
          </p:nvPr>
        </p:nvGraphicFramePr>
        <p:xfrm>
          <a:off x="756267" y="2632977"/>
          <a:ext cx="7762875" cy="2917608"/>
        </p:xfrm>
        <a:graphic>
          <a:graphicData uri="http://schemas.openxmlformats.org/drawingml/2006/table">
            <a:tbl>
              <a:tblPr/>
              <a:tblGrid>
                <a:gridCol w="2587625"/>
                <a:gridCol w="2587625"/>
                <a:gridCol w="2587625"/>
              </a:tblGrid>
              <a:tr h="275721"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运算符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描述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例子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>
                          <a:effectLst/>
                        </a:rPr>
                        <a:t>==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测试两个对象之间是否相等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2 == 2 </a:t>
                      </a:r>
                      <a:r>
                        <a:rPr lang="zh-CN" altLang="en-US" sz="1600">
                          <a:effectLst/>
                        </a:rPr>
                        <a:t>将得到 </a:t>
                      </a:r>
                      <a:r>
                        <a:rPr lang="en-US" sz="1600">
                          <a:effectLst/>
                        </a:rPr>
                        <a:t>true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>
                          <a:effectLst/>
                        </a:rPr>
                        <a:t>!=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测试两个对象之间是否不等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3 != 2 </a:t>
                      </a:r>
                      <a:r>
                        <a:rPr lang="zh-CN" altLang="en-US" sz="1600">
                          <a:effectLst/>
                        </a:rPr>
                        <a:t>将得到 </a:t>
                      </a:r>
                      <a:r>
                        <a:rPr lang="en-US" sz="1600">
                          <a:effectLst/>
                        </a:rPr>
                        <a:t>true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81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>
                          <a:effectLst/>
                        </a:rPr>
                        <a:t>&lt;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检查是否左边的对象是小于右边的对象。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2 &lt; 3 </a:t>
                      </a:r>
                      <a:r>
                        <a:rPr lang="zh-CN" altLang="en-US" sz="1600">
                          <a:effectLst/>
                        </a:rPr>
                        <a:t>将得到 </a:t>
                      </a:r>
                      <a:r>
                        <a:rPr lang="en-US" sz="1600">
                          <a:effectLst/>
                        </a:rPr>
                        <a:t>true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81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>
                          <a:effectLst/>
                        </a:rPr>
                        <a:t>&lt;=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检查是否向左对象是小于或等于右边的对象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2 &lt;= 3 </a:t>
                      </a:r>
                      <a:r>
                        <a:rPr lang="zh-CN" altLang="en-US" sz="1600">
                          <a:effectLst/>
                        </a:rPr>
                        <a:t>将得到 </a:t>
                      </a:r>
                      <a:r>
                        <a:rPr lang="en-US" sz="1600">
                          <a:effectLst/>
                        </a:rPr>
                        <a:t>true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81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>
                          <a:effectLst/>
                        </a:rPr>
                        <a:t>&gt;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检查是否左边的对象比右边的对象大。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3 &gt; 2 </a:t>
                      </a:r>
                      <a:r>
                        <a:rPr lang="zh-CN" altLang="en-US" sz="1600">
                          <a:effectLst/>
                        </a:rPr>
                        <a:t>将得到 </a:t>
                      </a:r>
                      <a:r>
                        <a:rPr lang="en-US" sz="1600">
                          <a:effectLst/>
                        </a:rPr>
                        <a:t>true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7818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600">
                          <a:effectLst/>
                        </a:rPr>
                        <a:t>&gt;=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检查是否向左对象大于或等于右边的对象。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dirty="0">
                          <a:effectLst/>
                        </a:rPr>
                        <a:t>3&gt;= 2 </a:t>
                      </a:r>
                      <a:r>
                        <a:rPr lang="zh-CN" altLang="en-US" sz="1600" dirty="0">
                          <a:effectLst/>
                        </a:rPr>
                        <a:t>将得到 </a:t>
                      </a:r>
                      <a:r>
                        <a:rPr lang="en-US" sz="1600" dirty="0">
                          <a:effectLst/>
                        </a:rPr>
                        <a:t>true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9524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/>
              <a:t>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642363"/>
            <a:ext cx="8269640" cy="3748787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6267" y="1917963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逻辑运算符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147419"/>
              </p:ext>
            </p:extLst>
          </p:nvPr>
        </p:nvGraphicFramePr>
        <p:xfrm>
          <a:off x="756267" y="2673600"/>
          <a:ext cx="7858125" cy="1109856"/>
        </p:xfrm>
        <a:graphic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</a:tblGrid>
              <a:tr h="275721"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运算符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描述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例子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&amp;&amp;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这是逻辑“与”运算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true &amp;&amp; true </a:t>
                      </a:r>
                      <a:r>
                        <a:rPr lang="zh-CN" altLang="en-US" sz="1600">
                          <a:effectLst/>
                        </a:rPr>
                        <a:t>得到 </a:t>
                      </a:r>
                      <a:r>
                        <a:rPr lang="en-US" sz="1600">
                          <a:effectLst/>
                        </a:rPr>
                        <a:t>true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||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这是逻辑“或”运算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true || true </a:t>
                      </a:r>
                      <a:r>
                        <a:rPr lang="zh-CN" altLang="en-US" sz="1600">
                          <a:effectLst/>
                        </a:rPr>
                        <a:t>得到 </a:t>
                      </a:r>
                      <a:r>
                        <a:rPr lang="en-US" sz="1600">
                          <a:effectLst/>
                        </a:rPr>
                        <a:t>true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！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这是逻辑“非”运算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</a:rPr>
                        <a:t>!true </a:t>
                      </a:r>
                      <a:r>
                        <a:rPr lang="zh-CN" altLang="en-US" sz="1600" dirty="0">
                          <a:effectLst/>
                        </a:rPr>
                        <a:t>得到 </a:t>
                      </a:r>
                      <a:r>
                        <a:rPr lang="en-US" sz="1600" dirty="0">
                          <a:effectLst/>
                        </a:rPr>
                        <a:t>false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2851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/>
              <a:t>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642363"/>
            <a:ext cx="8269640" cy="4451606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6267" y="1917963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位运算符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47292"/>
              </p:ext>
            </p:extLst>
          </p:nvPr>
        </p:nvGraphicFramePr>
        <p:xfrm>
          <a:off x="672438" y="2342141"/>
          <a:ext cx="7930534" cy="1387320"/>
        </p:xfrm>
        <a:graphic>
          <a:graphicData uri="http://schemas.openxmlformats.org/drawingml/2006/table">
            <a:tbl>
              <a:tblPr/>
              <a:tblGrid>
                <a:gridCol w="3965267"/>
                <a:gridCol w="3965267"/>
              </a:tblGrid>
              <a:tr h="2757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</a:rPr>
                        <a:t>运算符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effectLst/>
                        </a:rPr>
                        <a:t>描述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＆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这是位“与”运算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|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这是按位“或”运算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^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这是按位“异或”或异或运算符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〜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这是按位反运算符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865081"/>
              </p:ext>
            </p:extLst>
          </p:nvPr>
        </p:nvGraphicFramePr>
        <p:xfrm>
          <a:off x="586712" y="4544451"/>
          <a:ext cx="8016260" cy="1387320"/>
        </p:xfrm>
        <a:graphic>
          <a:graphicData uri="http://schemas.openxmlformats.org/drawingml/2006/table">
            <a:tbl>
              <a:tblPr/>
              <a:tblGrid>
                <a:gridCol w="1603252"/>
                <a:gridCol w="1603252"/>
                <a:gridCol w="1603252"/>
                <a:gridCol w="1603252"/>
                <a:gridCol w="1603252"/>
              </a:tblGrid>
              <a:tr h="2757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p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q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p＆Q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 | q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 ^ Q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0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0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0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0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0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0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dirty="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0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0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572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0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0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600" dirty="0">
                          <a:effectLst/>
                        </a:rPr>
                        <a:t>1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2438" y="4080138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位运算结果真假表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2969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/>
              <a:t>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133475"/>
            <a:ext cx="8269640" cy="4960494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6266" y="1273031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赋值运算符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365337"/>
              </p:ext>
            </p:extLst>
          </p:nvPr>
        </p:nvGraphicFramePr>
        <p:xfrm>
          <a:off x="715940" y="1874760"/>
          <a:ext cx="7930533" cy="4103184"/>
        </p:xfrm>
        <a:graphic>
          <a:graphicData uri="http://schemas.openxmlformats.org/drawingml/2006/table">
            <a:tbl>
              <a:tblPr/>
              <a:tblGrid>
                <a:gridCol w="2643511"/>
                <a:gridCol w="2643511"/>
                <a:gridCol w="2643511"/>
              </a:tblGrid>
              <a:tr h="275721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effectLst/>
                        </a:rPr>
                        <a:t>运算符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描述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effectLst/>
                        </a:rPr>
                        <a:t>例子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914">
                <a:tc>
                  <a:txBody>
                    <a:bodyPr/>
                    <a:lstStyle/>
                    <a:p>
                      <a:pPr fontAlgn="ctr"/>
                      <a:r>
                        <a:rPr lang="en-US" altLang="zh-CN" sz="1600">
                          <a:effectLst/>
                        </a:rPr>
                        <a:t>+=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A += B 等价于 A = A+B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DEF A = 5</a:t>
                      </a:r>
                    </a:p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A += 3</a:t>
                      </a:r>
                    </a:p>
                    <a:p>
                      <a:pPr fontAlgn="t"/>
                      <a:r>
                        <a:rPr lang="zh-CN" altLang="en-US" sz="1600">
                          <a:solidFill>
                            <a:srgbClr val="000000"/>
                          </a:solidFill>
                          <a:effectLst/>
                        </a:rPr>
                        <a:t>输出将是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914">
                <a:tc>
                  <a:txBody>
                    <a:bodyPr/>
                    <a:lstStyle/>
                    <a:p>
                      <a:pPr fontAlgn="ctr"/>
                      <a:r>
                        <a:rPr lang="en-US" altLang="zh-CN" sz="1600">
                          <a:effectLst/>
                        </a:rPr>
                        <a:t>-=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A -= B 等价于 A = A-B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DEF A = 5</a:t>
                      </a:r>
                    </a:p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A -= 3</a:t>
                      </a:r>
                    </a:p>
                    <a:p>
                      <a:pPr fontAlgn="t"/>
                      <a:r>
                        <a:rPr lang="zh-CN" altLang="en-US" sz="1600">
                          <a:solidFill>
                            <a:srgbClr val="000000"/>
                          </a:solidFill>
                          <a:effectLst/>
                        </a:rPr>
                        <a:t>输出将是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914">
                <a:tc>
                  <a:txBody>
                    <a:bodyPr/>
                    <a:lstStyle/>
                    <a:p>
                      <a:pPr fontAlgn="ctr"/>
                      <a:r>
                        <a:rPr lang="zh-CN" altLang="en-US" sz="1600">
                          <a:effectLst/>
                        </a:rPr>
                        <a:t>*</a:t>
                      </a:r>
                      <a:r>
                        <a:rPr lang="en-US" altLang="zh-CN" sz="1600">
                          <a:effectLst/>
                        </a:rPr>
                        <a:t>=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A *= B 等价于 A= A*B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DEF A = 5</a:t>
                      </a:r>
                    </a:p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A *= 3</a:t>
                      </a:r>
                    </a:p>
                    <a:p>
                      <a:pPr fontAlgn="t"/>
                      <a:r>
                        <a:rPr lang="zh-CN" altLang="en-US" sz="1600">
                          <a:solidFill>
                            <a:srgbClr val="000000"/>
                          </a:solidFill>
                          <a:effectLst/>
                        </a:rPr>
                        <a:t>输出将是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914">
                <a:tc>
                  <a:txBody>
                    <a:bodyPr/>
                    <a:lstStyle/>
                    <a:p>
                      <a:pPr fontAlgn="ctr"/>
                      <a:r>
                        <a:rPr lang="en-US" altLang="zh-CN" sz="1600">
                          <a:effectLst/>
                        </a:rPr>
                        <a:t>/=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>
                          <a:effectLst/>
                        </a:rPr>
                        <a:t>A /= B 等价于 A = A/B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DEF A = 6</a:t>
                      </a:r>
                    </a:p>
                    <a:p>
                      <a:pPr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</a:rPr>
                        <a:t>A /= 3</a:t>
                      </a:r>
                    </a:p>
                    <a:p>
                      <a:pPr fontAlgn="t"/>
                      <a:r>
                        <a:rPr lang="zh-CN" altLang="en-US" sz="1600">
                          <a:solidFill>
                            <a:srgbClr val="000000"/>
                          </a:solidFill>
                          <a:effectLst/>
                        </a:rPr>
                        <a:t>输出将是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914">
                <a:tc>
                  <a:txBody>
                    <a:bodyPr/>
                    <a:lstStyle/>
                    <a:p>
                      <a:pPr fontAlgn="ctr"/>
                      <a:r>
                        <a:rPr lang="en-US" altLang="zh-CN" sz="1600">
                          <a:effectLst/>
                        </a:rPr>
                        <a:t>(%)=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pt-BR" sz="1600" dirty="0">
                          <a:effectLst/>
                        </a:rPr>
                        <a:t>A (%)= B 等价于 A = A % B</a:t>
                      </a:r>
                    </a:p>
                  </a:txBody>
                  <a:tcPr marL="33625" marR="33625" marT="16812" marB="16812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DEF A = 5</a:t>
                      </a:r>
                    </a:p>
                    <a:p>
                      <a:pPr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</a:rPr>
                        <a:t>A %= 3</a:t>
                      </a:r>
                    </a:p>
                    <a:p>
                      <a:pPr fontAlgn="t"/>
                      <a:r>
                        <a:rPr lang="zh-CN" altLang="en-US" sz="1600" dirty="0">
                          <a:solidFill>
                            <a:srgbClr val="000000"/>
                          </a:solidFill>
                          <a:effectLst/>
                        </a:rPr>
                        <a:t>输出将是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</a:p>
                  </a:txBody>
                  <a:tcPr marL="33625" marR="33625" marT="16812" marB="16812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075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/>
              <a:t>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514475"/>
            <a:ext cx="8269640" cy="4010025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6266" y="1787381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范围运算符</a:t>
            </a:r>
            <a:endParaRPr lang="zh-CN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325" y="2319338"/>
            <a:ext cx="36195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0669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/>
              <a:t>循环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514475"/>
            <a:ext cx="8269640" cy="4371975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6266" y="1787381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循环方式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56265" y="4121006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循环控制语句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03930" y="2325704"/>
            <a:ext cx="6819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while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for-in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7755" y="4653331"/>
            <a:ext cx="68199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break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3219709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/>
              <a:t>循环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514475"/>
            <a:ext cx="8269640" cy="4371975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0" y="2447925"/>
            <a:ext cx="489585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337290" y="1796906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For-in</a:t>
            </a:r>
            <a:r>
              <a:rPr lang="zh-CN" altLang="en-US" dirty="0" smtClean="0"/>
              <a:t>循环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733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/>
              <a:t>条件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514475"/>
            <a:ext cx="8269640" cy="3895725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13390" y="1784062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条件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03930" y="2325704"/>
            <a:ext cx="6819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If/else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switch</a:t>
            </a:r>
          </a:p>
        </p:txBody>
      </p:sp>
    </p:spTree>
    <p:extLst>
      <p:ext uri="{BB962C8B-B14F-4D97-AF65-F5344CB8AC3E}">
        <p14:creationId xmlns:p14="http://schemas.microsoft.com/office/powerpoint/2010/main" val="1608299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514475"/>
            <a:ext cx="8269640" cy="3895725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13390" y="1784062"/>
            <a:ext cx="352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方法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03930" y="2325704"/>
            <a:ext cx="6819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可以使用</a:t>
            </a:r>
            <a:r>
              <a:rPr lang="en-US" altLang="zh-CN" sz="1600" dirty="0" err="1" smtClean="0"/>
              <a:t>def</a:t>
            </a:r>
            <a:r>
              <a:rPr lang="zh-CN" altLang="en-US" sz="1600" dirty="0" smtClean="0"/>
              <a:t>定义方法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可以设置方法的修饰符，默认修饰符为</a:t>
            </a:r>
            <a:r>
              <a:rPr lang="en-US" altLang="zh-CN" sz="1600" dirty="0" smtClean="0"/>
              <a:t>public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方法可以接收任意数量的参数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参数可以无需显式定义类型</a:t>
            </a:r>
            <a:endParaRPr lang="en-US" altLang="zh-CN" sz="1600" dirty="0" smtClean="0"/>
          </a:p>
        </p:txBody>
      </p:sp>
    </p:spTree>
    <p:extLst>
      <p:ext uri="{BB962C8B-B14F-4D97-AF65-F5344CB8AC3E}">
        <p14:creationId xmlns:p14="http://schemas.microsoft.com/office/powerpoint/2010/main" val="14958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/>
              <a:t>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66" y="1195227"/>
            <a:ext cx="7000875" cy="5139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685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IO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02884" y="1642362"/>
            <a:ext cx="8143589" cy="445160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6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4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2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0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9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 smtClean="0"/>
              <a:t> 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02885" y="1514475"/>
            <a:ext cx="8269640" cy="4371975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6266" y="1787381"/>
            <a:ext cx="657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提供了更方便的辅助方法来处理文件</a:t>
            </a:r>
            <a:r>
              <a:rPr lang="en-US" altLang="zh-CN" dirty="0" smtClean="0"/>
              <a:t>IO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56265" y="4278537"/>
            <a:ext cx="487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可以使用标准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的</a:t>
            </a:r>
            <a:r>
              <a:rPr lang="en-US" altLang="zh-CN" dirty="0" smtClean="0"/>
              <a:t>IO</a:t>
            </a:r>
            <a:r>
              <a:rPr lang="zh-CN" altLang="en-US" dirty="0" smtClean="0"/>
              <a:t>类来操作文件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03930" y="2325704"/>
            <a:ext cx="6819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读取文件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写入文件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遍历文件树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 smtClean="0"/>
              <a:t>读</a:t>
            </a:r>
            <a:r>
              <a:rPr lang="en-US" altLang="zh-CN" sz="1600" dirty="0" smtClean="0"/>
              <a:t>/</a:t>
            </a:r>
            <a:r>
              <a:rPr lang="zh-CN" altLang="en-US" sz="1600" dirty="0" smtClean="0"/>
              <a:t>写数据到文件</a:t>
            </a:r>
            <a:endParaRPr lang="en-US" altLang="zh-CN" sz="16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1227755" y="4653331"/>
            <a:ext cx="6819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java.io.File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java.io.InputStream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java.io.OutputStream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java.io.Reder</a:t>
            </a:r>
            <a:endParaRPr lang="en-US" altLang="zh-CN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 err="1" smtClean="0"/>
              <a:t>java.io.Writer</a:t>
            </a:r>
            <a:endParaRPr lang="en-US" altLang="zh-CN" sz="1600" dirty="0" smtClean="0"/>
          </a:p>
        </p:txBody>
      </p:sp>
    </p:spTree>
    <p:extLst>
      <p:ext uri="{BB962C8B-B14F-4D97-AF65-F5344CB8AC3E}">
        <p14:creationId xmlns:p14="http://schemas.microsoft.com/office/powerpoint/2010/main" val="56862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IO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02884" y="1642362"/>
            <a:ext cx="8143589" cy="445160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6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4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2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0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9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 smtClean="0"/>
              <a:t> 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02885" y="1152525"/>
            <a:ext cx="8269640" cy="4941444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70541" y="1457696"/>
            <a:ext cx="2434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读文件</a:t>
            </a:r>
            <a:endParaRPr lang="zh-CN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514" y="1289277"/>
            <a:ext cx="3890962" cy="4667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798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文件</a:t>
            </a:r>
            <a:r>
              <a:rPr lang="en-US" altLang="zh-CN" dirty="0" smtClean="0"/>
              <a:t>IO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02884" y="1642362"/>
            <a:ext cx="8143589" cy="445160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6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4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2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0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9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 smtClean="0"/>
              <a:t> 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02885" y="1152525"/>
            <a:ext cx="8269640" cy="4941444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70541" y="1457696"/>
            <a:ext cx="2434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写文件</a:t>
            </a:r>
            <a:endParaRPr lang="zh-CN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813" y="1041972"/>
            <a:ext cx="6081712" cy="511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70541" y="3498833"/>
            <a:ext cx="2434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文件属性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70541" y="5241908"/>
            <a:ext cx="2434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文件复制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7902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可选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02884" y="1642362"/>
            <a:ext cx="8143589" cy="445160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6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4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2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0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9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 smtClean="0"/>
              <a:t> 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02885" y="1152525"/>
            <a:ext cx="8269640" cy="4941444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03916" y="1474974"/>
            <a:ext cx="2434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Groovy</a:t>
            </a:r>
            <a:r>
              <a:rPr lang="zh-CN" altLang="en-US" dirty="0" smtClean="0"/>
              <a:t>可选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27755" y="1987150"/>
            <a:ext cx="6819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Groovy</a:t>
            </a:r>
            <a:r>
              <a:rPr lang="zh-CN" altLang="en-US" sz="1600" dirty="0"/>
              <a:t>中编写代码时，开发人员可以灵活地提供类型或不是</a:t>
            </a:r>
            <a:r>
              <a:rPr lang="zh-CN" altLang="en-US" sz="1600" dirty="0" smtClean="0"/>
              <a:t>类型</a:t>
            </a:r>
            <a:endParaRPr lang="zh-CN" altLang="en-US" sz="16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733" y="2374933"/>
            <a:ext cx="4819650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8763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02884" y="1642362"/>
            <a:ext cx="8143589" cy="445160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6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4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2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0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9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 smtClean="0"/>
              <a:t> 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02885" y="1152525"/>
            <a:ext cx="8269640" cy="4941444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164728" y="1473085"/>
            <a:ext cx="7045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在</a:t>
            </a:r>
            <a:r>
              <a:rPr lang="en-US" altLang="zh-CN" sz="1600" dirty="0"/>
              <a:t>Groovy</a:t>
            </a:r>
            <a:r>
              <a:rPr lang="zh-CN" altLang="en-US" sz="1600" dirty="0" smtClean="0"/>
              <a:t>中</a:t>
            </a:r>
            <a:r>
              <a:rPr lang="zh-CN" altLang="en-US" sz="1600" dirty="0"/>
              <a:t>字符串可以用单引号（</a:t>
            </a:r>
            <a:r>
              <a:rPr lang="en-US" altLang="zh-CN" sz="1600" dirty="0"/>
              <a:t>'</a:t>
            </a:r>
            <a:r>
              <a:rPr lang="zh-CN" altLang="en-US" sz="1600" dirty="0"/>
              <a:t>），双引号</a:t>
            </a:r>
            <a:r>
              <a:rPr lang="zh-CN" altLang="en-US" sz="1600" dirty="0" smtClean="0"/>
              <a:t>（</a:t>
            </a:r>
            <a:r>
              <a:rPr lang="en-US" altLang="zh-CN" sz="1600" dirty="0" smtClean="0"/>
              <a:t>”</a:t>
            </a:r>
            <a:r>
              <a:rPr lang="zh-CN" altLang="en-US" sz="1600" dirty="0" smtClean="0"/>
              <a:t>）</a:t>
            </a:r>
            <a:r>
              <a:rPr lang="zh-CN" altLang="en-US" sz="1600" dirty="0"/>
              <a:t>或三引号</a:t>
            </a:r>
            <a:r>
              <a:rPr lang="zh-CN" altLang="en-US" sz="1600" dirty="0" smtClean="0"/>
              <a:t>（</a:t>
            </a:r>
            <a:r>
              <a:rPr lang="en-US" altLang="zh-CN" sz="1600" dirty="0" smtClean="0"/>
              <a:t>”””</a:t>
            </a:r>
            <a:r>
              <a:rPr lang="zh-CN" altLang="en-US" sz="1600" dirty="0" smtClean="0"/>
              <a:t>）</a:t>
            </a:r>
            <a:r>
              <a:rPr lang="zh-CN" altLang="en-US" sz="1600" dirty="0"/>
              <a:t>括起来</a:t>
            </a:r>
            <a:endParaRPr lang="zh-CN" altLang="en-US" sz="16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514" y="2026794"/>
            <a:ext cx="5810250" cy="406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18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列表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02884" y="1642362"/>
            <a:ext cx="8143589" cy="445160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6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4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2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0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9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 smtClean="0"/>
              <a:t> 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02885" y="1152525"/>
            <a:ext cx="8269640" cy="4941444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64728" y="1473085"/>
            <a:ext cx="7045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Groovy</a:t>
            </a:r>
            <a:r>
              <a:rPr lang="zh-CN" altLang="en-US" sz="1600" dirty="0"/>
              <a:t>列表使用索引操作符</a:t>
            </a:r>
            <a:r>
              <a:rPr lang="en-US" altLang="zh-CN" sz="1600" dirty="0"/>
              <a:t>[]</a:t>
            </a:r>
            <a:r>
              <a:rPr lang="zh-CN" altLang="en-US" sz="1600" dirty="0" smtClean="0"/>
              <a:t>索引，列表</a:t>
            </a:r>
            <a:r>
              <a:rPr lang="zh-CN" altLang="en-US" sz="1600" dirty="0"/>
              <a:t>索引从零</a:t>
            </a:r>
            <a:r>
              <a:rPr lang="zh-CN" altLang="en-US" sz="1600" dirty="0" smtClean="0"/>
              <a:t>开始。</a:t>
            </a:r>
            <a:endParaRPr lang="zh-CN" altLang="en-US" sz="1600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048890"/>
            <a:ext cx="5505450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855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14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映射</a:t>
            </a:r>
            <a:r>
              <a:rPr lang="en-US" altLang="zh-CN" dirty="0" smtClean="0"/>
              <a:t>Map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02884" y="1642362"/>
            <a:ext cx="8143589" cy="445160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6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4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2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0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9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 smtClean="0"/>
              <a:t> 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02885" y="1838325"/>
            <a:ext cx="8269640" cy="4255644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740" y="2476500"/>
            <a:ext cx="5857875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367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正则表达式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02884" y="1642362"/>
            <a:ext cx="8143589" cy="4451607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6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4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2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0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900" b="0" i="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altLang="zh-CN" smtClean="0"/>
              <a:t> 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02885" y="1295400"/>
            <a:ext cx="8269640" cy="4798569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164728" y="1642363"/>
            <a:ext cx="7045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Groovy</a:t>
            </a:r>
            <a:r>
              <a:rPr lang="zh-CN" altLang="en-US" sz="1600" dirty="0"/>
              <a:t>使用</a:t>
            </a:r>
            <a:r>
              <a:rPr lang="en-US" altLang="zh-CN" sz="1600" dirty="0"/>
              <a:t>〜“regex”</a:t>
            </a:r>
            <a:r>
              <a:rPr lang="zh-CN" altLang="en-US" sz="1600" dirty="0"/>
              <a:t>表达式本地支持正则表达式。引号中包含的文本表示用于比较的表达式。</a:t>
            </a:r>
            <a:endParaRPr lang="zh-CN" altLang="en-US" sz="16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7" y="2647950"/>
            <a:ext cx="5572125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7603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面向对象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162050"/>
            <a:ext cx="8269640" cy="4968421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858" y="1269772"/>
            <a:ext cx="4962525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1243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面向对象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162050"/>
            <a:ext cx="8269640" cy="4968421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281550"/>
            <a:ext cx="3867150" cy="4729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857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面向对象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162050"/>
            <a:ext cx="8269640" cy="4968421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005" y="1228725"/>
            <a:ext cx="8153400" cy="4901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275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泛型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162050"/>
            <a:ext cx="8269640" cy="4968421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755" y="1360260"/>
            <a:ext cx="60579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158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</a:t>
            </a:r>
            <a:r>
              <a:rPr lang="zh-CN" altLang="en-US" dirty="0" smtClean="0"/>
              <a:t>闭包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981075"/>
            <a:ext cx="8269640" cy="5329127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4794" y="1083275"/>
            <a:ext cx="7045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Groovy</a:t>
            </a:r>
            <a:r>
              <a:rPr lang="zh-CN" altLang="en-US" sz="1600" dirty="0" smtClean="0"/>
              <a:t>闭包</a:t>
            </a:r>
            <a:r>
              <a:rPr lang="zh-CN" altLang="en-US" sz="1600" dirty="0"/>
              <a:t>是一个短的匿名代码</a:t>
            </a:r>
            <a:r>
              <a:rPr lang="zh-CN" altLang="en-US" sz="1600" dirty="0" smtClean="0"/>
              <a:t>块，</a:t>
            </a:r>
            <a:r>
              <a:rPr lang="zh-CN" altLang="en-US" sz="1600" dirty="0"/>
              <a:t>可以使用</a:t>
            </a:r>
            <a:r>
              <a:rPr lang="en-US" altLang="zh-CN" sz="1600" dirty="0"/>
              <a:t>call</a:t>
            </a:r>
            <a:r>
              <a:rPr lang="zh-CN" altLang="en-US" sz="1600" dirty="0"/>
              <a:t>语句执行</a:t>
            </a:r>
            <a:endParaRPr lang="zh-CN" altLang="en-US" sz="1600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9" y="1421829"/>
            <a:ext cx="4900612" cy="4888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327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 XML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981075"/>
            <a:ext cx="8269640" cy="5329127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4794" y="1083275"/>
            <a:ext cx="7045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Groovy XML</a:t>
            </a:r>
            <a:r>
              <a:rPr lang="zh-CN" altLang="en-US" sz="1600" dirty="0"/>
              <a:t>标记构建器</a:t>
            </a:r>
            <a:endParaRPr lang="zh-CN" altLang="en-US" sz="1600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869" y="1414556"/>
            <a:ext cx="6331672" cy="4895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53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16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 XML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981075"/>
            <a:ext cx="8269640" cy="5329127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4794" y="1083275"/>
            <a:ext cx="7045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Groovy XML</a:t>
            </a:r>
            <a:r>
              <a:rPr lang="zh-CN" altLang="en-US" sz="1600" dirty="0" smtClean="0"/>
              <a:t>标记解析器</a:t>
            </a:r>
            <a:endParaRPr lang="zh-CN" altLang="en-US" sz="1600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213" y="1585802"/>
            <a:ext cx="6503987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928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17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 </a:t>
            </a:r>
            <a:r>
              <a:rPr lang="zh-CN" altLang="en-US" dirty="0" smtClean="0"/>
              <a:t>监控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981075"/>
            <a:ext cx="8269640" cy="5329127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4794" y="1083275"/>
            <a:ext cx="7045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Groovy JML</a:t>
            </a:r>
            <a:r>
              <a:rPr lang="zh-CN" altLang="en-US" sz="1600" dirty="0"/>
              <a:t>用于监控与</a:t>
            </a:r>
            <a:r>
              <a:rPr lang="en-US" altLang="zh-CN" sz="1600" dirty="0"/>
              <a:t>Java</a:t>
            </a:r>
            <a:r>
              <a:rPr lang="zh-CN" altLang="en-US" sz="1600" dirty="0"/>
              <a:t>虚拟环境有任何关系的所有应用程序</a:t>
            </a:r>
            <a:endParaRPr lang="zh-CN" altLang="en-US" sz="1600" dirty="0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2021625"/>
            <a:ext cx="6076950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318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17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 </a:t>
            </a:r>
            <a:r>
              <a:rPr lang="zh-CN" altLang="en-US" dirty="0" smtClean="0"/>
              <a:t>监控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981075"/>
            <a:ext cx="8269640" cy="5329127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4794" y="1083275"/>
            <a:ext cx="7045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Groovy JML</a:t>
            </a:r>
            <a:r>
              <a:rPr lang="zh-CN" altLang="en-US" sz="1600" dirty="0"/>
              <a:t>用于监控与</a:t>
            </a:r>
            <a:r>
              <a:rPr lang="en-US" altLang="zh-CN" sz="1600" dirty="0"/>
              <a:t>Java</a:t>
            </a:r>
            <a:r>
              <a:rPr lang="zh-CN" altLang="en-US" sz="1600" dirty="0"/>
              <a:t>虚拟环境有任何关系的所有应用程序</a:t>
            </a:r>
            <a:endParaRPr lang="zh-CN" altLang="en-US" sz="1600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447800"/>
            <a:ext cx="5391150" cy="4725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1728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18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 </a:t>
            </a:r>
            <a:r>
              <a:rPr lang="en-US" altLang="zh-CN" dirty="0"/>
              <a:t>JSON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981075"/>
            <a:ext cx="8269640" cy="5329127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4794" y="1083275"/>
            <a:ext cx="7045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Groovy JSON</a:t>
            </a:r>
            <a:r>
              <a:rPr lang="zh-CN" altLang="en-US" sz="1600" dirty="0" smtClean="0"/>
              <a:t>用于解析、生成</a:t>
            </a:r>
            <a:r>
              <a:rPr lang="en-US" altLang="zh-CN" sz="1600" dirty="0" smtClean="0"/>
              <a:t>JSON</a:t>
            </a:r>
            <a:r>
              <a:rPr lang="zh-CN" altLang="en-US" sz="1600" dirty="0" smtClean="0"/>
              <a:t>数据结构</a:t>
            </a:r>
            <a:endParaRPr lang="zh-CN" altLang="en-US" sz="1600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4" y="1507554"/>
            <a:ext cx="5677860" cy="4888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652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19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Groovy </a:t>
            </a:r>
            <a:r>
              <a:rPr lang="zh-CN" altLang="en-US" dirty="0" smtClean="0"/>
              <a:t>模板引擎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981075"/>
            <a:ext cx="8269640" cy="5329127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3" y="1423988"/>
            <a:ext cx="6124575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300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</a:t>
            </a:r>
            <a:r>
              <a:rPr lang="zh-CN" altLang="en-US" dirty="0" smtClean="0"/>
              <a:t>、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调用</a:t>
            </a:r>
            <a:r>
              <a:rPr lang="en-US" altLang="zh-CN" dirty="0" smtClean="0"/>
              <a:t>Groovy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884" y="1642362"/>
            <a:ext cx="8143589" cy="4451607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2885" y="1162050"/>
            <a:ext cx="8269640" cy="4657725"/>
          </a:xfrm>
          <a:prstGeom prst="rect">
            <a:avLst/>
          </a:prstGeom>
          <a:solidFill>
            <a:schemeClr val="accent2">
              <a:lumMod val="20000"/>
              <a:lumOff val="80000"/>
              <a:alpha val="3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04" y="1432812"/>
            <a:ext cx="7958801" cy="408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8293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6600" dirty="0" smtClean="0"/>
              <a:t>谢谢！</a:t>
            </a:r>
            <a:endParaRPr lang="zh-CN" altLang="en-US" sz="6600" dirty="0"/>
          </a:p>
        </p:txBody>
      </p:sp>
    </p:spTree>
    <p:extLst>
      <p:ext uri="{BB962C8B-B14F-4D97-AF65-F5344CB8AC3E}">
        <p14:creationId xmlns:p14="http://schemas.microsoft.com/office/powerpoint/2010/main" val="111002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95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ysClr val="window" lastClr="FFFFFF"/>
      </a:lt1>
      <a:dk2>
        <a:srgbClr val="272727"/>
      </a:dk2>
      <a:lt2>
        <a:srgbClr val="F8F8F8"/>
      </a:lt2>
      <a:accent1>
        <a:srgbClr val="007AB8"/>
      </a:accent1>
      <a:accent2>
        <a:srgbClr val="EEA420"/>
      </a:accent2>
      <a:accent3>
        <a:srgbClr val="ABCB2A"/>
      </a:accent3>
      <a:accent4>
        <a:srgbClr val="12A9D9"/>
      </a:accent4>
      <a:accent5>
        <a:srgbClr val="505150"/>
      </a:accent5>
      <a:accent6>
        <a:srgbClr val="636463"/>
      </a:accent6>
      <a:hlink>
        <a:srgbClr val="8D8E8D"/>
      </a:hlink>
      <a:folHlink>
        <a:srgbClr val="B2B3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9552</TotalTime>
  <Words>1378</Words>
  <Application>Microsoft Office PowerPoint</Application>
  <PresentationFormat>全屏显示(4:3)</PresentationFormat>
  <Paragraphs>483</Paragraphs>
  <Slides>47</Slides>
  <Notes>45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48" baseType="lpstr">
      <vt:lpstr>Office Theme</vt:lpstr>
      <vt:lpstr>Groovy入门分享</vt:lpstr>
      <vt:lpstr>目录</vt:lpstr>
      <vt:lpstr>1、Groovy入门 </vt:lpstr>
      <vt:lpstr>2、Groovy环境</vt:lpstr>
      <vt:lpstr>2、Groovy环境</vt:lpstr>
      <vt:lpstr>2、Groovy环境</vt:lpstr>
      <vt:lpstr>2、Groovy环境</vt:lpstr>
      <vt:lpstr>3、Groovy基本语法</vt:lpstr>
      <vt:lpstr>3、Groovy基本语法</vt:lpstr>
      <vt:lpstr>3、Groovy基本语法</vt:lpstr>
      <vt:lpstr>3、Groovy基本语法</vt:lpstr>
      <vt:lpstr>4、Groovy数据类型</vt:lpstr>
      <vt:lpstr>4、Groovy数据类型</vt:lpstr>
      <vt:lpstr>5、Groovy变量</vt:lpstr>
      <vt:lpstr>6、Groovy运算符</vt:lpstr>
      <vt:lpstr>6、Groovy运算符</vt:lpstr>
      <vt:lpstr>6、Groovy运算符</vt:lpstr>
      <vt:lpstr>6、Groovy运算符</vt:lpstr>
      <vt:lpstr>6、Groovy运算符</vt:lpstr>
      <vt:lpstr>6、Groovy运算符</vt:lpstr>
      <vt:lpstr>6、Groovy运算符</vt:lpstr>
      <vt:lpstr>7、Groovy循环</vt:lpstr>
      <vt:lpstr>7、Groovy循环</vt:lpstr>
      <vt:lpstr>8、Groovy条件</vt:lpstr>
      <vt:lpstr>9、Groovy方法</vt:lpstr>
      <vt:lpstr>9、Groovy方法</vt:lpstr>
      <vt:lpstr>10、Groovy文件IO</vt:lpstr>
      <vt:lpstr>10、Groovy文件IO</vt:lpstr>
      <vt:lpstr>10、Groovy文件IO</vt:lpstr>
      <vt:lpstr>11、Groovy可选</vt:lpstr>
      <vt:lpstr>12、Groovy字符串</vt:lpstr>
      <vt:lpstr>13、Groovy列表</vt:lpstr>
      <vt:lpstr>14、Groovy映射Map</vt:lpstr>
      <vt:lpstr>15、Groovy正则表达式</vt:lpstr>
      <vt:lpstr>16、Groovy面向对象</vt:lpstr>
      <vt:lpstr>16、Groovy面向对象</vt:lpstr>
      <vt:lpstr>16、Groovy面向对象</vt:lpstr>
      <vt:lpstr>16、Groovy泛型</vt:lpstr>
      <vt:lpstr>16、Groovy闭包</vt:lpstr>
      <vt:lpstr>16、Groovy XML</vt:lpstr>
      <vt:lpstr>16、Groovy XML</vt:lpstr>
      <vt:lpstr>17、Groovy 监控</vt:lpstr>
      <vt:lpstr>17、Groovy 监控</vt:lpstr>
      <vt:lpstr>18、Groovy JSON</vt:lpstr>
      <vt:lpstr>19、Groovy 模板引擎</vt:lpstr>
      <vt:lpstr>20、Java调用Groovy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Gee Hwee Lim</dc:creator>
  <cp:lastModifiedBy>代超</cp:lastModifiedBy>
  <cp:revision>743</cp:revision>
  <dcterms:created xsi:type="dcterms:W3CDTF">2013-04-17T08:02:10Z</dcterms:created>
  <dcterms:modified xsi:type="dcterms:W3CDTF">2017-08-17T14:12:15Z</dcterms:modified>
</cp:coreProperties>
</file>
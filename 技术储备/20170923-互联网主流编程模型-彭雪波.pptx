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8" r:id="rId6"/>
    <p:sldId id="309" r:id="rId7"/>
    <p:sldId id="259" r:id="rId8"/>
    <p:sldId id="265" r:id="rId9"/>
    <p:sldId id="277" r:id="rId10"/>
    <p:sldId id="275" r:id="rId11"/>
    <p:sldId id="258" r:id="rId12"/>
    <p:sldId id="294" r:id="rId13"/>
    <p:sldId id="278" r:id="rId14"/>
    <p:sldId id="267" r:id="rId15"/>
    <p:sldId id="279" r:id="rId16"/>
    <p:sldId id="280" r:id="rId17"/>
    <p:sldId id="281" r:id="rId18"/>
    <p:sldId id="283" r:id="rId19"/>
    <p:sldId id="282" r:id="rId20"/>
    <p:sldId id="293" r:id="rId21"/>
    <p:sldId id="266" r:id="rId22"/>
    <p:sldId id="263" r:id="rId23"/>
    <p:sldId id="262" r:id="rId24"/>
    <p:sldId id="269" r:id="rId25"/>
    <p:sldId id="260" r:id="rId26"/>
    <p:sldId id="276"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ED6"/>
    <a:srgbClr val="0088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44" autoAdjust="0"/>
  </p:normalViewPr>
  <p:slideViewPr>
    <p:cSldViewPr>
      <p:cViewPr varScale="1">
        <p:scale>
          <a:sx n="77" d="100"/>
          <a:sy n="77" d="100"/>
        </p:scale>
        <p:origin x="-1758" y="-96"/>
      </p:cViewPr>
      <p:guideLst>
        <p:guide orient="horz" pos="2159"/>
        <p:guide pos="290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71163A-2D27-4ACC-9273-13E73CED2A3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264E0C-8B64-4036-B2BC-04C59079E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互联网编程模型主要分为</a:t>
            </a:r>
            <a:r>
              <a:rPr lang="en-US" altLang="zh-CN" dirty="0" smtClean="0"/>
              <a:t>3</a:t>
            </a:r>
            <a:r>
              <a:rPr lang="zh-CN" altLang="en-US" dirty="0" smtClean="0"/>
              <a:t>大类，一个是多线程并发模型，一个是事件驱动模型，阶段式事件驱动模型从理论上结合了前</a:t>
            </a:r>
            <a:r>
              <a:rPr lang="en-US" altLang="zh-CN" dirty="0" smtClean="0"/>
              <a:t>2</a:t>
            </a:r>
            <a:r>
              <a:rPr lang="zh-CN" altLang="en-US" dirty="0" smtClean="0"/>
              <a:t>者的优势、避免了其弊端，是一套理想的互联网编程模型。</a:t>
            </a:r>
            <a:endParaRPr lang="en-US" altLang="zh-CN" dirty="0" smtClean="0"/>
          </a:p>
          <a:p>
            <a:r>
              <a:rPr lang="zh-CN" altLang="en-US" dirty="0" smtClean="0"/>
              <a:t>下面将一一对三种模型，进行介绍。</a:t>
            </a:r>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Connector 负责监听接收客户连接请求，而 handler 组件则负责处理请求并给予响应，前面两个组件工作所需要的线程资源都直接从线程池 ThreadPool 中获取。</a:t>
            </a:r>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Connector </a:t>
            </a:r>
            <a:r>
              <a:rPr lang="zh-CN" altLang="en-US" sz="1200" b="0" i="0" kern="1200" dirty="0" smtClean="0">
                <a:solidFill>
                  <a:schemeClr val="tx1"/>
                </a:solidFill>
                <a:effectLst/>
                <a:latin typeface="+mn-lt"/>
                <a:ea typeface="+mn-ea"/>
                <a:cs typeface="+mn-cs"/>
              </a:rPr>
              <a:t>主要负责对外交流，基本的原理就是connector会拥有一个自己的线程，然后每进来一个socket，就会从processor的线程池中调用一个，进行处理</a:t>
            </a:r>
            <a:endParaRPr lang="zh-CN" altLang="en-US"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Container </a:t>
            </a:r>
            <a:r>
              <a:rPr lang="zh-CN" altLang="en-US" sz="1200" b="0" i="0" kern="1200" dirty="0" smtClean="0">
                <a:solidFill>
                  <a:schemeClr val="tx1"/>
                </a:solidFill>
                <a:effectLst/>
                <a:latin typeface="+mn-lt"/>
                <a:ea typeface="+mn-ea"/>
                <a:cs typeface="+mn-cs"/>
              </a:rPr>
              <a:t>主要处理 </a:t>
            </a:r>
            <a:r>
              <a:rPr lang="en-US" altLang="zh-CN" sz="1200" b="0" i="0" kern="1200" dirty="0" smtClean="0">
                <a:solidFill>
                  <a:schemeClr val="tx1"/>
                </a:solidFill>
                <a:effectLst/>
                <a:latin typeface="+mn-lt"/>
                <a:ea typeface="+mn-ea"/>
                <a:cs typeface="+mn-cs"/>
              </a:rPr>
              <a:t>Connector </a:t>
            </a:r>
            <a:r>
              <a:rPr lang="zh-CN" altLang="en-US" sz="1200" b="0" i="0" kern="1200" dirty="0" smtClean="0">
                <a:solidFill>
                  <a:schemeClr val="tx1"/>
                </a:solidFill>
                <a:effectLst/>
                <a:latin typeface="+mn-lt"/>
                <a:ea typeface="+mn-ea"/>
                <a:cs typeface="+mn-cs"/>
              </a:rPr>
              <a:t>接受的请求，主要是处理内部事务。</a:t>
            </a:r>
            <a:endParaRPr lang="zh-CN" altLang="en-US" sz="1200" b="0" i="0" kern="1200" dirty="0" smtClean="0">
              <a:solidFill>
                <a:schemeClr val="tx1"/>
              </a:solidFill>
              <a:effectLst/>
              <a:latin typeface="+mn-lt"/>
              <a:ea typeface="+mn-ea"/>
              <a:cs typeface="+mn-cs"/>
            </a:endParaRPr>
          </a:p>
          <a:p>
            <a:endParaRPr lang="zh-CN" altLang="en-US" dirty="0"/>
          </a:p>
          <a:p>
            <a:r>
              <a:rPr lang="zh-CN" altLang="en-US" dirty="0"/>
              <a:t>maxThreads:Tomcat线程池最多能起的线程数；</a:t>
            </a:r>
            <a:endParaRPr lang="zh-CN" altLang="en-US" dirty="0"/>
          </a:p>
          <a:p>
            <a:endParaRPr lang="zh-CN" altLang="en-US" dirty="0"/>
          </a:p>
          <a:p>
            <a:r>
              <a:rPr lang="zh-CN" altLang="en-US" dirty="0"/>
              <a:t>maxConnections:Tomcat最多能并发处理的请求（连接）；</a:t>
            </a:r>
            <a:endParaRPr lang="zh-CN" altLang="en-US" dirty="0"/>
          </a:p>
          <a:p>
            <a:endParaRPr lang="zh-CN" altLang="en-US" dirty="0"/>
          </a:p>
          <a:p>
            <a:r>
              <a:rPr lang="zh-CN" altLang="en-US" dirty="0"/>
              <a:t>acceptCount:Tomcat维护最大的对列数；</a:t>
            </a:r>
            <a:endParaRPr lang="zh-CN" altLang="en-US" dirty="0"/>
          </a:p>
          <a:p>
            <a:endParaRPr lang="zh-CN" altLang="en-US" dirty="0"/>
          </a:p>
          <a:p>
            <a:r>
              <a:rPr lang="zh-CN" altLang="en-US" dirty="0"/>
              <a:t>minSpareThreads:Tomcat初始化的线程池大小或者说Tomcat线程池最少会有这么多线程。</a:t>
            </a:r>
            <a:endParaRPr lang="zh-CN" altLang="en-US" dirty="0"/>
          </a:p>
          <a:p>
            <a:endParaRPr lang="zh-CN" altLang="en-US" dirty="0"/>
          </a:p>
          <a:p>
            <a:r>
              <a:rPr lang="zh-CN" altLang="en-US" dirty="0"/>
              <a:t>比较容易弄混的是maxThreads和maxConnections这两个参数：</a:t>
            </a:r>
            <a:endParaRPr lang="zh-CN" altLang="en-US" dirty="0"/>
          </a:p>
          <a:p>
            <a:endParaRPr lang="zh-CN" altLang="en-US" dirty="0"/>
          </a:p>
          <a:p>
            <a:r>
              <a:rPr lang="zh-CN" altLang="en-US" dirty="0"/>
              <a:t>maxThreads是指Tomcat线程池做多能起的线程数，</a:t>
            </a:r>
            <a:endParaRPr lang="zh-CN" altLang="en-US" dirty="0"/>
          </a:p>
          <a:p>
            <a:r>
              <a:rPr lang="zh-CN" altLang="en-US" dirty="0"/>
              <a:t>而maxConnections则是Tomcat一瞬间做多能够处理的并发连接数。</a:t>
            </a:r>
            <a:endParaRPr lang="zh-CN" altLang="en-US" dirty="0"/>
          </a:p>
          <a:p>
            <a:r>
              <a:rPr lang="zh-CN" altLang="en-US" dirty="0"/>
              <a:t>比如maxThreads=1000，maxConnections=800，假设某一瞬间的并发时1000，那么最终Tomcat的线程数将会是800，即同时处理800个请求，剩余200进入队列“排队”，如果acceptCount=100，那么有100个请求会被拒掉。</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原理：将处理流程分割成多个步骤，每一个步骤都实现为一个有限状态机（</a:t>
            </a:r>
            <a:r>
              <a:rPr lang="en-US" altLang="zh-CN" sz="1200" b="0" i="0" kern="1200" dirty="0" smtClean="0">
                <a:solidFill>
                  <a:schemeClr val="tx1"/>
                </a:solidFill>
                <a:effectLst/>
                <a:latin typeface="+mn-lt"/>
                <a:ea typeface="+mn-ea"/>
                <a:cs typeface="+mn-cs"/>
              </a:rPr>
              <a:t>FSM</a:t>
            </a:r>
            <a:r>
              <a:rPr lang="zh-CN" altLang="en-US" sz="1200" b="0" i="0" kern="1200" dirty="0" smtClean="0">
                <a:solidFill>
                  <a:schemeClr val="tx1"/>
                </a:solidFill>
                <a:effectLst/>
                <a:latin typeface="+mn-lt"/>
                <a:ea typeface="+mn-ea"/>
                <a:cs typeface="+mn-cs"/>
              </a:rPr>
              <a:t>），所有的处理请求会作为事件进入系统，由调度器负责传递给相应的状态机，状态机的处理结果也以事件的形式传给调度器，新的事件将再次被调度器转发给下一个状态机进行处理，直至处理完成。</a:t>
            </a:r>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gn="l">
              <a:buFont typeface="Wingdings" panose="05000000000000000000" pitchFamily="2" charset="2"/>
              <a:buChar char="l"/>
            </a:pPr>
            <a:r>
              <a:rPr lang="zh-CN" altLang="en-US" sz="1200" b="0" i="0" kern="1200" dirty="0" smtClean="0">
                <a:solidFill>
                  <a:schemeClr val="tx1"/>
                </a:solidFill>
                <a:effectLst/>
                <a:latin typeface="+mn-lt"/>
                <a:ea typeface="+mn-ea"/>
                <a:cs typeface="+mn-cs"/>
              </a:rPr>
              <a:t>什么是有限状态机：有限个状态以及状态之间的转移和动作，是一种模型。</a:t>
            </a:r>
            <a:endParaRPr lang="en-US" altLang="zh-CN" sz="1200" b="0" i="0" kern="1200" dirty="0" smtClean="0">
              <a:solidFill>
                <a:schemeClr val="tx1"/>
              </a:solidFill>
              <a:effectLst/>
              <a:latin typeface="+mn-lt"/>
              <a:ea typeface="+mn-ea"/>
              <a:cs typeface="+mn-cs"/>
            </a:endParaRPr>
          </a:p>
          <a:p>
            <a:pPr marL="342900" indent="-342900" algn="l">
              <a:buFont typeface="Wingdings" panose="05000000000000000000" pitchFamily="2" charset="2"/>
              <a:buChar char="l"/>
            </a:pPr>
            <a:r>
              <a:rPr lang="zh-CN" altLang="en-US" sz="1200" b="0" i="0" kern="1200" dirty="0" smtClean="0">
                <a:solidFill>
                  <a:schemeClr val="tx1"/>
                </a:solidFill>
                <a:effectLst/>
                <a:latin typeface="+mn-lt"/>
                <a:ea typeface="+mn-ea"/>
                <a:cs typeface="+mn-cs"/>
              </a:rPr>
              <a:t>它有</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个要素：现态、事件、动作、次态。</a:t>
            </a:r>
            <a:endParaRPr lang="en-US" altLang="zh-CN" sz="12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1200" dirty="0" smtClean="0">
                <a:solidFill>
                  <a:schemeClr val="tx1"/>
                </a:solidFill>
                <a:latin typeface="微软雅黑" panose="020B0503020204020204" pitchFamily="34" charset="-122"/>
                <a:ea typeface="微软雅黑" panose="020B0503020204020204" pitchFamily="34" charset="-122"/>
              </a:rPr>
              <a:t>现态：是指当前所处的状态。</a:t>
            </a:r>
            <a:endParaRPr lang="zh-CN" altLang="en-US" sz="12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1200" dirty="0" smtClean="0">
                <a:solidFill>
                  <a:schemeClr val="tx1"/>
                </a:solidFill>
                <a:latin typeface="微软雅黑" panose="020B0503020204020204" pitchFamily="34" charset="-122"/>
                <a:ea typeface="微软雅黑" panose="020B0503020204020204" pitchFamily="34" charset="-122"/>
              </a:rPr>
              <a:t>事件：当一个条件被满足，将会触发一个动作或者执行一次状态的迁移。</a:t>
            </a:r>
            <a:endParaRPr lang="zh-CN" altLang="en-US" sz="12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1200" dirty="0" smtClean="0">
                <a:solidFill>
                  <a:schemeClr val="tx1"/>
                </a:solidFill>
                <a:latin typeface="微软雅黑" panose="020B0503020204020204" pitchFamily="34" charset="-122"/>
                <a:ea typeface="微软雅黑" panose="020B0503020204020204" pitchFamily="34" charset="-122"/>
              </a:rPr>
              <a:t>动作：条件满足后执行的动作。动作执行完毕后，可以迁移到新的状态，也可以仍旧保持原状态。动作不是必需的，当条件满足后，也可以不执行任何动作，直接迁移到新状态。</a:t>
            </a:r>
            <a:endParaRPr lang="zh-CN" altLang="en-US" sz="12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1200" dirty="0" smtClean="0">
                <a:solidFill>
                  <a:schemeClr val="tx1"/>
                </a:solidFill>
                <a:latin typeface="微软雅黑" panose="020B0503020204020204" pitchFamily="34" charset="-122"/>
                <a:ea typeface="微软雅黑" panose="020B0503020204020204" pitchFamily="34" charset="-122"/>
              </a:rPr>
              <a:t>次态：条件满足后要迁往的新状态。“次态”是相对于“现态”而言的，“次态”一旦被激活，就转变成新的“现态”了。</a:t>
            </a:r>
            <a:endParaRPr lang="en-US" altLang="zh-CN" dirty="0" smtClean="0">
              <a:solidFill>
                <a:schemeClr val="tx1"/>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首先，Disruptor根本就不用锁。</a:t>
            </a:r>
            <a:endParaRPr lang="zh-CN" altLang="en-US" dirty="0"/>
          </a:p>
          <a:p>
            <a:r>
              <a:rPr lang="zh-CN" altLang="en-US" dirty="0"/>
              <a:t>取而代之的是，在需要确保操作是线程安全的（特别是，在多生产者的环境下，更新下一个可用的序列号）地方，我们使用CAS（Compare And Swap/Set）操作。这是一个CPU级别的指令，在我的意识中，它的工作方式有点像乐观锁——CPU去更新一个值，但如果想改的值不再是原来的值，操作就失败，因为很明显，有其它操作先改变了这个值。</a:t>
            </a:r>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Netty</a:t>
            </a:r>
            <a:r>
              <a:rPr lang="zh-CN" altLang="en-US" sz="1200" b="0" i="0" kern="1200" dirty="0" smtClean="0">
                <a:solidFill>
                  <a:schemeClr val="tx1"/>
                </a:solidFill>
                <a:effectLst/>
                <a:latin typeface="+mn-lt"/>
                <a:ea typeface="+mn-ea"/>
                <a:cs typeface="+mn-cs"/>
              </a:rPr>
              <a:t>使用了异步的事件驱动模型，来触发网络</a:t>
            </a:r>
            <a:r>
              <a:rPr lang="en-US" altLang="zh-CN" sz="1200" b="0" i="0" kern="1200" dirty="0" smtClean="0">
                <a:solidFill>
                  <a:schemeClr val="tx1"/>
                </a:solidFill>
                <a:effectLst/>
                <a:latin typeface="+mn-lt"/>
                <a:ea typeface="+mn-ea"/>
                <a:cs typeface="+mn-cs"/>
              </a:rPr>
              <a:t>I/O</a:t>
            </a:r>
            <a:r>
              <a:rPr lang="zh-CN" altLang="en-US" sz="1200" b="0" i="0" kern="1200" dirty="0" smtClean="0">
                <a:solidFill>
                  <a:schemeClr val="tx1"/>
                </a:solidFill>
                <a:effectLst/>
                <a:latin typeface="+mn-lt"/>
                <a:ea typeface="+mn-ea"/>
                <a:cs typeface="+mn-cs"/>
              </a:rPr>
              <a:t>的各种操作，其在</a:t>
            </a:r>
            <a:r>
              <a:rPr lang="en-US" altLang="zh-CN" sz="1200" b="0" i="0" kern="1200" dirty="0" smtClean="0">
                <a:solidFill>
                  <a:schemeClr val="tx1"/>
                </a:solidFill>
                <a:effectLst/>
                <a:latin typeface="+mn-lt"/>
                <a:ea typeface="+mn-ea"/>
                <a:cs typeface="+mn-cs"/>
              </a:rPr>
              <a:t>socket</a:t>
            </a:r>
            <a:r>
              <a:rPr lang="zh-CN" altLang="en-US" sz="1200" b="0" i="0" kern="1200" dirty="0" smtClean="0">
                <a:solidFill>
                  <a:schemeClr val="tx1"/>
                </a:solidFill>
                <a:effectLst/>
                <a:latin typeface="+mn-lt"/>
                <a:ea typeface="+mn-ea"/>
                <a:cs typeface="+mn-cs"/>
              </a:rPr>
              <a:t>层上面封装一层异步事件驱动模型，使得业务代码不需要关心网络底层，就可以编写异步的无网络</a:t>
            </a:r>
            <a:r>
              <a:rPr lang="en-US" altLang="zh-CN" sz="1200" b="0" i="0" kern="1200" dirty="0" smtClean="0">
                <a:solidFill>
                  <a:schemeClr val="tx1"/>
                </a:solidFill>
                <a:effectLst/>
                <a:latin typeface="+mn-lt"/>
                <a:ea typeface="+mn-ea"/>
                <a:cs typeface="+mn-cs"/>
              </a:rPr>
              <a:t>I/O</a:t>
            </a:r>
            <a:r>
              <a:rPr lang="zh-CN" altLang="en-US" sz="1200" b="0" i="0" kern="1200" dirty="0" smtClean="0">
                <a:solidFill>
                  <a:schemeClr val="tx1"/>
                </a:solidFill>
                <a:effectLst/>
                <a:latin typeface="+mn-lt"/>
                <a:ea typeface="+mn-ea"/>
                <a:cs typeface="+mn-cs"/>
              </a:rPr>
              <a:t>阻塞的代码。</a:t>
            </a:r>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Netty</a:t>
            </a:r>
            <a:r>
              <a:rPr lang="zh-CN" altLang="en-US" sz="1200" b="0" i="0" kern="1200" dirty="0" smtClean="0">
                <a:solidFill>
                  <a:schemeClr val="tx1"/>
                </a:solidFill>
                <a:effectLst/>
                <a:latin typeface="+mn-lt"/>
                <a:ea typeface="+mn-ea"/>
                <a:cs typeface="+mn-cs"/>
              </a:rPr>
              <a:t>的异步事件驱动模型主要涉及到下面几个核心的概念：</a:t>
            </a:r>
            <a:endParaRPr lang="zh-CN" altLang="en-US"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Channel</a:t>
            </a:r>
            <a:r>
              <a:rPr lang="zh-CN" altLang="en-US" sz="1200" b="0" i="0" kern="1200" dirty="0" smtClean="0">
                <a:solidFill>
                  <a:schemeClr val="tx1"/>
                </a:solidFill>
                <a:effectLst/>
                <a:latin typeface="+mn-lt"/>
                <a:ea typeface="+mn-ea"/>
                <a:cs typeface="+mn-cs"/>
              </a:rPr>
              <a:t>：表示一个与</a:t>
            </a:r>
            <a:r>
              <a:rPr lang="en-US" altLang="zh-CN" sz="1200" b="0" i="0" kern="1200" dirty="0" smtClean="0">
                <a:solidFill>
                  <a:schemeClr val="tx1"/>
                </a:solidFill>
                <a:effectLst/>
                <a:latin typeface="+mn-lt"/>
                <a:ea typeface="+mn-ea"/>
                <a:cs typeface="+mn-cs"/>
              </a:rPr>
              <a:t>socket</a:t>
            </a:r>
            <a:r>
              <a:rPr lang="zh-CN" altLang="en-US" sz="1200" b="0" i="0" kern="1200" dirty="0" smtClean="0">
                <a:solidFill>
                  <a:schemeClr val="tx1"/>
                </a:solidFill>
                <a:effectLst/>
                <a:latin typeface="+mn-lt"/>
                <a:ea typeface="+mn-ea"/>
                <a:cs typeface="+mn-cs"/>
              </a:rPr>
              <a:t>关联的通道</a:t>
            </a:r>
            <a:endParaRPr lang="zh-CN" alt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ChannelPipeline</a:t>
            </a:r>
            <a:r>
              <a:rPr lang="zh-CN" altLang="en-US" sz="1200" b="0" i="0" kern="1200" dirty="0" smtClean="0">
                <a:solidFill>
                  <a:schemeClr val="tx1"/>
                </a:solidFill>
                <a:effectLst/>
                <a:latin typeface="+mn-lt"/>
                <a:ea typeface="+mn-ea"/>
                <a:cs typeface="+mn-cs"/>
              </a:rPr>
              <a:t>： 管道，一个</a:t>
            </a:r>
            <a:r>
              <a:rPr lang="en-US" altLang="zh-CN" sz="1200" b="0" i="0" kern="1200" dirty="0" smtClean="0">
                <a:solidFill>
                  <a:schemeClr val="tx1"/>
                </a:solidFill>
                <a:effectLst/>
                <a:latin typeface="+mn-lt"/>
                <a:ea typeface="+mn-ea"/>
                <a:cs typeface="+mn-cs"/>
              </a:rPr>
              <a:t>Channel</a:t>
            </a:r>
            <a:r>
              <a:rPr lang="zh-CN" altLang="en-US" sz="1200" b="0" i="0" kern="1200" dirty="0" smtClean="0">
                <a:solidFill>
                  <a:schemeClr val="tx1"/>
                </a:solidFill>
                <a:effectLst/>
                <a:latin typeface="+mn-lt"/>
                <a:ea typeface="+mn-ea"/>
                <a:cs typeface="+mn-cs"/>
              </a:rPr>
              <a:t>拥有一个</a:t>
            </a:r>
            <a:r>
              <a:rPr lang="en-US" altLang="zh-CN" sz="1200" b="0" i="0" kern="1200" dirty="0" err="1" smtClean="0">
                <a:solidFill>
                  <a:schemeClr val="tx1"/>
                </a:solidFill>
                <a:effectLst/>
                <a:latin typeface="+mn-lt"/>
                <a:ea typeface="+mn-ea"/>
                <a:cs typeface="+mn-cs"/>
              </a:rPr>
              <a:t>ChannelPipeline</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ChannelPipeline</a:t>
            </a:r>
            <a:r>
              <a:rPr lang="zh-CN" altLang="en-US" sz="1200" b="0" i="0" kern="1200" dirty="0" smtClean="0">
                <a:solidFill>
                  <a:schemeClr val="tx1"/>
                </a:solidFill>
                <a:effectLst/>
                <a:latin typeface="+mn-lt"/>
                <a:ea typeface="+mn-ea"/>
                <a:cs typeface="+mn-cs"/>
              </a:rPr>
              <a:t>维护着一个处理链（严格的说是两 个：</a:t>
            </a:r>
            <a:r>
              <a:rPr lang="en-US" altLang="zh-CN" sz="1200" b="0" i="0" kern="1200" dirty="0" smtClean="0">
                <a:solidFill>
                  <a:schemeClr val="tx1"/>
                </a:solidFill>
                <a:effectLst/>
                <a:latin typeface="+mn-lt"/>
                <a:ea typeface="+mn-ea"/>
                <a:cs typeface="+mn-cs"/>
              </a:rPr>
              <a:t>upstream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downstream</a:t>
            </a:r>
            <a:r>
              <a:rPr lang="zh-CN" altLang="en-US" sz="1200" b="0" i="0" kern="1200" dirty="0" smtClean="0">
                <a:solidFill>
                  <a:schemeClr val="tx1"/>
                </a:solidFill>
                <a:effectLst/>
                <a:latin typeface="+mn-lt"/>
                <a:ea typeface="+mn-ea"/>
                <a:cs typeface="+mn-cs"/>
              </a:rPr>
              <a:t>），处理链是由很多处理句柄 </a:t>
            </a:r>
            <a:r>
              <a:rPr lang="en-US" altLang="zh-CN" sz="1200" b="0" i="0" kern="1200" dirty="0" err="1" smtClean="0">
                <a:solidFill>
                  <a:schemeClr val="tx1"/>
                </a:solidFill>
                <a:effectLst/>
                <a:latin typeface="+mn-lt"/>
                <a:ea typeface="+mn-ea"/>
                <a:cs typeface="+mn-cs"/>
              </a:rPr>
              <a:t>ChannelHandler</a:t>
            </a:r>
            <a:r>
              <a:rPr lang="zh-CN" altLang="en-US" sz="1200" b="0" i="0" kern="1200" dirty="0" smtClean="0">
                <a:solidFill>
                  <a:schemeClr val="tx1"/>
                </a:solidFill>
                <a:effectLst/>
                <a:latin typeface="+mn-lt"/>
                <a:ea typeface="+mn-ea"/>
                <a:cs typeface="+mn-cs"/>
              </a:rPr>
              <a:t>所构成，每个</a:t>
            </a:r>
            <a:r>
              <a:rPr lang="en-US" altLang="zh-CN" sz="1200" b="0" i="0" kern="1200" dirty="0" err="1" smtClean="0">
                <a:solidFill>
                  <a:schemeClr val="tx1"/>
                </a:solidFill>
                <a:effectLst/>
                <a:latin typeface="+mn-lt"/>
                <a:ea typeface="+mn-ea"/>
                <a:cs typeface="+mn-cs"/>
              </a:rPr>
              <a:t>ChannelHandler</a:t>
            </a:r>
            <a:r>
              <a:rPr lang="zh-CN" altLang="en-US" sz="1200" b="0" i="0" kern="1200" dirty="0" smtClean="0">
                <a:solidFill>
                  <a:schemeClr val="tx1"/>
                </a:solidFill>
                <a:effectLst/>
                <a:latin typeface="+mn-lt"/>
                <a:ea typeface="+mn-ea"/>
                <a:cs typeface="+mn-cs"/>
              </a:rPr>
              <a:t>处理完以 后会传递给链中的下一个处理句柄继续处理。</a:t>
            </a:r>
            <a:endParaRPr lang="zh-CN" alt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ChannelHandler</a:t>
            </a:r>
            <a:r>
              <a:rPr lang="zh-CN" altLang="en-US" sz="1200" b="0" i="0" kern="1200" dirty="0" smtClean="0">
                <a:solidFill>
                  <a:schemeClr val="tx1"/>
                </a:solidFill>
                <a:effectLst/>
                <a:latin typeface="+mn-lt"/>
                <a:ea typeface="+mn-ea"/>
                <a:cs typeface="+mn-cs"/>
              </a:rPr>
              <a:t>：处理句柄，用户可以定义自己的处理句柄来处理每个请求，或发出请求前进行预处理，典型的有编码</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解码器：</a:t>
            </a:r>
            <a:r>
              <a:rPr lang="en-US" altLang="zh-CN" sz="1200" b="0" i="0" kern="1200" dirty="0" smtClean="0">
                <a:solidFill>
                  <a:schemeClr val="tx1"/>
                </a:solidFill>
                <a:effectLst/>
                <a:latin typeface="+mn-lt"/>
                <a:ea typeface="+mn-ea"/>
                <a:cs typeface="+mn-cs"/>
              </a:rPr>
              <a:t>decoder</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encoder</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ChannelEvent</a:t>
            </a:r>
            <a:r>
              <a:rPr lang="zh-CN" altLang="en-US" sz="1200" b="0" i="0" kern="1200" dirty="0" smtClean="0">
                <a:solidFill>
                  <a:schemeClr val="tx1"/>
                </a:solidFill>
                <a:effectLst/>
                <a:latin typeface="+mn-lt"/>
                <a:ea typeface="+mn-ea"/>
                <a:cs typeface="+mn-cs"/>
              </a:rPr>
              <a:t>：事件，是整个模型的处理对象，当产生一个事件时，该事件会沿着</a:t>
            </a:r>
            <a:r>
              <a:rPr lang="en-US" altLang="zh-CN" sz="1200" b="0" i="0" kern="1200" dirty="0" err="1" smtClean="0">
                <a:solidFill>
                  <a:schemeClr val="tx1"/>
                </a:solidFill>
                <a:effectLst/>
                <a:latin typeface="+mn-lt"/>
                <a:ea typeface="+mn-ea"/>
                <a:cs typeface="+mn-cs"/>
              </a:rPr>
              <a:t>ChannelPipeline</a:t>
            </a:r>
            <a:r>
              <a:rPr lang="zh-CN" altLang="en-US" sz="1200" b="0" i="0" kern="1200" dirty="0" smtClean="0">
                <a:solidFill>
                  <a:schemeClr val="tx1"/>
                </a:solidFill>
                <a:effectLst/>
                <a:latin typeface="+mn-lt"/>
                <a:ea typeface="+mn-ea"/>
                <a:cs typeface="+mn-cs"/>
              </a:rPr>
              <a:t>处理链依次被处理。</a:t>
            </a:r>
            <a:endParaRPr lang="zh-CN" altLang="en-US"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ChannelFuture</a:t>
            </a:r>
            <a:r>
              <a:rPr lang="zh-CN" altLang="en-US" sz="1200" b="0" i="0" kern="1200" dirty="0" smtClean="0">
                <a:solidFill>
                  <a:schemeClr val="tx1"/>
                </a:solidFill>
                <a:effectLst/>
                <a:latin typeface="+mn-lt"/>
                <a:ea typeface="+mn-ea"/>
                <a:cs typeface="+mn-cs"/>
              </a:rPr>
              <a:t>： 异步结果，这个是异步事件处理的关键，当一个事件被处理时，可以直接以</a:t>
            </a:r>
            <a:r>
              <a:rPr lang="en-US" altLang="zh-CN" sz="1200" b="0" i="0" kern="1200" dirty="0" err="1" smtClean="0">
                <a:solidFill>
                  <a:schemeClr val="tx1"/>
                </a:solidFill>
                <a:effectLst/>
                <a:latin typeface="+mn-lt"/>
                <a:ea typeface="+mn-ea"/>
                <a:cs typeface="+mn-cs"/>
              </a:rPr>
              <a:t>ChannelFuture</a:t>
            </a:r>
            <a:r>
              <a:rPr lang="zh-CN" altLang="en-US" sz="1200" b="0" i="0" kern="1200" dirty="0" smtClean="0">
                <a:solidFill>
                  <a:schemeClr val="tx1"/>
                </a:solidFill>
                <a:effectLst/>
                <a:latin typeface="+mn-lt"/>
                <a:ea typeface="+mn-ea"/>
                <a:cs typeface="+mn-cs"/>
              </a:rPr>
              <a:t>的形式直接返回，不用在当前操作中被阻塞。可以通过 </a:t>
            </a:r>
            <a:r>
              <a:rPr lang="en-US" altLang="zh-CN" sz="1200" b="0" i="0" kern="1200" dirty="0" err="1" smtClean="0">
                <a:solidFill>
                  <a:schemeClr val="tx1"/>
                </a:solidFill>
                <a:effectLst/>
                <a:latin typeface="+mn-lt"/>
                <a:ea typeface="+mn-ea"/>
                <a:cs typeface="+mn-cs"/>
              </a:rPr>
              <a:t>ChannelFuture</a:t>
            </a:r>
            <a:r>
              <a:rPr lang="zh-CN" altLang="en-US" sz="1200" b="0" i="0" kern="1200" dirty="0" smtClean="0">
                <a:solidFill>
                  <a:schemeClr val="tx1"/>
                </a:solidFill>
                <a:effectLst/>
                <a:latin typeface="+mn-lt"/>
                <a:ea typeface="+mn-ea"/>
                <a:cs typeface="+mn-cs"/>
              </a:rPr>
              <a:t>得到最终的执行结果，具体的做法是在</a:t>
            </a:r>
            <a:r>
              <a:rPr lang="en-US" altLang="zh-CN" sz="1200" b="0" i="0" kern="1200" dirty="0" err="1" smtClean="0">
                <a:solidFill>
                  <a:schemeClr val="tx1"/>
                </a:solidFill>
                <a:effectLst/>
                <a:latin typeface="+mn-lt"/>
                <a:ea typeface="+mn-ea"/>
                <a:cs typeface="+mn-cs"/>
              </a:rPr>
              <a:t>ChannelFuture</a:t>
            </a:r>
            <a:r>
              <a:rPr lang="zh-CN" altLang="en-US" sz="1200" b="0" i="0" kern="1200" dirty="0" smtClean="0">
                <a:solidFill>
                  <a:schemeClr val="tx1"/>
                </a:solidFill>
                <a:effectLst/>
                <a:latin typeface="+mn-lt"/>
                <a:ea typeface="+mn-ea"/>
                <a:cs typeface="+mn-cs"/>
              </a:rPr>
              <a:t>添加监听器</a:t>
            </a:r>
            <a:r>
              <a:rPr lang="en-US" altLang="zh-CN" sz="1200" b="0" i="0" kern="1200" dirty="0" smtClean="0">
                <a:solidFill>
                  <a:schemeClr val="tx1"/>
                </a:solidFill>
                <a:effectLst/>
                <a:latin typeface="+mn-lt"/>
                <a:ea typeface="+mn-ea"/>
                <a:cs typeface="+mn-cs"/>
              </a:rPr>
              <a:t>listener</a:t>
            </a:r>
            <a:r>
              <a:rPr lang="zh-CN" altLang="en-US" sz="1200" b="0" i="0" kern="1200" dirty="0" smtClean="0">
                <a:solidFill>
                  <a:schemeClr val="tx1"/>
                </a:solidFill>
                <a:effectLst/>
                <a:latin typeface="+mn-lt"/>
                <a:ea typeface="+mn-ea"/>
                <a:cs typeface="+mn-cs"/>
              </a:rPr>
              <a:t>，当操作最终被执行完后，</a:t>
            </a:r>
            <a:r>
              <a:rPr lang="en-US" altLang="zh-CN" sz="1200" b="0" i="0" kern="1200" dirty="0" smtClean="0">
                <a:solidFill>
                  <a:schemeClr val="tx1"/>
                </a:solidFill>
                <a:effectLst/>
                <a:latin typeface="+mn-lt"/>
                <a:ea typeface="+mn-ea"/>
                <a:cs typeface="+mn-cs"/>
              </a:rPr>
              <a:t>listener</a:t>
            </a:r>
            <a:r>
              <a:rPr lang="zh-CN" altLang="en-US" sz="1200" b="0" i="0" kern="1200" dirty="0" smtClean="0">
                <a:solidFill>
                  <a:schemeClr val="tx1"/>
                </a:solidFill>
                <a:effectLst/>
                <a:latin typeface="+mn-lt"/>
                <a:ea typeface="+mn-ea"/>
                <a:cs typeface="+mn-cs"/>
              </a:rPr>
              <a:t>会被触发，我们可以在</a:t>
            </a:r>
            <a:r>
              <a:rPr lang="en-US" altLang="zh-CN" sz="1200" b="0" i="0" kern="1200" dirty="0" smtClean="0">
                <a:solidFill>
                  <a:schemeClr val="tx1"/>
                </a:solidFill>
                <a:effectLst/>
                <a:latin typeface="+mn-lt"/>
                <a:ea typeface="+mn-ea"/>
                <a:cs typeface="+mn-cs"/>
              </a:rPr>
              <a:t>listener</a:t>
            </a:r>
            <a:r>
              <a:rPr lang="zh-CN" altLang="en-US" sz="1200" b="0" i="0" kern="1200" dirty="0" smtClean="0">
                <a:solidFill>
                  <a:schemeClr val="tx1"/>
                </a:solidFill>
                <a:effectLst/>
                <a:latin typeface="+mn-lt"/>
                <a:ea typeface="+mn-ea"/>
                <a:cs typeface="+mn-cs"/>
              </a:rPr>
              <a:t>的回调函数中预定义我们的业务代码。</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 Upstream</a:t>
            </a:r>
            <a:r>
              <a:rPr lang="zh-CN" altLang="en-US" sz="1200" b="0" i="0" kern="1200" dirty="0" smtClean="0">
                <a:solidFill>
                  <a:schemeClr val="tx1"/>
                </a:solidFill>
                <a:effectLst/>
                <a:latin typeface="+mn-lt"/>
                <a:ea typeface="+mn-ea"/>
                <a:cs typeface="+mn-cs"/>
              </a:rPr>
              <a:t>一般处理来自</a:t>
            </a:r>
            <a:r>
              <a:rPr lang="en-US" altLang="zh-CN" sz="1200" b="0" i="0" kern="1200" dirty="0" smtClean="0">
                <a:solidFill>
                  <a:schemeClr val="tx1"/>
                </a:solidFill>
                <a:effectLst/>
                <a:latin typeface="+mn-lt"/>
                <a:ea typeface="+mn-ea"/>
                <a:cs typeface="+mn-cs"/>
              </a:rPr>
              <a:t>Channel</a:t>
            </a:r>
            <a:r>
              <a:rPr lang="zh-CN" altLang="en-US" sz="1200" b="0" i="0" kern="1200" dirty="0" smtClean="0">
                <a:solidFill>
                  <a:schemeClr val="tx1"/>
                </a:solidFill>
                <a:effectLst/>
                <a:latin typeface="+mn-lt"/>
                <a:ea typeface="+mn-ea"/>
                <a:cs typeface="+mn-cs"/>
              </a:rPr>
              <a:t>的读事件，而</a:t>
            </a:r>
            <a:r>
              <a:rPr lang="en-US" altLang="zh-CN" sz="1200" b="0" i="0" kern="1200" dirty="0" smtClean="0">
                <a:solidFill>
                  <a:schemeClr val="tx1"/>
                </a:solidFill>
                <a:effectLst/>
                <a:latin typeface="+mn-lt"/>
                <a:ea typeface="+mn-ea"/>
                <a:cs typeface="+mn-cs"/>
              </a:rPr>
              <a:t>downstream</a:t>
            </a:r>
            <a:r>
              <a:rPr lang="zh-CN" altLang="en-US" sz="1200" b="0" i="0" kern="1200" dirty="0" smtClean="0">
                <a:solidFill>
                  <a:schemeClr val="tx1"/>
                </a:solidFill>
                <a:effectLst/>
                <a:latin typeface="+mn-lt"/>
                <a:ea typeface="+mn-ea"/>
                <a:cs typeface="+mn-cs"/>
              </a:rPr>
              <a:t>一般处理向</a:t>
            </a:r>
            <a:r>
              <a:rPr lang="en-US" altLang="zh-CN" sz="1200" b="0" i="0" kern="1200" dirty="0" smtClean="0">
                <a:solidFill>
                  <a:schemeClr val="tx1"/>
                </a:solidFill>
                <a:effectLst/>
                <a:latin typeface="+mn-lt"/>
                <a:ea typeface="+mn-ea"/>
                <a:cs typeface="+mn-cs"/>
              </a:rPr>
              <a:t>Channel</a:t>
            </a:r>
            <a:r>
              <a:rPr lang="zh-CN" altLang="en-US" sz="1200" b="0" i="0" kern="1200" dirty="0" smtClean="0">
                <a:solidFill>
                  <a:schemeClr val="tx1"/>
                </a:solidFill>
                <a:effectLst/>
                <a:latin typeface="+mn-lt"/>
                <a:ea typeface="+mn-ea"/>
                <a:cs typeface="+mn-cs"/>
              </a:rPr>
              <a:t>的写事件。需要注意的是，这两个处理链是相互独立的，在</a:t>
            </a:r>
            <a:r>
              <a:rPr lang="en-US" altLang="zh-CN" sz="1200" b="0" i="0" kern="1200" dirty="0" smtClean="0">
                <a:solidFill>
                  <a:schemeClr val="tx1"/>
                </a:solidFill>
                <a:effectLst/>
                <a:latin typeface="+mn-lt"/>
                <a:ea typeface="+mn-ea"/>
                <a:cs typeface="+mn-cs"/>
              </a:rPr>
              <a:t>upstream</a:t>
            </a:r>
            <a:r>
              <a:rPr lang="zh-CN" altLang="en-US" sz="1200" b="0" i="0" kern="1200" dirty="0" smtClean="0">
                <a:solidFill>
                  <a:schemeClr val="tx1"/>
                </a:solidFill>
                <a:effectLst/>
                <a:latin typeface="+mn-lt"/>
                <a:ea typeface="+mn-ea"/>
                <a:cs typeface="+mn-cs"/>
              </a:rPr>
              <a:t>链中传递到最后一个</a:t>
            </a:r>
            <a:r>
              <a:rPr lang="en-US" altLang="zh-CN" sz="1200" b="0" i="0" kern="1200" dirty="0" err="1" smtClean="0">
                <a:solidFill>
                  <a:schemeClr val="tx1"/>
                </a:solidFill>
                <a:effectLst/>
                <a:latin typeface="+mn-lt"/>
                <a:ea typeface="+mn-ea"/>
                <a:cs typeface="+mn-cs"/>
              </a:rPr>
              <a:t>ChannelHandler</a:t>
            </a:r>
            <a:r>
              <a:rPr lang="zh-CN" altLang="en-US" sz="1200" b="0" i="0" kern="1200" dirty="0" smtClean="0">
                <a:solidFill>
                  <a:schemeClr val="tx1"/>
                </a:solidFill>
                <a:effectLst/>
                <a:latin typeface="+mn-lt"/>
                <a:ea typeface="+mn-ea"/>
                <a:cs typeface="+mn-cs"/>
              </a:rPr>
              <a:t>处理后，不会再传递到</a:t>
            </a:r>
            <a:r>
              <a:rPr lang="en-US" altLang="zh-CN" sz="1200" b="0" i="0" kern="1200" dirty="0" smtClean="0">
                <a:solidFill>
                  <a:schemeClr val="tx1"/>
                </a:solidFill>
                <a:effectLst/>
                <a:latin typeface="+mn-lt"/>
                <a:ea typeface="+mn-ea"/>
                <a:cs typeface="+mn-cs"/>
              </a:rPr>
              <a:t>downstream</a:t>
            </a:r>
            <a:r>
              <a:rPr lang="zh-CN" altLang="en-US" sz="1200" b="0" i="0" kern="1200" dirty="0" smtClean="0">
                <a:solidFill>
                  <a:schemeClr val="tx1"/>
                </a:solidFill>
                <a:effectLst/>
                <a:latin typeface="+mn-lt"/>
                <a:ea typeface="+mn-ea"/>
                <a:cs typeface="+mn-cs"/>
              </a:rPr>
              <a:t>链中继续处理。</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在</a:t>
            </a:r>
            <a:r>
              <a:rPr lang="en-US" altLang="zh-CN" sz="1200" b="0" i="0" kern="1200" dirty="0" smtClean="0">
                <a:solidFill>
                  <a:schemeClr val="tx1"/>
                </a:solidFill>
                <a:effectLst/>
                <a:latin typeface="+mn-lt"/>
                <a:ea typeface="+mn-ea"/>
                <a:cs typeface="+mn-cs"/>
              </a:rPr>
              <a:t>downstream</a:t>
            </a:r>
            <a:r>
              <a:rPr lang="zh-CN" altLang="en-US" sz="1200" b="0" i="0" kern="1200" dirty="0" smtClean="0">
                <a:solidFill>
                  <a:schemeClr val="tx1"/>
                </a:solidFill>
                <a:effectLst/>
                <a:latin typeface="+mn-lt"/>
                <a:ea typeface="+mn-ea"/>
                <a:cs typeface="+mn-cs"/>
              </a:rPr>
              <a:t>链的末端会有个</a:t>
            </a:r>
            <a:r>
              <a:rPr lang="en-US" altLang="zh-CN" sz="1200" b="0" i="0" u="none" strike="noStrike" kern="1200" dirty="0" err="1" smtClean="0">
                <a:solidFill>
                  <a:schemeClr val="tx1"/>
                </a:solidFill>
                <a:effectLst/>
                <a:latin typeface="+mn-lt"/>
                <a:ea typeface="+mn-ea"/>
                <a:cs typeface="+mn-cs"/>
              </a:rPr>
              <a:t>ChannelSink</a:t>
            </a:r>
            <a:r>
              <a:rPr lang="zh-CN" altLang="en-US" sz="1200" b="0" i="0" kern="1200" dirty="0" smtClean="0">
                <a:solidFill>
                  <a:schemeClr val="tx1"/>
                </a:solidFill>
                <a:effectLst/>
                <a:latin typeface="+mn-lt"/>
                <a:ea typeface="+mn-ea"/>
                <a:cs typeface="+mn-cs"/>
              </a:rPr>
              <a:t>处理，用户可以自定义这个</a:t>
            </a:r>
            <a:r>
              <a:rPr lang="en-US" altLang="zh-CN" sz="1200" b="0" i="0" kern="1200" dirty="0" err="1" smtClean="0">
                <a:solidFill>
                  <a:schemeClr val="tx1"/>
                </a:solidFill>
                <a:effectLst/>
                <a:latin typeface="+mn-lt"/>
                <a:ea typeface="+mn-ea"/>
                <a:cs typeface="+mn-cs"/>
              </a:rPr>
              <a:t>ChannelSink</a:t>
            </a:r>
            <a:r>
              <a:rPr lang="zh-CN" altLang="en-US" sz="1200" b="0" i="0" kern="1200" dirty="0" smtClean="0">
                <a:solidFill>
                  <a:schemeClr val="tx1"/>
                </a:solidFill>
                <a:effectLst/>
                <a:latin typeface="+mn-lt"/>
                <a:ea typeface="+mn-ea"/>
                <a:cs typeface="+mn-cs"/>
              </a:rPr>
              <a:t>的实现，系统也有个默认的实现，当</a:t>
            </a:r>
            <a:r>
              <a:rPr lang="en-US" altLang="zh-CN" sz="1200" b="0" i="0" kern="1200" dirty="0" smtClean="0">
                <a:solidFill>
                  <a:schemeClr val="tx1"/>
                </a:solidFill>
                <a:effectLst/>
                <a:latin typeface="+mn-lt"/>
                <a:ea typeface="+mn-ea"/>
                <a:cs typeface="+mn-cs"/>
              </a:rPr>
              <a:t>downstream</a:t>
            </a:r>
            <a:r>
              <a:rPr lang="zh-CN" altLang="en-US" sz="1200" b="0" i="0" kern="1200" dirty="0" smtClean="0">
                <a:solidFill>
                  <a:schemeClr val="tx1"/>
                </a:solidFill>
                <a:effectLst/>
                <a:latin typeface="+mn-lt"/>
                <a:ea typeface="+mn-ea"/>
                <a:cs typeface="+mn-cs"/>
              </a:rPr>
              <a:t>链中最后一个</a:t>
            </a:r>
            <a:r>
              <a:rPr lang="en-US" altLang="zh-CN" sz="1200" b="0" i="0" kern="1200" dirty="0" err="1" smtClean="0">
                <a:solidFill>
                  <a:schemeClr val="tx1"/>
                </a:solidFill>
                <a:effectLst/>
                <a:latin typeface="+mn-lt"/>
                <a:ea typeface="+mn-ea"/>
                <a:cs typeface="+mn-cs"/>
              </a:rPr>
              <a:t>ChannelHandler</a:t>
            </a:r>
            <a:r>
              <a:rPr lang="zh-CN" altLang="en-US" sz="1200" b="0" i="0" kern="1200" dirty="0" smtClean="0">
                <a:solidFill>
                  <a:schemeClr val="tx1"/>
                </a:solidFill>
                <a:effectLst/>
                <a:latin typeface="+mn-lt"/>
                <a:ea typeface="+mn-ea"/>
                <a:cs typeface="+mn-cs"/>
              </a:rPr>
              <a:t>处理完后会被传递给这个</a:t>
            </a:r>
            <a:r>
              <a:rPr lang="en-US" altLang="zh-CN" sz="1200" b="0" i="0" kern="1200" dirty="0" err="1" smtClean="0">
                <a:solidFill>
                  <a:schemeClr val="tx1"/>
                </a:solidFill>
                <a:effectLst/>
                <a:latin typeface="+mn-lt"/>
                <a:ea typeface="+mn-ea"/>
                <a:cs typeface="+mn-cs"/>
              </a:rPr>
              <a:t>ChannelSink</a:t>
            </a:r>
            <a:r>
              <a:rPr lang="zh-CN" altLang="en-US" sz="1200" b="0" i="0" kern="1200" dirty="0" smtClean="0">
                <a:solidFill>
                  <a:schemeClr val="tx1"/>
                </a:solidFill>
                <a:effectLst/>
                <a:latin typeface="+mn-lt"/>
                <a:ea typeface="+mn-ea"/>
                <a:cs typeface="+mn-cs"/>
              </a:rPr>
              <a:t>进行最后的处理。</a:t>
            </a:r>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加州大学伯克利分校</a:t>
            </a:r>
            <a:r>
              <a:rPr lang="en-US" altLang="zh-CN" sz="1200" b="0" i="0" kern="1200" dirty="0" smtClean="0">
                <a:solidFill>
                  <a:schemeClr val="tx1"/>
                </a:solidFill>
                <a:effectLst/>
                <a:latin typeface="+mn-lt"/>
                <a:ea typeface="+mn-ea"/>
                <a:cs typeface="+mn-cs"/>
              </a:rPr>
              <a:t>-Matt Welsh</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基本原理是：应用程序被构造为阶段网络，阶段之间靠事件队列联系，应用程序设计者只负责每个阶段的服务逻辑和阶段间的连接逻辑，而由各阶段自身负责资源管理和负载适应功能。使用这种分解使系统达到高并发性、高效率性、对负载变化的良好适应性以及良好的系统缩放性</a:t>
            </a:r>
            <a:endParaRPr lang="zh-CN" altLang="en-US" sz="1200" dirty="0" smtClean="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SEDA</a:t>
            </a:r>
            <a:r>
              <a:rPr lang="zh-CN" altLang="en-US" sz="1200" b="0" i="0" kern="1200" dirty="0" smtClean="0">
                <a:solidFill>
                  <a:schemeClr val="tx1"/>
                </a:solidFill>
                <a:effectLst/>
                <a:latin typeface="+mn-lt"/>
                <a:ea typeface="+mn-ea"/>
                <a:cs typeface="+mn-cs"/>
              </a:rPr>
              <a:t>将一个请求的处理过程分解为一系列的阶段，阶段之间通过事件队列联系，开发人员只负责每个阶段的服务逻辑以及阶段间的连接逻辑，而由各个阶段自身负责资源管理以及负载适应功能。使用这种解耦拆分可以使系统达到高并发性、对负载变化的良好适应性以及高度的可缩放性。   </a:t>
            </a:r>
            <a:endParaRPr lang="en-US" altLang="zh-CN" sz="1200" b="0" i="0" kern="1200" dirty="0" smtClean="0">
              <a:solidFill>
                <a:schemeClr val="tx1"/>
              </a:solidFill>
              <a:effectLst/>
              <a:latin typeface="+mn-lt"/>
              <a:ea typeface="+mn-ea"/>
              <a:cs typeface="+mn-cs"/>
            </a:endParaRPr>
          </a:p>
          <a:p>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微软雅黑" panose="020B0503020204020204" pitchFamily="34" charset="-122"/>
                <a:ea typeface="微软雅黑" panose="020B0503020204020204" pitchFamily="34" charset="-122"/>
                <a:cs typeface="+mn-cs"/>
              </a:rPr>
              <a:t>事件驱动并发：</a:t>
            </a:r>
            <a:r>
              <a:rPr lang="en-US" altLang="zh-CN" sz="1200" b="0" i="0" kern="1200" dirty="0" smtClean="0">
                <a:solidFill>
                  <a:schemeClr val="tx1"/>
                </a:solidFill>
                <a:effectLst/>
                <a:latin typeface="+mn-lt"/>
                <a:ea typeface="+mn-ea"/>
                <a:cs typeface="+mn-cs"/>
              </a:rPr>
              <a:t>SEDA</a:t>
            </a:r>
            <a:r>
              <a:rPr lang="zh-CN" altLang="en-US" sz="1200" b="0" i="0" kern="1200" dirty="0" smtClean="0">
                <a:solidFill>
                  <a:schemeClr val="tx1"/>
                </a:solidFill>
                <a:effectLst/>
                <a:latin typeface="+mn-lt"/>
                <a:ea typeface="+mn-ea"/>
                <a:cs typeface="+mn-cs"/>
              </a:rPr>
              <a:t>并发模型依赖于</a:t>
            </a:r>
            <a:r>
              <a:rPr lang="en-US" altLang="zh-CN" sz="1200" b="0" i="0" kern="1200" dirty="0" smtClean="0">
                <a:solidFill>
                  <a:schemeClr val="tx1"/>
                </a:solidFill>
                <a:effectLst/>
                <a:latin typeface="+mn-lt"/>
                <a:ea typeface="+mn-ea"/>
                <a:cs typeface="+mn-cs"/>
              </a:rPr>
              <a:t>Event-driven concurrency </a:t>
            </a:r>
            <a:r>
              <a:rPr lang="zh-CN" altLang="en-US" sz="1200" b="0" i="0" kern="1200" dirty="0" smtClean="0">
                <a:solidFill>
                  <a:schemeClr val="tx1"/>
                </a:solidFill>
                <a:effectLst/>
                <a:latin typeface="+mn-lt"/>
                <a:ea typeface="+mn-ea"/>
                <a:cs typeface="+mn-cs"/>
              </a:rPr>
              <a:t>模型来支持高并发。利用一组线程来处理每个请求，而不是每一个请求一个线程，利用 </a:t>
            </a:r>
            <a:r>
              <a:rPr lang="en-US" altLang="zh-CN" sz="1200" b="0" i="0" kern="1200" dirty="0" err="1" smtClean="0">
                <a:solidFill>
                  <a:schemeClr val="tx1"/>
                </a:solidFill>
                <a:effectLst/>
                <a:latin typeface="+mn-lt"/>
                <a:ea typeface="+mn-ea"/>
                <a:cs typeface="+mn-cs"/>
              </a:rPr>
              <a:t>Nonblocking</a:t>
            </a:r>
            <a:r>
              <a:rPr lang="en-US" altLang="zh-CN" sz="1200" b="0" i="0" kern="1200" dirty="0" smtClean="0">
                <a:solidFill>
                  <a:schemeClr val="tx1"/>
                </a:solidFill>
                <a:effectLst/>
                <a:latin typeface="+mn-lt"/>
                <a:ea typeface="+mn-ea"/>
                <a:cs typeface="+mn-cs"/>
              </a:rPr>
              <a:t> I/O</a:t>
            </a:r>
            <a:r>
              <a:rPr lang="zh-CN" altLang="en-US" sz="1200" b="0" i="0" kern="1200" dirty="0" smtClean="0">
                <a:solidFill>
                  <a:schemeClr val="tx1"/>
                </a:solidFill>
                <a:effectLst/>
                <a:latin typeface="+mn-lt"/>
                <a:ea typeface="+mn-ea"/>
                <a:cs typeface="+mn-cs"/>
              </a:rPr>
              <a:t>来避免资源的阻塞。</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动态线程池：</a:t>
            </a:r>
            <a:r>
              <a:rPr lang="zh-CN" altLang="en-US" sz="1200" b="0" i="0" kern="1200" dirty="0" smtClean="0">
                <a:solidFill>
                  <a:schemeClr val="tx1"/>
                </a:solidFill>
                <a:effectLst/>
                <a:latin typeface="+mn-lt"/>
                <a:ea typeface="+mn-ea"/>
                <a:cs typeface="+mn-cs"/>
              </a:rPr>
              <a:t>为了避免设计事件调度和达到非阻塞操作的要求，</a:t>
            </a:r>
            <a:r>
              <a:rPr lang="en-US" altLang="zh-CN" sz="1200" b="0" i="0" kern="1200" dirty="0" smtClean="0">
                <a:solidFill>
                  <a:schemeClr val="tx1"/>
                </a:solidFill>
                <a:effectLst/>
                <a:latin typeface="+mn-lt"/>
                <a:ea typeface="+mn-ea"/>
                <a:cs typeface="+mn-cs"/>
              </a:rPr>
              <a:t>SEDA</a:t>
            </a:r>
            <a:r>
              <a:rPr lang="zh-CN" altLang="en-US" sz="1200" b="0" i="0" kern="1200" dirty="0" smtClean="0">
                <a:solidFill>
                  <a:schemeClr val="tx1"/>
                </a:solidFill>
                <a:effectLst/>
                <a:latin typeface="+mn-lt"/>
                <a:ea typeface="+mn-ea"/>
                <a:cs typeface="+mn-cs"/>
              </a:rPr>
              <a:t>利用一系列线程组（</a:t>
            </a:r>
            <a:r>
              <a:rPr lang="en-US" altLang="zh-CN" sz="1200" b="0" i="0" kern="1200" dirty="0" smtClean="0">
                <a:solidFill>
                  <a:schemeClr val="tx1"/>
                </a:solidFill>
                <a:effectLst/>
                <a:latin typeface="+mn-lt"/>
                <a:ea typeface="+mn-ea"/>
                <a:cs typeface="+mn-cs"/>
              </a:rPr>
              <a:t>Thread pool</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每一个事件处理器利用一个动态的线程池。这样就可以利用</a:t>
            </a:r>
            <a:r>
              <a:rPr lang="en-US" altLang="zh-CN" sz="1200" b="0" i="0" kern="1200" dirty="0" smtClean="0">
                <a:solidFill>
                  <a:schemeClr val="tx1"/>
                </a:solidFill>
                <a:effectLst/>
                <a:latin typeface="+mn-lt"/>
                <a:ea typeface="+mn-ea"/>
                <a:cs typeface="+mn-cs"/>
              </a:rPr>
              <a:t>OS</a:t>
            </a:r>
            <a:r>
              <a:rPr lang="zh-CN" altLang="en-US" sz="1200" b="0" i="0" kern="1200" dirty="0" smtClean="0">
                <a:solidFill>
                  <a:schemeClr val="tx1"/>
                </a:solidFill>
                <a:effectLst/>
                <a:latin typeface="+mn-lt"/>
                <a:ea typeface="+mn-ea"/>
                <a:cs typeface="+mn-cs"/>
              </a:rPr>
              <a:t>的线程调度来调度事件的处理，并且可以允许事件处理代码阻塞一小段时间，因为有多个线程（一个动态线程池）可以处理一个事件。</a:t>
            </a:r>
            <a:br>
              <a:rPr lang="zh-CN" altLang="en-US" sz="1200" b="0" i="0" kern="1200" dirty="0" smtClean="0">
                <a:solidFill>
                  <a:schemeClr val="tx1"/>
                </a:solidFill>
                <a:effectLst/>
                <a:latin typeface="+mn-lt"/>
                <a:ea typeface="+mn-ea"/>
                <a:cs typeface="+mn-cs"/>
              </a:rPr>
            </a:b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结构化队列（代码模块化和负载管理）：</a:t>
            </a:r>
            <a:r>
              <a:rPr lang="zh-CN" altLang="en-US" sz="1200" b="0" i="0" kern="1200" dirty="0" smtClean="0">
                <a:solidFill>
                  <a:schemeClr val="tx1"/>
                </a:solidFill>
                <a:effectLst/>
                <a:latin typeface="+mn-lt"/>
                <a:ea typeface="+mn-ea"/>
                <a:cs typeface="+mn-cs"/>
              </a:rPr>
              <a:t>通过事件队列将一个应用分割成一系列的</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，可以让应用开发者只关注具体的业务逻辑（事件处理器）</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然后通过队列将各个</a:t>
            </a:r>
            <a:r>
              <a:rPr lang="en-US" altLang="zh-CN" sz="1200" b="0" i="0" kern="1200" dirty="0" smtClean="0">
                <a:solidFill>
                  <a:schemeClr val="tx1"/>
                </a:solidFill>
                <a:effectLst/>
                <a:latin typeface="+mn-lt"/>
                <a:ea typeface="+mn-ea"/>
                <a:cs typeface="+mn-cs"/>
              </a:rPr>
              <a:t>State</a:t>
            </a:r>
            <a:r>
              <a:rPr lang="zh-CN" altLang="en-US" sz="1200" b="0" i="0" kern="1200" dirty="0" smtClean="0">
                <a:solidFill>
                  <a:schemeClr val="tx1"/>
                </a:solidFill>
                <a:effectLst/>
                <a:latin typeface="+mn-lt"/>
                <a:ea typeface="+mn-ea"/>
                <a:cs typeface="+mn-cs"/>
              </a:rPr>
              <a:t>组装成应用，也可以动态的添加何卸载</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。这样可以独立开发每一个</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Stage</a:t>
            </a:r>
            <a:r>
              <a:rPr lang="zh-CN" altLang="en-US" dirty="0" smtClean="0"/>
              <a:t>由下述四部分组成：</a:t>
            </a:r>
            <a:br>
              <a:rPr lang="zh-CN" altLang="en-US" dirty="0" smtClean="0"/>
            </a:br>
            <a:r>
              <a:rPr lang="zh-CN" altLang="en-US" dirty="0" smtClean="0"/>
              <a:t> </a:t>
            </a:r>
            <a:r>
              <a:rPr lang="en-US" altLang="zh-CN" dirty="0" smtClean="0"/>
              <a:t>(1) </a:t>
            </a:r>
            <a:r>
              <a:rPr lang="zh-CN" altLang="en-US" dirty="0" smtClean="0"/>
              <a:t>事件队列：用以维持</a:t>
            </a:r>
            <a:r>
              <a:rPr lang="en-US" altLang="zh-CN" dirty="0" smtClean="0"/>
              <a:t>Stage</a:t>
            </a:r>
            <a:r>
              <a:rPr lang="zh-CN" altLang="en-US" dirty="0" smtClean="0"/>
              <a:t>间之通信（超量请求：进行资源配额，外部不稳定：异步通知）</a:t>
            </a:r>
            <a:br>
              <a:rPr lang="zh-CN" altLang="en-US" dirty="0" smtClean="0"/>
            </a:br>
            <a:r>
              <a:rPr lang="zh-CN" altLang="en-US" dirty="0" smtClean="0"/>
              <a:t> </a:t>
            </a:r>
            <a:r>
              <a:rPr lang="en-US" altLang="zh-CN" dirty="0" smtClean="0"/>
              <a:t>(2) </a:t>
            </a:r>
            <a:r>
              <a:rPr lang="zh-CN" altLang="en-US" dirty="0" smtClean="0"/>
              <a:t>事件处理器：用以执行请求到这一个</a:t>
            </a:r>
            <a:r>
              <a:rPr lang="en-US" altLang="zh-CN" dirty="0" smtClean="0"/>
              <a:t>Stage</a:t>
            </a:r>
            <a:r>
              <a:rPr lang="zh-CN" altLang="en-US" dirty="0" smtClean="0"/>
              <a:t>中所应执行的工作</a:t>
            </a:r>
            <a:br>
              <a:rPr lang="zh-CN" altLang="en-US" dirty="0" smtClean="0"/>
            </a:br>
            <a:r>
              <a:rPr lang="zh-CN" altLang="en-US" dirty="0" smtClean="0"/>
              <a:t> </a:t>
            </a:r>
            <a:r>
              <a:rPr lang="en-US" altLang="zh-CN" dirty="0" smtClean="0"/>
              <a:t>(3) </a:t>
            </a:r>
            <a:r>
              <a:rPr lang="zh-CN" altLang="en-US" dirty="0" smtClean="0"/>
              <a:t>线程池：用以提供事件处理器且可以并发执行事件处理之环境</a:t>
            </a:r>
            <a:br>
              <a:rPr lang="zh-CN" altLang="en-US" dirty="0" smtClean="0"/>
            </a:br>
            <a:r>
              <a:rPr lang="zh-CN" altLang="en-US" dirty="0" smtClean="0"/>
              <a:t> </a:t>
            </a:r>
            <a:r>
              <a:rPr lang="en-US" altLang="zh-CN" dirty="0" smtClean="0"/>
              <a:t>(4) </a:t>
            </a:r>
            <a:r>
              <a:rPr lang="zh-CN" altLang="en-US" dirty="0" smtClean="0"/>
              <a:t>性能控制器：用以对该</a:t>
            </a:r>
            <a:r>
              <a:rPr lang="en-US" altLang="zh-CN" dirty="0" smtClean="0"/>
              <a:t>Stage</a:t>
            </a:r>
            <a:r>
              <a:rPr lang="zh-CN" altLang="en-US" dirty="0" smtClean="0"/>
              <a:t>资源（线程数、队列长度等）进行调整（请求积压：基于队列，有策略丢弃）</a:t>
            </a:r>
            <a:endParaRPr lang="en-US" altLang="zh-CN" dirty="0" smtClean="0"/>
          </a:p>
          <a:p>
            <a:r>
              <a:rPr lang="zh-CN" altLang="en-US" sz="1200" b="0" i="0" kern="1200" dirty="0" smtClean="0">
                <a:solidFill>
                  <a:schemeClr val="tx1"/>
                </a:solidFill>
                <a:effectLst/>
                <a:latin typeface="+mn-lt"/>
                <a:ea typeface="+mn-ea"/>
                <a:cs typeface="+mn-cs"/>
              </a:rPr>
              <a:t>通过这四部分的协作配合，每一个</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都可以很好地运行，并且可以控制资源的使用。已经过</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处理完，若没有后续工作，即可以回收线程池中的线程，来供给其他</a:t>
            </a:r>
            <a:r>
              <a:rPr lang="en-US" altLang="zh-CN" sz="1200" b="0" i="0" kern="1200" dirty="0" smtClean="0">
                <a:solidFill>
                  <a:schemeClr val="tx1"/>
                </a:solidFill>
                <a:effectLst/>
                <a:latin typeface="+mn-lt"/>
                <a:ea typeface="+mn-ea"/>
                <a:cs typeface="+mn-cs"/>
              </a:rPr>
              <a:t>Stage</a:t>
            </a:r>
            <a:r>
              <a:rPr lang="zh-CN" altLang="en-US" sz="1200" b="0" i="0" kern="1200" dirty="0" smtClean="0">
                <a:solidFill>
                  <a:schemeClr val="tx1"/>
                </a:solidFill>
                <a:effectLst/>
                <a:latin typeface="+mn-lt"/>
                <a:ea typeface="+mn-ea"/>
                <a:cs typeface="+mn-cs"/>
              </a:rPr>
              <a:t>使用</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r>
              <a:rPr lang="en-US" altLang="zh-CN"/>
              <a:t>Mule</a:t>
            </a:r>
            <a:r>
              <a:rPr lang="zh-CN" altLang="en-US"/>
              <a:t>：</a:t>
            </a:r>
            <a:endParaRPr lang="zh-CN" altLang="en-US"/>
          </a:p>
          <a:p>
            <a:r>
              <a:rPr lang="zh-CN" altLang="en-US"/>
              <a:t>a. 服务中介</a:t>
            </a:r>
            <a:endParaRPr lang="zh-CN" altLang="en-US"/>
          </a:p>
          <a:p>
            <a:r>
              <a:rPr lang="zh-CN" altLang="en-US"/>
              <a:t>将业务逻辑和消息发送分离，屏蔽服务的消息格式和协议，提供任意位置的服务调用，提供协议桥接。</a:t>
            </a:r>
            <a:endParaRPr lang="zh-CN" altLang="en-US"/>
          </a:p>
          <a:p>
            <a:r>
              <a:rPr lang="zh-CN" altLang="en-US"/>
              <a:t>b. 数据转换</a:t>
            </a:r>
            <a:endParaRPr lang="zh-CN" altLang="en-US"/>
          </a:p>
          <a:p>
            <a:r>
              <a:rPr lang="zh-CN" altLang="en-US"/>
              <a:t>在应用间交换不同格式的信息 操作消息的负载内容，包括加密、压缩和编码转换；在异构的传输协议的数据类型间格式化消息。</a:t>
            </a:r>
            <a:endParaRPr lang="zh-CN" altLang="en-US"/>
          </a:p>
          <a:p>
            <a:r>
              <a:rPr lang="zh-CN" altLang="en-US"/>
              <a:t>c. 消息路由</a:t>
            </a:r>
            <a:endParaRPr lang="zh-CN" altLang="en-US"/>
          </a:p>
          <a:p>
            <a:r>
              <a:rPr lang="zh-CN" altLang="en-US"/>
              <a:t>基于消息内容和复杂规则路由消息，实现消息的过滤、聚合以及重新排列序号。</a:t>
            </a:r>
            <a:endParaRPr lang="zh-CN" altLang="en-US"/>
          </a:p>
          <a:p>
            <a:r>
              <a:rPr lang="zh-CN" altLang="en-US"/>
              <a:t>d. 服务创建和托管</a:t>
            </a:r>
            <a:endParaRPr lang="zh-CN" altLang="en-US"/>
          </a:p>
          <a:p>
            <a:r>
              <a:rPr lang="zh-CN" altLang="en-US"/>
              <a:t>暴露端点、EJB、Spring Bean以及POJO作为服务，作为轻量级的服务容器进行服务托管。</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要解决这两个问题就必须在很大程度上依赖于架构搭建者对于系统的熟悉程度以及数据量的评估</a:t>
            </a:r>
            <a:endParaRPr lang="zh-CN" altLang="en-US" dirty="0"/>
          </a:p>
        </p:txBody>
      </p:sp>
      <p:sp>
        <p:nvSpPr>
          <p:cNvPr id="4" name="灯片编号占位符 3"/>
          <p:cNvSpPr>
            <a:spLocks noGrp="1"/>
          </p:cNvSpPr>
          <p:nvPr>
            <p:ph type="sldNum" sz="quarter" idx="10"/>
          </p:nvPr>
        </p:nvSpPr>
        <p:spPr/>
        <p:txBody>
          <a:bodyPr/>
          <a:lstStyle/>
          <a:p>
            <a:fld id="{5F264E0C-8B64-4036-B2BC-04C59079E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2996952"/>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互联网主流编程模型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5940152" y="6021288"/>
            <a:ext cx="3088432" cy="528464"/>
          </a:xfrm>
        </p:spPr>
        <p:txBody>
          <a:bodyPr>
            <a:normAutofit/>
          </a:bodyPr>
          <a:lstStyle/>
          <a:p>
            <a:r>
              <a:rPr lang="zh-CN" altLang="en-US" sz="1600" dirty="0" smtClean="0">
                <a:latin typeface="微软雅黑" panose="020B0503020204020204" pitchFamily="34" charset="-122"/>
                <a:ea typeface="微软雅黑" panose="020B0503020204020204" pitchFamily="34" charset="-122"/>
              </a:rPr>
              <a:t>彭雪波</a:t>
            </a:r>
            <a:endParaRPr lang="zh-CN" altLang="en-US" sz="1600"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目录</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976205" y="5517232"/>
            <a:ext cx="4592216" cy="550912"/>
          </a:xfrm>
        </p:spPr>
        <p:txBody>
          <a:bodyPr>
            <a:normAutofit lnSpcReduction="10000"/>
          </a:bodyPr>
          <a:lstStyle/>
          <a:p>
            <a:pPr marL="457200" indent="-457200" algn="l">
              <a:buFont typeface="Wingdings" panose="05000000000000000000" pitchFamily="2" charset="2"/>
              <a:buChar char="l"/>
            </a:pPr>
            <a:r>
              <a:rPr lang="zh-CN" altLang="en-US" dirty="0">
                <a:solidFill>
                  <a:schemeClr val="tx1"/>
                </a:solidFill>
                <a:latin typeface="微软雅黑" panose="020B0503020204020204" pitchFamily="34" charset="-122"/>
                <a:ea typeface="微软雅黑" panose="020B0503020204020204" pitchFamily="34" charset="-122"/>
              </a:rPr>
              <a:t>编程模型</a:t>
            </a:r>
            <a:r>
              <a:rPr lang="en-US" altLang="zh-CN" dirty="0" smtClean="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分析</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副标题 2"/>
          <p:cNvSpPr txBox="1"/>
          <p:nvPr/>
        </p:nvSpPr>
        <p:spPr>
          <a:xfrm>
            <a:off x="971600" y="1493168"/>
            <a:ext cx="4456584" cy="550912"/>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anose="05000000000000000000" pitchFamily="2" charset="2"/>
              <a:buChar char="l"/>
            </a:pPr>
            <a:r>
              <a:rPr lang="zh-CN" altLang="en-US" dirty="0" smtClean="0">
                <a:solidFill>
                  <a:schemeClr val="tx1"/>
                </a:solidFill>
                <a:latin typeface="微软雅黑" panose="020B0503020204020204" pitchFamily="34" charset="-122"/>
                <a:ea typeface="微软雅黑" panose="020B0503020204020204" pitchFamily="34" charset="-122"/>
              </a:rPr>
              <a:t>编程模型</a:t>
            </a:r>
            <a:r>
              <a:rPr lang="en-US" altLang="zh-CN" dirty="0" smtClean="0">
                <a:solidFill>
                  <a:schemeClr val="tx1"/>
                </a:solidFill>
                <a:latin typeface="微软雅黑" panose="020B0503020204020204" pitchFamily="34" charset="-122"/>
                <a:ea typeface="微软雅黑" panose="020B0503020204020204" pitchFamily="34" charset="-122"/>
              </a:rPr>
              <a:t>-</a:t>
            </a:r>
            <a:r>
              <a:rPr lang="zh-CN" altLang="en-US" dirty="0" smtClean="0">
                <a:solidFill>
                  <a:schemeClr val="tx1"/>
                </a:solidFill>
                <a:latin typeface="微软雅黑" panose="020B0503020204020204" pitchFamily="34" charset="-122"/>
                <a:ea typeface="微软雅黑" panose="020B0503020204020204" pitchFamily="34" charset="-122"/>
              </a:rPr>
              <a:t>分类</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 name="副标题 2"/>
          <p:cNvSpPr txBox="1"/>
          <p:nvPr/>
        </p:nvSpPr>
        <p:spPr>
          <a:xfrm>
            <a:off x="971600" y="4077072"/>
            <a:ext cx="4592216" cy="550912"/>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anose="05000000000000000000" pitchFamily="2" charset="2"/>
              <a:buChar char="l"/>
            </a:pPr>
            <a:r>
              <a:rPr lang="zh-CN" altLang="en-US" dirty="0">
                <a:solidFill>
                  <a:schemeClr val="tx1"/>
                </a:solidFill>
                <a:latin typeface="微软雅黑" panose="020B0503020204020204" pitchFamily="34" charset="-122"/>
                <a:ea typeface="微软雅黑" panose="020B0503020204020204" pitchFamily="34" charset="-122"/>
              </a:rPr>
              <a:t>编程模型</a:t>
            </a:r>
            <a:r>
              <a:rPr lang="en-US" altLang="zh-CN" dirty="0" smtClean="0">
                <a:solidFill>
                  <a:schemeClr val="tx1"/>
                </a:solidFill>
                <a:latin typeface="微软雅黑" panose="020B0503020204020204" pitchFamily="34" charset="-122"/>
                <a:ea typeface="微软雅黑" panose="020B0503020204020204" pitchFamily="34" charset="-122"/>
              </a:rPr>
              <a:t>-</a:t>
            </a:r>
            <a:r>
              <a:rPr lang="zh-CN" altLang="en-US" dirty="0" smtClean="0">
                <a:solidFill>
                  <a:schemeClr val="tx1"/>
                </a:solidFill>
                <a:latin typeface="微软雅黑" panose="020B0503020204020204" pitchFamily="34" charset="-122"/>
                <a:ea typeface="微软雅黑" panose="020B0503020204020204" pitchFamily="34" charset="-122"/>
              </a:rPr>
              <a:t>应用</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 name="副标题 2"/>
          <p:cNvSpPr txBox="1"/>
          <p:nvPr/>
        </p:nvSpPr>
        <p:spPr>
          <a:xfrm>
            <a:off x="971600" y="2780928"/>
            <a:ext cx="4592216" cy="550912"/>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anose="05000000000000000000" pitchFamily="2" charset="2"/>
              <a:buChar char="l"/>
            </a:pPr>
            <a:r>
              <a:rPr lang="zh-CN" altLang="en-US" dirty="0">
                <a:solidFill>
                  <a:schemeClr val="tx1"/>
                </a:solidFill>
                <a:latin typeface="微软雅黑" panose="020B0503020204020204" pitchFamily="34" charset="-122"/>
                <a:ea typeface="微软雅黑" panose="020B0503020204020204" pitchFamily="34" charset="-122"/>
              </a:rPr>
              <a:t>编程模型</a:t>
            </a:r>
            <a:r>
              <a:rPr lang="en-US" altLang="zh-CN" dirty="0" smtClean="0">
                <a:solidFill>
                  <a:schemeClr val="tx1"/>
                </a:solidFill>
                <a:latin typeface="微软雅黑" panose="020B0503020204020204" pitchFamily="34" charset="-122"/>
                <a:ea typeface="微软雅黑" panose="020B0503020204020204" pitchFamily="34" charset="-122"/>
              </a:rPr>
              <a:t>-</a:t>
            </a:r>
            <a:r>
              <a:rPr lang="zh-CN" altLang="en-US" dirty="0" smtClean="0">
                <a:solidFill>
                  <a:schemeClr val="tx1"/>
                </a:solidFill>
                <a:latin typeface="微软雅黑" panose="020B0503020204020204" pitchFamily="34" charset="-122"/>
                <a:ea typeface="微软雅黑" panose="020B0503020204020204" pitchFamily="34" charset="-122"/>
              </a:rPr>
              <a:t>架构</a:t>
            </a:r>
            <a:endParaRPr lang="zh-CN" altLang="en-US"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编程模型</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分类</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971600" y="1988840"/>
            <a:ext cx="7380312" cy="3096344"/>
          </a:xfrm>
        </p:spPr>
        <p:txBody>
          <a:bodyPr>
            <a:normAutofit/>
          </a:bodyPr>
          <a:lstStyle/>
          <a:p>
            <a:pPr marL="457200" indent="-457200" algn="l">
              <a:buFont typeface="Wingdings" panose="05000000000000000000" pitchFamily="2" charset="2"/>
              <a:buChar char="l"/>
            </a:pPr>
            <a:r>
              <a:rPr lang="zh-CN" altLang="en-US" dirty="0" smtClean="0">
                <a:solidFill>
                  <a:schemeClr val="tx1"/>
                </a:solidFill>
                <a:latin typeface="微软雅黑" panose="020B0503020204020204" pitchFamily="34" charset="-122"/>
                <a:ea typeface="微软雅黑" panose="020B0503020204020204" pitchFamily="34" charset="-122"/>
              </a:rPr>
              <a:t>多线程并发模型</a:t>
            </a:r>
            <a:endParaRPr lang="en-US" altLang="zh-CN" dirty="0" smtClean="0">
              <a:solidFill>
                <a:schemeClr val="tx1"/>
              </a:solidFill>
              <a:latin typeface="微软雅黑" panose="020B0503020204020204" pitchFamily="34" charset="-122"/>
              <a:ea typeface="微软雅黑" panose="020B0503020204020204" pitchFamily="34" charset="-122"/>
            </a:endParaRPr>
          </a:p>
          <a:p>
            <a:pPr algn="l"/>
            <a:endParaRPr lang="en-US" altLang="zh-CN" dirty="0" smtClean="0">
              <a:solidFill>
                <a:schemeClr val="tx1"/>
              </a:solidFill>
              <a:latin typeface="微软雅黑" panose="020B0503020204020204" pitchFamily="34" charset="-122"/>
              <a:ea typeface="微软雅黑" panose="020B0503020204020204" pitchFamily="34" charset="-122"/>
            </a:endParaRPr>
          </a:p>
          <a:p>
            <a:pPr marL="457200" indent="-457200" algn="l">
              <a:buFont typeface="Wingdings" panose="05000000000000000000" pitchFamily="2" charset="2"/>
              <a:buChar char="l"/>
            </a:pPr>
            <a:r>
              <a:rPr lang="zh-CN" altLang="en-US" dirty="0" smtClean="0">
                <a:solidFill>
                  <a:schemeClr val="tx1"/>
                </a:solidFill>
                <a:latin typeface="微软雅黑" panose="020B0503020204020204" pitchFamily="34" charset="-122"/>
                <a:ea typeface="微软雅黑" panose="020B0503020204020204" pitchFamily="34" charset="-122"/>
              </a:rPr>
              <a:t>事件驱动模型</a:t>
            </a:r>
            <a:endParaRPr lang="en-US" altLang="zh-CN" dirty="0" smtClean="0">
              <a:solidFill>
                <a:schemeClr val="tx1"/>
              </a:solidFill>
              <a:latin typeface="微软雅黑" panose="020B0503020204020204" pitchFamily="34" charset="-122"/>
              <a:ea typeface="微软雅黑" panose="020B0503020204020204" pitchFamily="34" charset="-122"/>
            </a:endParaRPr>
          </a:p>
          <a:p>
            <a:pPr algn="l"/>
            <a:endParaRPr lang="en-US" altLang="zh-CN" dirty="0" smtClean="0">
              <a:solidFill>
                <a:schemeClr val="tx1"/>
              </a:solidFill>
              <a:latin typeface="微软雅黑" panose="020B0503020204020204" pitchFamily="34" charset="-122"/>
              <a:ea typeface="微软雅黑" panose="020B0503020204020204" pitchFamily="34" charset="-122"/>
            </a:endParaRPr>
          </a:p>
          <a:p>
            <a:pPr marL="457200" indent="-457200" algn="l">
              <a:buFont typeface="Wingdings" panose="05000000000000000000" pitchFamily="2" charset="2"/>
              <a:buChar char="l"/>
            </a:pPr>
            <a:r>
              <a:rPr lang="zh-CN" altLang="en-US" dirty="0" smtClean="0">
                <a:solidFill>
                  <a:schemeClr val="tx1"/>
                </a:solidFill>
                <a:latin typeface="微软雅黑" panose="020B0503020204020204" pitchFamily="34" charset="-122"/>
                <a:ea typeface="微软雅黑" panose="020B0503020204020204" pitchFamily="34" charset="-122"/>
              </a:rPr>
              <a:t>阶段式事件驱动模型</a:t>
            </a:r>
            <a:endParaRPr lang="zh-CN" altLang="en-US"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a:bodyPr>
          <a:lstStyle/>
          <a:p>
            <a:r>
              <a:rPr lang="zh-CN" altLang="en-US" sz="3600" dirty="0" smtClean="0">
                <a:solidFill>
                  <a:schemeClr val="bg1"/>
                </a:solidFill>
                <a:latin typeface="微软雅黑" panose="020B0503020204020204" pitchFamily="34" charset="-122"/>
                <a:ea typeface="微软雅黑" panose="020B0503020204020204" pitchFamily="34" charset="-122"/>
                <a:sym typeface="+mn-ea"/>
              </a:rPr>
              <a:t>多</a:t>
            </a:r>
            <a:r>
              <a:rPr lang="zh-CN" altLang="en-US" sz="3600" dirty="0">
                <a:solidFill>
                  <a:schemeClr val="bg1"/>
                </a:solidFill>
                <a:latin typeface="微软雅黑" panose="020B0503020204020204" pitchFamily="34" charset="-122"/>
                <a:ea typeface="微软雅黑" panose="020B0503020204020204" pitchFamily="34" charset="-122"/>
                <a:sym typeface="+mn-ea"/>
              </a:rPr>
              <a:t>线程并发</a:t>
            </a:r>
            <a:r>
              <a:rPr lang="zh-CN" altLang="en-US" sz="3600" dirty="0" smtClean="0">
                <a:solidFill>
                  <a:schemeClr val="bg1"/>
                </a:solidFill>
                <a:latin typeface="微软雅黑" panose="020B0503020204020204" pitchFamily="34" charset="-122"/>
                <a:ea typeface="微软雅黑" panose="020B0503020204020204" pitchFamily="34" charset="-122"/>
                <a:sym typeface="+mn-ea"/>
              </a:rPr>
              <a:t>模型</a:t>
            </a:r>
            <a:endParaRPr lang="zh-CN" altLang="en-US" sz="3600" dirty="0">
              <a:solidFill>
                <a:schemeClr val="bg1"/>
              </a:solidFill>
              <a:latin typeface="微软雅黑" panose="020B0503020204020204" pitchFamily="34" charset="-122"/>
              <a:ea typeface="微软雅黑" panose="020B0503020204020204" pitchFamily="34" charset="-122"/>
            </a:endParaRPr>
          </a:p>
        </p:txBody>
      </p:sp>
      <p:sp>
        <p:nvSpPr>
          <p:cNvPr id="36" name="副标题 2"/>
          <p:cNvSpPr>
            <a:spLocks noGrp="1"/>
          </p:cNvSpPr>
          <p:nvPr>
            <p:ph type="subTitle" idx="1"/>
          </p:nvPr>
        </p:nvSpPr>
        <p:spPr>
          <a:xfrm>
            <a:off x="0" y="1680845"/>
            <a:ext cx="9144000" cy="3890010"/>
          </a:xfrm>
        </p:spPr>
        <p:txBody>
          <a:bodyPr>
            <a:normAutofit/>
          </a:bodyPr>
          <a:lstStyle/>
          <a:p>
            <a:pPr algn="l"/>
            <a:r>
              <a:rPr sz="1600" dirty="0" smtClean="0">
                <a:solidFill>
                  <a:schemeClr val="tx1"/>
                </a:solidFill>
                <a:latin typeface="微软雅黑" panose="020B0503020204020204" pitchFamily="34" charset="-122"/>
                <a:ea typeface="微软雅黑" panose="020B0503020204020204" pitchFamily="34" charset="-122"/>
              </a:rPr>
              <a:t>服务器并发模型通常</a:t>
            </a:r>
            <a:r>
              <a:rPr lang="zh-CN" sz="1600" dirty="0" smtClean="0">
                <a:solidFill>
                  <a:schemeClr val="tx1"/>
                </a:solidFill>
                <a:latin typeface="微软雅黑" panose="020B0503020204020204" pitchFamily="34" charset="-122"/>
                <a:ea typeface="微软雅黑" panose="020B0503020204020204" pitchFamily="34" charset="-122"/>
              </a:rPr>
              <a:t>分为两种：</a:t>
            </a:r>
            <a:endParaRPr lang="zh-CN" sz="1600" dirty="0" smtClean="0">
              <a:solidFill>
                <a:schemeClr val="tx1"/>
              </a:solidFill>
              <a:latin typeface="微软雅黑" panose="020B0503020204020204" pitchFamily="34" charset="-122"/>
              <a:ea typeface="微软雅黑" panose="020B0503020204020204" pitchFamily="34" charset="-122"/>
            </a:endParaRPr>
          </a:p>
          <a:p>
            <a:pPr marL="285750" indent="-285750" algn="l">
              <a:buFont typeface="Wingdings" panose="05000000000000000000" charset="0"/>
              <a:buChar char=""/>
            </a:pPr>
            <a:r>
              <a:rPr sz="1600" dirty="0" smtClean="0">
                <a:solidFill>
                  <a:schemeClr val="tx1"/>
                </a:solidFill>
                <a:latin typeface="微软雅黑" panose="020B0503020204020204" pitchFamily="34" charset="-122"/>
                <a:ea typeface="微软雅黑" panose="020B0503020204020204" pitchFamily="34" charset="-122"/>
              </a:rPr>
              <a:t>单线程</a:t>
            </a:r>
            <a:endParaRPr sz="1600" dirty="0" smtClean="0">
              <a:solidFill>
                <a:schemeClr val="tx1"/>
              </a:solidFill>
              <a:latin typeface="微软雅黑" panose="020B0503020204020204" pitchFamily="34" charset="-122"/>
              <a:ea typeface="微软雅黑" panose="020B0503020204020204" pitchFamily="34" charset="-122"/>
            </a:endParaRPr>
          </a:p>
          <a:p>
            <a:pPr marL="285750" indent="-285750" algn="l">
              <a:buFont typeface="Wingdings" panose="05000000000000000000" charset="0"/>
              <a:buChar char=""/>
            </a:pPr>
            <a:r>
              <a:rPr sz="1600" dirty="0" smtClean="0">
                <a:solidFill>
                  <a:schemeClr val="tx1"/>
                </a:solidFill>
                <a:latin typeface="微软雅黑" panose="020B0503020204020204" pitchFamily="34" charset="-122"/>
                <a:ea typeface="微软雅黑" panose="020B0503020204020204" pitchFamily="34" charset="-122"/>
              </a:rPr>
              <a:t>多线程</a:t>
            </a:r>
            <a:endParaRPr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r>
              <a:rPr lang="zh-CN" sz="1600" dirty="0" smtClean="0">
                <a:solidFill>
                  <a:schemeClr val="tx1"/>
                </a:solidFill>
                <a:latin typeface="微软雅黑" panose="020B0503020204020204" pitchFamily="34" charset="-122"/>
                <a:ea typeface="微软雅黑" panose="020B0503020204020204" pitchFamily="34" charset="-122"/>
              </a:rPr>
              <a:t>多线程并发模型是目前最普遍的服务器编程模型：</a:t>
            </a: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r>
              <a:rPr lang="zh-CN" sz="1600" dirty="0" smtClean="0">
                <a:solidFill>
                  <a:schemeClr val="tx1"/>
                </a:solidFill>
                <a:latin typeface="微软雅黑" panose="020B0503020204020204" pitchFamily="34" charset="-122"/>
                <a:ea typeface="微软雅黑" panose="020B0503020204020204" pitchFamily="34" charset="-122"/>
              </a:rPr>
              <a:t>该模型针对每一个请求，会为其创建并分配一个线程，该线程负责</a:t>
            </a:r>
            <a:r>
              <a:rPr lang="zh-CN" sz="1600" dirty="0" smtClean="0">
                <a:solidFill>
                  <a:schemeClr val="tx1"/>
                </a:solidFill>
                <a:latin typeface="微软雅黑" panose="020B0503020204020204" pitchFamily="34" charset="-122"/>
                <a:ea typeface="微软雅黑" panose="020B0503020204020204" pitchFamily="34" charset="-122"/>
                <a:sym typeface="+mn-ea"/>
              </a:rPr>
              <a:t>处理</a:t>
            </a:r>
            <a:r>
              <a:rPr lang="zh-CN" sz="1600" dirty="0" smtClean="0">
                <a:solidFill>
                  <a:schemeClr val="tx1"/>
                </a:solidFill>
                <a:latin typeface="微软雅黑" panose="020B0503020204020204" pitchFamily="34" charset="-122"/>
                <a:ea typeface="微软雅黑" panose="020B0503020204020204" pitchFamily="34" charset="-122"/>
              </a:rPr>
              <a:t>这个请求。</a:t>
            </a: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charset="0"/>
            </a:pPr>
            <a:endParaRPr lang="zh-CN" altLang="en-US" sz="1600" dirty="0" smtClean="0">
              <a:solidFill>
                <a:schemeClr val="tx1"/>
              </a:solidFill>
              <a:latin typeface="微软雅黑" panose="020B0503020204020204" pitchFamily="34" charset="-122"/>
              <a:ea typeface="微软雅黑" panose="020B0503020204020204" pitchFamily="34" charset="-122"/>
            </a:endParaRPr>
          </a:p>
          <a:p>
            <a:pPr algn="l"/>
            <a:endParaRPr lang="zh-CN" altLang="en-US" sz="1600" dirty="0" smtClean="0">
              <a:solidFill>
                <a:schemeClr val="tx1"/>
              </a:solidFill>
              <a:latin typeface="微软雅黑" panose="020B0503020204020204" pitchFamily="34" charset="-122"/>
              <a:ea typeface="微软雅黑" panose="020B0503020204020204" pitchFamily="34" charset="-122"/>
            </a:endParaRPr>
          </a:p>
        </p:txBody>
      </p:sp>
      <p:sp>
        <p:nvSpPr>
          <p:cNvPr id="37" name="副标题 2"/>
          <p:cNvSpPr txBox="1"/>
          <p:nvPr/>
        </p:nvSpPr>
        <p:spPr>
          <a:xfrm>
            <a:off x="0" y="980728"/>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前言</a:t>
            </a: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a:bodyPr>
          <a:lstStyle/>
          <a:p>
            <a:r>
              <a:rPr lang="zh-CN" altLang="en-US" sz="3600" dirty="0" smtClean="0">
                <a:solidFill>
                  <a:schemeClr val="bg1"/>
                </a:solidFill>
                <a:latin typeface="微软雅黑" panose="020B0503020204020204" pitchFamily="34" charset="-122"/>
                <a:ea typeface="微软雅黑" panose="020B0503020204020204" pitchFamily="34" charset="-122"/>
              </a:rPr>
              <a:t>多</a:t>
            </a:r>
            <a:r>
              <a:rPr lang="zh-CN" altLang="en-US" sz="3600" dirty="0">
                <a:solidFill>
                  <a:schemeClr val="bg1"/>
                </a:solidFill>
                <a:latin typeface="微软雅黑" panose="020B0503020204020204" pitchFamily="34" charset="-122"/>
                <a:ea typeface="微软雅黑" panose="020B0503020204020204" pitchFamily="34" charset="-122"/>
              </a:rPr>
              <a:t>线程并发</a:t>
            </a:r>
            <a:r>
              <a:rPr lang="zh-CN" altLang="en-US" sz="3600" dirty="0" smtClean="0">
                <a:solidFill>
                  <a:schemeClr val="bg1"/>
                </a:solidFill>
                <a:latin typeface="微软雅黑" panose="020B0503020204020204" pitchFamily="34" charset="-122"/>
                <a:ea typeface="微软雅黑" panose="020B0503020204020204" pitchFamily="34" charset="-122"/>
              </a:rPr>
              <a:t>模型</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nvGrpSpPr>
          <p:cNvPr id="84" name="Group144"/>
          <p:cNvGrpSpPr/>
          <p:nvPr/>
        </p:nvGrpSpPr>
        <p:grpSpPr>
          <a:xfrm>
            <a:off x="107504" y="1359462"/>
            <a:ext cx="9232537" cy="5015970"/>
            <a:chOff x="1399000" y="1708813"/>
            <a:chExt cx="6566400" cy="3698775"/>
          </a:xfrm>
        </p:grpSpPr>
        <p:sp>
          <p:nvSpPr>
            <p:cNvPr id="85" name="参与者引用"/>
            <p:cNvSpPr/>
            <p:nvPr/>
          </p:nvSpPr>
          <p:spPr>
            <a:xfrm>
              <a:off x="1399000" y="3252988"/>
              <a:ext cx="760000" cy="425600"/>
            </a:xfrm>
            <a:custGeom>
              <a:avLst/>
              <a:gdLst>
                <a:gd name="connsiteX0" fmla="*/ 380000 w 760000"/>
                <a:gd name="connsiteY0" fmla="*/ 425600 h 425600"/>
                <a:gd name="connsiteX1" fmla="*/ 380000 w 760000"/>
                <a:gd name="connsiteY1" fmla="*/ 0 h 425600"/>
                <a:gd name="connsiteX2" fmla="*/ 760000 w 760000"/>
                <a:gd name="connsiteY2" fmla="*/ 212800 h 425600"/>
                <a:gd name="connsiteX3" fmla="*/ 0 w 760000"/>
                <a:gd name="connsiteY3" fmla="*/ 212800 h 425600"/>
                <a:gd name="connsiteX4" fmla="*/ 380000 w 760000"/>
                <a:gd name="connsiteY4" fmla="*/ 212800 h 425600"/>
                <a:gd name="rtb" fmla="*/ 421800 h 425600"/>
              </a:gdLst>
              <a:ahLst/>
              <a:cxnLst>
                <a:cxn ang="0">
                  <a:pos x="connsiteX0" y="connsiteY0"/>
                </a:cxn>
                <a:cxn ang="0">
                  <a:pos x="connsiteX1" y="connsiteY1"/>
                </a:cxn>
                <a:cxn ang="0">
                  <a:pos x="connsiteX2" y="connsiteY2"/>
                </a:cxn>
                <a:cxn ang="0">
                  <a:pos x="connsiteX3" y="connsiteY3"/>
                </a:cxn>
                <a:cxn ang="0">
                  <a:pos x="connsiteX4" y="connsiteY4"/>
                </a:cxn>
              </a:cxnLst>
              <a:rect l="l" t="t" r="r" b="rtb"/>
              <a:pathLst>
                <a:path w="760000" h="425600">
                  <a:moveTo>
                    <a:pt x="760000" y="425600"/>
                  </a:moveTo>
                  <a:lnTo>
                    <a:pt x="760000" y="0"/>
                  </a:lnTo>
                  <a:lnTo>
                    <a:pt x="0" y="0"/>
                  </a:lnTo>
                  <a:lnTo>
                    <a:pt x="0" y="425600"/>
                  </a:lnTo>
                  <a:lnTo>
                    <a:pt x="760000" y="425600"/>
                  </a:ln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dirty="0">
                  <a:solidFill>
                    <a:srgbClr val="404557"/>
                  </a:solidFill>
                  <a:latin typeface="微软雅黑" panose="020B0503020204020204" pitchFamily="34" charset="-122"/>
                  <a:ea typeface="微软雅黑" panose="020B0503020204020204" pitchFamily="34" charset="-122"/>
                </a:rPr>
                <a:t>network</a:t>
              </a:r>
              <a:endParaRPr dirty="0">
                <a:solidFill>
                  <a:srgbClr val="404557"/>
                </a:solidFill>
                <a:latin typeface="微软雅黑" panose="020B0503020204020204" pitchFamily="34" charset="-122"/>
                <a:ea typeface="微软雅黑" panose="020B0503020204020204" pitchFamily="34" charset="-122"/>
              </a:endParaRPr>
            </a:p>
          </p:txBody>
        </p:sp>
        <p:sp>
          <p:nvSpPr>
            <p:cNvPr id="86" name="状态"/>
            <p:cNvSpPr/>
            <p:nvPr/>
          </p:nvSpPr>
          <p:spPr>
            <a:xfrm>
              <a:off x="2463000" y="3252988"/>
              <a:ext cx="714400" cy="425600"/>
            </a:xfrm>
            <a:custGeom>
              <a:avLst/>
              <a:gdLst>
                <a:gd name="connsiteX0" fmla="*/ 357200 w 714400"/>
                <a:gd name="connsiteY0" fmla="*/ 425600 h 425600"/>
                <a:gd name="connsiteX1" fmla="*/ 357200 w 714400"/>
                <a:gd name="connsiteY1" fmla="*/ 0 h 425600"/>
                <a:gd name="connsiteX2" fmla="*/ 714400 w 714400"/>
                <a:gd name="connsiteY2" fmla="*/ 212800 h 425600"/>
                <a:gd name="connsiteX3" fmla="*/ 0 w 714400"/>
                <a:gd name="connsiteY3" fmla="*/ 212800 h 425600"/>
                <a:gd name="connsiteX4" fmla="*/ 178600 w 714400"/>
                <a:gd name="connsiteY4" fmla="*/ 0 h 425600"/>
                <a:gd name="connsiteX5" fmla="*/ 535800 w 714400"/>
                <a:gd name="connsiteY5" fmla="*/ 0 h 425600"/>
                <a:gd name="connsiteX6" fmla="*/ 178600 w 714400"/>
                <a:gd name="connsiteY6" fmla="*/ 425600 h 425600"/>
                <a:gd name="connsiteX7" fmla="*/ 535800 w 714400"/>
                <a:gd name="connsiteY7" fmla="*/ 425600 h 425600"/>
                <a:gd name="rtb" fmla="*/ 421800 h 4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rtb"/>
              <a:pathLst>
                <a:path w="714400" h="425600">
                  <a:moveTo>
                    <a:pt x="714400" y="425600"/>
                  </a:moveTo>
                  <a:cubicBezTo>
                    <a:pt x="714400" y="425600"/>
                    <a:pt x="714400" y="425600"/>
                    <a:pt x="714400" y="425600"/>
                  </a:cubicBezTo>
                  <a:lnTo>
                    <a:pt x="714400" y="0"/>
                  </a:lnTo>
                  <a:cubicBezTo>
                    <a:pt x="714400" y="0"/>
                    <a:pt x="714400" y="0"/>
                    <a:pt x="714400" y="0"/>
                  </a:cubicBezTo>
                  <a:lnTo>
                    <a:pt x="0" y="0"/>
                  </a:lnTo>
                  <a:cubicBezTo>
                    <a:pt x="0" y="0"/>
                    <a:pt x="0" y="0"/>
                    <a:pt x="0" y="0"/>
                  </a:cubicBezTo>
                  <a:lnTo>
                    <a:pt x="0" y="425600"/>
                  </a:lnTo>
                  <a:cubicBezTo>
                    <a:pt x="0" y="425600"/>
                    <a:pt x="0" y="425600"/>
                    <a:pt x="0" y="425600"/>
                  </a:cubicBezTo>
                  <a:lnTo>
                    <a:pt x="714400" y="425600"/>
                  </a:ln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endParaRPr sz="1370" dirty="0">
                <a:solidFill>
                  <a:srgbClr val="404557"/>
                </a:solidFill>
                <a:latin typeface="微软雅黑" panose="020B0503020204020204" pitchFamily="34" charset="-122"/>
                <a:ea typeface="微软雅黑" panose="020B0503020204020204" pitchFamily="34" charset="-122"/>
              </a:endParaRPr>
            </a:p>
          </p:txBody>
        </p:sp>
        <p:cxnSp>
          <p:nvCxnSpPr>
            <p:cNvPr id="87" name="Line"/>
            <p:cNvCxnSpPr>
              <a:stCxn id="86" idx="4"/>
              <a:endCxn id="86" idx="6"/>
            </p:cNvCxnSpPr>
            <p:nvPr/>
          </p:nvCxnSpPr>
          <p:spPr>
            <a:xfrm rot="5400000">
              <a:off x="2428800" y="3465788"/>
              <a:ext cx="425600" cy="0"/>
            </a:xfrm>
            <a:prstGeom prst="line">
              <a:avLst/>
            </a:prstGeom>
            <a:ln w="7600" cap="flat">
              <a:solidFill>
                <a:srgbClr val="474D61"/>
              </a:solidFill>
              <a:bevel/>
            </a:ln>
          </p:spPr>
        </p:cxnSp>
        <p:cxnSp>
          <p:nvCxnSpPr>
            <p:cNvPr id="88" name="Line"/>
            <p:cNvCxnSpPr>
              <a:stCxn id="86" idx="1"/>
            </p:cNvCxnSpPr>
            <p:nvPr/>
          </p:nvCxnSpPr>
          <p:spPr>
            <a:xfrm rot="5400000">
              <a:off x="2641600" y="3431588"/>
              <a:ext cx="357200" cy="0"/>
            </a:xfrm>
            <a:prstGeom prst="line">
              <a:avLst/>
            </a:prstGeom>
            <a:ln w="7600" cap="flat">
              <a:solidFill>
                <a:srgbClr val="474D61"/>
              </a:solidFill>
              <a:bevel/>
            </a:ln>
          </p:spPr>
        </p:cxnSp>
        <p:cxnSp>
          <p:nvCxnSpPr>
            <p:cNvPr id="89" name="Line"/>
            <p:cNvCxnSpPr>
              <a:stCxn id="86" idx="5"/>
              <a:endCxn id="86" idx="7"/>
            </p:cNvCxnSpPr>
            <p:nvPr/>
          </p:nvCxnSpPr>
          <p:spPr>
            <a:xfrm rot="5400000">
              <a:off x="2786000" y="3465788"/>
              <a:ext cx="425600" cy="0"/>
            </a:xfrm>
            <a:prstGeom prst="line">
              <a:avLst/>
            </a:prstGeom>
            <a:ln w="7600" cap="flat">
              <a:solidFill>
                <a:srgbClr val="474D61"/>
              </a:solidFill>
              <a:bevel/>
            </a:ln>
          </p:spPr>
        </p:cxnSp>
        <p:cxnSp>
          <p:nvCxnSpPr>
            <p:cNvPr id="90" name="Line"/>
            <p:cNvCxnSpPr>
              <a:stCxn id="86" idx="1"/>
              <a:endCxn id="86" idx="0"/>
            </p:cNvCxnSpPr>
            <p:nvPr/>
          </p:nvCxnSpPr>
          <p:spPr>
            <a:xfrm rot="5400000">
              <a:off x="2607400" y="3465788"/>
              <a:ext cx="425600" cy="0"/>
            </a:xfrm>
            <a:prstGeom prst="line">
              <a:avLst/>
            </a:prstGeom>
            <a:ln w="7600" cap="flat">
              <a:solidFill>
                <a:srgbClr val="474D61"/>
              </a:solidFill>
              <a:bevel/>
            </a:ln>
          </p:spPr>
        </p:cxnSp>
        <p:sp>
          <p:nvSpPr>
            <p:cNvPr id="91" name="选择点"/>
            <p:cNvSpPr/>
            <p:nvPr/>
          </p:nvSpPr>
          <p:spPr>
            <a:xfrm>
              <a:off x="3527000" y="3252988"/>
              <a:ext cx="874000" cy="433200"/>
            </a:xfrm>
            <a:custGeom>
              <a:avLst/>
              <a:gdLst>
                <a:gd name="connsiteX0" fmla="*/ 0 w 874000"/>
                <a:gd name="connsiteY0" fmla="*/ 216600 h 433200"/>
                <a:gd name="connsiteX1" fmla="*/ 437000 w 874000"/>
                <a:gd name="connsiteY1" fmla="*/ 0 h 433200"/>
                <a:gd name="connsiteX2" fmla="*/ 874000 w 874000"/>
                <a:gd name="connsiteY2" fmla="*/ 216600 h 433200"/>
                <a:gd name="connsiteX3" fmla="*/ 437000 w 874000"/>
                <a:gd name="connsiteY3" fmla="*/ 433200 h 433200"/>
              </a:gdLst>
              <a:ahLst/>
              <a:cxnLst>
                <a:cxn ang="0">
                  <a:pos x="connsiteX0" y="connsiteY0"/>
                </a:cxn>
                <a:cxn ang="0">
                  <a:pos x="connsiteX1" y="connsiteY1"/>
                </a:cxn>
                <a:cxn ang="0">
                  <a:pos x="connsiteX2" y="connsiteY2"/>
                </a:cxn>
                <a:cxn ang="0">
                  <a:pos x="connsiteX3" y="connsiteY3"/>
                </a:cxn>
              </a:cxnLst>
              <a:rect l="l" t="t" r="r" b="b"/>
              <a:pathLst>
                <a:path w="874000" h="433200">
                  <a:moveTo>
                    <a:pt x="0" y="216600"/>
                  </a:moveTo>
                  <a:cubicBezTo>
                    <a:pt x="0" y="96975"/>
                    <a:pt x="195652" y="0"/>
                    <a:pt x="437000" y="0"/>
                  </a:cubicBezTo>
                  <a:cubicBezTo>
                    <a:pt x="678348" y="0"/>
                    <a:pt x="874000" y="96975"/>
                    <a:pt x="874000" y="216600"/>
                  </a:cubicBezTo>
                  <a:cubicBezTo>
                    <a:pt x="874000" y="336225"/>
                    <a:pt x="678348" y="433200"/>
                    <a:pt x="437000" y="433200"/>
                  </a:cubicBezTo>
                  <a:cubicBezTo>
                    <a:pt x="195652" y="433200"/>
                    <a:pt x="0" y="336225"/>
                    <a:pt x="0" y="2166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dispatcher</a:t>
              </a:r>
              <a:endParaRPr sz="1600" dirty="0">
                <a:solidFill>
                  <a:srgbClr val="404557"/>
                </a:solidFill>
                <a:latin typeface="微软雅黑" panose="020B0503020204020204" pitchFamily="34" charset="-122"/>
                <a:ea typeface="微软雅黑" panose="020B0503020204020204" pitchFamily="34" charset="-122"/>
              </a:endParaRPr>
            </a:p>
          </p:txBody>
        </p:sp>
        <p:grpSp>
          <p:nvGrpSpPr>
            <p:cNvPr id="92" name="组合 91"/>
            <p:cNvGrpSpPr/>
            <p:nvPr/>
          </p:nvGrpSpPr>
          <p:grpSpPr>
            <a:xfrm>
              <a:off x="5176200" y="1708813"/>
              <a:ext cx="820800" cy="466349"/>
              <a:chOff x="5176200" y="1708813"/>
              <a:chExt cx="820800" cy="466349"/>
            </a:xfrm>
          </p:grpSpPr>
          <p:sp>
            <p:nvSpPr>
              <p:cNvPr id="119" name="状态"/>
              <p:cNvSpPr/>
              <p:nvPr/>
            </p:nvSpPr>
            <p:spPr>
              <a:xfrm>
                <a:off x="5176200" y="1708813"/>
                <a:ext cx="820800" cy="466349"/>
              </a:xfrm>
              <a:custGeom>
                <a:avLst/>
                <a:gdLst>
                  <a:gd name="connsiteX0" fmla="*/ 410400 w 820800"/>
                  <a:gd name="connsiteY0" fmla="*/ 466349 h 466349"/>
                  <a:gd name="connsiteX1" fmla="*/ 410400 w 820800"/>
                  <a:gd name="connsiteY1" fmla="*/ 0 h 466349"/>
                  <a:gd name="connsiteX2" fmla="*/ 820800 w 820800"/>
                  <a:gd name="connsiteY2" fmla="*/ 233175 h 466349"/>
                  <a:gd name="connsiteX3" fmla="*/ 0 w 820800"/>
                  <a:gd name="connsiteY3" fmla="*/ 233175 h 466349"/>
                  <a:gd name="connsiteX4" fmla="*/ 205200 w 820800"/>
                  <a:gd name="connsiteY4" fmla="*/ 0 h 466349"/>
                  <a:gd name="connsiteX5" fmla="*/ 615600 w 820800"/>
                  <a:gd name="connsiteY5" fmla="*/ 0 h 466349"/>
                  <a:gd name="connsiteX6" fmla="*/ 205200 w 820800"/>
                  <a:gd name="connsiteY6" fmla="*/ 466349 h 466349"/>
                  <a:gd name="connsiteX7" fmla="*/ 615600 w 820800"/>
                  <a:gd name="connsiteY7" fmla="*/ 466349 h 46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820800" h="466349">
                    <a:moveTo>
                      <a:pt x="820800" y="466349"/>
                    </a:moveTo>
                    <a:cubicBezTo>
                      <a:pt x="820800" y="466349"/>
                      <a:pt x="820800" y="466349"/>
                      <a:pt x="820800" y="466349"/>
                    </a:cubicBezTo>
                    <a:lnTo>
                      <a:pt x="820800" y="0"/>
                    </a:lnTo>
                    <a:cubicBezTo>
                      <a:pt x="820800" y="0"/>
                      <a:pt x="820800" y="0"/>
                      <a:pt x="820800" y="0"/>
                    </a:cubicBezTo>
                    <a:lnTo>
                      <a:pt x="0" y="0"/>
                    </a:lnTo>
                    <a:cubicBezTo>
                      <a:pt x="0" y="0"/>
                      <a:pt x="0" y="0"/>
                      <a:pt x="0" y="0"/>
                    </a:cubicBezTo>
                    <a:lnTo>
                      <a:pt x="0" y="466349"/>
                    </a:lnTo>
                    <a:cubicBezTo>
                      <a:pt x="0" y="466349"/>
                      <a:pt x="0" y="466349"/>
                      <a:pt x="0" y="466349"/>
                    </a:cubicBezTo>
                    <a:lnTo>
                      <a:pt x="820800" y="466349"/>
                    </a:lnTo>
                    <a:close/>
                  </a:path>
                </a:pathLst>
              </a:custGeom>
              <a:solidFill>
                <a:srgbClr val="FFFFFF"/>
              </a:solidFill>
              <a:ln w="7600" cap="flat">
                <a:solidFill>
                  <a:srgbClr val="000000"/>
                </a:solidFill>
                <a:bevel/>
              </a:ln>
            </p:spPr>
          </p:sp>
          <p:sp>
            <p:nvSpPr>
              <p:cNvPr id="120" name="选择点"/>
              <p:cNvSpPr/>
              <p:nvPr/>
            </p:nvSpPr>
            <p:spPr>
              <a:xfrm>
                <a:off x="5191400" y="1711562"/>
                <a:ext cx="805600" cy="463600"/>
              </a:xfrm>
              <a:custGeom>
                <a:avLst/>
                <a:gdLst>
                  <a:gd name="connsiteX0" fmla="*/ 0 w 805600"/>
                  <a:gd name="connsiteY0" fmla="*/ 231800 h 463600"/>
                  <a:gd name="connsiteX1" fmla="*/ 402800 w 805600"/>
                  <a:gd name="connsiteY1" fmla="*/ 0 h 463600"/>
                  <a:gd name="connsiteX2" fmla="*/ 805600 w 805600"/>
                  <a:gd name="connsiteY2" fmla="*/ 231800 h 463600"/>
                  <a:gd name="connsiteX3" fmla="*/ 402800 w 8056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805600" h="463600">
                    <a:moveTo>
                      <a:pt x="0" y="231800"/>
                    </a:moveTo>
                    <a:cubicBezTo>
                      <a:pt x="0" y="103780"/>
                      <a:pt x="180340" y="0"/>
                      <a:pt x="402800" y="0"/>
                    </a:cubicBezTo>
                    <a:cubicBezTo>
                      <a:pt x="625260" y="0"/>
                      <a:pt x="805600" y="103780"/>
                      <a:pt x="805600" y="231800"/>
                    </a:cubicBezTo>
                    <a:cubicBezTo>
                      <a:pt x="805600" y="359820"/>
                      <a:pt x="625260" y="463600"/>
                      <a:pt x="402800" y="463600"/>
                    </a:cubicBezTo>
                    <a:cubicBezTo>
                      <a:pt x="18034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request1</a:t>
                </a:r>
                <a:endParaRPr sz="1600" dirty="0">
                  <a:solidFill>
                    <a:srgbClr val="404557"/>
                  </a:solidFill>
                  <a:latin typeface="微软雅黑" panose="020B0503020204020204" pitchFamily="34" charset="-122"/>
                  <a:ea typeface="微软雅黑" panose="020B0503020204020204" pitchFamily="34" charset="-122"/>
                </a:endParaRPr>
              </a:p>
            </p:txBody>
          </p:sp>
        </p:grpSp>
        <p:grpSp>
          <p:nvGrpSpPr>
            <p:cNvPr id="93" name="组合 92"/>
            <p:cNvGrpSpPr/>
            <p:nvPr/>
          </p:nvGrpSpPr>
          <p:grpSpPr>
            <a:xfrm>
              <a:off x="5176200" y="2461214"/>
              <a:ext cx="820800" cy="466349"/>
              <a:chOff x="5176200" y="2461214"/>
              <a:chExt cx="820800" cy="466349"/>
            </a:xfrm>
          </p:grpSpPr>
          <p:sp>
            <p:nvSpPr>
              <p:cNvPr id="117" name="状态"/>
              <p:cNvSpPr/>
              <p:nvPr/>
            </p:nvSpPr>
            <p:spPr>
              <a:xfrm>
                <a:off x="5176200" y="2461214"/>
                <a:ext cx="820800" cy="466349"/>
              </a:xfrm>
              <a:custGeom>
                <a:avLst/>
                <a:gdLst>
                  <a:gd name="connsiteX0" fmla="*/ 410400 w 820800"/>
                  <a:gd name="connsiteY0" fmla="*/ 466349 h 466349"/>
                  <a:gd name="connsiteX1" fmla="*/ 410400 w 820800"/>
                  <a:gd name="connsiteY1" fmla="*/ 0 h 466349"/>
                  <a:gd name="connsiteX2" fmla="*/ 820800 w 820800"/>
                  <a:gd name="connsiteY2" fmla="*/ 233175 h 466349"/>
                  <a:gd name="connsiteX3" fmla="*/ 0 w 820800"/>
                  <a:gd name="connsiteY3" fmla="*/ 233175 h 466349"/>
                  <a:gd name="connsiteX4" fmla="*/ 205200 w 820800"/>
                  <a:gd name="connsiteY4" fmla="*/ 0 h 466349"/>
                  <a:gd name="connsiteX5" fmla="*/ 615600 w 820800"/>
                  <a:gd name="connsiteY5" fmla="*/ 0 h 466349"/>
                  <a:gd name="connsiteX6" fmla="*/ 205200 w 820800"/>
                  <a:gd name="connsiteY6" fmla="*/ 466349 h 466349"/>
                  <a:gd name="connsiteX7" fmla="*/ 615600 w 820800"/>
                  <a:gd name="connsiteY7" fmla="*/ 466349 h 46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820800" h="466349">
                    <a:moveTo>
                      <a:pt x="820800" y="466349"/>
                    </a:moveTo>
                    <a:cubicBezTo>
                      <a:pt x="820800" y="466349"/>
                      <a:pt x="820800" y="466349"/>
                      <a:pt x="820800" y="466349"/>
                    </a:cubicBezTo>
                    <a:lnTo>
                      <a:pt x="820800" y="0"/>
                    </a:lnTo>
                    <a:cubicBezTo>
                      <a:pt x="820800" y="0"/>
                      <a:pt x="820800" y="0"/>
                      <a:pt x="820800" y="0"/>
                    </a:cubicBezTo>
                    <a:lnTo>
                      <a:pt x="0" y="0"/>
                    </a:lnTo>
                    <a:cubicBezTo>
                      <a:pt x="0" y="0"/>
                      <a:pt x="0" y="0"/>
                      <a:pt x="0" y="0"/>
                    </a:cubicBezTo>
                    <a:lnTo>
                      <a:pt x="0" y="466349"/>
                    </a:lnTo>
                    <a:cubicBezTo>
                      <a:pt x="0" y="466349"/>
                      <a:pt x="0" y="466349"/>
                      <a:pt x="0" y="466349"/>
                    </a:cubicBezTo>
                    <a:lnTo>
                      <a:pt x="820800" y="466349"/>
                    </a:lnTo>
                    <a:close/>
                  </a:path>
                </a:pathLst>
              </a:custGeom>
              <a:solidFill>
                <a:srgbClr val="FFFFFF"/>
              </a:solidFill>
              <a:ln w="7600" cap="flat">
                <a:solidFill>
                  <a:srgbClr val="000000"/>
                </a:solidFill>
                <a:bevel/>
              </a:ln>
            </p:spPr>
          </p:sp>
          <p:sp>
            <p:nvSpPr>
              <p:cNvPr id="118" name="选择点"/>
              <p:cNvSpPr/>
              <p:nvPr/>
            </p:nvSpPr>
            <p:spPr>
              <a:xfrm>
                <a:off x="5191400" y="2463962"/>
                <a:ext cx="805600" cy="463600"/>
              </a:xfrm>
              <a:custGeom>
                <a:avLst/>
                <a:gdLst>
                  <a:gd name="connsiteX0" fmla="*/ 0 w 805600"/>
                  <a:gd name="connsiteY0" fmla="*/ 231800 h 463600"/>
                  <a:gd name="connsiteX1" fmla="*/ 402800 w 805600"/>
                  <a:gd name="connsiteY1" fmla="*/ 0 h 463600"/>
                  <a:gd name="connsiteX2" fmla="*/ 805600 w 805600"/>
                  <a:gd name="connsiteY2" fmla="*/ 231800 h 463600"/>
                  <a:gd name="connsiteX3" fmla="*/ 402800 w 8056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805600" h="463600">
                    <a:moveTo>
                      <a:pt x="0" y="231800"/>
                    </a:moveTo>
                    <a:cubicBezTo>
                      <a:pt x="0" y="103780"/>
                      <a:pt x="180340" y="0"/>
                      <a:pt x="402800" y="0"/>
                    </a:cubicBezTo>
                    <a:cubicBezTo>
                      <a:pt x="625260" y="0"/>
                      <a:pt x="805600" y="103780"/>
                      <a:pt x="805600" y="231800"/>
                    </a:cubicBezTo>
                    <a:cubicBezTo>
                      <a:pt x="805600" y="359820"/>
                      <a:pt x="625260" y="463600"/>
                      <a:pt x="402800" y="463600"/>
                    </a:cubicBezTo>
                    <a:cubicBezTo>
                      <a:pt x="18034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request2</a:t>
                </a:r>
                <a:endParaRPr sz="1600" dirty="0">
                  <a:solidFill>
                    <a:srgbClr val="404557"/>
                  </a:solidFill>
                  <a:latin typeface="微软雅黑" panose="020B0503020204020204" pitchFamily="34" charset="-122"/>
                  <a:ea typeface="微软雅黑" panose="020B0503020204020204" pitchFamily="34" charset="-122"/>
                </a:endParaRPr>
              </a:p>
            </p:txBody>
          </p:sp>
        </p:grpSp>
        <p:grpSp>
          <p:nvGrpSpPr>
            <p:cNvPr id="94" name="组合 93"/>
            <p:cNvGrpSpPr/>
            <p:nvPr/>
          </p:nvGrpSpPr>
          <p:grpSpPr>
            <a:xfrm>
              <a:off x="5176200" y="3988814"/>
              <a:ext cx="820800" cy="466349"/>
              <a:chOff x="5176200" y="3988814"/>
              <a:chExt cx="820800" cy="466349"/>
            </a:xfrm>
          </p:grpSpPr>
          <p:sp>
            <p:nvSpPr>
              <p:cNvPr id="115" name="状态"/>
              <p:cNvSpPr/>
              <p:nvPr/>
            </p:nvSpPr>
            <p:spPr>
              <a:xfrm>
                <a:off x="5176200" y="3988814"/>
                <a:ext cx="820800" cy="466349"/>
              </a:xfrm>
              <a:custGeom>
                <a:avLst/>
                <a:gdLst>
                  <a:gd name="connsiteX0" fmla="*/ 410400 w 820800"/>
                  <a:gd name="connsiteY0" fmla="*/ 466349 h 466349"/>
                  <a:gd name="connsiteX1" fmla="*/ 410400 w 820800"/>
                  <a:gd name="connsiteY1" fmla="*/ 0 h 466349"/>
                  <a:gd name="connsiteX2" fmla="*/ 820800 w 820800"/>
                  <a:gd name="connsiteY2" fmla="*/ 233175 h 466349"/>
                  <a:gd name="connsiteX3" fmla="*/ 0 w 820800"/>
                  <a:gd name="connsiteY3" fmla="*/ 233175 h 466349"/>
                  <a:gd name="connsiteX4" fmla="*/ 205200 w 820800"/>
                  <a:gd name="connsiteY4" fmla="*/ 0 h 466349"/>
                  <a:gd name="connsiteX5" fmla="*/ 615600 w 820800"/>
                  <a:gd name="connsiteY5" fmla="*/ 0 h 466349"/>
                  <a:gd name="connsiteX6" fmla="*/ 205200 w 820800"/>
                  <a:gd name="connsiteY6" fmla="*/ 466349 h 466349"/>
                  <a:gd name="connsiteX7" fmla="*/ 615600 w 820800"/>
                  <a:gd name="connsiteY7" fmla="*/ 466349 h 46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820800" h="466349">
                    <a:moveTo>
                      <a:pt x="820800" y="466349"/>
                    </a:moveTo>
                    <a:cubicBezTo>
                      <a:pt x="820800" y="466349"/>
                      <a:pt x="820800" y="466349"/>
                      <a:pt x="820800" y="466349"/>
                    </a:cubicBezTo>
                    <a:lnTo>
                      <a:pt x="820800" y="0"/>
                    </a:lnTo>
                    <a:cubicBezTo>
                      <a:pt x="820800" y="0"/>
                      <a:pt x="820800" y="0"/>
                      <a:pt x="820800" y="0"/>
                    </a:cubicBezTo>
                    <a:lnTo>
                      <a:pt x="0" y="0"/>
                    </a:lnTo>
                    <a:cubicBezTo>
                      <a:pt x="0" y="0"/>
                      <a:pt x="0" y="0"/>
                      <a:pt x="0" y="0"/>
                    </a:cubicBezTo>
                    <a:lnTo>
                      <a:pt x="0" y="466349"/>
                    </a:lnTo>
                    <a:cubicBezTo>
                      <a:pt x="0" y="466349"/>
                      <a:pt x="0" y="466349"/>
                      <a:pt x="0" y="466349"/>
                    </a:cubicBezTo>
                    <a:lnTo>
                      <a:pt x="820800" y="466349"/>
                    </a:lnTo>
                    <a:close/>
                  </a:path>
                </a:pathLst>
              </a:custGeom>
              <a:solidFill>
                <a:srgbClr val="FFFFFF"/>
              </a:solidFill>
              <a:ln w="7600" cap="flat">
                <a:solidFill>
                  <a:srgbClr val="000000"/>
                </a:solidFill>
                <a:bevel/>
              </a:ln>
            </p:spPr>
          </p:sp>
          <p:sp>
            <p:nvSpPr>
              <p:cNvPr id="116" name="选择点"/>
              <p:cNvSpPr/>
              <p:nvPr/>
            </p:nvSpPr>
            <p:spPr>
              <a:xfrm>
                <a:off x="5191400" y="3991562"/>
                <a:ext cx="805600" cy="463600"/>
              </a:xfrm>
              <a:custGeom>
                <a:avLst/>
                <a:gdLst>
                  <a:gd name="connsiteX0" fmla="*/ 0 w 805600"/>
                  <a:gd name="connsiteY0" fmla="*/ 231800 h 463600"/>
                  <a:gd name="connsiteX1" fmla="*/ 402800 w 805600"/>
                  <a:gd name="connsiteY1" fmla="*/ 0 h 463600"/>
                  <a:gd name="connsiteX2" fmla="*/ 805600 w 805600"/>
                  <a:gd name="connsiteY2" fmla="*/ 231800 h 463600"/>
                  <a:gd name="connsiteX3" fmla="*/ 402800 w 8056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805600" h="463600">
                    <a:moveTo>
                      <a:pt x="0" y="231800"/>
                    </a:moveTo>
                    <a:cubicBezTo>
                      <a:pt x="0" y="103780"/>
                      <a:pt x="180340" y="0"/>
                      <a:pt x="402800" y="0"/>
                    </a:cubicBezTo>
                    <a:cubicBezTo>
                      <a:pt x="625260" y="0"/>
                      <a:pt x="805600" y="103780"/>
                      <a:pt x="805600" y="231800"/>
                    </a:cubicBezTo>
                    <a:cubicBezTo>
                      <a:pt x="805600" y="359820"/>
                      <a:pt x="625260" y="463600"/>
                      <a:pt x="402800" y="463600"/>
                    </a:cubicBezTo>
                    <a:cubicBezTo>
                      <a:pt x="18034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request4</a:t>
                </a:r>
                <a:endParaRPr sz="1600" dirty="0">
                  <a:solidFill>
                    <a:srgbClr val="404557"/>
                  </a:solidFill>
                  <a:latin typeface="微软雅黑" panose="020B0503020204020204" pitchFamily="34" charset="-122"/>
                  <a:ea typeface="微软雅黑" panose="020B0503020204020204" pitchFamily="34" charset="-122"/>
                </a:endParaRPr>
              </a:p>
            </p:txBody>
          </p:sp>
        </p:grpSp>
        <p:grpSp>
          <p:nvGrpSpPr>
            <p:cNvPr id="95" name="组合 94"/>
            <p:cNvGrpSpPr/>
            <p:nvPr/>
          </p:nvGrpSpPr>
          <p:grpSpPr>
            <a:xfrm>
              <a:off x="5183800" y="3236414"/>
              <a:ext cx="820800" cy="466349"/>
              <a:chOff x="5183800" y="3236414"/>
              <a:chExt cx="820800" cy="466349"/>
            </a:xfrm>
          </p:grpSpPr>
          <p:sp>
            <p:nvSpPr>
              <p:cNvPr id="113" name="状态"/>
              <p:cNvSpPr/>
              <p:nvPr/>
            </p:nvSpPr>
            <p:spPr>
              <a:xfrm>
                <a:off x="5183800" y="3236414"/>
                <a:ext cx="820800" cy="466349"/>
              </a:xfrm>
              <a:custGeom>
                <a:avLst/>
                <a:gdLst>
                  <a:gd name="connsiteX0" fmla="*/ 410400 w 820800"/>
                  <a:gd name="connsiteY0" fmla="*/ 466349 h 466349"/>
                  <a:gd name="connsiteX1" fmla="*/ 410400 w 820800"/>
                  <a:gd name="connsiteY1" fmla="*/ 0 h 466349"/>
                  <a:gd name="connsiteX2" fmla="*/ 820800 w 820800"/>
                  <a:gd name="connsiteY2" fmla="*/ 233175 h 466349"/>
                  <a:gd name="connsiteX3" fmla="*/ 0 w 820800"/>
                  <a:gd name="connsiteY3" fmla="*/ 233175 h 466349"/>
                  <a:gd name="connsiteX4" fmla="*/ 205200 w 820800"/>
                  <a:gd name="connsiteY4" fmla="*/ 0 h 466349"/>
                  <a:gd name="connsiteX5" fmla="*/ 615600 w 820800"/>
                  <a:gd name="connsiteY5" fmla="*/ 0 h 466349"/>
                  <a:gd name="connsiteX6" fmla="*/ 205200 w 820800"/>
                  <a:gd name="connsiteY6" fmla="*/ 466349 h 466349"/>
                  <a:gd name="connsiteX7" fmla="*/ 615600 w 820800"/>
                  <a:gd name="connsiteY7" fmla="*/ 466349 h 46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820800" h="466349">
                    <a:moveTo>
                      <a:pt x="820800" y="466349"/>
                    </a:moveTo>
                    <a:cubicBezTo>
                      <a:pt x="820800" y="466349"/>
                      <a:pt x="820800" y="466349"/>
                      <a:pt x="820800" y="466349"/>
                    </a:cubicBezTo>
                    <a:lnTo>
                      <a:pt x="820800" y="0"/>
                    </a:lnTo>
                    <a:cubicBezTo>
                      <a:pt x="820800" y="0"/>
                      <a:pt x="820800" y="0"/>
                      <a:pt x="820800" y="0"/>
                    </a:cubicBezTo>
                    <a:lnTo>
                      <a:pt x="0" y="0"/>
                    </a:lnTo>
                    <a:cubicBezTo>
                      <a:pt x="0" y="0"/>
                      <a:pt x="0" y="0"/>
                      <a:pt x="0" y="0"/>
                    </a:cubicBezTo>
                    <a:lnTo>
                      <a:pt x="0" y="466349"/>
                    </a:lnTo>
                    <a:cubicBezTo>
                      <a:pt x="0" y="466349"/>
                      <a:pt x="0" y="466349"/>
                      <a:pt x="0" y="466349"/>
                    </a:cubicBezTo>
                    <a:lnTo>
                      <a:pt x="820800" y="466349"/>
                    </a:lnTo>
                    <a:close/>
                  </a:path>
                </a:pathLst>
              </a:custGeom>
              <a:solidFill>
                <a:srgbClr val="FFFFFF"/>
              </a:solidFill>
              <a:ln w="7600" cap="flat">
                <a:solidFill>
                  <a:srgbClr val="000000"/>
                </a:solidFill>
                <a:bevel/>
              </a:ln>
            </p:spPr>
          </p:sp>
          <p:sp>
            <p:nvSpPr>
              <p:cNvPr id="114" name="选择点"/>
              <p:cNvSpPr/>
              <p:nvPr/>
            </p:nvSpPr>
            <p:spPr>
              <a:xfrm>
                <a:off x="5199000" y="3239162"/>
                <a:ext cx="805600" cy="463600"/>
              </a:xfrm>
              <a:custGeom>
                <a:avLst/>
                <a:gdLst>
                  <a:gd name="connsiteX0" fmla="*/ 0 w 805600"/>
                  <a:gd name="connsiteY0" fmla="*/ 231800 h 463600"/>
                  <a:gd name="connsiteX1" fmla="*/ 402800 w 805600"/>
                  <a:gd name="connsiteY1" fmla="*/ 0 h 463600"/>
                  <a:gd name="connsiteX2" fmla="*/ 805600 w 805600"/>
                  <a:gd name="connsiteY2" fmla="*/ 231800 h 463600"/>
                  <a:gd name="connsiteX3" fmla="*/ 402800 w 8056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805600" h="463600">
                    <a:moveTo>
                      <a:pt x="0" y="231800"/>
                    </a:moveTo>
                    <a:cubicBezTo>
                      <a:pt x="0" y="103780"/>
                      <a:pt x="180340" y="0"/>
                      <a:pt x="402800" y="0"/>
                    </a:cubicBezTo>
                    <a:cubicBezTo>
                      <a:pt x="625260" y="0"/>
                      <a:pt x="805600" y="103780"/>
                      <a:pt x="805600" y="231800"/>
                    </a:cubicBezTo>
                    <a:cubicBezTo>
                      <a:pt x="805600" y="359820"/>
                      <a:pt x="625260" y="463600"/>
                      <a:pt x="402800" y="463600"/>
                    </a:cubicBezTo>
                    <a:cubicBezTo>
                      <a:pt x="18034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request3</a:t>
                </a:r>
                <a:endParaRPr sz="1600" dirty="0">
                  <a:solidFill>
                    <a:srgbClr val="404557"/>
                  </a:solidFill>
                  <a:latin typeface="微软雅黑" panose="020B0503020204020204" pitchFamily="34" charset="-122"/>
                  <a:ea typeface="微软雅黑" panose="020B0503020204020204" pitchFamily="34" charset="-122"/>
                </a:endParaRPr>
              </a:p>
            </p:txBody>
          </p:sp>
        </p:grpSp>
        <p:grpSp>
          <p:nvGrpSpPr>
            <p:cNvPr id="96" name="组合 95"/>
            <p:cNvGrpSpPr/>
            <p:nvPr/>
          </p:nvGrpSpPr>
          <p:grpSpPr>
            <a:xfrm>
              <a:off x="5176200" y="4682838"/>
              <a:ext cx="820800" cy="466349"/>
              <a:chOff x="5176200" y="4682838"/>
              <a:chExt cx="820800" cy="466349"/>
            </a:xfrm>
          </p:grpSpPr>
          <p:sp>
            <p:nvSpPr>
              <p:cNvPr id="111" name="状态"/>
              <p:cNvSpPr/>
              <p:nvPr/>
            </p:nvSpPr>
            <p:spPr>
              <a:xfrm>
                <a:off x="5176200" y="4682838"/>
                <a:ext cx="820800" cy="466349"/>
              </a:xfrm>
              <a:custGeom>
                <a:avLst/>
                <a:gdLst>
                  <a:gd name="connsiteX0" fmla="*/ 410400 w 820800"/>
                  <a:gd name="connsiteY0" fmla="*/ 466349 h 466349"/>
                  <a:gd name="connsiteX1" fmla="*/ 410400 w 820800"/>
                  <a:gd name="connsiteY1" fmla="*/ 0 h 466349"/>
                  <a:gd name="connsiteX2" fmla="*/ 820800 w 820800"/>
                  <a:gd name="connsiteY2" fmla="*/ 233175 h 466349"/>
                  <a:gd name="connsiteX3" fmla="*/ 0 w 820800"/>
                  <a:gd name="connsiteY3" fmla="*/ 233175 h 466349"/>
                  <a:gd name="connsiteX4" fmla="*/ 205200 w 820800"/>
                  <a:gd name="connsiteY4" fmla="*/ 0 h 466349"/>
                  <a:gd name="connsiteX5" fmla="*/ 615600 w 820800"/>
                  <a:gd name="connsiteY5" fmla="*/ 0 h 466349"/>
                  <a:gd name="connsiteX6" fmla="*/ 205200 w 820800"/>
                  <a:gd name="connsiteY6" fmla="*/ 466349 h 466349"/>
                  <a:gd name="connsiteX7" fmla="*/ 615600 w 820800"/>
                  <a:gd name="connsiteY7" fmla="*/ 466349 h 46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820800" h="466349">
                    <a:moveTo>
                      <a:pt x="820800" y="466349"/>
                    </a:moveTo>
                    <a:cubicBezTo>
                      <a:pt x="820800" y="466349"/>
                      <a:pt x="820800" y="466349"/>
                      <a:pt x="820800" y="466349"/>
                    </a:cubicBezTo>
                    <a:lnTo>
                      <a:pt x="820800" y="0"/>
                    </a:lnTo>
                    <a:cubicBezTo>
                      <a:pt x="820800" y="0"/>
                      <a:pt x="820800" y="0"/>
                      <a:pt x="820800" y="0"/>
                    </a:cubicBezTo>
                    <a:lnTo>
                      <a:pt x="0" y="0"/>
                    </a:lnTo>
                    <a:cubicBezTo>
                      <a:pt x="0" y="0"/>
                      <a:pt x="0" y="0"/>
                      <a:pt x="0" y="0"/>
                    </a:cubicBezTo>
                    <a:lnTo>
                      <a:pt x="0" y="466349"/>
                    </a:lnTo>
                    <a:cubicBezTo>
                      <a:pt x="0" y="466349"/>
                      <a:pt x="0" y="466349"/>
                      <a:pt x="0" y="466349"/>
                    </a:cubicBezTo>
                    <a:lnTo>
                      <a:pt x="820800" y="466349"/>
                    </a:lnTo>
                    <a:close/>
                  </a:path>
                </a:pathLst>
              </a:custGeom>
              <a:solidFill>
                <a:srgbClr val="FFFFFF"/>
              </a:solidFill>
              <a:ln w="7600" cap="flat">
                <a:solidFill>
                  <a:srgbClr val="000000"/>
                </a:solidFill>
                <a:bevel/>
              </a:ln>
            </p:spPr>
          </p:sp>
          <p:sp>
            <p:nvSpPr>
              <p:cNvPr id="112" name="选择点"/>
              <p:cNvSpPr/>
              <p:nvPr/>
            </p:nvSpPr>
            <p:spPr>
              <a:xfrm>
                <a:off x="5191400" y="4685587"/>
                <a:ext cx="805600" cy="463600"/>
              </a:xfrm>
              <a:custGeom>
                <a:avLst/>
                <a:gdLst>
                  <a:gd name="connsiteX0" fmla="*/ 0 w 805600"/>
                  <a:gd name="connsiteY0" fmla="*/ 231800 h 463600"/>
                  <a:gd name="connsiteX1" fmla="*/ 402800 w 805600"/>
                  <a:gd name="connsiteY1" fmla="*/ 0 h 463600"/>
                  <a:gd name="connsiteX2" fmla="*/ 805600 w 805600"/>
                  <a:gd name="connsiteY2" fmla="*/ 231800 h 463600"/>
                  <a:gd name="connsiteX3" fmla="*/ 402800 w 8056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805600" h="463600">
                    <a:moveTo>
                      <a:pt x="0" y="231800"/>
                    </a:moveTo>
                    <a:cubicBezTo>
                      <a:pt x="0" y="103780"/>
                      <a:pt x="180340" y="0"/>
                      <a:pt x="402800" y="0"/>
                    </a:cubicBezTo>
                    <a:cubicBezTo>
                      <a:pt x="625260" y="0"/>
                      <a:pt x="805600" y="103780"/>
                      <a:pt x="805600" y="231800"/>
                    </a:cubicBezTo>
                    <a:cubicBezTo>
                      <a:pt x="805600" y="359820"/>
                      <a:pt x="625260" y="463600"/>
                      <a:pt x="402800" y="463600"/>
                    </a:cubicBezTo>
                    <a:cubicBezTo>
                      <a:pt x="18034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request5</a:t>
                </a:r>
                <a:endParaRPr sz="1600" dirty="0">
                  <a:solidFill>
                    <a:srgbClr val="404557"/>
                  </a:solidFill>
                  <a:latin typeface="微软雅黑" panose="020B0503020204020204" pitchFamily="34" charset="-122"/>
                  <a:ea typeface="微软雅黑" panose="020B0503020204020204" pitchFamily="34" charset="-122"/>
                </a:endParaRPr>
              </a:p>
            </p:txBody>
          </p:sp>
        </p:grpSp>
        <p:sp>
          <p:nvSpPr>
            <p:cNvPr id="97" name="参与者引用"/>
            <p:cNvSpPr/>
            <p:nvPr/>
          </p:nvSpPr>
          <p:spPr>
            <a:xfrm>
              <a:off x="6985000" y="3259214"/>
              <a:ext cx="760000" cy="425600"/>
            </a:xfrm>
            <a:custGeom>
              <a:avLst/>
              <a:gdLst>
                <a:gd name="connsiteX0" fmla="*/ 380000 w 760000"/>
                <a:gd name="connsiteY0" fmla="*/ 425600 h 425600"/>
                <a:gd name="connsiteX1" fmla="*/ 380000 w 760000"/>
                <a:gd name="connsiteY1" fmla="*/ 0 h 425600"/>
                <a:gd name="connsiteX2" fmla="*/ 760000 w 760000"/>
                <a:gd name="connsiteY2" fmla="*/ 212800 h 425600"/>
                <a:gd name="connsiteX3" fmla="*/ 0 w 760000"/>
                <a:gd name="connsiteY3" fmla="*/ 212800 h 425600"/>
                <a:gd name="connsiteX4" fmla="*/ 380000 w 760000"/>
                <a:gd name="connsiteY4" fmla="*/ 212800 h 425600"/>
                <a:gd name="rtb" fmla="*/ 421800 h 425600"/>
              </a:gdLst>
              <a:ahLst/>
              <a:cxnLst>
                <a:cxn ang="0">
                  <a:pos x="connsiteX0" y="connsiteY0"/>
                </a:cxn>
                <a:cxn ang="0">
                  <a:pos x="connsiteX1" y="connsiteY1"/>
                </a:cxn>
                <a:cxn ang="0">
                  <a:pos x="connsiteX2" y="connsiteY2"/>
                </a:cxn>
                <a:cxn ang="0">
                  <a:pos x="connsiteX3" y="connsiteY3"/>
                </a:cxn>
                <a:cxn ang="0">
                  <a:pos x="connsiteX4" y="connsiteY4"/>
                </a:cxn>
              </a:cxnLst>
              <a:rect l="l" t="t" r="r" b="rtb"/>
              <a:pathLst>
                <a:path w="760000" h="425600">
                  <a:moveTo>
                    <a:pt x="760000" y="425600"/>
                  </a:moveTo>
                  <a:lnTo>
                    <a:pt x="760000" y="0"/>
                  </a:lnTo>
                  <a:lnTo>
                    <a:pt x="0" y="0"/>
                  </a:lnTo>
                  <a:lnTo>
                    <a:pt x="0" y="425600"/>
                  </a:lnTo>
                  <a:lnTo>
                    <a:pt x="760000" y="425600"/>
                  </a:ln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network</a:t>
              </a:r>
              <a:endParaRPr sz="1600" dirty="0">
                <a:solidFill>
                  <a:srgbClr val="404557"/>
                </a:solidFill>
                <a:latin typeface="微软雅黑" panose="020B0503020204020204" pitchFamily="34" charset="-122"/>
                <a:ea typeface="微软雅黑" panose="020B0503020204020204" pitchFamily="34" charset="-122"/>
              </a:endParaRPr>
            </a:p>
          </p:txBody>
        </p:sp>
        <p:sp>
          <p:nvSpPr>
            <p:cNvPr id="98" name="层/导出连接"/>
            <p:cNvSpPr/>
            <p:nvPr/>
          </p:nvSpPr>
          <p:spPr>
            <a:xfrm>
              <a:off x="2463000" y="3465788"/>
              <a:ext cx="304000" cy="0"/>
            </a:xfrm>
            <a:custGeom>
              <a:avLst/>
              <a:gdLst/>
              <a:ahLst/>
              <a:cxnLst/>
              <a:rect l="0" t="0" r="0" b="0"/>
              <a:pathLst>
                <a:path w="304000" fill="none">
                  <a:moveTo>
                    <a:pt x="0" y="0"/>
                  </a:moveTo>
                  <a:lnTo>
                    <a:pt x="-304000" y="0"/>
                  </a:lnTo>
                </a:path>
              </a:pathLst>
            </a:custGeom>
            <a:gradFill>
              <a:gsLst>
                <a:gs pos="0">
                  <a:srgbClr val="EDF0F7"/>
                </a:gs>
                <a:gs pos="100000">
                  <a:srgbClr val="A6BED0"/>
                </a:gs>
              </a:gsLst>
              <a:lin ang="5400000" scaled="0"/>
            </a:gradFill>
            <a:ln w="10133" cap="flat">
              <a:solidFill>
                <a:srgbClr val="000000"/>
              </a:solidFill>
              <a:bevel/>
              <a:headEnd type="triangle" w="med" len="med"/>
            </a:ln>
          </p:spPr>
        </p:sp>
        <p:sp>
          <p:nvSpPr>
            <p:cNvPr id="99" name="层/导出连接"/>
            <p:cNvSpPr/>
            <p:nvPr/>
          </p:nvSpPr>
          <p:spPr>
            <a:xfrm>
              <a:off x="3527000" y="3469588"/>
              <a:ext cx="349600" cy="3800"/>
            </a:xfrm>
            <a:custGeom>
              <a:avLst/>
              <a:gdLst/>
              <a:ahLst/>
              <a:cxnLst/>
              <a:rect l="0" t="0" r="0" b="0"/>
              <a:pathLst>
                <a:path w="349600" h="3800" fill="none">
                  <a:moveTo>
                    <a:pt x="0" y="0"/>
                  </a:moveTo>
                  <a:lnTo>
                    <a:pt x="-349600" y="-3800"/>
                  </a:lnTo>
                </a:path>
              </a:pathLst>
            </a:custGeom>
            <a:gradFill>
              <a:gsLst>
                <a:gs pos="0">
                  <a:srgbClr val="EDF0F7"/>
                </a:gs>
                <a:gs pos="100000">
                  <a:srgbClr val="A6BED0"/>
                </a:gs>
              </a:gsLst>
              <a:lin ang="5400000" scaled="0"/>
            </a:gradFill>
            <a:ln w="10133" cap="flat">
              <a:solidFill>
                <a:srgbClr val="000000"/>
              </a:solidFill>
              <a:bevel/>
              <a:headEnd type="triangle" w="med" len="med"/>
            </a:ln>
          </p:spPr>
        </p:sp>
        <p:sp>
          <p:nvSpPr>
            <p:cNvPr id="100" name="层/导出连接"/>
            <p:cNvSpPr/>
            <p:nvPr/>
          </p:nvSpPr>
          <p:spPr>
            <a:xfrm>
              <a:off x="5183800" y="3469588"/>
              <a:ext cx="782800" cy="0"/>
            </a:xfrm>
            <a:custGeom>
              <a:avLst/>
              <a:gdLst/>
              <a:ahLst/>
              <a:cxnLst/>
              <a:rect l="0" t="0" r="0" b="0"/>
              <a:pathLst>
                <a:path w="782800" fill="none">
                  <a:moveTo>
                    <a:pt x="0" y="0"/>
                  </a:moveTo>
                  <a:lnTo>
                    <a:pt x="-782800" y="0"/>
                  </a:lnTo>
                </a:path>
              </a:pathLst>
            </a:custGeom>
            <a:gradFill>
              <a:gsLst>
                <a:gs pos="0">
                  <a:srgbClr val="EDF0F7"/>
                </a:gs>
                <a:gs pos="100000">
                  <a:srgbClr val="A6BED0"/>
                </a:gs>
              </a:gsLst>
              <a:lin ang="5400000" scaled="0"/>
            </a:gradFill>
            <a:ln w="10133" cap="flat">
              <a:solidFill>
                <a:srgbClr val="000000"/>
              </a:solidFill>
              <a:bevel/>
              <a:headEnd type="triangle" w="med" len="med"/>
            </a:ln>
          </p:spPr>
        </p:sp>
        <p:sp>
          <p:nvSpPr>
            <p:cNvPr id="101" name="转换"/>
            <p:cNvSpPr/>
            <p:nvPr/>
          </p:nvSpPr>
          <p:spPr>
            <a:xfrm>
              <a:off x="4317400" y="3525061"/>
              <a:ext cx="653600" cy="653600"/>
            </a:xfrm>
            <a:custGeom>
              <a:avLst/>
              <a:gdLst/>
              <a:ahLst/>
              <a:cxnLst/>
              <a:rect l="0" t="0" r="0" b="0"/>
              <a:pathLst>
                <a:path w="653600" h="653600" fill="none">
                  <a:moveTo>
                    <a:pt x="858800" y="1390952"/>
                  </a:moveTo>
                  <a:cubicBezTo>
                    <a:pt x="250637" y="1250404"/>
                    <a:pt x="-221645" y="771256"/>
                    <a:pt x="-353400" y="161128"/>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2" name="转换"/>
            <p:cNvSpPr/>
            <p:nvPr/>
          </p:nvSpPr>
          <p:spPr>
            <a:xfrm>
              <a:off x="4059000" y="2025588"/>
              <a:ext cx="653600" cy="653600"/>
            </a:xfrm>
            <a:custGeom>
              <a:avLst/>
              <a:gdLst/>
              <a:ahLst/>
              <a:cxnLst/>
              <a:rect l="0" t="0" r="0" b="0"/>
              <a:pathLst>
                <a:path w="653600" h="653600" fill="none">
                  <a:moveTo>
                    <a:pt x="1117200" y="-83600"/>
                  </a:moveTo>
                  <a:cubicBezTo>
                    <a:pt x="537434" y="150165"/>
                    <a:pt x="92716" y="631131"/>
                    <a:pt x="-95000" y="12274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3" name="转换"/>
            <p:cNvSpPr/>
            <p:nvPr/>
          </p:nvSpPr>
          <p:spPr>
            <a:xfrm>
              <a:off x="5974200" y="1774788"/>
              <a:ext cx="653600" cy="653600"/>
            </a:xfrm>
            <a:custGeom>
              <a:avLst/>
              <a:gdLst/>
              <a:ahLst/>
              <a:cxnLst/>
              <a:rect l="0" t="0" r="0" b="0"/>
              <a:pathLst>
                <a:path w="653600" h="653600" fill="none">
                  <a:moveTo>
                    <a:pt x="1010800" y="1697225"/>
                  </a:moveTo>
                  <a:cubicBezTo>
                    <a:pt x="936764" y="1061880"/>
                    <a:pt x="571681" y="497017"/>
                    <a:pt x="22800" y="168574"/>
                  </a:cubicBezTo>
                </a:path>
              </a:pathLst>
            </a:custGeom>
            <a:gradFill>
              <a:gsLst>
                <a:gs pos="0">
                  <a:srgbClr val="EDF0F7"/>
                </a:gs>
                <a:gs pos="100000">
                  <a:srgbClr val="A6BED0"/>
                </a:gs>
              </a:gsLst>
              <a:lin ang="5400000" scaled="0"/>
            </a:gradFill>
            <a:ln w="7600" cap="flat">
              <a:solidFill>
                <a:srgbClr val="000000"/>
              </a:solidFill>
              <a:bevel/>
              <a:headEnd type="arrow" w="med" len="med"/>
            </a:ln>
          </p:spPr>
        </p:sp>
        <p:sp>
          <p:nvSpPr>
            <p:cNvPr id="104" name="转换"/>
            <p:cNvSpPr/>
            <p:nvPr/>
          </p:nvSpPr>
          <p:spPr>
            <a:xfrm>
              <a:off x="5974200" y="2527188"/>
              <a:ext cx="653600" cy="653600"/>
            </a:xfrm>
            <a:custGeom>
              <a:avLst/>
              <a:gdLst/>
              <a:ahLst/>
              <a:cxnLst/>
              <a:rect l="0" t="0" r="0" b="0"/>
              <a:pathLst>
                <a:path w="653600" h="653600" fill="none">
                  <a:moveTo>
                    <a:pt x="1010800" y="944825"/>
                  </a:moveTo>
                  <a:cubicBezTo>
                    <a:pt x="835619" y="534345"/>
                    <a:pt x="463076" y="241646"/>
                    <a:pt x="22800" y="168574"/>
                  </a:cubicBezTo>
                </a:path>
              </a:pathLst>
            </a:custGeom>
            <a:gradFill>
              <a:gsLst>
                <a:gs pos="0">
                  <a:srgbClr val="EDF0F7"/>
                </a:gs>
                <a:gs pos="100000">
                  <a:srgbClr val="A6BED0"/>
                </a:gs>
              </a:gsLst>
              <a:lin ang="5400000" scaled="0"/>
            </a:gradFill>
            <a:ln w="7600" cap="flat">
              <a:solidFill>
                <a:srgbClr val="000000"/>
              </a:solidFill>
              <a:bevel/>
              <a:headEnd type="arrow" w="med" len="med"/>
            </a:ln>
          </p:spPr>
        </p:sp>
        <p:sp>
          <p:nvSpPr>
            <p:cNvPr id="105" name="转换"/>
            <p:cNvSpPr/>
            <p:nvPr/>
          </p:nvSpPr>
          <p:spPr>
            <a:xfrm>
              <a:off x="5974200" y="4753988"/>
              <a:ext cx="653600" cy="653600"/>
            </a:xfrm>
            <a:custGeom>
              <a:avLst/>
              <a:gdLst/>
              <a:ahLst/>
              <a:cxnLst/>
              <a:rect l="0" t="0" r="0" b="0"/>
              <a:pathLst>
                <a:path w="653600" h="653600" fill="none">
                  <a:moveTo>
                    <a:pt x="1010800" y="-1281975"/>
                  </a:moveTo>
                  <a:cubicBezTo>
                    <a:pt x="941113" y="-666309"/>
                    <a:pt x="571147" y="-125074"/>
                    <a:pt x="22800" y="163400"/>
                  </a:cubicBezTo>
                </a:path>
              </a:pathLst>
            </a:custGeom>
            <a:gradFill>
              <a:gsLst>
                <a:gs pos="0">
                  <a:srgbClr val="EDF0F7"/>
                </a:gs>
                <a:gs pos="100000">
                  <a:srgbClr val="A6BED0"/>
                </a:gs>
              </a:gsLst>
              <a:lin ang="5400000" scaled="0"/>
            </a:gradFill>
            <a:ln w="7600" cap="flat">
              <a:solidFill>
                <a:srgbClr val="000000"/>
              </a:solidFill>
              <a:bevel/>
              <a:headEnd type="arrow" w="med" len="med"/>
            </a:ln>
          </p:spPr>
        </p:sp>
        <p:sp>
          <p:nvSpPr>
            <p:cNvPr id="106" name="转换"/>
            <p:cNvSpPr/>
            <p:nvPr/>
          </p:nvSpPr>
          <p:spPr>
            <a:xfrm>
              <a:off x="6089339" y="4039588"/>
              <a:ext cx="720862" cy="720862"/>
            </a:xfrm>
            <a:custGeom>
              <a:avLst/>
              <a:gdLst/>
              <a:ahLst/>
              <a:cxnLst/>
              <a:rect l="0" t="0" r="0" b="0"/>
              <a:pathLst>
                <a:path w="720862" h="720862" fill="none">
                  <a:moveTo>
                    <a:pt x="895661" y="-567575"/>
                  </a:moveTo>
                  <a:cubicBezTo>
                    <a:pt x="654744" y="-218607"/>
                    <a:pt x="308553" y="44181"/>
                    <a:pt x="-92339" y="182400"/>
                  </a:cubicBezTo>
                </a:path>
              </a:pathLst>
            </a:custGeom>
            <a:gradFill>
              <a:gsLst>
                <a:gs pos="0">
                  <a:srgbClr val="EDF0F7"/>
                </a:gs>
                <a:gs pos="100000">
                  <a:srgbClr val="A6BED0"/>
                </a:gs>
              </a:gsLst>
              <a:lin ang="5400000" scaled="0"/>
            </a:gradFill>
            <a:ln w="7600" cap="flat">
              <a:solidFill>
                <a:srgbClr val="000000"/>
              </a:solidFill>
              <a:bevel/>
              <a:headEnd type="arrow" w="med" len="med"/>
            </a:ln>
          </p:spPr>
        </p:sp>
        <p:sp>
          <p:nvSpPr>
            <p:cNvPr id="107" name="绑定"/>
            <p:cNvSpPr/>
            <p:nvPr/>
          </p:nvSpPr>
          <p:spPr>
            <a:xfrm>
              <a:off x="5199000" y="3470964"/>
              <a:ext cx="798000" cy="1376"/>
            </a:xfrm>
            <a:custGeom>
              <a:avLst/>
              <a:gdLst/>
              <a:ahLst/>
              <a:cxnLst/>
              <a:rect l="0" t="0" r="0" b="0"/>
              <a:pathLst>
                <a:path w="798000" h="1376" fill="none">
                  <a:moveTo>
                    <a:pt x="0" y="0"/>
                  </a:moveTo>
                  <a:lnTo>
                    <a:pt x="-798000" y="-1374"/>
                  </a:lnTo>
                </a:path>
              </a:pathLst>
            </a:custGeom>
            <a:gradFill>
              <a:gsLst>
                <a:gs pos="0">
                  <a:srgbClr val="EDF0F7"/>
                </a:gs>
                <a:gs pos="100000">
                  <a:srgbClr val="A6BED0"/>
                </a:gs>
              </a:gsLst>
              <a:lin ang="5400000" scaled="0"/>
            </a:gradFill>
            <a:ln w="10133" cap="flat">
              <a:solidFill>
                <a:srgbClr val="000000"/>
              </a:solidFill>
              <a:bevel/>
            </a:ln>
          </p:spPr>
        </p:sp>
        <p:sp>
          <p:nvSpPr>
            <p:cNvPr id="108" name="转换"/>
            <p:cNvSpPr/>
            <p:nvPr/>
          </p:nvSpPr>
          <p:spPr>
            <a:xfrm>
              <a:off x="4530200" y="3317588"/>
              <a:ext cx="653600" cy="653600"/>
            </a:xfrm>
            <a:custGeom>
              <a:avLst/>
              <a:gdLst/>
              <a:ahLst/>
              <a:cxnLst/>
              <a:rect l="0" t="0" r="0" b="0"/>
              <a:pathLst>
                <a:path w="653600" h="653600" fill="none">
                  <a:moveTo>
                    <a:pt x="646000" y="904400"/>
                  </a:moveTo>
                  <a:cubicBezTo>
                    <a:pt x="265374" y="821741"/>
                    <a:pt x="-35219" y="529990"/>
                    <a:pt x="-129200" y="1520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9" name="转换"/>
            <p:cNvSpPr/>
            <p:nvPr/>
          </p:nvSpPr>
          <p:spPr>
            <a:xfrm>
              <a:off x="4465600" y="3252988"/>
              <a:ext cx="653600" cy="653600"/>
            </a:xfrm>
            <a:custGeom>
              <a:avLst/>
              <a:gdLst/>
              <a:ahLst/>
              <a:cxnLst/>
              <a:rect l="0" t="0" r="0" b="0"/>
              <a:pathLst>
                <a:path w="653600" h="653600" fill="none">
                  <a:moveTo>
                    <a:pt x="710600" y="-558600"/>
                  </a:moveTo>
                  <a:cubicBezTo>
                    <a:pt x="305201" y="-508143"/>
                    <a:pt x="-14143" y="-188799"/>
                    <a:pt x="-64600" y="2166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10" name="绑定"/>
            <p:cNvSpPr/>
            <p:nvPr/>
          </p:nvSpPr>
          <p:spPr>
            <a:xfrm>
              <a:off x="6985000" y="3472013"/>
              <a:ext cx="980400" cy="2425"/>
            </a:xfrm>
            <a:custGeom>
              <a:avLst/>
              <a:gdLst>
                <a:gd name="rtl" fmla="*/ -799878 w 980400"/>
                <a:gd name="rtt" fmla="*/ -71811 h 2425"/>
                <a:gd name="rtr" fmla="*/ -369010 w 980400"/>
                <a:gd name="rtb" fmla="*/ 71811 h 2425"/>
              </a:gdLst>
              <a:ahLst/>
              <a:cxnLst/>
              <a:rect l="rtl" t="rtt" r="rtr" b="rtb"/>
              <a:pathLst>
                <a:path w="980400" h="2425" fill="none">
                  <a:moveTo>
                    <a:pt x="0" y="0"/>
                  </a:moveTo>
                  <a:lnTo>
                    <a:pt x="-980400" y="-2425"/>
                  </a:lnTo>
                </a:path>
              </a:pathLst>
            </a:custGeom>
            <a:gradFill>
              <a:gsLst>
                <a:gs pos="0">
                  <a:srgbClr val="EDF0F7"/>
                </a:gs>
                <a:gs pos="100000">
                  <a:srgbClr val="A6BED0"/>
                </a:gs>
              </a:gsLst>
              <a:lin ang="5400000" scaled="0"/>
            </a:gradFill>
            <a:ln w="10133" cap="flat">
              <a:solidFill>
                <a:srgbClr val="000000"/>
              </a:solidFill>
              <a:bevel/>
              <a:headEnd type="arrow" w="med" len="med"/>
            </a:ln>
          </p:spPr>
          <p:txBody>
            <a:bodyPr wrap="square" lIns="0" tIns="0" rIns="0" bIns="0" rtlCol="0" anchor="ctr"/>
            <a:lstStyle/>
            <a:p>
              <a:pPr algn="ctr">
                <a:lnSpc>
                  <a:spcPct val="100000"/>
                </a:lnSpc>
              </a:pPr>
              <a:r>
                <a:rPr sz="1600" dirty="0">
                  <a:solidFill>
                    <a:srgbClr val="404557"/>
                  </a:solidFill>
                  <a:latin typeface="微软雅黑" panose="020B0503020204020204" pitchFamily="34" charset="-122"/>
                  <a:ea typeface="微软雅黑" panose="020B0503020204020204" pitchFamily="34" charset="-122"/>
                </a:rPr>
                <a:t>send result</a:t>
              </a:r>
              <a:endParaRPr sz="1600" dirty="0">
                <a:solidFill>
                  <a:srgbClr val="404557"/>
                </a:solidFill>
                <a:latin typeface="微软雅黑" panose="020B0503020204020204" pitchFamily="34" charset="-122"/>
                <a:ea typeface="微软雅黑" panose="020B0503020204020204" pitchFamily="34" charset="-122"/>
              </a:endParaRPr>
            </a:p>
          </p:txBody>
        </p:sp>
      </p:grpSp>
      <p:sp>
        <p:nvSpPr>
          <p:cNvPr id="40" name="副标题 2"/>
          <p:cNvSpPr>
            <a:spLocks noGrp="1"/>
          </p:cNvSpPr>
          <p:nvPr>
            <p:ph type="subTitle" idx="1"/>
          </p:nvPr>
        </p:nvSpPr>
        <p:spPr>
          <a:xfrm>
            <a:off x="0" y="6142711"/>
            <a:ext cx="9144000" cy="598657"/>
          </a:xfrm>
        </p:spPr>
        <p:txBody>
          <a:bodyPr>
            <a:normAutofit/>
          </a:bodyPr>
          <a:lstStyle/>
          <a:p>
            <a:r>
              <a:rPr lang="zh-CN" altLang="en-US" sz="1400" dirty="0">
                <a:solidFill>
                  <a:schemeClr val="tx1"/>
                </a:solidFill>
                <a:latin typeface="微软雅黑" panose="020B0503020204020204" pitchFamily="34" charset="-122"/>
                <a:ea typeface="微软雅黑" panose="020B0503020204020204" pitchFamily="34" charset="-122"/>
              </a:rPr>
              <a:t>多线程并发</a:t>
            </a:r>
            <a:r>
              <a:rPr lang="zh-CN" altLang="en-US" sz="1400" dirty="0" smtClean="0">
                <a:solidFill>
                  <a:schemeClr val="tx1"/>
                </a:solidFill>
                <a:latin typeface="微软雅黑" panose="020B0503020204020204" pitchFamily="34" charset="-122"/>
                <a:ea typeface="微软雅黑" panose="020B0503020204020204" pitchFamily="34" charset="-122"/>
              </a:rPr>
              <a:t>模型</a:t>
            </a:r>
            <a:r>
              <a:rPr lang="en-US" altLang="zh-CN" sz="1400" dirty="0" smtClean="0">
                <a:solidFill>
                  <a:schemeClr val="tx1"/>
                </a:solidFill>
                <a:latin typeface="微软雅黑" panose="020B0503020204020204" pitchFamily="34" charset="-122"/>
                <a:ea typeface="微软雅黑" panose="020B0503020204020204" pitchFamily="34" charset="-122"/>
              </a:rPr>
              <a:t>-</a:t>
            </a:r>
            <a:r>
              <a:rPr lang="zh-CN" altLang="en-US" sz="1400" dirty="0" smtClean="0">
                <a:solidFill>
                  <a:schemeClr val="tx1"/>
                </a:solidFill>
                <a:latin typeface="微软雅黑" panose="020B0503020204020204" pitchFamily="34" charset="-122"/>
                <a:ea typeface="微软雅黑" panose="020B0503020204020204" pitchFamily="34" charset="-122"/>
              </a:rPr>
              <a:t>架构图</a:t>
            </a:r>
            <a:endParaRPr lang="en-US" altLang="zh-CN" dirty="0" smtClean="0">
              <a:solidFill>
                <a:schemeClr val="tx1"/>
              </a:solidFill>
              <a:latin typeface="微软雅黑" panose="020B0503020204020204" pitchFamily="34" charset="-122"/>
              <a:ea typeface="微软雅黑" panose="020B0503020204020204" pitchFamily="34" charset="-122"/>
            </a:endParaRPr>
          </a:p>
        </p:txBody>
      </p:sp>
      <p:sp>
        <p:nvSpPr>
          <p:cNvPr id="41" name="副标题 2"/>
          <p:cNvSpPr txBox="1"/>
          <p:nvPr/>
        </p:nvSpPr>
        <p:spPr>
          <a:xfrm>
            <a:off x="0" y="980728"/>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架构图</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多</a:t>
            </a:r>
            <a:r>
              <a:rPr lang="zh-CN" altLang="en-US" dirty="0">
                <a:solidFill>
                  <a:schemeClr val="bg1"/>
                </a:solidFill>
                <a:latin typeface="微软雅黑" panose="020B0503020204020204" pitchFamily="34" charset="-122"/>
                <a:ea typeface="微软雅黑" panose="020B0503020204020204" pitchFamily="34" charset="-122"/>
              </a:rPr>
              <a:t>线程并发</a:t>
            </a:r>
            <a:r>
              <a:rPr lang="zh-CN" altLang="en-US" dirty="0" smtClean="0">
                <a:solidFill>
                  <a:schemeClr val="bg1"/>
                </a:solidFill>
                <a:latin typeface="微软雅黑" panose="020B0503020204020204" pitchFamily="34" charset="-122"/>
                <a:ea typeface="微软雅黑" panose="020B0503020204020204" pitchFamily="34" charset="-122"/>
              </a:rPr>
              <a:t>模型</a:t>
            </a:r>
            <a:endParaRPr lang="zh-CN" altLang="en-US" dirty="0"/>
          </a:p>
        </p:txBody>
      </p:sp>
      <p:sp>
        <p:nvSpPr>
          <p:cNvPr id="4" name="副标题 2"/>
          <p:cNvSpPr txBox="1"/>
          <p:nvPr/>
        </p:nvSpPr>
        <p:spPr>
          <a:xfrm>
            <a:off x="0" y="980728"/>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应用示例</a:t>
            </a:r>
            <a:r>
              <a:rPr lang="en-US" altLang="zh-CN" sz="2400" dirty="0" smtClean="0">
                <a:solidFill>
                  <a:schemeClr val="tx1"/>
                </a:solidFill>
                <a:latin typeface="微软雅黑" panose="020B0503020204020204" pitchFamily="34" charset="-122"/>
                <a:ea typeface="微软雅黑" panose="020B0503020204020204" pitchFamily="34" charset="-122"/>
              </a:rPr>
              <a:t>-Jetty</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6" name="Group138"/>
          <p:cNvGrpSpPr/>
          <p:nvPr/>
        </p:nvGrpSpPr>
        <p:grpSpPr>
          <a:xfrm>
            <a:off x="679745" y="1637146"/>
            <a:ext cx="6565869" cy="4456981"/>
            <a:chOff x="2326611" y="1852340"/>
            <a:chExt cx="4490779" cy="3183720"/>
          </a:xfrm>
        </p:grpSpPr>
        <p:sp>
          <p:nvSpPr>
            <p:cNvPr id="7" name="外部交互方"/>
            <p:cNvSpPr/>
            <p:nvPr/>
          </p:nvSpPr>
          <p:spPr>
            <a:xfrm>
              <a:off x="2328407" y="2107669"/>
              <a:ext cx="1705788" cy="609594"/>
            </a:xfrm>
            <a:custGeom>
              <a:avLst/>
              <a:gdLst>
                <a:gd name="connsiteX0" fmla="*/ 852894 w 1705788"/>
                <a:gd name="connsiteY0" fmla="*/ 609594 h 609594"/>
                <a:gd name="connsiteX1" fmla="*/ 852894 w 1705788"/>
                <a:gd name="connsiteY1" fmla="*/ 0 h 609594"/>
                <a:gd name="connsiteX2" fmla="*/ 1705788 w 1705788"/>
                <a:gd name="connsiteY2" fmla="*/ 304797 h 609594"/>
                <a:gd name="connsiteX3" fmla="*/ 0 w 1705788"/>
                <a:gd name="connsiteY3" fmla="*/ 304797 h 609594"/>
                <a:gd name="connsiteX4" fmla="*/ 852894 w 1705788"/>
                <a:gd name="connsiteY4" fmla="*/ 304797 h 609594"/>
                <a:gd name="connsiteX5" fmla="*/ 0 w 1705788"/>
                <a:gd name="connsiteY5" fmla="*/ 152398 h 609594"/>
                <a:gd name="connsiteX6" fmla="*/ 0 w 1705788"/>
                <a:gd name="connsiteY6" fmla="*/ 457195 h 609594"/>
                <a:gd name="connsiteX7" fmla="*/ 1705788 w 1705788"/>
                <a:gd name="connsiteY7" fmla="*/ 152398 h 609594"/>
                <a:gd name="connsiteX8" fmla="*/ 1705788 w 1705788"/>
                <a:gd name="connsiteY8" fmla="*/ 457195 h 609594"/>
                <a:gd name="connsiteX9" fmla="*/ 426447 w 1705788"/>
                <a:gd name="connsiteY9" fmla="*/ 0 h 609594"/>
                <a:gd name="connsiteX10" fmla="*/ 1279341 w 1705788"/>
                <a:gd name="connsiteY10" fmla="*/ 0 h 609594"/>
                <a:gd name="connsiteX11" fmla="*/ 426447 w 1705788"/>
                <a:gd name="connsiteY11" fmla="*/ 609594 h 609594"/>
                <a:gd name="connsiteX12" fmla="*/ 1279341 w 1705788"/>
                <a:gd name="connsiteY12" fmla="*/ 609594 h 6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5788" h="609594">
                  <a:moveTo>
                    <a:pt x="1705788" y="609594"/>
                  </a:moveTo>
                  <a:lnTo>
                    <a:pt x="1705788" y="0"/>
                  </a:lnTo>
                  <a:lnTo>
                    <a:pt x="0" y="0"/>
                  </a:lnTo>
                  <a:lnTo>
                    <a:pt x="0" y="609594"/>
                  </a:lnTo>
                  <a:lnTo>
                    <a:pt x="1705788" y="609594"/>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825">
                  <a:solidFill>
                    <a:srgbClr val="FFFFFF"/>
                  </a:solidFill>
                  <a:latin typeface="微软雅黑" panose="020B0503020204020204" pitchFamily="34" charset="-122"/>
                </a:rPr>
                <a:t>Connector</a:t>
              </a:r>
              <a:endParaRPr sz="1825">
                <a:solidFill>
                  <a:srgbClr val="FFFFFF"/>
                </a:solidFill>
                <a:latin typeface="微软雅黑" panose="020B0503020204020204" pitchFamily="34" charset="-122"/>
              </a:endParaRPr>
            </a:p>
          </p:txBody>
        </p:sp>
        <p:sp>
          <p:nvSpPr>
            <p:cNvPr id="8" name="外部交互方"/>
            <p:cNvSpPr/>
            <p:nvPr/>
          </p:nvSpPr>
          <p:spPr>
            <a:xfrm>
              <a:off x="2326611" y="3202866"/>
              <a:ext cx="1705790" cy="609594"/>
            </a:xfrm>
            <a:custGeom>
              <a:avLst/>
              <a:gdLst>
                <a:gd name="connsiteX0" fmla="*/ 852895 w 1705790"/>
                <a:gd name="connsiteY0" fmla="*/ 609594 h 609594"/>
                <a:gd name="connsiteX1" fmla="*/ 852895 w 1705790"/>
                <a:gd name="connsiteY1" fmla="*/ 0 h 609594"/>
                <a:gd name="connsiteX2" fmla="*/ 1705790 w 1705790"/>
                <a:gd name="connsiteY2" fmla="*/ 304796 h 609594"/>
                <a:gd name="connsiteX3" fmla="*/ 0 w 1705790"/>
                <a:gd name="connsiteY3" fmla="*/ 304796 h 609594"/>
                <a:gd name="connsiteX4" fmla="*/ 852895 w 1705790"/>
                <a:gd name="connsiteY4" fmla="*/ 304796 h 609594"/>
                <a:gd name="connsiteX5" fmla="*/ 0 w 1705790"/>
                <a:gd name="connsiteY5" fmla="*/ 152398 h 609594"/>
                <a:gd name="connsiteX6" fmla="*/ 0 w 1705790"/>
                <a:gd name="connsiteY6" fmla="*/ 457195 h 609594"/>
                <a:gd name="connsiteX7" fmla="*/ 1705790 w 1705790"/>
                <a:gd name="connsiteY7" fmla="*/ 152398 h 609594"/>
                <a:gd name="connsiteX8" fmla="*/ 1705790 w 1705790"/>
                <a:gd name="connsiteY8" fmla="*/ 457195 h 609594"/>
                <a:gd name="connsiteX9" fmla="*/ 426447 w 1705790"/>
                <a:gd name="connsiteY9" fmla="*/ 0 h 609594"/>
                <a:gd name="connsiteX10" fmla="*/ 1279338 w 1705790"/>
                <a:gd name="connsiteY10" fmla="*/ 0 h 609594"/>
                <a:gd name="connsiteX11" fmla="*/ 426447 w 1705790"/>
                <a:gd name="connsiteY11" fmla="*/ 609594 h 609594"/>
                <a:gd name="connsiteX12" fmla="*/ 1279338 w 1705790"/>
                <a:gd name="connsiteY12" fmla="*/ 609594 h 6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5790" h="609594">
                  <a:moveTo>
                    <a:pt x="1705790" y="609594"/>
                  </a:moveTo>
                  <a:lnTo>
                    <a:pt x="1705790" y="0"/>
                  </a:lnTo>
                  <a:lnTo>
                    <a:pt x="0" y="0"/>
                  </a:lnTo>
                  <a:lnTo>
                    <a:pt x="0" y="609594"/>
                  </a:lnTo>
                  <a:lnTo>
                    <a:pt x="1705790" y="609594"/>
                  </a:lnTo>
                  <a:close/>
                </a:path>
              </a:pathLst>
            </a:custGeom>
            <a:solidFill>
              <a:srgbClr val="3498DB"/>
            </a:solidFill>
            <a:ln w="7600" cap="flat">
              <a:solidFill>
                <a:srgbClr val="3498DB"/>
              </a:solidFill>
              <a:bevel/>
            </a:ln>
          </p:spPr>
          <p:txBody>
            <a:bodyPr wrap="square" lIns="36000" tIns="0" rIns="36000" bIns="0" rtlCol="0" anchor="ctr"/>
            <a:lstStyle/>
            <a:p>
              <a:pPr algn="ctr"/>
              <a:r>
                <a:rPr sz="1825">
                  <a:solidFill>
                    <a:srgbClr val="FFFFFF"/>
                  </a:solidFill>
                  <a:latin typeface="微软雅黑" panose="020B0503020204020204" pitchFamily="34" charset="-122"/>
                </a:rPr>
                <a:t>Server</a:t>
              </a:r>
              <a:endParaRPr sz="1825">
                <a:solidFill>
                  <a:srgbClr val="FFFFFF"/>
                </a:solidFill>
                <a:latin typeface="微软雅黑" panose="020B0503020204020204" pitchFamily="34" charset="-122"/>
              </a:endParaRPr>
            </a:p>
          </p:txBody>
        </p:sp>
        <p:sp>
          <p:nvSpPr>
            <p:cNvPr id="9" name="外部交互方"/>
            <p:cNvSpPr/>
            <p:nvPr/>
          </p:nvSpPr>
          <p:spPr>
            <a:xfrm>
              <a:off x="5111600" y="3202866"/>
              <a:ext cx="1705790" cy="609594"/>
            </a:xfrm>
            <a:custGeom>
              <a:avLst/>
              <a:gdLst>
                <a:gd name="connsiteX0" fmla="*/ 852895 w 1705790"/>
                <a:gd name="connsiteY0" fmla="*/ 609594 h 609594"/>
                <a:gd name="connsiteX1" fmla="*/ 852895 w 1705790"/>
                <a:gd name="connsiteY1" fmla="*/ 0 h 609594"/>
                <a:gd name="connsiteX2" fmla="*/ 1705790 w 1705790"/>
                <a:gd name="connsiteY2" fmla="*/ 304796 h 609594"/>
                <a:gd name="connsiteX3" fmla="*/ 0 w 1705790"/>
                <a:gd name="connsiteY3" fmla="*/ 304796 h 609594"/>
                <a:gd name="connsiteX4" fmla="*/ 852895 w 1705790"/>
                <a:gd name="connsiteY4" fmla="*/ 304796 h 609594"/>
                <a:gd name="connsiteX5" fmla="*/ 0 w 1705790"/>
                <a:gd name="connsiteY5" fmla="*/ 152398 h 609594"/>
                <a:gd name="connsiteX6" fmla="*/ 0 w 1705790"/>
                <a:gd name="connsiteY6" fmla="*/ 457195 h 609594"/>
                <a:gd name="connsiteX7" fmla="*/ 1705790 w 1705790"/>
                <a:gd name="connsiteY7" fmla="*/ 152398 h 609594"/>
                <a:gd name="connsiteX8" fmla="*/ 1705790 w 1705790"/>
                <a:gd name="connsiteY8" fmla="*/ 457195 h 609594"/>
                <a:gd name="connsiteX9" fmla="*/ 426447 w 1705790"/>
                <a:gd name="connsiteY9" fmla="*/ 0 h 609594"/>
                <a:gd name="connsiteX10" fmla="*/ 1279338 w 1705790"/>
                <a:gd name="connsiteY10" fmla="*/ 0 h 609594"/>
                <a:gd name="connsiteX11" fmla="*/ 426447 w 1705790"/>
                <a:gd name="connsiteY11" fmla="*/ 609594 h 609594"/>
                <a:gd name="connsiteX12" fmla="*/ 1279338 w 1705790"/>
                <a:gd name="connsiteY12" fmla="*/ 609594 h 6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5790" h="609594">
                  <a:moveTo>
                    <a:pt x="1705790" y="609594"/>
                  </a:moveTo>
                  <a:lnTo>
                    <a:pt x="1705790" y="0"/>
                  </a:lnTo>
                  <a:lnTo>
                    <a:pt x="0" y="0"/>
                  </a:lnTo>
                  <a:lnTo>
                    <a:pt x="0" y="609594"/>
                  </a:lnTo>
                  <a:lnTo>
                    <a:pt x="1705790" y="609594"/>
                  </a:lnTo>
                  <a:close/>
                </a:path>
              </a:pathLst>
            </a:custGeom>
            <a:solidFill>
              <a:srgbClr val="3498DB"/>
            </a:solidFill>
            <a:ln w="7600" cap="flat">
              <a:solidFill>
                <a:srgbClr val="3498DB"/>
              </a:solidFill>
              <a:bevel/>
            </a:ln>
          </p:spPr>
          <p:txBody>
            <a:bodyPr wrap="square" lIns="36000" tIns="0" rIns="36000" bIns="0" rtlCol="0" anchor="ctr"/>
            <a:lstStyle/>
            <a:p>
              <a:pPr algn="ctr"/>
              <a:r>
                <a:rPr sz="1825">
                  <a:solidFill>
                    <a:srgbClr val="FFFFFF"/>
                  </a:solidFill>
                  <a:latin typeface="微软雅黑" panose="020B0503020204020204" pitchFamily="34" charset="-122"/>
                </a:rPr>
                <a:t>ThreadPool</a:t>
              </a:r>
              <a:endParaRPr sz="1825">
                <a:solidFill>
                  <a:srgbClr val="FFFFFF"/>
                </a:solidFill>
                <a:latin typeface="微软雅黑" panose="020B0503020204020204" pitchFamily="34" charset="-122"/>
              </a:endParaRPr>
            </a:p>
          </p:txBody>
        </p:sp>
        <p:sp>
          <p:nvSpPr>
            <p:cNvPr id="10" name="外部交互方"/>
            <p:cNvSpPr/>
            <p:nvPr/>
          </p:nvSpPr>
          <p:spPr>
            <a:xfrm>
              <a:off x="2328407" y="4426466"/>
              <a:ext cx="1705790" cy="609594"/>
            </a:xfrm>
            <a:custGeom>
              <a:avLst/>
              <a:gdLst>
                <a:gd name="connsiteX0" fmla="*/ 852895 w 1705790"/>
                <a:gd name="connsiteY0" fmla="*/ 609594 h 609594"/>
                <a:gd name="connsiteX1" fmla="*/ 852895 w 1705790"/>
                <a:gd name="connsiteY1" fmla="*/ 0 h 609594"/>
                <a:gd name="connsiteX2" fmla="*/ 1705790 w 1705790"/>
                <a:gd name="connsiteY2" fmla="*/ 304796 h 609594"/>
                <a:gd name="connsiteX3" fmla="*/ 0 w 1705790"/>
                <a:gd name="connsiteY3" fmla="*/ 304796 h 609594"/>
                <a:gd name="connsiteX4" fmla="*/ 852895 w 1705790"/>
                <a:gd name="connsiteY4" fmla="*/ 304796 h 609594"/>
                <a:gd name="connsiteX5" fmla="*/ 0 w 1705790"/>
                <a:gd name="connsiteY5" fmla="*/ 152398 h 609594"/>
                <a:gd name="connsiteX6" fmla="*/ 0 w 1705790"/>
                <a:gd name="connsiteY6" fmla="*/ 457195 h 609594"/>
                <a:gd name="connsiteX7" fmla="*/ 1705790 w 1705790"/>
                <a:gd name="connsiteY7" fmla="*/ 152398 h 609594"/>
                <a:gd name="connsiteX8" fmla="*/ 1705790 w 1705790"/>
                <a:gd name="connsiteY8" fmla="*/ 457195 h 609594"/>
                <a:gd name="connsiteX9" fmla="*/ 426447 w 1705790"/>
                <a:gd name="connsiteY9" fmla="*/ 0 h 609594"/>
                <a:gd name="connsiteX10" fmla="*/ 1279338 w 1705790"/>
                <a:gd name="connsiteY10" fmla="*/ 0 h 609594"/>
                <a:gd name="connsiteX11" fmla="*/ 426447 w 1705790"/>
                <a:gd name="connsiteY11" fmla="*/ 609594 h 609594"/>
                <a:gd name="connsiteX12" fmla="*/ 1279338 w 1705790"/>
                <a:gd name="connsiteY12" fmla="*/ 609594 h 6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5790" h="609594">
                  <a:moveTo>
                    <a:pt x="1705790" y="609594"/>
                  </a:moveTo>
                  <a:lnTo>
                    <a:pt x="1705790" y="0"/>
                  </a:lnTo>
                  <a:lnTo>
                    <a:pt x="0" y="0"/>
                  </a:lnTo>
                  <a:lnTo>
                    <a:pt x="0" y="609594"/>
                  </a:lnTo>
                  <a:lnTo>
                    <a:pt x="1705790" y="609594"/>
                  </a:lnTo>
                  <a:close/>
                </a:path>
              </a:pathLst>
            </a:custGeom>
            <a:solidFill>
              <a:srgbClr val="3498DB"/>
            </a:solidFill>
            <a:ln w="7600" cap="flat">
              <a:solidFill>
                <a:srgbClr val="3498DB"/>
              </a:solidFill>
              <a:bevel/>
            </a:ln>
          </p:spPr>
          <p:txBody>
            <a:bodyPr wrap="square" lIns="36000" tIns="0" rIns="36000" bIns="0" rtlCol="0" anchor="ctr"/>
            <a:lstStyle/>
            <a:p>
              <a:pPr algn="ctr"/>
              <a:r>
                <a:rPr sz="1825">
                  <a:solidFill>
                    <a:srgbClr val="FFFFFF"/>
                  </a:solidFill>
                  <a:latin typeface="微软雅黑" panose="020B0503020204020204" pitchFamily="34" charset="-122"/>
                </a:rPr>
                <a:t>Handler</a:t>
              </a:r>
              <a:endParaRPr sz="1825">
                <a:solidFill>
                  <a:srgbClr val="FFFFFF"/>
                </a:solidFill>
                <a:latin typeface="微软雅黑" panose="020B0503020204020204" pitchFamily="34" charset="-122"/>
              </a:endParaRPr>
            </a:p>
          </p:txBody>
        </p:sp>
        <p:cxnSp>
          <p:nvCxnSpPr>
            <p:cNvPr id="11" name="直线连接线"/>
            <p:cNvCxnSpPr>
              <a:stCxn id="7" idx="0"/>
              <a:endCxn id="8" idx="1"/>
            </p:cNvCxnSpPr>
            <p:nvPr/>
          </p:nvCxnSpPr>
          <p:spPr>
            <a:xfrm rot="5412708">
              <a:off x="2937600" y="2960064"/>
              <a:ext cx="485606"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线连接线"/>
            <p:cNvCxnSpPr>
              <a:stCxn id="8" idx="0"/>
              <a:endCxn id="10" idx="1"/>
            </p:cNvCxnSpPr>
            <p:nvPr/>
          </p:nvCxnSpPr>
          <p:spPr>
            <a:xfrm rot="5389944">
              <a:off x="2873399" y="4119463"/>
              <a:ext cx="614009"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 name="线条标注 2"/>
            <p:cNvGrpSpPr/>
            <p:nvPr/>
          </p:nvGrpSpPr>
          <p:grpSpPr>
            <a:xfrm>
              <a:off x="4335800" y="1852340"/>
              <a:ext cx="1672600" cy="425600"/>
              <a:chOff x="4335800" y="1852340"/>
              <a:chExt cx="1672600" cy="425600"/>
            </a:xfrm>
          </p:grpSpPr>
          <p:sp>
            <p:nvSpPr>
              <p:cNvPr id="31" name="任意多边形 30"/>
              <p:cNvSpPr/>
              <p:nvPr/>
            </p:nvSpPr>
            <p:spPr>
              <a:xfrm>
                <a:off x="4335800" y="1852340"/>
                <a:ext cx="1672600" cy="425600"/>
              </a:xfrm>
              <a:custGeom>
                <a:avLst/>
                <a:gdLst/>
                <a:ahLst/>
                <a:cxnLst/>
                <a:rect l="0" t="0" r="0" b="0"/>
                <a:pathLst>
                  <a:path w="1672600" h="425600" fill="none">
                    <a:moveTo>
                      <a:pt x="1672600" y="212800"/>
                    </a:moveTo>
                    <a:lnTo>
                      <a:pt x="0" y="212800"/>
                    </a:lnTo>
                    <a:lnTo>
                      <a:pt x="-301606" y="560126"/>
                    </a:lnTo>
                  </a:path>
                </a:pathLst>
              </a:custGeom>
              <a:solidFill>
                <a:srgbClr val="FFFFFF"/>
              </a:solidFill>
              <a:ln w="7600" cap="flat">
                <a:solidFill>
                  <a:srgbClr val="0E7C67"/>
                </a:solidFill>
                <a:bevel/>
              </a:ln>
            </p:spPr>
          </p:sp>
          <p:sp>
            <p:nvSpPr>
              <p:cNvPr id="32" name="Text 139"/>
              <p:cNvSpPr txBox="1"/>
              <p:nvPr/>
            </p:nvSpPr>
            <p:spPr>
              <a:xfrm>
                <a:off x="4335800" y="1821940"/>
                <a:ext cx="1672600" cy="212800"/>
              </a:xfrm>
              <a:prstGeom prst="rect">
                <a:avLst/>
              </a:prstGeom>
              <a:noFill/>
            </p:spPr>
            <p:txBody>
              <a:bodyPr wrap="square" lIns="36000" tIns="0" rIns="36000" bIns="0" rtlCol="0" anchor="t"/>
              <a:lstStyle/>
              <a:p>
                <a:pPr algn="l">
                  <a:lnSpc>
                    <a:spcPct val="100000"/>
                  </a:lnSpc>
                </a:pPr>
                <a:r>
                  <a:rPr dirty="0" err="1">
                    <a:solidFill>
                      <a:srgbClr val="766E43"/>
                    </a:solidFill>
                    <a:latin typeface="微软雅黑" panose="020B0503020204020204" pitchFamily="34" charset="-122"/>
                    <a:ea typeface="微软雅黑" panose="020B0503020204020204" pitchFamily="34" charset="-122"/>
                  </a:rPr>
                  <a:t>连接器</a:t>
                </a:r>
                <a:endParaRPr dirty="0" err="1">
                  <a:solidFill>
                    <a:srgbClr val="766E43"/>
                  </a:solidFill>
                  <a:latin typeface="微软雅黑" panose="020B0503020204020204" pitchFamily="34" charset="-122"/>
                  <a:ea typeface="微软雅黑" panose="020B0503020204020204" pitchFamily="34" charset="-122"/>
                </a:endParaRPr>
              </a:p>
            </p:txBody>
          </p:sp>
          <p:sp>
            <p:nvSpPr>
              <p:cNvPr id="33" name="Text 140"/>
              <p:cNvSpPr txBox="1"/>
              <p:nvPr/>
            </p:nvSpPr>
            <p:spPr>
              <a:xfrm>
                <a:off x="4335800" y="2095540"/>
                <a:ext cx="1672600" cy="212800"/>
              </a:xfrm>
              <a:prstGeom prst="rect">
                <a:avLst/>
              </a:prstGeom>
              <a:noFill/>
            </p:spPr>
            <p:txBody>
              <a:bodyPr wrap="square" lIns="36000" tIns="0" rIns="36000" bIns="0" rtlCol="0" anchor="t"/>
              <a:lstStyle/>
              <a:p>
                <a:pPr algn="l"/>
                <a:r>
                  <a:rPr sz="1400" dirty="0" err="1">
                    <a:latin typeface="微软雅黑" panose="020B0503020204020204" pitchFamily="34" charset="-122"/>
                    <a:ea typeface="微软雅黑" panose="020B0503020204020204" pitchFamily="34" charset="-122"/>
                  </a:rPr>
                  <a:t>Connector用于接收HTTP连接，并将请求分配给一个处理队列去执行</a:t>
                </a:r>
                <a:endParaRPr sz="1400" dirty="0" err="1">
                  <a:latin typeface="微软雅黑" panose="020B0503020204020204" pitchFamily="34" charset="-122"/>
                  <a:ea typeface="微软雅黑" panose="020B0503020204020204" pitchFamily="34" charset="-122"/>
                </a:endParaRPr>
              </a:p>
            </p:txBody>
          </p:sp>
          <p:grpSp>
            <p:nvGrpSpPr>
              <p:cNvPr id="34" name="组合 33"/>
              <p:cNvGrpSpPr/>
              <p:nvPr/>
            </p:nvGrpSpPr>
            <p:grpSpPr>
              <a:xfrm>
                <a:off x="3948021" y="2326293"/>
                <a:ext cx="172346" cy="172346"/>
                <a:chOff x="3948021" y="2326293"/>
                <a:chExt cx="172346" cy="172346"/>
              </a:xfrm>
            </p:grpSpPr>
            <p:sp>
              <p:nvSpPr>
                <p:cNvPr id="35" name="任意多边形 34"/>
                <p:cNvSpPr/>
                <p:nvPr/>
              </p:nvSpPr>
              <p:spPr>
                <a:xfrm>
                  <a:off x="3948021" y="2326293"/>
                  <a:ext cx="172346" cy="172346"/>
                </a:xfrm>
                <a:custGeom>
                  <a:avLst/>
                  <a:gdLst/>
                  <a:ahLst/>
                  <a:cxnLst/>
                  <a:rect l="0" t="0" r="0" b="0"/>
                  <a:pathLst>
                    <a:path w="172346" h="172346" stroke="0">
                      <a:moveTo>
                        <a:pt x="0" y="86173"/>
                      </a:moveTo>
                      <a:cubicBezTo>
                        <a:pt x="0" y="38581"/>
                        <a:pt x="38581" y="0"/>
                        <a:pt x="86173" y="0"/>
                      </a:cubicBezTo>
                      <a:cubicBezTo>
                        <a:pt x="133765" y="0"/>
                        <a:pt x="172346" y="38581"/>
                        <a:pt x="172346" y="86173"/>
                      </a:cubicBezTo>
                      <a:cubicBezTo>
                        <a:pt x="172346" y="133765"/>
                        <a:pt x="133765" y="172346"/>
                        <a:pt x="86173" y="172346"/>
                      </a:cubicBezTo>
                      <a:cubicBezTo>
                        <a:pt x="38581" y="172346"/>
                        <a:pt x="0" y="133765"/>
                        <a:pt x="0" y="86173"/>
                      </a:cubicBezTo>
                      <a:close/>
                    </a:path>
                  </a:pathLst>
                </a:custGeom>
                <a:solidFill>
                  <a:srgbClr val="99DFF9">
                    <a:alpha val="80000"/>
                  </a:srgbClr>
                </a:solidFill>
                <a:ln w="7600" cap="flat">
                  <a:solidFill>
                    <a:srgbClr val="1BBC9D"/>
                  </a:solidFill>
                  <a:bevel/>
                </a:ln>
              </p:spPr>
            </p:sp>
            <p:sp>
              <p:nvSpPr>
                <p:cNvPr id="36" name="任意多边形 35"/>
                <p:cNvSpPr/>
                <p:nvPr/>
              </p:nvSpPr>
              <p:spPr>
                <a:xfrm>
                  <a:off x="3982490" y="2360762"/>
                  <a:ext cx="103408" cy="103408"/>
                </a:xfrm>
                <a:custGeom>
                  <a:avLst/>
                  <a:gdLst/>
                  <a:ahLst/>
                  <a:cxnLst/>
                  <a:rect l="0" t="0" r="0" b="0"/>
                  <a:pathLst>
                    <a:path w="103408" h="103408" stroke="0">
                      <a:moveTo>
                        <a:pt x="0" y="51704"/>
                      </a:moveTo>
                      <a:cubicBezTo>
                        <a:pt x="0" y="23149"/>
                        <a:pt x="23149" y="0"/>
                        <a:pt x="51704" y="0"/>
                      </a:cubicBezTo>
                      <a:cubicBezTo>
                        <a:pt x="80259" y="0"/>
                        <a:pt x="103408" y="23149"/>
                        <a:pt x="103408" y="51704"/>
                      </a:cubicBezTo>
                      <a:cubicBezTo>
                        <a:pt x="103408" y="80259"/>
                        <a:pt x="80259" y="103408"/>
                        <a:pt x="51704" y="103408"/>
                      </a:cubicBezTo>
                      <a:cubicBezTo>
                        <a:pt x="23149" y="103408"/>
                        <a:pt x="0" y="80259"/>
                        <a:pt x="0" y="51704"/>
                      </a:cubicBezTo>
                      <a:close/>
                    </a:path>
                  </a:pathLst>
                </a:custGeom>
                <a:gradFill>
                  <a:gsLst>
                    <a:gs pos="0">
                      <a:srgbClr val="B2E7FA">
                        <a:alpha val="80000"/>
                      </a:srgbClr>
                    </a:gs>
                    <a:gs pos="69000">
                      <a:srgbClr val="00AEEE">
                        <a:alpha val="80000"/>
                      </a:srgbClr>
                    </a:gs>
                    <a:gs pos="100000">
                      <a:srgbClr val="00AEEE">
                        <a:alpha val="80000"/>
                      </a:srgbClr>
                    </a:gs>
                  </a:gsLst>
                  <a:path path="circle">
                    <a:fillToRect r="100000" b="100000"/>
                  </a:path>
                  <a:tileRect l="-100000" t="-100000"/>
                </a:gradFill>
                <a:ln w="7600" cap="flat">
                  <a:solidFill>
                    <a:srgbClr val="1BBC9D"/>
                  </a:solidFill>
                  <a:bevel/>
                </a:ln>
              </p:spPr>
            </p:sp>
          </p:grpSp>
        </p:grpSp>
        <p:grpSp>
          <p:nvGrpSpPr>
            <p:cNvPr id="14" name="线条标注 2"/>
            <p:cNvGrpSpPr/>
            <p:nvPr/>
          </p:nvGrpSpPr>
          <p:grpSpPr>
            <a:xfrm>
              <a:off x="3948023" y="4140736"/>
              <a:ext cx="2379577" cy="676699"/>
              <a:chOff x="3948023" y="4140736"/>
              <a:chExt cx="2379577" cy="676699"/>
            </a:xfrm>
          </p:grpSpPr>
          <p:sp>
            <p:nvSpPr>
              <p:cNvPr id="25" name="任意多边形 24"/>
              <p:cNvSpPr/>
              <p:nvPr/>
            </p:nvSpPr>
            <p:spPr>
              <a:xfrm>
                <a:off x="4335802" y="4171136"/>
                <a:ext cx="1991798" cy="425600"/>
              </a:xfrm>
              <a:custGeom>
                <a:avLst/>
                <a:gdLst/>
                <a:ahLst/>
                <a:cxnLst/>
                <a:rect l="0" t="0" r="0" b="0"/>
                <a:pathLst>
                  <a:path w="1991798" h="425600" fill="none">
                    <a:moveTo>
                      <a:pt x="1991798" y="212800"/>
                    </a:moveTo>
                    <a:lnTo>
                      <a:pt x="0" y="212800"/>
                    </a:lnTo>
                    <a:lnTo>
                      <a:pt x="-301606" y="560126"/>
                    </a:lnTo>
                  </a:path>
                </a:pathLst>
              </a:custGeom>
              <a:solidFill>
                <a:srgbClr val="FFFFFF"/>
              </a:solidFill>
              <a:ln w="7600" cap="flat">
                <a:solidFill>
                  <a:srgbClr val="0E7C67"/>
                </a:solidFill>
                <a:bevel/>
              </a:ln>
            </p:spPr>
          </p:sp>
          <p:sp>
            <p:nvSpPr>
              <p:cNvPr id="26" name="Text 141"/>
              <p:cNvSpPr txBox="1"/>
              <p:nvPr/>
            </p:nvSpPr>
            <p:spPr>
              <a:xfrm>
                <a:off x="4286725" y="4140736"/>
                <a:ext cx="1991798" cy="212800"/>
              </a:xfrm>
              <a:prstGeom prst="rect">
                <a:avLst/>
              </a:prstGeom>
              <a:noFill/>
            </p:spPr>
            <p:txBody>
              <a:bodyPr wrap="square" lIns="36000" tIns="0" rIns="36000" bIns="0" rtlCol="0" anchor="b"/>
              <a:lstStyle/>
              <a:p>
                <a:pPr algn="l">
                  <a:lnSpc>
                    <a:spcPct val="100000"/>
                  </a:lnSpc>
                </a:pPr>
                <a:r>
                  <a:rPr sz="760" b="1" dirty="0">
                    <a:solidFill>
                      <a:srgbClr val="766E43"/>
                    </a:solidFill>
                    <a:latin typeface="宋体" panose="02010600030101010101" pitchFamily="2" charset="-122"/>
                  </a:rPr>
                  <a:t> </a:t>
                </a:r>
                <a:r>
                  <a:rPr sz="2000" dirty="0" err="1">
                    <a:solidFill>
                      <a:srgbClr val="766E43"/>
                    </a:solidFill>
                    <a:latin typeface="微软雅黑" panose="020B0503020204020204" pitchFamily="34" charset="-122"/>
                    <a:ea typeface="微软雅黑" panose="020B0503020204020204" pitchFamily="34" charset="-122"/>
                  </a:rPr>
                  <a:t>处理器</a:t>
                </a:r>
                <a:endParaRPr sz="2000" dirty="0" err="1">
                  <a:solidFill>
                    <a:srgbClr val="766E43"/>
                  </a:solidFill>
                  <a:latin typeface="微软雅黑" panose="020B0503020204020204" pitchFamily="34" charset="-122"/>
                  <a:ea typeface="微软雅黑" panose="020B0503020204020204" pitchFamily="34" charset="-122"/>
                </a:endParaRPr>
              </a:p>
            </p:txBody>
          </p:sp>
          <p:sp>
            <p:nvSpPr>
              <p:cNvPr id="27" name="Text 142"/>
              <p:cNvSpPr txBox="1"/>
              <p:nvPr/>
            </p:nvSpPr>
            <p:spPr>
              <a:xfrm>
                <a:off x="4335802" y="4414336"/>
                <a:ext cx="1991798" cy="212800"/>
              </a:xfrm>
              <a:prstGeom prst="rect">
                <a:avLst/>
              </a:prstGeom>
              <a:noFill/>
            </p:spPr>
            <p:txBody>
              <a:bodyPr wrap="square" lIns="36000" tIns="0" rIns="36000" bIns="0" rtlCol="0" anchor="t"/>
              <a:lstStyle/>
              <a:p>
                <a:pPr algn="l"/>
                <a:r>
                  <a:rPr sz="1400" dirty="0" err="1">
                    <a:latin typeface="微软雅黑" panose="020B0503020204020204" pitchFamily="34" charset="-122"/>
                    <a:ea typeface="微软雅黑" panose="020B0503020204020204" pitchFamily="34" charset="-122"/>
                  </a:rPr>
                  <a:t>对来自Connector的请求并作出响应</a:t>
                </a:r>
                <a:endParaRPr sz="14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3948023" y="4645089"/>
                <a:ext cx="172346" cy="172346"/>
                <a:chOff x="3948023" y="4645089"/>
                <a:chExt cx="172346" cy="172346"/>
              </a:xfrm>
            </p:grpSpPr>
            <p:sp>
              <p:nvSpPr>
                <p:cNvPr id="29" name="任意多边形 28"/>
                <p:cNvSpPr/>
                <p:nvPr/>
              </p:nvSpPr>
              <p:spPr>
                <a:xfrm>
                  <a:off x="3948023" y="4645089"/>
                  <a:ext cx="172346" cy="172346"/>
                </a:xfrm>
                <a:custGeom>
                  <a:avLst/>
                  <a:gdLst/>
                  <a:ahLst/>
                  <a:cxnLst/>
                  <a:rect l="0" t="0" r="0" b="0"/>
                  <a:pathLst>
                    <a:path w="172346" h="172346" stroke="0">
                      <a:moveTo>
                        <a:pt x="0" y="86173"/>
                      </a:moveTo>
                      <a:cubicBezTo>
                        <a:pt x="0" y="38581"/>
                        <a:pt x="38581" y="0"/>
                        <a:pt x="86173" y="0"/>
                      </a:cubicBezTo>
                      <a:cubicBezTo>
                        <a:pt x="133765" y="0"/>
                        <a:pt x="172346" y="38581"/>
                        <a:pt x="172346" y="86173"/>
                      </a:cubicBezTo>
                      <a:cubicBezTo>
                        <a:pt x="172346" y="133765"/>
                        <a:pt x="133765" y="172346"/>
                        <a:pt x="86173" y="172346"/>
                      </a:cubicBezTo>
                      <a:cubicBezTo>
                        <a:pt x="38581" y="172346"/>
                        <a:pt x="0" y="133765"/>
                        <a:pt x="0" y="86173"/>
                      </a:cubicBezTo>
                      <a:close/>
                    </a:path>
                  </a:pathLst>
                </a:custGeom>
                <a:solidFill>
                  <a:srgbClr val="99DFF9">
                    <a:alpha val="80000"/>
                  </a:srgbClr>
                </a:solidFill>
                <a:ln w="7600" cap="flat">
                  <a:solidFill>
                    <a:srgbClr val="1BBC9D"/>
                  </a:solidFill>
                  <a:bevel/>
                </a:ln>
              </p:spPr>
            </p:sp>
            <p:sp>
              <p:nvSpPr>
                <p:cNvPr id="30" name="任意多边形 29"/>
                <p:cNvSpPr/>
                <p:nvPr/>
              </p:nvSpPr>
              <p:spPr>
                <a:xfrm>
                  <a:off x="3982492" y="4679558"/>
                  <a:ext cx="103408" cy="103408"/>
                </a:xfrm>
                <a:custGeom>
                  <a:avLst/>
                  <a:gdLst/>
                  <a:ahLst/>
                  <a:cxnLst/>
                  <a:rect l="0" t="0" r="0" b="0"/>
                  <a:pathLst>
                    <a:path w="103408" h="103408" stroke="0">
                      <a:moveTo>
                        <a:pt x="0" y="51704"/>
                      </a:moveTo>
                      <a:cubicBezTo>
                        <a:pt x="0" y="23149"/>
                        <a:pt x="23149" y="0"/>
                        <a:pt x="51704" y="0"/>
                      </a:cubicBezTo>
                      <a:cubicBezTo>
                        <a:pt x="80259" y="0"/>
                        <a:pt x="103408" y="23149"/>
                        <a:pt x="103408" y="51704"/>
                      </a:cubicBezTo>
                      <a:cubicBezTo>
                        <a:pt x="103408" y="80259"/>
                        <a:pt x="80259" y="103408"/>
                        <a:pt x="51704" y="103408"/>
                      </a:cubicBezTo>
                      <a:cubicBezTo>
                        <a:pt x="23149" y="103408"/>
                        <a:pt x="0" y="80259"/>
                        <a:pt x="0" y="51704"/>
                      </a:cubicBezTo>
                      <a:close/>
                    </a:path>
                  </a:pathLst>
                </a:custGeom>
                <a:gradFill>
                  <a:gsLst>
                    <a:gs pos="0">
                      <a:srgbClr val="B2E7FA">
                        <a:alpha val="80000"/>
                      </a:srgbClr>
                    </a:gs>
                    <a:gs pos="69000">
                      <a:srgbClr val="00AEEE">
                        <a:alpha val="80000"/>
                      </a:srgbClr>
                    </a:gs>
                    <a:gs pos="100000">
                      <a:srgbClr val="00AEEE">
                        <a:alpha val="80000"/>
                      </a:srgbClr>
                    </a:gs>
                  </a:gsLst>
                  <a:path path="circle">
                    <a:fillToRect r="100000" b="100000"/>
                  </a:path>
                  <a:tileRect l="-100000" t="-100000"/>
                </a:gradFill>
                <a:ln w="7600" cap="flat">
                  <a:solidFill>
                    <a:srgbClr val="1BBC9D"/>
                  </a:solidFill>
                  <a:bevel/>
                </a:ln>
              </p:spPr>
            </p:sp>
          </p:grpSp>
        </p:grpSp>
        <p:grpSp>
          <p:nvGrpSpPr>
            <p:cNvPr id="15" name="线条标注 3"/>
            <p:cNvGrpSpPr/>
            <p:nvPr/>
          </p:nvGrpSpPr>
          <p:grpSpPr>
            <a:xfrm>
              <a:off x="3954066" y="2762863"/>
              <a:ext cx="2096602" cy="675023"/>
              <a:chOff x="3954066" y="2762863"/>
              <a:chExt cx="2096602" cy="675023"/>
            </a:xfrm>
          </p:grpSpPr>
          <p:sp>
            <p:nvSpPr>
              <p:cNvPr id="16" name="任意多边形 15"/>
              <p:cNvSpPr/>
              <p:nvPr/>
            </p:nvSpPr>
            <p:spPr>
              <a:xfrm>
                <a:off x="4435200" y="2762863"/>
                <a:ext cx="1216000" cy="425600"/>
              </a:xfrm>
              <a:custGeom>
                <a:avLst/>
                <a:gdLst/>
                <a:ahLst/>
                <a:cxnLst/>
                <a:rect l="0" t="0" r="0" b="0"/>
                <a:pathLst>
                  <a:path w="1216000" h="425600" fill="none">
                    <a:moveTo>
                      <a:pt x="-394961" y="588850"/>
                    </a:moveTo>
                    <a:lnTo>
                      <a:pt x="0" y="212800"/>
                    </a:lnTo>
                    <a:lnTo>
                      <a:pt x="1216000" y="212800"/>
                    </a:lnTo>
                    <a:lnTo>
                      <a:pt x="1529295" y="440003"/>
                    </a:lnTo>
                  </a:path>
                </a:pathLst>
              </a:custGeom>
              <a:solidFill>
                <a:srgbClr val="FFFFFF"/>
              </a:solidFill>
              <a:ln w="7600" cap="flat">
                <a:solidFill>
                  <a:srgbClr val="0E7C67"/>
                </a:solidFill>
                <a:bevel/>
              </a:ln>
            </p:spPr>
          </p:sp>
          <p:sp>
            <p:nvSpPr>
              <p:cNvPr id="17" name="Text 143"/>
              <p:cNvSpPr txBox="1"/>
              <p:nvPr/>
            </p:nvSpPr>
            <p:spPr>
              <a:xfrm>
                <a:off x="4331834" y="2768297"/>
                <a:ext cx="1216000" cy="212800"/>
              </a:xfrm>
              <a:prstGeom prst="rect">
                <a:avLst/>
              </a:prstGeom>
              <a:noFill/>
            </p:spPr>
            <p:txBody>
              <a:bodyPr wrap="square" lIns="36000" tIns="0" rIns="36000" bIns="0" rtlCol="0" anchor="b"/>
              <a:lstStyle/>
              <a:p>
                <a:pPr algn="l">
                  <a:lnSpc>
                    <a:spcPct val="100000"/>
                  </a:lnSpc>
                </a:pPr>
                <a:r>
                  <a:rPr dirty="0" err="1">
                    <a:solidFill>
                      <a:srgbClr val="766E43"/>
                    </a:solidFill>
                    <a:latin typeface="微软雅黑" panose="020B0503020204020204" pitchFamily="34" charset="-122"/>
                    <a:ea typeface="微软雅黑" panose="020B0503020204020204" pitchFamily="34" charset="-122"/>
                  </a:rPr>
                  <a:t>服务</a:t>
                </a:r>
                <a:endParaRPr dirty="0" err="1">
                  <a:solidFill>
                    <a:srgbClr val="766E43"/>
                  </a:solidFill>
                  <a:latin typeface="微软雅黑" panose="020B0503020204020204" pitchFamily="34" charset="-122"/>
                  <a:ea typeface="微软雅黑" panose="020B0503020204020204" pitchFamily="34" charset="-122"/>
                </a:endParaRPr>
              </a:p>
            </p:txBody>
          </p:sp>
          <p:sp>
            <p:nvSpPr>
              <p:cNvPr id="18" name="Text 144"/>
              <p:cNvSpPr txBox="1"/>
              <p:nvPr/>
            </p:nvSpPr>
            <p:spPr>
              <a:xfrm>
                <a:off x="4435200" y="3006063"/>
                <a:ext cx="1216000" cy="212800"/>
              </a:xfrm>
              <a:prstGeom prst="rect">
                <a:avLst/>
              </a:prstGeom>
              <a:noFill/>
            </p:spPr>
            <p:txBody>
              <a:bodyPr wrap="square" lIns="36000" tIns="0" rIns="36000" bIns="0" rtlCol="0" anchor="t"/>
              <a:lstStyle/>
              <a:p>
                <a:pPr algn="l">
                  <a:lnSpc>
                    <a:spcPct val="100000"/>
                  </a:lnSpc>
                </a:pPr>
                <a:r>
                  <a:rPr sz="1400" dirty="0" err="1">
                    <a:solidFill>
                      <a:srgbClr val="404040"/>
                    </a:solidFill>
                    <a:latin typeface="微软雅黑" panose="020B0503020204020204" pitchFamily="34" charset="-122"/>
                    <a:ea typeface="微软雅黑" panose="020B0503020204020204" pitchFamily="34" charset="-122"/>
                  </a:rPr>
                  <a:t>多线程并发处理</a:t>
                </a:r>
                <a:endParaRPr sz="1400" dirty="0" err="1">
                  <a:solidFill>
                    <a:srgbClr val="404040"/>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5878322" y="3116693"/>
                <a:ext cx="172346" cy="172346"/>
                <a:chOff x="5878322" y="3116693"/>
                <a:chExt cx="172346" cy="172346"/>
              </a:xfrm>
            </p:grpSpPr>
            <p:sp>
              <p:nvSpPr>
                <p:cNvPr id="23" name="任意多边形 22"/>
                <p:cNvSpPr/>
                <p:nvPr/>
              </p:nvSpPr>
              <p:spPr>
                <a:xfrm>
                  <a:off x="5878322" y="3116693"/>
                  <a:ext cx="172346" cy="172346"/>
                </a:xfrm>
                <a:custGeom>
                  <a:avLst/>
                  <a:gdLst/>
                  <a:ahLst/>
                  <a:cxnLst/>
                  <a:rect l="0" t="0" r="0" b="0"/>
                  <a:pathLst>
                    <a:path w="172346" h="172346" stroke="0">
                      <a:moveTo>
                        <a:pt x="0" y="86173"/>
                      </a:moveTo>
                      <a:cubicBezTo>
                        <a:pt x="0" y="38581"/>
                        <a:pt x="38581" y="0"/>
                        <a:pt x="86173" y="0"/>
                      </a:cubicBezTo>
                      <a:cubicBezTo>
                        <a:pt x="133765" y="0"/>
                        <a:pt x="172346" y="38581"/>
                        <a:pt x="172346" y="86173"/>
                      </a:cubicBezTo>
                      <a:cubicBezTo>
                        <a:pt x="172346" y="133765"/>
                        <a:pt x="133765" y="172346"/>
                        <a:pt x="86173" y="172346"/>
                      </a:cubicBezTo>
                      <a:cubicBezTo>
                        <a:pt x="38581" y="172346"/>
                        <a:pt x="0" y="133765"/>
                        <a:pt x="0" y="86173"/>
                      </a:cubicBezTo>
                      <a:close/>
                    </a:path>
                  </a:pathLst>
                </a:custGeom>
                <a:solidFill>
                  <a:srgbClr val="99DFF9">
                    <a:alpha val="80000"/>
                  </a:srgbClr>
                </a:solidFill>
                <a:ln w="7600" cap="flat">
                  <a:solidFill>
                    <a:srgbClr val="1BBC9D"/>
                  </a:solidFill>
                  <a:bevel/>
                </a:ln>
              </p:spPr>
            </p:sp>
            <p:sp>
              <p:nvSpPr>
                <p:cNvPr id="24" name="任意多边形 23"/>
                <p:cNvSpPr/>
                <p:nvPr/>
              </p:nvSpPr>
              <p:spPr>
                <a:xfrm>
                  <a:off x="5912791" y="3151162"/>
                  <a:ext cx="103408" cy="103408"/>
                </a:xfrm>
                <a:custGeom>
                  <a:avLst/>
                  <a:gdLst/>
                  <a:ahLst/>
                  <a:cxnLst/>
                  <a:rect l="0" t="0" r="0" b="0"/>
                  <a:pathLst>
                    <a:path w="103408" h="103408" stroke="0">
                      <a:moveTo>
                        <a:pt x="0" y="51704"/>
                      </a:moveTo>
                      <a:cubicBezTo>
                        <a:pt x="0" y="23149"/>
                        <a:pt x="23149" y="0"/>
                        <a:pt x="51704" y="0"/>
                      </a:cubicBezTo>
                      <a:cubicBezTo>
                        <a:pt x="80259" y="0"/>
                        <a:pt x="103408" y="23149"/>
                        <a:pt x="103408" y="51704"/>
                      </a:cubicBezTo>
                      <a:cubicBezTo>
                        <a:pt x="103408" y="80259"/>
                        <a:pt x="80259" y="103408"/>
                        <a:pt x="51704" y="103408"/>
                      </a:cubicBezTo>
                      <a:cubicBezTo>
                        <a:pt x="23149" y="103408"/>
                        <a:pt x="0" y="80259"/>
                        <a:pt x="0" y="51704"/>
                      </a:cubicBezTo>
                      <a:close/>
                    </a:path>
                  </a:pathLst>
                </a:custGeom>
                <a:gradFill>
                  <a:gsLst>
                    <a:gs pos="0">
                      <a:srgbClr val="B2E7FA">
                        <a:alpha val="80000"/>
                      </a:srgbClr>
                    </a:gs>
                    <a:gs pos="69000">
                      <a:srgbClr val="00AEEE">
                        <a:alpha val="80000"/>
                      </a:srgbClr>
                    </a:gs>
                    <a:gs pos="100000">
                      <a:srgbClr val="00AEEE">
                        <a:alpha val="80000"/>
                      </a:srgbClr>
                    </a:gs>
                  </a:gsLst>
                  <a:path path="circle">
                    <a:fillToRect r="100000" b="100000"/>
                  </a:path>
                  <a:tileRect l="-100000" t="-100000"/>
                </a:gradFill>
                <a:ln w="7600" cap="flat">
                  <a:solidFill>
                    <a:srgbClr val="1BBC9D"/>
                  </a:solidFill>
                  <a:bevel/>
                </a:ln>
              </p:spPr>
            </p:sp>
          </p:grpSp>
          <p:grpSp>
            <p:nvGrpSpPr>
              <p:cNvPr id="20" name="组合 19"/>
              <p:cNvGrpSpPr/>
              <p:nvPr/>
            </p:nvGrpSpPr>
            <p:grpSpPr>
              <a:xfrm>
                <a:off x="3954066" y="3265540"/>
                <a:ext cx="172346" cy="172346"/>
                <a:chOff x="3954066" y="3265540"/>
                <a:chExt cx="172346" cy="172346"/>
              </a:xfrm>
            </p:grpSpPr>
            <p:sp>
              <p:nvSpPr>
                <p:cNvPr id="21" name="任意多边形 20"/>
                <p:cNvSpPr/>
                <p:nvPr/>
              </p:nvSpPr>
              <p:spPr>
                <a:xfrm>
                  <a:off x="3954066" y="3265540"/>
                  <a:ext cx="172346" cy="172346"/>
                </a:xfrm>
                <a:custGeom>
                  <a:avLst/>
                  <a:gdLst/>
                  <a:ahLst/>
                  <a:cxnLst/>
                  <a:rect l="0" t="0" r="0" b="0"/>
                  <a:pathLst>
                    <a:path w="172346" h="172346" stroke="0">
                      <a:moveTo>
                        <a:pt x="0" y="86173"/>
                      </a:moveTo>
                      <a:cubicBezTo>
                        <a:pt x="0" y="38581"/>
                        <a:pt x="38581" y="0"/>
                        <a:pt x="86173" y="0"/>
                      </a:cubicBezTo>
                      <a:cubicBezTo>
                        <a:pt x="133765" y="0"/>
                        <a:pt x="172346" y="38581"/>
                        <a:pt x="172346" y="86173"/>
                      </a:cubicBezTo>
                      <a:cubicBezTo>
                        <a:pt x="172346" y="133765"/>
                        <a:pt x="133765" y="172346"/>
                        <a:pt x="86173" y="172346"/>
                      </a:cubicBezTo>
                      <a:cubicBezTo>
                        <a:pt x="38581" y="172346"/>
                        <a:pt x="0" y="133765"/>
                        <a:pt x="0" y="86173"/>
                      </a:cubicBezTo>
                      <a:close/>
                    </a:path>
                  </a:pathLst>
                </a:custGeom>
                <a:solidFill>
                  <a:srgbClr val="FFB599">
                    <a:alpha val="80000"/>
                  </a:srgbClr>
                </a:solidFill>
                <a:ln w="7600" cap="flat">
                  <a:solidFill>
                    <a:srgbClr val="1BBC9D"/>
                  </a:solidFill>
                  <a:bevel/>
                </a:ln>
              </p:spPr>
            </p:sp>
            <p:sp>
              <p:nvSpPr>
                <p:cNvPr id="22" name="任意多边形 21"/>
                <p:cNvSpPr/>
                <p:nvPr/>
              </p:nvSpPr>
              <p:spPr>
                <a:xfrm>
                  <a:off x="3988536" y="3300009"/>
                  <a:ext cx="103408" cy="103408"/>
                </a:xfrm>
                <a:custGeom>
                  <a:avLst/>
                  <a:gdLst/>
                  <a:ahLst/>
                  <a:cxnLst/>
                  <a:rect l="0" t="0" r="0" b="0"/>
                  <a:pathLst>
                    <a:path w="103408" h="103408" stroke="0">
                      <a:moveTo>
                        <a:pt x="0" y="51704"/>
                      </a:moveTo>
                      <a:cubicBezTo>
                        <a:pt x="0" y="23149"/>
                        <a:pt x="23149" y="0"/>
                        <a:pt x="51704" y="0"/>
                      </a:cubicBezTo>
                      <a:cubicBezTo>
                        <a:pt x="80259" y="0"/>
                        <a:pt x="103408" y="23149"/>
                        <a:pt x="103408" y="51704"/>
                      </a:cubicBezTo>
                      <a:cubicBezTo>
                        <a:pt x="103408" y="80259"/>
                        <a:pt x="80259" y="103408"/>
                        <a:pt x="51704" y="103408"/>
                      </a:cubicBezTo>
                      <a:cubicBezTo>
                        <a:pt x="23149" y="103408"/>
                        <a:pt x="0" y="80259"/>
                        <a:pt x="0" y="51704"/>
                      </a:cubicBezTo>
                      <a:close/>
                    </a:path>
                  </a:pathLst>
                </a:custGeom>
                <a:gradFill>
                  <a:gsLst>
                    <a:gs pos="0">
                      <a:srgbClr val="FFC7B2">
                        <a:alpha val="80000"/>
                      </a:srgbClr>
                    </a:gs>
                    <a:gs pos="69000">
                      <a:srgbClr val="FF4500">
                        <a:alpha val="80000"/>
                      </a:srgbClr>
                    </a:gs>
                    <a:gs pos="100000">
                      <a:srgbClr val="FF4500">
                        <a:alpha val="80000"/>
                      </a:srgbClr>
                    </a:gs>
                  </a:gsLst>
                  <a:path path="circle">
                    <a:fillToRect r="100000" b="100000"/>
                  </a:path>
                  <a:tileRect l="-100000" t="-100000"/>
                </a:gradFill>
                <a:ln w="7600" cap="flat">
                  <a:solidFill>
                    <a:srgbClr val="1BBC9D"/>
                  </a:solidFill>
                  <a:bevel/>
                </a:ln>
              </p:spPr>
            </p:sp>
          </p:grpSp>
        </p:grpSp>
      </p:grpSp>
      <p:pic>
        <p:nvPicPr>
          <p:cNvPr id="5" name="图片 4"/>
          <p:cNvPicPr>
            <a:picLocks noChangeAspect="1"/>
          </p:cNvPicPr>
          <p:nvPr/>
        </p:nvPicPr>
        <p:blipFill>
          <a:blip r:embed="rId1"/>
          <a:stretch>
            <a:fillRect/>
          </a:stretch>
        </p:blipFill>
        <p:spPr>
          <a:xfrm>
            <a:off x="9144000" y="1637030"/>
            <a:ext cx="7894955" cy="4314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92986 0.020370 L -0.837153 0.020278 " pathEditMode="relative" rAng="0" ptsTypes="">
                                      <p:cBhvr>
                                        <p:cTn id="6" dur="1000" fill="hold"/>
                                        <p:tgtEl>
                                          <p:spTgt spid="5"/>
                                        </p:tgtEl>
                                        <p:attrNameLst>
                                          <p:attrName>ppt_x</p:attrName>
                                          <p:attrName>ppt_y</p:attrName>
                                        </p:attrNameLst>
                                      </p:cBhvr>
                                      <p:rCtr x="-48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多</a:t>
            </a:r>
            <a:r>
              <a:rPr lang="zh-CN" altLang="en-US" dirty="0">
                <a:solidFill>
                  <a:schemeClr val="bg1"/>
                </a:solidFill>
                <a:latin typeface="微软雅黑" panose="020B0503020204020204" pitchFamily="34" charset="-122"/>
                <a:ea typeface="微软雅黑" panose="020B0503020204020204" pitchFamily="34" charset="-122"/>
              </a:rPr>
              <a:t>线程并发</a:t>
            </a:r>
            <a:r>
              <a:rPr lang="zh-CN" altLang="en-US" dirty="0" smtClean="0">
                <a:solidFill>
                  <a:schemeClr val="bg1"/>
                </a:solidFill>
                <a:latin typeface="微软雅黑" panose="020B0503020204020204" pitchFamily="34" charset="-122"/>
                <a:ea typeface="微软雅黑" panose="020B0503020204020204" pitchFamily="34" charset="-122"/>
              </a:rPr>
              <a:t>模型</a:t>
            </a:r>
            <a:endParaRPr lang="zh-CN" altLang="en-US" dirty="0"/>
          </a:p>
        </p:txBody>
      </p:sp>
      <p:sp>
        <p:nvSpPr>
          <p:cNvPr id="4" name="副标题 2"/>
          <p:cNvSpPr txBox="1"/>
          <p:nvPr/>
        </p:nvSpPr>
        <p:spPr>
          <a:xfrm>
            <a:off x="0" y="980728"/>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应用示例</a:t>
            </a:r>
            <a:r>
              <a:rPr lang="en-US" altLang="zh-CN" sz="2400" dirty="0" smtClean="0">
                <a:solidFill>
                  <a:schemeClr val="tx1"/>
                </a:solidFill>
                <a:latin typeface="微软雅黑" panose="020B0503020204020204" pitchFamily="34" charset="-122"/>
                <a:ea typeface="微软雅黑" panose="020B0503020204020204" pitchFamily="34" charset="-122"/>
              </a:rPr>
              <a:t>-Tomcat</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6" name="Group119"/>
          <p:cNvGrpSpPr/>
          <p:nvPr/>
        </p:nvGrpSpPr>
        <p:grpSpPr>
          <a:xfrm>
            <a:off x="161540" y="1593435"/>
            <a:ext cx="8658932" cy="4787893"/>
            <a:chOff x="1505717" y="1829200"/>
            <a:chExt cx="6132567" cy="3199600"/>
          </a:xfrm>
        </p:grpSpPr>
        <p:sp>
          <p:nvSpPr>
            <p:cNvPr id="7" name="外部交互方"/>
            <p:cNvSpPr/>
            <p:nvPr/>
          </p:nvSpPr>
          <p:spPr>
            <a:xfrm>
              <a:off x="1505717" y="1829200"/>
              <a:ext cx="6132567" cy="3199600"/>
            </a:xfrm>
            <a:custGeom>
              <a:avLst/>
              <a:gdLst>
                <a:gd name="connsiteX0" fmla="*/ 3066283 w 6132567"/>
                <a:gd name="connsiteY0" fmla="*/ 3199600 h 3199600"/>
                <a:gd name="connsiteX1" fmla="*/ 3066283 w 6132567"/>
                <a:gd name="connsiteY1" fmla="*/ 0 h 3199600"/>
                <a:gd name="connsiteX2" fmla="*/ 6132567 w 6132567"/>
                <a:gd name="connsiteY2" fmla="*/ 1599800 h 3199600"/>
                <a:gd name="connsiteX3" fmla="*/ 0 w 6132567"/>
                <a:gd name="connsiteY3" fmla="*/ 1599800 h 3199600"/>
                <a:gd name="connsiteX4" fmla="*/ 3066283 w 6132567"/>
                <a:gd name="connsiteY4" fmla="*/ 1599800 h 3199600"/>
                <a:gd name="connsiteX5" fmla="*/ 0 w 6132567"/>
                <a:gd name="connsiteY5" fmla="*/ 799900 h 3199600"/>
                <a:gd name="connsiteX6" fmla="*/ 0 w 6132567"/>
                <a:gd name="connsiteY6" fmla="*/ 2399700 h 3199600"/>
                <a:gd name="connsiteX7" fmla="*/ 6132567 w 6132567"/>
                <a:gd name="connsiteY7" fmla="*/ 799900 h 3199600"/>
                <a:gd name="connsiteX8" fmla="*/ 6132567 w 6132567"/>
                <a:gd name="connsiteY8" fmla="*/ 2399700 h 3199600"/>
                <a:gd name="connsiteX9" fmla="*/ 1533142 w 6132567"/>
                <a:gd name="connsiteY9" fmla="*/ 0 h 3199600"/>
                <a:gd name="connsiteX10" fmla="*/ 4599425 w 6132567"/>
                <a:gd name="connsiteY10" fmla="*/ 0 h 3199600"/>
                <a:gd name="connsiteX11" fmla="*/ 1533142 w 6132567"/>
                <a:gd name="connsiteY11" fmla="*/ 3199600 h 3199600"/>
                <a:gd name="connsiteX12" fmla="*/ 4599425 w 6132567"/>
                <a:gd name="connsiteY12" fmla="*/ 3199600 h 319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2567" h="3199600">
                  <a:moveTo>
                    <a:pt x="6132567" y="3199600"/>
                  </a:moveTo>
                  <a:lnTo>
                    <a:pt x="6132567" y="0"/>
                  </a:lnTo>
                  <a:lnTo>
                    <a:pt x="0" y="0"/>
                  </a:lnTo>
                  <a:lnTo>
                    <a:pt x="0" y="3199600"/>
                  </a:lnTo>
                  <a:lnTo>
                    <a:pt x="6132567" y="3199600"/>
                  </a:lnTo>
                  <a:close/>
                </a:path>
              </a:pathLst>
            </a:custGeom>
            <a:solidFill>
              <a:srgbClr val="FFFFFF"/>
            </a:solidFill>
            <a:ln w="7600" cap="flat">
              <a:solidFill>
                <a:srgbClr val="7ECCB6"/>
              </a:solidFill>
              <a:custDash>
                <a:ds d="1100000" sp="500000"/>
              </a:custDash>
              <a:bevel/>
            </a:ln>
          </p:spPr>
          <p:txBody>
            <a:bodyPr wrap="square" lIns="0" tIns="0" rIns="0" bIns="0" rtlCol="0" anchor="t"/>
            <a:lstStyle/>
            <a:p>
              <a:pPr algn="l">
                <a:lnSpc>
                  <a:spcPct val="100000"/>
                </a:lnSpc>
              </a:pPr>
              <a:r>
                <a:rPr sz="2000" dirty="0" err="1">
                  <a:solidFill>
                    <a:srgbClr val="0E7C67"/>
                  </a:solidFill>
                  <a:latin typeface="微软雅黑" panose="020B0503020204020204" pitchFamily="34" charset="-122"/>
                </a:rPr>
                <a:t>Server服务器</a:t>
              </a:r>
              <a:endParaRPr sz="2000" dirty="0">
                <a:solidFill>
                  <a:srgbClr val="0E7C67"/>
                </a:solidFill>
                <a:latin typeface="微软雅黑" panose="020B0503020204020204" pitchFamily="34" charset="-122"/>
              </a:endParaRPr>
            </a:p>
          </p:txBody>
        </p:sp>
        <p:sp>
          <p:nvSpPr>
            <p:cNvPr id="8" name="外部交互方"/>
            <p:cNvSpPr/>
            <p:nvPr/>
          </p:nvSpPr>
          <p:spPr>
            <a:xfrm>
              <a:off x="2090283" y="2156000"/>
              <a:ext cx="3754400" cy="1958817"/>
            </a:xfrm>
            <a:custGeom>
              <a:avLst/>
              <a:gdLst>
                <a:gd name="connsiteX0" fmla="*/ 1877200 w 3754400"/>
                <a:gd name="connsiteY0" fmla="*/ 1958817 h 1958817"/>
                <a:gd name="connsiteX1" fmla="*/ 1877200 w 3754400"/>
                <a:gd name="connsiteY1" fmla="*/ 0 h 1958817"/>
                <a:gd name="connsiteX2" fmla="*/ 3754400 w 3754400"/>
                <a:gd name="connsiteY2" fmla="*/ 979409 h 1958817"/>
                <a:gd name="connsiteX3" fmla="*/ 0 w 3754400"/>
                <a:gd name="connsiteY3" fmla="*/ 979409 h 1958817"/>
                <a:gd name="connsiteX4" fmla="*/ 1877200 w 3754400"/>
                <a:gd name="connsiteY4" fmla="*/ 979409 h 1958817"/>
                <a:gd name="connsiteX5" fmla="*/ 0 w 3754400"/>
                <a:gd name="connsiteY5" fmla="*/ 489704 h 1958817"/>
                <a:gd name="connsiteX6" fmla="*/ 0 w 3754400"/>
                <a:gd name="connsiteY6" fmla="*/ 1469113 h 1958817"/>
                <a:gd name="connsiteX7" fmla="*/ 3754400 w 3754400"/>
                <a:gd name="connsiteY7" fmla="*/ 489704 h 1958817"/>
                <a:gd name="connsiteX8" fmla="*/ 3754400 w 3754400"/>
                <a:gd name="connsiteY8" fmla="*/ 1469113 h 1958817"/>
                <a:gd name="connsiteX9" fmla="*/ 938600 w 3754400"/>
                <a:gd name="connsiteY9" fmla="*/ 0 h 1958817"/>
                <a:gd name="connsiteX10" fmla="*/ 2815800 w 3754400"/>
                <a:gd name="connsiteY10" fmla="*/ 0 h 1958817"/>
                <a:gd name="connsiteX11" fmla="*/ 938600 w 3754400"/>
                <a:gd name="connsiteY11" fmla="*/ 1958817 h 1958817"/>
                <a:gd name="connsiteX12" fmla="*/ 2815800 w 3754400"/>
                <a:gd name="connsiteY12" fmla="*/ 1958817 h 195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54400" h="1958817">
                  <a:moveTo>
                    <a:pt x="3754400" y="1958817"/>
                  </a:moveTo>
                  <a:lnTo>
                    <a:pt x="3754400" y="0"/>
                  </a:lnTo>
                  <a:lnTo>
                    <a:pt x="0" y="0"/>
                  </a:lnTo>
                  <a:lnTo>
                    <a:pt x="0" y="1958817"/>
                  </a:lnTo>
                  <a:lnTo>
                    <a:pt x="3754400" y="1958817"/>
                  </a:lnTo>
                  <a:close/>
                </a:path>
              </a:pathLst>
            </a:custGeom>
            <a:solidFill>
              <a:srgbClr val="E7F4F0"/>
            </a:solidFill>
            <a:ln w="7600" cap="flat">
              <a:solidFill>
                <a:srgbClr val="236EA1"/>
              </a:solidFill>
              <a:custDash>
                <a:ds d="1100000" sp="500000"/>
              </a:custDash>
              <a:bevel/>
            </a:ln>
          </p:spPr>
          <p:txBody>
            <a:bodyPr wrap="square" lIns="0" tIns="0" rIns="0" bIns="0" rtlCol="0" anchor="t"/>
            <a:lstStyle/>
            <a:p>
              <a:pPr algn="l">
                <a:lnSpc>
                  <a:spcPct val="100000"/>
                </a:lnSpc>
              </a:pPr>
              <a:r>
                <a:rPr dirty="0" err="1">
                  <a:solidFill>
                    <a:srgbClr val="236EA1"/>
                  </a:solidFill>
                  <a:latin typeface="微软雅黑" panose="020B0503020204020204" pitchFamily="34" charset="-122"/>
                </a:rPr>
                <a:t>Service服务</a:t>
              </a:r>
              <a:endParaRPr dirty="0">
                <a:solidFill>
                  <a:srgbClr val="236EA1"/>
                </a:solidFill>
                <a:latin typeface="微软雅黑" panose="020B0503020204020204" pitchFamily="34" charset="-122"/>
              </a:endParaRPr>
            </a:p>
          </p:txBody>
        </p:sp>
        <p:sp>
          <p:nvSpPr>
            <p:cNvPr id="9" name="外部交互方"/>
            <p:cNvSpPr/>
            <p:nvPr/>
          </p:nvSpPr>
          <p:spPr>
            <a:xfrm>
              <a:off x="2424683" y="2482800"/>
              <a:ext cx="4028000" cy="2018840"/>
            </a:xfrm>
            <a:custGeom>
              <a:avLst/>
              <a:gdLst>
                <a:gd name="connsiteX0" fmla="*/ 2014000 w 4028000"/>
                <a:gd name="connsiteY0" fmla="*/ 2018840 h 2018840"/>
                <a:gd name="connsiteX1" fmla="*/ 2014000 w 4028000"/>
                <a:gd name="connsiteY1" fmla="*/ 0 h 2018840"/>
                <a:gd name="connsiteX2" fmla="*/ 4028000 w 4028000"/>
                <a:gd name="connsiteY2" fmla="*/ 1009420 h 2018840"/>
                <a:gd name="connsiteX3" fmla="*/ 0 w 4028000"/>
                <a:gd name="connsiteY3" fmla="*/ 1009420 h 2018840"/>
                <a:gd name="connsiteX4" fmla="*/ 2014000 w 4028000"/>
                <a:gd name="connsiteY4" fmla="*/ 1009420 h 2018840"/>
                <a:gd name="connsiteX5" fmla="*/ 0 w 4028000"/>
                <a:gd name="connsiteY5" fmla="*/ 504710 h 2018840"/>
                <a:gd name="connsiteX6" fmla="*/ 0 w 4028000"/>
                <a:gd name="connsiteY6" fmla="*/ 1514130 h 2018840"/>
                <a:gd name="connsiteX7" fmla="*/ 4028000 w 4028000"/>
                <a:gd name="connsiteY7" fmla="*/ 504710 h 2018840"/>
                <a:gd name="connsiteX8" fmla="*/ 4028000 w 4028000"/>
                <a:gd name="connsiteY8" fmla="*/ 1514130 h 2018840"/>
                <a:gd name="connsiteX9" fmla="*/ 1007000 w 4028000"/>
                <a:gd name="connsiteY9" fmla="*/ 0 h 2018840"/>
                <a:gd name="connsiteX10" fmla="*/ 3021000 w 4028000"/>
                <a:gd name="connsiteY10" fmla="*/ 0 h 2018840"/>
                <a:gd name="connsiteX11" fmla="*/ 1007000 w 4028000"/>
                <a:gd name="connsiteY11" fmla="*/ 2018840 h 2018840"/>
                <a:gd name="connsiteX12" fmla="*/ 3021000 w 4028000"/>
                <a:gd name="connsiteY12" fmla="*/ 2018840 h 201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28000" h="2018840">
                  <a:moveTo>
                    <a:pt x="4028000" y="2018840"/>
                  </a:moveTo>
                  <a:lnTo>
                    <a:pt x="4028000" y="0"/>
                  </a:lnTo>
                  <a:lnTo>
                    <a:pt x="0" y="0"/>
                  </a:lnTo>
                  <a:lnTo>
                    <a:pt x="0" y="2018840"/>
                  </a:lnTo>
                  <a:lnTo>
                    <a:pt x="4028000" y="2018840"/>
                  </a:lnTo>
                  <a:close/>
                </a:path>
              </a:pathLst>
            </a:custGeom>
            <a:solidFill>
              <a:srgbClr val="E8EFF8"/>
            </a:solidFill>
            <a:ln w="7600" cap="flat">
              <a:solidFill>
                <a:srgbClr val="236EA1"/>
              </a:solidFill>
              <a:custDash>
                <a:ds d="1100000" sp="500000"/>
              </a:custDash>
              <a:bevel/>
            </a:ln>
          </p:spPr>
          <p:txBody>
            <a:bodyPr wrap="square" lIns="0" tIns="0" rIns="0" bIns="0" rtlCol="0" anchor="t"/>
            <a:lstStyle/>
            <a:p>
              <a:pPr algn="l">
                <a:lnSpc>
                  <a:spcPct val="100000"/>
                </a:lnSpc>
              </a:pPr>
              <a:r>
                <a:rPr>
                  <a:solidFill>
                    <a:srgbClr val="1F6391"/>
                  </a:solidFill>
                  <a:latin typeface="微软雅黑" panose="020B0503020204020204" pitchFamily="34" charset="-122"/>
                </a:rPr>
                <a:t>Service服务</a:t>
              </a:r>
              <a:endParaRPr>
                <a:solidFill>
                  <a:srgbClr val="1F6391"/>
                </a:solidFill>
                <a:latin typeface="微软雅黑" panose="020B0503020204020204" pitchFamily="34" charset="-122"/>
              </a:endParaRPr>
            </a:p>
          </p:txBody>
        </p:sp>
        <p:sp>
          <p:nvSpPr>
            <p:cNvPr id="10" name="外部交互方"/>
            <p:cNvSpPr/>
            <p:nvPr/>
          </p:nvSpPr>
          <p:spPr>
            <a:xfrm>
              <a:off x="2789483" y="2824986"/>
              <a:ext cx="4445672" cy="2036428"/>
            </a:xfrm>
            <a:custGeom>
              <a:avLst/>
              <a:gdLst>
                <a:gd name="connsiteX0" fmla="*/ 2222836 w 4445672"/>
                <a:gd name="connsiteY0" fmla="*/ 2036428 h 2036428"/>
                <a:gd name="connsiteX1" fmla="*/ 2222836 w 4445672"/>
                <a:gd name="connsiteY1" fmla="*/ 0 h 2036428"/>
                <a:gd name="connsiteX2" fmla="*/ 4445672 w 4445672"/>
                <a:gd name="connsiteY2" fmla="*/ 1018214 h 2036428"/>
                <a:gd name="connsiteX3" fmla="*/ 0 w 4445672"/>
                <a:gd name="connsiteY3" fmla="*/ 1018214 h 2036428"/>
                <a:gd name="connsiteX4" fmla="*/ 2222836 w 4445672"/>
                <a:gd name="connsiteY4" fmla="*/ 1018214 h 2036428"/>
                <a:gd name="connsiteX5" fmla="*/ 0 w 4445672"/>
                <a:gd name="connsiteY5" fmla="*/ 509107 h 2036428"/>
                <a:gd name="connsiteX6" fmla="*/ 0 w 4445672"/>
                <a:gd name="connsiteY6" fmla="*/ 1527321 h 2036428"/>
                <a:gd name="connsiteX7" fmla="*/ 4445672 w 4445672"/>
                <a:gd name="connsiteY7" fmla="*/ 509107 h 2036428"/>
                <a:gd name="connsiteX8" fmla="*/ 4445672 w 4445672"/>
                <a:gd name="connsiteY8" fmla="*/ 1527321 h 2036428"/>
                <a:gd name="connsiteX9" fmla="*/ 1111418 w 4445672"/>
                <a:gd name="connsiteY9" fmla="*/ 0 h 2036428"/>
                <a:gd name="connsiteX10" fmla="*/ 3334254 w 4445672"/>
                <a:gd name="connsiteY10" fmla="*/ 0 h 2036428"/>
                <a:gd name="connsiteX11" fmla="*/ 1111418 w 4445672"/>
                <a:gd name="connsiteY11" fmla="*/ 2036428 h 2036428"/>
                <a:gd name="connsiteX12" fmla="*/ 3334254 w 4445672"/>
                <a:gd name="connsiteY12" fmla="*/ 2036428 h 203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45672" h="2036428">
                  <a:moveTo>
                    <a:pt x="4445672" y="2036428"/>
                  </a:moveTo>
                  <a:lnTo>
                    <a:pt x="4445672" y="0"/>
                  </a:lnTo>
                  <a:lnTo>
                    <a:pt x="0" y="0"/>
                  </a:lnTo>
                  <a:lnTo>
                    <a:pt x="0" y="2036428"/>
                  </a:lnTo>
                  <a:lnTo>
                    <a:pt x="4445672" y="2036428"/>
                  </a:lnTo>
                  <a:close/>
                </a:path>
              </a:pathLst>
            </a:custGeom>
            <a:solidFill>
              <a:srgbClr val="E8EFF8"/>
            </a:solidFill>
            <a:ln w="7600" cap="flat">
              <a:solidFill>
                <a:srgbClr val="236EA1"/>
              </a:solidFill>
              <a:custDash>
                <a:ds d="1100000" sp="500000"/>
              </a:custDash>
              <a:bevel/>
            </a:ln>
          </p:spPr>
          <p:txBody>
            <a:bodyPr wrap="square" lIns="0" tIns="0" rIns="0" bIns="0" rtlCol="0" anchor="t"/>
            <a:lstStyle/>
            <a:p>
              <a:pPr algn="l">
                <a:lnSpc>
                  <a:spcPct val="100000"/>
                </a:lnSpc>
              </a:pPr>
              <a:r>
                <a:rPr>
                  <a:solidFill>
                    <a:srgbClr val="1F6391"/>
                  </a:solidFill>
                  <a:latin typeface="微软雅黑" panose="020B0503020204020204" pitchFamily="34" charset="-122"/>
                </a:rPr>
                <a:t>Service服务</a:t>
              </a:r>
              <a:endParaRPr>
                <a:solidFill>
                  <a:srgbClr val="1F6391"/>
                </a:solidFill>
                <a:latin typeface="微软雅黑" panose="020B0503020204020204" pitchFamily="34" charset="-122"/>
              </a:endParaRPr>
            </a:p>
          </p:txBody>
        </p:sp>
        <p:sp>
          <p:nvSpPr>
            <p:cNvPr id="11" name="外部交互方"/>
            <p:cNvSpPr/>
            <p:nvPr/>
          </p:nvSpPr>
          <p:spPr>
            <a:xfrm>
              <a:off x="3253083" y="3128800"/>
              <a:ext cx="1718867" cy="896800"/>
            </a:xfrm>
            <a:custGeom>
              <a:avLst/>
              <a:gdLst>
                <a:gd name="connsiteX0" fmla="*/ 859433 w 1718867"/>
                <a:gd name="connsiteY0" fmla="*/ 896800 h 896800"/>
                <a:gd name="connsiteX1" fmla="*/ 859433 w 1718867"/>
                <a:gd name="connsiteY1" fmla="*/ 0 h 896800"/>
                <a:gd name="connsiteX2" fmla="*/ 1718867 w 1718867"/>
                <a:gd name="connsiteY2" fmla="*/ 448400 h 896800"/>
                <a:gd name="connsiteX3" fmla="*/ 0 w 1718867"/>
                <a:gd name="connsiteY3" fmla="*/ 448400 h 896800"/>
                <a:gd name="connsiteX4" fmla="*/ 859433 w 1718867"/>
                <a:gd name="connsiteY4" fmla="*/ 448400 h 896800"/>
                <a:gd name="connsiteX5" fmla="*/ 0 w 1718867"/>
                <a:gd name="connsiteY5" fmla="*/ 224200 h 896800"/>
                <a:gd name="connsiteX6" fmla="*/ 0 w 1718867"/>
                <a:gd name="connsiteY6" fmla="*/ 672600 h 896800"/>
                <a:gd name="connsiteX7" fmla="*/ 1718867 w 1718867"/>
                <a:gd name="connsiteY7" fmla="*/ 224200 h 896800"/>
                <a:gd name="connsiteX8" fmla="*/ 1718867 w 1718867"/>
                <a:gd name="connsiteY8" fmla="*/ 672600 h 896800"/>
                <a:gd name="connsiteX9" fmla="*/ 429717 w 1718867"/>
                <a:gd name="connsiteY9" fmla="*/ 0 h 896800"/>
                <a:gd name="connsiteX10" fmla="*/ 1289150 w 1718867"/>
                <a:gd name="connsiteY10" fmla="*/ 0 h 896800"/>
                <a:gd name="connsiteX11" fmla="*/ 429717 w 1718867"/>
                <a:gd name="connsiteY11" fmla="*/ 896800 h 896800"/>
                <a:gd name="connsiteX12" fmla="*/ 1289150 w 1718867"/>
                <a:gd name="connsiteY12" fmla="*/ 896800 h 89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8867" h="896800">
                  <a:moveTo>
                    <a:pt x="1718867" y="896800"/>
                  </a:moveTo>
                  <a:lnTo>
                    <a:pt x="1718867" y="0"/>
                  </a:lnTo>
                  <a:lnTo>
                    <a:pt x="0" y="0"/>
                  </a:lnTo>
                  <a:lnTo>
                    <a:pt x="0" y="896800"/>
                  </a:lnTo>
                  <a:lnTo>
                    <a:pt x="1718867" y="896800"/>
                  </a:lnTo>
                  <a:close/>
                </a:path>
              </a:pathLst>
            </a:custGeom>
            <a:solidFill>
              <a:srgbClr val="FFF2E7"/>
            </a:solidFill>
            <a:ln w="7600" cap="flat">
              <a:solidFill>
                <a:srgbClr val="FFC37C"/>
              </a:solidFill>
              <a:bevel/>
            </a:ln>
          </p:spPr>
          <p:txBody>
            <a:bodyPr wrap="square" lIns="0" tIns="0" rIns="0" bIns="0" rtlCol="0" anchor="t"/>
            <a:lstStyle/>
            <a:p>
              <a:pPr algn="l">
                <a:lnSpc>
                  <a:spcPct val="100000"/>
                </a:lnSpc>
              </a:pPr>
              <a:r>
                <a:rPr dirty="0" err="1">
                  <a:solidFill>
                    <a:srgbClr val="FF0000"/>
                  </a:solidFill>
                  <a:latin typeface="微软雅黑" panose="020B0503020204020204" pitchFamily="34" charset="-122"/>
                </a:rPr>
                <a:t>Connector核心组件</a:t>
              </a:r>
              <a:endParaRPr dirty="0">
                <a:solidFill>
                  <a:srgbClr val="FF0000"/>
                </a:solidFill>
                <a:latin typeface="微软雅黑" panose="020B0503020204020204" pitchFamily="34" charset="-122"/>
              </a:endParaRPr>
            </a:p>
          </p:txBody>
        </p:sp>
        <p:sp>
          <p:nvSpPr>
            <p:cNvPr id="12" name="外部交互方"/>
            <p:cNvSpPr/>
            <p:nvPr/>
          </p:nvSpPr>
          <p:spPr>
            <a:xfrm>
              <a:off x="3473483" y="3394800"/>
              <a:ext cx="790400" cy="412383"/>
            </a:xfrm>
            <a:custGeom>
              <a:avLst/>
              <a:gdLst>
                <a:gd name="connsiteX0" fmla="*/ 395200 w 790400"/>
                <a:gd name="connsiteY0" fmla="*/ 412383 h 412383"/>
                <a:gd name="connsiteX1" fmla="*/ 395200 w 790400"/>
                <a:gd name="connsiteY1" fmla="*/ 0 h 412383"/>
                <a:gd name="connsiteX2" fmla="*/ 790400 w 790400"/>
                <a:gd name="connsiteY2" fmla="*/ 206191 h 412383"/>
                <a:gd name="connsiteX3" fmla="*/ 0 w 790400"/>
                <a:gd name="connsiteY3" fmla="*/ 206191 h 412383"/>
                <a:gd name="connsiteX4" fmla="*/ 395200 w 790400"/>
                <a:gd name="connsiteY4" fmla="*/ 206191 h 412383"/>
                <a:gd name="connsiteX5" fmla="*/ 0 w 790400"/>
                <a:gd name="connsiteY5" fmla="*/ 103096 h 412383"/>
                <a:gd name="connsiteX6" fmla="*/ 0 w 790400"/>
                <a:gd name="connsiteY6" fmla="*/ 309287 h 412383"/>
                <a:gd name="connsiteX7" fmla="*/ 790400 w 790400"/>
                <a:gd name="connsiteY7" fmla="*/ 103096 h 412383"/>
                <a:gd name="connsiteX8" fmla="*/ 790400 w 790400"/>
                <a:gd name="connsiteY8" fmla="*/ 309287 h 412383"/>
                <a:gd name="connsiteX9" fmla="*/ 197600 w 790400"/>
                <a:gd name="connsiteY9" fmla="*/ 0 h 412383"/>
                <a:gd name="connsiteX10" fmla="*/ 592800 w 790400"/>
                <a:gd name="connsiteY10" fmla="*/ 0 h 412383"/>
                <a:gd name="connsiteX11" fmla="*/ 197600 w 790400"/>
                <a:gd name="connsiteY11" fmla="*/ 412383 h 412383"/>
                <a:gd name="connsiteX12" fmla="*/ 592800 w 790400"/>
                <a:gd name="connsiteY12" fmla="*/ 412383 h 41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90400" h="412383">
                  <a:moveTo>
                    <a:pt x="790400" y="412383"/>
                  </a:moveTo>
                  <a:lnTo>
                    <a:pt x="790400" y="0"/>
                  </a:lnTo>
                  <a:lnTo>
                    <a:pt x="0" y="0"/>
                  </a:lnTo>
                  <a:lnTo>
                    <a:pt x="0" y="412383"/>
                  </a:lnTo>
                  <a:lnTo>
                    <a:pt x="790400" y="412383"/>
                  </a:lnTo>
                  <a:close/>
                </a:path>
              </a:pathLst>
            </a:custGeom>
            <a:solidFill>
              <a:srgbClr val="F2A282"/>
            </a:solidFill>
            <a:ln w="7600" cap="flat">
              <a:solidFill>
                <a:srgbClr val="236EA1"/>
              </a:solidFill>
              <a:bevel/>
            </a:ln>
          </p:spPr>
        </p:sp>
        <p:sp>
          <p:nvSpPr>
            <p:cNvPr id="13" name="外部交互方"/>
            <p:cNvSpPr/>
            <p:nvPr/>
          </p:nvSpPr>
          <p:spPr>
            <a:xfrm>
              <a:off x="3762917" y="3554400"/>
              <a:ext cx="751767" cy="392226"/>
            </a:xfrm>
            <a:custGeom>
              <a:avLst/>
              <a:gdLst>
                <a:gd name="connsiteX0" fmla="*/ 375883 w 751767"/>
                <a:gd name="connsiteY0" fmla="*/ 392226 h 392226"/>
                <a:gd name="connsiteX1" fmla="*/ 375883 w 751767"/>
                <a:gd name="connsiteY1" fmla="*/ 0 h 392226"/>
                <a:gd name="connsiteX2" fmla="*/ 751767 w 751767"/>
                <a:gd name="connsiteY2" fmla="*/ 196113 h 392226"/>
                <a:gd name="connsiteX3" fmla="*/ 0 w 751767"/>
                <a:gd name="connsiteY3" fmla="*/ 196113 h 392226"/>
                <a:gd name="connsiteX4" fmla="*/ 375883 w 751767"/>
                <a:gd name="connsiteY4" fmla="*/ 196113 h 392226"/>
                <a:gd name="connsiteX5" fmla="*/ 0 w 751767"/>
                <a:gd name="connsiteY5" fmla="*/ 98057 h 392226"/>
                <a:gd name="connsiteX6" fmla="*/ 0 w 751767"/>
                <a:gd name="connsiteY6" fmla="*/ 294170 h 392226"/>
                <a:gd name="connsiteX7" fmla="*/ 751767 w 751767"/>
                <a:gd name="connsiteY7" fmla="*/ 98057 h 392226"/>
                <a:gd name="connsiteX8" fmla="*/ 751767 w 751767"/>
                <a:gd name="connsiteY8" fmla="*/ 294170 h 392226"/>
                <a:gd name="connsiteX9" fmla="*/ 187942 w 751767"/>
                <a:gd name="connsiteY9" fmla="*/ 0 h 392226"/>
                <a:gd name="connsiteX10" fmla="*/ 563825 w 751767"/>
                <a:gd name="connsiteY10" fmla="*/ 0 h 392226"/>
                <a:gd name="connsiteX11" fmla="*/ 187942 w 751767"/>
                <a:gd name="connsiteY11" fmla="*/ 392226 h 392226"/>
                <a:gd name="connsiteX12" fmla="*/ 563825 w 751767"/>
                <a:gd name="connsiteY12" fmla="*/ 392226 h 39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51767" h="392226">
                  <a:moveTo>
                    <a:pt x="751767" y="392226"/>
                  </a:moveTo>
                  <a:lnTo>
                    <a:pt x="751767" y="0"/>
                  </a:lnTo>
                  <a:lnTo>
                    <a:pt x="0" y="0"/>
                  </a:lnTo>
                  <a:lnTo>
                    <a:pt x="0" y="392226"/>
                  </a:lnTo>
                  <a:lnTo>
                    <a:pt x="751767" y="392226"/>
                  </a:lnTo>
                  <a:close/>
                </a:path>
              </a:pathLst>
            </a:custGeom>
            <a:solidFill>
              <a:srgbClr val="F2A282"/>
            </a:solidFill>
            <a:ln w="7600" cap="flat">
              <a:solidFill>
                <a:srgbClr val="2D85C1"/>
              </a:solidFill>
              <a:bevel/>
            </a:ln>
          </p:spPr>
        </p:sp>
        <p:sp>
          <p:nvSpPr>
            <p:cNvPr id="14" name="外部交互方"/>
            <p:cNvSpPr/>
            <p:nvPr/>
          </p:nvSpPr>
          <p:spPr>
            <a:xfrm>
              <a:off x="4089083" y="3660800"/>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r>
                <a:rPr sz="1400" dirty="0">
                  <a:solidFill>
                    <a:srgbClr val="000000"/>
                  </a:solidFill>
                  <a:latin typeface="微软雅黑" panose="020B0503020204020204" pitchFamily="34" charset="-122"/>
                </a:rPr>
                <a:t>Connector</a:t>
              </a:r>
              <a:endParaRPr sz="1400" dirty="0">
                <a:solidFill>
                  <a:srgbClr val="000000"/>
                </a:solidFill>
                <a:latin typeface="微软雅黑" panose="020B0503020204020204" pitchFamily="34" charset="-122"/>
              </a:endParaRPr>
            </a:p>
          </p:txBody>
        </p:sp>
        <p:sp>
          <p:nvSpPr>
            <p:cNvPr id="15" name="外部交互方"/>
            <p:cNvSpPr/>
            <p:nvPr/>
          </p:nvSpPr>
          <p:spPr>
            <a:xfrm>
              <a:off x="5289883" y="3137210"/>
              <a:ext cx="1702400" cy="888209"/>
            </a:xfrm>
            <a:custGeom>
              <a:avLst/>
              <a:gdLst>
                <a:gd name="connsiteX0" fmla="*/ 851200 w 1702400"/>
                <a:gd name="connsiteY0" fmla="*/ 888209 h 888209"/>
                <a:gd name="connsiteX1" fmla="*/ 851200 w 1702400"/>
                <a:gd name="connsiteY1" fmla="*/ 0 h 888209"/>
                <a:gd name="connsiteX2" fmla="*/ 1702400 w 1702400"/>
                <a:gd name="connsiteY2" fmla="*/ 444104 h 888209"/>
                <a:gd name="connsiteX3" fmla="*/ 0 w 1702400"/>
                <a:gd name="connsiteY3" fmla="*/ 444104 h 888209"/>
                <a:gd name="connsiteX4" fmla="*/ 851200 w 1702400"/>
                <a:gd name="connsiteY4" fmla="*/ 444104 h 888209"/>
                <a:gd name="connsiteX5" fmla="*/ 0 w 1702400"/>
                <a:gd name="connsiteY5" fmla="*/ 222052 h 888209"/>
                <a:gd name="connsiteX6" fmla="*/ 0 w 1702400"/>
                <a:gd name="connsiteY6" fmla="*/ 666157 h 888209"/>
                <a:gd name="connsiteX7" fmla="*/ 1702400 w 1702400"/>
                <a:gd name="connsiteY7" fmla="*/ 222052 h 888209"/>
                <a:gd name="connsiteX8" fmla="*/ 1702400 w 1702400"/>
                <a:gd name="connsiteY8" fmla="*/ 666157 h 888209"/>
                <a:gd name="connsiteX9" fmla="*/ 425600 w 1702400"/>
                <a:gd name="connsiteY9" fmla="*/ 0 h 888209"/>
                <a:gd name="connsiteX10" fmla="*/ 1276800 w 1702400"/>
                <a:gd name="connsiteY10" fmla="*/ 0 h 888209"/>
                <a:gd name="connsiteX11" fmla="*/ 425600 w 1702400"/>
                <a:gd name="connsiteY11" fmla="*/ 888209 h 888209"/>
                <a:gd name="connsiteX12" fmla="*/ 1276800 w 1702400"/>
                <a:gd name="connsiteY12" fmla="*/ 888209 h 888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2400" h="888209">
                  <a:moveTo>
                    <a:pt x="1702400" y="888209"/>
                  </a:moveTo>
                  <a:lnTo>
                    <a:pt x="1702400" y="0"/>
                  </a:lnTo>
                  <a:lnTo>
                    <a:pt x="0" y="0"/>
                  </a:lnTo>
                  <a:lnTo>
                    <a:pt x="0" y="888209"/>
                  </a:lnTo>
                  <a:lnTo>
                    <a:pt x="1702400" y="888209"/>
                  </a:lnTo>
                  <a:close/>
                </a:path>
              </a:pathLst>
            </a:custGeom>
            <a:solidFill>
              <a:srgbClr val="FFF2E7"/>
            </a:solidFill>
            <a:ln w="7600" cap="flat">
              <a:solidFill>
                <a:srgbClr val="FFC37C"/>
              </a:solidFill>
              <a:bevel/>
            </a:ln>
          </p:spPr>
          <p:txBody>
            <a:bodyPr wrap="square" lIns="0" tIns="0" rIns="0" bIns="0" rtlCol="0" anchor="t"/>
            <a:lstStyle/>
            <a:p>
              <a:pPr algn="l">
                <a:lnSpc>
                  <a:spcPct val="100000"/>
                </a:lnSpc>
              </a:pPr>
              <a:r>
                <a:rPr>
                  <a:solidFill>
                    <a:srgbClr val="FF0000"/>
                  </a:solidFill>
                  <a:latin typeface="微软雅黑" panose="020B0503020204020204" pitchFamily="34" charset="-122"/>
                </a:rPr>
                <a:t>Container核心组件</a:t>
              </a:r>
              <a:endParaRPr>
                <a:solidFill>
                  <a:srgbClr val="FF0000"/>
                </a:solidFill>
                <a:latin typeface="微软雅黑" panose="020B0503020204020204" pitchFamily="34" charset="-122"/>
              </a:endParaRPr>
            </a:p>
          </p:txBody>
        </p:sp>
        <p:sp>
          <p:nvSpPr>
            <p:cNvPr id="16" name="外部交互方"/>
            <p:cNvSpPr/>
            <p:nvPr/>
          </p:nvSpPr>
          <p:spPr>
            <a:xfrm>
              <a:off x="5662283" y="3657826"/>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lnSpc>
                  <a:spcPct val="100000"/>
                </a:lnSpc>
              </a:pPr>
              <a:r>
                <a:rPr sz="1200" dirty="0">
                  <a:solidFill>
                    <a:srgbClr val="000000"/>
                  </a:solidFill>
                  <a:latin typeface="微软雅黑" panose="020B0503020204020204" pitchFamily="34" charset="-122"/>
                </a:rPr>
                <a:t>Container</a:t>
              </a:r>
              <a:endParaRPr sz="1200" dirty="0">
                <a:solidFill>
                  <a:srgbClr val="000000"/>
                </a:solidFill>
                <a:latin typeface="微软雅黑" panose="020B0503020204020204" pitchFamily="34" charset="-122"/>
              </a:endParaRPr>
            </a:p>
          </p:txBody>
        </p:sp>
        <p:cxnSp>
          <p:nvCxnSpPr>
            <p:cNvPr id="17" name="直线连接线"/>
            <p:cNvCxnSpPr>
              <a:stCxn id="14" idx="2"/>
              <a:endCxn id="16" idx="3"/>
            </p:cNvCxnSpPr>
            <p:nvPr/>
          </p:nvCxnSpPr>
          <p:spPr>
            <a:xfrm rot="-11697">
              <a:off x="4788281" y="3841713"/>
              <a:ext cx="874005" cy="0"/>
            </a:xfrm>
            <a:prstGeom prst="line">
              <a:avLst/>
            </a:prstGeom>
            <a:ln w="7600" cap="flat">
              <a:solidFill>
                <a:srgbClr val="236EA1"/>
              </a:solidFill>
              <a:bevel/>
              <a:headEnd type="none"/>
              <a:tailEnd type="none" w="med" len="med"/>
            </a:ln>
          </p:spPr>
        </p:cxnSp>
        <p:sp>
          <p:nvSpPr>
            <p:cNvPr id="18" name="外部交互方"/>
            <p:cNvSpPr/>
            <p:nvPr/>
          </p:nvSpPr>
          <p:spPr>
            <a:xfrm>
              <a:off x="3070683" y="4306800"/>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lnSpc>
                  <a:spcPct val="100000"/>
                </a:lnSpc>
              </a:pPr>
              <a:r>
                <a:rPr>
                  <a:solidFill>
                    <a:srgbClr val="000000"/>
                  </a:solidFill>
                  <a:latin typeface="微软雅黑" panose="020B0503020204020204" pitchFamily="34" charset="-122"/>
                </a:rPr>
                <a:t>Jasper</a:t>
              </a:r>
              <a:endParaRPr>
                <a:solidFill>
                  <a:srgbClr val="000000"/>
                </a:solidFill>
                <a:latin typeface="微软雅黑" panose="020B0503020204020204" pitchFamily="34" charset="-122"/>
              </a:endParaRPr>
            </a:p>
          </p:txBody>
        </p:sp>
        <p:sp>
          <p:nvSpPr>
            <p:cNvPr id="19" name="外部交互方"/>
            <p:cNvSpPr/>
            <p:nvPr/>
          </p:nvSpPr>
          <p:spPr>
            <a:xfrm>
              <a:off x="4066283" y="4306800"/>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lnSpc>
                  <a:spcPct val="100000"/>
                </a:lnSpc>
              </a:pPr>
              <a:r>
                <a:rPr>
                  <a:solidFill>
                    <a:srgbClr val="000000"/>
                  </a:solidFill>
                  <a:latin typeface="微软雅黑" panose="020B0503020204020204" pitchFamily="34" charset="-122"/>
                </a:rPr>
                <a:t>Naming</a:t>
              </a:r>
              <a:endParaRPr>
                <a:solidFill>
                  <a:srgbClr val="000000"/>
                </a:solidFill>
                <a:latin typeface="微软雅黑" panose="020B0503020204020204" pitchFamily="34" charset="-122"/>
              </a:endParaRPr>
            </a:p>
          </p:txBody>
        </p:sp>
        <p:sp>
          <p:nvSpPr>
            <p:cNvPr id="20" name="外部交互方"/>
            <p:cNvSpPr/>
            <p:nvPr/>
          </p:nvSpPr>
          <p:spPr>
            <a:xfrm>
              <a:off x="5099883" y="4306800"/>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lnSpc>
                  <a:spcPct val="100000"/>
                </a:lnSpc>
              </a:pPr>
              <a:r>
                <a:rPr dirty="0">
                  <a:solidFill>
                    <a:srgbClr val="000000"/>
                  </a:solidFill>
                  <a:latin typeface="微软雅黑" panose="020B0503020204020204" pitchFamily="34" charset="-122"/>
                </a:rPr>
                <a:t>Session</a:t>
              </a:r>
              <a:endParaRPr dirty="0">
                <a:solidFill>
                  <a:srgbClr val="000000"/>
                </a:solidFill>
                <a:latin typeface="微软雅黑" panose="020B0503020204020204" pitchFamily="34" charset="-122"/>
              </a:endParaRPr>
            </a:p>
          </p:txBody>
        </p:sp>
        <p:sp>
          <p:nvSpPr>
            <p:cNvPr id="21" name="外部交互方"/>
            <p:cNvSpPr/>
            <p:nvPr/>
          </p:nvSpPr>
          <p:spPr>
            <a:xfrm>
              <a:off x="6057483" y="4306800"/>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2A282"/>
            </a:solidFill>
            <a:ln w="7600" cap="flat">
              <a:solidFill>
                <a:srgbClr val="236EA1"/>
              </a:solidFill>
              <a:bevel/>
            </a:ln>
          </p:spPr>
          <p:txBody>
            <a:bodyPr wrap="square" lIns="0" tIns="0" rIns="0" bIns="0" rtlCol="0" anchor="ctr"/>
            <a:lstStyle/>
            <a:p>
              <a:pPr algn="ctr">
                <a:lnSpc>
                  <a:spcPct val="100000"/>
                </a:lnSpc>
              </a:pPr>
              <a:r>
                <a:rPr>
                  <a:solidFill>
                    <a:srgbClr val="000000"/>
                  </a:solidFill>
                  <a:latin typeface="微软雅黑" panose="020B0503020204020204" pitchFamily="34" charset="-122"/>
                </a:rPr>
                <a:t>......</a:t>
              </a:r>
              <a:endParaRPr>
                <a:solidFill>
                  <a:srgbClr val="000000"/>
                </a:solidFill>
                <a:latin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rPr>
              <a:t>多线程并发模型</a:t>
            </a:r>
            <a:endParaRPr lang="zh-CN" altLang="en-US" dirty="0"/>
          </a:p>
        </p:txBody>
      </p:sp>
      <p:sp>
        <p:nvSpPr>
          <p:cNvPr id="42" name="副标题 2"/>
          <p:cNvSpPr txBox="1"/>
          <p:nvPr/>
        </p:nvSpPr>
        <p:spPr>
          <a:xfrm>
            <a:off x="-21684" y="1628800"/>
            <a:ext cx="9144000" cy="460851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l">
              <a:buFont typeface="Wingdings" panose="05000000000000000000" pitchFamily="2" charset="2"/>
              <a:buChar char="l"/>
            </a:pPr>
            <a:r>
              <a:rPr lang="zh-CN" altLang="en-US" sz="2000" dirty="0">
                <a:solidFill>
                  <a:schemeClr val="tx1"/>
                </a:solidFill>
                <a:latin typeface="微软雅黑" panose="020B0503020204020204" pitchFamily="34" charset="-122"/>
                <a:ea typeface="微软雅黑" panose="020B0503020204020204" pitchFamily="34" charset="-122"/>
              </a:rPr>
              <a:t>优点</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zh-CN" altLang="en-US" sz="1400" dirty="0">
                <a:solidFill>
                  <a:schemeClr val="tx1"/>
                </a:solidFill>
                <a:latin typeface="微软雅黑" panose="020B0503020204020204" pitchFamily="34" charset="-122"/>
                <a:ea typeface="微软雅黑" panose="020B0503020204020204" pitchFamily="34" charset="-122"/>
              </a:rPr>
              <a:t>执行粒度是整个完整的处理</a:t>
            </a:r>
            <a:r>
              <a:rPr lang="zh-CN" altLang="en-US" sz="1400" dirty="0" smtClean="0">
                <a:solidFill>
                  <a:schemeClr val="tx1"/>
                </a:solidFill>
                <a:latin typeface="微软雅黑" panose="020B0503020204020204" pitchFamily="34" charset="-122"/>
                <a:ea typeface="微软雅黑" panose="020B0503020204020204" pitchFamily="34" charset="-122"/>
              </a:rPr>
              <a:t>流程。处理</a:t>
            </a:r>
            <a:r>
              <a:rPr lang="zh-CN" altLang="en-US" sz="1400" dirty="0">
                <a:solidFill>
                  <a:schemeClr val="tx1"/>
                </a:solidFill>
                <a:latin typeface="微软雅黑" panose="020B0503020204020204" pitchFamily="34" charset="-122"/>
                <a:ea typeface="微软雅黑" panose="020B0503020204020204" pitchFamily="34" charset="-122"/>
              </a:rPr>
              <a:t>逻辑清晰，容易</a:t>
            </a:r>
            <a:r>
              <a:rPr lang="zh-CN" altLang="en-US" sz="1400" dirty="0" smtClean="0">
                <a:solidFill>
                  <a:schemeClr val="tx1"/>
                </a:solidFill>
                <a:latin typeface="微软雅黑" panose="020B0503020204020204" pitchFamily="34" charset="-122"/>
                <a:ea typeface="微软雅黑" panose="020B0503020204020204" pitchFamily="34" charset="-122"/>
              </a:rPr>
              <a:t>开发</a:t>
            </a:r>
            <a:endParaRPr lang="en-US" altLang="zh-CN" sz="14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endParaRPr lang="en-US" altLang="zh-CN" sz="2000" dirty="0">
              <a:solidFill>
                <a:schemeClr val="tx1"/>
              </a:solidFill>
              <a:latin typeface="微软雅黑" panose="020B0503020204020204" pitchFamily="34" charset="-122"/>
              <a:ea typeface="微软雅黑" panose="020B0503020204020204" pitchFamily="34" charset="-122"/>
            </a:endParaRPr>
          </a:p>
          <a:p>
            <a:pPr algn="l"/>
            <a:endParaRPr lang="en-US" altLang="zh-CN" sz="1600" dirty="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2000" dirty="0" smtClean="0">
                <a:solidFill>
                  <a:schemeClr val="tx1"/>
                </a:solidFill>
                <a:latin typeface="微软雅黑" panose="020B0503020204020204" pitchFamily="34" charset="-122"/>
                <a:ea typeface="微软雅黑" panose="020B0503020204020204" pitchFamily="34" charset="-122"/>
              </a:rPr>
              <a:t>缺点</a:t>
            </a:r>
            <a:endParaRPr lang="zh-CN" altLang="en-US" sz="20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zh-CN" altLang="en-US" sz="1400" dirty="0" smtClean="0">
                <a:solidFill>
                  <a:schemeClr val="tx1"/>
                </a:solidFill>
                <a:latin typeface="微软雅黑" panose="020B0503020204020204" pitchFamily="34" charset="-122"/>
                <a:ea typeface="微软雅黑" panose="020B0503020204020204" pitchFamily="34" charset="-122"/>
              </a:rPr>
              <a:t>若</a:t>
            </a:r>
            <a:r>
              <a:rPr lang="zh-CN" altLang="en-US" sz="1400" dirty="0">
                <a:solidFill>
                  <a:schemeClr val="tx1"/>
                </a:solidFill>
                <a:latin typeface="微软雅黑" panose="020B0503020204020204" pitchFamily="34" charset="-122"/>
                <a:ea typeface="微软雅黑" panose="020B0503020204020204" pitchFamily="34" charset="-122"/>
              </a:rPr>
              <a:t>处理过程中某一步骤出现长时间调用（如：网络通信、</a:t>
            </a:r>
            <a:r>
              <a:rPr lang="en-US" altLang="zh-CN" sz="1400" dirty="0">
                <a:solidFill>
                  <a:schemeClr val="tx1"/>
                </a:solidFill>
                <a:latin typeface="微软雅黑" panose="020B0503020204020204" pitchFamily="34" charset="-122"/>
                <a:ea typeface="微软雅黑" panose="020B0503020204020204" pitchFamily="34" charset="-122"/>
              </a:rPr>
              <a:t>I/O</a:t>
            </a:r>
            <a:r>
              <a:rPr lang="zh-CN" altLang="en-US" sz="1400" dirty="0">
                <a:solidFill>
                  <a:schemeClr val="tx1"/>
                </a:solidFill>
                <a:latin typeface="微软雅黑" panose="020B0503020204020204" pitchFamily="34" charset="-122"/>
                <a:ea typeface="微软雅黑" panose="020B0503020204020204" pitchFamily="34" charset="-122"/>
              </a:rPr>
              <a:t>磁盘读写等），则会阻塞后续的请求，造成资源的浪费</a:t>
            </a:r>
            <a:r>
              <a:rPr lang="zh-CN" altLang="en-US" sz="1400" dirty="0" smtClean="0">
                <a:solidFill>
                  <a:schemeClr val="tx1"/>
                </a:solidFill>
                <a:latin typeface="微软雅黑" panose="020B0503020204020204" pitchFamily="34" charset="-122"/>
                <a:ea typeface="微软雅黑" panose="020B0503020204020204" pitchFamily="34" charset="-122"/>
              </a:rPr>
              <a:t>。</a:t>
            </a:r>
            <a:endParaRPr lang="zh-CN" altLang="en-US" sz="1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zh-CN" altLang="en-US" sz="1400" dirty="0" smtClean="0">
                <a:solidFill>
                  <a:schemeClr val="tx1"/>
                </a:solidFill>
                <a:latin typeface="微软雅黑" panose="020B0503020204020204" pitchFamily="34" charset="-122"/>
                <a:ea typeface="微软雅黑" panose="020B0503020204020204" pitchFamily="34" charset="-122"/>
              </a:rPr>
              <a:t>随着</a:t>
            </a:r>
            <a:r>
              <a:rPr lang="zh-CN" altLang="en-US" sz="1400" dirty="0">
                <a:solidFill>
                  <a:schemeClr val="tx1"/>
                </a:solidFill>
                <a:latin typeface="微软雅黑" panose="020B0503020204020204" pitchFamily="34" charset="-122"/>
                <a:ea typeface="微软雅黑" panose="020B0503020204020204" pitchFamily="34" charset="-122"/>
              </a:rPr>
              <a:t>处理请求不断增加，导致并发执行的线程数量太多</a:t>
            </a:r>
            <a:r>
              <a:rPr lang="zh-CN" altLang="en-US" sz="1400" dirty="0" smtClean="0">
                <a:solidFill>
                  <a:schemeClr val="tx1"/>
                </a:solidFill>
                <a:latin typeface="微软雅黑" panose="020B0503020204020204" pitchFamily="34" charset="-122"/>
                <a:ea typeface="微软雅黑" panose="020B0503020204020204" pitchFamily="34" charset="-122"/>
              </a:rPr>
              <a:t>。</a:t>
            </a:r>
            <a:endParaRPr lang="zh-CN" altLang="en-US" sz="1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zh-CN" altLang="en-US" sz="1400" dirty="0" smtClean="0">
                <a:solidFill>
                  <a:schemeClr val="tx1"/>
                </a:solidFill>
                <a:latin typeface="微软雅黑" panose="020B0503020204020204" pitchFamily="34" charset="-122"/>
                <a:ea typeface="微软雅黑" panose="020B0503020204020204" pitchFamily="34" charset="-122"/>
              </a:rPr>
              <a:t>过多</a:t>
            </a:r>
            <a:r>
              <a:rPr lang="zh-CN" altLang="en-US" sz="1400" dirty="0">
                <a:solidFill>
                  <a:schemeClr val="tx1"/>
                </a:solidFill>
                <a:latin typeface="微软雅黑" panose="020B0503020204020204" pitchFamily="34" charset="-122"/>
                <a:ea typeface="微软雅黑" panose="020B0503020204020204" pitchFamily="34" charset="-122"/>
              </a:rPr>
              <a:t>的线程数量导致系统在线程调度和资源争用上的开销过</a:t>
            </a:r>
            <a:r>
              <a:rPr lang="zh-CN" altLang="en-US" sz="1400" dirty="0" smtClean="0">
                <a:solidFill>
                  <a:schemeClr val="tx1"/>
                </a:solidFill>
                <a:latin typeface="微软雅黑" panose="020B0503020204020204" pitchFamily="34" charset="-122"/>
                <a:ea typeface="微软雅黑" panose="020B0503020204020204" pitchFamily="34" charset="-122"/>
              </a:rPr>
              <a:t>大</a:t>
            </a:r>
            <a:r>
              <a:rPr lang="en-US" altLang="zh-CN" sz="1400" dirty="0" smtClean="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导致系统处理能力下降</a:t>
            </a:r>
            <a:r>
              <a:rPr lang="zh-CN" altLang="en-US" sz="1400" dirty="0" smtClean="0">
                <a:solidFill>
                  <a:schemeClr val="tx1"/>
                </a:solidFill>
                <a:latin typeface="微软雅黑" panose="020B0503020204020204" pitchFamily="34" charset="-122"/>
                <a:ea typeface="微软雅黑" panose="020B0503020204020204" pitchFamily="34" charset="-122"/>
              </a:rPr>
              <a:t>。</a:t>
            </a:r>
            <a:endParaRPr lang="en-US" altLang="zh-CN" sz="14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2000" dirty="0">
              <a:solidFill>
                <a:schemeClr val="tx1"/>
              </a:solidFill>
              <a:latin typeface="微软雅黑" panose="020B0503020204020204" pitchFamily="34" charset="-122"/>
              <a:ea typeface="微软雅黑" panose="020B0503020204020204" pitchFamily="34" charset="-122"/>
            </a:endParaRPr>
          </a:p>
          <a:p>
            <a:pPr algn="l"/>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zh-CN" altLang="en-US" sz="2000" dirty="0" smtClean="0">
                <a:solidFill>
                  <a:schemeClr val="tx1"/>
                </a:solidFill>
                <a:latin typeface="微软雅黑" panose="020B0503020204020204" pitchFamily="34" charset="-122"/>
                <a:ea typeface="微软雅黑" panose="020B0503020204020204" pitchFamily="34" charset="-122"/>
              </a:rPr>
              <a:t>改进</a:t>
            </a:r>
            <a:endParaRPr lang="zh-CN" altLang="en-US" sz="20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zh-CN" altLang="en-US" sz="1400" dirty="0">
                <a:solidFill>
                  <a:schemeClr val="tx1"/>
                </a:solidFill>
                <a:latin typeface="微软雅黑" panose="020B0503020204020204" pitchFamily="34" charset="-122"/>
                <a:ea typeface="微软雅黑" panose="020B0503020204020204" pitchFamily="34" charset="-122"/>
              </a:rPr>
              <a:t>线程</a:t>
            </a:r>
            <a:r>
              <a:rPr lang="zh-CN" altLang="en-US" sz="1400" dirty="0" smtClean="0">
                <a:solidFill>
                  <a:schemeClr val="tx1"/>
                </a:solidFill>
                <a:latin typeface="微软雅黑" panose="020B0503020204020204" pitchFamily="34" charset="-122"/>
                <a:ea typeface="微软雅黑" panose="020B0503020204020204" pitchFamily="34" charset="-122"/>
              </a:rPr>
              <a:t>池或异步操作</a:t>
            </a:r>
            <a:r>
              <a:rPr lang="zh-CN" altLang="en-US" sz="1400" dirty="0">
                <a:solidFill>
                  <a:schemeClr val="tx1"/>
                </a:solidFill>
                <a:latin typeface="微软雅黑" panose="020B0503020204020204" pitchFamily="34" charset="-122"/>
                <a:ea typeface="微软雅黑" panose="020B0503020204020204" pitchFamily="34" charset="-122"/>
              </a:rPr>
              <a:t>。</a:t>
            </a:r>
            <a:r>
              <a:rPr lang="zh-CN" altLang="en-US" sz="1400" dirty="0" smtClean="0">
                <a:solidFill>
                  <a:schemeClr val="tx1"/>
                </a:solidFill>
                <a:latin typeface="微软雅黑" panose="020B0503020204020204" pitchFamily="34" charset="-122"/>
                <a:ea typeface="微软雅黑" panose="020B0503020204020204" pitchFamily="34" charset="-122"/>
              </a:rPr>
              <a:t>系统</a:t>
            </a:r>
            <a:r>
              <a:rPr lang="zh-CN" altLang="en-US" sz="1400" dirty="0">
                <a:solidFill>
                  <a:schemeClr val="tx1"/>
                </a:solidFill>
                <a:latin typeface="微软雅黑" panose="020B0503020204020204" pitchFamily="34" charset="-122"/>
                <a:ea typeface="微软雅黑" panose="020B0503020204020204" pitchFamily="34" charset="-122"/>
              </a:rPr>
              <a:t>最多只能创建一定数量的线程。当所有线程都饱和运行时，新到达的处理请求只能等待，或者被抛弃。</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109" name="副标题 2"/>
          <p:cNvSpPr txBox="1"/>
          <p:nvPr/>
        </p:nvSpPr>
        <p:spPr>
          <a:xfrm>
            <a:off x="0" y="836712"/>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分析</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a:bodyPr>
          <a:lstStyle/>
          <a:p>
            <a:r>
              <a:rPr lang="zh-CN" altLang="en-US" sz="3600" dirty="0" smtClean="0">
                <a:solidFill>
                  <a:schemeClr val="bg1"/>
                </a:solidFill>
                <a:latin typeface="微软雅黑" panose="020B0503020204020204" pitchFamily="34" charset="-122"/>
                <a:ea typeface="微软雅黑" panose="020B0503020204020204" pitchFamily="34" charset="-122"/>
              </a:rPr>
              <a:t>事件驱动模型</a:t>
            </a:r>
            <a:endParaRPr lang="zh-CN" altLang="en-US" sz="3600" dirty="0">
              <a:solidFill>
                <a:schemeClr val="bg1"/>
              </a:solidFill>
              <a:latin typeface="微软雅黑" panose="020B0503020204020204" pitchFamily="34" charset="-122"/>
              <a:ea typeface="微软雅黑" panose="020B0503020204020204" pitchFamily="34" charset="-122"/>
            </a:endParaRPr>
          </a:p>
        </p:txBody>
      </p:sp>
      <p:sp>
        <p:nvSpPr>
          <p:cNvPr id="36" name="副标题 2"/>
          <p:cNvSpPr>
            <a:spLocks noGrp="1"/>
          </p:cNvSpPr>
          <p:nvPr>
            <p:ph type="subTitle" idx="1"/>
          </p:nvPr>
        </p:nvSpPr>
        <p:spPr>
          <a:xfrm>
            <a:off x="0" y="1383665"/>
            <a:ext cx="9144000" cy="5018405"/>
          </a:xfrm>
        </p:spPr>
        <p:txBody>
          <a:bodyPr>
            <a:normAutofit/>
          </a:bodyPr>
          <a:lstStyle/>
          <a:p>
            <a:endParaRPr lang="zh-CN" altLang="en-US" sz="1400" dirty="0" smtClean="0">
              <a:solidFill>
                <a:schemeClr val="tx1"/>
              </a:solidFill>
              <a:latin typeface="微软雅黑" panose="020B0503020204020204" pitchFamily="34" charset="-122"/>
              <a:ea typeface="微软雅黑" panose="020B0503020204020204" pitchFamily="34" charset="-122"/>
            </a:endParaRPr>
          </a:p>
          <a:p>
            <a:pPr algn="l"/>
            <a:r>
              <a:rPr lang="zh-CN" altLang="en-US" sz="1600" dirty="0" smtClean="0">
                <a:solidFill>
                  <a:schemeClr val="tx1"/>
                </a:solidFill>
                <a:latin typeface="微软雅黑" panose="020B0503020204020204" pitchFamily="34" charset="-122"/>
                <a:ea typeface="微软雅黑" panose="020B0503020204020204" pitchFamily="34" charset="-122"/>
                <a:sym typeface="+mn-ea"/>
              </a:rPr>
              <a:t>事件驱动模型（</a:t>
            </a:r>
            <a:r>
              <a:rPr lang="en-US" altLang="zh-CN" sz="1600" dirty="0" smtClean="0">
                <a:solidFill>
                  <a:schemeClr val="tx1"/>
                </a:solidFill>
                <a:latin typeface="微软雅黑" panose="020B0503020204020204" pitchFamily="34" charset="-122"/>
                <a:ea typeface="微软雅黑" panose="020B0503020204020204" pitchFamily="34" charset="-122"/>
                <a:sym typeface="+mn-ea"/>
              </a:rPr>
              <a:t>Event-Driven Architecture，EDA</a:t>
            </a:r>
            <a:r>
              <a:rPr lang="zh-CN" altLang="en-US" sz="1600" dirty="0" smtClean="0">
                <a:solidFill>
                  <a:schemeClr val="tx1"/>
                </a:solidFill>
                <a:latin typeface="微软雅黑" panose="020B0503020204020204" pitchFamily="34" charset="-122"/>
                <a:ea typeface="微软雅黑" panose="020B0503020204020204" pitchFamily="34" charset="-122"/>
                <a:sym typeface="+mn-ea"/>
              </a:rPr>
              <a:t>）</a:t>
            </a:r>
            <a:endParaRPr lang="zh-CN" altLang="en-US" sz="1600" dirty="0" smtClean="0">
              <a:solidFill>
                <a:schemeClr val="tx1"/>
              </a:solidFill>
              <a:latin typeface="微软雅黑" panose="020B0503020204020204" pitchFamily="34" charset="-122"/>
              <a:ea typeface="微软雅黑" panose="020B0503020204020204" pitchFamily="34" charset="-122"/>
              <a:sym typeface="+mn-ea"/>
            </a:endParaRPr>
          </a:p>
          <a:p>
            <a:pPr algn="l"/>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r>
              <a:rPr lang="en-US" altLang="zh-CN" sz="1600" dirty="0" smtClean="0">
                <a:solidFill>
                  <a:schemeClr val="tx1"/>
                </a:solidFill>
                <a:latin typeface="微软雅黑" panose="020B0503020204020204" pitchFamily="34" charset="-122"/>
                <a:ea typeface="微软雅黑" panose="020B0503020204020204" pitchFamily="34" charset="-122"/>
              </a:rPr>
              <a:t>事件驱动</a:t>
            </a:r>
            <a:r>
              <a:rPr lang="zh-CN" altLang="en-US" sz="1600" dirty="0" smtClean="0">
                <a:solidFill>
                  <a:schemeClr val="tx1"/>
                </a:solidFill>
                <a:latin typeface="微软雅黑" panose="020B0503020204020204" pitchFamily="34" charset="-122"/>
                <a:ea typeface="微软雅黑" panose="020B0503020204020204" pitchFamily="34" charset="-122"/>
              </a:rPr>
              <a:t>其实已经为我们</a:t>
            </a:r>
            <a:r>
              <a:rPr lang="en-US" altLang="zh-CN" sz="1600" dirty="0" smtClean="0">
                <a:solidFill>
                  <a:schemeClr val="tx1"/>
                </a:solidFill>
                <a:latin typeface="微软雅黑" panose="020B0503020204020204" pitchFamily="34" charset="-122"/>
                <a:ea typeface="微软雅黑" panose="020B0503020204020204" pitchFamily="34" charset="-122"/>
              </a:rPr>
              <a:t>所熟悉:</a:t>
            </a:r>
            <a:endParaRPr lang="zh-CN" altLang="en-US" sz="1600" dirty="0" smtClean="0">
              <a:solidFill>
                <a:schemeClr val="tx1"/>
              </a:solidFill>
              <a:latin typeface="微软雅黑" panose="020B0503020204020204" pitchFamily="34" charset="-122"/>
              <a:ea typeface="微软雅黑" panose="020B0503020204020204" pitchFamily="34" charset="-122"/>
            </a:endParaRPr>
          </a:p>
          <a:p>
            <a:pPr algn="l"/>
            <a:endParaRPr lang="zh-CN" altLang="en-US" sz="16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en-US" altLang="zh-CN" sz="1400" dirty="0" smtClean="0">
                <a:solidFill>
                  <a:schemeClr val="tx1"/>
                </a:solidFill>
                <a:latin typeface="微软雅黑" panose="020B0503020204020204" pitchFamily="34" charset="-122"/>
                <a:ea typeface="微软雅黑" panose="020B0503020204020204" pitchFamily="34" charset="-122"/>
              </a:rPr>
              <a:t>Java</a:t>
            </a:r>
            <a:r>
              <a:rPr lang="zh-CN" altLang="en-US" sz="1400" dirty="0" smtClean="0">
                <a:solidFill>
                  <a:schemeClr val="tx1"/>
                </a:solidFill>
                <a:latin typeface="微软雅黑" panose="020B0503020204020204" pitchFamily="34" charset="-122"/>
                <a:ea typeface="微软雅黑" panose="020B0503020204020204" pitchFamily="34" charset="-122"/>
              </a:rPr>
              <a:t>的</a:t>
            </a:r>
            <a:r>
              <a:rPr lang="en-US" altLang="zh-CN" sz="1400" dirty="0" smtClean="0">
                <a:solidFill>
                  <a:schemeClr val="tx1"/>
                </a:solidFill>
                <a:latin typeface="微软雅黑" panose="020B0503020204020204" pitchFamily="34" charset="-122"/>
                <a:ea typeface="微软雅黑" panose="020B0503020204020204" pitchFamily="34" charset="-122"/>
                <a:sym typeface="+mn-ea"/>
              </a:rPr>
              <a:t>图形化界面编程</a:t>
            </a:r>
            <a:r>
              <a:rPr lang="zh-CN" altLang="en-US" sz="1400" dirty="0" smtClean="0">
                <a:solidFill>
                  <a:schemeClr val="tx1"/>
                </a:solidFill>
                <a:latin typeface="微软雅黑" panose="020B0503020204020204" pitchFamily="34" charset="-122"/>
                <a:ea typeface="微软雅黑" panose="020B0503020204020204" pitchFamily="34" charset="-122"/>
                <a:sym typeface="+mn-ea"/>
              </a:rPr>
              <a:t>（</a:t>
            </a:r>
            <a:r>
              <a:rPr lang="en-US" altLang="zh-CN" sz="1400" dirty="0" smtClean="0">
                <a:solidFill>
                  <a:schemeClr val="tx1"/>
                </a:solidFill>
                <a:latin typeface="微软雅黑" panose="020B0503020204020204" pitchFamily="34" charset="-122"/>
                <a:ea typeface="微软雅黑" panose="020B0503020204020204" pitchFamily="34" charset="-122"/>
                <a:sym typeface="+mn-ea"/>
              </a:rPr>
              <a:t>GUI</a:t>
            </a:r>
            <a:r>
              <a:rPr lang="zh-CN" altLang="en-US" sz="1400" dirty="0" smtClean="0">
                <a:solidFill>
                  <a:schemeClr val="tx1"/>
                </a:solidFill>
                <a:latin typeface="微软雅黑" panose="020B0503020204020204" pitchFamily="34" charset="-122"/>
                <a:ea typeface="微软雅黑" panose="020B0503020204020204" pitchFamily="34" charset="-122"/>
                <a:sym typeface="+mn-ea"/>
              </a:rPr>
              <a:t>）</a:t>
            </a:r>
            <a:r>
              <a:rPr lang="en-US" altLang="zh-CN" sz="1400" dirty="0" smtClean="0">
                <a:solidFill>
                  <a:schemeClr val="tx1"/>
                </a:solidFill>
                <a:latin typeface="微软雅黑" panose="020B0503020204020204" pitchFamily="34" charset="-122"/>
                <a:ea typeface="微软雅黑" panose="020B0503020204020204" pitchFamily="34" charset="-122"/>
                <a:sym typeface="+mn-ea"/>
              </a:rPr>
              <a:t>中的应用</a:t>
            </a:r>
            <a:r>
              <a:rPr lang="zh-CN" altLang="en-US" sz="1400" dirty="0" smtClean="0">
                <a:solidFill>
                  <a:schemeClr val="tx1"/>
                </a:solidFill>
                <a:latin typeface="微软雅黑" panose="020B0503020204020204" pitchFamily="34" charset="-122"/>
                <a:ea typeface="微软雅黑" panose="020B0503020204020204" pitchFamily="34" charset="-122"/>
                <a:sym typeface="+mn-ea"/>
              </a:rPr>
              <a:t>，如：</a:t>
            </a:r>
            <a:r>
              <a:rPr lang="en-US" altLang="zh-CN" sz="1400" dirty="0" smtClean="0">
                <a:solidFill>
                  <a:schemeClr val="tx1"/>
                </a:solidFill>
                <a:latin typeface="微软雅黑" panose="020B0503020204020204" pitchFamily="34" charset="-122"/>
                <a:ea typeface="微软雅黑" panose="020B0503020204020204" pitchFamily="34" charset="-122"/>
              </a:rPr>
              <a:t>AWT</a:t>
            </a:r>
            <a:r>
              <a:rPr lang="zh-CN" altLang="en-US" sz="1400" dirty="0" smtClean="0">
                <a:solidFill>
                  <a:schemeClr val="tx1"/>
                </a:solidFill>
                <a:latin typeface="微软雅黑" panose="020B0503020204020204" pitchFamily="34" charset="-122"/>
                <a:ea typeface="微软雅黑" panose="020B0503020204020204" pitchFamily="34" charset="-122"/>
              </a:rPr>
              <a:t>、</a:t>
            </a:r>
            <a:r>
              <a:rPr lang="en-US" altLang="zh-CN" sz="1400" dirty="0" smtClean="0">
                <a:solidFill>
                  <a:schemeClr val="tx1"/>
                </a:solidFill>
                <a:latin typeface="微软雅黑" panose="020B0503020204020204" pitchFamily="34" charset="-122"/>
                <a:ea typeface="微软雅黑" panose="020B0503020204020204" pitchFamily="34" charset="-122"/>
              </a:rPr>
              <a:t>Swing</a:t>
            </a:r>
            <a:endParaRPr lang="zh-CN" altLang="en-US" sz="14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Wingdings" panose="05000000000000000000" charset="0"/>
              <a:buChar char=""/>
            </a:pPr>
            <a:r>
              <a:rPr lang="en-US" altLang="zh-CN" sz="1400" dirty="0" smtClean="0">
                <a:solidFill>
                  <a:schemeClr val="tx1"/>
                </a:solidFill>
                <a:latin typeface="微软雅黑" panose="020B0503020204020204" pitchFamily="34" charset="-122"/>
                <a:ea typeface="微软雅黑" panose="020B0503020204020204" pitchFamily="34" charset="-122"/>
              </a:rPr>
              <a:t>网络编程，</a:t>
            </a:r>
            <a:r>
              <a:rPr lang="zh-CN" altLang="en-US" sz="1400" dirty="0" smtClean="0">
                <a:solidFill>
                  <a:schemeClr val="tx1"/>
                </a:solidFill>
                <a:latin typeface="微软雅黑" panose="020B0503020204020204" pitchFamily="34" charset="-122"/>
                <a:ea typeface="微软雅黑" panose="020B0503020204020204" pitchFamily="34" charset="-122"/>
              </a:rPr>
              <a:t>如：</a:t>
            </a:r>
            <a:r>
              <a:rPr sz="1400" dirty="0" smtClean="0">
                <a:solidFill>
                  <a:schemeClr val="tx1"/>
                </a:solidFill>
                <a:latin typeface="微软雅黑" panose="020B0503020204020204" pitchFamily="34" charset="-122"/>
                <a:ea typeface="微软雅黑" panose="020B0503020204020204" pitchFamily="34" charset="-122"/>
              </a:rPr>
              <a:t>http 服务器程序、ftp 服务器程序</a:t>
            </a:r>
            <a:endParaRPr lang="zh-CN" sz="14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r>
              <a:rPr lang="en-US" altLang="zh-CN" sz="1600" dirty="0" smtClean="0">
                <a:solidFill>
                  <a:schemeClr val="tx1"/>
                </a:solidFill>
                <a:latin typeface="微软雅黑" panose="020B0503020204020204" pitchFamily="34" charset="-122"/>
                <a:ea typeface="微软雅黑" panose="020B0503020204020204" pitchFamily="34" charset="-122"/>
              </a:rPr>
              <a:t>可以从两个方面来理解 EDA：</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en-US" altLang="zh-CN" sz="1400" dirty="0" smtClean="0">
                <a:solidFill>
                  <a:schemeClr val="tx1"/>
                </a:solidFill>
                <a:latin typeface="微软雅黑" panose="020B0503020204020204" pitchFamily="34" charset="-122"/>
                <a:ea typeface="微软雅黑" panose="020B0503020204020204" pitchFamily="34" charset="-122"/>
              </a:rPr>
              <a:t>EDA 是一种侧重于以生成/消费为基础的异步通信的架构模式。主要对照于传统的基于线程的同步系统</a:t>
            </a:r>
            <a:endParaRPr lang="en-US" altLang="zh-CN" sz="1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endParaRPr lang="en-US" altLang="zh-CN" sz="1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r>
              <a:rPr lang="en-US" altLang="zh-CN" sz="1400" dirty="0" smtClean="0">
                <a:solidFill>
                  <a:schemeClr val="tx1"/>
                </a:solidFill>
                <a:latin typeface="微软雅黑" panose="020B0503020204020204" pitchFamily="34" charset="-122"/>
                <a:ea typeface="微软雅黑" panose="020B0503020204020204" pitchFamily="34" charset="-122"/>
              </a:rPr>
              <a:t>EDA 是一种以事件 (event)为核心，提供事件产生，路由，消费已经结果回调等机制的架构模式。</a:t>
            </a:r>
            <a:endParaRPr lang="en-US" altLang="zh-CN" sz="1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Wingdings" panose="05000000000000000000" charset="0"/>
              <a:buChar char=""/>
            </a:pPr>
            <a:endParaRPr lang="en-US" altLang="zh-CN" sz="1400" dirty="0" smtClean="0">
              <a:solidFill>
                <a:schemeClr val="tx1"/>
              </a:solidFill>
              <a:latin typeface="微软雅黑" panose="020B0503020204020204" pitchFamily="34" charset="-122"/>
              <a:ea typeface="微软雅黑" panose="020B0503020204020204" pitchFamily="34" charset="-122"/>
            </a:endParaRPr>
          </a:p>
        </p:txBody>
      </p:sp>
      <p:sp>
        <p:nvSpPr>
          <p:cNvPr id="37" name="副标题 2"/>
          <p:cNvSpPr txBox="1"/>
          <p:nvPr/>
        </p:nvSpPr>
        <p:spPr>
          <a:xfrm>
            <a:off x="0" y="980728"/>
            <a:ext cx="9144000" cy="59865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前言</a:t>
            </a: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a:bodyPr>
          <a:lstStyle/>
          <a:p>
            <a:r>
              <a:rPr lang="zh-CN" altLang="en-US" sz="3600" dirty="0" smtClean="0">
                <a:solidFill>
                  <a:schemeClr val="bg1"/>
                </a:solidFill>
                <a:latin typeface="微软雅黑" panose="020B0503020204020204" pitchFamily="34" charset="-122"/>
                <a:ea typeface="微软雅黑" panose="020B0503020204020204" pitchFamily="34" charset="-122"/>
              </a:rPr>
              <a:t>事件驱动模型</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nvGrpSpPr>
          <p:cNvPr id="79" name="Group249"/>
          <p:cNvGrpSpPr/>
          <p:nvPr/>
        </p:nvGrpSpPr>
        <p:grpSpPr>
          <a:xfrm>
            <a:off x="611560" y="1244163"/>
            <a:ext cx="7829760" cy="5119844"/>
            <a:chOff x="1782800" y="1663900"/>
            <a:chExt cx="5578400" cy="3788600"/>
          </a:xfrm>
        </p:grpSpPr>
        <p:sp>
          <p:nvSpPr>
            <p:cNvPr id="80" name="参与者引用"/>
            <p:cNvSpPr/>
            <p:nvPr/>
          </p:nvSpPr>
          <p:spPr>
            <a:xfrm>
              <a:off x="1782800" y="3579100"/>
              <a:ext cx="760000" cy="425600"/>
            </a:xfrm>
            <a:custGeom>
              <a:avLst/>
              <a:gdLst>
                <a:gd name="connsiteX0" fmla="*/ 380000 w 760000"/>
                <a:gd name="connsiteY0" fmla="*/ 425600 h 425600"/>
                <a:gd name="connsiteX1" fmla="*/ 380000 w 760000"/>
                <a:gd name="connsiteY1" fmla="*/ 0 h 425600"/>
                <a:gd name="connsiteX2" fmla="*/ 760000 w 760000"/>
                <a:gd name="connsiteY2" fmla="*/ 212800 h 425600"/>
                <a:gd name="connsiteX3" fmla="*/ 0 w 760000"/>
                <a:gd name="connsiteY3" fmla="*/ 212800 h 425600"/>
                <a:gd name="connsiteX4" fmla="*/ 380000 w 760000"/>
                <a:gd name="connsiteY4" fmla="*/ 212800 h 425600"/>
                <a:gd name="rtb" fmla="*/ 421800 h 425600"/>
              </a:gdLst>
              <a:ahLst/>
              <a:cxnLst>
                <a:cxn ang="0">
                  <a:pos x="connsiteX0" y="connsiteY0"/>
                </a:cxn>
                <a:cxn ang="0">
                  <a:pos x="connsiteX1" y="connsiteY1"/>
                </a:cxn>
                <a:cxn ang="0">
                  <a:pos x="connsiteX2" y="connsiteY2"/>
                </a:cxn>
                <a:cxn ang="0">
                  <a:pos x="connsiteX3" y="connsiteY3"/>
                </a:cxn>
                <a:cxn ang="0">
                  <a:pos x="connsiteX4" y="connsiteY4"/>
                </a:cxn>
              </a:cxnLst>
              <a:rect l="l" t="t" r="r" b="rtb"/>
              <a:pathLst>
                <a:path w="760000" h="425600">
                  <a:moveTo>
                    <a:pt x="760000" y="425600"/>
                  </a:moveTo>
                  <a:lnTo>
                    <a:pt x="760000" y="0"/>
                  </a:lnTo>
                  <a:lnTo>
                    <a:pt x="0" y="0"/>
                  </a:lnTo>
                  <a:lnTo>
                    <a:pt x="0" y="425600"/>
                  </a:lnTo>
                  <a:lnTo>
                    <a:pt x="760000" y="425600"/>
                  </a:ln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network</a:t>
              </a:r>
              <a:endParaRPr>
                <a:solidFill>
                  <a:srgbClr val="404557"/>
                </a:solidFill>
                <a:latin typeface="微软雅黑" panose="020B0503020204020204" pitchFamily="34" charset="-122"/>
                <a:ea typeface="微软雅黑" panose="020B0503020204020204" pitchFamily="34" charset="-122"/>
              </a:endParaRPr>
            </a:p>
          </p:txBody>
        </p:sp>
        <p:sp>
          <p:nvSpPr>
            <p:cNvPr id="81" name="状态"/>
            <p:cNvSpPr/>
            <p:nvPr/>
          </p:nvSpPr>
          <p:spPr>
            <a:xfrm>
              <a:off x="2846800" y="3579100"/>
              <a:ext cx="714400" cy="425600"/>
            </a:xfrm>
            <a:custGeom>
              <a:avLst/>
              <a:gdLst>
                <a:gd name="connsiteX0" fmla="*/ 357200 w 714400"/>
                <a:gd name="connsiteY0" fmla="*/ 425600 h 425600"/>
                <a:gd name="connsiteX1" fmla="*/ 357200 w 714400"/>
                <a:gd name="connsiteY1" fmla="*/ 0 h 425600"/>
                <a:gd name="connsiteX2" fmla="*/ 714400 w 714400"/>
                <a:gd name="connsiteY2" fmla="*/ 212800 h 425600"/>
                <a:gd name="connsiteX3" fmla="*/ 0 w 714400"/>
                <a:gd name="connsiteY3" fmla="*/ 212800 h 425600"/>
                <a:gd name="connsiteX4" fmla="*/ 178600 w 714400"/>
                <a:gd name="connsiteY4" fmla="*/ 0 h 425600"/>
                <a:gd name="connsiteX5" fmla="*/ 535800 w 714400"/>
                <a:gd name="connsiteY5" fmla="*/ 0 h 425600"/>
                <a:gd name="connsiteX6" fmla="*/ 178600 w 714400"/>
                <a:gd name="connsiteY6" fmla="*/ 425600 h 425600"/>
                <a:gd name="connsiteX7" fmla="*/ 535800 w 714400"/>
                <a:gd name="connsiteY7" fmla="*/ 425600 h 4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714400" h="425600">
                  <a:moveTo>
                    <a:pt x="714400" y="425600"/>
                  </a:moveTo>
                  <a:cubicBezTo>
                    <a:pt x="714400" y="425600"/>
                    <a:pt x="714400" y="425600"/>
                    <a:pt x="714400" y="425600"/>
                  </a:cubicBezTo>
                  <a:lnTo>
                    <a:pt x="714400" y="0"/>
                  </a:lnTo>
                  <a:cubicBezTo>
                    <a:pt x="714400" y="0"/>
                    <a:pt x="714400" y="0"/>
                    <a:pt x="714400" y="0"/>
                  </a:cubicBezTo>
                  <a:lnTo>
                    <a:pt x="0" y="0"/>
                  </a:lnTo>
                  <a:cubicBezTo>
                    <a:pt x="0" y="0"/>
                    <a:pt x="0" y="0"/>
                    <a:pt x="0" y="0"/>
                  </a:cubicBezTo>
                  <a:lnTo>
                    <a:pt x="0" y="425600"/>
                  </a:lnTo>
                  <a:cubicBezTo>
                    <a:pt x="0" y="425600"/>
                    <a:pt x="0" y="425600"/>
                    <a:pt x="0" y="425600"/>
                  </a:cubicBezTo>
                  <a:lnTo>
                    <a:pt x="714400" y="425600"/>
                  </a:lnTo>
                  <a:close/>
                </a:path>
              </a:pathLst>
            </a:custGeom>
            <a:solidFill>
              <a:srgbClr val="FFFFFF"/>
            </a:solidFill>
            <a:ln w="7600" cap="flat">
              <a:solidFill>
                <a:srgbClr val="000000"/>
              </a:solidFill>
              <a:bevel/>
            </a:ln>
          </p:spPr>
        </p:sp>
        <p:sp>
          <p:nvSpPr>
            <p:cNvPr id="82" name="选择点"/>
            <p:cNvSpPr/>
            <p:nvPr/>
          </p:nvSpPr>
          <p:spPr>
            <a:xfrm>
              <a:off x="5924800" y="24733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1"/>
                    <a:pt x="321550" y="0"/>
                    <a:pt x="718200" y="0"/>
                  </a:cubicBezTo>
                  <a:cubicBezTo>
                    <a:pt x="1114850" y="0"/>
                    <a:pt x="1436400" y="103781"/>
                    <a:pt x="1436400" y="231800"/>
                  </a:cubicBezTo>
                  <a:cubicBezTo>
                    <a:pt x="1436400" y="359819"/>
                    <a:pt x="1114850" y="463600"/>
                    <a:pt x="718200" y="463600"/>
                  </a:cubicBezTo>
                  <a:cubicBezTo>
                    <a:pt x="321550" y="463600"/>
                    <a:pt x="0" y="359819"/>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request FSM2</a:t>
              </a:r>
              <a:endParaRPr>
                <a:solidFill>
                  <a:srgbClr val="404557"/>
                </a:solidFill>
                <a:latin typeface="微软雅黑" panose="020B0503020204020204" pitchFamily="34" charset="-122"/>
                <a:ea typeface="微软雅黑" panose="020B0503020204020204" pitchFamily="34" charset="-122"/>
              </a:endParaRPr>
            </a:p>
          </p:txBody>
        </p:sp>
        <p:sp>
          <p:nvSpPr>
            <p:cNvPr id="83" name="层/导出连接"/>
            <p:cNvSpPr/>
            <p:nvPr/>
          </p:nvSpPr>
          <p:spPr>
            <a:xfrm>
              <a:off x="2846800" y="3791900"/>
              <a:ext cx="304000" cy="0"/>
            </a:xfrm>
            <a:custGeom>
              <a:avLst/>
              <a:gdLst/>
              <a:ahLst/>
              <a:cxnLst/>
              <a:rect l="0" t="0" r="0" b="0"/>
              <a:pathLst>
                <a:path w="304000" fill="none">
                  <a:moveTo>
                    <a:pt x="0" y="0"/>
                  </a:moveTo>
                  <a:lnTo>
                    <a:pt x="-304000" y="0"/>
                  </a:lnTo>
                </a:path>
              </a:pathLst>
            </a:custGeom>
            <a:gradFill>
              <a:gsLst>
                <a:gs pos="0">
                  <a:srgbClr val="EDF0F7"/>
                </a:gs>
                <a:gs pos="100000">
                  <a:srgbClr val="A6BED0"/>
                </a:gs>
              </a:gsLst>
              <a:lin ang="5400000" scaled="0"/>
            </a:gradFill>
            <a:ln w="10133" cap="flat">
              <a:solidFill>
                <a:srgbClr val="000000"/>
              </a:solidFill>
              <a:bevel/>
              <a:headEnd type="triangle" w="med" len="med"/>
            </a:ln>
          </p:spPr>
        </p:sp>
        <p:cxnSp>
          <p:nvCxnSpPr>
            <p:cNvPr id="84" name="Line"/>
            <p:cNvCxnSpPr>
              <a:stCxn id="81" idx="4"/>
              <a:endCxn id="81" idx="6"/>
            </p:cNvCxnSpPr>
            <p:nvPr/>
          </p:nvCxnSpPr>
          <p:spPr>
            <a:xfrm rot="5400000">
              <a:off x="2812600" y="3791900"/>
              <a:ext cx="425600" cy="0"/>
            </a:xfrm>
            <a:prstGeom prst="line">
              <a:avLst/>
            </a:prstGeom>
            <a:ln w="7600" cap="flat">
              <a:solidFill>
                <a:srgbClr val="474D61"/>
              </a:solidFill>
              <a:bevel/>
            </a:ln>
          </p:spPr>
        </p:cxnSp>
        <p:cxnSp>
          <p:nvCxnSpPr>
            <p:cNvPr id="85" name="Line"/>
            <p:cNvCxnSpPr>
              <a:stCxn id="81" idx="1"/>
            </p:cNvCxnSpPr>
            <p:nvPr/>
          </p:nvCxnSpPr>
          <p:spPr>
            <a:xfrm rot="5400000">
              <a:off x="3025400" y="3757700"/>
              <a:ext cx="357200" cy="0"/>
            </a:xfrm>
            <a:prstGeom prst="line">
              <a:avLst/>
            </a:prstGeom>
            <a:ln w="7600" cap="flat">
              <a:solidFill>
                <a:srgbClr val="474D61"/>
              </a:solidFill>
              <a:bevel/>
            </a:ln>
          </p:spPr>
        </p:cxnSp>
        <p:sp>
          <p:nvSpPr>
            <p:cNvPr id="86" name="Line"/>
            <p:cNvSpPr/>
            <p:nvPr/>
          </p:nvSpPr>
          <p:spPr>
            <a:xfrm rot="5400000">
              <a:off x="3169800" y="3791900"/>
              <a:ext cx="425600" cy="0"/>
            </a:xfrm>
            <a:custGeom>
              <a:avLst/>
              <a:gdLst/>
              <a:ahLst/>
              <a:cxnLst/>
              <a:rect l="0" t="0" r="0" b="0"/>
              <a:pathLst>
                <a:path w="425600" fill="none">
                  <a:moveTo>
                    <a:pt x="0" y="0"/>
                  </a:moveTo>
                  <a:lnTo>
                    <a:pt x="425600" y="0"/>
                  </a:lnTo>
                </a:path>
              </a:pathLst>
            </a:custGeom>
            <a:noFill/>
            <a:ln w="7600" cap="flat">
              <a:solidFill>
                <a:srgbClr val="474D61"/>
              </a:solidFill>
              <a:bevel/>
            </a:ln>
          </p:spPr>
        </p:sp>
        <p:cxnSp>
          <p:nvCxnSpPr>
            <p:cNvPr id="87" name="Line"/>
            <p:cNvCxnSpPr>
              <a:stCxn id="81" idx="1"/>
              <a:endCxn id="81" idx="0"/>
            </p:cNvCxnSpPr>
            <p:nvPr/>
          </p:nvCxnSpPr>
          <p:spPr>
            <a:xfrm rot="5400000">
              <a:off x="2991200" y="3791900"/>
              <a:ext cx="425600" cy="0"/>
            </a:xfrm>
            <a:prstGeom prst="line">
              <a:avLst/>
            </a:prstGeom>
            <a:ln w="7600" cap="flat">
              <a:solidFill>
                <a:srgbClr val="474D61"/>
              </a:solidFill>
              <a:bevel/>
            </a:ln>
          </p:spPr>
        </p:cxnSp>
        <p:sp>
          <p:nvSpPr>
            <p:cNvPr id="88" name="选择点"/>
            <p:cNvSpPr/>
            <p:nvPr/>
          </p:nvSpPr>
          <p:spPr>
            <a:xfrm>
              <a:off x="5924800" y="47305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0"/>
                    <a:pt x="321550" y="0"/>
                    <a:pt x="718200" y="0"/>
                  </a:cubicBezTo>
                  <a:cubicBezTo>
                    <a:pt x="1114852" y="0"/>
                    <a:pt x="1436400" y="103780"/>
                    <a:pt x="1436400" y="231800"/>
                  </a:cubicBezTo>
                  <a:cubicBezTo>
                    <a:pt x="1436400" y="359820"/>
                    <a:pt x="1114852" y="463600"/>
                    <a:pt x="718200" y="463600"/>
                  </a:cubicBezTo>
                  <a:cubicBezTo>
                    <a:pt x="32155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request FSM5</a:t>
              </a:r>
              <a:endParaRPr>
                <a:solidFill>
                  <a:srgbClr val="404557"/>
                </a:solidFill>
                <a:latin typeface="微软雅黑" panose="020B0503020204020204" pitchFamily="34" charset="-122"/>
                <a:ea typeface="微软雅黑" panose="020B0503020204020204" pitchFamily="34" charset="-122"/>
              </a:endParaRPr>
            </a:p>
          </p:txBody>
        </p:sp>
        <p:sp>
          <p:nvSpPr>
            <p:cNvPr id="89" name="选择点"/>
            <p:cNvSpPr/>
            <p:nvPr/>
          </p:nvSpPr>
          <p:spPr>
            <a:xfrm>
              <a:off x="5924800" y="32143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0"/>
                    <a:pt x="321550" y="0"/>
                    <a:pt x="718200" y="0"/>
                  </a:cubicBezTo>
                  <a:cubicBezTo>
                    <a:pt x="1114852" y="0"/>
                    <a:pt x="1436400" y="103780"/>
                    <a:pt x="1436400" y="231800"/>
                  </a:cubicBezTo>
                  <a:cubicBezTo>
                    <a:pt x="1436400" y="359820"/>
                    <a:pt x="1114852" y="463600"/>
                    <a:pt x="718200" y="463600"/>
                  </a:cubicBezTo>
                  <a:cubicBezTo>
                    <a:pt x="32155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request FSM3</a:t>
              </a:r>
              <a:endParaRPr>
                <a:solidFill>
                  <a:srgbClr val="404557"/>
                </a:solidFill>
                <a:latin typeface="微软雅黑" panose="020B0503020204020204" pitchFamily="34" charset="-122"/>
                <a:ea typeface="微软雅黑" panose="020B0503020204020204" pitchFamily="34" charset="-122"/>
              </a:endParaRPr>
            </a:p>
          </p:txBody>
        </p:sp>
        <p:sp>
          <p:nvSpPr>
            <p:cNvPr id="90" name="选择点"/>
            <p:cNvSpPr/>
            <p:nvPr/>
          </p:nvSpPr>
          <p:spPr>
            <a:xfrm>
              <a:off x="5924800" y="16639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0"/>
                    <a:pt x="321550" y="0"/>
                    <a:pt x="718200" y="0"/>
                  </a:cubicBezTo>
                  <a:cubicBezTo>
                    <a:pt x="1114852" y="0"/>
                    <a:pt x="1436400" y="103780"/>
                    <a:pt x="1436400" y="231800"/>
                  </a:cubicBezTo>
                  <a:cubicBezTo>
                    <a:pt x="1436400" y="359820"/>
                    <a:pt x="1114852" y="463600"/>
                    <a:pt x="718200" y="463600"/>
                  </a:cubicBezTo>
                  <a:cubicBezTo>
                    <a:pt x="32155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request FSM1</a:t>
              </a:r>
              <a:endParaRPr>
                <a:solidFill>
                  <a:srgbClr val="404557"/>
                </a:solidFill>
                <a:latin typeface="微软雅黑" panose="020B0503020204020204" pitchFamily="34" charset="-122"/>
                <a:ea typeface="微软雅黑" panose="020B0503020204020204" pitchFamily="34" charset="-122"/>
              </a:endParaRPr>
            </a:p>
          </p:txBody>
        </p:sp>
        <p:sp>
          <p:nvSpPr>
            <p:cNvPr id="91" name="选择点"/>
            <p:cNvSpPr/>
            <p:nvPr/>
          </p:nvSpPr>
          <p:spPr>
            <a:xfrm>
              <a:off x="5924800" y="40085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0"/>
                    <a:pt x="321550" y="0"/>
                    <a:pt x="718200" y="0"/>
                  </a:cubicBezTo>
                  <a:cubicBezTo>
                    <a:pt x="1114852" y="0"/>
                    <a:pt x="1436400" y="103780"/>
                    <a:pt x="1436400" y="231800"/>
                  </a:cubicBezTo>
                  <a:cubicBezTo>
                    <a:pt x="1436400" y="359820"/>
                    <a:pt x="1114852" y="463600"/>
                    <a:pt x="718200" y="463600"/>
                  </a:cubicBezTo>
                  <a:cubicBezTo>
                    <a:pt x="32155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request FSM4</a:t>
              </a:r>
              <a:endParaRPr>
                <a:solidFill>
                  <a:srgbClr val="404557"/>
                </a:solidFill>
                <a:latin typeface="微软雅黑" panose="020B0503020204020204" pitchFamily="34" charset="-122"/>
                <a:ea typeface="微软雅黑" panose="020B0503020204020204" pitchFamily="34" charset="-122"/>
              </a:endParaRPr>
            </a:p>
          </p:txBody>
        </p:sp>
        <p:sp>
          <p:nvSpPr>
            <p:cNvPr id="92" name="参与者引用"/>
            <p:cNvSpPr/>
            <p:nvPr/>
          </p:nvSpPr>
          <p:spPr>
            <a:xfrm>
              <a:off x="1782800" y="2822900"/>
              <a:ext cx="760000" cy="425600"/>
            </a:xfrm>
            <a:custGeom>
              <a:avLst/>
              <a:gdLst>
                <a:gd name="connsiteX0" fmla="*/ 380000 w 760000"/>
                <a:gd name="connsiteY0" fmla="*/ 425600 h 425600"/>
                <a:gd name="connsiteX1" fmla="*/ 380000 w 760000"/>
                <a:gd name="connsiteY1" fmla="*/ 0 h 425600"/>
                <a:gd name="connsiteX2" fmla="*/ 760000 w 760000"/>
                <a:gd name="connsiteY2" fmla="*/ 212800 h 425600"/>
                <a:gd name="connsiteX3" fmla="*/ 0 w 760000"/>
                <a:gd name="connsiteY3" fmla="*/ 212800 h 425600"/>
                <a:gd name="connsiteX4" fmla="*/ 380000 w 760000"/>
                <a:gd name="connsiteY4" fmla="*/ 212800 h 425600"/>
                <a:gd name="rtb" fmla="*/ 421800 h 425600"/>
              </a:gdLst>
              <a:ahLst/>
              <a:cxnLst>
                <a:cxn ang="0">
                  <a:pos x="connsiteX0" y="connsiteY0"/>
                </a:cxn>
                <a:cxn ang="0">
                  <a:pos x="connsiteX1" y="connsiteY1"/>
                </a:cxn>
                <a:cxn ang="0">
                  <a:pos x="connsiteX2" y="connsiteY2"/>
                </a:cxn>
                <a:cxn ang="0">
                  <a:pos x="connsiteX3" y="connsiteY3"/>
                </a:cxn>
                <a:cxn ang="0">
                  <a:pos x="connsiteX4" y="connsiteY4"/>
                </a:cxn>
              </a:cxnLst>
              <a:rect l="l" t="t" r="r" b="rtb"/>
              <a:pathLst>
                <a:path w="760000" h="425600">
                  <a:moveTo>
                    <a:pt x="760000" y="425600"/>
                  </a:moveTo>
                  <a:lnTo>
                    <a:pt x="760000" y="0"/>
                  </a:lnTo>
                  <a:lnTo>
                    <a:pt x="0" y="0"/>
                  </a:lnTo>
                  <a:lnTo>
                    <a:pt x="0" y="425600"/>
                  </a:lnTo>
                  <a:lnTo>
                    <a:pt x="760000" y="425600"/>
                  </a:ln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a:solidFill>
                    <a:srgbClr val="404557"/>
                  </a:solidFill>
                  <a:latin typeface="微软雅黑" panose="020B0503020204020204" pitchFamily="34" charset="-122"/>
                  <a:ea typeface="微软雅黑" panose="020B0503020204020204" pitchFamily="34" charset="-122"/>
                </a:rPr>
                <a:t>disk</a:t>
              </a:r>
              <a:endParaRPr>
                <a:solidFill>
                  <a:srgbClr val="404557"/>
                </a:solidFill>
                <a:latin typeface="微软雅黑" panose="020B0503020204020204" pitchFamily="34" charset="-122"/>
                <a:ea typeface="微软雅黑" panose="020B0503020204020204" pitchFamily="34" charset="-122"/>
              </a:endParaRPr>
            </a:p>
          </p:txBody>
        </p:sp>
        <p:sp>
          <p:nvSpPr>
            <p:cNvPr id="93" name="状态"/>
            <p:cNvSpPr/>
            <p:nvPr/>
          </p:nvSpPr>
          <p:spPr>
            <a:xfrm>
              <a:off x="2846800" y="2822900"/>
              <a:ext cx="714400" cy="425600"/>
            </a:xfrm>
            <a:custGeom>
              <a:avLst/>
              <a:gdLst>
                <a:gd name="connsiteX0" fmla="*/ 357200 w 714400"/>
                <a:gd name="connsiteY0" fmla="*/ 425600 h 425600"/>
                <a:gd name="connsiteX1" fmla="*/ 357200 w 714400"/>
                <a:gd name="connsiteY1" fmla="*/ 0 h 425600"/>
                <a:gd name="connsiteX2" fmla="*/ 714400 w 714400"/>
                <a:gd name="connsiteY2" fmla="*/ 212800 h 425600"/>
                <a:gd name="connsiteX3" fmla="*/ 0 w 714400"/>
                <a:gd name="connsiteY3" fmla="*/ 212800 h 425600"/>
                <a:gd name="connsiteX4" fmla="*/ 178600 w 714400"/>
                <a:gd name="connsiteY4" fmla="*/ 0 h 425600"/>
                <a:gd name="connsiteX5" fmla="*/ 535800 w 714400"/>
                <a:gd name="connsiteY5" fmla="*/ 0 h 425600"/>
                <a:gd name="connsiteX6" fmla="*/ 178600 w 714400"/>
                <a:gd name="connsiteY6" fmla="*/ 425600 h 425600"/>
                <a:gd name="connsiteX7" fmla="*/ 535800 w 714400"/>
                <a:gd name="connsiteY7" fmla="*/ 425600 h 4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0" t="0" r="0" b="0"/>
              <a:pathLst>
                <a:path w="714400" h="425600">
                  <a:moveTo>
                    <a:pt x="714400" y="425600"/>
                  </a:moveTo>
                  <a:cubicBezTo>
                    <a:pt x="714400" y="425600"/>
                    <a:pt x="714400" y="425600"/>
                    <a:pt x="714400" y="425600"/>
                  </a:cubicBezTo>
                  <a:lnTo>
                    <a:pt x="714400" y="0"/>
                  </a:lnTo>
                  <a:cubicBezTo>
                    <a:pt x="714400" y="0"/>
                    <a:pt x="714400" y="0"/>
                    <a:pt x="714400" y="0"/>
                  </a:cubicBezTo>
                  <a:lnTo>
                    <a:pt x="0" y="0"/>
                  </a:lnTo>
                  <a:cubicBezTo>
                    <a:pt x="0" y="0"/>
                    <a:pt x="0" y="0"/>
                    <a:pt x="0" y="0"/>
                  </a:cubicBezTo>
                  <a:lnTo>
                    <a:pt x="0" y="425600"/>
                  </a:lnTo>
                  <a:cubicBezTo>
                    <a:pt x="0" y="425600"/>
                    <a:pt x="0" y="425600"/>
                    <a:pt x="0" y="425600"/>
                  </a:cubicBezTo>
                  <a:lnTo>
                    <a:pt x="714400" y="425600"/>
                  </a:lnTo>
                  <a:close/>
                </a:path>
              </a:pathLst>
            </a:custGeom>
            <a:solidFill>
              <a:srgbClr val="FFFFFF"/>
            </a:solidFill>
            <a:ln w="7600" cap="flat">
              <a:solidFill>
                <a:srgbClr val="000000"/>
              </a:solidFill>
              <a:bevel/>
            </a:ln>
          </p:spPr>
        </p:sp>
        <p:sp>
          <p:nvSpPr>
            <p:cNvPr id="94" name="层/导出连接"/>
            <p:cNvSpPr/>
            <p:nvPr/>
          </p:nvSpPr>
          <p:spPr>
            <a:xfrm>
              <a:off x="2846800" y="3035700"/>
              <a:ext cx="304000" cy="0"/>
            </a:xfrm>
            <a:custGeom>
              <a:avLst/>
              <a:gdLst/>
              <a:ahLst/>
              <a:cxnLst/>
              <a:rect l="0" t="0" r="0" b="0"/>
              <a:pathLst>
                <a:path w="304000" fill="none">
                  <a:moveTo>
                    <a:pt x="0" y="0"/>
                  </a:moveTo>
                  <a:lnTo>
                    <a:pt x="-304000" y="0"/>
                  </a:lnTo>
                </a:path>
              </a:pathLst>
            </a:custGeom>
            <a:gradFill>
              <a:gsLst>
                <a:gs pos="0">
                  <a:srgbClr val="EDF0F7"/>
                </a:gs>
                <a:gs pos="100000">
                  <a:srgbClr val="A6BED0"/>
                </a:gs>
              </a:gsLst>
              <a:lin ang="5400000" scaled="0"/>
            </a:gradFill>
            <a:ln w="10133" cap="flat">
              <a:solidFill>
                <a:srgbClr val="000000"/>
              </a:solidFill>
              <a:bevel/>
              <a:headEnd type="triangle" w="med" len="med"/>
            </a:ln>
          </p:spPr>
        </p:sp>
        <p:cxnSp>
          <p:nvCxnSpPr>
            <p:cNvPr id="95" name="Line"/>
            <p:cNvCxnSpPr>
              <a:stCxn id="93" idx="4"/>
              <a:endCxn id="93" idx="6"/>
            </p:cNvCxnSpPr>
            <p:nvPr/>
          </p:nvCxnSpPr>
          <p:spPr>
            <a:xfrm rot="5400000">
              <a:off x="2812600" y="3035700"/>
              <a:ext cx="425600" cy="0"/>
            </a:xfrm>
            <a:prstGeom prst="line">
              <a:avLst/>
            </a:prstGeom>
            <a:ln w="7600" cap="flat">
              <a:solidFill>
                <a:srgbClr val="474D61"/>
              </a:solidFill>
              <a:bevel/>
            </a:ln>
          </p:spPr>
        </p:cxnSp>
        <p:cxnSp>
          <p:nvCxnSpPr>
            <p:cNvPr id="96" name="Line"/>
            <p:cNvCxnSpPr>
              <a:stCxn id="93" idx="1"/>
            </p:cNvCxnSpPr>
            <p:nvPr/>
          </p:nvCxnSpPr>
          <p:spPr>
            <a:xfrm rot="5400000">
              <a:off x="3025400" y="3001500"/>
              <a:ext cx="357200" cy="0"/>
            </a:xfrm>
            <a:prstGeom prst="line">
              <a:avLst/>
            </a:prstGeom>
            <a:ln w="7600" cap="flat">
              <a:solidFill>
                <a:srgbClr val="474D61"/>
              </a:solidFill>
              <a:bevel/>
            </a:ln>
          </p:spPr>
        </p:cxnSp>
        <p:cxnSp>
          <p:nvCxnSpPr>
            <p:cNvPr id="97" name="Line"/>
            <p:cNvCxnSpPr>
              <a:stCxn id="93" idx="5"/>
              <a:endCxn id="93" idx="7"/>
            </p:cNvCxnSpPr>
            <p:nvPr/>
          </p:nvCxnSpPr>
          <p:spPr>
            <a:xfrm rot="5400000">
              <a:off x="3169800" y="3035700"/>
              <a:ext cx="425600" cy="0"/>
            </a:xfrm>
            <a:prstGeom prst="line">
              <a:avLst/>
            </a:prstGeom>
            <a:ln w="7600" cap="flat">
              <a:solidFill>
                <a:srgbClr val="474D61"/>
              </a:solidFill>
              <a:bevel/>
            </a:ln>
          </p:spPr>
        </p:cxnSp>
        <p:cxnSp>
          <p:nvCxnSpPr>
            <p:cNvPr id="98" name="Line"/>
            <p:cNvCxnSpPr>
              <a:stCxn id="93" idx="1"/>
              <a:endCxn id="93" idx="0"/>
            </p:cNvCxnSpPr>
            <p:nvPr/>
          </p:nvCxnSpPr>
          <p:spPr>
            <a:xfrm rot="5400000">
              <a:off x="2991200" y="3035700"/>
              <a:ext cx="425600" cy="0"/>
            </a:xfrm>
            <a:prstGeom prst="line">
              <a:avLst/>
            </a:prstGeom>
            <a:ln w="7600" cap="flat">
              <a:solidFill>
                <a:srgbClr val="474D61"/>
              </a:solidFill>
              <a:bevel/>
            </a:ln>
          </p:spPr>
        </p:cxnSp>
        <p:sp>
          <p:nvSpPr>
            <p:cNvPr id="99" name="选择点"/>
            <p:cNvSpPr/>
            <p:nvPr/>
          </p:nvSpPr>
          <p:spPr>
            <a:xfrm>
              <a:off x="4024800" y="3214300"/>
              <a:ext cx="1436400" cy="463600"/>
            </a:xfrm>
            <a:custGeom>
              <a:avLst/>
              <a:gdLst>
                <a:gd name="connsiteX0" fmla="*/ 0 w 1436400"/>
                <a:gd name="connsiteY0" fmla="*/ 231800 h 463600"/>
                <a:gd name="connsiteX1" fmla="*/ 718200 w 1436400"/>
                <a:gd name="connsiteY1" fmla="*/ 0 h 463600"/>
                <a:gd name="connsiteX2" fmla="*/ 1436400 w 1436400"/>
                <a:gd name="connsiteY2" fmla="*/ 231800 h 463600"/>
                <a:gd name="connsiteX3" fmla="*/ 718200 w 1436400"/>
                <a:gd name="connsiteY3" fmla="*/ 463600 h 463600"/>
              </a:gdLst>
              <a:ahLst/>
              <a:cxnLst>
                <a:cxn ang="0">
                  <a:pos x="connsiteX0" y="connsiteY0"/>
                </a:cxn>
                <a:cxn ang="0">
                  <a:pos x="connsiteX1" y="connsiteY1"/>
                </a:cxn>
                <a:cxn ang="0">
                  <a:pos x="connsiteX2" y="connsiteY2"/>
                </a:cxn>
                <a:cxn ang="0">
                  <a:pos x="connsiteX3" y="connsiteY3"/>
                </a:cxn>
              </a:cxnLst>
              <a:rect l="l" t="t" r="r" b="b"/>
              <a:pathLst>
                <a:path w="1436400" h="463600">
                  <a:moveTo>
                    <a:pt x="0" y="231800"/>
                  </a:moveTo>
                  <a:cubicBezTo>
                    <a:pt x="0" y="103780"/>
                    <a:pt x="321550" y="0"/>
                    <a:pt x="718200" y="0"/>
                  </a:cubicBezTo>
                  <a:cubicBezTo>
                    <a:pt x="1114852" y="0"/>
                    <a:pt x="1436400" y="103780"/>
                    <a:pt x="1436400" y="231800"/>
                  </a:cubicBezTo>
                  <a:cubicBezTo>
                    <a:pt x="1436400" y="359820"/>
                    <a:pt x="1114852" y="463600"/>
                    <a:pt x="718200" y="463600"/>
                  </a:cubicBezTo>
                  <a:cubicBezTo>
                    <a:pt x="321550" y="463600"/>
                    <a:pt x="0" y="359820"/>
                    <a:pt x="0" y="23180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2400" dirty="0">
                  <a:solidFill>
                    <a:srgbClr val="404557"/>
                  </a:solidFill>
                  <a:latin typeface="微软雅黑" panose="020B0503020204020204" pitchFamily="34" charset="-122"/>
                  <a:ea typeface="微软雅黑" panose="020B0503020204020204" pitchFamily="34" charset="-122"/>
                </a:rPr>
                <a:t>scheduler</a:t>
              </a:r>
              <a:endParaRPr sz="2400" dirty="0">
                <a:solidFill>
                  <a:srgbClr val="404557"/>
                </a:solidFill>
                <a:latin typeface="微软雅黑" panose="020B0503020204020204" pitchFamily="34" charset="-122"/>
                <a:ea typeface="微软雅黑" panose="020B0503020204020204" pitchFamily="34" charset="-122"/>
              </a:endParaRPr>
            </a:p>
          </p:txBody>
        </p:sp>
        <p:sp>
          <p:nvSpPr>
            <p:cNvPr id="100" name="转换"/>
            <p:cNvSpPr/>
            <p:nvPr/>
          </p:nvSpPr>
          <p:spPr>
            <a:xfrm>
              <a:off x="3682800" y="2891300"/>
              <a:ext cx="653600" cy="653600"/>
            </a:xfrm>
            <a:custGeom>
              <a:avLst/>
              <a:gdLst/>
              <a:ahLst/>
              <a:cxnLst/>
              <a:rect l="0" t="0" r="0" b="0"/>
              <a:pathLst>
                <a:path w="653600" h="653600" fill="none">
                  <a:moveTo>
                    <a:pt x="342000" y="554800"/>
                  </a:moveTo>
                  <a:cubicBezTo>
                    <a:pt x="318008" y="318101"/>
                    <a:pt x="116262" y="139506"/>
                    <a:pt x="-121600" y="1444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1" name="转换"/>
            <p:cNvSpPr/>
            <p:nvPr/>
          </p:nvSpPr>
          <p:spPr>
            <a:xfrm>
              <a:off x="3614400" y="3579100"/>
              <a:ext cx="653600" cy="653600"/>
            </a:xfrm>
            <a:custGeom>
              <a:avLst/>
              <a:gdLst/>
              <a:ahLst/>
              <a:cxnLst/>
              <a:rect l="0" t="0" r="0" b="0"/>
              <a:pathLst>
                <a:path w="653600" h="653600" fill="none">
                  <a:moveTo>
                    <a:pt x="410400" y="-133000"/>
                  </a:moveTo>
                  <a:cubicBezTo>
                    <a:pt x="369483" y="85398"/>
                    <a:pt x="167801" y="235833"/>
                    <a:pt x="-53200" y="2128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2" name="转换"/>
            <p:cNvSpPr/>
            <p:nvPr/>
          </p:nvSpPr>
          <p:spPr>
            <a:xfrm>
              <a:off x="6023600" y="1713300"/>
              <a:ext cx="653600" cy="653600"/>
            </a:xfrm>
            <a:custGeom>
              <a:avLst/>
              <a:gdLst/>
              <a:ahLst/>
              <a:cxnLst/>
              <a:rect l="0" t="0" r="0" b="0"/>
              <a:pathLst>
                <a:path w="653600" h="653600" fill="none">
                  <a:moveTo>
                    <a:pt x="-1280600" y="1501000"/>
                  </a:moveTo>
                  <a:cubicBezTo>
                    <a:pt x="-709871" y="1254660"/>
                    <a:pt x="-278331" y="767161"/>
                    <a:pt x="-103056" y="17076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3" name="转换"/>
            <p:cNvSpPr/>
            <p:nvPr/>
          </p:nvSpPr>
          <p:spPr>
            <a:xfrm>
              <a:off x="4868400" y="3024300"/>
              <a:ext cx="653600" cy="653600"/>
            </a:xfrm>
            <a:custGeom>
              <a:avLst/>
              <a:gdLst/>
              <a:ahLst/>
              <a:cxnLst/>
              <a:rect l="0" t="0" r="0" b="0"/>
              <a:pathLst>
                <a:path w="653600" h="653600" fill="none">
                  <a:moveTo>
                    <a:pt x="1056400" y="-1128600"/>
                  </a:moveTo>
                  <a:cubicBezTo>
                    <a:pt x="464766" y="-917293"/>
                    <a:pt x="20101" y="-421156"/>
                    <a:pt x="-125400" y="1900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4" name="转换"/>
            <p:cNvSpPr/>
            <p:nvPr/>
          </p:nvSpPr>
          <p:spPr>
            <a:xfrm>
              <a:off x="5415600" y="3119300"/>
              <a:ext cx="653600" cy="653600"/>
            </a:xfrm>
            <a:custGeom>
              <a:avLst/>
              <a:gdLst/>
              <a:ahLst/>
              <a:cxnLst/>
              <a:rect l="0" t="0" r="0" b="0"/>
              <a:pathLst>
                <a:path w="653600" h="653600" fill="none">
                  <a:moveTo>
                    <a:pt x="509200" y="-414200"/>
                  </a:moveTo>
                  <a:cubicBezTo>
                    <a:pt x="164150" y="-411812"/>
                    <a:pt x="-141241" y="-190403"/>
                    <a:pt x="-250800" y="1368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5" name="转换"/>
            <p:cNvSpPr/>
            <p:nvPr/>
          </p:nvSpPr>
          <p:spPr>
            <a:xfrm>
              <a:off x="5301600" y="3119300"/>
              <a:ext cx="653600" cy="653600"/>
            </a:xfrm>
            <a:custGeom>
              <a:avLst/>
              <a:gdLst/>
              <a:ahLst/>
              <a:cxnLst/>
              <a:rect l="0" t="0" r="0" b="0"/>
              <a:pathLst>
                <a:path w="653600" h="653600" fill="none">
                  <a:moveTo>
                    <a:pt x="-136800" y="136800"/>
                  </a:moveTo>
                  <a:cubicBezTo>
                    <a:pt x="192837" y="92035"/>
                    <a:pt x="478157" y="-114823"/>
                    <a:pt x="623200" y="-4142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6" name="转换"/>
            <p:cNvSpPr/>
            <p:nvPr/>
          </p:nvSpPr>
          <p:spPr>
            <a:xfrm>
              <a:off x="5552400" y="3286500"/>
              <a:ext cx="653600" cy="653600"/>
            </a:xfrm>
            <a:custGeom>
              <a:avLst/>
              <a:gdLst/>
              <a:ahLst/>
              <a:cxnLst/>
              <a:rect l="0" t="0" r="0" b="0"/>
              <a:pathLst>
                <a:path w="653600" h="653600" fill="none">
                  <a:moveTo>
                    <a:pt x="372400" y="159600"/>
                  </a:moveTo>
                  <a:cubicBezTo>
                    <a:pt x="227746" y="249538"/>
                    <a:pt x="45658" y="253811"/>
                    <a:pt x="-103056" y="17076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7" name="转换"/>
            <p:cNvSpPr/>
            <p:nvPr/>
          </p:nvSpPr>
          <p:spPr>
            <a:xfrm>
              <a:off x="6023600" y="3286500"/>
              <a:ext cx="653600" cy="653600"/>
            </a:xfrm>
            <a:custGeom>
              <a:avLst/>
              <a:gdLst/>
              <a:ahLst/>
              <a:cxnLst/>
              <a:rect l="0" t="0" r="0" b="0"/>
              <a:pathLst>
                <a:path w="653600" h="653600" fill="none">
                  <a:moveTo>
                    <a:pt x="-562400" y="159600"/>
                  </a:moveTo>
                  <a:cubicBezTo>
                    <a:pt x="-429709" y="43225"/>
                    <a:pt x="-229940" y="48079"/>
                    <a:pt x="-103056" y="17076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8" name="转换"/>
            <p:cNvSpPr/>
            <p:nvPr/>
          </p:nvSpPr>
          <p:spPr>
            <a:xfrm>
              <a:off x="5301600" y="3465100"/>
              <a:ext cx="653600" cy="653600"/>
            </a:xfrm>
            <a:custGeom>
              <a:avLst/>
              <a:gdLst/>
              <a:ahLst/>
              <a:cxnLst/>
              <a:rect l="0" t="0" r="0" b="0"/>
              <a:pathLst>
                <a:path w="653600" h="653600" fill="none">
                  <a:moveTo>
                    <a:pt x="623200" y="775200"/>
                  </a:moveTo>
                  <a:cubicBezTo>
                    <a:pt x="542617" y="434540"/>
                    <a:pt x="246572" y="188152"/>
                    <a:pt x="-103056" y="17076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09" name="转换"/>
            <p:cNvSpPr/>
            <p:nvPr/>
          </p:nvSpPr>
          <p:spPr>
            <a:xfrm>
              <a:off x="6023600" y="4008500"/>
              <a:ext cx="653600" cy="653600"/>
            </a:xfrm>
            <a:custGeom>
              <a:avLst/>
              <a:gdLst/>
              <a:ahLst/>
              <a:cxnLst/>
              <a:rect l="0" t="0" r="0" b="0"/>
              <a:pathLst>
                <a:path w="653600" h="653600" fill="none">
                  <a:moveTo>
                    <a:pt x="-820800" y="-395200"/>
                  </a:moveTo>
                  <a:cubicBezTo>
                    <a:pt x="-700953" y="-78037"/>
                    <a:pt x="-429629" y="157586"/>
                    <a:pt x="-98800" y="2318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10" name="转换"/>
            <p:cNvSpPr/>
            <p:nvPr/>
          </p:nvSpPr>
          <p:spPr>
            <a:xfrm>
              <a:off x="6023600" y="4798900"/>
              <a:ext cx="653600" cy="653600"/>
            </a:xfrm>
            <a:custGeom>
              <a:avLst/>
              <a:gdLst/>
              <a:ahLst/>
              <a:cxnLst/>
              <a:rect l="0" t="0" r="0" b="0"/>
              <a:pathLst>
                <a:path w="653600" h="653600" fill="none">
                  <a:moveTo>
                    <a:pt x="-1280600" y="-1121000"/>
                  </a:moveTo>
                  <a:cubicBezTo>
                    <a:pt x="-1087903" y="-543896"/>
                    <a:pt x="-657904" y="-76566"/>
                    <a:pt x="-98800" y="1634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sp>
          <p:nvSpPr>
            <p:cNvPr id="111" name="转换"/>
            <p:cNvSpPr/>
            <p:nvPr/>
          </p:nvSpPr>
          <p:spPr>
            <a:xfrm>
              <a:off x="4868400" y="3579100"/>
              <a:ext cx="653600" cy="653600"/>
            </a:xfrm>
            <a:custGeom>
              <a:avLst/>
              <a:gdLst/>
              <a:ahLst/>
              <a:cxnLst/>
              <a:rect l="0" t="0" r="0" b="0"/>
              <a:pathLst>
                <a:path w="653600" h="653600" fill="none">
                  <a:moveTo>
                    <a:pt x="1056400" y="1383200"/>
                  </a:moveTo>
                  <a:cubicBezTo>
                    <a:pt x="888822" y="791666"/>
                    <a:pt x="450171" y="314933"/>
                    <a:pt x="-125400" y="98800"/>
                  </a:cubicBezTo>
                </a:path>
              </a:pathLst>
            </a:custGeom>
            <a:gradFill>
              <a:gsLst>
                <a:gs pos="0">
                  <a:srgbClr val="EDF0F7"/>
                </a:gs>
                <a:gs pos="100000">
                  <a:srgbClr val="A6BED0"/>
                </a:gs>
              </a:gsLst>
              <a:lin ang="5400000" scaled="0"/>
            </a:gradFill>
            <a:ln w="7600" cap="flat">
              <a:solidFill>
                <a:srgbClr val="000000"/>
              </a:solidFill>
              <a:bevel/>
              <a:headEnd type="triangle" w="med" len="med"/>
            </a:ln>
          </p:spPr>
        </p:sp>
      </p:grpSp>
      <p:sp>
        <p:nvSpPr>
          <p:cNvPr id="36" name="副标题 2"/>
          <p:cNvSpPr>
            <a:spLocks noGrp="1"/>
          </p:cNvSpPr>
          <p:nvPr>
            <p:ph type="subTitle" idx="1"/>
          </p:nvPr>
        </p:nvSpPr>
        <p:spPr>
          <a:xfrm>
            <a:off x="0" y="6142711"/>
            <a:ext cx="9144000" cy="598657"/>
          </a:xfrm>
        </p:spPr>
        <p:txBody>
          <a:bodyPr>
            <a:normAutofit/>
          </a:bodyPr>
          <a:lstStyle/>
          <a:p>
            <a:r>
              <a:rPr lang="zh-CN" altLang="en-US" sz="1400" dirty="0">
                <a:solidFill>
                  <a:schemeClr val="tx1"/>
                </a:solidFill>
                <a:latin typeface="微软雅黑" panose="020B0503020204020204" pitchFamily="34" charset="-122"/>
                <a:ea typeface="微软雅黑" panose="020B0503020204020204" pitchFamily="34" charset="-122"/>
              </a:rPr>
              <a:t>事件驱动</a:t>
            </a:r>
            <a:r>
              <a:rPr lang="zh-CN" altLang="en-US" sz="1400" dirty="0" smtClean="0">
                <a:solidFill>
                  <a:schemeClr val="tx1"/>
                </a:solidFill>
                <a:latin typeface="微软雅黑" panose="020B0503020204020204" pitchFamily="34" charset="-122"/>
                <a:ea typeface="微软雅黑" panose="020B0503020204020204" pitchFamily="34" charset="-122"/>
              </a:rPr>
              <a:t>模型</a:t>
            </a:r>
            <a:r>
              <a:rPr lang="en-US" altLang="zh-CN" sz="1400" dirty="0" smtClean="0">
                <a:solidFill>
                  <a:schemeClr val="tx1"/>
                </a:solidFill>
                <a:latin typeface="微软雅黑" panose="020B0503020204020204" pitchFamily="34" charset="-122"/>
                <a:ea typeface="微软雅黑" panose="020B0503020204020204" pitchFamily="34" charset="-122"/>
              </a:rPr>
              <a:t>-</a:t>
            </a:r>
            <a:r>
              <a:rPr lang="zh-CN" altLang="en-US" sz="1400" dirty="0" smtClean="0">
                <a:solidFill>
                  <a:schemeClr val="tx1"/>
                </a:solidFill>
                <a:latin typeface="微软雅黑" panose="020B0503020204020204" pitchFamily="34" charset="-122"/>
                <a:ea typeface="微软雅黑" panose="020B0503020204020204" pitchFamily="34" charset="-122"/>
              </a:rPr>
              <a:t>架构图</a:t>
            </a:r>
            <a:endParaRPr lang="en-US" altLang="zh-CN" sz="1400" dirty="0">
              <a:solidFill>
                <a:schemeClr val="tx1"/>
              </a:solidFill>
              <a:latin typeface="微软雅黑" panose="020B0503020204020204" pitchFamily="34" charset="-122"/>
              <a:ea typeface="微软雅黑" panose="020B0503020204020204" pitchFamily="34" charset="-122"/>
            </a:endParaRPr>
          </a:p>
          <a:p>
            <a:endParaRPr lang="en-US" altLang="zh-CN" dirty="0" smtClean="0">
              <a:solidFill>
                <a:schemeClr val="tx1"/>
              </a:solidFill>
              <a:latin typeface="微软雅黑" panose="020B0503020204020204" pitchFamily="34" charset="-122"/>
              <a:ea typeface="微软雅黑" panose="020B0503020204020204" pitchFamily="34" charset="-122"/>
            </a:endParaRPr>
          </a:p>
        </p:txBody>
      </p:sp>
      <p:sp>
        <p:nvSpPr>
          <p:cNvPr id="37" name="副标题 2"/>
          <p:cNvSpPr txBox="1"/>
          <p:nvPr/>
        </p:nvSpPr>
        <p:spPr>
          <a:xfrm>
            <a:off x="0" y="980728"/>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架构图</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42" name="副标题 2"/>
          <p:cNvSpPr txBox="1"/>
          <p:nvPr/>
        </p:nvSpPr>
        <p:spPr>
          <a:xfrm>
            <a:off x="-21684" y="2132856"/>
            <a:ext cx="9144000" cy="460851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endParaRPr lang="en-US" altLang="zh-CN" sz="2000" dirty="0" smtClean="0">
              <a:solidFill>
                <a:schemeClr val="tx1"/>
              </a:solidFill>
              <a:latin typeface="微软雅黑" panose="020B0503020204020204" pitchFamily="34" charset="-122"/>
              <a:ea typeface="微软雅黑" panose="020B0503020204020204" pitchFamily="34" charset="-122"/>
            </a:endParaRPr>
          </a:p>
        </p:txBody>
      </p:sp>
      <p:sp>
        <p:nvSpPr>
          <p:cNvPr id="109" name="副标题 2"/>
          <p:cNvSpPr txBox="1"/>
          <p:nvPr/>
        </p:nvSpPr>
        <p:spPr>
          <a:xfrm>
            <a:off x="0" y="1587769"/>
            <a:ext cx="9144000" cy="515359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endParaRPr lang="zh-CN" altLang="en-US" dirty="0" smtClean="0">
              <a:solidFill>
                <a:schemeClr val="tx1"/>
              </a:solidFill>
              <a:latin typeface="微软雅黑" panose="020B0503020204020204" pitchFamily="34" charset="-122"/>
              <a:ea typeface="微软雅黑" panose="020B0503020204020204" pitchFamily="34" charset="-122"/>
            </a:endParaRPr>
          </a:p>
        </p:txBody>
      </p:sp>
      <p:sp>
        <p:nvSpPr>
          <p:cNvPr id="5" name="副标题 2"/>
          <p:cNvSpPr txBox="1"/>
          <p:nvPr/>
        </p:nvSpPr>
        <p:spPr>
          <a:xfrm>
            <a:off x="152400" y="989112"/>
            <a:ext cx="9144000" cy="59865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有限状态机</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dirty="0" smtClean="0">
                <a:solidFill>
                  <a:schemeClr val="tx1"/>
                </a:solidFill>
                <a:latin typeface="微软雅黑" panose="020B0503020204020204" pitchFamily="34" charset="-122"/>
                <a:ea typeface="微软雅黑" panose="020B0503020204020204" pitchFamily="34" charset="-122"/>
              </a:rPr>
              <a:t>FSM</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Finite-state M</a:t>
            </a:r>
            <a:r>
              <a:rPr lang="en-US" altLang="zh-CN" sz="2000" dirty="0" smtClean="0">
                <a:solidFill>
                  <a:schemeClr val="tx1"/>
                </a:solidFill>
                <a:latin typeface="微软雅黑" panose="020B0503020204020204" pitchFamily="34" charset="-122"/>
                <a:ea typeface="微软雅黑" panose="020B0503020204020204" pitchFamily="34" charset="-122"/>
              </a:rPr>
              <a:t>achine</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en-US" altLang="zh-CN" sz="2000" dirty="0" smtClean="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2123728" y="2132856"/>
            <a:ext cx="1944216" cy="1368152"/>
          </a:xfrm>
          <a:prstGeom prst="rect">
            <a:avLst/>
          </a:prstGeom>
          <a:solidFill>
            <a:srgbClr val="009ED6"/>
          </a:solidFill>
          <a:ln>
            <a:noFill/>
          </a:ln>
          <a:effectLst>
            <a:outerShdw blurRad="40000" dist="20000" dir="5400000" rotWithShape="0">
              <a:srgbClr val="000000">
                <a:alpha val="38000"/>
              </a:srgbClr>
            </a:outerShdw>
            <a:reflection blurRad="6350" stA="52000" endA="300" endPos="35000" dir="5400000" sy="-100000" algn="bl" rotWithShape="0"/>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dirty="0">
                <a:solidFill>
                  <a:schemeClr val="bg1"/>
                </a:solidFill>
                <a:latin typeface="微软雅黑" panose="020B0503020204020204" pitchFamily="34" charset="-122"/>
                <a:ea typeface="微软雅黑" panose="020B0503020204020204" pitchFamily="34" charset="-122"/>
              </a:rPr>
              <a:t>现态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5724128" y="2132856"/>
            <a:ext cx="1944216" cy="1368152"/>
          </a:xfrm>
          <a:prstGeom prst="rect">
            <a:avLst/>
          </a:prstGeom>
          <a:solidFill>
            <a:srgbClr val="009ED6"/>
          </a:solidFill>
          <a:ln>
            <a:noFill/>
          </a:ln>
          <a:effectLst>
            <a:outerShdw blurRad="40000" dist="20000" dir="5400000" rotWithShape="0">
              <a:srgbClr val="000000">
                <a:alpha val="38000"/>
              </a:srgbClr>
            </a:outerShdw>
            <a:reflection blurRad="6350" stA="52000" endA="300" endPos="35000" dir="5400000" sy="-100000" algn="bl" rotWithShape="0"/>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dirty="0" smtClean="0">
                <a:solidFill>
                  <a:schemeClr val="bg1"/>
                </a:solidFill>
                <a:latin typeface="微软雅黑" panose="020B0503020204020204" pitchFamily="34" charset="-122"/>
                <a:ea typeface="微软雅黑" panose="020B0503020204020204" pitchFamily="34" charset="-122"/>
              </a:rPr>
              <a:t>事件</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2129787" y="4164568"/>
            <a:ext cx="1944216" cy="1368152"/>
          </a:xfrm>
          <a:prstGeom prst="rect">
            <a:avLst/>
          </a:prstGeom>
          <a:solidFill>
            <a:srgbClr val="009ED6"/>
          </a:solidFill>
          <a:ln>
            <a:noFill/>
          </a:ln>
          <a:effectLst>
            <a:outerShdw blurRad="40000" dist="20000" dir="5400000" rotWithShape="0">
              <a:srgbClr val="000000">
                <a:alpha val="38000"/>
              </a:srgbClr>
            </a:outerShdw>
            <a:reflection blurRad="6350" stA="52000" endA="300" endPos="35000" dir="5400000" sy="-100000" algn="bl" rotWithShape="0"/>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dirty="0">
                <a:solidFill>
                  <a:schemeClr val="bg1"/>
                </a:solidFill>
                <a:latin typeface="微软雅黑" panose="020B0503020204020204" pitchFamily="34" charset="-122"/>
                <a:ea typeface="微软雅黑" panose="020B0503020204020204" pitchFamily="34" charset="-122"/>
              </a:rPr>
              <a:t>动作</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5724128" y="4164568"/>
            <a:ext cx="1944216" cy="1368152"/>
          </a:xfrm>
          <a:prstGeom prst="rect">
            <a:avLst/>
          </a:prstGeom>
          <a:solidFill>
            <a:srgbClr val="009ED6"/>
          </a:solidFill>
          <a:ln>
            <a:noFill/>
          </a:ln>
          <a:effectLst>
            <a:outerShdw blurRad="40000" dist="20000" dir="5400000" rotWithShape="0">
              <a:srgbClr val="000000">
                <a:alpha val="38000"/>
              </a:srgbClr>
            </a:outerShdw>
            <a:reflection blurRad="6350" stA="52000" endA="300" endPos="35000" dir="5400000" sy="-100000" algn="bl" rotWithShape="0"/>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dirty="0" smtClean="0">
                <a:solidFill>
                  <a:schemeClr val="bg1"/>
                </a:solidFill>
                <a:latin typeface="微软雅黑" panose="020B0503020204020204" pitchFamily="34" charset="-122"/>
                <a:ea typeface="微软雅黑" panose="020B0503020204020204" pitchFamily="34" charset="-122"/>
              </a:rPr>
              <a:t>次态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42" name="副标题 2"/>
          <p:cNvSpPr txBox="1"/>
          <p:nvPr/>
        </p:nvSpPr>
        <p:spPr>
          <a:xfrm>
            <a:off x="0" y="6142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zh-CN" altLang="en-US" sz="1600" dirty="0" smtClean="0">
                <a:solidFill>
                  <a:schemeClr val="tx1"/>
                </a:solidFill>
                <a:latin typeface="微软雅黑" panose="020B0503020204020204" pitchFamily="34" charset="-122"/>
                <a:ea typeface="微软雅黑" panose="020B0503020204020204" pitchFamily="34" charset="-122"/>
              </a:rPr>
              <a:t>静态页面请求流转图</a:t>
            </a:r>
            <a:endParaRPr lang="en-US" altLang="zh-CN" sz="1600" dirty="0" smtClean="0">
              <a:solidFill>
                <a:schemeClr val="tx1"/>
              </a:solidFill>
              <a:latin typeface="微软雅黑" panose="020B0503020204020204" pitchFamily="34" charset="-122"/>
              <a:ea typeface="微软雅黑" panose="020B0503020204020204" pitchFamily="34" charset="-122"/>
            </a:endParaRPr>
          </a:p>
        </p:txBody>
      </p:sp>
      <p:grpSp>
        <p:nvGrpSpPr>
          <p:cNvPr id="43" name="Group151"/>
          <p:cNvGrpSpPr/>
          <p:nvPr/>
        </p:nvGrpSpPr>
        <p:grpSpPr>
          <a:xfrm>
            <a:off x="611560" y="2280621"/>
            <a:ext cx="7588413" cy="2876571"/>
            <a:chOff x="1330892" y="2816031"/>
            <a:chExt cx="5768966" cy="1572615"/>
          </a:xfrm>
        </p:grpSpPr>
        <p:grpSp>
          <p:nvGrpSpPr>
            <p:cNvPr id="44" name="起始状态"/>
            <p:cNvGrpSpPr/>
            <p:nvPr/>
          </p:nvGrpSpPr>
          <p:grpSpPr>
            <a:xfrm>
              <a:off x="1353108" y="2887354"/>
              <a:ext cx="418000" cy="418000"/>
              <a:chOff x="1353108" y="2887354"/>
              <a:chExt cx="418000" cy="418000"/>
            </a:xfrm>
          </p:grpSpPr>
          <p:sp>
            <p:nvSpPr>
              <p:cNvPr id="106" name="任意多边形 105"/>
              <p:cNvSpPr/>
              <p:nvPr/>
            </p:nvSpPr>
            <p:spPr>
              <a:xfrm>
                <a:off x="1353108" y="2887354"/>
                <a:ext cx="418000" cy="418000"/>
              </a:xfrm>
              <a:custGeom>
                <a:avLst/>
                <a:gdLst/>
                <a:ahLst/>
                <a:cxnLst/>
                <a:rect l="0" t="0" r="0" b="0"/>
                <a:pathLst>
                  <a:path w="418000" h="418000">
                    <a:moveTo>
                      <a:pt x="0" y="209000"/>
                    </a:moveTo>
                    <a:cubicBezTo>
                      <a:pt x="0" y="93572"/>
                      <a:pt x="93573" y="0"/>
                      <a:pt x="209000" y="0"/>
                    </a:cubicBezTo>
                    <a:cubicBezTo>
                      <a:pt x="324427" y="0"/>
                      <a:pt x="418000" y="93572"/>
                      <a:pt x="418000" y="209000"/>
                    </a:cubicBezTo>
                    <a:cubicBezTo>
                      <a:pt x="418000" y="324428"/>
                      <a:pt x="324427" y="418000"/>
                      <a:pt x="209000" y="418000"/>
                    </a:cubicBezTo>
                    <a:cubicBezTo>
                      <a:pt x="93573" y="418000"/>
                      <a:pt x="0" y="324428"/>
                      <a:pt x="0" y="209000"/>
                    </a:cubicBezTo>
                    <a:close/>
                  </a:path>
                </a:pathLst>
              </a:custGeom>
              <a:solidFill>
                <a:srgbClr val="E8EFF8"/>
              </a:solidFill>
              <a:ln w="7600" cap="flat">
                <a:solidFill>
                  <a:srgbClr val="83B3E3"/>
                </a:solidFill>
                <a:bevel/>
              </a:ln>
            </p:spPr>
          </p:sp>
          <p:sp>
            <p:nvSpPr>
              <p:cNvPr id="107" name="任意多边形 106"/>
              <p:cNvSpPr/>
              <p:nvPr/>
            </p:nvSpPr>
            <p:spPr>
              <a:xfrm>
                <a:off x="1394908" y="2929154"/>
                <a:ext cx="334400" cy="334400"/>
              </a:xfrm>
              <a:custGeom>
                <a:avLst/>
                <a:gdLst/>
                <a:ahLst/>
                <a:cxnLst/>
                <a:rect l="0" t="0" r="0" b="0"/>
                <a:pathLst>
                  <a:path w="334400" h="334400">
                    <a:moveTo>
                      <a:pt x="0" y="167200"/>
                    </a:moveTo>
                    <a:cubicBezTo>
                      <a:pt x="0" y="74858"/>
                      <a:pt x="74858" y="0"/>
                      <a:pt x="167200" y="0"/>
                    </a:cubicBezTo>
                    <a:cubicBezTo>
                      <a:pt x="259542" y="0"/>
                      <a:pt x="334400" y="74858"/>
                      <a:pt x="334400" y="167200"/>
                    </a:cubicBezTo>
                    <a:cubicBezTo>
                      <a:pt x="334400" y="259542"/>
                      <a:pt x="259542" y="334400"/>
                      <a:pt x="167200" y="334400"/>
                    </a:cubicBezTo>
                    <a:cubicBezTo>
                      <a:pt x="74858" y="334400"/>
                      <a:pt x="0" y="259542"/>
                      <a:pt x="0" y="167200"/>
                    </a:cubicBezTo>
                    <a:close/>
                  </a:path>
                </a:pathLst>
              </a:custGeom>
              <a:solidFill>
                <a:srgbClr val="E8EFF8"/>
              </a:solidFill>
              <a:ln w="7600" cap="flat">
                <a:solidFill>
                  <a:srgbClr val="83B3E3"/>
                </a:solidFill>
                <a:bevel/>
              </a:ln>
            </p:spPr>
          </p:sp>
          <p:sp>
            <p:nvSpPr>
              <p:cNvPr id="108" name="Text 152"/>
              <p:cNvSpPr txBox="1"/>
              <p:nvPr/>
            </p:nvSpPr>
            <p:spPr>
              <a:xfrm>
                <a:off x="1353108" y="2887354"/>
                <a:ext cx="418000" cy="418000"/>
              </a:xfrm>
              <a:prstGeom prst="rect">
                <a:avLst/>
              </a:prstGeom>
              <a:noFill/>
            </p:spPr>
            <p:txBody>
              <a:bodyPr wrap="square" lIns="36000" tIns="0" rIns="36000" bIns="0" rtlCol="0" anchor="ctr"/>
              <a:lstStyle/>
              <a:p>
                <a:pPr algn="ctr">
                  <a:lnSpc>
                    <a:spcPct val="100000"/>
                  </a:lnSpc>
                </a:pPr>
                <a:r>
                  <a:rPr sz="1400" dirty="0" err="1">
                    <a:solidFill>
                      <a:srgbClr val="1F6391"/>
                    </a:solidFill>
                    <a:latin typeface="微软雅黑" panose="020B0503020204020204" pitchFamily="34" charset="-122"/>
                  </a:rPr>
                  <a:t>开始</a:t>
                </a:r>
                <a:endParaRPr sz="1400" dirty="0">
                  <a:solidFill>
                    <a:srgbClr val="1F6391"/>
                  </a:solidFill>
                  <a:latin typeface="微软雅黑" panose="020B0503020204020204" pitchFamily="34" charset="-122"/>
                </a:endParaRPr>
              </a:p>
            </p:txBody>
          </p:sp>
        </p:grpSp>
        <p:grpSp>
          <p:nvGrpSpPr>
            <p:cNvPr id="45" name="椭圆形过程"/>
            <p:cNvGrpSpPr/>
            <p:nvPr/>
          </p:nvGrpSpPr>
          <p:grpSpPr>
            <a:xfrm>
              <a:off x="2520707" y="2841170"/>
              <a:ext cx="1030800" cy="502184"/>
              <a:chOff x="2520707" y="2841170"/>
              <a:chExt cx="1030800" cy="502184"/>
            </a:xfrm>
          </p:grpSpPr>
          <p:sp>
            <p:nvSpPr>
              <p:cNvPr id="103" name="任意多边形 102"/>
              <p:cNvSpPr/>
              <p:nvPr/>
            </p:nvSpPr>
            <p:spPr>
              <a:xfrm>
                <a:off x="2520707" y="2841170"/>
                <a:ext cx="1030800" cy="502184"/>
              </a:xfrm>
              <a:custGeom>
                <a:avLst/>
                <a:gdLst/>
                <a:ahLst/>
                <a:cxnLst/>
                <a:rect l="0" t="0" r="0" b="0"/>
                <a:pathLst>
                  <a:path w="1030800" h="502184" fill="none">
                    <a:moveTo>
                      <a:pt x="515400" y="251092"/>
                    </a:moveTo>
                    <a:moveTo>
                      <a:pt x="515400" y="251092"/>
                    </a:moveTo>
                    <a:moveTo>
                      <a:pt x="515400" y="251092"/>
                    </a:moveTo>
                    <a:moveTo>
                      <a:pt x="515400" y="251092"/>
                    </a:moveTo>
                  </a:path>
                </a:pathLst>
              </a:custGeom>
              <a:solidFill>
                <a:srgbClr val="3498DB"/>
              </a:solidFill>
              <a:ln w="7600" cap="flat">
                <a:solidFill>
                  <a:srgbClr val="3498DB"/>
                </a:solidFill>
                <a:bevel/>
              </a:ln>
            </p:spPr>
          </p:sp>
          <p:sp>
            <p:nvSpPr>
              <p:cNvPr id="104" name="Ellipse"/>
              <p:cNvSpPr/>
              <p:nvPr/>
            </p:nvSpPr>
            <p:spPr>
              <a:xfrm>
                <a:off x="2520707" y="2841170"/>
                <a:ext cx="1030800" cy="502184"/>
              </a:xfrm>
              <a:custGeom>
                <a:avLst/>
                <a:gdLst/>
                <a:ahLst/>
                <a:cxnLst/>
                <a:rect l="0" t="0" r="0" b="0"/>
                <a:pathLst>
                  <a:path w="1030800" h="502184">
                    <a:moveTo>
                      <a:pt x="0" y="251092"/>
                    </a:moveTo>
                    <a:cubicBezTo>
                      <a:pt x="0" y="112418"/>
                      <a:pt x="230752" y="0"/>
                      <a:pt x="515400" y="0"/>
                    </a:cubicBezTo>
                    <a:cubicBezTo>
                      <a:pt x="800047" y="0"/>
                      <a:pt x="1030800" y="112418"/>
                      <a:pt x="1030800" y="251092"/>
                    </a:cubicBezTo>
                    <a:cubicBezTo>
                      <a:pt x="1030800" y="389767"/>
                      <a:pt x="800047" y="502184"/>
                      <a:pt x="515400" y="502184"/>
                    </a:cubicBezTo>
                    <a:cubicBezTo>
                      <a:pt x="230752" y="502184"/>
                      <a:pt x="0" y="389767"/>
                      <a:pt x="0" y="251092"/>
                    </a:cubicBezTo>
                    <a:close/>
                  </a:path>
                </a:pathLst>
              </a:custGeom>
              <a:solidFill>
                <a:srgbClr val="3498DB"/>
              </a:solidFill>
              <a:ln w="7600" cap="flat">
                <a:solidFill>
                  <a:srgbClr val="3498DB"/>
                </a:solidFill>
                <a:bevel/>
              </a:ln>
            </p:spPr>
          </p:sp>
          <p:sp>
            <p:nvSpPr>
              <p:cNvPr id="105" name="Text 153"/>
              <p:cNvSpPr txBox="1"/>
              <p:nvPr/>
            </p:nvSpPr>
            <p:spPr>
              <a:xfrm>
                <a:off x="2520707" y="2841170"/>
                <a:ext cx="1030800" cy="502184"/>
              </a:xfrm>
              <a:prstGeom prst="rect">
                <a:avLst/>
              </a:prstGeom>
              <a:noFill/>
            </p:spPr>
            <p:txBody>
              <a:bodyPr wrap="square" lIns="36000" tIns="0" rIns="36000" bIns="0" rtlCol="0" anchor="ctr"/>
              <a:lstStyle/>
              <a:p>
                <a:pPr algn="ctr">
                  <a:lnSpc>
                    <a:spcPct val="100000"/>
                  </a:lnSpc>
                </a:pPr>
                <a:r>
                  <a:rPr sz="1400" dirty="0">
                    <a:solidFill>
                      <a:srgbClr val="FFFFFF"/>
                    </a:solidFill>
                    <a:latin typeface="微软雅黑" panose="020B0503020204020204" pitchFamily="34" charset="-122"/>
                  </a:rPr>
                  <a:t>accumulate</a:t>
                </a:r>
                <a:endParaRPr sz="1400" dirty="0">
                  <a:solidFill>
                    <a:srgbClr val="FFFFFF"/>
                  </a:solidFill>
                  <a:latin typeface="微软雅黑" panose="020B0503020204020204" pitchFamily="34" charset="-122"/>
                </a:endParaRPr>
              </a:p>
              <a:p>
                <a:pPr algn="ctr">
                  <a:lnSpc>
                    <a:spcPct val="100000"/>
                  </a:lnSpc>
                </a:pPr>
                <a:r>
                  <a:rPr sz="1400" dirty="0">
                    <a:solidFill>
                      <a:srgbClr val="FFFFFF"/>
                    </a:solidFill>
                    <a:latin typeface="微软雅黑" panose="020B0503020204020204" pitchFamily="34" charset="-122"/>
                  </a:rPr>
                  <a:t>request</a:t>
                </a:r>
                <a:endParaRPr sz="1400" dirty="0">
                  <a:solidFill>
                    <a:srgbClr val="FFFFFF"/>
                  </a:solidFill>
                  <a:latin typeface="微软雅黑" panose="020B0503020204020204" pitchFamily="34" charset="-122"/>
                </a:endParaRPr>
              </a:p>
            </p:txBody>
          </p:sp>
        </p:grpSp>
        <p:grpSp>
          <p:nvGrpSpPr>
            <p:cNvPr id="46" name="终止状态"/>
            <p:cNvGrpSpPr/>
            <p:nvPr/>
          </p:nvGrpSpPr>
          <p:grpSpPr>
            <a:xfrm>
              <a:off x="1330892" y="3884123"/>
              <a:ext cx="440216" cy="440216"/>
              <a:chOff x="1330892" y="3884123"/>
              <a:chExt cx="440216" cy="440216"/>
            </a:xfrm>
          </p:grpSpPr>
          <p:sp>
            <p:nvSpPr>
              <p:cNvPr id="100" name="任意多边形 99"/>
              <p:cNvSpPr/>
              <p:nvPr/>
            </p:nvSpPr>
            <p:spPr>
              <a:xfrm>
                <a:off x="1330892" y="3884123"/>
                <a:ext cx="440216" cy="440216"/>
              </a:xfrm>
              <a:custGeom>
                <a:avLst/>
                <a:gdLst/>
                <a:ahLst/>
                <a:cxnLst/>
                <a:rect l="0" t="0" r="0" b="0"/>
                <a:pathLst>
                  <a:path w="440216" h="440216">
                    <a:moveTo>
                      <a:pt x="0" y="220108"/>
                    </a:moveTo>
                    <a:cubicBezTo>
                      <a:pt x="0" y="98545"/>
                      <a:pt x="98546" y="0"/>
                      <a:pt x="220108" y="0"/>
                    </a:cubicBezTo>
                    <a:cubicBezTo>
                      <a:pt x="341670" y="0"/>
                      <a:pt x="440216" y="98545"/>
                      <a:pt x="440216" y="220108"/>
                    </a:cubicBezTo>
                    <a:cubicBezTo>
                      <a:pt x="440216" y="341670"/>
                      <a:pt x="341670" y="440216"/>
                      <a:pt x="220108" y="440216"/>
                    </a:cubicBezTo>
                    <a:cubicBezTo>
                      <a:pt x="98546" y="440216"/>
                      <a:pt x="0" y="341670"/>
                      <a:pt x="0" y="220108"/>
                    </a:cubicBezTo>
                    <a:close/>
                  </a:path>
                </a:pathLst>
              </a:custGeom>
              <a:solidFill>
                <a:srgbClr val="000000"/>
              </a:solidFill>
              <a:ln w="7600" cap="flat">
                <a:solidFill>
                  <a:srgbClr val="000000"/>
                </a:solidFill>
                <a:bevel/>
              </a:ln>
            </p:spPr>
          </p:sp>
          <p:sp>
            <p:nvSpPr>
              <p:cNvPr id="101" name="任意多边形 100"/>
              <p:cNvSpPr/>
              <p:nvPr/>
            </p:nvSpPr>
            <p:spPr>
              <a:xfrm>
                <a:off x="1374914" y="3928144"/>
                <a:ext cx="352172" cy="352172"/>
              </a:xfrm>
              <a:custGeom>
                <a:avLst/>
                <a:gdLst/>
                <a:ahLst/>
                <a:cxnLst/>
                <a:rect l="0" t="0" r="0" b="0"/>
                <a:pathLst>
                  <a:path w="352172" h="352172">
                    <a:moveTo>
                      <a:pt x="0" y="176086"/>
                    </a:moveTo>
                    <a:cubicBezTo>
                      <a:pt x="0" y="78837"/>
                      <a:pt x="78837" y="0"/>
                      <a:pt x="176086" y="0"/>
                    </a:cubicBezTo>
                    <a:cubicBezTo>
                      <a:pt x="273336" y="0"/>
                      <a:pt x="352172" y="78837"/>
                      <a:pt x="352172" y="176086"/>
                    </a:cubicBezTo>
                    <a:cubicBezTo>
                      <a:pt x="352172" y="273336"/>
                      <a:pt x="273336" y="352172"/>
                      <a:pt x="176086" y="352172"/>
                    </a:cubicBezTo>
                    <a:cubicBezTo>
                      <a:pt x="78837" y="352172"/>
                      <a:pt x="0" y="273336"/>
                      <a:pt x="0" y="176086"/>
                    </a:cubicBezTo>
                    <a:close/>
                  </a:path>
                </a:pathLst>
              </a:custGeom>
              <a:solidFill>
                <a:srgbClr val="3498DB"/>
              </a:solidFill>
              <a:ln w="7600" cap="flat">
                <a:solidFill>
                  <a:srgbClr val="000000"/>
                </a:solidFill>
                <a:bevel/>
              </a:ln>
            </p:spPr>
          </p:sp>
          <p:sp>
            <p:nvSpPr>
              <p:cNvPr id="102" name="Text 154"/>
              <p:cNvSpPr txBox="1"/>
              <p:nvPr/>
            </p:nvSpPr>
            <p:spPr>
              <a:xfrm>
                <a:off x="1330892" y="3884123"/>
                <a:ext cx="440216" cy="440216"/>
              </a:xfrm>
              <a:prstGeom prst="rect">
                <a:avLst/>
              </a:prstGeom>
              <a:noFill/>
            </p:spPr>
            <p:txBody>
              <a:bodyPr wrap="square" lIns="36000" tIns="0" rIns="36000" bIns="0" rtlCol="0" anchor="ctr"/>
              <a:lstStyle/>
              <a:p>
                <a:pPr algn="ctr">
                  <a:lnSpc>
                    <a:spcPct val="100000"/>
                  </a:lnSpc>
                </a:pPr>
                <a:r>
                  <a:rPr sz="1400">
                    <a:solidFill>
                      <a:srgbClr val="FFFFFF"/>
                    </a:solidFill>
                    <a:latin typeface="微软雅黑" panose="020B0503020204020204" pitchFamily="34" charset="-122"/>
                  </a:rPr>
                  <a:t>结束</a:t>
                </a:r>
                <a:endParaRPr sz="1400">
                  <a:solidFill>
                    <a:srgbClr val="FFFFFF"/>
                  </a:solidFill>
                  <a:latin typeface="微软雅黑" panose="020B0503020204020204" pitchFamily="34" charset="-122"/>
                </a:endParaRPr>
              </a:p>
            </p:txBody>
          </p:sp>
        </p:grpSp>
        <p:grpSp>
          <p:nvGrpSpPr>
            <p:cNvPr id="47" name="Group 155"/>
            <p:cNvGrpSpPr/>
            <p:nvPr/>
          </p:nvGrpSpPr>
          <p:grpSpPr>
            <a:xfrm rot="-18767">
              <a:off x="1771102" y="3094308"/>
              <a:ext cx="749611" cy="0"/>
              <a:chOff x="1771102" y="3094308"/>
              <a:chExt cx="749611" cy="0"/>
            </a:xfrm>
          </p:grpSpPr>
          <p:sp>
            <p:nvSpPr>
              <p:cNvPr id="98" name="直线连接线"/>
              <p:cNvSpPr/>
              <p:nvPr/>
            </p:nvSpPr>
            <p:spPr>
              <a:xfrm>
                <a:off x="1771102" y="3094308"/>
                <a:ext cx="749611" cy="0"/>
              </a:xfrm>
              <a:custGeom>
                <a:avLst/>
                <a:gdLst/>
                <a:ahLst/>
                <a:cxnLst/>
                <a:rect l="0" t="0" r="0" b="0"/>
                <a:pathLst>
                  <a:path w="749611" fill="none">
                    <a:moveTo>
                      <a:pt x="0" y="0"/>
                    </a:moveTo>
                    <a:lnTo>
                      <a:pt x="749611" y="0"/>
                    </a:lnTo>
                  </a:path>
                </a:pathLst>
              </a:custGeom>
              <a:noFill/>
              <a:ln w="7600" cap="flat">
                <a:solidFill>
                  <a:srgbClr val="236EA1"/>
                </a:solidFill>
                <a:bevel/>
                <a:tailEnd type="stealth" w="med" len="med"/>
              </a:ln>
            </p:spPr>
          </p:sp>
          <p:sp>
            <p:nvSpPr>
              <p:cNvPr id="99" name="Text 156"/>
              <p:cNvSpPr txBox="1"/>
              <p:nvPr/>
            </p:nvSpPr>
            <p:spPr>
              <a:xfrm rot="18767">
                <a:off x="1796307" y="2657308"/>
                <a:ext cx="699200" cy="8740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network</a:t>
                </a:r>
                <a:endParaRPr sz="1400">
                  <a:solidFill>
                    <a:srgbClr val="1F6391"/>
                  </a:solidFill>
                  <a:latin typeface="微软雅黑" panose="020B0503020204020204" pitchFamily="34" charset="-122"/>
                </a:endParaRPr>
              </a:p>
              <a:p>
                <a:pPr algn="ctr">
                  <a:lnSpc>
                    <a:spcPct val="100000"/>
                  </a:lnSpc>
                </a:pPr>
                <a:r>
                  <a:rPr sz="1400">
                    <a:solidFill>
                      <a:srgbClr val="1F6391"/>
                    </a:solidFill>
                    <a:latin typeface="微软雅黑" panose="020B0503020204020204" pitchFamily="34" charset="-122"/>
                  </a:rPr>
                  <a:t>read</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nvGrpSpPr>
            <p:cNvPr id="48" name="Group 157"/>
            <p:cNvGrpSpPr/>
            <p:nvPr/>
          </p:nvGrpSpPr>
          <p:grpSpPr>
            <a:xfrm>
              <a:off x="2726867" y="2891388"/>
              <a:ext cx="618480" cy="0"/>
              <a:chOff x="2726867" y="2891388"/>
              <a:chExt cx="618480" cy="0"/>
            </a:xfrm>
          </p:grpSpPr>
          <p:sp>
            <p:nvSpPr>
              <p:cNvPr id="96" name="从中心到中心"/>
              <p:cNvSpPr/>
              <p:nvPr/>
            </p:nvSpPr>
            <p:spPr>
              <a:xfrm>
                <a:off x="2726867" y="2891388"/>
                <a:ext cx="618480" cy="0"/>
              </a:xfrm>
              <a:custGeom>
                <a:avLst/>
                <a:gdLst/>
                <a:ahLst/>
                <a:cxnLst/>
                <a:rect l="0" t="0" r="0" b="0"/>
                <a:pathLst>
                  <a:path w="618480" fill="none">
                    <a:moveTo>
                      <a:pt x="0" y="0"/>
                    </a:moveTo>
                    <a:cubicBezTo>
                      <a:pt x="154620" y="-308034"/>
                      <a:pt x="463860" y="-308034"/>
                      <a:pt x="618480"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97" name="Text 158"/>
              <p:cNvSpPr txBox="1"/>
              <p:nvPr/>
            </p:nvSpPr>
            <p:spPr>
              <a:xfrm>
                <a:off x="2507907" y="2457954"/>
                <a:ext cx="1056400" cy="250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network read</a:t>
                </a:r>
                <a:endParaRPr sz="1400">
                  <a:solidFill>
                    <a:srgbClr val="1F6391"/>
                  </a:solidFill>
                  <a:latin typeface="微软雅黑" panose="020B0503020204020204" pitchFamily="34" charset="-122"/>
                </a:endParaRPr>
              </a:p>
            </p:txBody>
          </p:sp>
        </p:grpSp>
        <p:grpSp>
          <p:nvGrpSpPr>
            <p:cNvPr id="49" name="Group 159"/>
            <p:cNvGrpSpPr/>
            <p:nvPr/>
          </p:nvGrpSpPr>
          <p:grpSpPr>
            <a:xfrm rot="-13003">
              <a:off x="3551504" y="3090995"/>
              <a:ext cx="669780" cy="0"/>
              <a:chOff x="3551504" y="3090995"/>
              <a:chExt cx="669780" cy="0"/>
            </a:xfrm>
          </p:grpSpPr>
          <p:sp>
            <p:nvSpPr>
              <p:cNvPr id="94" name="直线连接线"/>
              <p:cNvSpPr/>
              <p:nvPr/>
            </p:nvSpPr>
            <p:spPr>
              <a:xfrm>
                <a:off x="3551504" y="3090995"/>
                <a:ext cx="669780" cy="0"/>
              </a:xfrm>
              <a:custGeom>
                <a:avLst/>
                <a:gdLst/>
                <a:ahLst/>
                <a:cxnLst/>
                <a:rect l="0" t="0" r="0" b="0"/>
                <a:pathLst>
                  <a:path w="669780" fill="none">
                    <a:moveTo>
                      <a:pt x="0" y="0"/>
                    </a:moveTo>
                    <a:lnTo>
                      <a:pt x="669780" y="0"/>
                    </a:lnTo>
                  </a:path>
                </a:pathLst>
              </a:custGeom>
              <a:noFill/>
              <a:ln w="7600" cap="flat">
                <a:solidFill>
                  <a:srgbClr val="236EA1"/>
                </a:solidFill>
                <a:bevel/>
                <a:tailEnd type="stealth" w="med" len="med"/>
              </a:ln>
            </p:spPr>
          </p:sp>
          <p:sp>
            <p:nvSpPr>
              <p:cNvPr id="95" name="Text 160"/>
              <p:cNvSpPr txBox="1"/>
              <p:nvPr/>
            </p:nvSpPr>
            <p:spPr>
              <a:xfrm rot="13003">
                <a:off x="3555795" y="2653995"/>
                <a:ext cx="661200" cy="8740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request</a:t>
                </a:r>
                <a:endParaRPr sz="1400">
                  <a:solidFill>
                    <a:srgbClr val="1F6391"/>
                  </a:solidFill>
                  <a:latin typeface="微软雅黑" panose="020B0503020204020204" pitchFamily="34" charset="-122"/>
                </a:endParaRPr>
              </a:p>
              <a:p>
                <a:pPr algn="ctr">
                  <a:lnSpc>
                    <a:spcPct val="100000"/>
                  </a:lnSpc>
                </a:pPr>
                <a:r>
                  <a:rPr sz="1400">
                    <a:solidFill>
                      <a:srgbClr val="1F6391"/>
                    </a:solidFill>
                    <a:latin typeface="微软雅黑" panose="020B0503020204020204" pitchFamily="34" charset="-122"/>
                  </a:rPr>
                  <a:t>done</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nvGrpSpPr>
            <p:cNvPr id="50" name="椭圆形过程"/>
            <p:cNvGrpSpPr/>
            <p:nvPr/>
          </p:nvGrpSpPr>
          <p:grpSpPr>
            <a:xfrm>
              <a:off x="4221282" y="2836103"/>
              <a:ext cx="1041200" cy="507251"/>
              <a:chOff x="4221282" y="2836103"/>
              <a:chExt cx="1041200" cy="507251"/>
            </a:xfrm>
          </p:grpSpPr>
          <p:sp>
            <p:nvSpPr>
              <p:cNvPr id="91" name="任意多边形 90"/>
              <p:cNvSpPr/>
              <p:nvPr/>
            </p:nvSpPr>
            <p:spPr>
              <a:xfrm>
                <a:off x="4221282" y="2836103"/>
                <a:ext cx="1041200" cy="507251"/>
              </a:xfrm>
              <a:custGeom>
                <a:avLst/>
                <a:gdLst/>
                <a:ahLst/>
                <a:cxnLst/>
                <a:rect l="0" t="0" r="0" b="0"/>
                <a:pathLst>
                  <a:path w="1041200" h="507251" fill="none">
                    <a:moveTo>
                      <a:pt x="520600" y="253626"/>
                    </a:moveTo>
                    <a:moveTo>
                      <a:pt x="520600" y="253626"/>
                    </a:moveTo>
                    <a:moveTo>
                      <a:pt x="520600" y="253626"/>
                    </a:moveTo>
                    <a:moveTo>
                      <a:pt x="520600" y="253626"/>
                    </a:moveTo>
                  </a:path>
                </a:pathLst>
              </a:custGeom>
              <a:solidFill>
                <a:srgbClr val="3498DB"/>
              </a:solidFill>
              <a:ln w="7600" cap="flat">
                <a:solidFill>
                  <a:srgbClr val="3498DB"/>
                </a:solidFill>
                <a:bevel/>
              </a:ln>
            </p:spPr>
          </p:sp>
          <p:sp>
            <p:nvSpPr>
              <p:cNvPr id="92" name="Ellipse"/>
              <p:cNvSpPr/>
              <p:nvPr/>
            </p:nvSpPr>
            <p:spPr>
              <a:xfrm>
                <a:off x="4221282" y="2836103"/>
                <a:ext cx="1041200" cy="507251"/>
              </a:xfrm>
              <a:custGeom>
                <a:avLst/>
                <a:gdLst/>
                <a:ahLst/>
                <a:cxnLst/>
                <a:rect l="0" t="0" r="0" b="0"/>
                <a:pathLst>
                  <a:path w="1041200" h="507251">
                    <a:moveTo>
                      <a:pt x="0" y="253626"/>
                    </a:moveTo>
                    <a:cubicBezTo>
                      <a:pt x="0" y="113552"/>
                      <a:pt x="233081" y="0"/>
                      <a:pt x="520600" y="0"/>
                    </a:cubicBezTo>
                    <a:cubicBezTo>
                      <a:pt x="808119" y="0"/>
                      <a:pt x="1041200" y="113552"/>
                      <a:pt x="1041200" y="253626"/>
                    </a:cubicBezTo>
                    <a:cubicBezTo>
                      <a:pt x="1041200" y="393699"/>
                      <a:pt x="808119" y="507251"/>
                      <a:pt x="520600" y="507251"/>
                    </a:cubicBezTo>
                    <a:cubicBezTo>
                      <a:pt x="233081" y="507251"/>
                      <a:pt x="0" y="393699"/>
                      <a:pt x="0" y="253626"/>
                    </a:cubicBezTo>
                    <a:close/>
                  </a:path>
                </a:pathLst>
              </a:custGeom>
              <a:solidFill>
                <a:srgbClr val="3498DB"/>
              </a:solidFill>
              <a:ln w="7600" cap="flat">
                <a:solidFill>
                  <a:srgbClr val="3498DB"/>
                </a:solidFill>
                <a:bevel/>
              </a:ln>
            </p:spPr>
          </p:sp>
          <p:sp>
            <p:nvSpPr>
              <p:cNvPr id="93" name="Text 161"/>
              <p:cNvSpPr txBox="1"/>
              <p:nvPr/>
            </p:nvSpPr>
            <p:spPr>
              <a:xfrm>
                <a:off x="4221282" y="2836103"/>
                <a:ext cx="1041200" cy="507251"/>
              </a:xfrm>
              <a:prstGeom prst="rect">
                <a:avLst/>
              </a:prstGeom>
              <a:noFill/>
            </p:spPr>
            <p:txBody>
              <a:bodyPr wrap="square" lIns="36000" tIns="0" rIns="36000" bIns="0" rtlCol="0" anchor="ctr"/>
              <a:lstStyle/>
              <a:p>
                <a:pPr algn="ctr"/>
                <a:r>
                  <a:rPr sz="1400" dirty="0">
                    <a:solidFill>
                      <a:srgbClr val="FFFFFF"/>
                    </a:solidFill>
                    <a:latin typeface="微软雅黑" panose="020B0503020204020204" pitchFamily="34" charset="-122"/>
                  </a:rPr>
                  <a:t>parse</a:t>
                </a:r>
                <a:endParaRPr sz="1400" dirty="0">
                  <a:solidFill>
                    <a:srgbClr val="FFFFFF"/>
                  </a:solidFill>
                  <a:latin typeface="微软雅黑" panose="020B0503020204020204" pitchFamily="34" charset="-122"/>
                </a:endParaRPr>
              </a:p>
              <a:p>
                <a:pPr algn="ctr">
                  <a:lnSpc>
                    <a:spcPct val="100000"/>
                  </a:lnSpc>
                </a:pPr>
                <a:r>
                  <a:rPr sz="1400" dirty="0">
                    <a:solidFill>
                      <a:srgbClr val="FFFFFF"/>
                    </a:solidFill>
                    <a:latin typeface="微软雅黑" panose="020B0503020204020204" pitchFamily="34" charset="-122"/>
                  </a:rPr>
                  <a:t>request</a:t>
                </a:r>
                <a:endParaRPr sz="1400" dirty="0">
                  <a:solidFill>
                    <a:srgbClr val="FFFFFF"/>
                  </a:solidFill>
                  <a:latin typeface="微软雅黑" panose="020B0503020204020204" pitchFamily="34" charset="-122"/>
                </a:endParaRPr>
              </a:p>
            </p:txBody>
          </p:sp>
        </p:grpSp>
        <p:grpSp>
          <p:nvGrpSpPr>
            <p:cNvPr id="51" name="椭圆形过程"/>
            <p:cNvGrpSpPr/>
            <p:nvPr/>
          </p:nvGrpSpPr>
          <p:grpSpPr>
            <a:xfrm>
              <a:off x="5932258" y="2816031"/>
              <a:ext cx="1120850" cy="546055"/>
              <a:chOff x="5932258" y="2816031"/>
              <a:chExt cx="1120850" cy="546055"/>
            </a:xfrm>
          </p:grpSpPr>
          <p:sp>
            <p:nvSpPr>
              <p:cNvPr id="88" name="任意多边形 87"/>
              <p:cNvSpPr/>
              <p:nvPr/>
            </p:nvSpPr>
            <p:spPr>
              <a:xfrm>
                <a:off x="5932258" y="2816031"/>
                <a:ext cx="1120850" cy="546055"/>
              </a:xfrm>
              <a:custGeom>
                <a:avLst/>
                <a:gdLst/>
                <a:ahLst/>
                <a:cxnLst/>
                <a:rect l="0" t="0" r="0" b="0"/>
                <a:pathLst>
                  <a:path w="1120850" h="546055" fill="none">
                    <a:moveTo>
                      <a:pt x="560425" y="273027"/>
                    </a:moveTo>
                    <a:moveTo>
                      <a:pt x="560425" y="273027"/>
                    </a:moveTo>
                    <a:moveTo>
                      <a:pt x="560425" y="273027"/>
                    </a:moveTo>
                    <a:moveTo>
                      <a:pt x="560425" y="273027"/>
                    </a:moveTo>
                  </a:path>
                </a:pathLst>
              </a:custGeom>
              <a:solidFill>
                <a:srgbClr val="3498DB"/>
              </a:solidFill>
              <a:ln w="7600" cap="flat">
                <a:solidFill>
                  <a:srgbClr val="3498DB"/>
                </a:solidFill>
                <a:bevel/>
              </a:ln>
            </p:spPr>
          </p:sp>
          <p:sp>
            <p:nvSpPr>
              <p:cNvPr id="89" name="Ellipse"/>
              <p:cNvSpPr/>
              <p:nvPr/>
            </p:nvSpPr>
            <p:spPr>
              <a:xfrm>
                <a:off x="5932258" y="2816031"/>
                <a:ext cx="1120850" cy="546055"/>
              </a:xfrm>
              <a:custGeom>
                <a:avLst/>
                <a:gdLst/>
                <a:ahLst/>
                <a:cxnLst/>
                <a:rect l="0" t="0" r="0" b="0"/>
                <a:pathLst>
                  <a:path w="1120850" h="546055">
                    <a:moveTo>
                      <a:pt x="0" y="273027"/>
                    </a:moveTo>
                    <a:cubicBezTo>
                      <a:pt x="0" y="122239"/>
                      <a:pt x="250911" y="0"/>
                      <a:pt x="560425" y="0"/>
                    </a:cubicBezTo>
                    <a:cubicBezTo>
                      <a:pt x="869939" y="0"/>
                      <a:pt x="1120850" y="122239"/>
                      <a:pt x="1120850" y="273027"/>
                    </a:cubicBezTo>
                    <a:cubicBezTo>
                      <a:pt x="1120850" y="423816"/>
                      <a:pt x="869939" y="546055"/>
                      <a:pt x="560425" y="546055"/>
                    </a:cubicBezTo>
                    <a:cubicBezTo>
                      <a:pt x="250911" y="546055"/>
                      <a:pt x="0" y="423816"/>
                      <a:pt x="0" y="273027"/>
                    </a:cubicBezTo>
                    <a:close/>
                  </a:path>
                </a:pathLst>
              </a:custGeom>
              <a:solidFill>
                <a:srgbClr val="3498DB"/>
              </a:solidFill>
              <a:ln w="7600" cap="flat">
                <a:solidFill>
                  <a:srgbClr val="3498DB"/>
                </a:solidFill>
                <a:bevel/>
              </a:ln>
            </p:spPr>
          </p:sp>
          <p:sp>
            <p:nvSpPr>
              <p:cNvPr id="90" name="Text 162"/>
              <p:cNvSpPr txBox="1"/>
              <p:nvPr/>
            </p:nvSpPr>
            <p:spPr>
              <a:xfrm>
                <a:off x="5932258" y="2816031"/>
                <a:ext cx="1120850" cy="546055"/>
              </a:xfrm>
              <a:prstGeom prst="rect">
                <a:avLst/>
              </a:prstGeom>
              <a:noFill/>
            </p:spPr>
            <p:txBody>
              <a:bodyPr wrap="square" lIns="36000" tIns="0" rIns="36000" bIns="0" rtlCol="0" anchor="ctr"/>
              <a:lstStyle/>
              <a:p>
                <a:pPr algn="ctr"/>
                <a:r>
                  <a:rPr sz="1400">
                    <a:solidFill>
                      <a:srgbClr val="FFFFFF"/>
                    </a:solidFill>
                    <a:latin typeface="微软雅黑" panose="020B0503020204020204" pitchFamily="34" charset="-122"/>
                  </a:rPr>
                  <a:t>find</a:t>
                </a:r>
                <a:endParaRPr sz="1400">
                  <a:solidFill>
                    <a:srgbClr val="FFFFFF"/>
                  </a:solidFill>
                  <a:latin typeface="微软雅黑" panose="020B0503020204020204" pitchFamily="34" charset="-122"/>
                </a:endParaRPr>
              </a:p>
              <a:p>
                <a:pPr algn="ctr">
                  <a:lnSpc>
                    <a:spcPct val="100000"/>
                  </a:lnSpc>
                </a:pPr>
                <a:r>
                  <a:rPr sz="1400">
                    <a:solidFill>
                      <a:srgbClr val="FFFFFF"/>
                    </a:solidFill>
                    <a:latin typeface="微软雅黑" panose="020B0503020204020204" pitchFamily="34" charset="-122"/>
                  </a:rPr>
                  <a:t>file</a:t>
                </a:r>
                <a:endParaRPr sz="1400">
                  <a:solidFill>
                    <a:srgbClr val="FFFFFF"/>
                  </a:solidFill>
                  <a:latin typeface="微软雅黑" panose="020B0503020204020204" pitchFamily="34" charset="-122"/>
                </a:endParaRPr>
              </a:p>
            </p:txBody>
          </p:sp>
        </p:grpSp>
        <p:grpSp>
          <p:nvGrpSpPr>
            <p:cNvPr id="52" name="椭圆形过程"/>
            <p:cNvGrpSpPr/>
            <p:nvPr/>
          </p:nvGrpSpPr>
          <p:grpSpPr>
            <a:xfrm>
              <a:off x="4172882" y="3827318"/>
              <a:ext cx="1138001" cy="554411"/>
              <a:chOff x="4172882" y="3827318"/>
              <a:chExt cx="1138001" cy="554411"/>
            </a:xfrm>
          </p:grpSpPr>
          <p:sp>
            <p:nvSpPr>
              <p:cNvPr id="85" name="任意多边形 84"/>
              <p:cNvSpPr/>
              <p:nvPr/>
            </p:nvSpPr>
            <p:spPr>
              <a:xfrm>
                <a:off x="4172882" y="3827318"/>
                <a:ext cx="1138001" cy="554411"/>
              </a:xfrm>
              <a:custGeom>
                <a:avLst/>
                <a:gdLst/>
                <a:ahLst/>
                <a:cxnLst/>
                <a:rect l="0" t="0" r="0" b="0"/>
                <a:pathLst>
                  <a:path w="1138001" h="554411" fill="none">
                    <a:moveTo>
                      <a:pt x="569001" y="277205"/>
                    </a:moveTo>
                    <a:moveTo>
                      <a:pt x="569001" y="277205"/>
                    </a:moveTo>
                    <a:moveTo>
                      <a:pt x="569001" y="277205"/>
                    </a:moveTo>
                    <a:moveTo>
                      <a:pt x="569001" y="277205"/>
                    </a:moveTo>
                  </a:path>
                </a:pathLst>
              </a:custGeom>
              <a:solidFill>
                <a:srgbClr val="3498DB"/>
              </a:solidFill>
              <a:ln w="7600" cap="flat">
                <a:solidFill>
                  <a:srgbClr val="3498DB"/>
                </a:solidFill>
                <a:bevel/>
              </a:ln>
            </p:spPr>
          </p:sp>
          <p:sp>
            <p:nvSpPr>
              <p:cNvPr id="86" name="Ellipse"/>
              <p:cNvSpPr/>
              <p:nvPr/>
            </p:nvSpPr>
            <p:spPr>
              <a:xfrm>
                <a:off x="4172882" y="3827318"/>
                <a:ext cx="1138001" cy="554411"/>
              </a:xfrm>
              <a:custGeom>
                <a:avLst/>
                <a:gdLst/>
                <a:ahLst/>
                <a:cxnLst/>
                <a:rect l="0" t="0" r="0" b="0"/>
                <a:pathLst>
                  <a:path w="1138001" h="554411">
                    <a:moveTo>
                      <a:pt x="0" y="277205"/>
                    </a:moveTo>
                    <a:cubicBezTo>
                      <a:pt x="0" y="124109"/>
                      <a:pt x="254750" y="0"/>
                      <a:pt x="569001" y="0"/>
                    </a:cubicBezTo>
                    <a:cubicBezTo>
                      <a:pt x="883251" y="0"/>
                      <a:pt x="1138001" y="124109"/>
                      <a:pt x="1138001" y="277205"/>
                    </a:cubicBezTo>
                    <a:cubicBezTo>
                      <a:pt x="1138001" y="430302"/>
                      <a:pt x="883251" y="554411"/>
                      <a:pt x="569001" y="554411"/>
                    </a:cubicBezTo>
                    <a:cubicBezTo>
                      <a:pt x="254750" y="554411"/>
                      <a:pt x="0" y="430302"/>
                      <a:pt x="0" y="277205"/>
                    </a:cubicBezTo>
                    <a:close/>
                  </a:path>
                </a:pathLst>
              </a:custGeom>
              <a:solidFill>
                <a:srgbClr val="3498DB"/>
              </a:solidFill>
              <a:ln w="7600" cap="flat">
                <a:solidFill>
                  <a:srgbClr val="3498DB"/>
                </a:solidFill>
                <a:bevel/>
              </a:ln>
            </p:spPr>
          </p:sp>
          <p:sp>
            <p:nvSpPr>
              <p:cNvPr id="87" name="Text 163"/>
              <p:cNvSpPr txBox="1"/>
              <p:nvPr/>
            </p:nvSpPr>
            <p:spPr>
              <a:xfrm>
                <a:off x="4172882" y="3827318"/>
                <a:ext cx="1138001" cy="554411"/>
              </a:xfrm>
              <a:prstGeom prst="rect">
                <a:avLst/>
              </a:prstGeom>
              <a:noFill/>
            </p:spPr>
            <p:txBody>
              <a:bodyPr wrap="square" lIns="36000" tIns="0" rIns="36000" bIns="0" rtlCol="0" anchor="ctr"/>
              <a:lstStyle/>
              <a:p>
                <a:pPr algn="ctr"/>
                <a:r>
                  <a:rPr sz="1400" dirty="0">
                    <a:solidFill>
                      <a:srgbClr val="FFFFFF"/>
                    </a:solidFill>
                    <a:latin typeface="微软雅黑" panose="020B0503020204020204" pitchFamily="34" charset="-122"/>
                  </a:rPr>
                  <a:t>format</a:t>
                </a:r>
                <a:endParaRPr sz="1400" dirty="0">
                  <a:solidFill>
                    <a:srgbClr val="FFFFFF"/>
                  </a:solidFill>
                  <a:latin typeface="微软雅黑" panose="020B0503020204020204" pitchFamily="34" charset="-122"/>
                </a:endParaRPr>
              </a:p>
              <a:p>
                <a:pPr algn="ctr">
                  <a:lnSpc>
                    <a:spcPct val="100000"/>
                  </a:lnSpc>
                </a:pPr>
                <a:r>
                  <a:rPr sz="1400" dirty="0">
                    <a:solidFill>
                      <a:srgbClr val="FFFFFF"/>
                    </a:solidFill>
                    <a:latin typeface="微软雅黑" panose="020B0503020204020204" pitchFamily="34" charset="-122"/>
                  </a:rPr>
                  <a:t>reply</a:t>
                </a:r>
                <a:endParaRPr sz="1400" dirty="0">
                  <a:solidFill>
                    <a:srgbClr val="FFFFFF"/>
                  </a:solidFill>
                  <a:latin typeface="微软雅黑" panose="020B0503020204020204" pitchFamily="34" charset="-122"/>
                </a:endParaRPr>
              </a:p>
            </p:txBody>
          </p:sp>
        </p:grpSp>
        <p:grpSp>
          <p:nvGrpSpPr>
            <p:cNvPr id="53" name="椭圆形过程"/>
            <p:cNvGrpSpPr/>
            <p:nvPr/>
          </p:nvGrpSpPr>
          <p:grpSpPr>
            <a:xfrm>
              <a:off x="2506907" y="3846708"/>
              <a:ext cx="1058399" cy="515630"/>
              <a:chOff x="2506907" y="3846708"/>
              <a:chExt cx="1058399" cy="515630"/>
            </a:xfrm>
          </p:grpSpPr>
          <p:sp>
            <p:nvSpPr>
              <p:cNvPr id="82" name="任意多边形 81"/>
              <p:cNvSpPr/>
              <p:nvPr/>
            </p:nvSpPr>
            <p:spPr>
              <a:xfrm>
                <a:off x="2506907" y="3846708"/>
                <a:ext cx="1058399" cy="515630"/>
              </a:xfrm>
              <a:custGeom>
                <a:avLst/>
                <a:gdLst/>
                <a:ahLst/>
                <a:cxnLst/>
                <a:rect l="0" t="0" r="0" b="0"/>
                <a:pathLst>
                  <a:path w="1058399" h="515630" fill="none">
                    <a:moveTo>
                      <a:pt x="529200" y="257815"/>
                    </a:moveTo>
                    <a:moveTo>
                      <a:pt x="529200" y="257815"/>
                    </a:moveTo>
                    <a:moveTo>
                      <a:pt x="529200" y="257815"/>
                    </a:moveTo>
                    <a:moveTo>
                      <a:pt x="529200" y="257815"/>
                    </a:moveTo>
                  </a:path>
                </a:pathLst>
              </a:custGeom>
              <a:solidFill>
                <a:srgbClr val="3498DB"/>
              </a:solidFill>
              <a:ln w="7600" cap="flat">
                <a:solidFill>
                  <a:srgbClr val="3498DB"/>
                </a:solidFill>
                <a:bevel/>
              </a:ln>
            </p:spPr>
          </p:sp>
          <p:sp>
            <p:nvSpPr>
              <p:cNvPr id="83" name="Ellipse"/>
              <p:cNvSpPr/>
              <p:nvPr/>
            </p:nvSpPr>
            <p:spPr>
              <a:xfrm>
                <a:off x="2506907" y="3846708"/>
                <a:ext cx="1058399" cy="515630"/>
              </a:xfrm>
              <a:custGeom>
                <a:avLst/>
                <a:gdLst/>
                <a:ahLst/>
                <a:cxnLst/>
                <a:rect l="0" t="0" r="0" b="0"/>
                <a:pathLst>
                  <a:path w="1058399" h="515630">
                    <a:moveTo>
                      <a:pt x="0" y="257815"/>
                    </a:moveTo>
                    <a:cubicBezTo>
                      <a:pt x="0" y="115428"/>
                      <a:pt x="236931" y="0"/>
                      <a:pt x="529200" y="0"/>
                    </a:cubicBezTo>
                    <a:cubicBezTo>
                      <a:pt x="821469" y="0"/>
                      <a:pt x="1058399" y="115428"/>
                      <a:pt x="1058399" y="257815"/>
                    </a:cubicBezTo>
                    <a:cubicBezTo>
                      <a:pt x="1058399" y="400203"/>
                      <a:pt x="821469" y="515630"/>
                      <a:pt x="529200" y="515630"/>
                    </a:cubicBezTo>
                    <a:cubicBezTo>
                      <a:pt x="236931" y="515630"/>
                      <a:pt x="0" y="400203"/>
                      <a:pt x="0" y="257815"/>
                    </a:cubicBezTo>
                    <a:close/>
                  </a:path>
                </a:pathLst>
              </a:custGeom>
              <a:solidFill>
                <a:srgbClr val="3498DB"/>
              </a:solidFill>
              <a:ln w="7600" cap="flat">
                <a:solidFill>
                  <a:srgbClr val="3498DB"/>
                </a:solidFill>
                <a:bevel/>
              </a:ln>
            </p:spPr>
          </p:sp>
          <p:sp>
            <p:nvSpPr>
              <p:cNvPr id="84" name="Text 164"/>
              <p:cNvSpPr txBox="1"/>
              <p:nvPr/>
            </p:nvSpPr>
            <p:spPr>
              <a:xfrm>
                <a:off x="2506907" y="3846708"/>
                <a:ext cx="1058399" cy="515630"/>
              </a:xfrm>
              <a:prstGeom prst="rect">
                <a:avLst/>
              </a:prstGeom>
              <a:noFill/>
            </p:spPr>
            <p:txBody>
              <a:bodyPr wrap="square" lIns="36000" tIns="0" rIns="36000" bIns="0" rtlCol="0" anchor="ctr"/>
              <a:lstStyle/>
              <a:p>
                <a:pPr algn="ctr"/>
                <a:r>
                  <a:rPr sz="1400" dirty="0">
                    <a:solidFill>
                      <a:srgbClr val="FFFFFF"/>
                    </a:solidFill>
                    <a:latin typeface="微软雅黑" panose="020B0503020204020204" pitchFamily="34" charset="-122"/>
                  </a:rPr>
                  <a:t>send</a:t>
                </a:r>
                <a:endParaRPr sz="1400" dirty="0">
                  <a:solidFill>
                    <a:srgbClr val="FFFFFF"/>
                  </a:solidFill>
                  <a:latin typeface="微软雅黑" panose="020B0503020204020204" pitchFamily="34" charset="-122"/>
                </a:endParaRPr>
              </a:p>
              <a:p>
                <a:pPr algn="ctr">
                  <a:lnSpc>
                    <a:spcPct val="100000"/>
                  </a:lnSpc>
                </a:pPr>
                <a:r>
                  <a:rPr sz="1400" dirty="0">
                    <a:solidFill>
                      <a:srgbClr val="FFFFFF"/>
                    </a:solidFill>
                    <a:latin typeface="微软雅黑" panose="020B0503020204020204" pitchFamily="34" charset="-122"/>
                  </a:rPr>
                  <a:t>reply</a:t>
                </a:r>
                <a:endParaRPr sz="1400" dirty="0">
                  <a:solidFill>
                    <a:srgbClr val="FFFFFF"/>
                  </a:solidFill>
                  <a:latin typeface="微软雅黑" panose="020B0503020204020204" pitchFamily="34" charset="-122"/>
                </a:endParaRPr>
              </a:p>
            </p:txBody>
          </p:sp>
        </p:grpSp>
        <p:grpSp>
          <p:nvGrpSpPr>
            <p:cNvPr id="54" name="椭圆形过程"/>
            <p:cNvGrpSpPr/>
            <p:nvPr/>
          </p:nvGrpSpPr>
          <p:grpSpPr>
            <a:xfrm>
              <a:off x="5932258" y="3819815"/>
              <a:ext cx="1167600" cy="568831"/>
              <a:chOff x="5932258" y="3819815"/>
              <a:chExt cx="1167600" cy="568831"/>
            </a:xfrm>
          </p:grpSpPr>
          <p:sp>
            <p:nvSpPr>
              <p:cNvPr id="79" name="任意多边形 78"/>
              <p:cNvSpPr/>
              <p:nvPr/>
            </p:nvSpPr>
            <p:spPr>
              <a:xfrm>
                <a:off x="5932258" y="3819815"/>
                <a:ext cx="1167600" cy="568831"/>
              </a:xfrm>
              <a:custGeom>
                <a:avLst/>
                <a:gdLst/>
                <a:ahLst/>
                <a:cxnLst/>
                <a:rect l="0" t="0" r="0" b="0"/>
                <a:pathLst>
                  <a:path w="1167600" h="568831" fill="none">
                    <a:moveTo>
                      <a:pt x="583800" y="284415"/>
                    </a:moveTo>
                    <a:moveTo>
                      <a:pt x="583800" y="284415"/>
                    </a:moveTo>
                    <a:moveTo>
                      <a:pt x="583800" y="284415"/>
                    </a:moveTo>
                    <a:moveTo>
                      <a:pt x="583800" y="284415"/>
                    </a:moveTo>
                  </a:path>
                </a:pathLst>
              </a:custGeom>
              <a:solidFill>
                <a:srgbClr val="3498DB"/>
              </a:solidFill>
              <a:ln w="7600" cap="flat">
                <a:solidFill>
                  <a:srgbClr val="3498DB"/>
                </a:solidFill>
                <a:bevel/>
              </a:ln>
            </p:spPr>
          </p:sp>
          <p:sp>
            <p:nvSpPr>
              <p:cNvPr id="80" name="Ellipse"/>
              <p:cNvSpPr/>
              <p:nvPr/>
            </p:nvSpPr>
            <p:spPr>
              <a:xfrm>
                <a:off x="5932258" y="3819815"/>
                <a:ext cx="1167600" cy="568831"/>
              </a:xfrm>
              <a:custGeom>
                <a:avLst/>
                <a:gdLst/>
                <a:ahLst/>
                <a:cxnLst/>
                <a:rect l="0" t="0" r="0" b="0"/>
                <a:pathLst>
                  <a:path w="1167600" h="568831">
                    <a:moveTo>
                      <a:pt x="0" y="284415"/>
                    </a:moveTo>
                    <a:cubicBezTo>
                      <a:pt x="0" y="127337"/>
                      <a:pt x="261376" y="0"/>
                      <a:pt x="583800" y="0"/>
                    </a:cubicBezTo>
                    <a:cubicBezTo>
                      <a:pt x="906224" y="0"/>
                      <a:pt x="1167600" y="127337"/>
                      <a:pt x="1167600" y="284415"/>
                    </a:cubicBezTo>
                    <a:cubicBezTo>
                      <a:pt x="1167600" y="441494"/>
                      <a:pt x="906224" y="568831"/>
                      <a:pt x="583800" y="568831"/>
                    </a:cubicBezTo>
                    <a:cubicBezTo>
                      <a:pt x="261376" y="568831"/>
                      <a:pt x="0" y="441494"/>
                      <a:pt x="0" y="284415"/>
                    </a:cubicBezTo>
                    <a:close/>
                  </a:path>
                </a:pathLst>
              </a:custGeom>
              <a:solidFill>
                <a:srgbClr val="3498DB"/>
              </a:solidFill>
              <a:ln w="7600" cap="flat">
                <a:solidFill>
                  <a:srgbClr val="3498DB"/>
                </a:solidFill>
                <a:bevel/>
              </a:ln>
            </p:spPr>
          </p:sp>
          <p:sp>
            <p:nvSpPr>
              <p:cNvPr id="81" name="Text 165"/>
              <p:cNvSpPr txBox="1"/>
              <p:nvPr/>
            </p:nvSpPr>
            <p:spPr>
              <a:xfrm>
                <a:off x="5932258" y="3819815"/>
                <a:ext cx="1167600" cy="568831"/>
              </a:xfrm>
              <a:prstGeom prst="rect">
                <a:avLst/>
              </a:prstGeom>
              <a:noFill/>
            </p:spPr>
            <p:txBody>
              <a:bodyPr wrap="square" lIns="36000" tIns="0" rIns="36000" bIns="0" rtlCol="0" anchor="ctr"/>
              <a:lstStyle/>
              <a:p>
                <a:pPr algn="ctr"/>
                <a:r>
                  <a:rPr sz="1400" dirty="0">
                    <a:solidFill>
                      <a:srgbClr val="FFFFFF"/>
                    </a:solidFill>
                    <a:latin typeface="微软雅黑" panose="020B0503020204020204" pitchFamily="34" charset="-122"/>
                  </a:rPr>
                  <a:t>disk</a:t>
                </a:r>
                <a:endParaRPr sz="1400" dirty="0">
                  <a:solidFill>
                    <a:srgbClr val="FFFFFF"/>
                  </a:solidFill>
                  <a:latin typeface="微软雅黑" panose="020B0503020204020204" pitchFamily="34" charset="-122"/>
                </a:endParaRPr>
              </a:p>
              <a:p>
                <a:pPr algn="ctr">
                  <a:lnSpc>
                    <a:spcPct val="100000"/>
                  </a:lnSpc>
                </a:pPr>
                <a:r>
                  <a:rPr sz="1400" dirty="0">
                    <a:solidFill>
                      <a:srgbClr val="FFFFFF"/>
                    </a:solidFill>
                    <a:latin typeface="微软雅黑" panose="020B0503020204020204" pitchFamily="34" charset="-122"/>
                  </a:rPr>
                  <a:t>read</a:t>
                </a:r>
                <a:endParaRPr sz="1400" dirty="0">
                  <a:solidFill>
                    <a:srgbClr val="FFFFFF"/>
                  </a:solidFill>
                  <a:latin typeface="微软雅黑" panose="020B0503020204020204" pitchFamily="34" charset="-122"/>
                </a:endParaRPr>
              </a:p>
            </p:txBody>
          </p:sp>
        </p:grpSp>
        <p:grpSp>
          <p:nvGrpSpPr>
            <p:cNvPr id="55" name="Group 166"/>
            <p:cNvGrpSpPr/>
            <p:nvPr/>
          </p:nvGrpSpPr>
          <p:grpSpPr>
            <a:xfrm rot="-3437">
              <a:off x="5262482" y="3089394"/>
              <a:ext cx="669776" cy="0"/>
              <a:chOff x="5262482" y="3089394"/>
              <a:chExt cx="669776" cy="0"/>
            </a:xfrm>
          </p:grpSpPr>
          <p:sp>
            <p:nvSpPr>
              <p:cNvPr id="77" name="直线连接线"/>
              <p:cNvSpPr/>
              <p:nvPr/>
            </p:nvSpPr>
            <p:spPr>
              <a:xfrm>
                <a:off x="5262482" y="3089394"/>
                <a:ext cx="669776" cy="0"/>
              </a:xfrm>
              <a:custGeom>
                <a:avLst/>
                <a:gdLst/>
                <a:ahLst/>
                <a:cxnLst/>
                <a:rect l="0" t="0" r="0" b="0"/>
                <a:pathLst>
                  <a:path w="669776" fill="none">
                    <a:moveTo>
                      <a:pt x="0" y="0"/>
                    </a:moveTo>
                    <a:lnTo>
                      <a:pt x="669776" y="0"/>
                    </a:lnTo>
                  </a:path>
                </a:pathLst>
              </a:custGeom>
              <a:noFill/>
              <a:ln w="7600" cap="flat">
                <a:solidFill>
                  <a:srgbClr val="236EA1"/>
                </a:solidFill>
                <a:bevel/>
                <a:tailEnd type="stealth" w="med" len="med"/>
              </a:ln>
            </p:spPr>
          </p:sp>
          <p:sp>
            <p:nvSpPr>
              <p:cNvPr id="78" name="Text 167"/>
              <p:cNvSpPr txBox="1"/>
              <p:nvPr/>
            </p:nvSpPr>
            <p:spPr>
              <a:xfrm rot="3437">
                <a:off x="5350370" y="2792994"/>
                <a:ext cx="494000" cy="592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done</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nvGrpSpPr>
            <p:cNvPr id="56" name="Group 168"/>
            <p:cNvGrpSpPr/>
            <p:nvPr/>
          </p:nvGrpSpPr>
          <p:grpSpPr>
            <a:xfrm rot="-1691659">
              <a:off x="5011048" y="3595120"/>
              <a:ext cx="1217615" cy="0"/>
              <a:chOff x="5011048" y="3595120"/>
              <a:chExt cx="1217615" cy="0"/>
            </a:xfrm>
          </p:grpSpPr>
          <p:sp>
            <p:nvSpPr>
              <p:cNvPr id="75" name="从中心到中心"/>
              <p:cNvSpPr/>
              <p:nvPr/>
            </p:nvSpPr>
            <p:spPr>
              <a:xfrm>
                <a:off x="5011048" y="3595120"/>
                <a:ext cx="1217615" cy="0"/>
              </a:xfrm>
              <a:custGeom>
                <a:avLst/>
                <a:gdLst/>
                <a:ahLst/>
                <a:cxnLst/>
                <a:rect l="0" t="0" r="0" b="0"/>
                <a:pathLst>
                  <a:path w="1217615" fill="none">
                    <a:moveTo>
                      <a:pt x="0" y="0"/>
                    </a:moveTo>
                    <a:cubicBezTo>
                      <a:pt x="261721" y="-158881"/>
                      <a:pt x="870528" y="-158881"/>
                      <a:pt x="1217615"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76" name="Text 169"/>
              <p:cNvSpPr txBox="1"/>
              <p:nvPr/>
            </p:nvSpPr>
            <p:spPr>
              <a:xfrm rot="1691659">
                <a:off x="5102173" y="3238639"/>
                <a:ext cx="950000" cy="395200"/>
              </a:xfrm>
              <a:prstGeom prst="rect">
                <a:avLst/>
              </a:prstGeom>
              <a:noFill/>
            </p:spPr>
            <p:txBody>
              <a:bodyPr wrap="square" lIns="36000" tIns="0" rIns="36000" bIns="0" rtlCol="0" anchor="ctr"/>
              <a:lstStyle/>
              <a:p>
                <a:pPr algn="ctr">
                  <a:lnSpc>
                    <a:spcPct val="100000"/>
                  </a:lnSpc>
                </a:pPr>
                <a:r>
                  <a:rPr sz="1400" dirty="0">
                    <a:solidFill>
                      <a:srgbClr val="1F6391"/>
                    </a:solidFill>
                    <a:latin typeface="微软雅黑" panose="020B0503020204020204" pitchFamily="34" charset="-122"/>
                  </a:rPr>
                  <a:t>no such file</a:t>
                </a:r>
                <a:endParaRPr sz="1400" dirty="0">
                  <a:solidFill>
                    <a:srgbClr val="1F6391"/>
                  </a:solidFill>
                  <a:latin typeface="微软雅黑" panose="020B0503020204020204" pitchFamily="34" charset="-122"/>
                </a:endParaRPr>
              </a:p>
              <a:p>
                <a:pPr algn="ctr">
                  <a:lnSpc>
                    <a:spcPct val="100000"/>
                  </a:lnSpc>
                </a:pPr>
                <a:endParaRPr sz="1400" dirty="0">
                  <a:solidFill>
                    <a:srgbClr val="1F6391"/>
                  </a:solidFill>
                  <a:latin typeface="微软雅黑" panose="020B0503020204020204" pitchFamily="34" charset="-122"/>
                </a:endParaRPr>
              </a:p>
            </p:txBody>
          </p:sp>
        </p:grpSp>
        <p:grpSp>
          <p:nvGrpSpPr>
            <p:cNvPr id="57" name="Group 170"/>
            <p:cNvGrpSpPr/>
            <p:nvPr/>
          </p:nvGrpSpPr>
          <p:grpSpPr>
            <a:xfrm rot="-5558203">
              <a:off x="6568359" y="3596645"/>
              <a:ext cx="1016248" cy="0"/>
              <a:chOff x="6568359" y="3596645"/>
              <a:chExt cx="1016248" cy="0"/>
            </a:xfrm>
          </p:grpSpPr>
          <p:sp>
            <p:nvSpPr>
              <p:cNvPr id="73" name="从中心到中心"/>
              <p:cNvSpPr/>
              <p:nvPr/>
            </p:nvSpPr>
            <p:spPr>
              <a:xfrm>
                <a:off x="6568359" y="3596645"/>
                <a:ext cx="1016248" cy="0"/>
              </a:xfrm>
              <a:custGeom>
                <a:avLst/>
                <a:gdLst/>
                <a:ahLst/>
                <a:cxnLst/>
                <a:rect l="0" t="0" r="0" b="0"/>
                <a:pathLst>
                  <a:path w="1016248" fill="none">
                    <a:moveTo>
                      <a:pt x="0" y="0"/>
                    </a:moveTo>
                    <a:cubicBezTo>
                      <a:pt x="254062" y="344693"/>
                      <a:pt x="762186" y="344693"/>
                      <a:pt x="1016248"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74" name="Text 171"/>
              <p:cNvSpPr txBox="1"/>
              <p:nvPr/>
            </p:nvSpPr>
            <p:spPr>
              <a:xfrm rot="5558203">
                <a:off x="6669883" y="3815938"/>
                <a:ext cx="813200" cy="250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file found</a:t>
                </a:r>
                <a:endParaRPr sz="1400">
                  <a:solidFill>
                    <a:srgbClr val="1F6391"/>
                  </a:solidFill>
                  <a:latin typeface="微软雅黑" panose="020B0503020204020204" pitchFamily="34" charset="-122"/>
                </a:endParaRPr>
              </a:p>
            </p:txBody>
          </p:sp>
        </p:grpSp>
        <p:grpSp>
          <p:nvGrpSpPr>
            <p:cNvPr id="58" name="Group 172"/>
            <p:cNvGrpSpPr/>
            <p:nvPr/>
          </p:nvGrpSpPr>
          <p:grpSpPr>
            <a:xfrm rot="10800000">
              <a:off x="6165778" y="3876698"/>
              <a:ext cx="700560" cy="0"/>
              <a:chOff x="6165778" y="3876698"/>
              <a:chExt cx="700560" cy="0"/>
            </a:xfrm>
          </p:grpSpPr>
          <p:sp>
            <p:nvSpPr>
              <p:cNvPr id="71" name="从中心到中心"/>
              <p:cNvSpPr/>
              <p:nvPr/>
            </p:nvSpPr>
            <p:spPr>
              <a:xfrm>
                <a:off x="6165778" y="3876698"/>
                <a:ext cx="700560" cy="0"/>
              </a:xfrm>
              <a:custGeom>
                <a:avLst/>
                <a:gdLst/>
                <a:ahLst/>
                <a:cxnLst/>
                <a:rect l="0" t="0" r="0" b="0"/>
                <a:pathLst>
                  <a:path w="700560" fill="none">
                    <a:moveTo>
                      <a:pt x="0" y="0"/>
                    </a:moveTo>
                    <a:cubicBezTo>
                      <a:pt x="175140" y="252144"/>
                      <a:pt x="525420" y="252144"/>
                      <a:pt x="700560"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72" name="Text 173"/>
              <p:cNvSpPr txBox="1"/>
              <p:nvPr/>
            </p:nvSpPr>
            <p:spPr>
              <a:xfrm rot="-10800000">
                <a:off x="6132258" y="4003443"/>
                <a:ext cx="767600" cy="250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disk read</a:t>
                </a:r>
                <a:endParaRPr sz="1400">
                  <a:solidFill>
                    <a:srgbClr val="1F6391"/>
                  </a:solidFill>
                  <a:latin typeface="微软雅黑" panose="020B0503020204020204" pitchFamily="34" charset="-122"/>
                </a:endParaRPr>
              </a:p>
            </p:txBody>
          </p:sp>
        </p:grpSp>
        <p:grpSp>
          <p:nvGrpSpPr>
            <p:cNvPr id="59" name="Group 174"/>
            <p:cNvGrpSpPr/>
            <p:nvPr/>
          </p:nvGrpSpPr>
          <p:grpSpPr>
            <a:xfrm rot="10798381">
              <a:off x="5310883" y="4104377"/>
              <a:ext cx="621375" cy="0"/>
              <a:chOff x="5310883" y="4104377"/>
              <a:chExt cx="621375" cy="0"/>
            </a:xfrm>
          </p:grpSpPr>
          <p:sp>
            <p:nvSpPr>
              <p:cNvPr id="69" name="直线连接线"/>
              <p:cNvSpPr/>
              <p:nvPr/>
            </p:nvSpPr>
            <p:spPr>
              <a:xfrm>
                <a:off x="5310883" y="4104377"/>
                <a:ext cx="621375" cy="0"/>
              </a:xfrm>
              <a:custGeom>
                <a:avLst/>
                <a:gdLst/>
                <a:ahLst/>
                <a:cxnLst/>
                <a:rect l="0" t="0" r="0" b="0"/>
                <a:pathLst>
                  <a:path w="621375" fill="none">
                    <a:moveTo>
                      <a:pt x="0" y="0"/>
                    </a:moveTo>
                    <a:lnTo>
                      <a:pt x="621375" y="0"/>
                    </a:lnTo>
                  </a:path>
                </a:pathLst>
              </a:custGeom>
              <a:noFill/>
              <a:ln w="7600" cap="flat">
                <a:solidFill>
                  <a:srgbClr val="236EA1"/>
                </a:solidFill>
                <a:bevel/>
                <a:tailEnd type="stealth" w="med" len="med"/>
              </a:ln>
            </p:spPr>
          </p:sp>
          <p:sp>
            <p:nvSpPr>
              <p:cNvPr id="70" name="Text 175"/>
              <p:cNvSpPr txBox="1"/>
              <p:nvPr/>
            </p:nvSpPr>
            <p:spPr>
              <a:xfrm rot="-10798381">
                <a:off x="5374571" y="3864977"/>
                <a:ext cx="494000" cy="478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done</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nvGrpSpPr>
            <p:cNvPr id="60" name="Group 176"/>
            <p:cNvGrpSpPr/>
            <p:nvPr/>
          </p:nvGrpSpPr>
          <p:grpSpPr>
            <a:xfrm rot="10800000">
              <a:off x="3565307" y="4104523"/>
              <a:ext cx="607575" cy="0"/>
              <a:chOff x="3565307" y="4104523"/>
              <a:chExt cx="607575" cy="0"/>
            </a:xfrm>
          </p:grpSpPr>
          <p:sp>
            <p:nvSpPr>
              <p:cNvPr id="67" name="直线连接线"/>
              <p:cNvSpPr/>
              <p:nvPr/>
            </p:nvSpPr>
            <p:spPr>
              <a:xfrm>
                <a:off x="3565307" y="4104523"/>
                <a:ext cx="607575" cy="0"/>
              </a:xfrm>
              <a:custGeom>
                <a:avLst/>
                <a:gdLst/>
                <a:ahLst/>
                <a:cxnLst/>
                <a:rect l="0" t="0" r="0" b="0"/>
                <a:pathLst>
                  <a:path w="607575" fill="none">
                    <a:moveTo>
                      <a:pt x="0" y="0"/>
                    </a:moveTo>
                    <a:lnTo>
                      <a:pt x="607575" y="0"/>
                    </a:lnTo>
                  </a:path>
                </a:pathLst>
              </a:custGeom>
              <a:noFill/>
              <a:ln w="7600" cap="flat">
                <a:solidFill>
                  <a:srgbClr val="236EA1"/>
                </a:solidFill>
                <a:bevel/>
                <a:tailEnd type="stealth" w="med" len="med"/>
              </a:ln>
            </p:spPr>
          </p:sp>
          <p:sp>
            <p:nvSpPr>
              <p:cNvPr id="68" name="Text 177"/>
              <p:cNvSpPr txBox="1"/>
              <p:nvPr/>
            </p:nvSpPr>
            <p:spPr>
              <a:xfrm rot="-10800000">
                <a:off x="3622094" y="3865123"/>
                <a:ext cx="494000" cy="478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done</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nvGrpSpPr>
            <p:cNvPr id="61" name="Group 178"/>
            <p:cNvGrpSpPr/>
            <p:nvPr/>
          </p:nvGrpSpPr>
          <p:grpSpPr>
            <a:xfrm rot="10800000">
              <a:off x="2718587" y="3898271"/>
              <a:ext cx="635040" cy="0"/>
              <a:chOff x="2718587" y="3898271"/>
              <a:chExt cx="635040" cy="0"/>
            </a:xfrm>
          </p:grpSpPr>
          <p:sp>
            <p:nvSpPr>
              <p:cNvPr id="65" name="从中心到中心"/>
              <p:cNvSpPr/>
              <p:nvPr/>
            </p:nvSpPr>
            <p:spPr>
              <a:xfrm>
                <a:off x="2718587" y="3898271"/>
                <a:ext cx="635040" cy="0"/>
              </a:xfrm>
              <a:custGeom>
                <a:avLst/>
                <a:gdLst/>
                <a:ahLst/>
                <a:cxnLst/>
                <a:rect l="0" t="0" r="0" b="0"/>
                <a:pathLst>
                  <a:path w="635040" fill="none">
                    <a:moveTo>
                      <a:pt x="0" y="0"/>
                    </a:moveTo>
                    <a:cubicBezTo>
                      <a:pt x="158760" y="235717"/>
                      <a:pt x="476280" y="235717"/>
                      <a:pt x="635040"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66" name="Text 179"/>
              <p:cNvSpPr txBox="1"/>
              <p:nvPr/>
            </p:nvSpPr>
            <p:spPr>
              <a:xfrm rot="-10800000">
                <a:off x="2648507" y="4008588"/>
                <a:ext cx="775200" cy="250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not done</a:t>
                </a:r>
                <a:endParaRPr sz="1400">
                  <a:solidFill>
                    <a:srgbClr val="1F6391"/>
                  </a:solidFill>
                  <a:latin typeface="微软雅黑" panose="020B0503020204020204" pitchFamily="34" charset="-122"/>
                </a:endParaRPr>
              </a:p>
            </p:txBody>
          </p:sp>
        </p:grpSp>
        <p:grpSp>
          <p:nvGrpSpPr>
            <p:cNvPr id="62" name="Group 180"/>
            <p:cNvGrpSpPr/>
            <p:nvPr/>
          </p:nvGrpSpPr>
          <p:grpSpPr>
            <a:xfrm rot="-10798633">
              <a:off x="1771108" y="4104377"/>
              <a:ext cx="735800" cy="0"/>
              <a:chOff x="1771108" y="4104377"/>
              <a:chExt cx="735800" cy="0"/>
            </a:xfrm>
          </p:grpSpPr>
          <p:sp>
            <p:nvSpPr>
              <p:cNvPr id="63" name="直线连接线"/>
              <p:cNvSpPr/>
              <p:nvPr/>
            </p:nvSpPr>
            <p:spPr>
              <a:xfrm>
                <a:off x="1771108" y="4104377"/>
                <a:ext cx="735800" cy="0"/>
              </a:xfrm>
              <a:custGeom>
                <a:avLst/>
                <a:gdLst/>
                <a:ahLst/>
                <a:cxnLst/>
                <a:rect l="0" t="0" r="0" b="0"/>
                <a:pathLst>
                  <a:path w="735800" fill="none">
                    <a:moveTo>
                      <a:pt x="0" y="0"/>
                    </a:moveTo>
                    <a:lnTo>
                      <a:pt x="735800" y="0"/>
                    </a:lnTo>
                  </a:path>
                </a:pathLst>
              </a:custGeom>
              <a:noFill/>
              <a:ln w="7600" cap="flat">
                <a:solidFill>
                  <a:srgbClr val="236EA1"/>
                </a:solidFill>
                <a:bevel/>
                <a:tailEnd type="stealth" w="med" len="med"/>
              </a:ln>
            </p:spPr>
          </p:sp>
          <p:sp>
            <p:nvSpPr>
              <p:cNvPr id="64" name="Text 181"/>
              <p:cNvSpPr txBox="1"/>
              <p:nvPr/>
            </p:nvSpPr>
            <p:spPr>
              <a:xfrm rot="10798633">
                <a:off x="1892007" y="3864977"/>
                <a:ext cx="494000" cy="478800"/>
              </a:xfrm>
              <a:prstGeom prst="rect">
                <a:avLst/>
              </a:prstGeom>
              <a:noFill/>
            </p:spPr>
            <p:txBody>
              <a:bodyPr wrap="square" lIns="36000" tIns="0" rIns="36000" bIns="0" rtlCol="0" anchor="ctr"/>
              <a:lstStyle/>
              <a:p>
                <a:pPr algn="ctr">
                  <a:lnSpc>
                    <a:spcPct val="100000"/>
                  </a:lnSpc>
                </a:pPr>
                <a:r>
                  <a:rPr sz="1400">
                    <a:solidFill>
                      <a:srgbClr val="1F6391"/>
                    </a:solidFill>
                    <a:latin typeface="微软雅黑" panose="020B0503020204020204" pitchFamily="34" charset="-122"/>
                  </a:rPr>
                  <a:t>done</a:t>
                </a: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a:p>
                <a:pPr algn="ctr">
                  <a:lnSpc>
                    <a:spcPct val="100000"/>
                  </a:lnSpc>
                </a:pPr>
                <a:endParaRPr sz="1400">
                  <a:solidFill>
                    <a:srgbClr val="1F6391"/>
                  </a:solidFill>
                  <a:latin typeface="微软雅黑" panose="020B0503020204020204" pitchFamily="34" charset="-122"/>
                </a:endParaRPr>
              </a:p>
            </p:txBody>
          </p:sp>
        </p:grpSp>
      </p:grpSp>
      <p:sp>
        <p:nvSpPr>
          <p:cNvPr id="109" name="副标题 2"/>
          <p:cNvSpPr txBox="1"/>
          <p:nvPr/>
        </p:nvSpPr>
        <p:spPr>
          <a:xfrm>
            <a:off x="0" y="836712"/>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2400" dirty="0" smtClean="0">
                <a:solidFill>
                  <a:schemeClr val="tx1"/>
                </a:solidFill>
                <a:latin typeface="微软雅黑" panose="020B0503020204020204" pitchFamily="34" charset="-122"/>
                <a:ea typeface="微软雅黑" panose="020B0503020204020204" pitchFamily="34" charset="-122"/>
              </a:rPr>
              <a:t>静态文件请求</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42" name="副标题 2"/>
          <p:cNvSpPr txBox="1"/>
          <p:nvPr/>
        </p:nvSpPr>
        <p:spPr>
          <a:xfrm>
            <a:off x="-94" y="2132856"/>
            <a:ext cx="9144000" cy="460851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l">
              <a:buFont typeface="Wingdings" panose="05000000000000000000" pitchFamily="2" charset="2"/>
              <a:buChar char="l"/>
            </a:pPr>
            <a:r>
              <a:rPr lang="en-US" altLang="zh-CN" sz="2400" dirty="0" err="1" smtClean="0">
                <a:solidFill>
                  <a:schemeClr val="tx1"/>
                </a:solidFill>
                <a:latin typeface="微软雅黑" panose="020B0503020204020204" pitchFamily="34" charset="-122"/>
                <a:ea typeface="微软雅黑" panose="020B0503020204020204" pitchFamily="34" charset="-122"/>
              </a:rPr>
              <a:t>Netty</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1600" dirty="0" smtClean="0">
                <a:solidFill>
                  <a:schemeClr val="tx1"/>
                </a:solidFill>
                <a:latin typeface="微软雅黑" panose="020B0503020204020204" pitchFamily="34" charset="-122"/>
                <a:ea typeface="微软雅黑" panose="020B0503020204020204" pitchFamily="34" charset="-122"/>
              </a:rPr>
              <a:t>提供</a:t>
            </a:r>
            <a:r>
              <a:rPr lang="zh-CN" altLang="en-US" sz="1600" dirty="0">
                <a:solidFill>
                  <a:schemeClr val="tx1"/>
                </a:solidFill>
                <a:latin typeface="微软雅黑" panose="020B0503020204020204" pitchFamily="34" charset="-122"/>
                <a:ea typeface="微软雅黑" panose="020B0503020204020204" pitchFamily="34" charset="-122"/>
              </a:rPr>
              <a:t>异步的、事件驱动的网络应用程序框架和工具，用以快速开发高性能、高可靠性的网络服务器和客户端</a:t>
            </a:r>
            <a:r>
              <a:rPr lang="zh-CN" altLang="en-US" sz="1600" dirty="0" smtClean="0">
                <a:solidFill>
                  <a:schemeClr val="tx1"/>
                </a:solidFill>
                <a:latin typeface="微软雅黑" panose="020B0503020204020204" pitchFamily="34" charset="-122"/>
                <a:ea typeface="微软雅黑" panose="020B0503020204020204" pitchFamily="34" charset="-122"/>
              </a:rPr>
              <a:t>程序</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1600" dirty="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en-US" altLang="zh-CN" sz="2400" dirty="0" smtClean="0">
                <a:solidFill>
                  <a:schemeClr val="tx1"/>
                </a:solidFill>
                <a:latin typeface="微软雅黑" panose="020B0503020204020204" pitchFamily="34" charset="-122"/>
                <a:ea typeface="微软雅黑" panose="020B0503020204020204" pitchFamily="34" charset="-122"/>
              </a:rPr>
              <a:t>Disruptor</a:t>
            </a:r>
            <a:r>
              <a:rPr lang="zh-CN" altLang="en-US" sz="2400" dirty="0">
                <a:solidFill>
                  <a:schemeClr val="tx1"/>
                </a:solidFill>
                <a:latin typeface="微软雅黑" panose="020B0503020204020204" pitchFamily="34" charset="-122"/>
                <a:ea typeface="微软雅黑" panose="020B0503020204020204" pitchFamily="34" charset="-122"/>
              </a:rPr>
              <a:t>：</a:t>
            </a:r>
            <a:r>
              <a:rPr lang="zh-CN" altLang="en-US" sz="1600" dirty="0" smtClean="0">
                <a:solidFill>
                  <a:schemeClr val="tx1"/>
                </a:solidFill>
                <a:latin typeface="微软雅黑" panose="020B0503020204020204" pitchFamily="34" charset="-122"/>
                <a:ea typeface="微软雅黑" panose="020B0503020204020204" pitchFamily="34" charset="-122"/>
              </a:rPr>
              <a:t>用于线程</a:t>
            </a:r>
            <a:r>
              <a:rPr lang="zh-CN" altLang="en-US" sz="1600" dirty="0">
                <a:solidFill>
                  <a:schemeClr val="tx1"/>
                </a:solidFill>
                <a:latin typeface="微软雅黑" panose="020B0503020204020204" pitchFamily="34" charset="-122"/>
                <a:ea typeface="微软雅黑" panose="020B0503020204020204" pitchFamily="34" charset="-122"/>
              </a:rPr>
              <a:t>间</a:t>
            </a:r>
            <a:r>
              <a:rPr lang="zh-CN" altLang="en-US" sz="1600" dirty="0" smtClean="0">
                <a:solidFill>
                  <a:schemeClr val="tx1"/>
                </a:solidFill>
                <a:latin typeface="微软雅黑" panose="020B0503020204020204" pitchFamily="34" charset="-122"/>
                <a:ea typeface="微软雅黑" panose="020B0503020204020204" pitchFamily="34" charset="-122"/>
              </a:rPr>
              <a:t>通信、高效、低</a:t>
            </a:r>
            <a:r>
              <a:rPr lang="zh-CN" altLang="en-US" sz="1600" dirty="0">
                <a:solidFill>
                  <a:schemeClr val="tx1"/>
                </a:solidFill>
                <a:latin typeface="微软雅黑" panose="020B0503020204020204" pitchFamily="34" charset="-122"/>
                <a:ea typeface="微软雅黑" panose="020B0503020204020204" pitchFamily="34" charset="-122"/>
              </a:rPr>
              <a:t>延时的消息</a:t>
            </a:r>
            <a:r>
              <a:rPr lang="zh-CN" altLang="en-US" sz="1600" dirty="0" smtClean="0">
                <a:solidFill>
                  <a:schemeClr val="tx1"/>
                </a:solidFill>
                <a:latin typeface="微软雅黑" panose="020B0503020204020204" pitchFamily="34" charset="-122"/>
                <a:ea typeface="微软雅黑" panose="020B0503020204020204" pitchFamily="34" charset="-122"/>
              </a:rPr>
              <a:t>组件</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endParaRPr lang="en-US" altLang="zh-CN" sz="2400" dirty="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en-US" altLang="zh-CN" sz="2400" dirty="0" smtClean="0">
                <a:solidFill>
                  <a:schemeClr val="tx1"/>
                </a:solidFill>
                <a:latin typeface="微软雅黑" panose="020B0503020204020204" pitchFamily="34" charset="-122"/>
                <a:ea typeface="微软雅黑" panose="020B0503020204020204" pitchFamily="34" charset="-122"/>
              </a:rPr>
              <a:t>Event4j </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1600" dirty="0" smtClean="0">
                <a:solidFill>
                  <a:schemeClr val="tx1"/>
                </a:solidFill>
                <a:latin typeface="微软雅黑" panose="020B0503020204020204" pitchFamily="34" charset="-122"/>
                <a:ea typeface="微软雅黑" panose="020B0503020204020204" pitchFamily="34" charset="-122"/>
              </a:rPr>
              <a:t>实现事件驱动</a:t>
            </a:r>
            <a:r>
              <a:rPr lang="zh-CN" altLang="en-US" sz="1600" dirty="0">
                <a:solidFill>
                  <a:schemeClr val="tx1"/>
                </a:solidFill>
                <a:latin typeface="微软雅黑" panose="020B0503020204020204" pitchFamily="34" charset="-122"/>
                <a:ea typeface="微软雅黑" panose="020B0503020204020204" pitchFamily="34" charset="-122"/>
              </a:rPr>
              <a:t>和异步化的轻量级框架</a:t>
            </a:r>
            <a:endParaRPr lang="en-US" altLang="zh-CN" sz="1600" dirty="0" smtClean="0">
              <a:solidFill>
                <a:schemeClr val="tx1"/>
              </a:solidFill>
              <a:latin typeface="微软雅黑" panose="020B0503020204020204" pitchFamily="34" charset="-122"/>
              <a:ea typeface="微软雅黑" panose="020B0503020204020204" pitchFamily="34" charset="-122"/>
            </a:endParaRPr>
          </a:p>
        </p:txBody>
      </p:sp>
      <p:sp>
        <p:nvSpPr>
          <p:cNvPr id="109" name="副标题 2"/>
          <p:cNvSpPr txBox="1"/>
          <p:nvPr/>
        </p:nvSpPr>
        <p:spPr>
          <a:xfrm>
            <a:off x="0" y="836712"/>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109" name="副标题 2"/>
          <p:cNvSpPr txBox="1"/>
          <p:nvPr/>
        </p:nvSpPr>
        <p:spPr>
          <a:xfrm>
            <a:off x="-14194" y="836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en-US" altLang="zh-CN" sz="2400" dirty="0" err="1" smtClean="0">
                <a:solidFill>
                  <a:schemeClr val="tx1"/>
                </a:solidFill>
                <a:latin typeface="微软雅黑" panose="020B0503020204020204" pitchFamily="34" charset="-122"/>
                <a:ea typeface="微软雅黑" panose="020B0503020204020204" pitchFamily="34" charset="-122"/>
              </a:rPr>
              <a:t>Netty</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Group178"/>
          <p:cNvGrpSpPr/>
          <p:nvPr/>
        </p:nvGrpSpPr>
        <p:grpSpPr>
          <a:xfrm>
            <a:off x="318687" y="1557186"/>
            <a:ext cx="8573793" cy="5184182"/>
            <a:chOff x="1159042" y="1485178"/>
            <a:chExt cx="6658158" cy="3887644"/>
          </a:xfrm>
        </p:grpSpPr>
        <p:sp>
          <p:nvSpPr>
            <p:cNvPr id="6" name="外部交互方"/>
            <p:cNvSpPr/>
            <p:nvPr/>
          </p:nvSpPr>
          <p:spPr>
            <a:xfrm>
              <a:off x="3064058" y="2200065"/>
              <a:ext cx="1261290" cy="364800"/>
            </a:xfrm>
            <a:custGeom>
              <a:avLst/>
              <a:gdLst>
                <a:gd name="connsiteX0" fmla="*/ 433200 w 866400"/>
                <a:gd name="connsiteY0" fmla="*/ 364800 h 364800"/>
                <a:gd name="connsiteX1" fmla="*/ 433200 w 866400"/>
                <a:gd name="connsiteY1" fmla="*/ 0 h 364800"/>
                <a:gd name="connsiteX2" fmla="*/ 866400 w 866400"/>
                <a:gd name="connsiteY2" fmla="*/ 182400 h 364800"/>
                <a:gd name="connsiteX3" fmla="*/ 0 w 866400"/>
                <a:gd name="connsiteY3" fmla="*/ 182400 h 364800"/>
                <a:gd name="connsiteX4" fmla="*/ 433200 w 866400"/>
                <a:gd name="connsiteY4" fmla="*/ 182400 h 364800"/>
                <a:gd name="connsiteX5" fmla="*/ 0 w 866400"/>
                <a:gd name="connsiteY5" fmla="*/ 91200 h 364800"/>
                <a:gd name="connsiteX6" fmla="*/ 0 w 866400"/>
                <a:gd name="connsiteY6" fmla="*/ 273600 h 364800"/>
                <a:gd name="connsiteX7" fmla="*/ 866400 w 866400"/>
                <a:gd name="connsiteY7" fmla="*/ 91200 h 364800"/>
                <a:gd name="connsiteX8" fmla="*/ 866400 w 866400"/>
                <a:gd name="connsiteY8" fmla="*/ 273600 h 364800"/>
                <a:gd name="connsiteX9" fmla="*/ 216600 w 866400"/>
                <a:gd name="connsiteY9" fmla="*/ 0 h 364800"/>
                <a:gd name="connsiteX10" fmla="*/ 649800 w 866400"/>
                <a:gd name="connsiteY10" fmla="*/ 0 h 364800"/>
                <a:gd name="connsiteX11" fmla="*/ 216600 w 866400"/>
                <a:gd name="connsiteY11" fmla="*/ 364800 h 364800"/>
                <a:gd name="connsiteX12" fmla="*/ 649800 w 866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6400" h="364800">
                  <a:moveTo>
                    <a:pt x="866400" y="364800"/>
                  </a:moveTo>
                  <a:lnTo>
                    <a:pt x="866400" y="0"/>
                  </a:lnTo>
                  <a:lnTo>
                    <a:pt x="0" y="0"/>
                  </a:lnTo>
                  <a:lnTo>
                    <a:pt x="0" y="364800"/>
                  </a:lnTo>
                  <a:lnTo>
                    <a:pt x="866400" y="364800"/>
                  </a:lnTo>
                  <a:close/>
                </a:path>
              </a:pathLst>
            </a:custGeom>
            <a:solidFill>
              <a:srgbClr val="FFFFFF"/>
            </a:solidFill>
            <a:ln w="7600" cap="flat">
              <a:noFill/>
              <a:bevel/>
            </a:ln>
          </p:spPr>
          <p:txBody>
            <a:bodyPr wrap="square" lIns="0" tIns="0" rIns="0" bIns="0" rtlCol="0" anchor="ctr"/>
            <a:lstStyle/>
            <a:p>
              <a:pPr algn="ctr">
                <a:lnSpc>
                  <a:spcPct val="100000"/>
                </a:lnSpc>
              </a:pPr>
              <a:r>
                <a:rPr sz="1400" dirty="0" err="1">
                  <a:solidFill>
                    <a:srgbClr val="236EA1"/>
                  </a:solidFill>
                  <a:latin typeface="微软雅黑" panose="020B0503020204020204" pitchFamily="34" charset="-122"/>
                </a:rPr>
                <a:t>ChannelHandler</a:t>
              </a:r>
              <a:endParaRPr sz="1400" dirty="0">
                <a:solidFill>
                  <a:srgbClr val="236EA1"/>
                </a:solidFill>
                <a:latin typeface="微软雅黑" panose="020B0503020204020204" pitchFamily="34" charset="-122"/>
              </a:endParaRPr>
            </a:p>
          </p:txBody>
        </p:sp>
        <p:sp>
          <p:nvSpPr>
            <p:cNvPr id="7" name="外部交互方"/>
            <p:cNvSpPr/>
            <p:nvPr/>
          </p:nvSpPr>
          <p:spPr>
            <a:xfrm>
              <a:off x="1159042" y="2343978"/>
              <a:ext cx="1322400" cy="364800"/>
            </a:xfrm>
            <a:custGeom>
              <a:avLst/>
              <a:gdLst>
                <a:gd name="connsiteX0" fmla="*/ 433200 w 866400"/>
                <a:gd name="connsiteY0" fmla="*/ 364800 h 364800"/>
                <a:gd name="connsiteX1" fmla="*/ 433200 w 866400"/>
                <a:gd name="connsiteY1" fmla="*/ 0 h 364800"/>
                <a:gd name="connsiteX2" fmla="*/ 866400 w 866400"/>
                <a:gd name="connsiteY2" fmla="*/ 182400 h 364800"/>
                <a:gd name="connsiteX3" fmla="*/ 0 w 866400"/>
                <a:gd name="connsiteY3" fmla="*/ 182400 h 364800"/>
                <a:gd name="connsiteX4" fmla="*/ 433200 w 866400"/>
                <a:gd name="connsiteY4" fmla="*/ 182400 h 364800"/>
                <a:gd name="connsiteX5" fmla="*/ 0 w 866400"/>
                <a:gd name="connsiteY5" fmla="*/ 91200 h 364800"/>
                <a:gd name="connsiteX6" fmla="*/ 0 w 866400"/>
                <a:gd name="connsiteY6" fmla="*/ 273600 h 364800"/>
                <a:gd name="connsiteX7" fmla="*/ 866400 w 866400"/>
                <a:gd name="connsiteY7" fmla="*/ 91200 h 364800"/>
                <a:gd name="connsiteX8" fmla="*/ 866400 w 866400"/>
                <a:gd name="connsiteY8" fmla="*/ 273600 h 364800"/>
                <a:gd name="connsiteX9" fmla="*/ 216600 w 866400"/>
                <a:gd name="connsiteY9" fmla="*/ 0 h 364800"/>
                <a:gd name="connsiteX10" fmla="*/ 649800 w 866400"/>
                <a:gd name="connsiteY10" fmla="*/ 0 h 364800"/>
                <a:gd name="connsiteX11" fmla="*/ 216600 w 866400"/>
                <a:gd name="connsiteY11" fmla="*/ 364800 h 364800"/>
                <a:gd name="connsiteX12" fmla="*/ 649800 w 866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6400" h="364800">
                  <a:moveTo>
                    <a:pt x="866400" y="364800"/>
                  </a:moveTo>
                  <a:lnTo>
                    <a:pt x="866400" y="0"/>
                  </a:lnTo>
                  <a:lnTo>
                    <a:pt x="0" y="0"/>
                  </a:lnTo>
                  <a:lnTo>
                    <a:pt x="0" y="364800"/>
                  </a:lnTo>
                  <a:lnTo>
                    <a:pt x="866400" y="364800"/>
                  </a:lnTo>
                  <a:close/>
                </a:path>
              </a:pathLst>
            </a:custGeom>
            <a:solidFill>
              <a:srgbClr val="FFFFFF"/>
            </a:solidFill>
            <a:ln w="7600" cap="flat">
              <a:noFill/>
              <a:bevel/>
            </a:ln>
          </p:spPr>
          <p:txBody>
            <a:bodyPr wrap="square" lIns="0" tIns="0" rIns="0" bIns="0" rtlCol="0" anchor="ctr"/>
            <a:lstStyle/>
            <a:p>
              <a:pPr algn="ctr">
                <a:lnSpc>
                  <a:spcPct val="100000"/>
                </a:lnSpc>
              </a:pPr>
              <a:r>
                <a:rPr sz="1600" dirty="0" err="1">
                  <a:solidFill>
                    <a:srgbClr val="236EA1"/>
                  </a:solidFill>
                  <a:latin typeface="微软雅黑" panose="020B0503020204020204" pitchFamily="34" charset="-122"/>
                </a:rPr>
                <a:t>ChannelHandler</a:t>
              </a:r>
              <a:endParaRPr sz="1600" dirty="0">
                <a:solidFill>
                  <a:srgbClr val="236EA1"/>
                </a:solidFill>
                <a:latin typeface="微软雅黑" panose="020B0503020204020204" pitchFamily="34" charset="-122"/>
              </a:endParaRPr>
            </a:p>
          </p:txBody>
        </p:sp>
        <p:sp>
          <p:nvSpPr>
            <p:cNvPr id="8" name="外部交互方"/>
            <p:cNvSpPr/>
            <p:nvPr/>
          </p:nvSpPr>
          <p:spPr>
            <a:xfrm>
              <a:off x="3401600" y="4257783"/>
              <a:ext cx="699200" cy="364800"/>
            </a:xfrm>
            <a:custGeom>
              <a:avLst/>
              <a:gdLst>
                <a:gd name="connsiteX0" fmla="*/ 349600 w 699200"/>
                <a:gd name="connsiteY0" fmla="*/ 364800 h 364800"/>
                <a:gd name="connsiteX1" fmla="*/ 349600 w 699200"/>
                <a:gd name="connsiteY1" fmla="*/ 0 h 364800"/>
                <a:gd name="connsiteX2" fmla="*/ 699200 w 699200"/>
                <a:gd name="connsiteY2" fmla="*/ 182400 h 364800"/>
                <a:gd name="connsiteX3" fmla="*/ 0 w 699200"/>
                <a:gd name="connsiteY3" fmla="*/ 182400 h 364800"/>
                <a:gd name="connsiteX4" fmla="*/ 349600 w 699200"/>
                <a:gd name="connsiteY4" fmla="*/ 182400 h 364800"/>
                <a:gd name="connsiteX5" fmla="*/ 0 w 699200"/>
                <a:gd name="connsiteY5" fmla="*/ 91200 h 364800"/>
                <a:gd name="connsiteX6" fmla="*/ 0 w 699200"/>
                <a:gd name="connsiteY6" fmla="*/ 273600 h 364800"/>
                <a:gd name="connsiteX7" fmla="*/ 699200 w 699200"/>
                <a:gd name="connsiteY7" fmla="*/ 91200 h 364800"/>
                <a:gd name="connsiteX8" fmla="*/ 699200 w 699200"/>
                <a:gd name="connsiteY8" fmla="*/ 273600 h 364800"/>
                <a:gd name="connsiteX9" fmla="*/ 174800 w 699200"/>
                <a:gd name="connsiteY9" fmla="*/ 0 h 364800"/>
                <a:gd name="connsiteX10" fmla="*/ 524400 w 699200"/>
                <a:gd name="connsiteY10" fmla="*/ 0 h 364800"/>
                <a:gd name="connsiteX11" fmla="*/ 174800 w 699200"/>
                <a:gd name="connsiteY11" fmla="*/ 364800 h 364800"/>
                <a:gd name="connsiteX12" fmla="*/ 524400 w 699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200" h="364800">
                  <a:moveTo>
                    <a:pt x="699200" y="364800"/>
                  </a:moveTo>
                  <a:lnTo>
                    <a:pt x="699200" y="0"/>
                  </a:lnTo>
                  <a:lnTo>
                    <a:pt x="0" y="0"/>
                  </a:lnTo>
                  <a:lnTo>
                    <a:pt x="0" y="364800"/>
                  </a:lnTo>
                  <a:lnTo>
                    <a:pt x="699200" y="364800"/>
                  </a:lnTo>
                  <a:close/>
                </a:path>
              </a:pathLst>
            </a:custGeom>
            <a:solidFill>
              <a:srgbClr val="FFFFFF"/>
            </a:solidFill>
            <a:ln w="7600" cap="flat">
              <a:noFill/>
              <a:bevel/>
            </a:ln>
          </p:spPr>
          <p:txBody>
            <a:bodyPr wrap="square" lIns="0" tIns="0" rIns="0" bIns="0" rtlCol="0" anchor="ctr"/>
            <a:lstStyle/>
            <a:p>
              <a:pPr algn="ctr">
                <a:lnSpc>
                  <a:spcPct val="100000"/>
                </a:lnSpc>
              </a:pPr>
              <a:r>
                <a:rPr sz="1050" dirty="0" err="1">
                  <a:solidFill>
                    <a:srgbClr val="FF0000"/>
                  </a:solidFill>
                  <a:latin typeface="微软雅黑" panose="020B0503020204020204" pitchFamily="34" charset="-122"/>
                </a:rPr>
                <a:t>ChannelEvent</a:t>
              </a:r>
              <a:endParaRPr sz="1050" dirty="0">
                <a:solidFill>
                  <a:srgbClr val="FF0000"/>
                </a:solidFill>
                <a:latin typeface="微软雅黑" panose="020B0503020204020204" pitchFamily="34" charset="-122"/>
              </a:endParaRPr>
            </a:p>
          </p:txBody>
        </p:sp>
        <p:grpSp>
          <p:nvGrpSpPr>
            <p:cNvPr id="9" name="椭圆形过程"/>
            <p:cNvGrpSpPr/>
            <p:nvPr/>
          </p:nvGrpSpPr>
          <p:grpSpPr>
            <a:xfrm>
              <a:off x="2512400" y="1903178"/>
              <a:ext cx="592800" cy="288800"/>
              <a:chOff x="2512400" y="1903178"/>
              <a:chExt cx="592800" cy="288800"/>
            </a:xfrm>
          </p:grpSpPr>
          <p:sp>
            <p:nvSpPr>
              <p:cNvPr id="65" name="任意多边形 64"/>
              <p:cNvSpPr/>
              <p:nvPr/>
            </p:nvSpPr>
            <p:spPr>
              <a:xfrm>
                <a:off x="2512400" y="19031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66" name="Ellipse"/>
              <p:cNvSpPr/>
              <p:nvPr/>
            </p:nvSpPr>
            <p:spPr>
              <a:xfrm>
                <a:off x="2512400" y="19031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grpSp>
          <p:nvGrpSpPr>
            <p:cNvPr id="10" name="椭圆形过程"/>
            <p:cNvGrpSpPr/>
            <p:nvPr/>
          </p:nvGrpSpPr>
          <p:grpSpPr>
            <a:xfrm>
              <a:off x="2512400" y="2435178"/>
              <a:ext cx="592800" cy="288800"/>
              <a:chOff x="2512400" y="2435178"/>
              <a:chExt cx="592800" cy="288800"/>
            </a:xfrm>
          </p:grpSpPr>
          <p:sp>
            <p:nvSpPr>
              <p:cNvPr id="63" name="任意多边形 62"/>
              <p:cNvSpPr/>
              <p:nvPr/>
            </p:nvSpPr>
            <p:spPr>
              <a:xfrm>
                <a:off x="2512400" y="24351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64" name="Ellipse"/>
              <p:cNvSpPr/>
              <p:nvPr/>
            </p:nvSpPr>
            <p:spPr>
              <a:xfrm>
                <a:off x="2512400" y="24351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grpSp>
          <p:nvGrpSpPr>
            <p:cNvPr id="11" name="椭圆形过程"/>
            <p:cNvGrpSpPr/>
            <p:nvPr/>
          </p:nvGrpSpPr>
          <p:grpSpPr>
            <a:xfrm>
              <a:off x="2512400" y="3301578"/>
              <a:ext cx="592800" cy="288800"/>
              <a:chOff x="2512400" y="3301578"/>
              <a:chExt cx="592800" cy="288800"/>
            </a:xfrm>
          </p:grpSpPr>
          <p:sp>
            <p:nvSpPr>
              <p:cNvPr id="61" name="任意多边形 60"/>
              <p:cNvSpPr/>
              <p:nvPr/>
            </p:nvSpPr>
            <p:spPr>
              <a:xfrm>
                <a:off x="2512400" y="33015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62" name="Ellipse"/>
              <p:cNvSpPr/>
              <p:nvPr/>
            </p:nvSpPr>
            <p:spPr>
              <a:xfrm>
                <a:off x="2512400" y="33015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grpSp>
          <p:nvGrpSpPr>
            <p:cNvPr id="12" name="椭圆形过程"/>
            <p:cNvGrpSpPr/>
            <p:nvPr/>
          </p:nvGrpSpPr>
          <p:grpSpPr>
            <a:xfrm>
              <a:off x="4154000" y="1865178"/>
              <a:ext cx="592800" cy="288800"/>
              <a:chOff x="4154000" y="1865178"/>
              <a:chExt cx="592800" cy="288800"/>
            </a:xfrm>
          </p:grpSpPr>
          <p:sp>
            <p:nvSpPr>
              <p:cNvPr id="59" name="任意多边形 58"/>
              <p:cNvSpPr/>
              <p:nvPr/>
            </p:nvSpPr>
            <p:spPr>
              <a:xfrm>
                <a:off x="4154000" y="18651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60" name="Ellipse"/>
              <p:cNvSpPr/>
              <p:nvPr/>
            </p:nvSpPr>
            <p:spPr>
              <a:xfrm>
                <a:off x="4154000" y="18651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grpSp>
          <p:nvGrpSpPr>
            <p:cNvPr id="13" name="椭圆形过程"/>
            <p:cNvGrpSpPr/>
            <p:nvPr/>
          </p:nvGrpSpPr>
          <p:grpSpPr>
            <a:xfrm>
              <a:off x="4154000" y="2435178"/>
              <a:ext cx="592800" cy="288800"/>
              <a:chOff x="4154000" y="2435178"/>
              <a:chExt cx="592800" cy="288800"/>
            </a:xfrm>
          </p:grpSpPr>
          <p:sp>
            <p:nvSpPr>
              <p:cNvPr id="57" name="任意多边形 56"/>
              <p:cNvSpPr/>
              <p:nvPr/>
            </p:nvSpPr>
            <p:spPr>
              <a:xfrm>
                <a:off x="4154000" y="24351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58" name="Ellipse"/>
              <p:cNvSpPr/>
              <p:nvPr/>
            </p:nvSpPr>
            <p:spPr>
              <a:xfrm>
                <a:off x="4154000" y="24351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grpSp>
          <p:nvGrpSpPr>
            <p:cNvPr id="14" name="椭圆形过程"/>
            <p:cNvGrpSpPr/>
            <p:nvPr/>
          </p:nvGrpSpPr>
          <p:grpSpPr>
            <a:xfrm>
              <a:off x="4154000" y="3293978"/>
              <a:ext cx="592800" cy="288800"/>
              <a:chOff x="4154000" y="3293978"/>
              <a:chExt cx="592800" cy="288800"/>
            </a:xfrm>
          </p:grpSpPr>
          <p:sp>
            <p:nvSpPr>
              <p:cNvPr id="55" name="任意多边形 54"/>
              <p:cNvSpPr/>
              <p:nvPr/>
            </p:nvSpPr>
            <p:spPr>
              <a:xfrm>
                <a:off x="4154000" y="3293978"/>
                <a:ext cx="592800" cy="288800"/>
              </a:xfrm>
              <a:custGeom>
                <a:avLst/>
                <a:gdLst/>
                <a:ahLst/>
                <a:cxnLst/>
                <a:rect l="0" t="0" r="0" b="0"/>
                <a:pathLst>
                  <a:path w="592800" h="288800" fill="none">
                    <a:moveTo>
                      <a:pt x="296400" y="144400"/>
                    </a:moveTo>
                    <a:moveTo>
                      <a:pt x="296400" y="144400"/>
                    </a:moveTo>
                    <a:moveTo>
                      <a:pt x="296400" y="144400"/>
                    </a:moveTo>
                    <a:moveTo>
                      <a:pt x="296400" y="144400"/>
                    </a:moveTo>
                  </a:path>
                </a:pathLst>
              </a:custGeom>
              <a:solidFill>
                <a:srgbClr val="3498DB"/>
              </a:solidFill>
              <a:ln w="7600" cap="flat">
                <a:solidFill>
                  <a:srgbClr val="3498DB"/>
                </a:solidFill>
                <a:bevel/>
              </a:ln>
            </p:spPr>
          </p:sp>
          <p:sp>
            <p:nvSpPr>
              <p:cNvPr id="56" name="Ellipse"/>
              <p:cNvSpPr/>
              <p:nvPr/>
            </p:nvSpPr>
            <p:spPr>
              <a:xfrm>
                <a:off x="4154000" y="3293978"/>
                <a:ext cx="592800" cy="288800"/>
              </a:xfrm>
              <a:custGeom>
                <a:avLst/>
                <a:gdLst/>
                <a:ahLst/>
                <a:cxnLst/>
                <a:rect l="0" t="0" r="0" b="0"/>
                <a:pathLst>
                  <a:path w="592800" h="288800">
                    <a:moveTo>
                      <a:pt x="0" y="144400"/>
                    </a:moveTo>
                    <a:cubicBezTo>
                      <a:pt x="0" y="64650"/>
                      <a:pt x="132703" y="0"/>
                      <a:pt x="296400" y="0"/>
                    </a:cubicBezTo>
                    <a:cubicBezTo>
                      <a:pt x="460097" y="0"/>
                      <a:pt x="592800" y="64650"/>
                      <a:pt x="592800" y="144400"/>
                    </a:cubicBezTo>
                    <a:cubicBezTo>
                      <a:pt x="592800" y="224150"/>
                      <a:pt x="460097" y="288800"/>
                      <a:pt x="296400" y="288800"/>
                    </a:cubicBezTo>
                    <a:cubicBezTo>
                      <a:pt x="132703" y="288800"/>
                      <a:pt x="0" y="224150"/>
                      <a:pt x="0" y="144400"/>
                    </a:cubicBezTo>
                    <a:close/>
                  </a:path>
                </a:pathLst>
              </a:custGeom>
              <a:solidFill>
                <a:srgbClr val="3498DB"/>
              </a:solidFill>
              <a:ln w="7600" cap="flat">
                <a:solidFill>
                  <a:srgbClr val="3498DB"/>
                </a:solidFill>
                <a:bevel/>
              </a:ln>
            </p:spPr>
          </p:sp>
        </p:grpSp>
        <p:sp>
          <p:nvSpPr>
            <p:cNvPr id="15" name="外部交互方"/>
            <p:cNvSpPr/>
            <p:nvPr/>
          </p:nvSpPr>
          <p:spPr>
            <a:xfrm>
              <a:off x="1995600" y="3878041"/>
              <a:ext cx="3268000" cy="152000"/>
            </a:xfrm>
            <a:custGeom>
              <a:avLst/>
              <a:gdLst>
                <a:gd name="connsiteX0" fmla="*/ 1634000 w 3268000"/>
                <a:gd name="connsiteY0" fmla="*/ 152000 h 152000"/>
                <a:gd name="connsiteX1" fmla="*/ 1634000 w 3268000"/>
                <a:gd name="connsiteY1" fmla="*/ 0 h 152000"/>
                <a:gd name="connsiteX2" fmla="*/ 3268000 w 3268000"/>
                <a:gd name="connsiteY2" fmla="*/ 76000 h 152000"/>
                <a:gd name="connsiteX3" fmla="*/ 0 w 3268000"/>
                <a:gd name="connsiteY3" fmla="*/ 76000 h 152000"/>
                <a:gd name="connsiteX4" fmla="*/ 1634000 w 3268000"/>
                <a:gd name="connsiteY4" fmla="*/ 76000 h 152000"/>
                <a:gd name="connsiteX5" fmla="*/ 0 w 3268000"/>
                <a:gd name="connsiteY5" fmla="*/ 38000 h 152000"/>
                <a:gd name="connsiteX6" fmla="*/ 0 w 3268000"/>
                <a:gd name="connsiteY6" fmla="*/ 114000 h 152000"/>
                <a:gd name="connsiteX7" fmla="*/ 3268000 w 3268000"/>
                <a:gd name="connsiteY7" fmla="*/ 38000 h 152000"/>
                <a:gd name="connsiteX8" fmla="*/ 3268000 w 3268000"/>
                <a:gd name="connsiteY8" fmla="*/ 114000 h 152000"/>
                <a:gd name="connsiteX9" fmla="*/ 817000 w 3268000"/>
                <a:gd name="connsiteY9" fmla="*/ 0 h 152000"/>
                <a:gd name="connsiteX10" fmla="*/ 2451000 w 3268000"/>
                <a:gd name="connsiteY10" fmla="*/ 0 h 152000"/>
                <a:gd name="connsiteX11" fmla="*/ 817000 w 3268000"/>
                <a:gd name="connsiteY11" fmla="*/ 152000 h 152000"/>
                <a:gd name="connsiteX12" fmla="*/ 2451000 w 3268000"/>
                <a:gd name="connsiteY12" fmla="*/ 152000 h 15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3268000" h="152000">
                  <a:moveTo>
                    <a:pt x="3268000" y="152000"/>
                  </a:moveTo>
                  <a:lnTo>
                    <a:pt x="3268000" y="0"/>
                  </a:lnTo>
                  <a:lnTo>
                    <a:pt x="0" y="0"/>
                  </a:lnTo>
                  <a:lnTo>
                    <a:pt x="0" y="152000"/>
                  </a:lnTo>
                  <a:lnTo>
                    <a:pt x="3268000" y="152000"/>
                  </a:lnTo>
                  <a:close/>
                </a:path>
              </a:pathLst>
            </a:custGeom>
            <a:solidFill>
              <a:srgbClr val="F5BFAD"/>
            </a:solidFill>
            <a:ln w="7600" cap="flat">
              <a:solidFill>
                <a:srgbClr val="F5BFAD"/>
              </a:solidFill>
              <a:bevel/>
            </a:ln>
          </p:spPr>
        </p:sp>
        <p:sp>
          <p:nvSpPr>
            <p:cNvPr id="16" name="外部交互方"/>
            <p:cNvSpPr/>
            <p:nvPr/>
          </p:nvSpPr>
          <p:spPr>
            <a:xfrm>
              <a:off x="2998800" y="4850326"/>
              <a:ext cx="1314800" cy="495652"/>
            </a:xfrm>
            <a:custGeom>
              <a:avLst/>
              <a:gdLst>
                <a:gd name="connsiteX0" fmla="*/ 657400 w 1314800"/>
                <a:gd name="connsiteY0" fmla="*/ 495652 h 495652"/>
                <a:gd name="connsiteX1" fmla="*/ 657400 w 1314800"/>
                <a:gd name="connsiteY1" fmla="*/ 0 h 495652"/>
                <a:gd name="connsiteX2" fmla="*/ 1314800 w 1314800"/>
                <a:gd name="connsiteY2" fmla="*/ 247826 h 495652"/>
                <a:gd name="connsiteX3" fmla="*/ 0 w 1314800"/>
                <a:gd name="connsiteY3" fmla="*/ 247826 h 495652"/>
                <a:gd name="connsiteX4" fmla="*/ 657400 w 1314800"/>
                <a:gd name="connsiteY4" fmla="*/ 247826 h 495652"/>
                <a:gd name="connsiteX5" fmla="*/ 0 w 1314800"/>
                <a:gd name="connsiteY5" fmla="*/ 123913 h 495652"/>
                <a:gd name="connsiteX6" fmla="*/ 0 w 1314800"/>
                <a:gd name="connsiteY6" fmla="*/ 371739 h 495652"/>
                <a:gd name="connsiteX7" fmla="*/ 1314800 w 1314800"/>
                <a:gd name="connsiteY7" fmla="*/ 123913 h 495652"/>
                <a:gd name="connsiteX8" fmla="*/ 1314800 w 1314800"/>
                <a:gd name="connsiteY8" fmla="*/ 371739 h 495652"/>
                <a:gd name="connsiteX9" fmla="*/ 328700 w 1314800"/>
                <a:gd name="connsiteY9" fmla="*/ 0 h 495652"/>
                <a:gd name="connsiteX10" fmla="*/ 986100 w 1314800"/>
                <a:gd name="connsiteY10" fmla="*/ 0 h 495652"/>
                <a:gd name="connsiteX11" fmla="*/ 328700 w 1314800"/>
                <a:gd name="connsiteY11" fmla="*/ 495652 h 495652"/>
                <a:gd name="connsiteX12" fmla="*/ 986100 w 1314800"/>
                <a:gd name="connsiteY12" fmla="*/ 495652 h 49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14800" h="495652">
                  <a:moveTo>
                    <a:pt x="1314800" y="495652"/>
                  </a:moveTo>
                  <a:lnTo>
                    <a:pt x="1314800" y="0"/>
                  </a:lnTo>
                  <a:lnTo>
                    <a:pt x="0" y="0"/>
                  </a:lnTo>
                  <a:lnTo>
                    <a:pt x="0" y="495652"/>
                  </a:lnTo>
                  <a:lnTo>
                    <a:pt x="1314800" y="495652"/>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825">
                  <a:solidFill>
                    <a:srgbClr val="FFFFFF"/>
                  </a:solidFill>
                  <a:latin typeface="微软雅黑" panose="020B0503020204020204" pitchFamily="34" charset="-122"/>
                </a:rPr>
                <a:t>Socket</a:t>
              </a:r>
              <a:endParaRPr sz="1825">
                <a:solidFill>
                  <a:srgbClr val="FFFFFF"/>
                </a:solidFill>
                <a:latin typeface="微软雅黑" panose="020B0503020204020204" pitchFamily="34" charset="-122"/>
              </a:endParaRPr>
            </a:p>
          </p:txBody>
        </p:sp>
        <p:sp>
          <p:nvSpPr>
            <p:cNvPr id="17" name="直线连接线"/>
            <p:cNvSpPr/>
            <p:nvPr/>
          </p:nvSpPr>
          <p:spPr>
            <a:xfrm rot="-5400000">
              <a:off x="2687200" y="2313578"/>
              <a:ext cx="243200" cy="0"/>
            </a:xfrm>
            <a:custGeom>
              <a:avLst/>
              <a:gdLst/>
              <a:ahLst/>
              <a:cxnLst/>
              <a:rect l="0" t="0" r="0" b="0"/>
              <a:pathLst>
                <a:path w="243200" fill="none">
                  <a:moveTo>
                    <a:pt x="0" y="0"/>
                  </a:moveTo>
                  <a:lnTo>
                    <a:pt x="243200" y="0"/>
                  </a:lnTo>
                </a:path>
              </a:pathLst>
            </a:custGeom>
            <a:noFill/>
            <a:ln w="50667" cap="flat">
              <a:solidFill>
                <a:srgbClr val="F5BFAD"/>
              </a:solidFill>
              <a:bevel/>
              <a:tailEnd type="stealth" w="med" len="med"/>
            </a:ln>
          </p:spPr>
        </p:sp>
        <p:grpSp>
          <p:nvGrpSpPr>
            <p:cNvPr id="18" name="Group 179"/>
            <p:cNvGrpSpPr/>
            <p:nvPr/>
          </p:nvGrpSpPr>
          <p:grpSpPr>
            <a:xfrm rot="-5400000">
              <a:off x="2613116" y="1955928"/>
              <a:ext cx="577600" cy="2113701"/>
              <a:chOff x="2520000" y="2049043"/>
              <a:chExt cx="577600" cy="2113701"/>
            </a:xfrm>
          </p:grpSpPr>
          <p:sp>
            <p:nvSpPr>
              <p:cNvPr id="53" name="直线连接线"/>
              <p:cNvSpPr/>
              <p:nvPr/>
            </p:nvSpPr>
            <p:spPr>
              <a:xfrm>
                <a:off x="2520000" y="3012778"/>
                <a:ext cx="577600" cy="0"/>
              </a:xfrm>
              <a:custGeom>
                <a:avLst/>
                <a:gdLst/>
                <a:ahLst/>
                <a:cxnLst/>
                <a:rect l="0" t="0" r="0" b="0"/>
                <a:pathLst>
                  <a:path w="577600" fill="none">
                    <a:moveTo>
                      <a:pt x="0" y="0"/>
                    </a:moveTo>
                    <a:lnTo>
                      <a:pt x="577600" y="0"/>
                    </a:lnTo>
                  </a:path>
                </a:pathLst>
              </a:custGeom>
              <a:noFill/>
              <a:ln w="50667" cap="flat">
                <a:solidFill>
                  <a:srgbClr val="F5BFAD"/>
                </a:solidFill>
                <a:bevel/>
                <a:tailEnd type="stealth" w="med" len="med"/>
              </a:ln>
            </p:spPr>
          </p:sp>
          <p:sp>
            <p:nvSpPr>
              <p:cNvPr id="54" name="Text 180"/>
              <p:cNvSpPr txBox="1"/>
              <p:nvPr/>
            </p:nvSpPr>
            <p:spPr>
              <a:xfrm rot="5400000">
                <a:off x="1739067" y="2969094"/>
                <a:ext cx="2113701" cy="273600"/>
              </a:xfrm>
              <a:prstGeom prst="rect">
                <a:avLst/>
              </a:prstGeom>
              <a:noFill/>
            </p:spPr>
            <p:txBody>
              <a:bodyPr wrap="square" lIns="36000" tIns="0" rIns="36000" bIns="0" rtlCol="0" anchor="ctr"/>
              <a:lstStyle/>
              <a:p>
                <a:pPr algn="ctr">
                  <a:lnSpc>
                    <a:spcPct val="100000"/>
                  </a:lnSpc>
                </a:pPr>
                <a:r>
                  <a:rPr sz="2000" dirty="0" err="1">
                    <a:solidFill>
                      <a:srgbClr val="FF0000"/>
                    </a:solidFill>
                    <a:latin typeface="微软雅黑" panose="020B0503020204020204" pitchFamily="34" charset="-122"/>
                  </a:rPr>
                  <a:t>SendUpStream</a:t>
                </a:r>
                <a:endParaRPr sz="2000" dirty="0">
                  <a:solidFill>
                    <a:srgbClr val="FF0000"/>
                  </a:solidFill>
                  <a:latin typeface="微软雅黑" panose="020B0503020204020204" pitchFamily="34" charset="-122"/>
                </a:endParaRPr>
              </a:p>
            </p:txBody>
          </p:sp>
        </p:grpSp>
        <p:grpSp>
          <p:nvGrpSpPr>
            <p:cNvPr id="19" name="Group 181"/>
            <p:cNvGrpSpPr/>
            <p:nvPr/>
          </p:nvGrpSpPr>
          <p:grpSpPr>
            <a:xfrm rot="5400000">
              <a:off x="4442867" y="1975311"/>
              <a:ext cx="570000" cy="2067334"/>
              <a:chOff x="4165400" y="1697844"/>
              <a:chExt cx="570000" cy="2067334"/>
            </a:xfrm>
          </p:grpSpPr>
          <p:sp>
            <p:nvSpPr>
              <p:cNvPr id="51" name="直线连接线"/>
              <p:cNvSpPr/>
              <p:nvPr/>
            </p:nvSpPr>
            <p:spPr>
              <a:xfrm>
                <a:off x="4165400" y="3008978"/>
                <a:ext cx="570000" cy="0"/>
              </a:xfrm>
              <a:custGeom>
                <a:avLst/>
                <a:gdLst/>
                <a:ahLst/>
                <a:cxnLst/>
                <a:rect l="0" t="0" r="0" b="0"/>
                <a:pathLst>
                  <a:path w="570000" fill="none">
                    <a:moveTo>
                      <a:pt x="0" y="0"/>
                    </a:moveTo>
                    <a:lnTo>
                      <a:pt x="570000" y="0"/>
                    </a:lnTo>
                  </a:path>
                </a:pathLst>
              </a:custGeom>
              <a:noFill/>
              <a:ln w="50667" cap="flat">
                <a:solidFill>
                  <a:srgbClr val="F5BFAD"/>
                </a:solidFill>
                <a:bevel/>
                <a:tailEnd type="stealth" w="med" len="med"/>
              </a:ln>
            </p:spPr>
          </p:sp>
          <p:sp>
            <p:nvSpPr>
              <p:cNvPr id="52" name="Text 182"/>
              <p:cNvSpPr txBox="1"/>
              <p:nvPr/>
            </p:nvSpPr>
            <p:spPr>
              <a:xfrm rot="16200000">
                <a:off x="3416733" y="2594711"/>
                <a:ext cx="2067334" cy="273600"/>
              </a:xfrm>
              <a:prstGeom prst="rect">
                <a:avLst/>
              </a:prstGeom>
              <a:noFill/>
            </p:spPr>
            <p:txBody>
              <a:bodyPr wrap="square" lIns="36000" tIns="0" rIns="36000" bIns="0" rtlCol="0" anchor="ctr"/>
              <a:lstStyle/>
              <a:p>
                <a:pPr algn="ctr">
                  <a:lnSpc>
                    <a:spcPct val="100000"/>
                  </a:lnSpc>
                </a:pPr>
                <a:r>
                  <a:rPr>
                    <a:solidFill>
                      <a:srgbClr val="FF0000"/>
                    </a:solidFill>
                    <a:latin typeface="微软雅黑" panose="020B0503020204020204" pitchFamily="34" charset="-122"/>
                  </a:rPr>
                  <a:t>SendDownStream</a:t>
                </a:r>
                <a:endParaRPr>
                  <a:solidFill>
                    <a:srgbClr val="FF0000"/>
                  </a:solidFill>
                  <a:latin typeface="微软雅黑" panose="020B0503020204020204" pitchFamily="34" charset="-122"/>
                </a:endParaRPr>
              </a:p>
            </p:txBody>
          </p:sp>
        </p:grpSp>
        <p:cxnSp>
          <p:nvCxnSpPr>
            <p:cNvPr id="20" name="直线连接线"/>
            <p:cNvCxnSpPr/>
            <p:nvPr/>
          </p:nvCxnSpPr>
          <p:spPr>
            <a:xfrm rot="5400000">
              <a:off x="4309800" y="2294578"/>
              <a:ext cx="281200" cy="0"/>
            </a:xfrm>
            <a:prstGeom prst="line">
              <a:avLst/>
            </a:prstGeom>
            <a:ln w="50667" cap="flat">
              <a:solidFill>
                <a:srgbClr val="F5BFAD"/>
              </a:solidFill>
              <a:bevel/>
              <a:tailEnd type="stealth" w="med" len="med"/>
            </a:ln>
          </p:spPr>
        </p:cxnSp>
        <p:grpSp>
          <p:nvGrpSpPr>
            <p:cNvPr id="21" name="弯曲风格化箭头"/>
            <p:cNvGrpSpPr/>
            <p:nvPr/>
          </p:nvGrpSpPr>
          <p:grpSpPr>
            <a:xfrm flipH="1">
              <a:off x="3188800" y="4128583"/>
              <a:ext cx="425600" cy="623200"/>
              <a:chOff x="3188800" y="4128583"/>
              <a:chExt cx="425600" cy="623200"/>
            </a:xfrm>
          </p:grpSpPr>
          <p:sp>
            <p:nvSpPr>
              <p:cNvPr id="49" name="任意多边形 48"/>
              <p:cNvSpPr/>
              <p:nvPr/>
            </p:nvSpPr>
            <p:spPr>
              <a:xfrm>
                <a:off x="3190497" y="4128583"/>
                <a:ext cx="423526" cy="623200"/>
              </a:xfrm>
              <a:custGeom>
                <a:avLst/>
                <a:gdLst/>
                <a:ahLst/>
                <a:cxnLst/>
                <a:rect l="0" t="0" r="0" b="0"/>
                <a:pathLst>
                  <a:path w="423526" h="623200">
                    <a:moveTo>
                      <a:pt x="0" y="0"/>
                    </a:moveTo>
                    <a:lnTo>
                      <a:pt x="0" y="128761"/>
                    </a:lnTo>
                    <a:cubicBezTo>
                      <a:pt x="0" y="128761"/>
                      <a:pt x="415688" y="157946"/>
                      <a:pt x="422734" y="331343"/>
                    </a:cubicBezTo>
                    <a:cubicBezTo>
                      <a:pt x="429782" y="504740"/>
                      <a:pt x="143730" y="557962"/>
                      <a:pt x="143730" y="557962"/>
                    </a:cubicBezTo>
                    <a:lnTo>
                      <a:pt x="143730" y="623200"/>
                    </a:lnTo>
                    <a:lnTo>
                      <a:pt x="0" y="508174"/>
                    </a:lnTo>
                    <a:lnTo>
                      <a:pt x="143730" y="363963"/>
                    </a:lnTo>
                    <a:lnTo>
                      <a:pt x="143730" y="427484"/>
                    </a:lnTo>
                    <a:cubicBezTo>
                      <a:pt x="143730" y="427484"/>
                      <a:pt x="441052" y="386281"/>
                      <a:pt x="422734" y="199149"/>
                    </a:cubicBezTo>
                    <a:cubicBezTo>
                      <a:pt x="404415" y="12018"/>
                      <a:pt x="0" y="0"/>
                      <a:pt x="0" y="0"/>
                    </a:cubicBezTo>
                    <a:close/>
                  </a:path>
                </a:pathLst>
              </a:custGeom>
              <a:solidFill>
                <a:srgbClr val="62BC85"/>
              </a:solidFill>
              <a:ln w="7600" cap="flat">
                <a:solidFill>
                  <a:srgbClr val="FFFFFF"/>
                </a:solidFill>
                <a:bevel/>
              </a:ln>
            </p:spPr>
          </p:sp>
          <p:sp>
            <p:nvSpPr>
              <p:cNvPr id="50" name="任意多边形 49"/>
              <p:cNvSpPr/>
              <p:nvPr/>
            </p:nvSpPr>
            <p:spPr>
              <a:xfrm>
                <a:off x="3189226" y="4128509"/>
                <a:ext cx="424749" cy="324941"/>
              </a:xfrm>
              <a:custGeom>
                <a:avLst/>
                <a:gdLst/>
                <a:ahLst/>
                <a:cxnLst/>
                <a:rect l="0" t="0" r="0" b="0"/>
                <a:pathLst>
                  <a:path w="424749" h="324941">
                    <a:moveTo>
                      <a:pt x="0" y="0"/>
                    </a:moveTo>
                    <a:lnTo>
                      <a:pt x="0" y="128931"/>
                    </a:lnTo>
                    <a:cubicBezTo>
                      <a:pt x="0" y="128931"/>
                      <a:pt x="273257" y="148096"/>
                      <a:pt x="380943" y="247598"/>
                    </a:cubicBezTo>
                    <a:cubicBezTo>
                      <a:pt x="398173" y="263519"/>
                      <a:pt x="416034" y="284473"/>
                      <a:pt x="424749" y="324941"/>
                    </a:cubicBezTo>
                    <a:lnTo>
                      <a:pt x="424749" y="224210"/>
                    </a:lnTo>
                    <a:cubicBezTo>
                      <a:pt x="424749" y="217092"/>
                      <a:pt x="424749" y="208421"/>
                      <a:pt x="424749" y="199413"/>
                    </a:cubicBezTo>
                    <a:cubicBezTo>
                      <a:pt x="405371" y="12033"/>
                      <a:pt x="0" y="0"/>
                      <a:pt x="0" y="0"/>
                    </a:cubicBezTo>
                    <a:close/>
                  </a:path>
                </a:pathLst>
              </a:custGeom>
              <a:solidFill>
                <a:srgbClr val="BBDCC6"/>
              </a:solidFill>
              <a:ln w="7600" cap="flat">
                <a:solidFill>
                  <a:srgbClr val="FFFFFF"/>
                </a:solidFill>
                <a:bevel/>
              </a:ln>
            </p:spPr>
          </p:sp>
        </p:grpSp>
        <p:grpSp>
          <p:nvGrpSpPr>
            <p:cNvPr id="22" name="弯曲风格化箭头"/>
            <p:cNvGrpSpPr/>
            <p:nvPr/>
          </p:nvGrpSpPr>
          <p:grpSpPr>
            <a:xfrm rot="10800000" flipH="1">
              <a:off x="3888000" y="4098183"/>
              <a:ext cx="425600" cy="623200"/>
              <a:chOff x="3888000" y="4098183"/>
              <a:chExt cx="425600" cy="623200"/>
            </a:xfrm>
          </p:grpSpPr>
          <p:sp>
            <p:nvSpPr>
              <p:cNvPr id="47" name="任意多边形 46"/>
              <p:cNvSpPr/>
              <p:nvPr/>
            </p:nvSpPr>
            <p:spPr>
              <a:xfrm>
                <a:off x="3889697" y="4098183"/>
                <a:ext cx="423526" cy="623200"/>
              </a:xfrm>
              <a:custGeom>
                <a:avLst/>
                <a:gdLst/>
                <a:ahLst/>
                <a:cxnLst/>
                <a:rect l="0" t="0" r="0" b="0"/>
                <a:pathLst>
                  <a:path w="423526" h="623200">
                    <a:moveTo>
                      <a:pt x="0" y="0"/>
                    </a:moveTo>
                    <a:lnTo>
                      <a:pt x="0" y="128761"/>
                    </a:lnTo>
                    <a:cubicBezTo>
                      <a:pt x="0" y="128761"/>
                      <a:pt x="415688" y="157946"/>
                      <a:pt x="422734" y="331343"/>
                    </a:cubicBezTo>
                    <a:cubicBezTo>
                      <a:pt x="429782" y="504740"/>
                      <a:pt x="143730" y="557962"/>
                      <a:pt x="143730" y="557962"/>
                    </a:cubicBezTo>
                    <a:lnTo>
                      <a:pt x="143730" y="623200"/>
                    </a:lnTo>
                    <a:lnTo>
                      <a:pt x="0" y="508174"/>
                    </a:lnTo>
                    <a:lnTo>
                      <a:pt x="143730" y="363963"/>
                    </a:lnTo>
                    <a:lnTo>
                      <a:pt x="143730" y="427484"/>
                    </a:lnTo>
                    <a:cubicBezTo>
                      <a:pt x="143730" y="427484"/>
                      <a:pt x="441052" y="386281"/>
                      <a:pt x="422734" y="199149"/>
                    </a:cubicBezTo>
                    <a:cubicBezTo>
                      <a:pt x="404415" y="12018"/>
                      <a:pt x="0" y="0"/>
                      <a:pt x="0" y="0"/>
                    </a:cubicBezTo>
                    <a:close/>
                  </a:path>
                </a:pathLst>
              </a:custGeom>
              <a:solidFill>
                <a:srgbClr val="62BC85"/>
              </a:solidFill>
              <a:ln w="7600" cap="flat">
                <a:solidFill>
                  <a:srgbClr val="FFFFFF"/>
                </a:solidFill>
                <a:bevel/>
              </a:ln>
            </p:spPr>
          </p:sp>
          <p:sp>
            <p:nvSpPr>
              <p:cNvPr id="48" name="任意多边形 47"/>
              <p:cNvSpPr/>
              <p:nvPr/>
            </p:nvSpPr>
            <p:spPr>
              <a:xfrm>
                <a:off x="3888426" y="4098109"/>
                <a:ext cx="424749" cy="324941"/>
              </a:xfrm>
              <a:custGeom>
                <a:avLst/>
                <a:gdLst/>
                <a:ahLst/>
                <a:cxnLst/>
                <a:rect l="0" t="0" r="0" b="0"/>
                <a:pathLst>
                  <a:path w="424749" h="324941">
                    <a:moveTo>
                      <a:pt x="0" y="0"/>
                    </a:moveTo>
                    <a:lnTo>
                      <a:pt x="0" y="128931"/>
                    </a:lnTo>
                    <a:cubicBezTo>
                      <a:pt x="0" y="128931"/>
                      <a:pt x="273257" y="148096"/>
                      <a:pt x="380943" y="247598"/>
                    </a:cubicBezTo>
                    <a:cubicBezTo>
                      <a:pt x="398173" y="263519"/>
                      <a:pt x="416034" y="284473"/>
                      <a:pt x="424749" y="324941"/>
                    </a:cubicBezTo>
                    <a:lnTo>
                      <a:pt x="424749" y="224210"/>
                    </a:lnTo>
                    <a:cubicBezTo>
                      <a:pt x="424749" y="217092"/>
                      <a:pt x="424749" y="208421"/>
                      <a:pt x="424749" y="199413"/>
                    </a:cubicBezTo>
                    <a:cubicBezTo>
                      <a:pt x="405371" y="12033"/>
                      <a:pt x="0" y="0"/>
                      <a:pt x="0" y="0"/>
                    </a:cubicBezTo>
                    <a:close/>
                  </a:path>
                </a:pathLst>
              </a:custGeom>
              <a:solidFill>
                <a:srgbClr val="BBDCC6"/>
              </a:solidFill>
              <a:ln w="7600" cap="flat">
                <a:solidFill>
                  <a:srgbClr val="FFFFFF"/>
                </a:solidFill>
                <a:bevel/>
              </a:ln>
            </p:spPr>
          </p:sp>
        </p:grpSp>
        <p:sp>
          <p:nvSpPr>
            <p:cNvPr id="23" name="外部交互方"/>
            <p:cNvSpPr/>
            <p:nvPr/>
          </p:nvSpPr>
          <p:spPr>
            <a:xfrm>
              <a:off x="2109671" y="1498076"/>
              <a:ext cx="1394007" cy="364800"/>
            </a:xfrm>
            <a:custGeom>
              <a:avLst/>
              <a:gdLst>
                <a:gd name="connsiteX0" fmla="*/ 433200 w 866400"/>
                <a:gd name="connsiteY0" fmla="*/ 364800 h 364800"/>
                <a:gd name="connsiteX1" fmla="*/ 433200 w 866400"/>
                <a:gd name="connsiteY1" fmla="*/ 0 h 364800"/>
                <a:gd name="connsiteX2" fmla="*/ 866400 w 866400"/>
                <a:gd name="connsiteY2" fmla="*/ 182400 h 364800"/>
                <a:gd name="connsiteX3" fmla="*/ 0 w 866400"/>
                <a:gd name="connsiteY3" fmla="*/ 182400 h 364800"/>
                <a:gd name="connsiteX4" fmla="*/ 433200 w 866400"/>
                <a:gd name="connsiteY4" fmla="*/ 182400 h 364800"/>
                <a:gd name="connsiteX5" fmla="*/ 0 w 866400"/>
                <a:gd name="connsiteY5" fmla="*/ 91200 h 364800"/>
                <a:gd name="connsiteX6" fmla="*/ 0 w 866400"/>
                <a:gd name="connsiteY6" fmla="*/ 273600 h 364800"/>
                <a:gd name="connsiteX7" fmla="*/ 866400 w 866400"/>
                <a:gd name="connsiteY7" fmla="*/ 91200 h 364800"/>
                <a:gd name="connsiteX8" fmla="*/ 866400 w 866400"/>
                <a:gd name="connsiteY8" fmla="*/ 273600 h 364800"/>
                <a:gd name="connsiteX9" fmla="*/ 216600 w 866400"/>
                <a:gd name="connsiteY9" fmla="*/ 0 h 364800"/>
                <a:gd name="connsiteX10" fmla="*/ 649800 w 866400"/>
                <a:gd name="connsiteY10" fmla="*/ 0 h 364800"/>
                <a:gd name="connsiteX11" fmla="*/ 216600 w 866400"/>
                <a:gd name="connsiteY11" fmla="*/ 364800 h 364800"/>
                <a:gd name="connsiteX12" fmla="*/ 649800 w 866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6400" h="364800">
                  <a:moveTo>
                    <a:pt x="866400" y="364800"/>
                  </a:moveTo>
                  <a:lnTo>
                    <a:pt x="866400" y="0"/>
                  </a:lnTo>
                  <a:lnTo>
                    <a:pt x="0" y="0"/>
                  </a:lnTo>
                  <a:lnTo>
                    <a:pt x="0" y="364800"/>
                  </a:lnTo>
                  <a:lnTo>
                    <a:pt x="866400" y="364800"/>
                  </a:lnTo>
                  <a:close/>
                </a:path>
              </a:pathLst>
            </a:custGeom>
            <a:solidFill>
              <a:srgbClr val="FFFFFF"/>
            </a:solidFill>
            <a:ln w="7600" cap="flat">
              <a:noFill/>
              <a:bevel/>
            </a:ln>
          </p:spPr>
          <p:txBody>
            <a:bodyPr wrap="square" lIns="0" tIns="0" rIns="0" bIns="0" rtlCol="0" anchor="ctr"/>
            <a:lstStyle/>
            <a:p>
              <a:pPr algn="ctr">
                <a:lnSpc>
                  <a:spcPct val="100000"/>
                </a:lnSpc>
              </a:pPr>
              <a:r>
                <a:rPr sz="2400" dirty="0" err="1">
                  <a:solidFill>
                    <a:srgbClr val="FF0000"/>
                  </a:solidFill>
                  <a:latin typeface="微软雅黑" panose="020B0503020204020204" pitchFamily="34" charset="-122"/>
                </a:rPr>
                <a:t>UpStream</a:t>
              </a:r>
              <a:endParaRPr sz="2400" dirty="0">
                <a:solidFill>
                  <a:srgbClr val="FF0000"/>
                </a:solidFill>
                <a:latin typeface="微软雅黑" panose="020B0503020204020204" pitchFamily="34" charset="-122"/>
              </a:endParaRPr>
            </a:p>
          </p:txBody>
        </p:sp>
        <p:sp>
          <p:nvSpPr>
            <p:cNvPr id="24" name="直线连接线"/>
            <p:cNvSpPr/>
            <p:nvPr/>
          </p:nvSpPr>
          <p:spPr>
            <a:xfrm rot="5444241">
              <a:off x="4300856" y="3730409"/>
              <a:ext cx="295287" cy="0"/>
            </a:xfrm>
            <a:custGeom>
              <a:avLst/>
              <a:gdLst/>
              <a:ahLst/>
              <a:cxnLst/>
              <a:rect l="0" t="0" r="0" b="0"/>
              <a:pathLst>
                <a:path w="295287" fill="none">
                  <a:moveTo>
                    <a:pt x="0" y="0"/>
                  </a:moveTo>
                  <a:lnTo>
                    <a:pt x="295287" y="0"/>
                  </a:lnTo>
                </a:path>
              </a:pathLst>
            </a:custGeom>
            <a:noFill/>
            <a:ln w="50667" cap="flat">
              <a:solidFill>
                <a:srgbClr val="F5BFAD"/>
              </a:solidFill>
              <a:bevel/>
              <a:tailEnd type="stealth" w="med" len="med"/>
            </a:ln>
          </p:spPr>
        </p:sp>
        <p:sp>
          <p:nvSpPr>
            <p:cNvPr id="25" name="直线连接线"/>
            <p:cNvSpPr/>
            <p:nvPr/>
          </p:nvSpPr>
          <p:spPr>
            <a:xfrm rot="-5429712">
              <a:off x="2590860" y="3810209"/>
              <a:ext cx="439679" cy="0"/>
            </a:xfrm>
            <a:custGeom>
              <a:avLst/>
              <a:gdLst/>
              <a:ahLst/>
              <a:cxnLst/>
              <a:rect l="0" t="0" r="0" b="0"/>
              <a:pathLst>
                <a:path w="439679" fill="none">
                  <a:moveTo>
                    <a:pt x="0" y="0"/>
                  </a:moveTo>
                  <a:lnTo>
                    <a:pt x="439679" y="0"/>
                  </a:lnTo>
                </a:path>
              </a:pathLst>
            </a:custGeom>
            <a:noFill/>
            <a:ln w="50667" cap="flat">
              <a:solidFill>
                <a:srgbClr val="F5BFAD"/>
              </a:solidFill>
              <a:bevel/>
              <a:tailEnd type="stealth" w="med" len="med"/>
            </a:ln>
          </p:spPr>
        </p:sp>
        <p:sp>
          <p:nvSpPr>
            <p:cNvPr id="26" name="外部交互方"/>
            <p:cNvSpPr/>
            <p:nvPr/>
          </p:nvSpPr>
          <p:spPr>
            <a:xfrm>
              <a:off x="3675412" y="1485178"/>
              <a:ext cx="1587150" cy="364800"/>
            </a:xfrm>
            <a:custGeom>
              <a:avLst/>
              <a:gdLst>
                <a:gd name="connsiteX0" fmla="*/ 558600 w 1117200"/>
                <a:gd name="connsiteY0" fmla="*/ 364800 h 364800"/>
                <a:gd name="connsiteX1" fmla="*/ 558600 w 1117200"/>
                <a:gd name="connsiteY1" fmla="*/ 0 h 364800"/>
                <a:gd name="connsiteX2" fmla="*/ 1117200 w 1117200"/>
                <a:gd name="connsiteY2" fmla="*/ 182400 h 364800"/>
                <a:gd name="connsiteX3" fmla="*/ 0 w 1117200"/>
                <a:gd name="connsiteY3" fmla="*/ 182400 h 364800"/>
                <a:gd name="connsiteX4" fmla="*/ 558600 w 1117200"/>
                <a:gd name="connsiteY4" fmla="*/ 182400 h 364800"/>
                <a:gd name="connsiteX5" fmla="*/ 0 w 1117200"/>
                <a:gd name="connsiteY5" fmla="*/ 91200 h 364800"/>
                <a:gd name="connsiteX6" fmla="*/ 0 w 1117200"/>
                <a:gd name="connsiteY6" fmla="*/ 273600 h 364800"/>
                <a:gd name="connsiteX7" fmla="*/ 1117200 w 1117200"/>
                <a:gd name="connsiteY7" fmla="*/ 91200 h 364800"/>
                <a:gd name="connsiteX8" fmla="*/ 1117200 w 1117200"/>
                <a:gd name="connsiteY8" fmla="*/ 273600 h 364800"/>
                <a:gd name="connsiteX9" fmla="*/ 279300 w 1117200"/>
                <a:gd name="connsiteY9" fmla="*/ 0 h 364800"/>
                <a:gd name="connsiteX10" fmla="*/ 837900 w 1117200"/>
                <a:gd name="connsiteY10" fmla="*/ 0 h 364800"/>
                <a:gd name="connsiteX11" fmla="*/ 279300 w 1117200"/>
                <a:gd name="connsiteY11" fmla="*/ 364800 h 364800"/>
                <a:gd name="connsiteX12" fmla="*/ 837900 w 1117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7200" h="364800">
                  <a:moveTo>
                    <a:pt x="1117200" y="364800"/>
                  </a:moveTo>
                  <a:lnTo>
                    <a:pt x="1117200" y="0"/>
                  </a:lnTo>
                  <a:lnTo>
                    <a:pt x="0" y="0"/>
                  </a:lnTo>
                  <a:lnTo>
                    <a:pt x="0" y="364800"/>
                  </a:lnTo>
                  <a:lnTo>
                    <a:pt x="1117200" y="364800"/>
                  </a:lnTo>
                  <a:close/>
                </a:path>
              </a:pathLst>
            </a:custGeom>
            <a:solidFill>
              <a:srgbClr val="FFFFFF"/>
            </a:solidFill>
            <a:ln w="7600" cap="flat">
              <a:noFill/>
              <a:bevel/>
            </a:ln>
          </p:spPr>
          <p:txBody>
            <a:bodyPr wrap="square" lIns="0" tIns="0" rIns="0" bIns="0" rtlCol="0" anchor="ctr"/>
            <a:lstStyle/>
            <a:p>
              <a:pPr algn="ctr">
                <a:lnSpc>
                  <a:spcPct val="100000"/>
                </a:lnSpc>
              </a:pPr>
              <a:r>
                <a:rPr sz="2400" dirty="0" err="1">
                  <a:solidFill>
                    <a:srgbClr val="FF0000"/>
                  </a:solidFill>
                  <a:latin typeface="微软雅黑" panose="020B0503020204020204" pitchFamily="34" charset="-122"/>
                </a:rPr>
                <a:t>DownStream</a:t>
              </a:r>
              <a:endParaRPr sz="2400" dirty="0">
                <a:solidFill>
                  <a:srgbClr val="FF0000"/>
                </a:solidFill>
                <a:latin typeface="微软雅黑" panose="020B0503020204020204" pitchFamily="34" charset="-122"/>
              </a:endParaRPr>
            </a:p>
          </p:txBody>
        </p:sp>
        <p:sp>
          <p:nvSpPr>
            <p:cNvPr id="27" name="外部交互方"/>
            <p:cNvSpPr/>
            <p:nvPr/>
          </p:nvSpPr>
          <p:spPr>
            <a:xfrm>
              <a:off x="1666075" y="4730378"/>
              <a:ext cx="1264325" cy="364800"/>
            </a:xfrm>
            <a:custGeom>
              <a:avLst/>
              <a:gdLst>
                <a:gd name="connsiteX0" fmla="*/ 433200 w 866400"/>
                <a:gd name="connsiteY0" fmla="*/ 364800 h 364800"/>
                <a:gd name="connsiteX1" fmla="*/ 433200 w 866400"/>
                <a:gd name="connsiteY1" fmla="*/ 0 h 364800"/>
                <a:gd name="connsiteX2" fmla="*/ 866400 w 866400"/>
                <a:gd name="connsiteY2" fmla="*/ 182400 h 364800"/>
                <a:gd name="connsiteX3" fmla="*/ 0 w 866400"/>
                <a:gd name="connsiteY3" fmla="*/ 182400 h 364800"/>
                <a:gd name="connsiteX4" fmla="*/ 433200 w 866400"/>
                <a:gd name="connsiteY4" fmla="*/ 182400 h 364800"/>
                <a:gd name="connsiteX5" fmla="*/ 0 w 866400"/>
                <a:gd name="connsiteY5" fmla="*/ 91200 h 364800"/>
                <a:gd name="connsiteX6" fmla="*/ 0 w 866400"/>
                <a:gd name="connsiteY6" fmla="*/ 273600 h 364800"/>
                <a:gd name="connsiteX7" fmla="*/ 866400 w 866400"/>
                <a:gd name="connsiteY7" fmla="*/ 91200 h 364800"/>
                <a:gd name="connsiteX8" fmla="*/ 866400 w 866400"/>
                <a:gd name="connsiteY8" fmla="*/ 273600 h 364800"/>
                <a:gd name="connsiteX9" fmla="*/ 216600 w 866400"/>
                <a:gd name="connsiteY9" fmla="*/ 0 h 364800"/>
                <a:gd name="connsiteX10" fmla="*/ 649800 w 866400"/>
                <a:gd name="connsiteY10" fmla="*/ 0 h 364800"/>
                <a:gd name="connsiteX11" fmla="*/ 216600 w 866400"/>
                <a:gd name="connsiteY11" fmla="*/ 364800 h 364800"/>
                <a:gd name="connsiteX12" fmla="*/ 649800 w 866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6400" h="364800">
                  <a:moveTo>
                    <a:pt x="866400" y="364800"/>
                  </a:moveTo>
                  <a:lnTo>
                    <a:pt x="866400" y="0"/>
                  </a:lnTo>
                  <a:lnTo>
                    <a:pt x="0" y="0"/>
                  </a:lnTo>
                  <a:lnTo>
                    <a:pt x="0" y="364800"/>
                  </a:lnTo>
                  <a:lnTo>
                    <a:pt x="866400" y="364800"/>
                  </a:lnTo>
                  <a:close/>
                </a:path>
              </a:pathLst>
            </a:custGeom>
            <a:solidFill>
              <a:srgbClr val="FFFFFF"/>
            </a:solidFill>
            <a:ln w="7600" cap="flat">
              <a:noFill/>
              <a:bevel/>
            </a:ln>
          </p:spPr>
          <p:txBody>
            <a:bodyPr wrap="square" lIns="0" tIns="0" rIns="0" bIns="0" rtlCol="0" anchor="ctr"/>
            <a:lstStyle/>
            <a:p>
              <a:pPr algn="ctr">
                <a:lnSpc>
                  <a:spcPct val="100000"/>
                </a:lnSpc>
              </a:pPr>
              <a:r>
                <a:rPr sz="2400" dirty="0">
                  <a:solidFill>
                    <a:srgbClr val="236EA1"/>
                  </a:solidFill>
                  <a:latin typeface="微软雅黑" panose="020B0503020204020204" pitchFamily="34" charset="-122"/>
                </a:rPr>
                <a:t>Channel</a:t>
              </a:r>
              <a:endParaRPr sz="2400" dirty="0">
                <a:solidFill>
                  <a:srgbClr val="236EA1"/>
                </a:solidFill>
                <a:latin typeface="微软雅黑" panose="020B0503020204020204" pitchFamily="34" charset="-122"/>
              </a:endParaRPr>
            </a:p>
          </p:txBody>
        </p:sp>
        <p:sp>
          <p:nvSpPr>
            <p:cNvPr id="28" name="外部交互方"/>
            <p:cNvSpPr/>
            <p:nvPr/>
          </p:nvSpPr>
          <p:spPr>
            <a:xfrm>
              <a:off x="1159042" y="4046378"/>
              <a:ext cx="1839758" cy="364800"/>
            </a:xfrm>
            <a:custGeom>
              <a:avLst/>
              <a:gdLst>
                <a:gd name="connsiteX0" fmla="*/ 661200 w 1322400"/>
                <a:gd name="connsiteY0" fmla="*/ 364800 h 364800"/>
                <a:gd name="connsiteX1" fmla="*/ 661200 w 1322400"/>
                <a:gd name="connsiteY1" fmla="*/ 0 h 364800"/>
                <a:gd name="connsiteX2" fmla="*/ 1322400 w 1322400"/>
                <a:gd name="connsiteY2" fmla="*/ 182400 h 364800"/>
                <a:gd name="connsiteX3" fmla="*/ 0 w 1322400"/>
                <a:gd name="connsiteY3" fmla="*/ 182400 h 364800"/>
                <a:gd name="connsiteX4" fmla="*/ 661200 w 1322400"/>
                <a:gd name="connsiteY4" fmla="*/ 182400 h 364800"/>
                <a:gd name="connsiteX5" fmla="*/ 0 w 1322400"/>
                <a:gd name="connsiteY5" fmla="*/ 91200 h 364800"/>
                <a:gd name="connsiteX6" fmla="*/ 0 w 1322400"/>
                <a:gd name="connsiteY6" fmla="*/ 273600 h 364800"/>
                <a:gd name="connsiteX7" fmla="*/ 1322400 w 1322400"/>
                <a:gd name="connsiteY7" fmla="*/ 91200 h 364800"/>
                <a:gd name="connsiteX8" fmla="*/ 1322400 w 1322400"/>
                <a:gd name="connsiteY8" fmla="*/ 273600 h 364800"/>
                <a:gd name="connsiteX9" fmla="*/ 330600 w 1322400"/>
                <a:gd name="connsiteY9" fmla="*/ 0 h 364800"/>
                <a:gd name="connsiteX10" fmla="*/ 991800 w 1322400"/>
                <a:gd name="connsiteY10" fmla="*/ 0 h 364800"/>
                <a:gd name="connsiteX11" fmla="*/ 330600 w 1322400"/>
                <a:gd name="connsiteY11" fmla="*/ 364800 h 364800"/>
                <a:gd name="connsiteX12" fmla="*/ 991800 w 1322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2400" h="364800">
                  <a:moveTo>
                    <a:pt x="1322400" y="364800"/>
                  </a:moveTo>
                  <a:lnTo>
                    <a:pt x="1322400" y="0"/>
                  </a:lnTo>
                  <a:lnTo>
                    <a:pt x="0" y="0"/>
                  </a:lnTo>
                  <a:lnTo>
                    <a:pt x="0" y="364800"/>
                  </a:lnTo>
                  <a:lnTo>
                    <a:pt x="1322400" y="364800"/>
                  </a:lnTo>
                  <a:close/>
                </a:path>
              </a:pathLst>
            </a:custGeom>
            <a:solidFill>
              <a:srgbClr val="FFFFFF"/>
            </a:solidFill>
            <a:ln w="7600" cap="flat">
              <a:noFill/>
              <a:bevel/>
            </a:ln>
          </p:spPr>
          <p:txBody>
            <a:bodyPr wrap="square" lIns="0" tIns="0" rIns="0" bIns="0" rtlCol="0" anchor="ctr"/>
            <a:lstStyle/>
            <a:p>
              <a:pPr algn="ctr">
                <a:lnSpc>
                  <a:spcPct val="100000"/>
                </a:lnSpc>
              </a:pPr>
              <a:r>
                <a:rPr sz="2000" dirty="0" err="1">
                  <a:solidFill>
                    <a:srgbClr val="236EA1"/>
                  </a:solidFill>
                  <a:latin typeface="微软雅黑" panose="020B0503020204020204" pitchFamily="34" charset="-122"/>
                </a:rPr>
                <a:t>ChannelPipeline</a:t>
              </a:r>
              <a:endParaRPr sz="2000" dirty="0">
                <a:solidFill>
                  <a:srgbClr val="236EA1"/>
                </a:solidFill>
                <a:latin typeface="微软雅黑" panose="020B0503020204020204" pitchFamily="34" charset="-122"/>
              </a:endParaRPr>
            </a:p>
          </p:txBody>
        </p:sp>
        <p:sp>
          <p:nvSpPr>
            <p:cNvPr id="29" name="外部交互方"/>
            <p:cNvSpPr/>
            <p:nvPr/>
          </p:nvSpPr>
          <p:spPr>
            <a:xfrm>
              <a:off x="5886800" y="2321178"/>
              <a:ext cx="152000" cy="1710000"/>
            </a:xfrm>
            <a:custGeom>
              <a:avLst/>
              <a:gdLst>
                <a:gd name="connsiteX0" fmla="*/ 76000 w 152000"/>
                <a:gd name="connsiteY0" fmla="*/ 1710000 h 1710000"/>
                <a:gd name="connsiteX1" fmla="*/ 76000 w 152000"/>
                <a:gd name="connsiteY1" fmla="*/ 0 h 1710000"/>
                <a:gd name="connsiteX2" fmla="*/ 152000 w 152000"/>
                <a:gd name="connsiteY2" fmla="*/ 855000 h 1710000"/>
                <a:gd name="connsiteX3" fmla="*/ 0 w 152000"/>
                <a:gd name="connsiteY3" fmla="*/ 855000 h 1710000"/>
                <a:gd name="connsiteX4" fmla="*/ 76000 w 152000"/>
                <a:gd name="connsiteY4" fmla="*/ 855000 h 1710000"/>
                <a:gd name="connsiteX5" fmla="*/ 0 w 152000"/>
                <a:gd name="connsiteY5" fmla="*/ 427500 h 1710000"/>
                <a:gd name="connsiteX6" fmla="*/ 0 w 152000"/>
                <a:gd name="connsiteY6" fmla="*/ 1282500 h 1710000"/>
                <a:gd name="connsiteX7" fmla="*/ 152000 w 152000"/>
                <a:gd name="connsiteY7" fmla="*/ 427500 h 1710000"/>
                <a:gd name="connsiteX8" fmla="*/ 152000 w 152000"/>
                <a:gd name="connsiteY8" fmla="*/ 1282500 h 1710000"/>
                <a:gd name="connsiteX9" fmla="*/ 38000 w 152000"/>
                <a:gd name="connsiteY9" fmla="*/ 0 h 1710000"/>
                <a:gd name="connsiteX10" fmla="*/ 114000 w 152000"/>
                <a:gd name="connsiteY10" fmla="*/ 0 h 1710000"/>
                <a:gd name="connsiteX11" fmla="*/ 38000 w 152000"/>
                <a:gd name="connsiteY11" fmla="*/ 1710000 h 1710000"/>
                <a:gd name="connsiteX12" fmla="*/ 114000 w 152000"/>
                <a:gd name="connsiteY12" fmla="*/ 1710000 h 17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152000" h="1710000">
                  <a:moveTo>
                    <a:pt x="152000" y="1710000"/>
                  </a:moveTo>
                  <a:lnTo>
                    <a:pt x="152000" y="0"/>
                  </a:lnTo>
                  <a:lnTo>
                    <a:pt x="0" y="0"/>
                  </a:lnTo>
                  <a:lnTo>
                    <a:pt x="0" y="1710000"/>
                  </a:lnTo>
                  <a:lnTo>
                    <a:pt x="152000" y="1710000"/>
                  </a:lnTo>
                  <a:close/>
                </a:path>
              </a:pathLst>
            </a:custGeom>
            <a:solidFill>
              <a:srgbClr val="3498DB"/>
            </a:solidFill>
            <a:ln w="7600" cap="flat">
              <a:solidFill>
                <a:srgbClr val="3498DB"/>
              </a:solidFill>
              <a:bevel/>
            </a:ln>
          </p:spPr>
        </p:sp>
        <p:grpSp>
          <p:nvGrpSpPr>
            <p:cNvPr id="30" name="椭圆形过程"/>
            <p:cNvGrpSpPr/>
            <p:nvPr/>
          </p:nvGrpSpPr>
          <p:grpSpPr>
            <a:xfrm>
              <a:off x="5259800" y="4723022"/>
              <a:ext cx="1333800" cy="649800"/>
              <a:chOff x="5259800" y="4723022"/>
              <a:chExt cx="1333800" cy="649800"/>
            </a:xfrm>
          </p:grpSpPr>
          <p:sp>
            <p:nvSpPr>
              <p:cNvPr id="44" name="任意多边形 43"/>
              <p:cNvSpPr/>
              <p:nvPr/>
            </p:nvSpPr>
            <p:spPr>
              <a:xfrm>
                <a:off x="5259800" y="4723022"/>
                <a:ext cx="1333800" cy="649800"/>
              </a:xfrm>
              <a:custGeom>
                <a:avLst/>
                <a:gdLst/>
                <a:ahLst/>
                <a:cxnLst/>
                <a:rect l="0" t="0" r="0" b="0"/>
                <a:pathLst>
                  <a:path w="1333800" h="649800" fill="none">
                    <a:moveTo>
                      <a:pt x="666900" y="324900"/>
                    </a:moveTo>
                    <a:moveTo>
                      <a:pt x="666900" y="324900"/>
                    </a:moveTo>
                    <a:moveTo>
                      <a:pt x="666900" y="324900"/>
                    </a:moveTo>
                    <a:moveTo>
                      <a:pt x="666900" y="324900"/>
                    </a:moveTo>
                  </a:path>
                </a:pathLst>
              </a:custGeom>
              <a:solidFill>
                <a:srgbClr val="3498DB"/>
              </a:solidFill>
              <a:ln w="7600" cap="flat">
                <a:solidFill>
                  <a:srgbClr val="3498DB"/>
                </a:solidFill>
                <a:bevel/>
              </a:ln>
            </p:spPr>
          </p:sp>
          <p:sp>
            <p:nvSpPr>
              <p:cNvPr id="45" name="Ellipse"/>
              <p:cNvSpPr/>
              <p:nvPr/>
            </p:nvSpPr>
            <p:spPr>
              <a:xfrm>
                <a:off x="5259800" y="4723022"/>
                <a:ext cx="1333800" cy="649800"/>
              </a:xfrm>
              <a:custGeom>
                <a:avLst/>
                <a:gdLst/>
                <a:ahLst/>
                <a:cxnLst/>
                <a:rect l="0" t="0" r="0" b="0"/>
                <a:pathLst>
                  <a:path w="1333800" h="649800">
                    <a:moveTo>
                      <a:pt x="0" y="324900"/>
                    </a:moveTo>
                    <a:cubicBezTo>
                      <a:pt x="0" y="145463"/>
                      <a:pt x="298581" y="0"/>
                      <a:pt x="666900" y="0"/>
                    </a:cubicBezTo>
                    <a:cubicBezTo>
                      <a:pt x="1035219" y="0"/>
                      <a:pt x="1333800" y="145463"/>
                      <a:pt x="1333800" y="324900"/>
                    </a:cubicBezTo>
                    <a:cubicBezTo>
                      <a:pt x="1333800" y="504337"/>
                      <a:pt x="1035219" y="649800"/>
                      <a:pt x="666900" y="649800"/>
                    </a:cubicBezTo>
                    <a:cubicBezTo>
                      <a:pt x="298581" y="649800"/>
                      <a:pt x="0" y="504337"/>
                      <a:pt x="0" y="324900"/>
                    </a:cubicBezTo>
                    <a:close/>
                  </a:path>
                </a:pathLst>
              </a:custGeom>
              <a:solidFill>
                <a:srgbClr val="3498DB"/>
              </a:solidFill>
              <a:ln w="7600" cap="flat">
                <a:solidFill>
                  <a:srgbClr val="3498DB"/>
                </a:solidFill>
                <a:bevel/>
              </a:ln>
            </p:spPr>
          </p:sp>
          <p:sp>
            <p:nvSpPr>
              <p:cNvPr id="46" name="Text 183"/>
              <p:cNvSpPr txBox="1"/>
              <p:nvPr/>
            </p:nvSpPr>
            <p:spPr>
              <a:xfrm>
                <a:off x="5259800" y="4723022"/>
                <a:ext cx="1333800" cy="649800"/>
              </a:xfrm>
              <a:prstGeom prst="rect">
                <a:avLst/>
              </a:prstGeom>
              <a:noFill/>
            </p:spPr>
            <p:txBody>
              <a:bodyPr wrap="square" lIns="36000" tIns="0" rIns="36000" bIns="0" rtlCol="0" anchor="ctr"/>
              <a:lstStyle/>
              <a:p>
                <a:pPr algn="ctr">
                  <a:lnSpc>
                    <a:spcPct val="100000"/>
                  </a:lnSpc>
                </a:pPr>
                <a:r>
                  <a:rPr dirty="0" err="1">
                    <a:solidFill>
                      <a:srgbClr val="FFFFFF"/>
                    </a:solidFill>
                    <a:latin typeface="微软雅黑" panose="020B0503020204020204" pitchFamily="34" charset="-122"/>
                  </a:rPr>
                  <a:t>ChannelFuture</a:t>
                </a:r>
                <a:endParaRPr dirty="0">
                  <a:solidFill>
                    <a:srgbClr val="FFFFFF"/>
                  </a:solidFill>
                  <a:latin typeface="微软雅黑" panose="020B0503020204020204" pitchFamily="34" charset="-122"/>
                </a:endParaRPr>
              </a:p>
            </p:txBody>
          </p:sp>
        </p:grpSp>
        <p:sp>
          <p:nvSpPr>
            <p:cNvPr id="31" name="数据进程"/>
            <p:cNvSpPr/>
            <p:nvPr/>
          </p:nvSpPr>
          <p:spPr>
            <a:xfrm>
              <a:off x="7110400" y="4046378"/>
              <a:ext cx="562400" cy="562400"/>
            </a:xfrm>
            <a:custGeom>
              <a:avLst/>
              <a:gdLst>
                <a:gd name="connsiteX0" fmla="*/ 281200 w 562400"/>
                <a:gd name="connsiteY0" fmla="*/ 0 h 562400"/>
                <a:gd name="connsiteX1" fmla="*/ 281200 w 562400"/>
                <a:gd name="connsiteY1" fmla="*/ 562400 h 562400"/>
                <a:gd name="connsiteX2" fmla="*/ 0 w 562400"/>
                <a:gd name="connsiteY2" fmla="*/ 281200 h 562400"/>
                <a:gd name="connsiteX3" fmla="*/ 562400 w 562400"/>
                <a:gd name="connsiteY3" fmla="*/ 281200 h 562400"/>
                <a:gd name="connsiteX4" fmla="*/ 281200 w 562400"/>
                <a:gd name="connsiteY4" fmla="*/ 281200 h 562400"/>
                <a:gd name="connsiteX5" fmla="*/ 79298 w 562400"/>
                <a:gd name="connsiteY5" fmla="*/ 79298 h 562400"/>
                <a:gd name="connsiteX6" fmla="*/ 483102 w 562400"/>
                <a:gd name="connsiteY6" fmla="*/ 79298 h 562400"/>
                <a:gd name="connsiteX7" fmla="*/ 483102 w 562400"/>
                <a:gd name="connsiteY7" fmla="*/ 483102 h 562400"/>
                <a:gd name="connsiteX8" fmla="*/ 79298 w 562400"/>
                <a:gd name="connsiteY8" fmla="*/ 483102 h 5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2400" h="562400">
                  <a:moveTo>
                    <a:pt x="0" y="281200"/>
                  </a:moveTo>
                  <a:cubicBezTo>
                    <a:pt x="0" y="125898"/>
                    <a:pt x="125898" y="0"/>
                    <a:pt x="281200" y="0"/>
                  </a:cubicBezTo>
                  <a:cubicBezTo>
                    <a:pt x="436502" y="0"/>
                    <a:pt x="562400" y="125898"/>
                    <a:pt x="562400" y="281200"/>
                  </a:cubicBezTo>
                  <a:cubicBezTo>
                    <a:pt x="562400" y="436502"/>
                    <a:pt x="436502" y="562400"/>
                    <a:pt x="281200" y="562400"/>
                  </a:cubicBezTo>
                  <a:cubicBezTo>
                    <a:pt x="125898" y="562400"/>
                    <a:pt x="0" y="436502"/>
                    <a:pt x="0" y="281200"/>
                  </a:cubicBez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dirty="0" err="1">
                  <a:solidFill>
                    <a:srgbClr val="FFFFFF"/>
                  </a:solidFill>
                  <a:latin typeface="微软雅黑" panose="020B0503020204020204" pitchFamily="34" charset="-122"/>
                </a:rPr>
                <a:t>aWait</a:t>
              </a:r>
              <a:endParaRPr sz="1600" dirty="0">
                <a:solidFill>
                  <a:srgbClr val="FFFFFF"/>
                </a:solidFill>
                <a:latin typeface="微软雅黑" panose="020B0503020204020204" pitchFamily="34" charset="-122"/>
              </a:endParaRPr>
            </a:p>
          </p:txBody>
        </p:sp>
        <p:sp>
          <p:nvSpPr>
            <p:cNvPr id="32" name="外部交互方"/>
            <p:cNvSpPr/>
            <p:nvPr/>
          </p:nvSpPr>
          <p:spPr>
            <a:xfrm>
              <a:off x="6966000" y="2989978"/>
              <a:ext cx="851200" cy="364800"/>
            </a:xfrm>
            <a:custGeom>
              <a:avLst/>
              <a:gdLst>
                <a:gd name="connsiteX0" fmla="*/ 425600 w 851200"/>
                <a:gd name="connsiteY0" fmla="*/ 364800 h 364800"/>
                <a:gd name="connsiteX1" fmla="*/ 425600 w 851200"/>
                <a:gd name="connsiteY1" fmla="*/ 0 h 364800"/>
                <a:gd name="connsiteX2" fmla="*/ 851200 w 851200"/>
                <a:gd name="connsiteY2" fmla="*/ 182400 h 364800"/>
                <a:gd name="connsiteX3" fmla="*/ 0 w 851200"/>
                <a:gd name="connsiteY3" fmla="*/ 182400 h 364800"/>
                <a:gd name="connsiteX4" fmla="*/ 425600 w 851200"/>
                <a:gd name="connsiteY4" fmla="*/ 182400 h 364800"/>
                <a:gd name="connsiteX5" fmla="*/ 0 w 851200"/>
                <a:gd name="connsiteY5" fmla="*/ 91200 h 364800"/>
                <a:gd name="connsiteX6" fmla="*/ 0 w 851200"/>
                <a:gd name="connsiteY6" fmla="*/ 273600 h 364800"/>
                <a:gd name="connsiteX7" fmla="*/ 851200 w 851200"/>
                <a:gd name="connsiteY7" fmla="*/ 91200 h 364800"/>
                <a:gd name="connsiteX8" fmla="*/ 851200 w 851200"/>
                <a:gd name="connsiteY8" fmla="*/ 273600 h 364800"/>
                <a:gd name="connsiteX9" fmla="*/ 212800 w 851200"/>
                <a:gd name="connsiteY9" fmla="*/ 0 h 364800"/>
                <a:gd name="connsiteX10" fmla="*/ 638400 w 851200"/>
                <a:gd name="connsiteY10" fmla="*/ 0 h 364800"/>
                <a:gd name="connsiteX11" fmla="*/ 212800 w 851200"/>
                <a:gd name="connsiteY11" fmla="*/ 364800 h 364800"/>
                <a:gd name="connsiteX12" fmla="*/ 638400 w 8512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1200" h="364800">
                  <a:moveTo>
                    <a:pt x="851200" y="364800"/>
                  </a:moveTo>
                  <a:lnTo>
                    <a:pt x="851200" y="0"/>
                  </a:lnTo>
                  <a:lnTo>
                    <a:pt x="0" y="0"/>
                  </a:lnTo>
                  <a:lnTo>
                    <a:pt x="0" y="364800"/>
                  </a:lnTo>
                  <a:lnTo>
                    <a:pt x="851200" y="3648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dirty="0" err="1">
                  <a:solidFill>
                    <a:srgbClr val="FFFFFF"/>
                  </a:solidFill>
                  <a:latin typeface="微软雅黑" panose="020B0503020204020204" pitchFamily="34" charset="-122"/>
                </a:rPr>
                <a:t>NotifyAll</a:t>
              </a:r>
              <a:endParaRPr dirty="0">
                <a:solidFill>
                  <a:srgbClr val="FFFFFF"/>
                </a:solidFill>
                <a:latin typeface="微软雅黑" panose="020B0503020204020204" pitchFamily="34" charset="-122"/>
              </a:endParaRPr>
            </a:p>
          </p:txBody>
        </p:sp>
        <p:cxnSp>
          <p:nvCxnSpPr>
            <p:cNvPr id="33" name="直线连接线"/>
            <p:cNvCxnSpPr/>
            <p:nvPr/>
          </p:nvCxnSpPr>
          <p:spPr>
            <a:xfrm rot="1694138">
              <a:off x="4265929" y="4797950"/>
              <a:ext cx="1056742" cy="0"/>
            </a:xfrm>
            <a:prstGeom prst="line">
              <a:avLst/>
            </a:prstGeom>
            <a:ln w="7600" cap="flat">
              <a:solidFill>
                <a:srgbClr val="236EA1"/>
              </a:solidFill>
              <a:bevel/>
              <a:tailEnd type="stealth" w="med" len="med"/>
            </a:ln>
          </p:spPr>
        </p:cxnSp>
        <p:grpSp>
          <p:nvGrpSpPr>
            <p:cNvPr id="34" name="Group 184"/>
            <p:cNvGrpSpPr/>
            <p:nvPr/>
          </p:nvGrpSpPr>
          <p:grpSpPr>
            <a:xfrm rot="-5409441">
              <a:off x="5611519" y="3471644"/>
              <a:ext cx="691846" cy="1810743"/>
              <a:chOff x="5579827" y="3503422"/>
              <a:chExt cx="691846" cy="1810743"/>
            </a:xfrm>
          </p:grpSpPr>
          <p:sp>
            <p:nvSpPr>
              <p:cNvPr id="41" name="直线连接线"/>
              <p:cNvSpPr/>
              <p:nvPr/>
            </p:nvSpPr>
            <p:spPr>
              <a:xfrm>
                <a:off x="5579827" y="4377100"/>
                <a:ext cx="691846" cy="0"/>
              </a:xfrm>
              <a:custGeom>
                <a:avLst/>
                <a:gdLst/>
                <a:ahLst/>
                <a:cxnLst/>
                <a:rect l="0" t="0" r="0" b="0"/>
                <a:pathLst>
                  <a:path w="691846" fill="none">
                    <a:moveTo>
                      <a:pt x="0" y="0"/>
                    </a:moveTo>
                    <a:lnTo>
                      <a:pt x="691846" y="0"/>
                    </a:lnTo>
                  </a:path>
                </a:pathLst>
              </a:custGeom>
              <a:noFill/>
              <a:ln w="7600" cap="flat">
                <a:solidFill>
                  <a:srgbClr val="236EA1"/>
                </a:solidFill>
                <a:bevel/>
                <a:tailEnd type="stealth" w="med" len="med"/>
              </a:ln>
            </p:spPr>
          </p:sp>
          <p:sp>
            <p:nvSpPr>
              <p:cNvPr id="43" name="Text 185"/>
              <p:cNvSpPr txBox="1"/>
              <p:nvPr/>
            </p:nvSpPr>
            <p:spPr>
              <a:xfrm rot="5409441">
                <a:off x="5020555" y="4271994"/>
                <a:ext cx="1810743" cy="273600"/>
              </a:xfrm>
              <a:prstGeom prst="rect">
                <a:avLst/>
              </a:prstGeom>
              <a:noFill/>
            </p:spPr>
            <p:txBody>
              <a:bodyPr wrap="square" lIns="36000" tIns="0" rIns="36000" bIns="0" rtlCol="0" anchor="ctr"/>
              <a:lstStyle/>
              <a:p>
                <a:pPr algn="ctr">
                  <a:lnSpc>
                    <a:spcPct val="100000"/>
                  </a:lnSpc>
                </a:pPr>
                <a:r>
                  <a:rPr sz="2400" dirty="0" err="1">
                    <a:solidFill>
                      <a:srgbClr val="FF0000"/>
                    </a:solidFill>
                    <a:latin typeface="微软雅黑" panose="020B0503020204020204" pitchFamily="34" charset="-122"/>
                  </a:rPr>
                  <a:t>addListner</a:t>
                </a:r>
                <a:endParaRPr sz="2400" dirty="0">
                  <a:solidFill>
                    <a:srgbClr val="FF0000"/>
                  </a:solidFill>
                  <a:latin typeface="微软雅黑" panose="020B0503020204020204" pitchFamily="34" charset="-122"/>
                </a:endParaRPr>
              </a:p>
            </p:txBody>
          </p:sp>
        </p:grpSp>
        <p:sp>
          <p:nvSpPr>
            <p:cNvPr id="35" name="外部交互方"/>
            <p:cNvSpPr/>
            <p:nvPr/>
          </p:nvSpPr>
          <p:spPr>
            <a:xfrm>
              <a:off x="5185233" y="1903178"/>
              <a:ext cx="1373450" cy="364800"/>
            </a:xfrm>
            <a:custGeom>
              <a:avLst/>
              <a:gdLst>
                <a:gd name="connsiteX0" fmla="*/ 433200 w 866400"/>
                <a:gd name="connsiteY0" fmla="*/ 364800 h 364800"/>
                <a:gd name="connsiteX1" fmla="*/ 433200 w 866400"/>
                <a:gd name="connsiteY1" fmla="*/ 0 h 364800"/>
                <a:gd name="connsiteX2" fmla="*/ 866400 w 866400"/>
                <a:gd name="connsiteY2" fmla="*/ 182400 h 364800"/>
                <a:gd name="connsiteX3" fmla="*/ 0 w 866400"/>
                <a:gd name="connsiteY3" fmla="*/ 182400 h 364800"/>
                <a:gd name="connsiteX4" fmla="*/ 433200 w 866400"/>
                <a:gd name="connsiteY4" fmla="*/ 182400 h 364800"/>
                <a:gd name="connsiteX5" fmla="*/ 0 w 866400"/>
                <a:gd name="connsiteY5" fmla="*/ 91200 h 364800"/>
                <a:gd name="connsiteX6" fmla="*/ 0 w 866400"/>
                <a:gd name="connsiteY6" fmla="*/ 273600 h 364800"/>
                <a:gd name="connsiteX7" fmla="*/ 866400 w 866400"/>
                <a:gd name="connsiteY7" fmla="*/ 91200 h 364800"/>
                <a:gd name="connsiteX8" fmla="*/ 866400 w 866400"/>
                <a:gd name="connsiteY8" fmla="*/ 273600 h 364800"/>
                <a:gd name="connsiteX9" fmla="*/ 216600 w 866400"/>
                <a:gd name="connsiteY9" fmla="*/ 0 h 364800"/>
                <a:gd name="connsiteX10" fmla="*/ 649800 w 866400"/>
                <a:gd name="connsiteY10" fmla="*/ 0 h 364800"/>
                <a:gd name="connsiteX11" fmla="*/ 216600 w 866400"/>
                <a:gd name="connsiteY11" fmla="*/ 364800 h 364800"/>
                <a:gd name="connsiteX12" fmla="*/ 649800 w 866400"/>
                <a:gd name="connsiteY12" fmla="*/ 364800 h 36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6400" h="364800">
                  <a:moveTo>
                    <a:pt x="866400" y="364800"/>
                  </a:moveTo>
                  <a:lnTo>
                    <a:pt x="866400" y="0"/>
                  </a:lnTo>
                  <a:lnTo>
                    <a:pt x="0" y="0"/>
                  </a:lnTo>
                  <a:lnTo>
                    <a:pt x="0" y="364800"/>
                  </a:lnTo>
                  <a:lnTo>
                    <a:pt x="866400" y="364800"/>
                  </a:lnTo>
                  <a:close/>
                </a:path>
              </a:pathLst>
            </a:custGeom>
            <a:solidFill>
              <a:srgbClr val="FFFFFF"/>
            </a:solidFill>
            <a:ln w="7600" cap="flat">
              <a:noFill/>
              <a:bevel/>
            </a:ln>
          </p:spPr>
          <p:txBody>
            <a:bodyPr wrap="square" lIns="0" tIns="0" rIns="0" bIns="0" rtlCol="0" anchor="ctr"/>
            <a:lstStyle/>
            <a:p>
              <a:pPr algn="ctr">
                <a:lnSpc>
                  <a:spcPct val="100000"/>
                </a:lnSpc>
              </a:pPr>
              <a:r>
                <a:rPr sz="2400" dirty="0" err="1">
                  <a:solidFill>
                    <a:srgbClr val="FF0000"/>
                  </a:solidFill>
                  <a:latin typeface="微软雅黑" panose="020B0503020204020204" pitchFamily="34" charset="-122"/>
                </a:rPr>
                <a:t>listners</a:t>
              </a:r>
              <a:endParaRPr sz="2400" dirty="0">
                <a:solidFill>
                  <a:srgbClr val="FF0000"/>
                </a:solidFill>
                <a:latin typeface="微软雅黑" panose="020B0503020204020204" pitchFamily="34" charset="-122"/>
              </a:endParaRPr>
            </a:p>
          </p:txBody>
        </p:sp>
        <p:cxnSp>
          <p:nvCxnSpPr>
            <p:cNvPr id="36" name="直线连接线"/>
            <p:cNvCxnSpPr>
              <a:stCxn id="32" idx="3"/>
              <a:endCxn id="29" idx="7"/>
            </p:cNvCxnSpPr>
            <p:nvPr/>
          </p:nvCxnSpPr>
          <p:spPr>
            <a:xfrm rot="-9326469">
              <a:off x="5992689" y="2960528"/>
              <a:ext cx="1019422" cy="0"/>
            </a:xfrm>
            <a:prstGeom prst="line">
              <a:avLst/>
            </a:prstGeom>
            <a:ln w="7600" cap="flat">
              <a:solidFill>
                <a:srgbClr val="236EA1"/>
              </a:solidFill>
              <a:bevel/>
              <a:tailEnd type="stealth" w="med" len="med"/>
            </a:ln>
          </p:spPr>
        </p:cxnSp>
        <p:cxnSp>
          <p:nvCxnSpPr>
            <p:cNvPr id="37" name="直线连接线"/>
            <p:cNvCxnSpPr>
              <a:stCxn id="32" idx="3"/>
              <a:endCxn id="29" idx="2"/>
            </p:cNvCxnSpPr>
            <p:nvPr/>
          </p:nvCxnSpPr>
          <p:spPr>
            <a:xfrm rot="10785911">
              <a:off x="6038796" y="3174278"/>
              <a:ext cx="927208" cy="0"/>
            </a:xfrm>
            <a:prstGeom prst="line">
              <a:avLst/>
            </a:prstGeom>
            <a:ln w="7600" cap="flat">
              <a:solidFill>
                <a:srgbClr val="236EA1"/>
              </a:solidFill>
              <a:bevel/>
              <a:tailEnd type="stealth" w="med" len="med"/>
            </a:ln>
          </p:spPr>
        </p:cxnSp>
        <p:cxnSp>
          <p:nvCxnSpPr>
            <p:cNvPr id="38" name="直线连接线"/>
            <p:cNvCxnSpPr>
              <a:stCxn id="32" idx="3"/>
              <a:endCxn id="29" idx="8"/>
            </p:cNvCxnSpPr>
            <p:nvPr/>
          </p:nvCxnSpPr>
          <p:spPr>
            <a:xfrm rot="9303231">
              <a:off x="5991098" y="3388028"/>
              <a:ext cx="1022604" cy="0"/>
            </a:xfrm>
            <a:prstGeom prst="line">
              <a:avLst/>
            </a:prstGeom>
            <a:ln w="7600" cap="flat">
              <a:solidFill>
                <a:srgbClr val="236EA1"/>
              </a:solidFill>
              <a:bevel/>
              <a:tailEnd type="stealth" w="med" len="med"/>
            </a:ln>
          </p:spPr>
        </p:cxnSp>
        <p:cxnSp>
          <p:nvCxnSpPr>
            <p:cNvPr id="39" name="直线连接线"/>
            <p:cNvCxnSpPr>
              <a:endCxn id="31" idx="8"/>
            </p:cNvCxnSpPr>
            <p:nvPr/>
          </p:nvCxnSpPr>
          <p:spPr>
            <a:xfrm rot="-2460859">
              <a:off x="6496644" y="4788701"/>
              <a:ext cx="790010" cy="0"/>
            </a:xfrm>
            <a:prstGeom prst="line">
              <a:avLst/>
            </a:prstGeom>
            <a:ln w="7600" cap="flat">
              <a:solidFill>
                <a:srgbClr val="236EA1"/>
              </a:solidFill>
              <a:bevel/>
              <a:tailEnd type="stealth" w="med" len="med"/>
            </a:ln>
          </p:spPr>
        </p:cxnSp>
        <p:cxnSp>
          <p:nvCxnSpPr>
            <p:cNvPr id="40" name="直线连接线"/>
            <p:cNvCxnSpPr>
              <a:stCxn id="31" idx="0"/>
              <a:endCxn id="32" idx="0"/>
            </p:cNvCxnSpPr>
            <p:nvPr/>
          </p:nvCxnSpPr>
          <p:spPr>
            <a:xfrm rot="-5400000">
              <a:off x="7045800" y="3700578"/>
              <a:ext cx="691600" cy="0"/>
            </a:xfrm>
            <a:prstGeom prst="line">
              <a:avLst/>
            </a:prstGeom>
            <a:ln w="7600" cap="flat">
              <a:solidFill>
                <a:srgbClr val="236EA1"/>
              </a:solidFill>
              <a:bevel/>
              <a:tailEnd type="stealth" w="med" len="med"/>
            </a:ln>
          </p:spPr>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9" name="副标题 2"/>
          <p:cNvSpPr txBox="1"/>
          <p:nvPr/>
        </p:nvSpPr>
        <p:spPr>
          <a:xfrm>
            <a:off x="-14194" y="836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r>
              <a:rPr lang="en-US" altLang="zh-CN" sz="2400" dirty="0" smtClean="0">
                <a:solidFill>
                  <a:schemeClr val="tx1"/>
                </a:solidFill>
                <a:latin typeface="微软雅黑" panose="020B0503020204020204" pitchFamily="34" charset="-122"/>
                <a:ea typeface="微软雅黑" panose="020B0503020204020204" pitchFamily="34" charset="-122"/>
              </a:rPr>
              <a:t>-Event4j</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5" name="Group140"/>
          <p:cNvGrpSpPr/>
          <p:nvPr/>
        </p:nvGrpSpPr>
        <p:grpSpPr>
          <a:xfrm>
            <a:off x="486121" y="1746781"/>
            <a:ext cx="8550375" cy="5927463"/>
            <a:chOff x="1636816" y="1931800"/>
            <a:chExt cx="7251984" cy="3710554"/>
          </a:xfrm>
        </p:grpSpPr>
        <p:grpSp>
          <p:nvGrpSpPr>
            <p:cNvPr id="6" name="椭圆形过程"/>
            <p:cNvGrpSpPr/>
            <p:nvPr/>
          </p:nvGrpSpPr>
          <p:grpSpPr>
            <a:xfrm>
              <a:off x="5202083" y="1931800"/>
              <a:ext cx="2305100" cy="1122997"/>
              <a:chOff x="5202083" y="1931800"/>
              <a:chExt cx="2305100" cy="1122997"/>
            </a:xfrm>
          </p:grpSpPr>
          <p:sp>
            <p:nvSpPr>
              <p:cNvPr id="48" name="任意多边形 47"/>
              <p:cNvSpPr/>
              <p:nvPr/>
            </p:nvSpPr>
            <p:spPr>
              <a:xfrm>
                <a:off x="5202083" y="1931800"/>
                <a:ext cx="2305100" cy="1122997"/>
              </a:xfrm>
              <a:custGeom>
                <a:avLst/>
                <a:gdLst/>
                <a:ahLst/>
                <a:cxnLst/>
                <a:rect l="0" t="0" r="0" b="0"/>
                <a:pathLst>
                  <a:path w="2305100" h="1122997" fill="none">
                    <a:moveTo>
                      <a:pt x="1152550" y="561499"/>
                    </a:moveTo>
                    <a:moveTo>
                      <a:pt x="1152550" y="561499"/>
                    </a:moveTo>
                    <a:moveTo>
                      <a:pt x="1152550" y="561499"/>
                    </a:moveTo>
                    <a:moveTo>
                      <a:pt x="1152550" y="561499"/>
                    </a:moveTo>
                  </a:path>
                </a:pathLst>
              </a:custGeom>
              <a:solidFill>
                <a:srgbClr val="527294"/>
              </a:solidFill>
              <a:ln w="7600" cap="flat">
                <a:solidFill>
                  <a:srgbClr val="527294"/>
                </a:solidFill>
                <a:bevel/>
              </a:ln>
            </p:spPr>
          </p:sp>
          <p:sp>
            <p:nvSpPr>
              <p:cNvPr id="49" name="Ellipse"/>
              <p:cNvSpPr/>
              <p:nvPr/>
            </p:nvSpPr>
            <p:spPr>
              <a:xfrm>
                <a:off x="5202083" y="1931800"/>
                <a:ext cx="2305100" cy="1122997"/>
              </a:xfrm>
              <a:custGeom>
                <a:avLst/>
                <a:gdLst/>
                <a:ahLst/>
                <a:cxnLst/>
                <a:rect l="0" t="0" r="0" b="0"/>
                <a:pathLst>
                  <a:path w="2305100" h="1122997">
                    <a:moveTo>
                      <a:pt x="0" y="561499"/>
                    </a:moveTo>
                    <a:cubicBezTo>
                      <a:pt x="0" y="251392"/>
                      <a:pt x="516014" y="0"/>
                      <a:pt x="1152550" y="0"/>
                    </a:cubicBezTo>
                    <a:cubicBezTo>
                      <a:pt x="1789086" y="0"/>
                      <a:pt x="2305100" y="251392"/>
                      <a:pt x="2305100" y="561499"/>
                    </a:cubicBezTo>
                    <a:cubicBezTo>
                      <a:pt x="2305100" y="871606"/>
                      <a:pt x="1789086" y="1122997"/>
                      <a:pt x="1152550" y="1122997"/>
                    </a:cubicBezTo>
                    <a:cubicBezTo>
                      <a:pt x="516014" y="1122997"/>
                      <a:pt x="0" y="871606"/>
                      <a:pt x="0" y="561499"/>
                    </a:cubicBezTo>
                    <a:close/>
                  </a:path>
                </a:pathLst>
              </a:custGeom>
              <a:solidFill>
                <a:srgbClr val="527294"/>
              </a:solidFill>
              <a:ln w="7600" cap="flat">
                <a:solidFill>
                  <a:srgbClr val="527294"/>
                </a:solidFill>
                <a:bevel/>
              </a:ln>
            </p:spPr>
          </p:sp>
          <p:sp>
            <p:nvSpPr>
              <p:cNvPr id="50" name="Text 141"/>
              <p:cNvSpPr txBox="1"/>
              <p:nvPr/>
            </p:nvSpPr>
            <p:spPr>
              <a:xfrm>
                <a:off x="5202083" y="1931800"/>
                <a:ext cx="2305100" cy="1122997"/>
              </a:xfrm>
              <a:prstGeom prst="rect">
                <a:avLst/>
              </a:prstGeom>
              <a:noFill/>
            </p:spPr>
            <p:txBody>
              <a:bodyPr wrap="square" lIns="0" tIns="0" rIns="0" bIns="0" rtlCol="0" anchor="t"/>
              <a:lstStyle/>
              <a:p>
                <a:pPr algn="ctr">
                  <a:lnSpc>
                    <a:spcPct val="100000"/>
                  </a:lnSpc>
                </a:pPr>
                <a:endParaRPr lang="en-US" sz="1400" dirty="0" smtClean="0">
                  <a:solidFill>
                    <a:srgbClr val="FFFFFF"/>
                  </a:solidFill>
                  <a:latin typeface="微软雅黑" panose="020B0503020204020204" pitchFamily="34" charset="-122"/>
                  <a:ea typeface="微软雅黑" panose="020B0503020204020204" pitchFamily="34" charset="-122"/>
                </a:endParaRPr>
              </a:p>
              <a:p>
                <a:pPr algn="ctr">
                  <a:lnSpc>
                    <a:spcPct val="100000"/>
                  </a:lnSpc>
                </a:pPr>
                <a:r>
                  <a:rPr sz="1400" dirty="0" err="1" smtClean="0">
                    <a:solidFill>
                      <a:srgbClr val="FFFFFF"/>
                    </a:solidFill>
                    <a:latin typeface="微软雅黑" panose="020B0503020204020204" pitchFamily="34" charset="-122"/>
                    <a:ea typeface="微软雅黑" panose="020B0503020204020204" pitchFamily="34" charset="-122"/>
                  </a:rPr>
                  <a:t>线程池</a:t>
                </a:r>
                <a:r>
                  <a:rPr sz="1400" dirty="0" err="1">
                    <a:solidFill>
                      <a:srgbClr val="FFFFFF"/>
                    </a:solidFill>
                    <a:latin typeface="微软雅黑" panose="020B0503020204020204" pitchFamily="34" charset="-122"/>
                    <a:ea typeface="微软雅黑" panose="020B0503020204020204" pitchFamily="34" charset="-122"/>
                  </a:rPr>
                  <a:t>-默认</a:t>
                </a:r>
                <a:endParaRPr sz="1400" dirty="0">
                  <a:solidFill>
                    <a:srgbClr val="FFFFFF"/>
                  </a:solidFill>
                  <a:latin typeface="微软雅黑" panose="020B0503020204020204" pitchFamily="34" charset="-122"/>
                  <a:ea typeface="微软雅黑" panose="020B0503020204020204" pitchFamily="34" charset="-122"/>
                </a:endParaRPr>
              </a:p>
            </p:txBody>
          </p:sp>
        </p:grpSp>
        <p:grpSp>
          <p:nvGrpSpPr>
            <p:cNvPr id="7" name="椭圆形过程"/>
            <p:cNvGrpSpPr/>
            <p:nvPr/>
          </p:nvGrpSpPr>
          <p:grpSpPr>
            <a:xfrm>
              <a:off x="5163083" y="3588600"/>
              <a:ext cx="2344100" cy="1141997"/>
              <a:chOff x="5163083" y="3588600"/>
              <a:chExt cx="2344100" cy="1141997"/>
            </a:xfrm>
          </p:grpSpPr>
          <p:sp>
            <p:nvSpPr>
              <p:cNvPr id="45" name="任意多边形 44"/>
              <p:cNvSpPr/>
              <p:nvPr/>
            </p:nvSpPr>
            <p:spPr>
              <a:xfrm>
                <a:off x="5163083" y="3588600"/>
                <a:ext cx="2344100" cy="1141997"/>
              </a:xfrm>
              <a:custGeom>
                <a:avLst/>
                <a:gdLst/>
                <a:ahLst/>
                <a:cxnLst/>
                <a:rect l="0" t="0" r="0" b="0"/>
                <a:pathLst>
                  <a:path w="2344100" h="1141997" fill="none">
                    <a:moveTo>
                      <a:pt x="1172050" y="570999"/>
                    </a:moveTo>
                    <a:moveTo>
                      <a:pt x="1172050" y="570999"/>
                    </a:moveTo>
                    <a:moveTo>
                      <a:pt x="1172050" y="570999"/>
                    </a:moveTo>
                    <a:moveTo>
                      <a:pt x="1172050" y="570999"/>
                    </a:moveTo>
                  </a:path>
                </a:pathLst>
              </a:custGeom>
              <a:solidFill>
                <a:srgbClr val="527294"/>
              </a:solidFill>
              <a:ln w="7600" cap="flat">
                <a:solidFill>
                  <a:srgbClr val="527294"/>
                </a:solidFill>
                <a:bevel/>
              </a:ln>
            </p:spPr>
          </p:sp>
          <p:sp>
            <p:nvSpPr>
              <p:cNvPr id="46" name="Ellipse"/>
              <p:cNvSpPr/>
              <p:nvPr/>
            </p:nvSpPr>
            <p:spPr>
              <a:xfrm>
                <a:off x="5163083" y="3588600"/>
                <a:ext cx="2344100" cy="1141997"/>
              </a:xfrm>
              <a:custGeom>
                <a:avLst/>
                <a:gdLst/>
                <a:ahLst/>
                <a:cxnLst/>
                <a:rect l="0" t="0" r="0" b="0"/>
                <a:pathLst>
                  <a:path w="2344100" h="1141997">
                    <a:moveTo>
                      <a:pt x="0" y="570999"/>
                    </a:moveTo>
                    <a:cubicBezTo>
                      <a:pt x="0" y="255645"/>
                      <a:pt x="524745" y="0"/>
                      <a:pt x="1172050" y="0"/>
                    </a:cubicBezTo>
                    <a:cubicBezTo>
                      <a:pt x="1819355" y="0"/>
                      <a:pt x="2344100" y="255645"/>
                      <a:pt x="2344100" y="570999"/>
                    </a:cubicBezTo>
                    <a:cubicBezTo>
                      <a:pt x="2344100" y="886353"/>
                      <a:pt x="1819355" y="1141997"/>
                      <a:pt x="1172050" y="1141997"/>
                    </a:cubicBezTo>
                    <a:cubicBezTo>
                      <a:pt x="524745" y="1141997"/>
                      <a:pt x="0" y="886353"/>
                      <a:pt x="0" y="570999"/>
                    </a:cubicBezTo>
                    <a:close/>
                  </a:path>
                </a:pathLst>
              </a:custGeom>
              <a:solidFill>
                <a:srgbClr val="527294"/>
              </a:solidFill>
              <a:ln w="7600" cap="flat">
                <a:solidFill>
                  <a:srgbClr val="527294"/>
                </a:solidFill>
                <a:bevel/>
              </a:ln>
            </p:spPr>
          </p:sp>
          <p:sp>
            <p:nvSpPr>
              <p:cNvPr id="47" name="Text 142"/>
              <p:cNvSpPr txBox="1"/>
              <p:nvPr/>
            </p:nvSpPr>
            <p:spPr>
              <a:xfrm>
                <a:off x="5163083" y="3588600"/>
                <a:ext cx="2344100" cy="1141997"/>
              </a:xfrm>
              <a:prstGeom prst="rect">
                <a:avLst/>
              </a:prstGeom>
              <a:noFill/>
            </p:spPr>
            <p:txBody>
              <a:bodyPr wrap="square" lIns="0" tIns="0" rIns="0" bIns="0" rtlCol="0" anchor="t"/>
              <a:lstStyle/>
              <a:p>
                <a:pPr algn="ctr">
                  <a:lnSpc>
                    <a:spcPct val="100000"/>
                  </a:lnSpc>
                </a:pPr>
                <a:endParaRPr lang="en-US" sz="760" dirty="0" smtClean="0">
                  <a:solidFill>
                    <a:srgbClr val="FFFFFF"/>
                  </a:solidFill>
                  <a:latin typeface="微软雅黑" panose="020B0503020204020204" pitchFamily="34" charset="-122"/>
                  <a:ea typeface="微软雅黑" panose="020B0503020204020204" pitchFamily="34" charset="-122"/>
                </a:endParaRPr>
              </a:p>
              <a:p>
                <a:pPr algn="ctr">
                  <a:lnSpc>
                    <a:spcPct val="100000"/>
                  </a:lnSpc>
                </a:pPr>
                <a:r>
                  <a:rPr sz="1400" dirty="0" err="1" smtClean="0">
                    <a:solidFill>
                      <a:srgbClr val="FFFFFF"/>
                    </a:solidFill>
                    <a:latin typeface="微软雅黑" panose="020B0503020204020204" pitchFamily="34" charset="-122"/>
                    <a:ea typeface="微软雅黑" panose="020B0503020204020204" pitchFamily="34" charset="-122"/>
                  </a:rPr>
                  <a:t>线程池</a:t>
                </a:r>
                <a:r>
                  <a:rPr sz="1400" dirty="0" err="1">
                    <a:solidFill>
                      <a:srgbClr val="FFFFFF"/>
                    </a:solidFill>
                    <a:latin typeface="微软雅黑" panose="020B0503020204020204" pitchFamily="34" charset="-122"/>
                    <a:ea typeface="微软雅黑" panose="020B0503020204020204" pitchFamily="34" charset="-122"/>
                  </a:rPr>
                  <a:t>-其他</a:t>
                </a:r>
                <a:endParaRPr sz="1400" dirty="0">
                  <a:solidFill>
                    <a:srgbClr val="FFFFFF"/>
                  </a:solidFill>
                  <a:latin typeface="微软雅黑" panose="020B0503020204020204" pitchFamily="34" charset="-122"/>
                  <a:ea typeface="微软雅黑" panose="020B0503020204020204" pitchFamily="34" charset="-122"/>
                </a:endParaRPr>
              </a:p>
            </p:txBody>
          </p:sp>
        </p:grpSp>
        <p:grpSp>
          <p:nvGrpSpPr>
            <p:cNvPr id="8" name="椭圆形过程"/>
            <p:cNvGrpSpPr/>
            <p:nvPr/>
          </p:nvGrpSpPr>
          <p:grpSpPr>
            <a:xfrm>
              <a:off x="5424783" y="2273800"/>
              <a:ext cx="790400" cy="385067"/>
              <a:chOff x="5424783" y="2273800"/>
              <a:chExt cx="790400" cy="385067"/>
            </a:xfrm>
          </p:grpSpPr>
          <p:sp>
            <p:nvSpPr>
              <p:cNvPr id="42" name="任意多边形 41"/>
              <p:cNvSpPr/>
              <p:nvPr/>
            </p:nvSpPr>
            <p:spPr>
              <a:xfrm>
                <a:off x="5424783" y="2273800"/>
                <a:ext cx="790400" cy="385067"/>
              </a:xfrm>
              <a:custGeom>
                <a:avLst/>
                <a:gdLst/>
                <a:ahLst/>
                <a:cxnLst/>
                <a:rect l="0" t="0" r="0" b="0"/>
                <a:pathLst>
                  <a:path w="790400" h="385067" fill="none">
                    <a:moveTo>
                      <a:pt x="395200" y="192533"/>
                    </a:moveTo>
                    <a:moveTo>
                      <a:pt x="395200" y="192533"/>
                    </a:moveTo>
                    <a:moveTo>
                      <a:pt x="395200" y="192533"/>
                    </a:moveTo>
                    <a:moveTo>
                      <a:pt x="395200" y="192533"/>
                    </a:moveTo>
                  </a:path>
                </a:pathLst>
              </a:custGeom>
              <a:solidFill>
                <a:srgbClr val="3498DB"/>
              </a:solidFill>
              <a:ln w="7600" cap="flat">
                <a:solidFill>
                  <a:srgbClr val="3498DB"/>
                </a:solidFill>
                <a:bevel/>
              </a:ln>
            </p:spPr>
          </p:sp>
          <p:sp>
            <p:nvSpPr>
              <p:cNvPr id="43" name="Ellipse"/>
              <p:cNvSpPr/>
              <p:nvPr/>
            </p:nvSpPr>
            <p:spPr>
              <a:xfrm>
                <a:off x="5424783" y="2273800"/>
                <a:ext cx="790400" cy="385067"/>
              </a:xfrm>
              <a:custGeom>
                <a:avLst/>
                <a:gdLst/>
                <a:ahLst/>
                <a:cxnLst/>
                <a:rect l="0" t="0" r="0" b="0"/>
                <a:pathLst>
                  <a:path w="790400" h="385067">
                    <a:moveTo>
                      <a:pt x="0" y="192533"/>
                    </a:moveTo>
                    <a:cubicBezTo>
                      <a:pt x="0" y="86200"/>
                      <a:pt x="176937" y="0"/>
                      <a:pt x="395200" y="0"/>
                    </a:cubicBezTo>
                    <a:cubicBezTo>
                      <a:pt x="613463" y="0"/>
                      <a:pt x="790400" y="86200"/>
                      <a:pt x="790400" y="192533"/>
                    </a:cubicBezTo>
                    <a:cubicBezTo>
                      <a:pt x="790400" y="298867"/>
                      <a:pt x="613463" y="385067"/>
                      <a:pt x="395200" y="385067"/>
                    </a:cubicBezTo>
                    <a:cubicBezTo>
                      <a:pt x="176937" y="385067"/>
                      <a:pt x="0" y="298867"/>
                      <a:pt x="0" y="192533"/>
                    </a:cubicBezTo>
                    <a:close/>
                  </a:path>
                </a:pathLst>
              </a:custGeom>
              <a:solidFill>
                <a:srgbClr val="3498DB"/>
              </a:solidFill>
              <a:ln w="7600" cap="flat">
                <a:solidFill>
                  <a:srgbClr val="3498DB"/>
                </a:solidFill>
                <a:bevel/>
              </a:ln>
            </p:spPr>
          </p:sp>
          <p:sp>
            <p:nvSpPr>
              <p:cNvPr id="44" name="Text 143"/>
              <p:cNvSpPr txBox="1"/>
              <p:nvPr/>
            </p:nvSpPr>
            <p:spPr>
              <a:xfrm>
                <a:off x="5424783" y="2273800"/>
                <a:ext cx="790400" cy="385067"/>
              </a:xfrm>
              <a:prstGeom prst="rect">
                <a:avLst/>
              </a:prstGeom>
              <a:noFill/>
            </p:spPr>
            <p:txBody>
              <a:bodyPr wrap="square" lIns="36000" tIns="0" rIns="36000" bIns="0" rtlCol="0" anchor="ctr"/>
              <a:lstStyle/>
              <a:p>
                <a:pPr algn="ctr">
                  <a:lnSpc>
                    <a:spcPct val="100000"/>
                  </a:lnSpc>
                </a:pPr>
                <a:r>
                  <a:rPr sz="1000" dirty="0">
                    <a:solidFill>
                      <a:srgbClr val="FFFFFF"/>
                    </a:solidFill>
                    <a:latin typeface="微软雅黑" panose="020B0503020204020204" pitchFamily="34" charset="-122"/>
                    <a:ea typeface="微软雅黑" panose="020B0503020204020204" pitchFamily="34" charset="-122"/>
                  </a:rPr>
                  <a:t>事件A处理器1</a:t>
                </a:r>
                <a:endParaRPr sz="1000" dirty="0">
                  <a:solidFill>
                    <a:srgbClr val="FFFFFF"/>
                  </a:solidFill>
                  <a:latin typeface="微软雅黑" panose="020B0503020204020204" pitchFamily="34" charset="-122"/>
                  <a:ea typeface="微软雅黑" panose="020B0503020204020204" pitchFamily="34" charset="-122"/>
                </a:endParaRPr>
              </a:p>
            </p:txBody>
          </p:sp>
        </p:grpSp>
        <p:grpSp>
          <p:nvGrpSpPr>
            <p:cNvPr id="9" name="椭圆形过程"/>
            <p:cNvGrpSpPr/>
            <p:nvPr/>
          </p:nvGrpSpPr>
          <p:grpSpPr>
            <a:xfrm>
              <a:off x="6648383" y="2240477"/>
              <a:ext cx="770400" cy="375323"/>
              <a:chOff x="6648383" y="2240477"/>
              <a:chExt cx="770400" cy="375323"/>
            </a:xfrm>
          </p:grpSpPr>
          <p:sp>
            <p:nvSpPr>
              <p:cNvPr id="39" name="任意多边形 38"/>
              <p:cNvSpPr/>
              <p:nvPr/>
            </p:nvSpPr>
            <p:spPr>
              <a:xfrm>
                <a:off x="6648383" y="2240477"/>
                <a:ext cx="770400" cy="375323"/>
              </a:xfrm>
              <a:custGeom>
                <a:avLst/>
                <a:gdLst/>
                <a:ahLst/>
                <a:cxnLst/>
                <a:rect l="0" t="0" r="0" b="0"/>
                <a:pathLst>
                  <a:path w="770400" h="375323" fill="none">
                    <a:moveTo>
                      <a:pt x="385200" y="187662"/>
                    </a:moveTo>
                    <a:moveTo>
                      <a:pt x="385200" y="187662"/>
                    </a:moveTo>
                    <a:moveTo>
                      <a:pt x="385200" y="187662"/>
                    </a:moveTo>
                    <a:moveTo>
                      <a:pt x="385200" y="187662"/>
                    </a:moveTo>
                  </a:path>
                </a:pathLst>
              </a:custGeom>
              <a:solidFill>
                <a:srgbClr val="3498DB"/>
              </a:solidFill>
              <a:ln w="7600" cap="flat">
                <a:solidFill>
                  <a:srgbClr val="3498DB"/>
                </a:solidFill>
                <a:bevel/>
              </a:ln>
            </p:spPr>
          </p:sp>
          <p:sp>
            <p:nvSpPr>
              <p:cNvPr id="40" name="Ellipse"/>
              <p:cNvSpPr/>
              <p:nvPr/>
            </p:nvSpPr>
            <p:spPr>
              <a:xfrm>
                <a:off x="6648383" y="2240477"/>
                <a:ext cx="770400" cy="375323"/>
              </a:xfrm>
              <a:custGeom>
                <a:avLst/>
                <a:gdLst/>
                <a:ahLst/>
                <a:cxnLst/>
                <a:rect l="0" t="0" r="0" b="0"/>
                <a:pathLst>
                  <a:path w="770400" h="375323">
                    <a:moveTo>
                      <a:pt x="0" y="187662"/>
                    </a:moveTo>
                    <a:cubicBezTo>
                      <a:pt x="0" y="84019"/>
                      <a:pt x="172460" y="0"/>
                      <a:pt x="385200" y="0"/>
                    </a:cubicBezTo>
                    <a:cubicBezTo>
                      <a:pt x="597940" y="0"/>
                      <a:pt x="770400" y="84019"/>
                      <a:pt x="770400" y="187662"/>
                    </a:cubicBezTo>
                    <a:cubicBezTo>
                      <a:pt x="770400" y="291304"/>
                      <a:pt x="597940" y="375323"/>
                      <a:pt x="385200" y="375323"/>
                    </a:cubicBezTo>
                    <a:cubicBezTo>
                      <a:pt x="172460" y="375323"/>
                      <a:pt x="0" y="291304"/>
                      <a:pt x="0" y="187662"/>
                    </a:cubicBezTo>
                    <a:close/>
                  </a:path>
                </a:pathLst>
              </a:custGeom>
              <a:solidFill>
                <a:srgbClr val="3498DB"/>
              </a:solidFill>
              <a:ln w="7600" cap="flat">
                <a:solidFill>
                  <a:srgbClr val="3498DB"/>
                </a:solidFill>
                <a:bevel/>
              </a:ln>
            </p:spPr>
          </p:sp>
          <p:sp>
            <p:nvSpPr>
              <p:cNvPr id="41" name="Text 144"/>
              <p:cNvSpPr txBox="1"/>
              <p:nvPr/>
            </p:nvSpPr>
            <p:spPr>
              <a:xfrm>
                <a:off x="6648383" y="2240477"/>
                <a:ext cx="770400" cy="375323"/>
              </a:xfrm>
              <a:prstGeom prst="rect">
                <a:avLst/>
              </a:prstGeom>
              <a:noFill/>
            </p:spPr>
            <p:txBody>
              <a:bodyPr wrap="square" lIns="36000" tIns="0" rIns="36000" bIns="0" rtlCol="0" anchor="ctr"/>
              <a:lstStyle/>
              <a:p>
                <a:pPr algn="ctr">
                  <a:lnSpc>
                    <a:spcPct val="100000"/>
                  </a:lnSpc>
                </a:pPr>
                <a:r>
                  <a:rPr sz="1000" dirty="0">
                    <a:solidFill>
                      <a:srgbClr val="FFFFFF"/>
                    </a:solidFill>
                    <a:latin typeface="微软雅黑" panose="020B0503020204020204" pitchFamily="34" charset="-122"/>
                    <a:ea typeface="微软雅黑" panose="020B0503020204020204" pitchFamily="34" charset="-122"/>
                  </a:rPr>
                  <a:t>事件A处理器2</a:t>
                </a:r>
                <a:endParaRPr sz="1000" dirty="0">
                  <a:solidFill>
                    <a:srgbClr val="FFFFFF"/>
                  </a:solidFill>
                  <a:latin typeface="微软雅黑" panose="020B0503020204020204" pitchFamily="34" charset="-122"/>
                  <a:ea typeface="微软雅黑" panose="020B0503020204020204" pitchFamily="34" charset="-122"/>
                </a:endParaRPr>
              </a:p>
            </p:txBody>
          </p:sp>
        </p:grpSp>
        <p:grpSp>
          <p:nvGrpSpPr>
            <p:cNvPr id="10" name="椭圆形过程"/>
            <p:cNvGrpSpPr/>
            <p:nvPr/>
          </p:nvGrpSpPr>
          <p:grpSpPr>
            <a:xfrm>
              <a:off x="6013283" y="2653800"/>
              <a:ext cx="741500" cy="361244"/>
              <a:chOff x="6013283" y="2653800"/>
              <a:chExt cx="741500" cy="361244"/>
            </a:xfrm>
          </p:grpSpPr>
          <p:sp>
            <p:nvSpPr>
              <p:cNvPr id="36" name="任意多边形 35"/>
              <p:cNvSpPr/>
              <p:nvPr/>
            </p:nvSpPr>
            <p:spPr>
              <a:xfrm>
                <a:off x="6013283" y="2653800"/>
                <a:ext cx="741500" cy="361244"/>
              </a:xfrm>
              <a:custGeom>
                <a:avLst/>
                <a:gdLst/>
                <a:ahLst/>
                <a:cxnLst/>
                <a:rect l="0" t="0" r="0" b="0"/>
                <a:pathLst>
                  <a:path w="741500" h="361244" fill="none">
                    <a:moveTo>
                      <a:pt x="370750" y="180622"/>
                    </a:moveTo>
                    <a:moveTo>
                      <a:pt x="370750" y="180622"/>
                    </a:moveTo>
                    <a:moveTo>
                      <a:pt x="370750" y="180622"/>
                    </a:moveTo>
                    <a:moveTo>
                      <a:pt x="370750" y="180622"/>
                    </a:moveTo>
                  </a:path>
                </a:pathLst>
              </a:custGeom>
              <a:solidFill>
                <a:srgbClr val="3498DB"/>
              </a:solidFill>
              <a:ln w="7600" cap="flat">
                <a:solidFill>
                  <a:srgbClr val="3498DB"/>
                </a:solidFill>
                <a:bevel/>
              </a:ln>
            </p:spPr>
          </p:sp>
          <p:sp>
            <p:nvSpPr>
              <p:cNvPr id="37" name="Ellipse"/>
              <p:cNvSpPr/>
              <p:nvPr/>
            </p:nvSpPr>
            <p:spPr>
              <a:xfrm>
                <a:off x="6013283" y="2653800"/>
                <a:ext cx="741500" cy="361244"/>
              </a:xfrm>
              <a:custGeom>
                <a:avLst/>
                <a:gdLst/>
                <a:ahLst/>
                <a:cxnLst/>
                <a:rect l="0" t="0" r="0" b="0"/>
                <a:pathLst>
                  <a:path w="741500" h="361244">
                    <a:moveTo>
                      <a:pt x="0" y="180622"/>
                    </a:moveTo>
                    <a:cubicBezTo>
                      <a:pt x="0" y="80867"/>
                      <a:pt x="165990" y="0"/>
                      <a:pt x="370750" y="0"/>
                    </a:cubicBezTo>
                    <a:cubicBezTo>
                      <a:pt x="575510" y="0"/>
                      <a:pt x="741500" y="80867"/>
                      <a:pt x="741500" y="180622"/>
                    </a:cubicBezTo>
                    <a:cubicBezTo>
                      <a:pt x="741500" y="280376"/>
                      <a:pt x="575510" y="361244"/>
                      <a:pt x="370750" y="361244"/>
                    </a:cubicBezTo>
                    <a:cubicBezTo>
                      <a:pt x="165990" y="361244"/>
                      <a:pt x="0" y="280376"/>
                      <a:pt x="0" y="180622"/>
                    </a:cubicBezTo>
                    <a:close/>
                  </a:path>
                </a:pathLst>
              </a:custGeom>
              <a:solidFill>
                <a:srgbClr val="3498DB"/>
              </a:solidFill>
              <a:ln w="7600" cap="flat">
                <a:solidFill>
                  <a:srgbClr val="3498DB"/>
                </a:solidFill>
                <a:bevel/>
              </a:ln>
            </p:spPr>
          </p:sp>
          <p:sp>
            <p:nvSpPr>
              <p:cNvPr id="38" name="Text 145"/>
              <p:cNvSpPr txBox="1"/>
              <p:nvPr/>
            </p:nvSpPr>
            <p:spPr>
              <a:xfrm>
                <a:off x="6013283" y="2653800"/>
                <a:ext cx="741500" cy="361244"/>
              </a:xfrm>
              <a:prstGeom prst="rect">
                <a:avLst/>
              </a:prstGeom>
              <a:noFill/>
            </p:spPr>
            <p:txBody>
              <a:bodyPr wrap="square" lIns="36000" tIns="0" rIns="36000" bIns="0" rtlCol="0" anchor="ctr"/>
              <a:lstStyle/>
              <a:p>
                <a:pPr algn="ctr">
                  <a:lnSpc>
                    <a:spcPct val="100000"/>
                  </a:lnSpc>
                </a:pPr>
                <a:r>
                  <a:rPr sz="1000" dirty="0" err="1">
                    <a:solidFill>
                      <a:srgbClr val="FFFFFF"/>
                    </a:solidFill>
                    <a:latin typeface="微软雅黑" panose="020B0503020204020204" pitchFamily="34" charset="-122"/>
                    <a:ea typeface="微软雅黑" panose="020B0503020204020204" pitchFamily="34" charset="-122"/>
                  </a:rPr>
                  <a:t>事件C处理器</a:t>
                </a:r>
                <a:endParaRPr sz="1000" dirty="0" err="1">
                  <a:solidFill>
                    <a:srgbClr val="FFFFFF"/>
                  </a:solidFill>
                  <a:latin typeface="微软雅黑" panose="020B0503020204020204" pitchFamily="34" charset="-122"/>
                  <a:ea typeface="微软雅黑" panose="020B0503020204020204" pitchFamily="34" charset="-122"/>
                </a:endParaRPr>
              </a:p>
            </p:txBody>
          </p:sp>
        </p:grpSp>
        <p:grpSp>
          <p:nvGrpSpPr>
            <p:cNvPr id="11" name="椭圆形过程"/>
            <p:cNvGrpSpPr/>
            <p:nvPr/>
          </p:nvGrpSpPr>
          <p:grpSpPr>
            <a:xfrm>
              <a:off x="5390383" y="3793800"/>
              <a:ext cx="748800" cy="364800"/>
              <a:chOff x="5390383" y="3793800"/>
              <a:chExt cx="748800" cy="364800"/>
            </a:xfrm>
          </p:grpSpPr>
          <p:sp>
            <p:nvSpPr>
              <p:cNvPr id="33" name="任意多边形 32"/>
              <p:cNvSpPr/>
              <p:nvPr/>
            </p:nvSpPr>
            <p:spPr>
              <a:xfrm>
                <a:off x="5390383" y="3793800"/>
                <a:ext cx="748800" cy="364800"/>
              </a:xfrm>
              <a:custGeom>
                <a:avLst/>
                <a:gdLst/>
                <a:ahLst/>
                <a:cxnLst/>
                <a:rect l="0" t="0" r="0" b="0"/>
                <a:pathLst>
                  <a:path w="748800" h="364800" fill="none">
                    <a:moveTo>
                      <a:pt x="374400" y="182400"/>
                    </a:moveTo>
                    <a:moveTo>
                      <a:pt x="374400" y="182400"/>
                    </a:moveTo>
                    <a:moveTo>
                      <a:pt x="374400" y="182400"/>
                    </a:moveTo>
                    <a:moveTo>
                      <a:pt x="374400" y="182400"/>
                    </a:moveTo>
                  </a:path>
                </a:pathLst>
              </a:custGeom>
              <a:solidFill>
                <a:srgbClr val="3498DB"/>
              </a:solidFill>
              <a:ln w="7600" cap="flat">
                <a:solidFill>
                  <a:srgbClr val="3498DB"/>
                </a:solidFill>
                <a:bevel/>
              </a:ln>
            </p:spPr>
          </p:sp>
          <p:sp>
            <p:nvSpPr>
              <p:cNvPr id="34" name="Ellipse"/>
              <p:cNvSpPr/>
              <p:nvPr/>
            </p:nvSpPr>
            <p:spPr>
              <a:xfrm>
                <a:off x="5390383" y="3793800"/>
                <a:ext cx="748800" cy="364800"/>
              </a:xfrm>
              <a:custGeom>
                <a:avLst/>
                <a:gdLst/>
                <a:ahLst/>
                <a:cxnLst/>
                <a:rect l="0" t="0" r="0" b="0"/>
                <a:pathLst>
                  <a:path w="748800" h="364800">
                    <a:moveTo>
                      <a:pt x="0" y="182400"/>
                    </a:moveTo>
                    <a:cubicBezTo>
                      <a:pt x="0" y="81663"/>
                      <a:pt x="167625" y="0"/>
                      <a:pt x="374400" y="0"/>
                    </a:cubicBezTo>
                    <a:cubicBezTo>
                      <a:pt x="581175" y="0"/>
                      <a:pt x="748800" y="81663"/>
                      <a:pt x="748800" y="182400"/>
                    </a:cubicBezTo>
                    <a:cubicBezTo>
                      <a:pt x="748800" y="283137"/>
                      <a:pt x="581175" y="364800"/>
                      <a:pt x="374400" y="364800"/>
                    </a:cubicBezTo>
                    <a:cubicBezTo>
                      <a:pt x="167625" y="364800"/>
                      <a:pt x="0" y="283137"/>
                      <a:pt x="0" y="182400"/>
                    </a:cubicBezTo>
                    <a:close/>
                  </a:path>
                </a:pathLst>
              </a:custGeom>
              <a:solidFill>
                <a:srgbClr val="3498DB"/>
              </a:solidFill>
              <a:ln w="7600" cap="flat">
                <a:solidFill>
                  <a:srgbClr val="3498DB"/>
                </a:solidFill>
                <a:bevel/>
              </a:ln>
            </p:spPr>
          </p:sp>
          <p:sp>
            <p:nvSpPr>
              <p:cNvPr id="35" name="Text 146"/>
              <p:cNvSpPr txBox="1"/>
              <p:nvPr/>
            </p:nvSpPr>
            <p:spPr>
              <a:xfrm>
                <a:off x="5390383" y="3793800"/>
                <a:ext cx="748800" cy="364800"/>
              </a:xfrm>
              <a:prstGeom prst="rect">
                <a:avLst/>
              </a:prstGeom>
              <a:noFill/>
            </p:spPr>
            <p:txBody>
              <a:bodyPr wrap="square" lIns="36000" tIns="0" rIns="36000" bIns="0" rtlCol="0" anchor="ctr"/>
              <a:lstStyle/>
              <a:p>
                <a:pPr algn="ctr">
                  <a:lnSpc>
                    <a:spcPct val="100000"/>
                  </a:lnSpc>
                </a:pPr>
                <a:r>
                  <a:rPr sz="1000" dirty="0">
                    <a:solidFill>
                      <a:srgbClr val="FFFFFF"/>
                    </a:solidFill>
                    <a:latin typeface="微软雅黑" panose="020B0503020204020204" pitchFamily="34" charset="-122"/>
                    <a:ea typeface="微软雅黑" panose="020B0503020204020204" pitchFamily="34" charset="-122"/>
                  </a:rPr>
                  <a:t>事件B处理器1</a:t>
                </a:r>
                <a:endParaRPr sz="1000" dirty="0">
                  <a:solidFill>
                    <a:srgbClr val="FFFFFF"/>
                  </a:solidFill>
                  <a:latin typeface="微软雅黑" panose="020B0503020204020204" pitchFamily="34" charset="-122"/>
                  <a:ea typeface="微软雅黑" panose="020B0503020204020204" pitchFamily="34" charset="-122"/>
                </a:endParaRPr>
              </a:p>
            </p:txBody>
          </p:sp>
        </p:grpSp>
        <p:grpSp>
          <p:nvGrpSpPr>
            <p:cNvPr id="12" name="椭圆形过程"/>
            <p:cNvGrpSpPr/>
            <p:nvPr/>
          </p:nvGrpSpPr>
          <p:grpSpPr>
            <a:xfrm>
              <a:off x="6448783" y="3786200"/>
              <a:ext cx="748800" cy="364800"/>
              <a:chOff x="6448783" y="3786200"/>
              <a:chExt cx="748800" cy="364800"/>
            </a:xfrm>
          </p:grpSpPr>
          <p:sp>
            <p:nvSpPr>
              <p:cNvPr id="30" name="任意多边形 29"/>
              <p:cNvSpPr/>
              <p:nvPr/>
            </p:nvSpPr>
            <p:spPr>
              <a:xfrm>
                <a:off x="6448783" y="3786200"/>
                <a:ext cx="748800" cy="364800"/>
              </a:xfrm>
              <a:custGeom>
                <a:avLst/>
                <a:gdLst/>
                <a:ahLst/>
                <a:cxnLst/>
                <a:rect l="0" t="0" r="0" b="0"/>
                <a:pathLst>
                  <a:path w="748800" h="364800" fill="none">
                    <a:moveTo>
                      <a:pt x="374400" y="182400"/>
                    </a:moveTo>
                    <a:moveTo>
                      <a:pt x="374400" y="182400"/>
                    </a:moveTo>
                    <a:moveTo>
                      <a:pt x="374400" y="182400"/>
                    </a:moveTo>
                    <a:lnTo>
                      <a:pt x="374400" y="250800"/>
                    </a:lnTo>
                    <a:moveTo>
                      <a:pt x="374400" y="182400"/>
                    </a:moveTo>
                    <a:lnTo>
                      <a:pt x="374400" y="250800"/>
                    </a:lnTo>
                  </a:path>
                </a:pathLst>
              </a:custGeom>
              <a:solidFill>
                <a:srgbClr val="3498DB"/>
              </a:solidFill>
              <a:ln w="7600" cap="flat">
                <a:solidFill>
                  <a:srgbClr val="3498DB"/>
                </a:solidFill>
                <a:bevel/>
              </a:ln>
            </p:spPr>
          </p:sp>
          <p:sp>
            <p:nvSpPr>
              <p:cNvPr id="31" name="Ellipse"/>
              <p:cNvSpPr/>
              <p:nvPr/>
            </p:nvSpPr>
            <p:spPr>
              <a:xfrm>
                <a:off x="6448783" y="3786200"/>
                <a:ext cx="748800" cy="364800"/>
              </a:xfrm>
              <a:custGeom>
                <a:avLst/>
                <a:gdLst/>
                <a:ahLst/>
                <a:cxnLst/>
                <a:rect l="0" t="0" r="0" b="0"/>
                <a:pathLst>
                  <a:path w="748800" h="364800">
                    <a:moveTo>
                      <a:pt x="0" y="182400"/>
                    </a:moveTo>
                    <a:cubicBezTo>
                      <a:pt x="-191" y="117173"/>
                      <a:pt x="71128" y="56861"/>
                      <a:pt x="187046" y="24220"/>
                    </a:cubicBezTo>
                    <a:cubicBezTo>
                      <a:pt x="302964" y="-8420"/>
                      <a:pt x="445836" y="-8420"/>
                      <a:pt x="561754" y="24220"/>
                    </a:cubicBezTo>
                    <a:cubicBezTo>
                      <a:pt x="677672" y="56861"/>
                      <a:pt x="748991" y="117173"/>
                      <a:pt x="748800" y="182400"/>
                    </a:cubicBezTo>
                    <a:cubicBezTo>
                      <a:pt x="748800" y="283137"/>
                      <a:pt x="581175" y="364800"/>
                      <a:pt x="374400" y="364800"/>
                    </a:cubicBezTo>
                    <a:cubicBezTo>
                      <a:pt x="167625" y="364800"/>
                      <a:pt x="0" y="283137"/>
                      <a:pt x="0" y="182400"/>
                    </a:cubicBezTo>
                    <a:close/>
                  </a:path>
                </a:pathLst>
              </a:custGeom>
              <a:solidFill>
                <a:srgbClr val="3498DB"/>
              </a:solidFill>
              <a:ln w="7600" cap="flat">
                <a:solidFill>
                  <a:srgbClr val="3498DB"/>
                </a:solidFill>
                <a:bevel/>
              </a:ln>
            </p:spPr>
          </p:sp>
          <p:sp>
            <p:nvSpPr>
              <p:cNvPr id="32" name="Text 147"/>
              <p:cNvSpPr txBox="1"/>
              <p:nvPr/>
            </p:nvSpPr>
            <p:spPr>
              <a:xfrm>
                <a:off x="6448783" y="3786200"/>
                <a:ext cx="748800" cy="364800"/>
              </a:xfrm>
              <a:prstGeom prst="rect">
                <a:avLst/>
              </a:prstGeom>
              <a:noFill/>
            </p:spPr>
            <p:txBody>
              <a:bodyPr wrap="square" lIns="36000" tIns="0" rIns="36000" bIns="0" rtlCol="0" anchor="ctr"/>
              <a:lstStyle/>
              <a:p>
                <a:pPr algn="ctr">
                  <a:lnSpc>
                    <a:spcPct val="100000"/>
                  </a:lnSpc>
                </a:pPr>
                <a:r>
                  <a:rPr sz="1000" dirty="0">
                    <a:solidFill>
                      <a:srgbClr val="FFFFFF"/>
                    </a:solidFill>
                    <a:latin typeface="微软雅黑" panose="020B0503020204020204" pitchFamily="34" charset="-122"/>
                    <a:ea typeface="微软雅黑" panose="020B0503020204020204" pitchFamily="34" charset="-122"/>
                  </a:rPr>
                  <a:t>事件B处理器2</a:t>
                </a:r>
                <a:endParaRPr sz="1000" dirty="0">
                  <a:solidFill>
                    <a:srgbClr val="FFFFFF"/>
                  </a:solidFill>
                  <a:latin typeface="微软雅黑" panose="020B0503020204020204" pitchFamily="34" charset="-122"/>
                  <a:ea typeface="微软雅黑" panose="020B0503020204020204" pitchFamily="34" charset="-122"/>
                </a:endParaRPr>
              </a:p>
            </p:txBody>
          </p:sp>
        </p:grpSp>
        <p:grpSp>
          <p:nvGrpSpPr>
            <p:cNvPr id="13" name="椭圆形过程"/>
            <p:cNvGrpSpPr/>
            <p:nvPr/>
          </p:nvGrpSpPr>
          <p:grpSpPr>
            <a:xfrm>
              <a:off x="5933983" y="4196600"/>
              <a:ext cx="820800" cy="399877"/>
              <a:chOff x="5933983" y="4196600"/>
              <a:chExt cx="820800" cy="399877"/>
            </a:xfrm>
          </p:grpSpPr>
          <p:sp>
            <p:nvSpPr>
              <p:cNvPr id="27" name="任意多边形 26"/>
              <p:cNvSpPr/>
              <p:nvPr/>
            </p:nvSpPr>
            <p:spPr>
              <a:xfrm>
                <a:off x="5933983" y="4196600"/>
                <a:ext cx="820800" cy="399877"/>
              </a:xfrm>
              <a:custGeom>
                <a:avLst/>
                <a:gdLst/>
                <a:ahLst/>
                <a:cxnLst/>
                <a:rect l="0" t="0" r="0" b="0"/>
                <a:pathLst>
                  <a:path w="820800" h="399877" fill="none">
                    <a:moveTo>
                      <a:pt x="410400" y="199938"/>
                    </a:moveTo>
                    <a:moveTo>
                      <a:pt x="410400" y="199938"/>
                    </a:moveTo>
                    <a:moveTo>
                      <a:pt x="410400" y="199938"/>
                    </a:moveTo>
                    <a:moveTo>
                      <a:pt x="410400" y="199938"/>
                    </a:moveTo>
                  </a:path>
                </a:pathLst>
              </a:custGeom>
              <a:solidFill>
                <a:srgbClr val="3498DB"/>
              </a:solidFill>
              <a:ln w="7600" cap="flat">
                <a:solidFill>
                  <a:srgbClr val="3498DB"/>
                </a:solidFill>
                <a:bevel/>
              </a:ln>
            </p:spPr>
          </p:sp>
          <p:sp>
            <p:nvSpPr>
              <p:cNvPr id="28" name="Ellipse"/>
              <p:cNvSpPr/>
              <p:nvPr/>
            </p:nvSpPr>
            <p:spPr>
              <a:xfrm>
                <a:off x="5933983" y="4196600"/>
                <a:ext cx="820800" cy="399877"/>
              </a:xfrm>
              <a:custGeom>
                <a:avLst/>
                <a:gdLst/>
                <a:ahLst/>
                <a:cxnLst/>
                <a:rect l="0" t="0" r="0" b="0"/>
                <a:pathLst>
                  <a:path w="820800" h="399877">
                    <a:moveTo>
                      <a:pt x="0" y="199938"/>
                    </a:moveTo>
                    <a:cubicBezTo>
                      <a:pt x="0" y="89515"/>
                      <a:pt x="183742" y="0"/>
                      <a:pt x="410400" y="0"/>
                    </a:cubicBezTo>
                    <a:cubicBezTo>
                      <a:pt x="637058" y="0"/>
                      <a:pt x="820800" y="89515"/>
                      <a:pt x="820800" y="199938"/>
                    </a:cubicBezTo>
                    <a:cubicBezTo>
                      <a:pt x="820800" y="310361"/>
                      <a:pt x="637058" y="399877"/>
                      <a:pt x="410400" y="399877"/>
                    </a:cubicBezTo>
                    <a:cubicBezTo>
                      <a:pt x="183742" y="399877"/>
                      <a:pt x="0" y="310361"/>
                      <a:pt x="0" y="199938"/>
                    </a:cubicBezTo>
                    <a:close/>
                  </a:path>
                </a:pathLst>
              </a:custGeom>
              <a:solidFill>
                <a:srgbClr val="3498DB"/>
              </a:solidFill>
              <a:ln w="7600" cap="flat">
                <a:solidFill>
                  <a:srgbClr val="3498DB"/>
                </a:solidFill>
                <a:bevel/>
              </a:ln>
            </p:spPr>
          </p:sp>
          <p:sp>
            <p:nvSpPr>
              <p:cNvPr id="29" name="Text 148"/>
              <p:cNvSpPr txBox="1"/>
              <p:nvPr/>
            </p:nvSpPr>
            <p:spPr>
              <a:xfrm>
                <a:off x="5933983" y="4196600"/>
                <a:ext cx="820800" cy="399877"/>
              </a:xfrm>
              <a:prstGeom prst="rect">
                <a:avLst/>
              </a:prstGeom>
              <a:noFill/>
            </p:spPr>
            <p:txBody>
              <a:bodyPr wrap="square" lIns="36000" tIns="0" rIns="36000" bIns="0" rtlCol="0" anchor="ctr"/>
              <a:lstStyle/>
              <a:p>
                <a:pPr algn="ctr">
                  <a:lnSpc>
                    <a:spcPct val="100000"/>
                  </a:lnSpc>
                </a:pPr>
                <a:r>
                  <a:rPr sz="1000" dirty="0">
                    <a:solidFill>
                      <a:srgbClr val="FFFFFF"/>
                    </a:solidFill>
                    <a:latin typeface="微软雅黑" panose="020B0503020204020204" pitchFamily="34" charset="-122"/>
                    <a:ea typeface="微软雅黑" panose="020B0503020204020204" pitchFamily="34" charset="-122"/>
                  </a:rPr>
                  <a:t>事件B处理器3</a:t>
                </a:r>
                <a:endParaRPr sz="1000" dirty="0">
                  <a:solidFill>
                    <a:srgbClr val="FFFFFF"/>
                  </a:solidFill>
                  <a:latin typeface="微软雅黑" panose="020B0503020204020204" pitchFamily="34" charset="-122"/>
                  <a:ea typeface="微软雅黑" panose="020B0503020204020204" pitchFamily="34" charset="-122"/>
                </a:endParaRPr>
              </a:p>
            </p:txBody>
          </p:sp>
        </p:grpSp>
        <p:sp>
          <p:nvSpPr>
            <p:cNvPr id="14" name="外部交互方"/>
            <p:cNvSpPr/>
            <p:nvPr/>
          </p:nvSpPr>
          <p:spPr>
            <a:xfrm>
              <a:off x="1636816" y="3041400"/>
              <a:ext cx="975967" cy="509200"/>
            </a:xfrm>
            <a:custGeom>
              <a:avLst/>
              <a:gdLst>
                <a:gd name="connsiteX0" fmla="*/ 487983 w 975967"/>
                <a:gd name="connsiteY0" fmla="*/ 509200 h 509200"/>
                <a:gd name="connsiteX1" fmla="*/ 487983 w 975967"/>
                <a:gd name="connsiteY1" fmla="*/ 0 h 509200"/>
                <a:gd name="connsiteX2" fmla="*/ 975967 w 975967"/>
                <a:gd name="connsiteY2" fmla="*/ 254600 h 509200"/>
                <a:gd name="connsiteX3" fmla="*/ 0 w 975967"/>
                <a:gd name="connsiteY3" fmla="*/ 254600 h 509200"/>
                <a:gd name="connsiteX4" fmla="*/ 487983 w 975967"/>
                <a:gd name="connsiteY4" fmla="*/ 254600 h 509200"/>
                <a:gd name="connsiteX5" fmla="*/ 0 w 975967"/>
                <a:gd name="connsiteY5" fmla="*/ 127300 h 509200"/>
                <a:gd name="connsiteX6" fmla="*/ 0 w 975967"/>
                <a:gd name="connsiteY6" fmla="*/ 381900 h 509200"/>
                <a:gd name="connsiteX7" fmla="*/ 975967 w 975967"/>
                <a:gd name="connsiteY7" fmla="*/ 127300 h 509200"/>
                <a:gd name="connsiteX8" fmla="*/ 975967 w 975967"/>
                <a:gd name="connsiteY8" fmla="*/ 381900 h 509200"/>
                <a:gd name="connsiteX9" fmla="*/ 243992 w 975967"/>
                <a:gd name="connsiteY9" fmla="*/ 0 h 509200"/>
                <a:gd name="connsiteX10" fmla="*/ 731975 w 975967"/>
                <a:gd name="connsiteY10" fmla="*/ 0 h 509200"/>
                <a:gd name="connsiteX11" fmla="*/ 243992 w 975967"/>
                <a:gd name="connsiteY11" fmla="*/ 509200 h 509200"/>
                <a:gd name="connsiteX12" fmla="*/ 731975 w 975967"/>
                <a:gd name="connsiteY12" fmla="*/ 509200 h 50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5967" h="509200">
                  <a:moveTo>
                    <a:pt x="975967" y="509200"/>
                  </a:moveTo>
                  <a:lnTo>
                    <a:pt x="975967" y="0"/>
                  </a:lnTo>
                  <a:lnTo>
                    <a:pt x="0" y="0"/>
                  </a:lnTo>
                  <a:lnTo>
                    <a:pt x="0" y="509200"/>
                  </a:lnTo>
                  <a:lnTo>
                    <a:pt x="975967" y="5092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dirty="0" err="1">
                  <a:solidFill>
                    <a:srgbClr val="FFFFFF"/>
                  </a:solidFill>
                  <a:latin typeface="微软雅黑" panose="020B0503020204020204" pitchFamily="34" charset="-122"/>
                  <a:ea typeface="微软雅黑" panose="020B0503020204020204" pitchFamily="34" charset="-122"/>
                </a:rPr>
                <a:t>组件X</a:t>
              </a:r>
              <a:endParaRPr dirty="0" err="1">
                <a:solidFill>
                  <a:srgbClr val="FFFFFF"/>
                </a:solidFill>
                <a:latin typeface="微软雅黑" panose="020B0503020204020204" pitchFamily="34" charset="-122"/>
                <a:ea typeface="微软雅黑" panose="020B0503020204020204" pitchFamily="34" charset="-122"/>
              </a:endParaRPr>
            </a:p>
          </p:txBody>
        </p:sp>
        <p:sp>
          <p:nvSpPr>
            <p:cNvPr id="15" name="外部交互方"/>
            <p:cNvSpPr/>
            <p:nvPr/>
          </p:nvSpPr>
          <p:spPr>
            <a:xfrm>
              <a:off x="3311983" y="3041400"/>
              <a:ext cx="975967" cy="509200"/>
            </a:xfrm>
            <a:custGeom>
              <a:avLst/>
              <a:gdLst>
                <a:gd name="connsiteX0" fmla="*/ 487983 w 975967"/>
                <a:gd name="connsiteY0" fmla="*/ 509200 h 509200"/>
                <a:gd name="connsiteX1" fmla="*/ 487983 w 975967"/>
                <a:gd name="connsiteY1" fmla="*/ 0 h 509200"/>
                <a:gd name="connsiteX2" fmla="*/ 975967 w 975967"/>
                <a:gd name="connsiteY2" fmla="*/ 254600 h 509200"/>
                <a:gd name="connsiteX3" fmla="*/ 0 w 975967"/>
                <a:gd name="connsiteY3" fmla="*/ 254600 h 509200"/>
                <a:gd name="connsiteX4" fmla="*/ 487983 w 975967"/>
                <a:gd name="connsiteY4" fmla="*/ 254600 h 509200"/>
                <a:gd name="connsiteX5" fmla="*/ 0 w 975967"/>
                <a:gd name="connsiteY5" fmla="*/ 127300 h 509200"/>
                <a:gd name="connsiteX6" fmla="*/ 0 w 975967"/>
                <a:gd name="connsiteY6" fmla="*/ 381900 h 509200"/>
                <a:gd name="connsiteX7" fmla="*/ 975967 w 975967"/>
                <a:gd name="connsiteY7" fmla="*/ 127300 h 509200"/>
                <a:gd name="connsiteX8" fmla="*/ 975967 w 975967"/>
                <a:gd name="connsiteY8" fmla="*/ 381900 h 509200"/>
                <a:gd name="connsiteX9" fmla="*/ 243992 w 975967"/>
                <a:gd name="connsiteY9" fmla="*/ 0 h 509200"/>
                <a:gd name="connsiteX10" fmla="*/ 731975 w 975967"/>
                <a:gd name="connsiteY10" fmla="*/ 0 h 509200"/>
                <a:gd name="connsiteX11" fmla="*/ 243992 w 975967"/>
                <a:gd name="connsiteY11" fmla="*/ 509200 h 509200"/>
                <a:gd name="connsiteX12" fmla="*/ 731975 w 975967"/>
                <a:gd name="connsiteY12" fmla="*/ 509200 h 50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5967" h="509200">
                  <a:moveTo>
                    <a:pt x="975967" y="509200"/>
                  </a:moveTo>
                  <a:lnTo>
                    <a:pt x="975967" y="0"/>
                  </a:lnTo>
                  <a:lnTo>
                    <a:pt x="0" y="0"/>
                  </a:lnTo>
                  <a:lnTo>
                    <a:pt x="0" y="509200"/>
                  </a:lnTo>
                  <a:lnTo>
                    <a:pt x="975967" y="5092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dirty="0">
                  <a:solidFill>
                    <a:srgbClr val="FFFFFF"/>
                  </a:solidFill>
                  <a:latin typeface="微软雅黑" panose="020B0503020204020204" pitchFamily="34" charset="-122"/>
                  <a:ea typeface="微软雅黑" panose="020B0503020204020204" pitchFamily="34" charset="-122"/>
                </a:rPr>
                <a:t>Event4j</a:t>
              </a:r>
              <a:endParaRPr sz="1600" dirty="0">
                <a:solidFill>
                  <a:srgbClr val="FFFFFF"/>
                </a:solidFill>
                <a:latin typeface="微软雅黑" panose="020B0503020204020204" pitchFamily="34" charset="-122"/>
                <a:ea typeface="微软雅黑" panose="020B0503020204020204" pitchFamily="34" charset="-122"/>
              </a:endParaRPr>
            </a:p>
          </p:txBody>
        </p:sp>
        <p:grpSp>
          <p:nvGrpSpPr>
            <p:cNvPr id="16" name="Group 149"/>
            <p:cNvGrpSpPr/>
            <p:nvPr/>
          </p:nvGrpSpPr>
          <p:grpSpPr>
            <a:xfrm>
              <a:off x="2612783" y="3296000"/>
              <a:ext cx="699200" cy="0"/>
              <a:chOff x="2612783" y="3296000"/>
              <a:chExt cx="699200" cy="0"/>
            </a:xfrm>
          </p:grpSpPr>
          <p:sp>
            <p:nvSpPr>
              <p:cNvPr id="25" name="直线连接线"/>
              <p:cNvSpPr/>
              <p:nvPr/>
            </p:nvSpPr>
            <p:spPr>
              <a:xfrm>
                <a:off x="2612783" y="3296000"/>
                <a:ext cx="699200" cy="0"/>
              </a:xfrm>
              <a:custGeom>
                <a:avLst/>
                <a:gdLst/>
                <a:ahLst/>
                <a:cxnLst/>
                <a:rect l="0" t="0" r="0" b="0"/>
                <a:pathLst>
                  <a:path w="699200" fill="none">
                    <a:moveTo>
                      <a:pt x="0" y="0"/>
                    </a:moveTo>
                    <a:lnTo>
                      <a:pt x="699200" y="0"/>
                    </a:lnTo>
                  </a:path>
                </a:pathLst>
              </a:custGeom>
              <a:noFill/>
              <a:ln w="7600" cap="flat">
                <a:solidFill>
                  <a:srgbClr val="236EA1"/>
                </a:solidFill>
                <a:bevel/>
                <a:tailEnd type="stealth" w="med" len="med"/>
              </a:ln>
            </p:spPr>
          </p:sp>
          <p:sp>
            <p:nvSpPr>
              <p:cNvPr id="26" name="Text 150"/>
              <p:cNvSpPr txBox="1"/>
              <p:nvPr/>
            </p:nvSpPr>
            <p:spPr>
              <a:xfrm>
                <a:off x="2616583" y="2923600"/>
                <a:ext cx="691600" cy="744800"/>
              </a:xfrm>
              <a:prstGeom prst="rect">
                <a:avLst/>
              </a:prstGeom>
              <a:noFill/>
            </p:spPr>
            <p:txBody>
              <a:bodyPr wrap="square" lIns="36000" tIns="0" rIns="36000" bIns="0" rtlCol="0" anchor="ctr"/>
              <a:lstStyle/>
              <a:p>
                <a:pPr algn="ctr">
                  <a:lnSpc>
                    <a:spcPct val="100000"/>
                  </a:lnSpc>
                </a:pPr>
                <a:endParaRPr dirty="0">
                  <a:latin typeface="微软雅黑" panose="020B0503020204020204" pitchFamily="34" charset="-122"/>
                  <a:ea typeface="微软雅黑" panose="020B0503020204020204" pitchFamily="34" charset="-122"/>
                </a:endParaRPr>
              </a:p>
              <a:p>
                <a:pPr algn="ctr">
                  <a:lnSpc>
                    <a:spcPct val="100000"/>
                  </a:lnSpc>
                </a:pPr>
                <a:r>
                  <a:rPr sz="1000" dirty="0">
                    <a:solidFill>
                      <a:srgbClr val="1F6391"/>
                    </a:solidFill>
                    <a:latin typeface="微软雅黑" panose="020B0503020204020204" pitchFamily="34" charset="-122"/>
                    <a:ea typeface="微软雅黑" panose="020B0503020204020204" pitchFamily="34" charset="-122"/>
                  </a:rPr>
                  <a:t>1、</a:t>
                </a:r>
                <a:r>
                  <a:rPr sz="1000" dirty="0" smtClean="0">
                    <a:solidFill>
                      <a:srgbClr val="1F6391"/>
                    </a:solidFill>
                    <a:latin typeface="微软雅黑" panose="020B0503020204020204" pitchFamily="34" charset="-122"/>
                    <a:ea typeface="微软雅黑" panose="020B0503020204020204" pitchFamily="34" charset="-122"/>
                  </a:rPr>
                  <a:t>提交事件</a:t>
                </a:r>
                <a:endParaRPr lang="en-US" sz="1000" dirty="0" smtClean="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lang="en-US" sz="100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00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p:txBody>
          </p:sp>
        </p:grpSp>
        <p:grpSp>
          <p:nvGrpSpPr>
            <p:cNvPr id="17" name="Group 151"/>
            <p:cNvGrpSpPr/>
            <p:nvPr/>
          </p:nvGrpSpPr>
          <p:grpSpPr>
            <a:xfrm rot="-2477184">
              <a:off x="4212616" y="2806188"/>
              <a:ext cx="1216874" cy="349600"/>
              <a:chOff x="4136747" y="2834896"/>
              <a:chExt cx="1216874" cy="349600"/>
            </a:xfrm>
          </p:grpSpPr>
          <p:sp>
            <p:nvSpPr>
              <p:cNvPr id="23" name="直线连接线"/>
              <p:cNvSpPr/>
              <p:nvPr/>
            </p:nvSpPr>
            <p:spPr>
              <a:xfrm>
                <a:off x="4136747" y="2894649"/>
                <a:ext cx="1216540" cy="0"/>
              </a:xfrm>
              <a:custGeom>
                <a:avLst/>
                <a:gdLst/>
                <a:ahLst/>
                <a:cxnLst/>
                <a:rect l="0" t="0" r="0" b="0"/>
                <a:pathLst>
                  <a:path w="1216540" fill="none">
                    <a:moveTo>
                      <a:pt x="0" y="0"/>
                    </a:moveTo>
                    <a:lnTo>
                      <a:pt x="1216540" y="0"/>
                    </a:lnTo>
                  </a:path>
                </a:pathLst>
              </a:custGeom>
              <a:noFill/>
              <a:ln w="7600" cap="flat">
                <a:solidFill>
                  <a:srgbClr val="236EA1"/>
                </a:solidFill>
                <a:bevel/>
                <a:tailEnd type="stealth" w="med" len="med"/>
              </a:ln>
            </p:spPr>
          </p:sp>
          <p:sp>
            <p:nvSpPr>
              <p:cNvPr id="24" name="Text 152"/>
              <p:cNvSpPr txBox="1"/>
              <p:nvPr/>
            </p:nvSpPr>
            <p:spPr>
              <a:xfrm rot="2477184">
                <a:off x="4358655" y="2834896"/>
                <a:ext cx="994966" cy="349600"/>
              </a:xfrm>
              <a:prstGeom prst="rect">
                <a:avLst/>
              </a:prstGeom>
              <a:noFill/>
            </p:spPr>
            <p:txBody>
              <a:bodyPr wrap="square" lIns="36000" tIns="0" rIns="36000" bIns="0" rtlCol="0" anchor="ctr"/>
              <a:lstStyle/>
              <a:p>
                <a:pPr algn="l"/>
                <a:r>
                  <a:rPr sz="1000" dirty="0">
                    <a:solidFill>
                      <a:srgbClr val="1F6391"/>
                    </a:solidFill>
                    <a:latin typeface="微软雅黑" panose="020B0503020204020204" pitchFamily="34" charset="-122"/>
                    <a:ea typeface="微软雅黑" panose="020B0503020204020204" pitchFamily="34" charset="-122"/>
                  </a:rPr>
                  <a:t>2、分派事件A</a:t>
                </a:r>
                <a:endParaRPr sz="1000" dirty="0">
                  <a:solidFill>
                    <a:srgbClr val="1F6391"/>
                  </a:solidFill>
                  <a:latin typeface="微软雅黑" panose="020B0503020204020204" pitchFamily="34" charset="-122"/>
                  <a:ea typeface="微软雅黑" panose="020B0503020204020204" pitchFamily="34" charset="-122"/>
                </a:endParaRPr>
              </a:p>
              <a:p>
                <a:pPr algn="l"/>
                <a:r>
                  <a:rPr sz="1000" dirty="0">
                    <a:solidFill>
                      <a:srgbClr val="1F6391"/>
                    </a:solidFill>
                    <a:latin typeface="微软雅黑" panose="020B0503020204020204" pitchFamily="34" charset="-122"/>
                    <a:ea typeface="微软雅黑" panose="020B0503020204020204" pitchFamily="34" charset="-122"/>
                  </a:rPr>
                  <a:t>6、分派事件C</a:t>
                </a:r>
                <a:endParaRPr sz="1000" dirty="0">
                  <a:solidFill>
                    <a:srgbClr val="1F6391"/>
                  </a:solidFill>
                  <a:latin typeface="微软雅黑" panose="020B0503020204020204" pitchFamily="34" charset="-122"/>
                  <a:ea typeface="微软雅黑" panose="020B0503020204020204" pitchFamily="34" charset="-122"/>
                </a:endParaRPr>
              </a:p>
            </p:txBody>
          </p:sp>
        </p:grpSp>
        <p:grpSp>
          <p:nvGrpSpPr>
            <p:cNvPr id="18" name="Group 153"/>
            <p:cNvGrpSpPr/>
            <p:nvPr/>
          </p:nvGrpSpPr>
          <p:grpSpPr>
            <a:xfrm rot="2677195">
              <a:off x="4110768" y="3727799"/>
              <a:ext cx="1229496" cy="0"/>
              <a:chOff x="4110768" y="3727799"/>
              <a:chExt cx="1229496" cy="0"/>
            </a:xfrm>
          </p:grpSpPr>
          <p:sp>
            <p:nvSpPr>
              <p:cNvPr id="21" name="直线连接线"/>
              <p:cNvSpPr/>
              <p:nvPr/>
            </p:nvSpPr>
            <p:spPr>
              <a:xfrm>
                <a:off x="4110768" y="3727799"/>
                <a:ext cx="1229496" cy="0"/>
              </a:xfrm>
              <a:custGeom>
                <a:avLst/>
                <a:gdLst/>
                <a:ahLst/>
                <a:cxnLst/>
                <a:rect l="0" t="0" r="0" b="0"/>
                <a:pathLst>
                  <a:path w="1229496" fill="none">
                    <a:moveTo>
                      <a:pt x="0" y="0"/>
                    </a:moveTo>
                    <a:lnTo>
                      <a:pt x="1229496" y="0"/>
                    </a:lnTo>
                  </a:path>
                </a:pathLst>
              </a:custGeom>
              <a:noFill/>
              <a:ln w="7600" cap="flat">
                <a:solidFill>
                  <a:srgbClr val="236EA1"/>
                </a:solidFill>
                <a:bevel/>
                <a:tailEnd type="stealth" w="med" len="med"/>
              </a:ln>
            </p:spPr>
          </p:sp>
          <p:sp>
            <p:nvSpPr>
              <p:cNvPr id="22" name="Text 154"/>
              <p:cNvSpPr txBox="1"/>
              <p:nvPr/>
            </p:nvSpPr>
            <p:spPr>
              <a:xfrm rot="-2677195">
                <a:off x="4349317" y="3625199"/>
                <a:ext cx="752400" cy="205200"/>
              </a:xfrm>
              <a:prstGeom prst="rect">
                <a:avLst/>
              </a:prstGeom>
              <a:noFill/>
            </p:spPr>
            <p:txBody>
              <a:bodyPr wrap="square" lIns="36000" tIns="0" rIns="36000" bIns="0" rtlCol="0" anchor="ctr"/>
              <a:lstStyle/>
              <a:p>
                <a:pPr algn="ctr">
                  <a:lnSpc>
                    <a:spcPct val="100000"/>
                  </a:lnSpc>
                </a:pPr>
                <a:r>
                  <a:rPr sz="1000" dirty="0">
                    <a:solidFill>
                      <a:srgbClr val="1F6391"/>
                    </a:solidFill>
                    <a:latin typeface="微软雅黑" panose="020B0503020204020204" pitchFamily="34" charset="-122"/>
                    <a:ea typeface="微软雅黑" panose="020B0503020204020204" pitchFamily="34" charset="-122"/>
                  </a:rPr>
                  <a:t>4、分派事件B</a:t>
                </a:r>
                <a:endParaRPr sz="1000" dirty="0">
                  <a:solidFill>
                    <a:srgbClr val="1F6391"/>
                  </a:solidFill>
                  <a:latin typeface="微软雅黑" panose="020B0503020204020204" pitchFamily="34" charset="-122"/>
                  <a:ea typeface="微软雅黑" panose="020B0503020204020204" pitchFamily="34" charset="-122"/>
                </a:endParaRPr>
              </a:p>
            </p:txBody>
          </p:sp>
        </p:grpSp>
        <p:sp>
          <p:nvSpPr>
            <p:cNvPr id="19" name="动态连接线"/>
            <p:cNvSpPr/>
            <p:nvPr/>
          </p:nvSpPr>
          <p:spPr>
            <a:xfrm>
              <a:off x="5819983" y="2273800"/>
              <a:ext cx="2020017" cy="767600"/>
            </a:xfrm>
            <a:custGeom>
              <a:avLst/>
              <a:gdLst>
                <a:gd name="rtl" fmla="*/ -1739608 w 2020017"/>
                <a:gd name="rtt" fmla="*/ -345800 h 767600"/>
                <a:gd name="rtr" fmla="*/ -1048008 w 2020017"/>
                <a:gd name="rtb" fmla="*/ -140600 h 767600"/>
              </a:gdLst>
              <a:ahLst/>
              <a:cxnLst/>
              <a:rect l="rtl" t="rtt" r="rtr" b="rtb"/>
              <a:pathLst>
                <a:path w="2020017" h="767600" fill="none">
                  <a:moveTo>
                    <a:pt x="0" y="0"/>
                  </a:moveTo>
                  <a:lnTo>
                    <a:pt x="0" y="-243200"/>
                  </a:lnTo>
                  <a:lnTo>
                    <a:pt x="-2020017" y="-243200"/>
                  </a:lnTo>
                  <a:lnTo>
                    <a:pt x="-2020017" y="767600"/>
                  </a:lnTo>
                </a:path>
              </a:pathLst>
            </a:custGeom>
            <a:solidFill>
              <a:srgbClr val="BC8000"/>
            </a:solidFill>
            <a:ln w="7600" cap="flat">
              <a:solidFill>
                <a:srgbClr val="AF5921"/>
              </a:solidFill>
              <a:bevel/>
              <a:tailEnd type="stealth" w="med" len="med"/>
            </a:ln>
          </p:spPr>
          <p:txBody>
            <a:bodyPr wrap="square" lIns="0" tIns="0" rIns="0" bIns="0" rtlCol="0" anchor="ctr"/>
            <a:lstStyle/>
            <a:p>
              <a:pPr algn="ctr">
                <a:lnSpc>
                  <a:spcPct val="100000"/>
                </a:lnSpc>
              </a:pPr>
              <a:r>
                <a:rPr sz="1000" dirty="0">
                  <a:solidFill>
                    <a:srgbClr val="9E501D"/>
                  </a:solidFill>
                  <a:latin typeface="微软雅黑" panose="020B0503020204020204" pitchFamily="34" charset="-122"/>
                  <a:ea typeface="微软雅黑" panose="020B0503020204020204" pitchFamily="34" charset="-122"/>
                </a:rPr>
                <a:t>3、提交事件</a:t>
              </a:r>
              <a:r>
                <a:rPr sz="1000" dirty="0" smtClean="0">
                  <a:solidFill>
                    <a:srgbClr val="9E501D"/>
                  </a:solidFill>
                  <a:latin typeface="微软雅黑" panose="020B0503020204020204" pitchFamily="34" charset="-122"/>
                  <a:ea typeface="微软雅黑" panose="020B0503020204020204" pitchFamily="34" charset="-122"/>
                </a:rPr>
                <a:t>B</a:t>
              </a:r>
              <a:endParaRPr lang="en-US" sz="1000" dirty="0" smtClean="0">
                <a:solidFill>
                  <a:srgbClr val="9E501D"/>
                </a:solidFill>
                <a:latin typeface="微软雅黑" panose="020B0503020204020204" pitchFamily="34" charset="-122"/>
                <a:ea typeface="微软雅黑" panose="020B0503020204020204" pitchFamily="34" charset="-122"/>
              </a:endParaRPr>
            </a:p>
            <a:p>
              <a:pPr algn="ctr">
                <a:lnSpc>
                  <a:spcPct val="100000"/>
                </a:lnSpc>
              </a:pPr>
              <a:endParaRPr lang="en-US" sz="1400" dirty="0">
                <a:solidFill>
                  <a:srgbClr val="9E501D"/>
                </a:solidFill>
                <a:latin typeface="微软雅黑" panose="020B0503020204020204" pitchFamily="34" charset="-122"/>
                <a:ea typeface="微软雅黑" panose="020B0503020204020204" pitchFamily="34" charset="-122"/>
              </a:endParaRPr>
            </a:p>
            <a:p>
              <a:pPr algn="ctr">
                <a:lnSpc>
                  <a:spcPct val="100000"/>
                </a:lnSpc>
              </a:pPr>
              <a:endParaRPr sz="1400" dirty="0">
                <a:solidFill>
                  <a:srgbClr val="9E501D"/>
                </a:solidFill>
                <a:latin typeface="微软雅黑" panose="020B0503020204020204" pitchFamily="34" charset="-122"/>
                <a:ea typeface="微软雅黑" panose="020B0503020204020204" pitchFamily="34" charset="-122"/>
              </a:endParaRPr>
            </a:p>
          </p:txBody>
        </p:sp>
        <p:sp>
          <p:nvSpPr>
            <p:cNvPr id="20" name="动态连接线"/>
            <p:cNvSpPr/>
            <p:nvPr/>
          </p:nvSpPr>
          <p:spPr>
            <a:xfrm>
              <a:off x="6344383" y="4596477"/>
              <a:ext cx="2544417" cy="1045877"/>
            </a:xfrm>
            <a:custGeom>
              <a:avLst/>
              <a:gdLst>
                <a:gd name="rtl" fmla="*/ -2144747 w 2544417"/>
                <a:gd name="rtt" fmla="*/ 140600 h 1045877"/>
                <a:gd name="rtr" fmla="*/ -1445547 w 2544417"/>
                <a:gd name="rtb" fmla="*/ 345800 h 1045877"/>
              </a:gdLst>
              <a:ahLst/>
              <a:cxnLst/>
              <a:rect l="rtl" t="rtt" r="rtr" b="rtb"/>
              <a:pathLst>
                <a:path w="2544417" h="1045877" fill="none">
                  <a:moveTo>
                    <a:pt x="0" y="0"/>
                  </a:moveTo>
                  <a:lnTo>
                    <a:pt x="0" y="243200"/>
                  </a:lnTo>
                  <a:lnTo>
                    <a:pt x="-2544417" y="243200"/>
                  </a:lnTo>
                  <a:lnTo>
                    <a:pt x="-2544417" y="-1045877"/>
                  </a:lnTo>
                </a:path>
              </a:pathLst>
            </a:custGeom>
            <a:solidFill>
              <a:srgbClr val="D7091D"/>
            </a:solidFill>
            <a:ln w="7600" cap="flat">
              <a:solidFill>
                <a:srgbClr val="AF5921"/>
              </a:solidFill>
              <a:bevel/>
              <a:tailEnd type="stealth" w="med" len="med"/>
            </a:ln>
          </p:spPr>
          <p:txBody>
            <a:bodyPr wrap="square" lIns="0" tIns="0" rIns="0" bIns="0" rtlCol="0" anchor="ctr"/>
            <a:lstStyle/>
            <a:p>
              <a:pPr algn="ctr">
                <a:lnSpc>
                  <a:spcPct val="100000"/>
                </a:lnSpc>
              </a:pPr>
              <a:r>
                <a:rPr sz="1000" dirty="0">
                  <a:solidFill>
                    <a:srgbClr val="9E501D"/>
                  </a:solidFill>
                  <a:latin typeface="微软雅黑" panose="020B0503020204020204" pitchFamily="34" charset="-122"/>
                  <a:ea typeface="微软雅黑" panose="020B0503020204020204" pitchFamily="34" charset="-122"/>
                </a:rPr>
                <a:t>5、提交事件</a:t>
              </a:r>
              <a:r>
                <a:rPr sz="1000" dirty="0" smtClean="0">
                  <a:solidFill>
                    <a:srgbClr val="9E501D"/>
                  </a:solidFill>
                  <a:latin typeface="微软雅黑" panose="020B0503020204020204" pitchFamily="34" charset="-122"/>
                  <a:ea typeface="微软雅黑" panose="020B0503020204020204" pitchFamily="34" charset="-122"/>
                </a:rPr>
                <a:t>C</a:t>
              </a:r>
              <a:endParaRPr lang="en-US" sz="1000" dirty="0" smtClean="0">
                <a:solidFill>
                  <a:srgbClr val="9E501D"/>
                </a:solidFill>
                <a:latin typeface="微软雅黑" panose="020B0503020204020204" pitchFamily="34" charset="-122"/>
                <a:ea typeface="微软雅黑" panose="020B0503020204020204" pitchFamily="34" charset="-122"/>
              </a:endParaRPr>
            </a:p>
            <a:p>
              <a:pPr algn="ctr">
                <a:lnSpc>
                  <a:spcPct val="100000"/>
                </a:lnSpc>
              </a:pPr>
              <a:endParaRPr lang="en-US" sz="1000" dirty="0">
                <a:solidFill>
                  <a:srgbClr val="9E501D"/>
                </a:solidFill>
                <a:latin typeface="微软雅黑" panose="020B0503020204020204" pitchFamily="34" charset="-122"/>
                <a:ea typeface="微软雅黑" panose="020B0503020204020204" pitchFamily="34" charset="-122"/>
              </a:endParaRPr>
            </a:p>
            <a:p>
              <a:pPr algn="ctr">
                <a:lnSpc>
                  <a:spcPct val="100000"/>
                </a:lnSpc>
              </a:pPr>
              <a:endParaRPr sz="1000" dirty="0">
                <a:solidFill>
                  <a:srgbClr val="9E501D"/>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109" name="副标题 2"/>
          <p:cNvSpPr txBox="1"/>
          <p:nvPr/>
        </p:nvSpPr>
        <p:spPr>
          <a:xfrm>
            <a:off x="-14194" y="836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r>
              <a:rPr lang="en-US" altLang="zh-CN" sz="2400" dirty="0" smtClean="0">
                <a:solidFill>
                  <a:schemeClr val="tx1"/>
                </a:solidFill>
                <a:latin typeface="微软雅黑" panose="020B0503020204020204" pitchFamily="34" charset="-122"/>
                <a:ea typeface="微软雅黑" panose="020B0503020204020204" pitchFamily="34" charset="-122"/>
              </a:rPr>
              <a:t>-Event4j</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85" name="Group117"/>
          <p:cNvGrpSpPr/>
          <p:nvPr/>
        </p:nvGrpSpPr>
        <p:grpSpPr>
          <a:xfrm>
            <a:off x="1051938" y="2283897"/>
            <a:ext cx="7231450" cy="3737391"/>
            <a:chOff x="2192250" y="2114200"/>
            <a:chExt cx="4759500" cy="2629600"/>
          </a:xfrm>
        </p:grpSpPr>
        <p:sp>
          <p:nvSpPr>
            <p:cNvPr id="86" name="外部交互方"/>
            <p:cNvSpPr/>
            <p:nvPr/>
          </p:nvSpPr>
          <p:spPr>
            <a:xfrm>
              <a:off x="2192250" y="21142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校验账号和密码</a:t>
              </a:r>
              <a:endParaRPr sz="1600">
                <a:solidFill>
                  <a:srgbClr val="FFFFFF"/>
                </a:solidFill>
                <a:latin typeface="微软雅黑" panose="020B0503020204020204" pitchFamily="34" charset="-122"/>
                <a:ea typeface="微软雅黑" panose="020B0503020204020204" pitchFamily="34" charset="-122"/>
              </a:endParaRPr>
            </a:p>
          </p:txBody>
        </p:sp>
        <p:sp>
          <p:nvSpPr>
            <p:cNvPr id="87" name="外部交互方"/>
            <p:cNvSpPr/>
            <p:nvPr/>
          </p:nvSpPr>
          <p:spPr>
            <a:xfrm>
              <a:off x="3973975" y="34594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Event4j</a:t>
              </a:r>
              <a:endParaRPr sz="1600">
                <a:solidFill>
                  <a:srgbClr val="FFFFFF"/>
                </a:solidFill>
                <a:latin typeface="微软雅黑" panose="020B0503020204020204" pitchFamily="34" charset="-122"/>
                <a:ea typeface="微软雅黑" panose="020B0503020204020204" pitchFamily="34" charset="-122"/>
              </a:endParaRPr>
            </a:p>
          </p:txBody>
        </p:sp>
        <p:grpSp>
          <p:nvGrpSpPr>
            <p:cNvPr id="88" name="Group 118"/>
            <p:cNvGrpSpPr/>
            <p:nvPr/>
          </p:nvGrpSpPr>
          <p:grpSpPr>
            <a:xfrm rot="2462308">
              <a:off x="2649903" y="3053272"/>
              <a:ext cx="1579233" cy="250537"/>
              <a:chOff x="2588874" y="3030129"/>
              <a:chExt cx="1579233" cy="250537"/>
            </a:xfrm>
          </p:grpSpPr>
          <p:sp>
            <p:nvSpPr>
              <p:cNvPr id="97" name="直线连接线"/>
              <p:cNvSpPr/>
              <p:nvPr/>
            </p:nvSpPr>
            <p:spPr>
              <a:xfrm flipV="1">
                <a:off x="2588874" y="3248498"/>
                <a:ext cx="1579233" cy="32168"/>
              </a:xfrm>
              <a:custGeom>
                <a:avLst/>
                <a:gdLst/>
                <a:ahLst/>
                <a:cxnLst/>
                <a:rect l="0" t="0" r="0" b="0"/>
                <a:pathLst>
                  <a:path w="1580040" fill="none">
                    <a:moveTo>
                      <a:pt x="0" y="0"/>
                    </a:moveTo>
                    <a:lnTo>
                      <a:pt x="1580040" y="0"/>
                    </a:lnTo>
                  </a:path>
                </a:pathLst>
              </a:custGeom>
              <a:noFill/>
              <a:ln w="7600" cap="flat">
                <a:solidFill>
                  <a:srgbClr val="236EA1"/>
                </a:solidFill>
                <a:bevel/>
                <a:tailEnd type="stealth" w="med" len="med"/>
              </a:ln>
            </p:spPr>
          </p:sp>
          <p:sp>
            <p:nvSpPr>
              <p:cNvPr id="98" name="Text 119"/>
              <p:cNvSpPr txBox="1"/>
              <p:nvPr/>
            </p:nvSpPr>
            <p:spPr>
              <a:xfrm rot="19137692">
                <a:off x="3071555" y="3030129"/>
                <a:ext cx="861888" cy="205200"/>
              </a:xfrm>
              <a:prstGeom prst="rect">
                <a:avLst/>
              </a:prstGeom>
              <a:noFill/>
            </p:spPr>
            <p:txBody>
              <a:bodyPr wrap="square" lIns="36000" tIns="0" rIns="36000" bIns="0" rtlCol="0" anchor="ctr"/>
              <a:lstStyle/>
              <a:p>
                <a:pPr algn="ctr">
                  <a:lnSpc>
                    <a:spcPct val="100000"/>
                  </a:lnSpc>
                </a:pPr>
                <a:r>
                  <a:rPr sz="1600" dirty="0" err="1">
                    <a:solidFill>
                      <a:srgbClr val="1F6391"/>
                    </a:solidFill>
                    <a:latin typeface="微软雅黑" panose="020B0503020204020204" pitchFamily="34" charset="-122"/>
                    <a:ea typeface="微软雅黑" panose="020B0503020204020204" pitchFamily="34" charset="-122"/>
                  </a:rPr>
                  <a:t>生成事件</a:t>
                </a:r>
                <a:endParaRPr sz="1600" dirty="0">
                  <a:solidFill>
                    <a:srgbClr val="1F6391"/>
                  </a:solidFill>
                  <a:latin typeface="微软雅黑" panose="020B0503020204020204" pitchFamily="34" charset="-122"/>
                  <a:ea typeface="微软雅黑" panose="020B0503020204020204" pitchFamily="34" charset="-122"/>
                </a:endParaRPr>
              </a:p>
            </p:txBody>
          </p:sp>
        </p:grpSp>
        <p:cxnSp>
          <p:nvCxnSpPr>
            <p:cNvPr id="89" name="直线连接线"/>
            <p:cNvCxnSpPr>
              <a:stCxn id="87" idx="2"/>
              <a:endCxn id="93" idx="3"/>
            </p:cNvCxnSpPr>
            <p:nvPr/>
          </p:nvCxnSpPr>
          <p:spPr>
            <a:xfrm rot="-2930153">
              <a:off x="4993432" y="3413800"/>
              <a:ext cx="938861" cy="0"/>
            </a:xfrm>
            <a:prstGeom prst="line">
              <a:avLst/>
            </a:prstGeom>
            <a:ln w="7600" cap="flat">
              <a:solidFill>
                <a:srgbClr val="236EA1"/>
              </a:solidFill>
              <a:bevel/>
              <a:tailEnd type="stealth" w="med" len="med"/>
            </a:ln>
          </p:spPr>
        </p:cxnSp>
        <p:cxnSp>
          <p:nvCxnSpPr>
            <p:cNvPr id="90" name="直线连接线"/>
            <p:cNvCxnSpPr>
              <a:stCxn id="86" idx="0"/>
              <a:endCxn id="92" idx="1"/>
            </p:cNvCxnSpPr>
            <p:nvPr/>
          </p:nvCxnSpPr>
          <p:spPr>
            <a:xfrm rot="5400000">
              <a:off x="2181639" y="3330361"/>
              <a:ext cx="1201121" cy="0"/>
            </a:xfrm>
            <a:prstGeom prst="line">
              <a:avLst/>
            </a:prstGeom>
            <a:ln w="7600" cap="flat">
              <a:solidFill>
                <a:srgbClr val="236EA1"/>
              </a:solidFill>
              <a:bevel/>
              <a:tailEnd type="stealth" w="med" len="med"/>
            </a:ln>
          </p:spPr>
        </p:cxnSp>
        <p:cxnSp>
          <p:nvCxnSpPr>
            <p:cNvPr id="91" name="直线连接线"/>
            <p:cNvCxnSpPr>
              <a:stCxn id="87" idx="2"/>
              <a:endCxn id="95" idx="3"/>
            </p:cNvCxnSpPr>
            <p:nvPr/>
          </p:nvCxnSpPr>
          <p:spPr>
            <a:xfrm rot="2839117">
              <a:off x="5007075" y="4102265"/>
              <a:ext cx="911574" cy="0"/>
            </a:xfrm>
            <a:prstGeom prst="line">
              <a:avLst/>
            </a:prstGeom>
            <a:ln w="7600" cap="flat">
              <a:solidFill>
                <a:srgbClr val="236EA1"/>
              </a:solidFill>
              <a:bevel/>
              <a:tailEnd type="stealth" w="med" len="med"/>
            </a:ln>
          </p:spPr>
        </p:cxnSp>
        <p:sp>
          <p:nvSpPr>
            <p:cNvPr id="92" name="外部交互方"/>
            <p:cNvSpPr/>
            <p:nvPr/>
          </p:nvSpPr>
          <p:spPr>
            <a:xfrm>
              <a:off x="2192250" y="3930921"/>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响应返回</a:t>
              </a:r>
              <a:endParaRPr sz="1600">
                <a:solidFill>
                  <a:srgbClr val="FFFFFF"/>
                </a:solidFill>
                <a:latin typeface="微软雅黑" panose="020B0503020204020204" pitchFamily="34" charset="-122"/>
                <a:ea typeface="微软雅黑" panose="020B0503020204020204" pitchFamily="34" charset="-122"/>
              </a:endParaRPr>
            </a:p>
          </p:txBody>
        </p:sp>
        <p:sp>
          <p:nvSpPr>
            <p:cNvPr id="93" name="外部交互方"/>
            <p:cNvSpPr/>
            <p:nvPr/>
          </p:nvSpPr>
          <p:spPr>
            <a:xfrm>
              <a:off x="5771850" y="27526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写业务日志文件</a:t>
              </a:r>
              <a:endParaRPr sz="1600">
                <a:solidFill>
                  <a:srgbClr val="FFFFFF"/>
                </a:solidFill>
                <a:latin typeface="微软雅黑" panose="020B0503020204020204" pitchFamily="34" charset="-122"/>
                <a:ea typeface="微软雅黑" panose="020B0503020204020204" pitchFamily="34" charset="-122"/>
              </a:endParaRPr>
            </a:p>
          </p:txBody>
        </p:sp>
        <p:sp>
          <p:nvSpPr>
            <p:cNvPr id="94" name="外部交互方"/>
            <p:cNvSpPr/>
            <p:nvPr/>
          </p:nvSpPr>
          <p:spPr>
            <a:xfrm>
              <a:off x="5771850" y="34594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通知相关组件</a:t>
              </a:r>
              <a:endParaRPr sz="1600">
                <a:solidFill>
                  <a:srgbClr val="FFFFFF"/>
                </a:solidFill>
                <a:latin typeface="微软雅黑" panose="020B0503020204020204" pitchFamily="34" charset="-122"/>
                <a:ea typeface="微软雅黑" panose="020B0503020204020204" pitchFamily="34" charset="-122"/>
              </a:endParaRPr>
            </a:p>
          </p:txBody>
        </p:sp>
        <p:sp>
          <p:nvSpPr>
            <p:cNvPr id="95" name="外部交互方"/>
            <p:cNvSpPr/>
            <p:nvPr/>
          </p:nvSpPr>
          <p:spPr>
            <a:xfrm>
              <a:off x="5771850" y="4130860"/>
              <a:ext cx="1174802" cy="612940"/>
            </a:xfrm>
            <a:custGeom>
              <a:avLst/>
              <a:gdLst>
                <a:gd name="connsiteX0" fmla="*/ 587401 w 1174802"/>
                <a:gd name="connsiteY0" fmla="*/ 612940 h 612940"/>
                <a:gd name="connsiteX1" fmla="*/ 587401 w 1174802"/>
                <a:gd name="connsiteY1" fmla="*/ 0 h 612940"/>
                <a:gd name="connsiteX2" fmla="*/ 1174802 w 1174802"/>
                <a:gd name="connsiteY2" fmla="*/ 306470 h 612940"/>
                <a:gd name="connsiteX3" fmla="*/ 0 w 1174802"/>
                <a:gd name="connsiteY3" fmla="*/ 306470 h 612940"/>
                <a:gd name="connsiteX4" fmla="*/ 587401 w 1174802"/>
                <a:gd name="connsiteY4" fmla="*/ 306470 h 612940"/>
                <a:gd name="connsiteX5" fmla="*/ 0 w 1174802"/>
                <a:gd name="connsiteY5" fmla="*/ 153235 h 612940"/>
                <a:gd name="connsiteX6" fmla="*/ 0 w 1174802"/>
                <a:gd name="connsiteY6" fmla="*/ 459705 h 612940"/>
                <a:gd name="connsiteX7" fmla="*/ 1174802 w 1174802"/>
                <a:gd name="connsiteY7" fmla="*/ 153235 h 612940"/>
                <a:gd name="connsiteX8" fmla="*/ 1174802 w 1174802"/>
                <a:gd name="connsiteY8" fmla="*/ 459705 h 612940"/>
                <a:gd name="connsiteX9" fmla="*/ 293700 w 1174802"/>
                <a:gd name="connsiteY9" fmla="*/ 0 h 612940"/>
                <a:gd name="connsiteX10" fmla="*/ 881101 w 1174802"/>
                <a:gd name="connsiteY10" fmla="*/ 0 h 612940"/>
                <a:gd name="connsiteX11" fmla="*/ 293700 w 1174802"/>
                <a:gd name="connsiteY11" fmla="*/ 612940 h 612940"/>
                <a:gd name="connsiteX12" fmla="*/ 881101 w 1174802"/>
                <a:gd name="connsiteY12" fmla="*/ 612940 h 61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4802" h="612940">
                  <a:moveTo>
                    <a:pt x="1174802" y="612940"/>
                  </a:moveTo>
                  <a:lnTo>
                    <a:pt x="1174802" y="0"/>
                  </a:lnTo>
                  <a:lnTo>
                    <a:pt x="0" y="0"/>
                  </a:lnTo>
                  <a:lnTo>
                    <a:pt x="0" y="612940"/>
                  </a:lnTo>
                  <a:lnTo>
                    <a:pt x="1174802" y="61294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600">
                  <a:solidFill>
                    <a:srgbClr val="FFFFFF"/>
                  </a:solidFill>
                  <a:latin typeface="微软雅黑" panose="020B0503020204020204" pitchFamily="34" charset="-122"/>
                  <a:ea typeface="微软雅黑" panose="020B0503020204020204" pitchFamily="34" charset="-122"/>
                </a:rPr>
                <a:t>记录账号登陆历史</a:t>
              </a:r>
              <a:endParaRPr sz="1600">
                <a:solidFill>
                  <a:srgbClr val="FFFFFF"/>
                </a:solidFill>
                <a:latin typeface="微软雅黑" panose="020B0503020204020204" pitchFamily="34" charset="-122"/>
                <a:ea typeface="微软雅黑" panose="020B0503020204020204" pitchFamily="34" charset="-122"/>
              </a:endParaRPr>
            </a:p>
          </p:txBody>
        </p:sp>
        <p:cxnSp>
          <p:nvCxnSpPr>
            <p:cNvPr id="96" name="直线连接线"/>
            <p:cNvCxnSpPr>
              <a:stCxn id="87" idx="2"/>
              <a:endCxn id="94" idx="3"/>
            </p:cNvCxnSpPr>
            <p:nvPr/>
          </p:nvCxnSpPr>
          <p:spPr>
            <a:xfrm>
              <a:off x="5153875" y="3767200"/>
              <a:ext cx="617975" cy="0"/>
            </a:xfrm>
            <a:prstGeom prst="line">
              <a:avLst/>
            </a:prstGeom>
            <a:ln w="7600" cap="flat">
              <a:solidFill>
                <a:srgbClr val="236EA1"/>
              </a:solidFill>
              <a:bevel/>
              <a:tailEnd type="stealth" w="med" len="med"/>
            </a:ln>
          </p:spPr>
        </p:cxn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9" name="副标题 2"/>
          <p:cNvSpPr txBox="1"/>
          <p:nvPr/>
        </p:nvSpPr>
        <p:spPr>
          <a:xfrm>
            <a:off x="-14194" y="836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a:solidFill>
                  <a:schemeClr val="tx1"/>
                </a:solidFill>
                <a:latin typeface="微软雅黑" panose="020B0503020204020204" pitchFamily="34" charset="-122"/>
                <a:ea typeface="微软雅黑" panose="020B0503020204020204" pitchFamily="34" charset="-122"/>
              </a:rPr>
              <a:t>应用</a:t>
            </a:r>
            <a:r>
              <a:rPr lang="zh-CN" altLang="en-US" sz="2400" dirty="0" smtClean="0">
                <a:solidFill>
                  <a:schemeClr val="tx1"/>
                </a:solidFill>
                <a:latin typeface="微软雅黑" panose="020B0503020204020204" pitchFamily="34" charset="-122"/>
                <a:ea typeface="微软雅黑" panose="020B0503020204020204" pitchFamily="34" charset="-122"/>
              </a:rPr>
              <a:t>示例</a:t>
            </a:r>
            <a:r>
              <a:rPr lang="en-US" altLang="zh-CN" sz="2400" dirty="0" smtClean="0">
                <a:solidFill>
                  <a:schemeClr val="tx1"/>
                </a:solidFill>
                <a:latin typeface="微软雅黑" panose="020B0503020204020204" pitchFamily="34" charset="-122"/>
                <a:ea typeface="微软雅黑" panose="020B0503020204020204" pitchFamily="34" charset="-122"/>
              </a:rPr>
              <a:t>-Event4j</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grpSp>
        <p:nvGrpSpPr>
          <p:cNvPr id="67" name="Group112"/>
          <p:cNvGrpSpPr/>
          <p:nvPr/>
        </p:nvGrpSpPr>
        <p:grpSpPr>
          <a:xfrm>
            <a:off x="746158" y="2173589"/>
            <a:ext cx="7371425" cy="4184725"/>
            <a:chOff x="1665000" y="2030600"/>
            <a:chExt cx="5814000" cy="2796800"/>
          </a:xfrm>
        </p:grpSpPr>
        <p:sp>
          <p:nvSpPr>
            <p:cNvPr id="68" name="外部交互方"/>
            <p:cNvSpPr/>
            <p:nvPr/>
          </p:nvSpPr>
          <p:spPr>
            <a:xfrm>
              <a:off x="1665000" y="27070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5 w 1179900"/>
                <a:gd name="connsiteY10" fmla="*/ 0 h 615600"/>
                <a:gd name="connsiteX11" fmla="*/ 294975 w 1179900"/>
                <a:gd name="connsiteY11" fmla="*/ 615600 h 615600"/>
                <a:gd name="connsiteX12" fmla="*/ 884925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文件读取器</a:t>
              </a:r>
              <a:endParaRPr sz="1200" dirty="0">
                <a:solidFill>
                  <a:srgbClr val="FFFFFF"/>
                </a:solidFill>
                <a:latin typeface="微软雅黑" panose="020B0503020204020204" pitchFamily="34" charset="-122"/>
                <a:ea typeface="微软雅黑" panose="020B0503020204020204" pitchFamily="34" charset="-122"/>
              </a:endParaRPr>
            </a:p>
            <a:p>
              <a:pPr algn="ctr">
                <a:lnSpc>
                  <a:spcPct val="100000"/>
                </a:lnSpc>
              </a:pPr>
              <a:r>
                <a:rPr sz="1200" dirty="0">
                  <a:solidFill>
                    <a:srgbClr val="FFFFFF"/>
                  </a:solidFill>
                  <a:latin typeface="微软雅黑" panose="020B0503020204020204" pitchFamily="34" charset="-122"/>
                  <a:ea typeface="微软雅黑" panose="020B0503020204020204" pitchFamily="34" charset="-122"/>
                </a:rPr>
                <a:t>Event4jDemo</a:t>
              </a:r>
              <a:endParaRPr sz="1200" dirty="0">
                <a:solidFill>
                  <a:srgbClr val="FFFFFF"/>
                </a:solidFill>
                <a:latin typeface="微软雅黑" panose="020B0503020204020204" pitchFamily="34" charset="-122"/>
                <a:ea typeface="微软雅黑" panose="020B0503020204020204" pitchFamily="34" charset="-122"/>
              </a:endParaRPr>
            </a:p>
          </p:txBody>
        </p:sp>
        <p:sp>
          <p:nvSpPr>
            <p:cNvPr id="69" name="外部交互方"/>
            <p:cNvSpPr/>
            <p:nvPr/>
          </p:nvSpPr>
          <p:spPr>
            <a:xfrm>
              <a:off x="3838600" y="2707000"/>
              <a:ext cx="1179900" cy="615600"/>
            </a:xfrm>
            <a:custGeom>
              <a:avLst/>
              <a:gdLst>
                <a:gd name="connsiteX0" fmla="*/ 589950 w 1179900"/>
                <a:gd name="connsiteY0" fmla="*/ 615600 h 615600"/>
                <a:gd name="connsiteX1" fmla="*/ 589950 w 1179900"/>
                <a:gd name="connsiteY1" fmla="*/ 0 h 615600"/>
                <a:gd name="connsiteX2" fmla="*/ 1179900 w 1179900"/>
                <a:gd name="connsiteY2" fmla="*/ 307800 h 615600"/>
                <a:gd name="connsiteX3" fmla="*/ 0 w 1179900"/>
                <a:gd name="connsiteY3" fmla="*/ 307800 h 615600"/>
                <a:gd name="connsiteX4" fmla="*/ 589950 w 1179900"/>
                <a:gd name="connsiteY4" fmla="*/ 307800 h 615600"/>
                <a:gd name="connsiteX5" fmla="*/ 0 w 1179900"/>
                <a:gd name="connsiteY5" fmla="*/ 153900 h 615600"/>
                <a:gd name="connsiteX6" fmla="*/ 0 w 1179900"/>
                <a:gd name="connsiteY6" fmla="*/ 461700 h 615600"/>
                <a:gd name="connsiteX7" fmla="*/ 1179900 w 1179900"/>
                <a:gd name="connsiteY7" fmla="*/ 153900 h 615600"/>
                <a:gd name="connsiteX8" fmla="*/ 1179900 w 1179900"/>
                <a:gd name="connsiteY8" fmla="*/ 461700 h 615600"/>
                <a:gd name="connsiteX9" fmla="*/ 294975 w 1179900"/>
                <a:gd name="connsiteY9" fmla="*/ 0 h 615600"/>
                <a:gd name="connsiteX10" fmla="*/ 884929 w 1179900"/>
                <a:gd name="connsiteY10" fmla="*/ 0 h 615600"/>
                <a:gd name="connsiteX11" fmla="*/ 294975 w 1179900"/>
                <a:gd name="connsiteY11" fmla="*/ 615600 h 615600"/>
                <a:gd name="connsiteX12" fmla="*/ 884929 w 11799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900" h="615600">
                  <a:moveTo>
                    <a:pt x="1179900" y="615600"/>
                  </a:moveTo>
                  <a:lnTo>
                    <a:pt x="1179900" y="0"/>
                  </a:lnTo>
                  <a:lnTo>
                    <a:pt x="0" y="0"/>
                  </a:lnTo>
                  <a:lnTo>
                    <a:pt x="0" y="615600"/>
                  </a:lnTo>
                  <a:lnTo>
                    <a:pt x="11799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格式转换器</a:t>
              </a:r>
              <a:endParaRPr sz="1200" dirty="0">
                <a:solidFill>
                  <a:srgbClr val="FFFFFF"/>
                </a:solidFill>
                <a:latin typeface="微软雅黑" panose="020B0503020204020204" pitchFamily="34" charset="-122"/>
                <a:ea typeface="微软雅黑" panose="020B0503020204020204" pitchFamily="34" charset="-122"/>
              </a:endParaRPr>
            </a:p>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LoginInfoCodec</a:t>
              </a:r>
              <a:endParaRPr sz="1200" dirty="0">
                <a:solidFill>
                  <a:srgbClr val="FFFFFF"/>
                </a:solidFill>
                <a:latin typeface="微软雅黑" panose="020B0503020204020204" pitchFamily="34" charset="-122"/>
                <a:ea typeface="微软雅黑" panose="020B0503020204020204" pitchFamily="34" charset="-122"/>
              </a:endParaRPr>
            </a:p>
          </p:txBody>
        </p:sp>
        <p:sp>
          <p:nvSpPr>
            <p:cNvPr id="70" name="外部交互方"/>
            <p:cNvSpPr/>
            <p:nvPr/>
          </p:nvSpPr>
          <p:spPr>
            <a:xfrm>
              <a:off x="6004600" y="2030600"/>
              <a:ext cx="1474400" cy="615600"/>
            </a:xfrm>
            <a:custGeom>
              <a:avLst/>
              <a:gdLst>
                <a:gd name="connsiteX0" fmla="*/ 737200 w 1474400"/>
                <a:gd name="connsiteY0" fmla="*/ 615600 h 615600"/>
                <a:gd name="connsiteX1" fmla="*/ 737200 w 1474400"/>
                <a:gd name="connsiteY1" fmla="*/ 0 h 615600"/>
                <a:gd name="connsiteX2" fmla="*/ 1474400 w 1474400"/>
                <a:gd name="connsiteY2" fmla="*/ 307800 h 615600"/>
                <a:gd name="connsiteX3" fmla="*/ 0 w 1474400"/>
                <a:gd name="connsiteY3" fmla="*/ 307800 h 615600"/>
                <a:gd name="connsiteX4" fmla="*/ 737200 w 1474400"/>
                <a:gd name="connsiteY4" fmla="*/ 307800 h 615600"/>
                <a:gd name="connsiteX5" fmla="*/ 0 w 1474400"/>
                <a:gd name="connsiteY5" fmla="*/ 153900 h 615600"/>
                <a:gd name="connsiteX6" fmla="*/ 0 w 1474400"/>
                <a:gd name="connsiteY6" fmla="*/ 461700 h 615600"/>
                <a:gd name="connsiteX7" fmla="*/ 1474400 w 1474400"/>
                <a:gd name="connsiteY7" fmla="*/ 153900 h 615600"/>
                <a:gd name="connsiteX8" fmla="*/ 1474400 w 1474400"/>
                <a:gd name="connsiteY8" fmla="*/ 461700 h 615600"/>
                <a:gd name="connsiteX9" fmla="*/ 368600 w 1474400"/>
                <a:gd name="connsiteY9" fmla="*/ 0 h 615600"/>
                <a:gd name="connsiteX10" fmla="*/ 1105800 w 1474400"/>
                <a:gd name="connsiteY10" fmla="*/ 0 h 615600"/>
                <a:gd name="connsiteX11" fmla="*/ 368600 w 1474400"/>
                <a:gd name="connsiteY11" fmla="*/ 615600 h 615600"/>
                <a:gd name="connsiteX12" fmla="*/ 1105800 w 14744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4400" h="615600">
                  <a:moveTo>
                    <a:pt x="1474400" y="615600"/>
                  </a:moveTo>
                  <a:lnTo>
                    <a:pt x="1474400" y="0"/>
                  </a:lnTo>
                  <a:lnTo>
                    <a:pt x="0" y="0"/>
                  </a:lnTo>
                  <a:lnTo>
                    <a:pt x="0" y="615600"/>
                  </a:lnTo>
                  <a:lnTo>
                    <a:pt x="14744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登陆次数统计器</a:t>
              </a:r>
              <a:endParaRPr sz="1200" dirty="0">
                <a:solidFill>
                  <a:srgbClr val="FFFFFF"/>
                </a:solidFill>
                <a:latin typeface="微软雅黑" panose="020B0503020204020204" pitchFamily="34" charset="-122"/>
                <a:ea typeface="微软雅黑" panose="020B0503020204020204" pitchFamily="34" charset="-122"/>
              </a:endParaRPr>
            </a:p>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LoginCountProcessor</a:t>
              </a:r>
              <a:endParaRPr sz="1200" dirty="0">
                <a:solidFill>
                  <a:srgbClr val="FFFFFF"/>
                </a:solidFill>
                <a:latin typeface="微软雅黑" panose="020B0503020204020204" pitchFamily="34" charset="-122"/>
                <a:ea typeface="微软雅黑" panose="020B0503020204020204" pitchFamily="34" charset="-122"/>
              </a:endParaRPr>
            </a:p>
          </p:txBody>
        </p:sp>
        <p:sp>
          <p:nvSpPr>
            <p:cNvPr id="71" name="外部交互方"/>
            <p:cNvSpPr/>
            <p:nvPr/>
          </p:nvSpPr>
          <p:spPr>
            <a:xfrm>
              <a:off x="6004600" y="3408863"/>
              <a:ext cx="1474400" cy="615600"/>
            </a:xfrm>
            <a:custGeom>
              <a:avLst/>
              <a:gdLst>
                <a:gd name="connsiteX0" fmla="*/ 737200 w 1474400"/>
                <a:gd name="connsiteY0" fmla="*/ 615600 h 615600"/>
                <a:gd name="connsiteX1" fmla="*/ 737200 w 1474400"/>
                <a:gd name="connsiteY1" fmla="*/ 0 h 615600"/>
                <a:gd name="connsiteX2" fmla="*/ 1474400 w 1474400"/>
                <a:gd name="connsiteY2" fmla="*/ 307800 h 615600"/>
                <a:gd name="connsiteX3" fmla="*/ 0 w 1474400"/>
                <a:gd name="connsiteY3" fmla="*/ 307800 h 615600"/>
                <a:gd name="connsiteX4" fmla="*/ 737200 w 1474400"/>
                <a:gd name="connsiteY4" fmla="*/ 307800 h 615600"/>
                <a:gd name="connsiteX5" fmla="*/ 0 w 1474400"/>
                <a:gd name="connsiteY5" fmla="*/ 153900 h 615600"/>
                <a:gd name="connsiteX6" fmla="*/ 0 w 1474400"/>
                <a:gd name="connsiteY6" fmla="*/ 461700 h 615600"/>
                <a:gd name="connsiteX7" fmla="*/ 1474400 w 1474400"/>
                <a:gd name="connsiteY7" fmla="*/ 153900 h 615600"/>
                <a:gd name="connsiteX8" fmla="*/ 1474400 w 1474400"/>
                <a:gd name="connsiteY8" fmla="*/ 461700 h 615600"/>
                <a:gd name="connsiteX9" fmla="*/ 368600 w 1474400"/>
                <a:gd name="connsiteY9" fmla="*/ 0 h 615600"/>
                <a:gd name="connsiteX10" fmla="*/ 1105800 w 1474400"/>
                <a:gd name="connsiteY10" fmla="*/ 0 h 615600"/>
                <a:gd name="connsiteX11" fmla="*/ 368600 w 1474400"/>
                <a:gd name="connsiteY11" fmla="*/ 615600 h 615600"/>
                <a:gd name="connsiteX12" fmla="*/ 1105800 w 1474400"/>
                <a:gd name="connsiteY12" fmla="*/ 615600 h 61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4400" h="615600">
                  <a:moveTo>
                    <a:pt x="1474400" y="615600"/>
                  </a:moveTo>
                  <a:lnTo>
                    <a:pt x="1474400" y="0"/>
                  </a:lnTo>
                  <a:lnTo>
                    <a:pt x="0" y="0"/>
                  </a:lnTo>
                  <a:lnTo>
                    <a:pt x="0" y="615600"/>
                  </a:lnTo>
                  <a:lnTo>
                    <a:pt x="1474400" y="615600"/>
                  </a:ln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登陆成功率统计器</a:t>
              </a:r>
              <a:endParaRPr sz="1200" dirty="0">
                <a:solidFill>
                  <a:srgbClr val="FFFFFF"/>
                </a:solidFill>
                <a:latin typeface="微软雅黑" panose="020B0503020204020204" pitchFamily="34" charset="-122"/>
                <a:ea typeface="微软雅黑" panose="020B0503020204020204" pitchFamily="34" charset="-122"/>
              </a:endParaRPr>
            </a:p>
            <a:p>
              <a:pPr algn="ctr">
                <a:lnSpc>
                  <a:spcPct val="100000"/>
                </a:lnSpc>
              </a:pPr>
              <a:r>
                <a:rPr sz="1200" dirty="0" err="1">
                  <a:solidFill>
                    <a:srgbClr val="FFFFFF"/>
                  </a:solidFill>
                  <a:latin typeface="微软雅黑" panose="020B0503020204020204" pitchFamily="34" charset="-122"/>
                  <a:ea typeface="微软雅黑" panose="020B0503020204020204" pitchFamily="34" charset="-122"/>
                </a:rPr>
                <a:t>LoginSucRateProcessor</a:t>
              </a:r>
              <a:endParaRPr sz="1200" dirty="0">
                <a:solidFill>
                  <a:srgbClr val="FFFFFF"/>
                </a:solidFill>
                <a:latin typeface="微软雅黑" panose="020B0503020204020204" pitchFamily="34" charset="-122"/>
                <a:ea typeface="微软雅黑" panose="020B0503020204020204" pitchFamily="34" charset="-122"/>
              </a:endParaRPr>
            </a:p>
          </p:txBody>
        </p:sp>
        <p:sp>
          <p:nvSpPr>
            <p:cNvPr id="72" name="文档"/>
            <p:cNvSpPr/>
            <p:nvPr/>
          </p:nvSpPr>
          <p:spPr>
            <a:xfrm>
              <a:off x="1681150" y="4143723"/>
              <a:ext cx="1147600" cy="683677"/>
            </a:xfrm>
            <a:custGeom>
              <a:avLst/>
              <a:gdLst>
                <a:gd name="connsiteX0" fmla="*/ 573800 w 1147600"/>
                <a:gd name="connsiteY0" fmla="*/ 598217 h 683677"/>
                <a:gd name="connsiteX1" fmla="*/ 573800 w 1147600"/>
                <a:gd name="connsiteY1" fmla="*/ 0 h 683677"/>
                <a:gd name="connsiteX2" fmla="*/ 1147600 w 1147600"/>
                <a:gd name="connsiteY2" fmla="*/ 341838 h 683677"/>
                <a:gd name="connsiteX3" fmla="*/ 0 w 1147600"/>
                <a:gd name="connsiteY3" fmla="*/ 341838 h 683677"/>
                <a:gd name="connsiteX4" fmla="*/ 573800 w 1147600"/>
                <a:gd name="connsiteY4" fmla="*/ 341838 h 683677"/>
                <a:gd name="rtb" fmla="*/ 615309 h 683677"/>
              </a:gdLst>
              <a:ahLst/>
              <a:cxnLst>
                <a:cxn ang="0">
                  <a:pos x="connsiteX0" y="connsiteY0"/>
                </a:cxn>
                <a:cxn ang="0">
                  <a:pos x="connsiteX1" y="connsiteY1"/>
                </a:cxn>
                <a:cxn ang="0">
                  <a:pos x="connsiteX2" y="connsiteY2"/>
                </a:cxn>
                <a:cxn ang="0">
                  <a:pos x="connsiteX3" y="connsiteY3"/>
                </a:cxn>
                <a:cxn ang="0">
                  <a:pos x="connsiteX4" y="connsiteY4"/>
                </a:cxn>
              </a:cxnLst>
              <a:rect l="l" t="t" r="r" b="rtb"/>
              <a:pathLst>
                <a:path w="1147600" h="683677">
                  <a:moveTo>
                    <a:pt x="0" y="598217"/>
                  </a:moveTo>
                  <a:lnTo>
                    <a:pt x="0" y="0"/>
                  </a:lnTo>
                  <a:lnTo>
                    <a:pt x="1147600" y="0"/>
                  </a:lnTo>
                  <a:lnTo>
                    <a:pt x="1147600" y="598217"/>
                  </a:lnTo>
                  <a:cubicBezTo>
                    <a:pt x="973304" y="484271"/>
                    <a:pt x="748096" y="484271"/>
                    <a:pt x="573800" y="598217"/>
                  </a:cubicBezTo>
                  <a:cubicBezTo>
                    <a:pt x="399504" y="712163"/>
                    <a:pt x="174296" y="712163"/>
                    <a:pt x="0" y="598217"/>
                  </a:cubicBezTo>
                  <a:close/>
                </a:path>
              </a:pathLst>
            </a:custGeom>
            <a:solidFill>
              <a:srgbClr val="3498DB"/>
            </a:solidFill>
            <a:ln w="7600" cap="flat">
              <a:solidFill>
                <a:srgbClr val="3498DB"/>
              </a:solidFill>
              <a:bevel/>
            </a:ln>
          </p:spPr>
          <p:txBody>
            <a:bodyPr wrap="square" lIns="36000" tIns="0" rIns="36000" bIns="0" rtlCol="0" anchor="ctr"/>
            <a:lstStyle/>
            <a:p>
              <a:pPr algn="ctr">
                <a:lnSpc>
                  <a:spcPct val="100000"/>
                </a:lnSpc>
              </a:pPr>
              <a:r>
                <a:rPr sz="1100" dirty="0" smtClean="0">
                  <a:solidFill>
                    <a:srgbClr val="FFFFFF"/>
                  </a:solidFill>
                  <a:latin typeface="微软雅黑" panose="020B0503020204020204" pitchFamily="34" charset="-122"/>
                  <a:ea typeface="微软雅黑" panose="020B0503020204020204" pitchFamily="34" charset="-122"/>
                </a:rPr>
                <a:t>LoginInfoRecords</a:t>
              </a:r>
              <a:r>
                <a:rPr lang="en-US" sz="1100" dirty="0" smtClean="0">
                  <a:solidFill>
                    <a:srgbClr val="FFFFFF"/>
                  </a:solidFill>
                  <a:latin typeface="微软雅黑" panose="020B0503020204020204" pitchFamily="34" charset="-122"/>
                  <a:ea typeface="微软雅黑" panose="020B0503020204020204" pitchFamily="34" charset="-122"/>
                </a:rPr>
                <a:t>.txt</a:t>
              </a:r>
              <a:endParaRPr sz="1100" dirty="0">
                <a:solidFill>
                  <a:srgbClr val="FFFFFF"/>
                </a:solidFill>
                <a:latin typeface="微软雅黑" panose="020B0503020204020204" pitchFamily="34" charset="-122"/>
                <a:ea typeface="微软雅黑" panose="020B0503020204020204" pitchFamily="34" charset="-122"/>
              </a:endParaRPr>
            </a:p>
          </p:txBody>
        </p:sp>
        <p:grpSp>
          <p:nvGrpSpPr>
            <p:cNvPr id="73" name="Group 113"/>
            <p:cNvGrpSpPr/>
            <p:nvPr/>
          </p:nvGrpSpPr>
          <p:grpSpPr>
            <a:xfrm>
              <a:off x="2844900" y="3014800"/>
              <a:ext cx="993700" cy="0"/>
              <a:chOff x="2844900" y="3014800"/>
              <a:chExt cx="993700" cy="0"/>
            </a:xfrm>
          </p:grpSpPr>
          <p:sp>
            <p:nvSpPr>
              <p:cNvPr id="83" name="直线连接线"/>
              <p:cNvSpPr/>
              <p:nvPr/>
            </p:nvSpPr>
            <p:spPr>
              <a:xfrm>
                <a:off x="2844900" y="3014800"/>
                <a:ext cx="993700" cy="0"/>
              </a:xfrm>
              <a:custGeom>
                <a:avLst/>
                <a:gdLst/>
                <a:ahLst/>
                <a:cxnLst/>
                <a:rect l="0" t="0" r="0" b="0"/>
                <a:pathLst>
                  <a:path w="993700" fill="none">
                    <a:moveTo>
                      <a:pt x="0" y="0"/>
                    </a:moveTo>
                    <a:lnTo>
                      <a:pt x="993700" y="0"/>
                    </a:lnTo>
                  </a:path>
                </a:pathLst>
              </a:custGeom>
              <a:noFill/>
              <a:ln w="7600" cap="flat">
                <a:solidFill>
                  <a:srgbClr val="236EA1"/>
                </a:solidFill>
                <a:bevel/>
                <a:tailEnd type="stealth" w="med" len="med"/>
              </a:ln>
            </p:spPr>
          </p:sp>
          <p:sp>
            <p:nvSpPr>
              <p:cNvPr id="84" name="Text 114"/>
              <p:cNvSpPr txBox="1"/>
              <p:nvPr/>
            </p:nvSpPr>
            <p:spPr>
              <a:xfrm>
                <a:off x="2828750" y="2695600"/>
                <a:ext cx="1026000" cy="638400"/>
              </a:xfrm>
              <a:prstGeom prst="rect">
                <a:avLst/>
              </a:prstGeom>
              <a:noFill/>
            </p:spPr>
            <p:txBody>
              <a:bodyPr wrap="square" lIns="36000" tIns="0" rIns="36000" bIns="0" rtlCol="0" anchor="ctr"/>
              <a:lstStyle/>
              <a:p>
                <a:pPr algn="ctr">
                  <a:lnSpc>
                    <a:spcPct val="100000"/>
                  </a:lnSpc>
                </a:pPr>
                <a:r>
                  <a:rPr sz="1000" dirty="0" err="1">
                    <a:solidFill>
                      <a:srgbClr val="1F6391"/>
                    </a:solidFill>
                    <a:latin typeface="微软雅黑" panose="020B0503020204020204" pitchFamily="34" charset="-122"/>
                    <a:ea typeface="微软雅黑" panose="020B0503020204020204" pitchFamily="34" charset="-122"/>
                  </a:rPr>
                  <a:t>事件：读取完成一行</a:t>
                </a:r>
                <a:endParaRPr sz="100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1F6391"/>
                  </a:solidFill>
                  <a:latin typeface="微软雅黑" panose="020B0503020204020204" pitchFamily="34" charset="-122"/>
                  <a:ea typeface="微软雅黑" panose="020B0503020204020204" pitchFamily="34" charset="-122"/>
                </a:endParaRPr>
              </a:p>
            </p:txBody>
          </p:sp>
        </p:grpSp>
        <p:grpSp>
          <p:nvGrpSpPr>
            <p:cNvPr id="74" name="Group 115"/>
            <p:cNvGrpSpPr/>
            <p:nvPr/>
          </p:nvGrpSpPr>
          <p:grpSpPr>
            <a:xfrm rot="-2066854">
              <a:off x="4913656" y="2676600"/>
              <a:ext cx="1195789" cy="0"/>
              <a:chOff x="4913656" y="2676600"/>
              <a:chExt cx="1195789" cy="0"/>
            </a:xfrm>
          </p:grpSpPr>
          <p:sp>
            <p:nvSpPr>
              <p:cNvPr id="81" name="直线连接线"/>
              <p:cNvSpPr/>
              <p:nvPr/>
            </p:nvSpPr>
            <p:spPr>
              <a:xfrm>
                <a:off x="4913656" y="2676600"/>
                <a:ext cx="1195789" cy="0"/>
              </a:xfrm>
              <a:custGeom>
                <a:avLst/>
                <a:gdLst/>
                <a:ahLst/>
                <a:cxnLst/>
                <a:rect l="0" t="0" r="0" b="0"/>
                <a:pathLst>
                  <a:path w="1195789" fill="none">
                    <a:moveTo>
                      <a:pt x="0" y="0"/>
                    </a:moveTo>
                    <a:lnTo>
                      <a:pt x="1195789" y="0"/>
                    </a:lnTo>
                  </a:path>
                </a:pathLst>
              </a:custGeom>
              <a:noFill/>
              <a:ln w="7600" cap="flat">
                <a:solidFill>
                  <a:srgbClr val="236EA1"/>
                </a:solidFill>
                <a:bevel/>
                <a:tailEnd type="stealth" w="med" len="med"/>
              </a:ln>
            </p:spPr>
          </p:sp>
          <p:sp>
            <p:nvSpPr>
              <p:cNvPr id="82" name="Text 116"/>
              <p:cNvSpPr txBox="1"/>
              <p:nvPr/>
            </p:nvSpPr>
            <p:spPr>
              <a:xfrm rot="2066854">
                <a:off x="4998550" y="2574000"/>
                <a:ext cx="1026000" cy="205200"/>
              </a:xfrm>
              <a:prstGeom prst="rect">
                <a:avLst/>
              </a:prstGeom>
              <a:noFill/>
            </p:spPr>
            <p:txBody>
              <a:bodyPr wrap="square" lIns="36000" tIns="0" rIns="36000" bIns="0" rtlCol="0" anchor="ctr"/>
              <a:lstStyle/>
              <a:p>
                <a:pPr algn="ctr">
                  <a:lnSpc>
                    <a:spcPct val="100000"/>
                  </a:lnSpc>
                </a:pPr>
                <a:r>
                  <a:rPr sz="1000" dirty="0" err="1">
                    <a:solidFill>
                      <a:srgbClr val="1F6391"/>
                    </a:solidFill>
                    <a:latin typeface="微软雅黑" panose="020B0503020204020204" pitchFamily="34" charset="-122"/>
                    <a:ea typeface="微软雅黑" panose="020B0503020204020204" pitchFamily="34" charset="-122"/>
                  </a:rPr>
                  <a:t>事件：完成格式转换</a:t>
                </a:r>
                <a:endParaRPr sz="1000" dirty="0" err="1">
                  <a:solidFill>
                    <a:srgbClr val="1F6391"/>
                  </a:solidFill>
                  <a:latin typeface="微软雅黑" panose="020B0503020204020204" pitchFamily="34" charset="-122"/>
                  <a:ea typeface="微软雅黑" panose="020B0503020204020204" pitchFamily="34" charset="-122"/>
                </a:endParaRPr>
              </a:p>
            </p:txBody>
          </p:sp>
        </p:grpSp>
        <p:grpSp>
          <p:nvGrpSpPr>
            <p:cNvPr id="75" name="Group 117"/>
            <p:cNvGrpSpPr/>
            <p:nvPr/>
          </p:nvGrpSpPr>
          <p:grpSpPr>
            <a:xfrm rot="5400000">
              <a:off x="1844389" y="3226888"/>
              <a:ext cx="821123" cy="1012548"/>
              <a:chOff x="1844388" y="3226887"/>
              <a:chExt cx="821123" cy="1012548"/>
            </a:xfrm>
          </p:grpSpPr>
          <p:sp>
            <p:nvSpPr>
              <p:cNvPr id="79" name="直线连接线"/>
              <p:cNvSpPr/>
              <p:nvPr/>
            </p:nvSpPr>
            <p:spPr>
              <a:xfrm>
                <a:off x="1844388" y="3733162"/>
                <a:ext cx="821123" cy="0"/>
              </a:xfrm>
              <a:custGeom>
                <a:avLst/>
                <a:gdLst/>
                <a:ahLst/>
                <a:cxnLst/>
                <a:rect l="0" t="0" r="0" b="0"/>
                <a:pathLst>
                  <a:path w="821123" fill="none">
                    <a:moveTo>
                      <a:pt x="0" y="0"/>
                    </a:moveTo>
                    <a:lnTo>
                      <a:pt x="821123" y="0"/>
                    </a:lnTo>
                  </a:path>
                </a:pathLst>
              </a:custGeom>
              <a:noFill/>
              <a:ln w="7600" cap="flat">
                <a:solidFill>
                  <a:srgbClr val="236EA1"/>
                </a:solidFill>
                <a:bevel/>
                <a:tailEnd type="stealth" w="med" len="med"/>
              </a:ln>
            </p:spPr>
          </p:sp>
          <p:sp>
            <p:nvSpPr>
              <p:cNvPr id="80" name="Text 118"/>
              <p:cNvSpPr txBox="1"/>
              <p:nvPr/>
            </p:nvSpPr>
            <p:spPr>
              <a:xfrm rot="16200000">
                <a:off x="1748676" y="3630561"/>
                <a:ext cx="1012548" cy="205200"/>
              </a:xfrm>
              <a:prstGeom prst="rect">
                <a:avLst/>
              </a:prstGeom>
              <a:noFill/>
            </p:spPr>
            <p:txBody>
              <a:bodyPr wrap="square" lIns="36000" tIns="0" rIns="36000" bIns="0" rtlCol="0" anchor="ctr"/>
              <a:lstStyle/>
              <a:p>
                <a:pPr algn="ctr">
                  <a:lnSpc>
                    <a:spcPct val="100000"/>
                  </a:lnSpc>
                </a:pPr>
                <a:r>
                  <a:rPr sz="1200" dirty="0" err="1">
                    <a:solidFill>
                      <a:srgbClr val="1F6391"/>
                    </a:solidFill>
                    <a:latin typeface="微软雅黑" panose="020B0503020204020204" pitchFamily="34" charset="-122"/>
                    <a:ea typeface="微软雅黑" panose="020B0503020204020204" pitchFamily="34" charset="-122"/>
                  </a:rPr>
                  <a:t>读取</a:t>
                </a:r>
                <a:endParaRPr sz="1200" dirty="0" err="1">
                  <a:solidFill>
                    <a:srgbClr val="1F6391"/>
                  </a:solidFill>
                  <a:latin typeface="微软雅黑" panose="020B0503020204020204" pitchFamily="34" charset="-122"/>
                  <a:ea typeface="微软雅黑" panose="020B0503020204020204" pitchFamily="34" charset="-122"/>
                </a:endParaRPr>
              </a:p>
            </p:txBody>
          </p:sp>
        </p:grpSp>
        <p:grpSp>
          <p:nvGrpSpPr>
            <p:cNvPr id="76" name="Group 119"/>
            <p:cNvGrpSpPr/>
            <p:nvPr/>
          </p:nvGrpSpPr>
          <p:grpSpPr>
            <a:xfrm rot="2126496">
              <a:off x="4906363" y="3365731"/>
              <a:ext cx="1210374" cy="0"/>
              <a:chOff x="4906363" y="3365731"/>
              <a:chExt cx="1210374" cy="0"/>
            </a:xfrm>
          </p:grpSpPr>
          <p:sp>
            <p:nvSpPr>
              <p:cNvPr id="77" name="直线连接线"/>
              <p:cNvSpPr/>
              <p:nvPr/>
            </p:nvSpPr>
            <p:spPr>
              <a:xfrm>
                <a:off x="4906363" y="3365731"/>
                <a:ext cx="1210374" cy="0"/>
              </a:xfrm>
              <a:custGeom>
                <a:avLst/>
                <a:gdLst/>
                <a:ahLst/>
                <a:cxnLst/>
                <a:rect l="0" t="0" r="0" b="0"/>
                <a:pathLst>
                  <a:path w="1210374" fill="none">
                    <a:moveTo>
                      <a:pt x="0" y="0"/>
                    </a:moveTo>
                    <a:lnTo>
                      <a:pt x="1210374" y="0"/>
                    </a:lnTo>
                  </a:path>
                </a:pathLst>
              </a:custGeom>
              <a:noFill/>
              <a:ln w="7600" cap="flat">
                <a:solidFill>
                  <a:srgbClr val="236EA1"/>
                </a:solidFill>
                <a:bevel/>
                <a:tailEnd type="stealth" w="med" len="med"/>
              </a:ln>
            </p:spPr>
          </p:sp>
          <p:sp>
            <p:nvSpPr>
              <p:cNvPr id="78" name="Text 120"/>
              <p:cNvSpPr txBox="1"/>
              <p:nvPr/>
            </p:nvSpPr>
            <p:spPr>
              <a:xfrm rot="-2126496">
                <a:off x="4998550" y="3263131"/>
                <a:ext cx="1026000" cy="205200"/>
              </a:xfrm>
              <a:prstGeom prst="rect">
                <a:avLst/>
              </a:prstGeom>
              <a:noFill/>
            </p:spPr>
            <p:txBody>
              <a:bodyPr wrap="square" lIns="36000" tIns="0" rIns="36000" bIns="0" rtlCol="0" anchor="ctr"/>
              <a:lstStyle/>
              <a:p>
                <a:pPr algn="ctr">
                  <a:lnSpc>
                    <a:spcPct val="100000"/>
                  </a:lnSpc>
                </a:pPr>
                <a:r>
                  <a:rPr sz="1000" dirty="0" err="1">
                    <a:solidFill>
                      <a:srgbClr val="1F6391"/>
                    </a:solidFill>
                    <a:latin typeface="微软雅黑" panose="020B0503020204020204" pitchFamily="34" charset="-122"/>
                    <a:ea typeface="微软雅黑" panose="020B0503020204020204" pitchFamily="34" charset="-122"/>
                  </a:rPr>
                  <a:t>事件：完成格式转换</a:t>
                </a:r>
                <a:endParaRPr sz="1000" dirty="0" err="1">
                  <a:solidFill>
                    <a:srgbClr val="1F6391"/>
                  </a:solidFill>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a:solidFill>
                  <a:schemeClr val="bg1"/>
                </a:solidFill>
                <a:latin typeface="微软雅黑" panose="020B0503020204020204" pitchFamily="34" charset="-122"/>
                <a:ea typeface="微软雅黑" panose="020B0503020204020204" pitchFamily="34" charset="-122"/>
              </a:rPr>
              <a:t>事件驱动模型</a:t>
            </a:r>
            <a:endParaRPr lang="zh-CN" altLang="en-US" dirty="0"/>
          </a:p>
        </p:txBody>
      </p:sp>
      <p:sp>
        <p:nvSpPr>
          <p:cNvPr id="109" name="副标题 2"/>
          <p:cNvSpPr txBox="1"/>
          <p:nvPr/>
        </p:nvSpPr>
        <p:spPr>
          <a:xfrm>
            <a:off x="-224" y="83036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分析</a:t>
            </a:r>
            <a:endParaRPr lang="zh-CN" altLang="en-US" sz="2400" dirty="0" smtClean="0">
              <a:solidFill>
                <a:schemeClr val="tx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36220" y="1567815"/>
            <a:ext cx="8728268" cy="3046095"/>
          </a:xfrm>
          <a:prstGeom prst="rect">
            <a:avLst/>
          </a:prstGeom>
          <a:noFill/>
        </p:spPr>
        <p:txBody>
          <a:bodyPr wrap="square" rtlCol="0" anchor="t">
            <a:spAutoFit/>
          </a:bodyPr>
          <a:lstStyle/>
          <a:p>
            <a:pPr marL="285750" indent="-285750">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sym typeface="+mn-ea"/>
              </a:rPr>
              <a:t>优点</a:t>
            </a:r>
            <a:endParaRPr lang="zh-CN" altLang="en-US" sz="2000" dirty="0" smtClean="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endParaRPr lang="zh-CN" altLang="en-US" sz="2000" b="0" i="0" kern="1200" dirty="0" smtClean="0">
              <a:solidFill>
                <a:schemeClr val="tx1"/>
              </a:solidFill>
              <a:effectLst/>
              <a:latin typeface="+mn-lt"/>
              <a:ea typeface="+mn-ea"/>
              <a:cs typeface="+mn-cs"/>
            </a:endParaRPr>
          </a:p>
          <a:p>
            <a:pPr marL="742950" lvl="1" indent="-285750">
              <a:buFont typeface="Wingdings" panose="05000000000000000000" charset="0"/>
              <a:buChar char=""/>
            </a:pPr>
            <a:r>
              <a:rPr lang="zh-CN" altLang="en-US" sz="1600" dirty="0" smtClean="0">
                <a:effectLst/>
                <a:latin typeface="微软雅黑" panose="020B0503020204020204" pitchFamily="34" charset="-122"/>
                <a:ea typeface="微软雅黑" panose="020B0503020204020204" pitchFamily="34" charset="-122"/>
                <a:sym typeface="+mn-ea"/>
              </a:rPr>
              <a:t>事件驱动能够极大的降低资源占用，增大服务接待能力，并提高网络传输效率</a:t>
            </a:r>
            <a:endParaRPr lang="en-US" altLang="zh-CN" sz="1600" dirty="0">
              <a:latin typeface="微软雅黑" panose="020B0503020204020204" pitchFamily="34" charset="-122"/>
              <a:ea typeface="微软雅黑" panose="020B0503020204020204" pitchFamily="34" charset="-122"/>
              <a:sym typeface="+mn-ea"/>
            </a:endParaRPr>
          </a:p>
          <a:p>
            <a:pPr marL="742950" lvl="1" indent="-285750">
              <a:buFont typeface="Wingdings" panose="05000000000000000000" charset="0"/>
              <a:buChar char=""/>
            </a:pPr>
            <a:r>
              <a:rPr lang="zh-CN" altLang="en-US" sz="1600" dirty="0" smtClean="0">
                <a:effectLst/>
                <a:latin typeface="微软雅黑" panose="020B0503020204020204" pitchFamily="34" charset="-122"/>
                <a:ea typeface="微软雅黑" panose="020B0503020204020204" pitchFamily="34" charset="-122"/>
                <a:sym typeface="+mn-ea"/>
              </a:rPr>
              <a:t>由于将各个处理步骤独立实现，可以很容易的进行系统监测和调整</a:t>
            </a:r>
            <a:endParaRPr lang="zh-CN" altLang="en-US" sz="1600" dirty="0" smtClean="0">
              <a:effectLst/>
              <a:latin typeface="微软雅黑" panose="020B0503020204020204" pitchFamily="34" charset="-122"/>
              <a:ea typeface="微软雅黑" panose="020B0503020204020204" pitchFamily="34" charset="-122"/>
              <a:sym typeface="+mn-ea"/>
            </a:endParaRPr>
          </a:p>
          <a:p>
            <a:pPr marL="400050" indent="-400050">
              <a:buFont typeface="+mj-lt"/>
              <a:buAutoNum type="romanUcPeriod"/>
            </a:pPr>
            <a:endParaRPr lang="zh-CN" altLang="en-US" sz="1600" dirty="0" smtClean="0">
              <a:effectLst/>
              <a:latin typeface="微软雅黑" panose="020B0503020204020204" pitchFamily="34" charset="-122"/>
              <a:ea typeface="微软雅黑" panose="020B0503020204020204" pitchFamily="34" charset="-122"/>
              <a:sym typeface="+mn-ea"/>
            </a:endParaRPr>
          </a:p>
          <a:p>
            <a:pPr indent="0">
              <a:buFont typeface="+mj-lt"/>
              <a:buNone/>
            </a:pPr>
            <a:endParaRPr lang="zh-CN" altLang="en-US" sz="1600" dirty="0" smtClean="0">
              <a:effectLst/>
              <a:latin typeface="微软雅黑" panose="020B0503020204020204" pitchFamily="34" charset="-122"/>
              <a:ea typeface="微软雅黑" panose="020B0503020204020204" pitchFamily="34" charset="-122"/>
              <a:sym typeface="+mn-ea"/>
            </a:endParaRPr>
          </a:p>
          <a:p>
            <a:pPr marL="400050" indent="-400050">
              <a:buFont typeface="+mj-lt"/>
              <a:buAutoNum type="romanUcPeriod"/>
            </a:pPr>
            <a:endParaRPr lang="zh-CN" altLang="en-US" sz="1600" b="0" i="0" kern="1200" dirty="0" smtClean="0">
              <a:solidFill>
                <a:schemeClr val="tx1"/>
              </a:solidFill>
              <a:effectLst/>
              <a:latin typeface="微软雅黑" panose="020B0503020204020204" pitchFamily="34" charset="-122"/>
              <a:ea typeface="微软雅黑" panose="020B0503020204020204" pitchFamily="34" charset="-122"/>
              <a:cs typeface="+mn-cs"/>
            </a:endParaRPr>
          </a:p>
          <a:p>
            <a:pPr marL="285750" indent="-285750">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sym typeface="+mn-ea"/>
              </a:rPr>
              <a:t>缺点</a:t>
            </a:r>
            <a:endParaRPr lang="zh-CN" altLang="en-US" sz="2000"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endParaRPr lang="zh-CN" altLang="en-US" sz="2000" b="0" i="0" kern="1200" dirty="0" smtClean="0">
              <a:solidFill>
                <a:schemeClr val="tx1"/>
              </a:solidFill>
              <a:effectLst/>
              <a:latin typeface="微软雅黑" panose="020B0503020204020204" pitchFamily="34" charset="-122"/>
              <a:ea typeface="微软雅黑" panose="020B0503020204020204" pitchFamily="34" charset="-122"/>
              <a:cs typeface="+mn-cs"/>
              <a:sym typeface="+mn-ea"/>
            </a:endParaRPr>
          </a:p>
          <a:p>
            <a:pPr marL="742950" lvl="1" indent="-285750">
              <a:buFont typeface="Wingdings" panose="05000000000000000000" charset="0"/>
              <a:buChar char=""/>
            </a:pPr>
            <a:r>
              <a:rPr lang="en-US" altLang="zh-CN" sz="1600" dirty="0" smtClean="0">
                <a:effectLst/>
                <a:latin typeface="微软雅黑" panose="020B0503020204020204" pitchFamily="34" charset="-122"/>
                <a:ea typeface="微软雅黑" panose="020B0503020204020204" pitchFamily="34" charset="-122"/>
                <a:sym typeface="+mn-ea"/>
              </a:rPr>
              <a:t>Scheduler</a:t>
            </a:r>
            <a:r>
              <a:rPr lang="zh-CN" altLang="en-US" sz="1600" dirty="0" smtClean="0">
                <a:effectLst/>
                <a:latin typeface="微软雅黑" panose="020B0503020204020204" pitchFamily="34" charset="-122"/>
                <a:ea typeface="微软雅黑" panose="020B0503020204020204" pitchFamily="34" charset="-122"/>
                <a:sym typeface="+mn-ea"/>
              </a:rPr>
              <a:t>的设计和实现过于复杂。针对于不同的应用和系统的逻辑变更需要不同的实现。</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阶段式</a:t>
            </a:r>
            <a:r>
              <a:rPr lang="zh-CN" altLang="en-US" dirty="0">
                <a:solidFill>
                  <a:schemeClr val="bg1"/>
                </a:solidFill>
                <a:latin typeface="微软雅黑" panose="020B0503020204020204" pitchFamily="34" charset="-122"/>
                <a:ea typeface="微软雅黑" panose="020B0503020204020204" pitchFamily="34" charset="-122"/>
                <a:sym typeface="+mn-ea"/>
              </a:rPr>
              <a:t>事件</a:t>
            </a:r>
            <a:r>
              <a:rPr lang="zh-CN" altLang="en-US" dirty="0" smtClean="0">
                <a:solidFill>
                  <a:schemeClr val="bg1"/>
                </a:solidFill>
                <a:latin typeface="微软雅黑" panose="020B0503020204020204" pitchFamily="34" charset="-122"/>
                <a:ea typeface="微软雅黑" panose="020B0503020204020204" pitchFamily="34" charset="-122"/>
                <a:sym typeface="+mn-ea"/>
              </a:rPr>
              <a:t>驱动架构</a:t>
            </a:r>
            <a:endParaRPr lang="zh-CN" altLang="en-US"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3" name="副标题 2"/>
          <p:cNvSpPr>
            <a:spLocks noGrp="1"/>
          </p:cNvSpPr>
          <p:nvPr>
            <p:ph type="subTitle" idx="1"/>
          </p:nvPr>
        </p:nvSpPr>
        <p:spPr>
          <a:xfrm>
            <a:off x="107504" y="836712"/>
            <a:ext cx="8928992" cy="5616624"/>
          </a:xfrm>
        </p:spPr>
        <p:txBody>
          <a:bodyPr>
            <a:noAutofit/>
          </a:body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前言</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algn="l"/>
            <a:endParaRPr lang="zh-CN" altLang="en-US" dirty="0" smtClean="0">
              <a:solidFill>
                <a:schemeClr val="tx1"/>
              </a:solidFill>
              <a:latin typeface="微软雅黑" panose="020B0503020204020204" pitchFamily="34" charset="-122"/>
              <a:ea typeface="微软雅黑" panose="020B0503020204020204" pitchFamily="34" charset="-122"/>
            </a:endParaRPr>
          </a:p>
          <a:p>
            <a:pPr algn="l"/>
            <a:r>
              <a:rPr lang="en-US" altLang="zh-CN" sz="2400" dirty="0" smtClean="0">
                <a:solidFill>
                  <a:schemeClr val="tx1"/>
                </a:solidFill>
                <a:latin typeface="微软雅黑" panose="020B0503020204020204" pitchFamily="34" charset="-122"/>
                <a:ea typeface="微软雅黑" panose="020B0503020204020204" pitchFamily="34" charset="-122"/>
              </a:rPr>
              <a:t>SEDA</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zh-CN" altLang="en-US" sz="1600" dirty="0" smtClean="0">
                <a:solidFill>
                  <a:schemeClr val="tx1"/>
                </a:solidFill>
                <a:latin typeface="微软雅黑" panose="020B0503020204020204" pitchFamily="34" charset="-122"/>
                <a:ea typeface="微软雅黑" panose="020B0503020204020204" pitchFamily="34" charset="-122"/>
              </a:rPr>
              <a:t>阶段式</a:t>
            </a:r>
            <a:r>
              <a:rPr lang="zh-CN" altLang="en-US" sz="1600" dirty="0">
                <a:solidFill>
                  <a:schemeClr val="tx1"/>
                </a:solidFill>
                <a:latin typeface="微软雅黑" panose="020B0503020204020204" pitchFamily="34" charset="-122"/>
                <a:ea typeface="微软雅黑" panose="020B0503020204020204" pitchFamily="34" charset="-122"/>
              </a:rPr>
              <a:t>事件</a:t>
            </a:r>
            <a:r>
              <a:rPr lang="zh-CN" altLang="en-US" sz="1600" dirty="0" smtClean="0">
                <a:solidFill>
                  <a:schemeClr val="tx1"/>
                </a:solidFill>
                <a:latin typeface="微软雅黑" panose="020B0503020204020204" pitchFamily="34" charset="-122"/>
                <a:ea typeface="微软雅黑" panose="020B0503020204020204" pitchFamily="34" charset="-122"/>
              </a:rPr>
              <a:t>驱动架构（</a:t>
            </a:r>
            <a:r>
              <a:rPr lang="en-US" altLang="zh-CN" sz="1600" dirty="0" smtClean="0">
                <a:solidFill>
                  <a:schemeClr val="tx1"/>
                </a:solidFill>
                <a:latin typeface="微软雅黑" panose="020B0503020204020204" pitchFamily="34" charset="-122"/>
                <a:ea typeface="微软雅黑" panose="020B0503020204020204" pitchFamily="34" charset="-122"/>
              </a:rPr>
              <a:t>Staged </a:t>
            </a:r>
            <a:r>
              <a:rPr lang="en-US" altLang="zh-CN" sz="1600" dirty="0">
                <a:solidFill>
                  <a:schemeClr val="tx1"/>
                </a:solidFill>
                <a:latin typeface="微软雅黑" panose="020B0503020204020204" pitchFamily="34" charset="-122"/>
                <a:ea typeface="微软雅黑" panose="020B0503020204020204" pitchFamily="34" charset="-122"/>
              </a:rPr>
              <a:t>Event Driven Architecture </a:t>
            </a:r>
            <a:r>
              <a:rPr lang="zh-CN" altLang="en-US" sz="1600" dirty="0" smtClean="0">
                <a:solidFill>
                  <a:schemeClr val="tx1"/>
                </a:solidFill>
                <a:latin typeface="微软雅黑" panose="020B0503020204020204" pitchFamily="34" charset="-122"/>
                <a:ea typeface="微软雅黑" panose="020B0503020204020204" pitchFamily="34" charset="-122"/>
              </a:rPr>
              <a:t>）</a:t>
            </a:r>
            <a:endParaRPr lang="en-US" altLang="zh-CN" sz="1600" dirty="0">
              <a:solidFill>
                <a:schemeClr val="tx1"/>
              </a:solidFill>
              <a:latin typeface="微软雅黑" panose="020B0503020204020204" pitchFamily="34" charset="-122"/>
              <a:ea typeface="微软雅黑" panose="020B0503020204020204" pitchFamily="34" charset="-122"/>
            </a:endParaRPr>
          </a:p>
          <a:p>
            <a:pPr algn="l"/>
            <a:r>
              <a:rPr lang="zh-CN" altLang="en-US" sz="1600" dirty="0" smtClean="0">
                <a:solidFill>
                  <a:schemeClr val="tx1"/>
                </a:solidFill>
                <a:latin typeface="微软雅黑" panose="020B0503020204020204" pitchFamily="34" charset="-122"/>
                <a:ea typeface="微软雅黑" panose="020B0503020204020204" pitchFamily="34" charset="-122"/>
              </a:rPr>
              <a:t>              优秀</a:t>
            </a:r>
            <a:r>
              <a:rPr lang="zh-CN" altLang="en-US" sz="1600" dirty="0">
                <a:solidFill>
                  <a:schemeClr val="tx1"/>
                </a:solidFill>
                <a:latin typeface="微软雅黑" panose="020B0503020204020204" pitchFamily="34" charset="-122"/>
                <a:ea typeface="微软雅黑" panose="020B0503020204020204" pitchFamily="34" charset="-122"/>
              </a:rPr>
              <a:t>的高性能互联网服务器架构</a:t>
            </a:r>
            <a:r>
              <a:rPr lang="zh-CN" altLang="en-US" sz="1600" dirty="0" smtClean="0">
                <a:solidFill>
                  <a:schemeClr val="tx1"/>
                </a:solidFill>
                <a:latin typeface="微软雅黑" panose="020B0503020204020204" pitchFamily="34" charset="-122"/>
                <a:ea typeface="微软雅黑" panose="020B0503020204020204" pitchFamily="34" charset="-122"/>
              </a:rPr>
              <a:t>模型</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gn="l"/>
            <a:r>
              <a:rPr lang="zh-CN" altLang="en-US" sz="2400" dirty="0" smtClean="0">
                <a:solidFill>
                  <a:schemeClr val="tx1"/>
                </a:solidFill>
                <a:latin typeface="微软雅黑" panose="020B0503020204020204" pitchFamily="34" charset="-122"/>
                <a:ea typeface="微软雅黑" panose="020B0503020204020204" pitchFamily="34" charset="-122"/>
              </a:rPr>
              <a:t>设计目标：</a:t>
            </a:r>
            <a:endParaRPr lang="zh-CN" altLang="en-US" sz="24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Wingdings" panose="05000000000000000000" pitchFamily="2" charset="2"/>
              <a:buChar char="l"/>
            </a:pPr>
            <a:r>
              <a:rPr lang="zh-CN" altLang="en-US" sz="1600" dirty="0" smtClean="0">
                <a:solidFill>
                  <a:schemeClr val="tx1"/>
                </a:solidFill>
                <a:latin typeface="微软雅黑" panose="020B0503020204020204" pitchFamily="34" charset="-122"/>
                <a:ea typeface="微软雅黑" panose="020B0503020204020204" pitchFamily="34" charset="-122"/>
              </a:rPr>
              <a:t>支持</a:t>
            </a:r>
            <a:r>
              <a:rPr lang="zh-CN" altLang="en-US" sz="1600" dirty="0">
                <a:solidFill>
                  <a:schemeClr val="tx1"/>
                </a:solidFill>
                <a:latin typeface="微软雅黑" panose="020B0503020204020204" pitchFamily="34" charset="-122"/>
                <a:ea typeface="微软雅黑" panose="020B0503020204020204" pitchFamily="34" charset="-122"/>
              </a:rPr>
              <a:t>大规模</a:t>
            </a:r>
            <a:r>
              <a:rPr lang="zh-CN" altLang="en-US" sz="1600" dirty="0" smtClean="0">
                <a:solidFill>
                  <a:schemeClr val="tx1"/>
                </a:solidFill>
                <a:latin typeface="微软雅黑" panose="020B0503020204020204" pitchFamily="34" charset="-122"/>
                <a:ea typeface="微软雅黑" panose="020B0503020204020204" pitchFamily="34" charset="-122"/>
              </a:rPr>
              <a:t>并发处理</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Wingdings" panose="05000000000000000000" pitchFamily="2" charset="2"/>
              <a:buChar char="l"/>
            </a:pPr>
            <a:r>
              <a:rPr lang="zh-CN" altLang="en-US" sz="1600" dirty="0" smtClean="0">
                <a:solidFill>
                  <a:schemeClr val="tx1"/>
                </a:solidFill>
                <a:latin typeface="微软雅黑" panose="020B0503020204020204" pitchFamily="34" charset="-122"/>
                <a:ea typeface="微软雅黑" panose="020B0503020204020204" pitchFamily="34" charset="-122"/>
              </a:rPr>
              <a:t>简化系统开发</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Wingdings" panose="05000000000000000000" pitchFamily="2" charset="2"/>
              <a:buChar char="l"/>
            </a:pPr>
            <a:r>
              <a:rPr lang="zh-CN" altLang="en-US" sz="1600" dirty="0" smtClean="0">
                <a:solidFill>
                  <a:schemeClr val="tx1"/>
                </a:solidFill>
                <a:latin typeface="微软雅黑" panose="020B0503020204020204" pitchFamily="34" charset="-122"/>
                <a:ea typeface="微软雅黑" panose="020B0503020204020204" pitchFamily="34" charset="-122"/>
              </a:rPr>
              <a:t>支持</a:t>
            </a:r>
            <a:r>
              <a:rPr lang="zh-CN" altLang="en-US" sz="1600" dirty="0">
                <a:solidFill>
                  <a:schemeClr val="tx1"/>
                </a:solidFill>
                <a:latin typeface="微软雅黑" panose="020B0503020204020204" pitchFamily="34" charset="-122"/>
                <a:ea typeface="微软雅黑" panose="020B0503020204020204" pitchFamily="34" charset="-122"/>
              </a:rPr>
              <a:t>处理</a:t>
            </a:r>
            <a:r>
              <a:rPr lang="zh-CN" altLang="en-US" sz="1600" dirty="0" smtClean="0">
                <a:solidFill>
                  <a:schemeClr val="tx1"/>
                </a:solidFill>
                <a:latin typeface="微软雅黑" panose="020B0503020204020204" pitchFamily="34" charset="-122"/>
                <a:ea typeface="微软雅黑" panose="020B0503020204020204" pitchFamily="34" charset="-122"/>
              </a:rPr>
              <a:t>监测</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Wingdings" panose="05000000000000000000" pitchFamily="2" charset="2"/>
              <a:buChar char="l"/>
            </a:pPr>
            <a:r>
              <a:rPr lang="zh-CN" altLang="en-US" sz="1600" dirty="0" smtClean="0">
                <a:solidFill>
                  <a:schemeClr val="tx1"/>
                </a:solidFill>
                <a:latin typeface="微软雅黑" panose="020B0503020204020204" pitchFamily="34" charset="-122"/>
                <a:ea typeface="微软雅黑" panose="020B0503020204020204" pitchFamily="34" charset="-122"/>
              </a:rPr>
              <a:t>支持</a:t>
            </a:r>
            <a:r>
              <a:rPr lang="zh-CN" altLang="en-US" sz="1600" dirty="0">
                <a:solidFill>
                  <a:schemeClr val="tx1"/>
                </a:solidFill>
                <a:latin typeface="微软雅黑" panose="020B0503020204020204" pitchFamily="34" charset="-122"/>
                <a:ea typeface="微软雅黑" panose="020B0503020204020204" pitchFamily="34" charset="-122"/>
              </a:rPr>
              <a:t>系统</a:t>
            </a:r>
            <a:r>
              <a:rPr lang="zh-CN" altLang="en-US" sz="1600" dirty="0" smtClean="0">
                <a:solidFill>
                  <a:schemeClr val="tx1"/>
                </a:solidFill>
                <a:latin typeface="微软雅黑" panose="020B0503020204020204" pitchFamily="34" charset="-122"/>
                <a:ea typeface="微软雅黑" panose="020B0503020204020204" pitchFamily="34" charset="-122"/>
              </a:rPr>
              <a:t>资源管理</a:t>
            </a:r>
            <a:endParaRPr lang="en-US" altLang="zh-CN" sz="16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阶段式</a:t>
            </a:r>
            <a:r>
              <a:rPr lang="zh-CN" altLang="en-US" dirty="0">
                <a:solidFill>
                  <a:schemeClr val="bg1"/>
                </a:solidFill>
                <a:latin typeface="微软雅黑" panose="020B0503020204020204" pitchFamily="34" charset="-122"/>
                <a:ea typeface="微软雅黑" panose="020B0503020204020204" pitchFamily="34" charset="-122"/>
                <a:sym typeface="+mn-ea"/>
              </a:rPr>
              <a:t>事件</a:t>
            </a:r>
            <a:r>
              <a:rPr lang="zh-CN" altLang="en-US" dirty="0" smtClean="0">
                <a:solidFill>
                  <a:schemeClr val="bg1"/>
                </a:solidFill>
                <a:latin typeface="微软雅黑" panose="020B0503020204020204" pitchFamily="34" charset="-122"/>
                <a:ea typeface="微软雅黑" panose="020B0503020204020204" pitchFamily="34" charset="-122"/>
                <a:sym typeface="+mn-ea"/>
              </a:rPr>
              <a:t>驱动架构</a:t>
            </a:r>
            <a:endParaRPr lang="zh-CN" altLang="en-US" dirty="0"/>
          </a:p>
        </p:txBody>
      </p:sp>
      <p:grpSp>
        <p:nvGrpSpPr>
          <p:cNvPr id="5" name="Group284"/>
          <p:cNvGrpSpPr/>
          <p:nvPr/>
        </p:nvGrpSpPr>
        <p:grpSpPr>
          <a:xfrm>
            <a:off x="652523" y="1692400"/>
            <a:ext cx="7841484" cy="3484600"/>
            <a:chOff x="652523" y="1692400"/>
            <a:chExt cx="7841484" cy="2629600"/>
          </a:xfrm>
        </p:grpSpPr>
        <p:grpSp>
          <p:nvGrpSpPr>
            <p:cNvPr id="6" name="组合 5"/>
            <p:cNvGrpSpPr/>
            <p:nvPr/>
          </p:nvGrpSpPr>
          <p:grpSpPr>
            <a:xfrm>
              <a:off x="5721725" y="2885600"/>
              <a:ext cx="1272141" cy="555150"/>
              <a:chOff x="5721725" y="2885600"/>
              <a:chExt cx="1272141" cy="555150"/>
            </a:xfrm>
          </p:grpSpPr>
          <p:grpSp>
            <p:nvGrpSpPr>
              <p:cNvPr id="113" name="组合 112"/>
              <p:cNvGrpSpPr/>
              <p:nvPr/>
            </p:nvGrpSpPr>
            <p:grpSpPr>
              <a:xfrm>
                <a:off x="6002533" y="2885600"/>
                <a:ext cx="991336" cy="555150"/>
                <a:chOff x="6002533" y="2885600"/>
                <a:chExt cx="991336" cy="555150"/>
              </a:xfrm>
            </p:grpSpPr>
            <p:sp>
              <p:nvSpPr>
                <p:cNvPr id="119" name="选择点"/>
                <p:cNvSpPr/>
                <p:nvPr/>
              </p:nvSpPr>
              <p:spPr>
                <a:xfrm>
                  <a:off x="6159398" y="297790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nvGrpSpPr>
                <p:cNvPr id="120" name="组合 119"/>
                <p:cNvGrpSpPr/>
                <p:nvPr/>
              </p:nvGrpSpPr>
              <p:grpSpPr>
                <a:xfrm>
                  <a:off x="6002533" y="2885600"/>
                  <a:ext cx="991336" cy="555150"/>
                  <a:chOff x="6002533" y="2885600"/>
                  <a:chExt cx="991336" cy="555150"/>
                </a:xfrm>
              </p:grpSpPr>
              <p:sp>
                <p:nvSpPr>
                  <p:cNvPr id="121" name="参与者引用"/>
                  <p:cNvSpPr/>
                  <p:nvPr/>
                </p:nvSpPr>
                <p:spPr>
                  <a:xfrm>
                    <a:off x="6002533" y="2885600"/>
                    <a:ext cx="991336" cy="555150"/>
                  </a:xfrm>
                  <a:custGeom>
                    <a:avLst/>
                    <a:gdLst>
                      <a:gd name="connsiteX0" fmla="*/ 495669 w 991336"/>
                      <a:gd name="connsiteY0" fmla="*/ 555150 h 555150"/>
                      <a:gd name="connsiteX1" fmla="*/ 495669 w 991336"/>
                      <a:gd name="connsiteY1" fmla="*/ 0 h 555150"/>
                      <a:gd name="connsiteX2" fmla="*/ 991336 w 991336"/>
                      <a:gd name="connsiteY2" fmla="*/ 277575 h 555150"/>
                      <a:gd name="connsiteX3" fmla="*/ 0 w 991336"/>
                      <a:gd name="connsiteY3" fmla="*/ 277575 h 555150"/>
                      <a:gd name="connsiteX4" fmla="*/ 495669 w 991336"/>
                      <a:gd name="connsiteY4" fmla="*/ 277575 h 55515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991336" h="555150">
                        <a:moveTo>
                          <a:pt x="991336" y="555150"/>
                        </a:moveTo>
                        <a:lnTo>
                          <a:pt x="991336" y="0"/>
                        </a:lnTo>
                        <a:lnTo>
                          <a:pt x="0" y="0"/>
                        </a:lnTo>
                        <a:lnTo>
                          <a:pt x="0" y="555150"/>
                        </a:lnTo>
                        <a:lnTo>
                          <a:pt x="991336" y="555150"/>
                        </a:lnTo>
                        <a:close/>
                      </a:path>
                    </a:pathLst>
                  </a:custGeom>
                  <a:solidFill>
                    <a:srgbClr val="FFFFFF"/>
                  </a:solidFill>
                  <a:ln w="7600" cap="flat">
                    <a:solidFill>
                      <a:srgbClr val="000000"/>
                    </a:solidFill>
                    <a:bevel/>
                  </a:ln>
                </p:spPr>
              </p:sp>
              <p:sp>
                <p:nvSpPr>
                  <p:cNvPr id="122" name="选择点"/>
                  <p:cNvSpPr/>
                  <p:nvPr/>
                </p:nvSpPr>
                <p:spPr>
                  <a:xfrm>
                    <a:off x="6159398" y="297790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check</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cache</a:t>
                    </a:r>
                    <a:endParaRPr sz="1100" b="1">
                      <a:solidFill>
                        <a:srgbClr val="404557"/>
                      </a:solidFill>
                      <a:latin typeface="微软雅黑" panose="020B0503020204020204" pitchFamily="34" charset="-122"/>
                      <a:ea typeface="微软雅黑" panose="020B0503020204020204" pitchFamily="34" charset="-122"/>
                    </a:endParaRPr>
                  </a:p>
                </p:txBody>
              </p:sp>
            </p:grpSp>
          </p:grpSp>
          <p:grpSp>
            <p:nvGrpSpPr>
              <p:cNvPr id="114" name="组合 113"/>
              <p:cNvGrpSpPr/>
              <p:nvPr/>
            </p:nvGrpSpPr>
            <p:grpSpPr>
              <a:xfrm>
                <a:off x="5721725" y="3042914"/>
                <a:ext cx="377034" cy="240522"/>
                <a:chOff x="5721725" y="3042914"/>
                <a:chExt cx="377034" cy="240522"/>
              </a:xfrm>
            </p:grpSpPr>
            <p:sp>
              <p:nvSpPr>
                <p:cNvPr id="115" name="数据存储"/>
                <p:cNvSpPr/>
                <p:nvPr/>
              </p:nvSpPr>
              <p:spPr>
                <a:xfrm>
                  <a:off x="5721725" y="3042914"/>
                  <a:ext cx="370533" cy="240522"/>
                </a:xfrm>
                <a:custGeom>
                  <a:avLst/>
                  <a:gdLst>
                    <a:gd name="connsiteX0" fmla="*/ 185267 w 370533"/>
                    <a:gd name="connsiteY0" fmla="*/ 240522 h 240522"/>
                    <a:gd name="connsiteX1" fmla="*/ 185267 w 370533"/>
                    <a:gd name="connsiteY1" fmla="*/ 0 h 240522"/>
                    <a:gd name="connsiteX2" fmla="*/ 74107 w 370533"/>
                    <a:gd name="connsiteY2" fmla="*/ 0 h 240522"/>
                    <a:gd name="connsiteX3" fmla="*/ 296427 w 370533"/>
                    <a:gd name="connsiteY3" fmla="*/ 240522 h 240522"/>
                    <a:gd name="connsiteX4" fmla="*/ 185267 w 370533"/>
                    <a:gd name="connsiteY4" fmla="*/ 120261 h 240522"/>
                    <a:gd name="connsiteX5" fmla="*/ 74107 w 370533"/>
                    <a:gd name="connsiteY5" fmla="*/ 240522 h 240522"/>
                    <a:gd name="connsiteX6" fmla="*/ 296427 w 370533"/>
                    <a:gd name="connsiteY6" fmla="*/ 0 h 24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70533" h="240522" fill="none">
                      <a:moveTo>
                        <a:pt x="370533" y="0"/>
                      </a:moveTo>
                      <a:lnTo>
                        <a:pt x="0" y="0"/>
                      </a:lnTo>
                      <a:moveTo>
                        <a:pt x="0" y="240522"/>
                      </a:moveTo>
                      <a:lnTo>
                        <a:pt x="370533" y="240522"/>
                      </a:lnTo>
                    </a:path>
                  </a:pathLst>
                </a:custGeom>
                <a:solidFill>
                  <a:srgbClr val="3498DB"/>
                </a:solidFill>
                <a:ln w="10133" cap="flat">
                  <a:solidFill>
                    <a:srgbClr val="000000"/>
                  </a:solidFill>
                  <a:bevel/>
                </a:ln>
              </p:spPr>
            </p:sp>
            <p:sp>
              <p:nvSpPr>
                <p:cNvPr id="116" name="外部交互方"/>
                <p:cNvSpPr/>
                <p:nvPr/>
              </p:nvSpPr>
              <p:spPr>
                <a:xfrm>
                  <a:off x="5841986" y="307298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cxnSp>
              <p:nvCxnSpPr>
                <p:cNvPr id="117" name="Line"/>
                <p:cNvCxnSpPr/>
                <p:nvPr/>
              </p:nvCxnSpPr>
              <p:spPr>
                <a:xfrm rot="5400000">
                  <a:off x="5971998" y="3163175"/>
                  <a:ext cx="240522" cy="0"/>
                </a:xfrm>
                <a:prstGeom prst="line">
                  <a:avLst/>
                </a:prstGeom>
                <a:ln w="7600" cap="flat">
                  <a:solidFill>
                    <a:srgbClr val="000000"/>
                  </a:solidFill>
                  <a:bevel/>
                </a:ln>
              </p:spPr>
            </p:cxnSp>
            <p:sp>
              <p:nvSpPr>
                <p:cNvPr id="118" name="外部交互方"/>
                <p:cNvSpPr/>
                <p:nvPr/>
              </p:nvSpPr>
              <p:spPr>
                <a:xfrm>
                  <a:off x="5962247" y="307298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grpSp>
        </p:grpSp>
        <p:grpSp>
          <p:nvGrpSpPr>
            <p:cNvPr id="7" name="组合 6"/>
            <p:cNvGrpSpPr/>
            <p:nvPr/>
          </p:nvGrpSpPr>
          <p:grpSpPr>
            <a:xfrm>
              <a:off x="2301727" y="2862800"/>
              <a:ext cx="1374407" cy="601920"/>
              <a:chOff x="2301727" y="2862800"/>
              <a:chExt cx="1374407" cy="601920"/>
            </a:xfrm>
          </p:grpSpPr>
          <p:sp>
            <p:nvSpPr>
              <p:cNvPr id="106" name="参与者引用"/>
              <p:cNvSpPr/>
              <p:nvPr/>
            </p:nvSpPr>
            <p:spPr>
              <a:xfrm>
                <a:off x="2601278" y="2862800"/>
                <a:ext cx="1074860" cy="601920"/>
              </a:xfrm>
              <a:custGeom>
                <a:avLst/>
                <a:gdLst>
                  <a:gd name="connsiteX0" fmla="*/ 537429 w 1074860"/>
                  <a:gd name="connsiteY0" fmla="*/ 601920 h 601920"/>
                  <a:gd name="connsiteX1" fmla="*/ 537429 w 1074860"/>
                  <a:gd name="connsiteY1" fmla="*/ 0 h 601920"/>
                  <a:gd name="connsiteX2" fmla="*/ 1074860 w 1074860"/>
                  <a:gd name="connsiteY2" fmla="*/ 300960 h 601920"/>
                  <a:gd name="connsiteX3" fmla="*/ 0 w 1074860"/>
                  <a:gd name="connsiteY3" fmla="*/ 300960 h 601920"/>
                  <a:gd name="connsiteX4" fmla="*/ 537429 w 1074860"/>
                  <a:gd name="connsiteY4" fmla="*/ 300960 h 60192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1074860" h="601920">
                    <a:moveTo>
                      <a:pt x="1074860" y="601920"/>
                    </a:moveTo>
                    <a:lnTo>
                      <a:pt x="1074860" y="0"/>
                    </a:lnTo>
                    <a:lnTo>
                      <a:pt x="0" y="0"/>
                    </a:lnTo>
                    <a:lnTo>
                      <a:pt x="0" y="601920"/>
                    </a:lnTo>
                    <a:lnTo>
                      <a:pt x="1074860" y="601920"/>
                    </a:lnTo>
                    <a:close/>
                  </a:path>
                </a:pathLst>
              </a:custGeom>
              <a:solidFill>
                <a:srgbClr val="FFFFFF"/>
              </a:solidFill>
              <a:ln w="7600" cap="flat">
                <a:solidFill>
                  <a:srgbClr val="000000"/>
                </a:solidFill>
                <a:bevel/>
              </a:ln>
            </p:spPr>
          </p:sp>
          <p:grpSp>
            <p:nvGrpSpPr>
              <p:cNvPr id="107" name="组合 106"/>
              <p:cNvGrpSpPr/>
              <p:nvPr/>
            </p:nvGrpSpPr>
            <p:grpSpPr>
              <a:xfrm>
                <a:off x="2301727" y="3039873"/>
                <a:ext cx="408798" cy="260785"/>
                <a:chOff x="2301727" y="3039873"/>
                <a:chExt cx="408798" cy="260785"/>
              </a:xfrm>
            </p:grpSpPr>
            <p:sp>
              <p:nvSpPr>
                <p:cNvPr id="109" name="数据存储"/>
                <p:cNvSpPr/>
                <p:nvPr/>
              </p:nvSpPr>
              <p:spPr>
                <a:xfrm>
                  <a:off x="2301727" y="3039873"/>
                  <a:ext cx="401750" cy="260785"/>
                </a:xfrm>
                <a:custGeom>
                  <a:avLst/>
                  <a:gdLst>
                    <a:gd name="connsiteX0" fmla="*/ 200875 w 401750"/>
                    <a:gd name="connsiteY0" fmla="*/ 260785 h 260785"/>
                    <a:gd name="connsiteX1" fmla="*/ 200875 w 401750"/>
                    <a:gd name="connsiteY1" fmla="*/ 0 h 260785"/>
                    <a:gd name="connsiteX2" fmla="*/ 80350 w 401750"/>
                    <a:gd name="connsiteY2" fmla="*/ 0 h 260785"/>
                    <a:gd name="connsiteX3" fmla="*/ 321400 w 401750"/>
                    <a:gd name="connsiteY3" fmla="*/ 260785 h 260785"/>
                    <a:gd name="connsiteX4" fmla="*/ 200875 w 401750"/>
                    <a:gd name="connsiteY4" fmla="*/ 130392 h 260785"/>
                    <a:gd name="connsiteX5" fmla="*/ 80350 w 401750"/>
                    <a:gd name="connsiteY5" fmla="*/ 260785 h 260785"/>
                    <a:gd name="connsiteX6" fmla="*/ 321400 w 401750"/>
                    <a:gd name="connsiteY6" fmla="*/ 0 h 260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401750" h="260785" fill="none">
                      <a:moveTo>
                        <a:pt x="401750" y="0"/>
                      </a:moveTo>
                      <a:lnTo>
                        <a:pt x="0" y="0"/>
                      </a:lnTo>
                      <a:moveTo>
                        <a:pt x="0" y="260785"/>
                      </a:moveTo>
                      <a:lnTo>
                        <a:pt x="401750" y="260785"/>
                      </a:lnTo>
                    </a:path>
                  </a:pathLst>
                </a:custGeom>
                <a:solidFill>
                  <a:srgbClr val="3498DB"/>
                </a:solidFill>
                <a:ln w="10133" cap="flat">
                  <a:solidFill>
                    <a:srgbClr val="000000"/>
                  </a:solidFill>
                  <a:bevel/>
                </a:ln>
              </p:spPr>
            </p:sp>
            <p:sp>
              <p:nvSpPr>
                <p:cNvPr id="110" name="外部交互方"/>
                <p:cNvSpPr/>
                <p:nvPr/>
              </p:nvSpPr>
              <p:spPr>
                <a:xfrm>
                  <a:off x="2432119" y="3072472"/>
                  <a:ext cx="77531" cy="201022"/>
                </a:xfrm>
                <a:custGeom>
                  <a:avLst/>
                  <a:gdLst>
                    <a:gd name="connsiteX0" fmla="*/ 38765 w 77531"/>
                    <a:gd name="connsiteY0" fmla="*/ 201022 h 201022"/>
                    <a:gd name="connsiteX1" fmla="*/ 38765 w 77531"/>
                    <a:gd name="connsiteY1" fmla="*/ 0 h 201022"/>
                    <a:gd name="connsiteX2" fmla="*/ 77531 w 77531"/>
                    <a:gd name="connsiteY2" fmla="*/ 100511 h 201022"/>
                    <a:gd name="connsiteX3" fmla="*/ 0 w 77531"/>
                    <a:gd name="connsiteY3" fmla="*/ 100511 h 201022"/>
                    <a:gd name="connsiteX4" fmla="*/ 38765 w 77531"/>
                    <a:gd name="connsiteY4" fmla="*/ 100511 h 201022"/>
                    <a:gd name="connsiteX5" fmla="*/ 0 w 77531"/>
                    <a:gd name="connsiteY5" fmla="*/ 50255 h 201022"/>
                    <a:gd name="connsiteX6" fmla="*/ 0 w 77531"/>
                    <a:gd name="connsiteY6" fmla="*/ 150767 h 201022"/>
                    <a:gd name="connsiteX7" fmla="*/ 77531 w 77531"/>
                    <a:gd name="connsiteY7" fmla="*/ 50255 h 201022"/>
                    <a:gd name="connsiteX8" fmla="*/ 77531 w 77531"/>
                    <a:gd name="connsiteY8" fmla="*/ 150767 h 201022"/>
                    <a:gd name="connsiteX9" fmla="*/ 19383 w 77531"/>
                    <a:gd name="connsiteY9" fmla="*/ 0 h 201022"/>
                    <a:gd name="connsiteX10" fmla="*/ 58148 w 77531"/>
                    <a:gd name="connsiteY10" fmla="*/ 0 h 201022"/>
                    <a:gd name="connsiteX11" fmla="*/ 19383 w 77531"/>
                    <a:gd name="connsiteY11" fmla="*/ 201022 h 201022"/>
                    <a:gd name="connsiteX12" fmla="*/ 58148 w 77531"/>
                    <a:gd name="connsiteY12" fmla="*/ 201022 h 20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7531" h="201022">
                      <a:moveTo>
                        <a:pt x="77531" y="201022"/>
                      </a:moveTo>
                      <a:lnTo>
                        <a:pt x="77531" y="0"/>
                      </a:lnTo>
                      <a:lnTo>
                        <a:pt x="0" y="0"/>
                      </a:lnTo>
                      <a:lnTo>
                        <a:pt x="0" y="201022"/>
                      </a:lnTo>
                      <a:lnTo>
                        <a:pt x="77531" y="201022"/>
                      </a:lnTo>
                      <a:close/>
                    </a:path>
                  </a:pathLst>
                </a:custGeom>
                <a:solidFill>
                  <a:srgbClr val="3498DB"/>
                </a:solidFill>
                <a:ln w="7600" cap="flat">
                  <a:solidFill>
                    <a:srgbClr val="3498DB"/>
                  </a:solidFill>
                  <a:bevel/>
                </a:ln>
              </p:spPr>
            </p:sp>
            <p:cxnSp>
              <p:nvCxnSpPr>
                <p:cNvPr id="111" name="Line"/>
                <p:cNvCxnSpPr/>
                <p:nvPr/>
              </p:nvCxnSpPr>
              <p:spPr>
                <a:xfrm rot="5400000">
                  <a:off x="2573084" y="3170266"/>
                  <a:ext cx="260785" cy="0"/>
                </a:xfrm>
                <a:prstGeom prst="line">
                  <a:avLst/>
                </a:prstGeom>
                <a:ln w="7600" cap="flat">
                  <a:solidFill>
                    <a:srgbClr val="000000"/>
                  </a:solidFill>
                  <a:bevel/>
                </a:ln>
              </p:spPr>
            </p:cxnSp>
            <p:sp>
              <p:nvSpPr>
                <p:cNvPr id="112" name="外部交互方"/>
                <p:cNvSpPr/>
                <p:nvPr/>
              </p:nvSpPr>
              <p:spPr>
                <a:xfrm>
                  <a:off x="2562511" y="3072472"/>
                  <a:ext cx="77531" cy="201022"/>
                </a:xfrm>
                <a:custGeom>
                  <a:avLst/>
                  <a:gdLst>
                    <a:gd name="connsiteX0" fmla="*/ 38765 w 77531"/>
                    <a:gd name="connsiteY0" fmla="*/ 201022 h 201022"/>
                    <a:gd name="connsiteX1" fmla="*/ 38765 w 77531"/>
                    <a:gd name="connsiteY1" fmla="*/ 0 h 201022"/>
                    <a:gd name="connsiteX2" fmla="*/ 77531 w 77531"/>
                    <a:gd name="connsiteY2" fmla="*/ 100511 h 201022"/>
                    <a:gd name="connsiteX3" fmla="*/ 0 w 77531"/>
                    <a:gd name="connsiteY3" fmla="*/ 100511 h 201022"/>
                    <a:gd name="connsiteX4" fmla="*/ 38765 w 77531"/>
                    <a:gd name="connsiteY4" fmla="*/ 100511 h 201022"/>
                    <a:gd name="connsiteX5" fmla="*/ 0 w 77531"/>
                    <a:gd name="connsiteY5" fmla="*/ 50255 h 201022"/>
                    <a:gd name="connsiteX6" fmla="*/ 0 w 77531"/>
                    <a:gd name="connsiteY6" fmla="*/ 150767 h 201022"/>
                    <a:gd name="connsiteX7" fmla="*/ 77531 w 77531"/>
                    <a:gd name="connsiteY7" fmla="*/ 50255 h 201022"/>
                    <a:gd name="connsiteX8" fmla="*/ 77531 w 77531"/>
                    <a:gd name="connsiteY8" fmla="*/ 150767 h 201022"/>
                    <a:gd name="connsiteX9" fmla="*/ 19383 w 77531"/>
                    <a:gd name="connsiteY9" fmla="*/ 0 h 201022"/>
                    <a:gd name="connsiteX10" fmla="*/ 58148 w 77531"/>
                    <a:gd name="connsiteY10" fmla="*/ 0 h 201022"/>
                    <a:gd name="connsiteX11" fmla="*/ 19383 w 77531"/>
                    <a:gd name="connsiteY11" fmla="*/ 201022 h 201022"/>
                    <a:gd name="connsiteX12" fmla="*/ 58148 w 77531"/>
                    <a:gd name="connsiteY12" fmla="*/ 201022 h 20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7531" h="201022">
                      <a:moveTo>
                        <a:pt x="77531" y="201022"/>
                      </a:moveTo>
                      <a:lnTo>
                        <a:pt x="77531" y="0"/>
                      </a:lnTo>
                      <a:lnTo>
                        <a:pt x="0" y="0"/>
                      </a:lnTo>
                      <a:lnTo>
                        <a:pt x="0" y="201022"/>
                      </a:lnTo>
                      <a:lnTo>
                        <a:pt x="77531" y="201022"/>
                      </a:lnTo>
                      <a:close/>
                    </a:path>
                  </a:pathLst>
                </a:custGeom>
                <a:solidFill>
                  <a:srgbClr val="3498DB"/>
                </a:solidFill>
                <a:ln w="7600" cap="flat">
                  <a:solidFill>
                    <a:srgbClr val="3498DB"/>
                  </a:solidFill>
                  <a:bevel/>
                </a:ln>
              </p:spPr>
            </p:sp>
          </p:grpSp>
          <p:sp>
            <p:nvSpPr>
              <p:cNvPr id="108" name="选择点"/>
              <p:cNvSpPr/>
              <p:nvPr/>
            </p:nvSpPr>
            <p:spPr>
              <a:xfrm>
                <a:off x="2771357" y="2962885"/>
                <a:ext cx="810548" cy="401750"/>
              </a:xfrm>
              <a:custGeom>
                <a:avLst/>
                <a:gdLst>
                  <a:gd name="connsiteX0" fmla="*/ 0 w 810548"/>
                  <a:gd name="connsiteY0" fmla="*/ 200875 h 401750"/>
                  <a:gd name="connsiteX1" fmla="*/ 405274 w 810548"/>
                  <a:gd name="connsiteY1" fmla="*/ 0 h 401750"/>
                  <a:gd name="connsiteX2" fmla="*/ 810548 w 810548"/>
                  <a:gd name="connsiteY2" fmla="*/ 200875 h 401750"/>
                  <a:gd name="connsiteX3" fmla="*/ 405274 w 810548"/>
                  <a:gd name="connsiteY3" fmla="*/ 401750 h 401750"/>
                </a:gdLst>
                <a:ahLst/>
                <a:cxnLst>
                  <a:cxn ang="0">
                    <a:pos x="connsiteX0" y="connsiteY0"/>
                  </a:cxn>
                  <a:cxn ang="0">
                    <a:pos x="connsiteX1" y="connsiteY1"/>
                  </a:cxn>
                  <a:cxn ang="0">
                    <a:pos x="connsiteX2" y="connsiteY2"/>
                  </a:cxn>
                  <a:cxn ang="0">
                    <a:pos x="connsiteX3" y="connsiteY3"/>
                  </a:cxn>
                </a:cxnLst>
                <a:rect l="l" t="t" r="r" b="b"/>
                <a:pathLst>
                  <a:path w="810548" h="401750">
                    <a:moveTo>
                      <a:pt x="0" y="200875"/>
                    </a:moveTo>
                    <a:cubicBezTo>
                      <a:pt x="0" y="89935"/>
                      <a:pt x="181448" y="0"/>
                      <a:pt x="405274" y="0"/>
                    </a:cubicBezTo>
                    <a:cubicBezTo>
                      <a:pt x="629101" y="0"/>
                      <a:pt x="810548" y="89935"/>
                      <a:pt x="810548" y="200875"/>
                    </a:cubicBezTo>
                    <a:cubicBezTo>
                      <a:pt x="810548" y="311815"/>
                      <a:pt x="629101" y="401750"/>
                      <a:pt x="405274" y="401750"/>
                    </a:cubicBezTo>
                    <a:cubicBezTo>
                      <a:pt x="181448" y="401750"/>
                      <a:pt x="0" y="311815"/>
                      <a:pt x="0" y="200875"/>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parse</a:t>
                </a:r>
                <a:endParaRPr sz="1100" b="1" dirty="0">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packet</a:t>
                </a:r>
                <a:endParaRPr sz="1100" b="1" dirty="0">
                  <a:solidFill>
                    <a:srgbClr val="404557"/>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019323" y="2862800"/>
              <a:ext cx="1350094" cy="594320"/>
              <a:chOff x="4019323" y="2862800"/>
              <a:chExt cx="1350094" cy="594320"/>
            </a:xfrm>
          </p:grpSpPr>
          <p:sp>
            <p:nvSpPr>
              <p:cNvPr id="99" name="参与者引用"/>
              <p:cNvSpPr/>
              <p:nvPr/>
            </p:nvSpPr>
            <p:spPr>
              <a:xfrm>
                <a:off x="4308135" y="2862800"/>
                <a:ext cx="1061287" cy="594320"/>
              </a:xfrm>
              <a:custGeom>
                <a:avLst/>
                <a:gdLst>
                  <a:gd name="connsiteX0" fmla="*/ 530643 w 1061287"/>
                  <a:gd name="connsiteY0" fmla="*/ 594320 h 594320"/>
                  <a:gd name="connsiteX1" fmla="*/ 530643 w 1061287"/>
                  <a:gd name="connsiteY1" fmla="*/ 0 h 594320"/>
                  <a:gd name="connsiteX2" fmla="*/ 1061287 w 1061287"/>
                  <a:gd name="connsiteY2" fmla="*/ 297160 h 594320"/>
                  <a:gd name="connsiteX3" fmla="*/ 0 w 1061287"/>
                  <a:gd name="connsiteY3" fmla="*/ 297160 h 594320"/>
                  <a:gd name="connsiteX4" fmla="*/ 530643 w 1061287"/>
                  <a:gd name="connsiteY4" fmla="*/ 297160 h 59432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1061287" h="594320">
                    <a:moveTo>
                      <a:pt x="1061287" y="594320"/>
                    </a:moveTo>
                    <a:lnTo>
                      <a:pt x="1061287" y="0"/>
                    </a:lnTo>
                    <a:lnTo>
                      <a:pt x="0" y="0"/>
                    </a:lnTo>
                    <a:lnTo>
                      <a:pt x="0" y="594320"/>
                    </a:lnTo>
                    <a:lnTo>
                      <a:pt x="1061287" y="594320"/>
                    </a:lnTo>
                    <a:close/>
                  </a:path>
                </a:pathLst>
              </a:custGeom>
              <a:solidFill>
                <a:srgbClr val="FFFFFF"/>
              </a:solidFill>
              <a:ln w="7600" cap="flat">
                <a:solidFill>
                  <a:srgbClr val="000000"/>
                </a:solidFill>
                <a:bevel/>
              </a:ln>
            </p:spPr>
          </p:sp>
          <p:grpSp>
            <p:nvGrpSpPr>
              <p:cNvPr id="100" name="组合 99"/>
              <p:cNvGrpSpPr/>
              <p:nvPr/>
            </p:nvGrpSpPr>
            <p:grpSpPr>
              <a:xfrm>
                <a:off x="4019323" y="3031214"/>
                <a:ext cx="403637" cy="257493"/>
                <a:chOff x="4019323" y="3031214"/>
                <a:chExt cx="403637" cy="257493"/>
              </a:xfrm>
            </p:grpSpPr>
            <p:sp>
              <p:nvSpPr>
                <p:cNvPr id="102" name="数据存储"/>
                <p:cNvSpPr/>
                <p:nvPr/>
              </p:nvSpPr>
              <p:spPr>
                <a:xfrm>
                  <a:off x="4019323" y="3031214"/>
                  <a:ext cx="396677" cy="257493"/>
                </a:xfrm>
                <a:custGeom>
                  <a:avLst/>
                  <a:gdLst>
                    <a:gd name="connsiteX0" fmla="*/ 198339 w 396677"/>
                    <a:gd name="connsiteY0" fmla="*/ 257493 h 257493"/>
                    <a:gd name="connsiteX1" fmla="*/ 198339 w 396677"/>
                    <a:gd name="connsiteY1" fmla="*/ 0 h 257493"/>
                    <a:gd name="connsiteX2" fmla="*/ 79336 w 396677"/>
                    <a:gd name="connsiteY2" fmla="*/ 0 h 257493"/>
                    <a:gd name="connsiteX3" fmla="*/ 317342 w 396677"/>
                    <a:gd name="connsiteY3" fmla="*/ 257493 h 257493"/>
                    <a:gd name="connsiteX4" fmla="*/ 198339 w 396677"/>
                    <a:gd name="connsiteY4" fmla="*/ 128746 h 257493"/>
                    <a:gd name="connsiteX5" fmla="*/ 79336 w 396677"/>
                    <a:gd name="connsiteY5" fmla="*/ 257493 h 257493"/>
                    <a:gd name="connsiteX6" fmla="*/ 317342 w 396677"/>
                    <a:gd name="connsiteY6" fmla="*/ 0 h 25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96677" h="257493" fill="none">
                      <a:moveTo>
                        <a:pt x="396677" y="0"/>
                      </a:moveTo>
                      <a:lnTo>
                        <a:pt x="0" y="0"/>
                      </a:lnTo>
                      <a:moveTo>
                        <a:pt x="0" y="257493"/>
                      </a:moveTo>
                      <a:lnTo>
                        <a:pt x="396677" y="257493"/>
                      </a:lnTo>
                    </a:path>
                  </a:pathLst>
                </a:custGeom>
                <a:solidFill>
                  <a:srgbClr val="3498DB"/>
                </a:solidFill>
                <a:ln w="10133" cap="flat">
                  <a:solidFill>
                    <a:srgbClr val="000000"/>
                  </a:solidFill>
                  <a:bevel/>
                </a:ln>
              </p:spPr>
            </p:sp>
            <p:sp>
              <p:nvSpPr>
                <p:cNvPr id="103" name="外部交互方"/>
                <p:cNvSpPr/>
                <p:nvPr/>
              </p:nvSpPr>
              <p:spPr>
                <a:xfrm>
                  <a:off x="4148069" y="3063400"/>
                  <a:ext cx="76552" cy="198484"/>
                </a:xfrm>
                <a:custGeom>
                  <a:avLst/>
                  <a:gdLst>
                    <a:gd name="connsiteX0" fmla="*/ 38276 w 76552"/>
                    <a:gd name="connsiteY0" fmla="*/ 198484 h 198484"/>
                    <a:gd name="connsiteX1" fmla="*/ 38276 w 76552"/>
                    <a:gd name="connsiteY1" fmla="*/ 0 h 198484"/>
                    <a:gd name="connsiteX2" fmla="*/ 76552 w 76552"/>
                    <a:gd name="connsiteY2" fmla="*/ 99242 h 198484"/>
                    <a:gd name="connsiteX3" fmla="*/ 0 w 76552"/>
                    <a:gd name="connsiteY3" fmla="*/ 99242 h 198484"/>
                    <a:gd name="connsiteX4" fmla="*/ 38276 w 76552"/>
                    <a:gd name="connsiteY4" fmla="*/ 99242 h 198484"/>
                    <a:gd name="connsiteX5" fmla="*/ 0 w 76552"/>
                    <a:gd name="connsiteY5" fmla="*/ 49621 h 198484"/>
                    <a:gd name="connsiteX6" fmla="*/ 0 w 76552"/>
                    <a:gd name="connsiteY6" fmla="*/ 148863 h 198484"/>
                    <a:gd name="connsiteX7" fmla="*/ 76552 w 76552"/>
                    <a:gd name="connsiteY7" fmla="*/ 49621 h 198484"/>
                    <a:gd name="connsiteX8" fmla="*/ 76552 w 76552"/>
                    <a:gd name="connsiteY8" fmla="*/ 148863 h 198484"/>
                    <a:gd name="connsiteX9" fmla="*/ 19138 w 76552"/>
                    <a:gd name="connsiteY9" fmla="*/ 0 h 198484"/>
                    <a:gd name="connsiteX10" fmla="*/ 57414 w 76552"/>
                    <a:gd name="connsiteY10" fmla="*/ 0 h 198484"/>
                    <a:gd name="connsiteX11" fmla="*/ 19138 w 76552"/>
                    <a:gd name="connsiteY11" fmla="*/ 198484 h 198484"/>
                    <a:gd name="connsiteX12" fmla="*/ 57414 w 76552"/>
                    <a:gd name="connsiteY12" fmla="*/ 198484 h 19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6552" h="198484">
                      <a:moveTo>
                        <a:pt x="76552" y="198484"/>
                      </a:moveTo>
                      <a:lnTo>
                        <a:pt x="76552" y="0"/>
                      </a:lnTo>
                      <a:lnTo>
                        <a:pt x="0" y="0"/>
                      </a:lnTo>
                      <a:lnTo>
                        <a:pt x="0" y="198484"/>
                      </a:lnTo>
                      <a:lnTo>
                        <a:pt x="76552" y="198484"/>
                      </a:lnTo>
                      <a:close/>
                    </a:path>
                  </a:pathLst>
                </a:custGeom>
                <a:solidFill>
                  <a:srgbClr val="3498DB"/>
                </a:solidFill>
                <a:ln w="7600" cap="flat">
                  <a:solidFill>
                    <a:srgbClr val="3498DB"/>
                  </a:solidFill>
                  <a:bevel/>
                </a:ln>
              </p:spPr>
            </p:sp>
            <p:cxnSp>
              <p:nvCxnSpPr>
                <p:cNvPr id="104" name="Line"/>
                <p:cNvCxnSpPr/>
                <p:nvPr/>
              </p:nvCxnSpPr>
              <p:spPr>
                <a:xfrm rot="5400000">
                  <a:off x="4287254" y="3159960"/>
                  <a:ext cx="257493" cy="0"/>
                </a:xfrm>
                <a:prstGeom prst="line">
                  <a:avLst/>
                </a:prstGeom>
                <a:ln w="7600" cap="flat">
                  <a:solidFill>
                    <a:srgbClr val="000000"/>
                  </a:solidFill>
                  <a:bevel/>
                </a:ln>
              </p:spPr>
            </p:cxnSp>
            <p:sp>
              <p:nvSpPr>
                <p:cNvPr id="105" name="外部交互方"/>
                <p:cNvSpPr/>
                <p:nvPr/>
              </p:nvSpPr>
              <p:spPr>
                <a:xfrm>
                  <a:off x="4276815" y="3063400"/>
                  <a:ext cx="76552" cy="198484"/>
                </a:xfrm>
                <a:custGeom>
                  <a:avLst/>
                  <a:gdLst>
                    <a:gd name="connsiteX0" fmla="*/ 38276 w 76552"/>
                    <a:gd name="connsiteY0" fmla="*/ 198484 h 198484"/>
                    <a:gd name="connsiteX1" fmla="*/ 38276 w 76552"/>
                    <a:gd name="connsiteY1" fmla="*/ 0 h 198484"/>
                    <a:gd name="connsiteX2" fmla="*/ 76552 w 76552"/>
                    <a:gd name="connsiteY2" fmla="*/ 99242 h 198484"/>
                    <a:gd name="connsiteX3" fmla="*/ 0 w 76552"/>
                    <a:gd name="connsiteY3" fmla="*/ 99242 h 198484"/>
                    <a:gd name="connsiteX4" fmla="*/ 38276 w 76552"/>
                    <a:gd name="connsiteY4" fmla="*/ 99242 h 198484"/>
                    <a:gd name="connsiteX5" fmla="*/ 0 w 76552"/>
                    <a:gd name="connsiteY5" fmla="*/ 49621 h 198484"/>
                    <a:gd name="connsiteX6" fmla="*/ 0 w 76552"/>
                    <a:gd name="connsiteY6" fmla="*/ 148863 h 198484"/>
                    <a:gd name="connsiteX7" fmla="*/ 76552 w 76552"/>
                    <a:gd name="connsiteY7" fmla="*/ 49621 h 198484"/>
                    <a:gd name="connsiteX8" fmla="*/ 76552 w 76552"/>
                    <a:gd name="connsiteY8" fmla="*/ 148863 h 198484"/>
                    <a:gd name="connsiteX9" fmla="*/ 19138 w 76552"/>
                    <a:gd name="connsiteY9" fmla="*/ 0 h 198484"/>
                    <a:gd name="connsiteX10" fmla="*/ 57414 w 76552"/>
                    <a:gd name="connsiteY10" fmla="*/ 0 h 198484"/>
                    <a:gd name="connsiteX11" fmla="*/ 19138 w 76552"/>
                    <a:gd name="connsiteY11" fmla="*/ 198484 h 198484"/>
                    <a:gd name="connsiteX12" fmla="*/ 57414 w 76552"/>
                    <a:gd name="connsiteY12" fmla="*/ 198484 h 19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6552" h="198484">
                      <a:moveTo>
                        <a:pt x="76552" y="198484"/>
                      </a:moveTo>
                      <a:lnTo>
                        <a:pt x="76552" y="0"/>
                      </a:lnTo>
                      <a:lnTo>
                        <a:pt x="0" y="0"/>
                      </a:lnTo>
                      <a:lnTo>
                        <a:pt x="0" y="198484"/>
                      </a:lnTo>
                      <a:lnTo>
                        <a:pt x="76552" y="198484"/>
                      </a:lnTo>
                      <a:close/>
                    </a:path>
                  </a:pathLst>
                </a:custGeom>
                <a:solidFill>
                  <a:srgbClr val="3498DB"/>
                </a:solidFill>
                <a:ln w="7600" cap="flat">
                  <a:solidFill>
                    <a:srgbClr val="3498DB"/>
                  </a:solidFill>
                  <a:bevel/>
                </a:ln>
              </p:spPr>
            </p:sp>
          </p:grpSp>
          <p:sp>
            <p:nvSpPr>
              <p:cNvPr id="101" name="选择点"/>
              <p:cNvSpPr/>
              <p:nvPr/>
            </p:nvSpPr>
            <p:spPr>
              <a:xfrm>
                <a:off x="4476066" y="2961621"/>
                <a:ext cx="800310" cy="396677"/>
              </a:xfrm>
              <a:custGeom>
                <a:avLst/>
                <a:gdLst>
                  <a:gd name="connsiteX0" fmla="*/ 0 w 800310"/>
                  <a:gd name="connsiteY0" fmla="*/ 198339 h 396677"/>
                  <a:gd name="connsiteX1" fmla="*/ 400157 w 800310"/>
                  <a:gd name="connsiteY1" fmla="*/ 0 h 396677"/>
                  <a:gd name="connsiteX2" fmla="*/ 800310 w 800310"/>
                  <a:gd name="connsiteY2" fmla="*/ 198339 h 396677"/>
                  <a:gd name="connsiteX3" fmla="*/ 400157 w 800310"/>
                  <a:gd name="connsiteY3" fmla="*/ 396677 h 396677"/>
                </a:gdLst>
                <a:ahLst/>
                <a:cxnLst>
                  <a:cxn ang="0">
                    <a:pos x="connsiteX0" y="connsiteY0"/>
                  </a:cxn>
                  <a:cxn ang="0">
                    <a:pos x="connsiteX1" y="connsiteY1"/>
                  </a:cxn>
                  <a:cxn ang="0">
                    <a:pos x="connsiteX2" y="connsiteY2"/>
                  </a:cxn>
                  <a:cxn ang="0">
                    <a:pos x="connsiteX3" y="connsiteY3"/>
                  </a:cxn>
                </a:cxnLst>
                <a:rect l="l" t="t" r="r" b="b"/>
                <a:pathLst>
                  <a:path w="800310" h="396677">
                    <a:moveTo>
                      <a:pt x="0" y="198339"/>
                    </a:moveTo>
                    <a:cubicBezTo>
                      <a:pt x="0" y="88799"/>
                      <a:pt x="179156" y="0"/>
                      <a:pt x="400157" y="0"/>
                    </a:cubicBezTo>
                    <a:cubicBezTo>
                      <a:pt x="621157" y="0"/>
                      <a:pt x="800310" y="88799"/>
                      <a:pt x="800310" y="198339"/>
                    </a:cubicBezTo>
                    <a:cubicBezTo>
                      <a:pt x="800310" y="307878"/>
                      <a:pt x="621157" y="396677"/>
                      <a:pt x="400157" y="396677"/>
                    </a:cubicBezTo>
                    <a:cubicBezTo>
                      <a:pt x="179156" y="396677"/>
                      <a:pt x="0" y="307878"/>
                      <a:pt x="0" y="198339"/>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URL</a:t>
                </a:r>
                <a:endParaRPr sz="1100" b="1" dirty="0">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dispatch</a:t>
                </a:r>
                <a:endParaRPr sz="1100" b="1" dirty="0">
                  <a:solidFill>
                    <a:srgbClr val="404557"/>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5722521" y="1692400"/>
              <a:ext cx="1271343" cy="554800"/>
              <a:chOff x="5722521" y="1692400"/>
              <a:chExt cx="1271343" cy="554800"/>
            </a:xfrm>
          </p:grpSpPr>
          <p:grpSp>
            <p:nvGrpSpPr>
              <p:cNvPr id="91" name="组合 90"/>
              <p:cNvGrpSpPr/>
              <p:nvPr/>
            </p:nvGrpSpPr>
            <p:grpSpPr>
              <a:xfrm>
                <a:off x="6003146" y="1692400"/>
                <a:ext cx="990713" cy="554800"/>
                <a:chOff x="6003146" y="1692400"/>
                <a:chExt cx="990713" cy="554800"/>
              </a:xfrm>
            </p:grpSpPr>
            <p:sp>
              <p:nvSpPr>
                <p:cNvPr id="97" name="参与者引用"/>
                <p:cNvSpPr/>
                <p:nvPr/>
              </p:nvSpPr>
              <p:spPr>
                <a:xfrm>
                  <a:off x="6003146" y="1692400"/>
                  <a:ext cx="990713" cy="554800"/>
                </a:xfrm>
                <a:custGeom>
                  <a:avLst/>
                  <a:gdLst>
                    <a:gd name="connsiteX0" fmla="*/ 495357 w 990713"/>
                    <a:gd name="connsiteY0" fmla="*/ 554800 h 554800"/>
                    <a:gd name="connsiteX1" fmla="*/ 495357 w 990713"/>
                    <a:gd name="connsiteY1" fmla="*/ 0 h 554800"/>
                    <a:gd name="connsiteX2" fmla="*/ 990713 w 990713"/>
                    <a:gd name="connsiteY2" fmla="*/ 277400 h 554800"/>
                    <a:gd name="connsiteX3" fmla="*/ 0 w 990713"/>
                    <a:gd name="connsiteY3" fmla="*/ 277400 h 554800"/>
                    <a:gd name="connsiteX4" fmla="*/ 495357 w 990713"/>
                    <a:gd name="connsiteY4" fmla="*/ 277400 h 55480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990713" h="554800">
                      <a:moveTo>
                        <a:pt x="990713" y="554800"/>
                      </a:moveTo>
                      <a:lnTo>
                        <a:pt x="990713" y="0"/>
                      </a:lnTo>
                      <a:lnTo>
                        <a:pt x="0" y="0"/>
                      </a:lnTo>
                      <a:lnTo>
                        <a:pt x="0" y="554800"/>
                      </a:lnTo>
                      <a:lnTo>
                        <a:pt x="990713" y="554800"/>
                      </a:lnTo>
                      <a:close/>
                    </a:path>
                  </a:pathLst>
                </a:custGeom>
                <a:solidFill>
                  <a:srgbClr val="FFFFFF"/>
                </a:solidFill>
                <a:ln w="7600" cap="flat">
                  <a:solidFill>
                    <a:srgbClr val="000000"/>
                  </a:solidFill>
                  <a:bevel/>
                </a:ln>
              </p:spPr>
            </p:sp>
            <p:sp>
              <p:nvSpPr>
                <p:cNvPr id="98" name="选择点"/>
                <p:cNvSpPr/>
                <p:nvPr/>
              </p:nvSpPr>
              <p:spPr>
                <a:xfrm>
                  <a:off x="6159913" y="1784650"/>
                  <a:ext cx="747096" cy="370299"/>
                </a:xfrm>
                <a:custGeom>
                  <a:avLst/>
                  <a:gdLst>
                    <a:gd name="connsiteX0" fmla="*/ 0 w 747096"/>
                    <a:gd name="connsiteY0" fmla="*/ 185150 h 370299"/>
                    <a:gd name="connsiteX1" fmla="*/ 373548 w 747096"/>
                    <a:gd name="connsiteY1" fmla="*/ 0 h 370299"/>
                    <a:gd name="connsiteX2" fmla="*/ 747096 w 747096"/>
                    <a:gd name="connsiteY2" fmla="*/ 185150 h 370299"/>
                    <a:gd name="connsiteX3" fmla="*/ 373548 w 747096"/>
                    <a:gd name="connsiteY3" fmla="*/ 370299 h 370299"/>
                  </a:gdLst>
                  <a:ahLst/>
                  <a:cxnLst>
                    <a:cxn ang="0">
                      <a:pos x="connsiteX0" y="connsiteY0"/>
                    </a:cxn>
                    <a:cxn ang="0">
                      <a:pos x="connsiteX1" y="connsiteY1"/>
                    </a:cxn>
                    <a:cxn ang="0">
                      <a:pos x="connsiteX2" y="connsiteY2"/>
                    </a:cxn>
                    <a:cxn ang="0">
                      <a:pos x="connsiteX3" y="connsiteY3"/>
                    </a:cxn>
                  </a:cxnLst>
                  <a:rect l="l" t="t" r="r" b="b"/>
                  <a:pathLst>
                    <a:path w="747096" h="370299">
                      <a:moveTo>
                        <a:pt x="0" y="185150"/>
                      </a:moveTo>
                      <a:cubicBezTo>
                        <a:pt x="0" y="82895"/>
                        <a:pt x="167243" y="0"/>
                        <a:pt x="373548" y="0"/>
                      </a:cubicBezTo>
                      <a:cubicBezTo>
                        <a:pt x="579853" y="0"/>
                        <a:pt x="747096" y="82895"/>
                        <a:pt x="747096" y="185150"/>
                      </a:cubicBezTo>
                      <a:cubicBezTo>
                        <a:pt x="747096" y="287405"/>
                        <a:pt x="579853" y="370299"/>
                        <a:pt x="373548" y="370299"/>
                      </a:cubicBezTo>
                      <a:cubicBezTo>
                        <a:pt x="167243" y="370299"/>
                        <a:pt x="0" y="287405"/>
                        <a:pt x="0" y="18515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dynamic</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page gen</a:t>
                  </a:r>
                  <a:endParaRPr sz="1100" b="1">
                    <a:solidFill>
                      <a:srgbClr val="404557"/>
                    </a:solidFill>
                    <a:latin typeface="微软雅黑" panose="020B0503020204020204" pitchFamily="34" charset="-122"/>
                    <a:ea typeface="微软雅黑" panose="020B0503020204020204" pitchFamily="34" charset="-122"/>
                  </a:endParaRPr>
                </a:p>
              </p:txBody>
            </p:sp>
          </p:grpSp>
          <p:grpSp>
            <p:nvGrpSpPr>
              <p:cNvPr id="92" name="组合 91"/>
              <p:cNvGrpSpPr/>
              <p:nvPr/>
            </p:nvGrpSpPr>
            <p:grpSpPr>
              <a:xfrm>
                <a:off x="5722521" y="1834822"/>
                <a:ext cx="376797" cy="240370"/>
                <a:chOff x="5722521" y="1834822"/>
                <a:chExt cx="376797" cy="240370"/>
              </a:xfrm>
            </p:grpSpPr>
            <p:sp>
              <p:nvSpPr>
                <p:cNvPr id="93" name="数据存储"/>
                <p:cNvSpPr/>
                <p:nvPr/>
              </p:nvSpPr>
              <p:spPr>
                <a:xfrm>
                  <a:off x="5722521" y="1834822"/>
                  <a:ext cx="370300" cy="240370"/>
                </a:xfrm>
                <a:custGeom>
                  <a:avLst/>
                  <a:gdLst>
                    <a:gd name="connsiteX0" fmla="*/ 185150 w 370300"/>
                    <a:gd name="connsiteY0" fmla="*/ 240370 h 240370"/>
                    <a:gd name="connsiteX1" fmla="*/ 185150 w 370300"/>
                    <a:gd name="connsiteY1" fmla="*/ 0 h 240370"/>
                    <a:gd name="connsiteX2" fmla="*/ 74060 w 370300"/>
                    <a:gd name="connsiteY2" fmla="*/ 0 h 240370"/>
                    <a:gd name="connsiteX3" fmla="*/ 296240 w 370300"/>
                    <a:gd name="connsiteY3" fmla="*/ 240370 h 240370"/>
                    <a:gd name="connsiteX4" fmla="*/ 185150 w 370300"/>
                    <a:gd name="connsiteY4" fmla="*/ 120185 h 240370"/>
                    <a:gd name="connsiteX5" fmla="*/ 74060 w 370300"/>
                    <a:gd name="connsiteY5" fmla="*/ 240370 h 240370"/>
                    <a:gd name="connsiteX6" fmla="*/ 296240 w 370300"/>
                    <a:gd name="connsiteY6" fmla="*/ 0 h 24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70300" h="240370" fill="none">
                      <a:moveTo>
                        <a:pt x="370300" y="0"/>
                      </a:moveTo>
                      <a:lnTo>
                        <a:pt x="0" y="0"/>
                      </a:lnTo>
                      <a:moveTo>
                        <a:pt x="0" y="240370"/>
                      </a:moveTo>
                      <a:lnTo>
                        <a:pt x="370300" y="240370"/>
                      </a:lnTo>
                    </a:path>
                  </a:pathLst>
                </a:custGeom>
                <a:solidFill>
                  <a:srgbClr val="3498DB"/>
                </a:solidFill>
                <a:ln w="10133" cap="flat">
                  <a:solidFill>
                    <a:srgbClr val="000000"/>
                  </a:solidFill>
                  <a:bevel/>
                </a:ln>
              </p:spPr>
            </p:sp>
            <p:sp>
              <p:nvSpPr>
                <p:cNvPr id="94" name="外部交互方"/>
                <p:cNvSpPr/>
                <p:nvPr/>
              </p:nvSpPr>
              <p:spPr>
                <a:xfrm>
                  <a:off x="5842706" y="1864869"/>
                  <a:ext cx="71461" cy="185285"/>
                </a:xfrm>
                <a:custGeom>
                  <a:avLst/>
                  <a:gdLst>
                    <a:gd name="connsiteX0" fmla="*/ 35731 w 71461"/>
                    <a:gd name="connsiteY0" fmla="*/ 185285 h 185285"/>
                    <a:gd name="connsiteX1" fmla="*/ 35731 w 71461"/>
                    <a:gd name="connsiteY1" fmla="*/ 0 h 185285"/>
                    <a:gd name="connsiteX2" fmla="*/ 71461 w 71461"/>
                    <a:gd name="connsiteY2" fmla="*/ 92642 h 185285"/>
                    <a:gd name="connsiteX3" fmla="*/ 0 w 71461"/>
                    <a:gd name="connsiteY3" fmla="*/ 92642 h 185285"/>
                    <a:gd name="connsiteX4" fmla="*/ 35731 w 71461"/>
                    <a:gd name="connsiteY4" fmla="*/ 92642 h 185285"/>
                    <a:gd name="connsiteX5" fmla="*/ 0 w 71461"/>
                    <a:gd name="connsiteY5" fmla="*/ 46321 h 185285"/>
                    <a:gd name="connsiteX6" fmla="*/ 0 w 71461"/>
                    <a:gd name="connsiteY6" fmla="*/ 138964 h 185285"/>
                    <a:gd name="connsiteX7" fmla="*/ 71461 w 71461"/>
                    <a:gd name="connsiteY7" fmla="*/ 46321 h 185285"/>
                    <a:gd name="connsiteX8" fmla="*/ 71461 w 71461"/>
                    <a:gd name="connsiteY8" fmla="*/ 138964 h 185285"/>
                    <a:gd name="connsiteX9" fmla="*/ 17865 w 71461"/>
                    <a:gd name="connsiteY9" fmla="*/ 0 h 185285"/>
                    <a:gd name="connsiteX10" fmla="*/ 53596 w 71461"/>
                    <a:gd name="connsiteY10" fmla="*/ 0 h 185285"/>
                    <a:gd name="connsiteX11" fmla="*/ 17865 w 71461"/>
                    <a:gd name="connsiteY11" fmla="*/ 185285 h 185285"/>
                    <a:gd name="connsiteX12" fmla="*/ 53596 w 71461"/>
                    <a:gd name="connsiteY12" fmla="*/ 185285 h 185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461" h="185285">
                      <a:moveTo>
                        <a:pt x="71461" y="185285"/>
                      </a:moveTo>
                      <a:lnTo>
                        <a:pt x="71461" y="0"/>
                      </a:lnTo>
                      <a:lnTo>
                        <a:pt x="0" y="0"/>
                      </a:lnTo>
                      <a:lnTo>
                        <a:pt x="0" y="185285"/>
                      </a:lnTo>
                      <a:lnTo>
                        <a:pt x="71461" y="185285"/>
                      </a:lnTo>
                      <a:close/>
                    </a:path>
                  </a:pathLst>
                </a:custGeom>
                <a:solidFill>
                  <a:srgbClr val="3498DB"/>
                </a:solidFill>
                <a:ln w="7600" cap="flat">
                  <a:solidFill>
                    <a:srgbClr val="3498DB"/>
                  </a:solidFill>
                  <a:bevel/>
                </a:ln>
              </p:spPr>
            </p:sp>
            <p:cxnSp>
              <p:nvCxnSpPr>
                <p:cNvPr id="95" name="Line"/>
                <p:cNvCxnSpPr/>
                <p:nvPr/>
              </p:nvCxnSpPr>
              <p:spPr>
                <a:xfrm rot="5400000">
                  <a:off x="5972636" y="1955007"/>
                  <a:ext cx="240370" cy="0"/>
                </a:xfrm>
                <a:prstGeom prst="line">
                  <a:avLst/>
                </a:prstGeom>
                <a:ln w="7600" cap="flat">
                  <a:solidFill>
                    <a:srgbClr val="000000"/>
                  </a:solidFill>
                  <a:bevel/>
                </a:ln>
              </p:spPr>
            </p:cxnSp>
            <p:sp>
              <p:nvSpPr>
                <p:cNvPr id="96" name="外部交互方"/>
                <p:cNvSpPr/>
                <p:nvPr/>
              </p:nvSpPr>
              <p:spPr>
                <a:xfrm>
                  <a:off x="5962891" y="1864869"/>
                  <a:ext cx="71461" cy="185285"/>
                </a:xfrm>
                <a:custGeom>
                  <a:avLst/>
                  <a:gdLst>
                    <a:gd name="connsiteX0" fmla="*/ 35731 w 71461"/>
                    <a:gd name="connsiteY0" fmla="*/ 185285 h 185285"/>
                    <a:gd name="connsiteX1" fmla="*/ 35731 w 71461"/>
                    <a:gd name="connsiteY1" fmla="*/ 0 h 185285"/>
                    <a:gd name="connsiteX2" fmla="*/ 71461 w 71461"/>
                    <a:gd name="connsiteY2" fmla="*/ 92642 h 185285"/>
                    <a:gd name="connsiteX3" fmla="*/ 0 w 71461"/>
                    <a:gd name="connsiteY3" fmla="*/ 92642 h 185285"/>
                    <a:gd name="connsiteX4" fmla="*/ 35731 w 71461"/>
                    <a:gd name="connsiteY4" fmla="*/ 92642 h 185285"/>
                    <a:gd name="connsiteX5" fmla="*/ 0 w 71461"/>
                    <a:gd name="connsiteY5" fmla="*/ 46321 h 185285"/>
                    <a:gd name="connsiteX6" fmla="*/ 0 w 71461"/>
                    <a:gd name="connsiteY6" fmla="*/ 138964 h 185285"/>
                    <a:gd name="connsiteX7" fmla="*/ 71461 w 71461"/>
                    <a:gd name="connsiteY7" fmla="*/ 46321 h 185285"/>
                    <a:gd name="connsiteX8" fmla="*/ 71461 w 71461"/>
                    <a:gd name="connsiteY8" fmla="*/ 138964 h 185285"/>
                    <a:gd name="connsiteX9" fmla="*/ 17865 w 71461"/>
                    <a:gd name="connsiteY9" fmla="*/ 0 h 185285"/>
                    <a:gd name="connsiteX10" fmla="*/ 53596 w 71461"/>
                    <a:gd name="connsiteY10" fmla="*/ 0 h 185285"/>
                    <a:gd name="connsiteX11" fmla="*/ 17865 w 71461"/>
                    <a:gd name="connsiteY11" fmla="*/ 185285 h 185285"/>
                    <a:gd name="connsiteX12" fmla="*/ 53596 w 71461"/>
                    <a:gd name="connsiteY12" fmla="*/ 185285 h 185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461" h="185285">
                      <a:moveTo>
                        <a:pt x="71461" y="185285"/>
                      </a:moveTo>
                      <a:lnTo>
                        <a:pt x="71461" y="0"/>
                      </a:lnTo>
                      <a:lnTo>
                        <a:pt x="0" y="0"/>
                      </a:lnTo>
                      <a:lnTo>
                        <a:pt x="0" y="185285"/>
                      </a:lnTo>
                      <a:lnTo>
                        <a:pt x="71461" y="185285"/>
                      </a:lnTo>
                      <a:close/>
                    </a:path>
                  </a:pathLst>
                </a:custGeom>
                <a:solidFill>
                  <a:srgbClr val="3498DB"/>
                </a:solidFill>
                <a:ln w="7600" cap="flat">
                  <a:solidFill>
                    <a:srgbClr val="3498DB"/>
                  </a:solidFill>
                  <a:bevel/>
                </a:ln>
              </p:spPr>
            </p:sp>
          </p:grpSp>
        </p:grpSp>
        <p:grpSp>
          <p:nvGrpSpPr>
            <p:cNvPr id="10" name="组合 9"/>
            <p:cNvGrpSpPr/>
            <p:nvPr/>
          </p:nvGrpSpPr>
          <p:grpSpPr>
            <a:xfrm>
              <a:off x="7221866" y="2870400"/>
              <a:ext cx="1272141" cy="555150"/>
              <a:chOff x="7221866" y="2870400"/>
              <a:chExt cx="1272141" cy="555150"/>
            </a:xfrm>
          </p:grpSpPr>
          <p:grpSp>
            <p:nvGrpSpPr>
              <p:cNvPr id="81" name="组合 80"/>
              <p:cNvGrpSpPr/>
              <p:nvPr/>
            </p:nvGrpSpPr>
            <p:grpSpPr>
              <a:xfrm>
                <a:off x="7502674" y="2870400"/>
                <a:ext cx="991336" cy="555150"/>
                <a:chOff x="7502674" y="2870400"/>
                <a:chExt cx="991336" cy="555150"/>
              </a:xfrm>
            </p:grpSpPr>
            <p:sp>
              <p:nvSpPr>
                <p:cNvPr id="87" name="选择点"/>
                <p:cNvSpPr/>
                <p:nvPr/>
              </p:nvSpPr>
              <p:spPr>
                <a:xfrm>
                  <a:off x="7659540" y="296270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nvGrpSpPr>
                <p:cNvPr id="88" name="组合 87"/>
                <p:cNvGrpSpPr/>
                <p:nvPr/>
              </p:nvGrpSpPr>
              <p:grpSpPr>
                <a:xfrm>
                  <a:off x="7502674" y="2870400"/>
                  <a:ext cx="991336" cy="555150"/>
                  <a:chOff x="7502674" y="2870400"/>
                  <a:chExt cx="991336" cy="555150"/>
                </a:xfrm>
              </p:grpSpPr>
              <p:sp>
                <p:nvSpPr>
                  <p:cNvPr id="89" name="参与者引用"/>
                  <p:cNvSpPr/>
                  <p:nvPr/>
                </p:nvSpPr>
                <p:spPr>
                  <a:xfrm>
                    <a:off x="7502674" y="2870400"/>
                    <a:ext cx="991336" cy="555150"/>
                  </a:xfrm>
                  <a:custGeom>
                    <a:avLst/>
                    <a:gdLst>
                      <a:gd name="connsiteX0" fmla="*/ 495669 w 991336"/>
                      <a:gd name="connsiteY0" fmla="*/ 555150 h 555150"/>
                      <a:gd name="connsiteX1" fmla="*/ 495669 w 991336"/>
                      <a:gd name="connsiteY1" fmla="*/ 0 h 555150"/>
                      <a:gd name="connsiteX2" fmla="*/ 991336 w 991336"/>
                      <a:gd name="connsiteY2" fmla="*/ 277575 h 555150"/>
                      <a:gd name="connsiteX3" fmla="*/ 0 w 991336"/>
                      <a:gd name="connsiteY3" fmla="*/ 277575 h 555150"/>
                      <a:gd name="connsiteX4" fmla="*/ 495669 w 991336"/>
                      <a:gd name="connsiteY4" fmla="*/ 277575 h 55515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991336" h="555150">
                        <a:moveTo>
                          <a:pt x="991336" y="555150"/>
                        </a:moveTo>
                        <a:lnTo>
                          <a:pt x="991336" y="0"/>
                        </a:lnTo>
                        <a:lnTo>
                          <a:pt x="0" y="0"/>
                        </a:lnTo>
                        <a:lnTo>
                          <a:pt x="0" y="555150"/>
                        </a:lnTo>
                        <a:lnTo>
                          <a:pt x="991336" y="555150"/>
                        </a:lnTo>
                        <a:close/>
                      </a:path>
                    </a:pathLst>
                  </a:custGeom>
                  <a:solidFill>
                    <a:srgbClr val="FFFFFF"/>
                  </a:solidFill>
                  <a:ln w="7600" cap="flat">
                    <a:solidFill>
                      <a:srgbClr val="000000"/>
                    </a:solidFill>
                    <a:bevel/>
                  </a:ln>
                </p:spPr>
              </p:sp>
              <p:sp>
                <p:nvSpPr>
                  <p:cNvPr id="90" name="选择点"/>
                  <p:cNvSpPr/>
                  <p:nvPr/>
                </p:nvSpPr>
                <p:spPr>
                  <a:xfrm>
                    <a:off x="7659540" y="296270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send</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response</a:t>
                    </a:r>
                    <a:endParaRPr sz="1100" b="1">
                      <a:solidFill>
                        <a:srgbClr val="404557"/>
                      </a:solidFill>
                      <a:latin typeface="微软雅黑" panose="020B0503020204020204" pitchFamily="34" charset="-122"/>
                      <a:ea typeface="微软雅黑" panose="020B0503020204020204" pitchFamily="34" charset="-122"/>
                    </a:endParaRPr>
                  </a:p>
                </p:txBody>
              </p:sp>
            </p:grpSp>
          </p:grpSp>
          <p:grpSp>
            <p:nvGrpSpPr>
              <p:cNvPr id="82" name="组合 81"/>
              <p:cNvGrpSpPr/>
              <p:nvPr/>
            </p:nvGrpSpPr>
            <p:grpSpPr>
              <a:xfrm>
                <a:off x="7221866" y="3027714"/>
                <a:ext cx="377034" cy="240522"/>
                <a:chOff x="7221866" y="3027714"/>
                <a:chExt cx="377034" cy="240522"/>
              </a:xfrm>
            </p:grpSpPr>
            <p:sp>
              <p:nvSpPr>
                <p:cNvPr id="83" name="数据存储"/>
                <p:cNvSpPr/>
                <p:nvPr/>
              </p:nvSpPr>
              <p:spPr>
                <a:xfrm>
                  <a:off x="7221866" y="3027714"/>
                  <a:ext cx="370533" cy="240522"/>
                </a:xfrm>
                <a:custGeom>
                  <a:avLst/>
                  <a:gdLst>
                    <a:gd name="connsiteX0" fmla="*/ 185267 w 370533"/>
                    <a:gd name="connsiteY0" fmla="*/ 240522 h 240522"/>
                    <a:gd name="connsiteX1" fmla="*/ 185267 w 370533"/>
                    <a:gd name="connsiteY1" fmla="*/ 0 h 240522"/>
                    <a:gd name="connsiteX2" fmla="*/ 74107 w 370533"/>
                    <a:gd name="connsiteY2" fmla="*/ 0 h 240522"/>
                    <a:gd name="connsiteX3" fmla="*/ 296427 w 370533"/>
                    <a:gd name="connsiteY3" fmla="*/ 240522 h 240522"/>
                    <a:gd name="connsiteX4" fmla="*/ 185267 w 370533"/>
                    <a:gd name="connsiteY4" fmla="*/ 120261 h 240522"/>
                    <a:gd name="connsiteX5" fmla="*/ 74107 w 370533"/>
                    <a:gd name="connsiteY5" fmla="*/ 240522 h 240522"/>
                    <a:gd name="connsiteX6" fmla="*/ 296427 w 370533"/>
                    <a:gd name="connsiteY6" fmla="*/ 0 h 24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70533" h="240522" fill="none">
                      <a:moveTo>
                        <a:pt x="370533" y="0"/>
                      </a:moveTo>
                      <a:lnTo>
                        <a:pt x="0" y="0"/>
                      </a:lnTo>
                      <a:moveTo>
                        <a:pt x="0" y="240522"/>
                      </a:moveTo>
                      <a:lnTo>
                        <a:pt x="370533" y="240522"/>
                      </a:lnTo>
                    </a:path>
                  </a:pathLst>
                </a:custGeom>
                <a:solidFill>
                  <a:srgbClr val="3498DB"/>
                </a:solidFill>
                <a:ln w="10133" cap="flat">
                  <a:solidFill>
                    <a:srgbClr val="000000"/>
                  </a:solidFill>
                  <a:bevel/>
                </a:ln>
              </p:spPr>
            </p:sp>
            <p:sp>
              <p:nvSpPr>
                <p:cNvPr id="84" name="外部交互方"/>
                <p:cNvSpPr/>
                <p:nvPr/>
              </p:nvSpPr>
              <p:spPr>
                <a:xfrm>
                  <a:off x="7342127" y="305778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cxnSp>
              <p:nvCxnSpPr>
                <p:cNvPr id="85" name="Line"/>
                <p:cNvCxnSpPr/>
                <p:nvPr/>
              </p:nvCxnSpPr>
              <p:spPr>
                <a:xfrm rot="5400000">
                  <a:off x="7472139" y="3147975"/>
                  <a:ext cx="240522" cy="0"/>
                </a:xfrm>
                <a:prstGeom prst="line">
                  <a:avLst/>
                </a:prstGeom>
                <a:ln w="7600" cap="flat">
                  <a:solidFill>
                    <a:srgbClr val="000000"/>
                  </a:solidFill>
                  <a:bevel/>
                </a:ln>
              </p:spPr>
            </p:cxnSp>
            <p:sp>
              <p:nvSpPr>
                <p:cNvPr id="86" name="外部交互方"/>
                <p:cNvSpPr/>
                <p:nvPr/>
              </p:nvSpPr>
              <p:spPr>
                <a:xfrm>
                  <a:off x="7462388" y="305778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grpSp>
        </p:grpSp>
        <p:grpSp>
          <p:nvGrpSpPr>
            <p:cNvPr id="11" name="组合 10"/>
            <p:cNvGrpSpPr/>
            <p:nvPr/>
          </p:nvGrpSpPr>
          <p:grpSpPr>
            <a:xfrm>
              <a:off x="7221866" y="3759250"/>
              <a:ext cx="1272141" cy="555150"/>
              <a:chOff x="7221866" y="3759250"/>
              <a:chExt cx="1272141" cy="555150"/>
            </a:xfrm>
          </p:grpSpPr>
          <p:grpSp>
            <p:nvGrpSpPr>
              <p:cNvPr id="71" name="组合 70"/>
              <p:cNvGrpSpPr/>
              <p:nvPr/>
            </p:nvGrpSpPr>
            <p:grpSpPr>
              <a:xfrm>
                <a:off x="7502674" y="3759250"/>
                <a:ext cx="991336" cy="555150"/>
                <a:chOff x="7502674" y="3759250"/>
                <a:chExt cx="991336" cy="555150"/>
              </a:xfrm>
            </p:grpSpPr>
            <p:sp>
              <p:nvSpPr>
                <p:cNvPr id="77" name="选择点"/>
                <p:cNvSpPr/>
                <p:nvPr/>
              </p:nvSpPr>
              <p:spPr>
                <a:xfrm>
                  <a:off x="7659540" y="385155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nvGrpSpPr>
                <p:cNvPr id="78" name="组合 77"/>
                <p:cNvGrpSpPr/>
                <p:nvPr/>
              </p:nvGrpSpPr>
              <p:grpSpPr>
                <a:xfrm>
                  <a:off x="7502674" y="3759250"/>
                  <a:ext cx="991336" cy="555150"/>
                  <a:chOff x="7502674" y="3759250"/>
                  <a:chExt cx="991336" cy="555150"/>
                </a:xfrm>
              </p:grpSpPr>
              <p:sp>
                <p:nvSpPr>
                  <p:cNvPr id="79" name="参与者引用"/>
                  <p:cNvSpPr/>
                  <p:nvPr/>
                </p:nvSpPr>
                <p:spPr>
                  <a:xfrm>
                    <a:off x="7502674" y="3759250"/>
                    <a:ext cx="991336" cy="555150"/>
                  </a:xfrm>
                  <a:custGeom>
                    <a:avLst/>
                    <a:gdLst>
                      <a:gd name="connsiteX0" fmla="*/ 495669 w 991336"/>
                      <a:gd name="connsiteY0" fmla="*/ 555150 h 555150"/>
                      <a:gd name="connsiteX1" fmla="*/ 495669 w 991336"/>
                      <a:gd name="connsiteY1" fmla="*/ 0 h 555150"/>
                      <a:gd name="connsiteX2" fmla="*/ 991336 w 991336"/>
                      <a:gd name="connsiteY2" fmla="*/ 277575 h 555150"/>
                      <a:gd name="connsiteX3" fmla="*/ 0 w 991336"/>
                      <a:gd name="connsiteY3" fmla="*/ 277575 h 555150"/>
                      <a:gd name="connsiteX4" fmla="*/ 495669 w 991336"/>
                      <a:gd name="connsiteY4" fmla="*/ 277575 h 55515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991336" h="555150">
                        <a:moveTo>
                          <a:pt x="991336" y="555150"/>
                        </a:moveTo>
                        <a:lnTo>
                          <a:pt x="991336" y="0"/>
                        </a:lnTo>
                        <a:lnTo>
                          <a:pt x="0" y="0"/>
                        </a:lnTo>
                        <a:lnTo>
                          <a:pt x="0" y="555150"/>
                        </a:lnTo>
                        <a:lnTo>
                          <a:pt x="991336" y="555150"/>
                        </a:lnTo>
                        <a:close/>
                      </a:path>
                    </a:pathLst>
                  </a:custGeom>
                  <a:solidFill>
                    <a:srgbClr val="FFFFFF"/>
                  </a:solidFill>
                  <a:ln w="7600" cap="flat">
                    <a:solidFill>
                      <a:srgbClr val="000000"/>
                    </a:solidFill>
                    <a:bevel/>
                  </a:ln>
                </p:spPr>
              </p:sp>
              <p:sp>
                <p:nvSpPr>
                  <p:cNvPr id="80" name="选择点"/>
                  <p:cNvSpPr/>
                  <p:nvPr/>
                </p:nvSpPr>
                <p:spPr>
                  <a:xfrm>
                    <a:off x="7659540" y="385155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file</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I/O</a:t>
                    </a:r>
                    <a:endParaRPr sz="1100" b="1">
                      <a:solidFill>
                        <a:srgbClr val="404557"/>
                      </a:solidFill>
                      <a:latin typeface="微软雅黑" panose="020B0503020204020204" pitchFamily="34" charset="-122"/>
                      <a:ea typeface="微软雅黑" panose="020B0503020204020204" pitchFamily="34" charset="-122"/>
                    </a:endParaRPr>
                  </a:p>
                </p:txBody>
              </p:sp>
            </p:grpSp>
          </p:grpSp>
          <p:grpSp>
            <p:nvGrpSpPr>
              <p:cNvPr id="72" name="组合 71"/>
              <p:cNvGrpSpPr/>
              <p:nvPr/>
            </p:nvGrpSpPr>
            <p:grpSpPr>
              <a:xfrm>
                <a:off x="7221866" y="3916564"/>
                <a:ext cx="377034" cy="240522"/>
                <a:chOff x="7221866" y="3916564"/>
                <a:chExt cx="377034" cy="240522"/>
              </a:xfrm>
            </p:grpSpPr>
            <p:sp>
              <p:nvSpPr>
                <p:cNvPr id="73" name="数据存储"/>
                <p:cNvSpPr/>
                <p:nvPr/>
              </p:nvSpPr>
              <p:spPr>
                <a:xfrm>
                  <a:off x="7221866" y="3916564"/>
                  <a:ext cx="370533" cy="240522"/>
                </a:xfrm>
                <a:custGeom>
                  <a:avLst/>
                  <a:gdLst>
                    <a:gd name="connsiteX0" fmla="*/ 185267 w 370533"/>
                    <a:gd name="connsiteY0" fmla="*/ 240522 h 240522"/>
                    <a:gd name="connsiteX1" fmla="*/ 185267 w 370533"/>
                    <a:gd name="connsiteY1" fmla="*/ 0 h 240522"/>
                    <a:gd name="connsiteX2" fmla="*/ 74107 w 370533"/>
                    <a:gd name="connsiteY2" fmla="*/ 0 h 240522"/>
                    <a:gd name="connsiteX3" fmla="*/ 296427 w 370533"/>
                    <a:gd name="connsiteY3" fmla="*/ 240522 h 240522"/>
                    <a:gd name="connsiteX4" fmla="*/ 185267 w 370533"/>
                    <a:gd name="connsiteY4" fmla="*/ 120261 h 240522"/>
                    <a:gd name="connsiteX5" fmla="*/ 74107 w 370533"/>
                    <a:gd name="connsiteY5" fmla="*/ 240522 h 240522"/>
                    <a:gd name="connsiteX6" fmla="*/ 296427 w 370533"/>
                    <a:gd name="connsiteY6" fmla="*/ 0 h 24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70533" h="240522" fill="none">
                      <a:moveTo>
                        <a:pt x="370533" y="0"/>
                      </a:moveTo>
                      <a:lnTo>
                        <a:pt x="0" y="0"/>
                      </a:lnTo>
                      <a:moveTo>
                        <a:pt x="0" y="240522"/>
                      </a:moveTo>
                      <a:lnTo>
                        <a:pt x="370533" y="240522"/>
                      </a:lnTo>
                    </a:path>
                  </a:pathLst>
                </a:custGeom>
                <a:solidFill>
                  <a:srgbClr val="3498DB"/>
                </a:solidFill>
                <a:ln w="10133" cap="flat">
                  <a:solidFill>
                    <a:srgbClr val="000000"/>
                  </a:solidFill>
                  <a:bevel/>
                </a:ln>
              </p:spPr>
            </p:sp>
            <p:sp>
              <p:nvSpPr>
                <p:cNvPr id="74" name="外部交互方"/>
                <p:cNvSpPr/>
                <p:nvPr/>
              </p:nvSpPr>
              <p:spPr>
                <a:xfrm>
                  <a:off x="7342127" y="394663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cxnSp>
              <p:nvCxnSpPr>
                <p:cNvPr id="75" name="Line"/>
                <p:cNvCxnSpPr/>
                <p:nvPr/>
              </p:nvCxnSpPr>
              <p:spPr>
                <a:xfrm rot="5400000">
                  <a:off x="7472139" y="4036825"/>
                  <a:ext cx="240522" cy="0"/>
                </a:xfrm>
                <a:prstGeom prst="line">
                  <a:avLst/>
                </a:prstGeom>
                <a:ln w="7600" cap="flat">
                  <a:solidFill>
                    <a:srgbClr val="000000"/>
                  </a:solidFill>
                  <a:bevel/>
                </a:ln>
              </p:spPr>
            </p:cxnSp>
            <p:sp>
              <p:nvSpPr>
                <p:cNvPr id="76" name="外部交互方"/>
                <p:cNvSpPr/>
                <p:nvPr/>
              </p:nvSpPr>
              <p:spPr>
                <a:xfrm>
                  <a:off x="7462388" y="394663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grpSp>
        </p:grpSp>
        <p:grpSp>
          <p:nvGrpSpPr>
            <p:cNvPr id="12" name="组合 11"/>
            <p:cNvGrpSpPr/>
            <p:nvPr/>
          </p:nvGrpSpPr>
          <p:grpSpPr>
            <a:xfrm>
              <a:off x="5721725" y="3766850"/>
              <a:ext cx="1272141" cy="555150"/>
              <a:chOff x="5721725" y="3766850"/>
              <a:chExt cx="1272141" cy="555150"/>
            </a:xfrm>
          </p:grpSpPr>
          <p:grpSp>
            <p:nvGrpSpPr>
              <p:cNvPr id="61" name="组合 60"/>
              <p:cNvGrpSpPr/>
              <p:nvPr/>
            </p:nvGrpSpPr>
            <p:grpSpPr>
              <a:xfrm>
                <a:off x="6002533" y="3766850"/>
                <a:ext cx="991336" cy="555150"/>
                <a:chOff x="6002533" y="3766850"/>
                <a:chExt cx="991336" cy="555150"/>
              </a:xfrm>
            </p:grpSpPr>
            <p:sp>
              <p:nvSpPr>
                <p:cNvPr id="67" name="选择点"/>
                <p:cNvSpPr/>
                <p:nvPr/>
              </p:nvSpPr>
              <p:spPr>
                <a:xfrm>
                  <a:off x="6159398" y="3859158"/>
                  <a:ext cx="747566"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6002533" y="3766850"/>
                  <a:ext cx="991336" cy="555150"/>
                  <a:chOff x="6002533" y="3766850"/>
                  <a:chExt cx="991336" cy="555150"/>
                </a:xfrm>
              </p:grpSpPr>
              <p:sp>
                <p:nvSpPr>
                  <p:cNvPr id="69" name="参与者引用"/>
                  <p:cNvSpPr/>
                  <p:nvPr/>
                </p:nvSpPr>
                <p:spPr>
                  <a:xfrm>
                    <a:off x="6002533" y="3766850"/>
                    <a:ext cx="991336" cy="555150"/>
                  </a:xfrm>
                  <a:custGeom>
                    <a:avLst/>
                    <a:gdLst>
                      <a:gd name="connsiteX0" fmla="*/ 495669 w 991336"/>
                      <a:gd name="connsiteY0" fmla="*/ 555150 h 555150"/>
                      <a:gd name="connsiteX1" fmla="*/ 495669 w 991336"/>
                      <a:gd name="connsiteY1" fmla="*/ 0 h 555150"/>
                      <a:gd name="connsiteX2" fmla="*/ 991336 w 991336"/>
                      <a:gd name="connsiteY2" fmla="*/ 277575 h 555150"/>
                      <a:gd name="connsiteX3" fmla="*/ 0 w 991336"/>
                      <a:gd name="connsiteY3" fmla="*/ 277575 h 555150"/>
                      <a:gd name="connsiteX4" fmla="*/ 495669 w 991336"/>
                      <a:gd name="connsiteY4" fmla="*/ 277575 h 55515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991336" h="555150">
                        <a:moveTo>
                          <a:pt x="991336" y="555150"/>
                        </a:moveTo>
                        <a:lnTo>
                          <a:pt x="991336" y="0"/>
                        </a:lnTo>
                        <a:lnTo>
                          <a:pt x="0" y="0"/>
                        </a:lnTo>
                        <a:lnTo>
                          <a:pt x="0" y="555150"/>
                        </a:lnTo>
                        <a:lnTo>
                          <a:pt x="991336" y="555150"/>
                        </a:lnTo>
                        <a:close/>
                      </a:path>
                    </a:pathLst>
                  </a:custGeom>
                  <a:solidFill>
                    <a:srgbClr val="FFFFFF"/>
                  </a:solidFill>
                  <a:ln w="7600" cap="flat">
                    <a:solidFill>
                      <a:srgbClr val="000000"/>
                    </a:solidFill>
                    <a:bevel/>
                  </a:ln>
                </p:spPr>
              </p:sp>
              <p:sp>
                <p:nvSpPr>
                  <p:cNvPr id="70" name="选择点"/>
                  <p:cNvSpPr/>
                  <p:nvPr/>
                </p:nvSpPr>
                <p:spPr>
                  <a:xfrm>
                    <a:off x="6159397" y="3859158"/>
                    <a:ext cx="834461" cy="370533"/>
                  </a:xfrm>
                  <a:custGeom>
                    <a:avLst/>
                    <a:gdLst>
                      <a:gd name="connsiteX0" fmla="*/ 0 w 747566"/>
                      <a:gd name="connsiteY0" fmla="*/ 185267 h 370533"/>
                      <a:gd name="connsiteX1" fmla="*/ 373783 w 747566"/>
                      <a:gd name="connsiteY1" fmla="*/ 0 h 370533"/>
                      <a:gd name="connsiteX2" fmla="*/ 747566 w 747566"/>
                      <a:gd name="connsiteY2" fmla="*/ 185267 h 370533"/>
                      <a:gd name="connsiteX3" fmla="*/ 373783 w 747566"/>
                      <a:gd name="connsiteY3" fmla="*/ 370533 h 370533"/>
                    </a:gdLst>
                    <a:ahLst/>
                    <a:cxnLst>
                      <a:cxn ang="0">
                        <a:pos x="connsiteX0" y="connsiteY0"/>
                      </a:cxn>
                      <a:cxn ang="0">
                        <a:pos x="connsiteX1" y="connsiteY1"/>
                      </a:cxn>
                      <a:cxn ang="0">
                        <a:pos x="connsiteX2" y="connsiteY2"/>
                      </a:cxn>
                      <a:cxn ang="0">
                        <a:pos x="connsiteX3" y="connsiteY3"/>
                      </a:cxn>
                    </a:cxnLst>
                    <a:rect l="l" t="t" r="r" b="b"/>
                    <a:pathLst>
                      <a:path w="747566" h="370533">
                        <a:moveTo>
                          <a:pt x="0" y="185267"/>
                        </a:moveTo>
                        <a:cubicBezTo>
                          <a:pt x="0" y="82946"/>
                          <a:pt x="167349" y="0"/>
                          <a:pt x="373783" y="0"/>
                        </a:cubicBezTo>
                        <a:cubicBezTo>
                          <a:pt x="580217" y="0"/>
                          <a:pt x="747566" y="82946"/>
                          <a:pt x="747566" y="185267"/>
                        </a:cubicBezTo>
                        <a:cubicBezTo>
                          <a:pt x="747566" y="287586"/>
                          <a:pt x="580217" y="370533"/>
                          <a:pt x="373783" y="370533"/>
                        </a:cubicBezTo>
                        <a:cubicBezTo>
                          <a:pt x="167349" y="370533"/>
                          <a:pt x="0" y="287586"/>
                          <a:pt x="0" y="18526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handle</a:t>
                    </a:r>
                    <a:endParaRPr sz="1100" b="1" dirty="0">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cache miss</a:t>
                    </a:r>
                    <a:endParaRPr sz="1100" b="1" dirty="0">
                      <a:solidFill>
                        <a:srgbClr val="404557"/>
                      </a:solidFill>
                      <a:latin typeface="微软雅黑" panose="020B0503020204020204" pitchFamily="34" charset="-122"/>
                      <a:ea typeface="微软雅黑" panose="020B0503020204020204" pitchFamily="34" charset="-122"/>
                    </a:endParaRPr>
                  </a:p>
                </p:txBody>
              </p:sp>
            </p:grpSp>
          </p:grpSp>
          <p:grpSp>
            <p:nvGrpSpPr>
              <p:cNvPr id="62" name="组合 61"/>
              <p:cNvGrpSpPr/>
              <p:nvPr/>
            </p:nvGrpSpPr>
            <p:grpSpPr>
              <a:xfrm>
                <a:off x="5721725" y="3924164"/>
                <a:ext cx="377034" cy="240522"/>
                <a:chOff x="5721725" y="3924164"/>
                <a:chExt cx="377034" cy="240522"/>
              </a:xfrm>
            </p:grpSpPr>
            <p:sp>
              <p:nvSpPr>
                <p:cNvPr id="63" name="数据存储"/>
                <p:cNvSpPr/>
                <p:nvPr/>
              </p:nvSpPr>
              <p:spPr>
                <a:xfrm>
                  <a:off x="5721725" y="3924164"/>
                  <a:ext cx="370533" cy="240522"/>
                </a:xfrm>
                <a:custGeom>
                  <a:avLst/>
                  <a:gdLst>
                    <a:gd name="connsiteX0" fmla="*/ 185267 w 370533"/>
                    <a:gd name="connsiteY0" fmla="*/ 240522 h 240522"/>
                    <a:gd name="connsiteX1" fmla="*/ 185267 w 370533"/>
                    <a:gd name="connsiteY1" fmla="*/ 0 h 240522"/>
                    <a:gd name="connsiteX2" fmla="*/ 74107 w 370533"/>
                    <a:gd name="connsiteY2" fmla="*/ 0 h 240522"/>
                    <a:gd name="connsiteX3" fmla="*/ 296427 w 370533"/>
                    <a:gd name="connsiteY3" fmla="*/ 240522 h 240522"/>
                    <a:gd name="connsiteX4" fmla="*/ 185267 w 370533"/>
                    <a:gd name="connsiteY4" fmla="*/ 120261 h 240522"/>
                    <a:gd name="connsiteX5" fmla="*/ 74107 w 370533"/>
                    <a:gd name="connsiteY5" fmla="*/ 240522 h 240522"/>
                    <a:gd name="connsiteX6" fmla="*/ 296427 w 370533"/>
                    <a:gd name="connsiteY6" fmla="*/ 0 h 24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70533" h="240522" fill="none">
                      <a:moveTo>
                        <a:pt x="370533" y="0"/>
                      </a:moveTo>
                      <a:lnTo>
                        <a:pt x="0" y="0"/>
                      </a:lnTo>
                      <a:moveTo>
                        <a:pt x="0" y="240522"/>
                      </a:moveTo>
                      <a:lnTo>
                        <a:pt x="370533" y="240522"/>
                      </a:lnTo>
                    </a:path>
                  </a:pathLst>
                </a:custGeom>
                <a:solidFill>
                  <a:srgbClr val="3498DB"/>
                </a:solidFill>
                <a:ln w="10133" cap="flat">
                  <a:solidFill>
                    <a:srgbClr val="000000"/>
                  </a:solidFill>
                  <a:bevel/>
                </a:ln>
              </p:spPr>
            </p:sp>
            <p:sp>
              <p:nvSpPr>
                <p:cNvPr id="64" name="外部交互方"/>
                <p:cNvSpPr/>
                <p:nvPr/>
              </p:nvSpPr>
              <p:spPr>
                <a:xfrm>
                  <a:off x="5841986" y="395423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cxnSp>
              <p:nvCxnSpPr>
                <p:cNvPr id="65" name="Line"/>
                <p:cNvCxnSpPr/>
                <p:nvPr/>
              </p:nvCxnSpPr>
              <p:spPr>
                <a:xfrm rot="5400000">
                  <a:off x="5971998" y="4044425"/>
                  <a:ext cx="240522" cy="0"/>
                </a:xfrm>
                <a:prstGeom prst="line">
                  <a:avLst/>
                </a:prstGeom>
                <a:ln w="7600" cap="flat">
                  <a:solidFill>
                    <a:srgbClr val="000000"/>
                  </a:solidFill>
                  <a:bevel/>
                </a:ln>
              </p:spPr>
            </p:cxnSp>
            <p:sp>
              <p:nvSpPr>
                <p:cNvPr id="66" name="外部交互方"/>
                <p:cNvSpPr/>
                <p:nvPr/>
              </p:nvSpPr>
              <p:spPr>
                <a:xfrm>
                  <a:off x="5962247" y="3954230"/>
                  <a:ext cx="71506" cy="185402"/>
                </a:xfrm>
                <a:custGeom>
                  <a:avLst/>
                  <a:gdLst>
                    <a:gd name="connsiteX0" fmla="*/ 35753 w 71506"/>
                    <a:gd name="connsiteY0" fmla="*/ 185402 h 185402"/>
                    <a:gd name="connsiteX1" fmla="*/ 35753 w 71506"/>
                    <a:gd name="connsiteY1" fmla="*/ 0 h 185402"/>
                    <a:gd name="connsiteX2" fmla="*/ 71506 w 71506"/>
                    <a:gd name="connsiteY2" fmla="*/ 92701 h 185402"/>
                    <a:gd name="connsiteX3" fmla="*/ 0 w 71506"/>
                    <a:gd name="connsiteY3" fmla="*/ 92701 h 185402"/>
                    <a:gd name="connsiteX4" fmla="*/ 35753 w 71506"/>
                    <a:gd name="connsiteY4" fmla="*/ 92701 h 185402"/>
                    <a:gd name="connsiteX5" fmla="*/ 0 w 71506"/>
                    <a:gd name="connsiteY5" fmla="*/ 46350 h 185402"/>
                    <a:gd name="connsiteX6" fmla="*/ 0 w 71506"/>
                    <a:gd name="connsiteY6" fmla="*/ 139051 h 185402"/>
                    <a:gd name="connsiteX7" fmla="*/ 71506 w 71506"/>
                    <a:gd name="connsiteY7" fmla="*/ 46350 h 185402"/>
                    <a:gd name="connsiteX8" fmla="*/ 71506 w 71506"/>
                    <a:gd name="connsiteY8" fmla="*/ 139051 h 185402"/>
                    <a:gd name="connsiteX9" fmla="*/ 17877 w 71506"/>
                    <a:gd name="connsiteY9" fmla="*/ 0 h 185402"/>
                    <a:gd name="connsiteX10" fmla="*/ 53630 w 71506"/>
                    <a:gd name="connsiteY10" fmla="*/ 0 h 185402"/>
                    <a:gd name="connsiteX11" fmla="*/ 17877 w 71506"/>
                    <a:gd name="connsiteY11" fmla="*/ 185402 h 185402"/>
                    <a:gd name="connsiteX12" fmla="*/ 53630 w 71506"/>
                    <a:gd name="connsiteY12" fmla="*/ 185402 h 18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1506" h="185402">
                      <a:moveTo>
                        <a:pt x="71506" y="185402"/>
                      </a:moveTo>
                      <a:lnTo>
                        <a:pt x="71506" y="0"/>
                      </a:lnTo>
                      <a:lnTo>
                        <a:pt x="0" y="0"/>
                      </a:lnTo>
                      <a:lnTo>
                        <a:pt x="0" y="185402"/>
                      </a:lnTo>
                      <a:lnTo>
                        <a:pt x="71506" y="185402"/>
                      </a:lnTo>
                      <a:close/>
                    </a:path>
                  </a:pathLst>
                </a:custGeom>
                <a:solidFill>
                  <a:srgbClr val="3498DB"/>
                </a:solidFill>
                <a:ln w="7600" cap="flat">
                  <a:solidFill>
                    <a:srgbClr val="3498DB"/>
                  </a:solidFill>
                  <a:bevel/>
                </a:ln>
              </p:spPr>
            </p:sp>
          </p:grpSp>
        </p:grpSp>
        <p:grpSp>
          <p:nvGrpSpPr>
            <p:cNvPr id="13" name="组合 12"/>
            <p:cNvGrpSpPr/>
            <p:nvPr/>
          </p:nvGrpSpPr>
          <p:grpSpPr>
            <a:xfrm>
              <a:off x="652527" y="1996400"/>
              <a:ext cx="1298301" cy="571520"/>
              <a:chOff x="652527" y="1996400"/>
              <a:chExt cx="1298301" cy="571520"/>
            </a:xfrm>
          </p:grpSpPr>
          <p:sp>
            <p:nvSpPr>
              <p:cNvPr id="54" name="参与者引用"/>
              <p:cNvSpPr/>
              <p:nvPr/>
            </p:nvSpPr>
            <p:spPr>
              <a:xfrm>
                <a:off x="930254" y="1996400"/>
                <a:ext cx="1020574" cy="571520"/>
              </a:xfrm>
              <a:custGeom>
                <a:avLst/>
                <a:gdLst>
                  <a:gd name="connsiteX0" fmla="*/ 510286 w 1020574"/>
                  <a:gd name="connsiteY0" fmla="*/ 571520 h 571520"/>
                  <a:gd name="connsiteX1" fmla="*/ 510286 w 1020574"/>
                  <a:gd name="connsiteY1" fmla="*/ 0 h 571520"/>
                  <a:gd name="connsiteX2" fmla="*/ 1020574 w 1020574"/>
                  <a:gd name="connsiteY2" fmla="*/ 285760 h 571520"/>
                  <a:gd name="connsiteX3" fmla="*/ 0 w 1020574"/>
                  <a:gd name="connsiteY3" fmla="*/ 285760 h 571520"/>
                  <a:gd name="connsiteX4" fmla="*/ 510286 w 1020574"/>
                  <a:gd name="connsiteY4" fmla="*/ 285760 h 571520"/>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1020574" h="571520">
                    <a:moveTo>
                      <a:pt x="1020574" y="571520"/>
                    </a:moveTo>
                    <a:lnTo>
                      <a:pt x="1020574" y="0"/>
                    </a:lnTo>
                    <a:lnTo>
                      <a:pt x="0" y="0"/>
                    </a:lnTo>
                    <a:lnTo>
                      <a:pt x="0" y="571520"/>
                    </a:lnTo>
                    <a:lnTo>
                      <a:pt x="1020574" y="571520"/>
                    </a:lnTo>
                    <a:close/>
                  </a:path>
                </a:pathLst>
              </a:custGeom>
              <a:solidFill>
                <a:srgbClr val="FFFFFF"/>
              </a:solidFill>
              <a:ln w="7600" cap="flat">
                <a:solidFill>
                  <a:srgbClr val="000000"/>
                </a:solidFill>
                <a:bevel/>
              </a:ln>
            </p:spPr>
          </p:sp>
          <p:grpSp>
            <p:nvGrpSpPr>
              <p:cNvPr id="55" name="组合 54"/>
              <p:cNvGrpSpPr/>
              <p:nvPr/>
            </p:nvGrpSpPr>
            <p:grpSpPr>
              <a:xfrm>
                <a:off x="652527" y="2158353"/>
                <a:ext cx="388152" cy="247614"/>
                <a:chOff x="652527" y="2158353"/>
                <a:chExt cx="388152" cy="247614"/>
              </a:xfrm>
            </p:grpSpPr>
            <p:sp>
              <p:nvSpPr>
                <p:cNvPr id="57" name="数据存储"/>
                <p:cNvSpPr/>
                <p:nvPr/>
              </p:nvSpPr>
              <p:spPr>
                <a:xfrm>
                  <a:off x="652527" y="2158353"/>
                  <a:ext cx="381459" cy="247614"/>
                </a:xfrm>
                <a:custGeom>
                  <a:avLst/>
                  <a:gdLst>
                    <a:gd name="connsiteX0" fmla="*/ 190730 w 381459"/>
                    <a:gd name="connsiteY0" fmla="*/ 247614 h 247614"/>
                    <a:gd name="connsiteX1" fmla="*/ 190730 w 381459"/>
                    <a:gd name="connsiteY1" fmla="*/ 0 h 247614"/>
                    <a:gd name="connsiteX2" fmla="*/ 76292 w 381459"/>
                    <a:gd name="connsiteY2" fmla="*/ 0 h 247614"/>
                    <a:gd name="connsiteX3" fmla="*/ 305167 w 381459"/>
                    <a:gd name="connsiteY3" fmla="*/ 247614 h 247614"/>
                    <a:gd name="connsiteX4" fmla="*/ 190730 w 381459"/>
                    <a:gd name="connsiteY4" fmla="*/ 123807 h 247614"/>
                    <a:gd name="connsiteX5" fmla="*/ 76292 w 381459"/>
                    <a:gd name="connsiteY5" fmla="*/ 247614 h 247614"/>
                    <a:gd name="connsiteX6" fmla="*/ 305167 w 381459"/>
                    <a:gd name="connsiteY6" fmla="*/ 0 h 24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81459" h="247614" fill="none">
                      <a:moveTo>
                        <a:pt x="381459" y="0"/>
                      </a:moveTo>
                      <a:lnTo>
                        <a:pt x="0" y="0"/>
                      </a:lnTo>
                      <a:moveTo>
                        <a:pt x="0" y="247614"/>
                      </a:moveTo>
                      <a:lnTo>
                        <a:pt x="381459" y="247614"/>
                      </a:lnTo>
                    </a:path>
                  </a:pathLst>
                </a:custGeom>
                <a:solidFill>
                  <a:srgbClr val="3498DB"/>
                </a:solidFill>
                <a:ln w="10133" cap="flat">
                  <a:solidFill>
                    <a:srgbClr val="000000"/>
                  </a:solidFill>
                  <a:bevel/>
                </a:ln>
              </p:spPr>
            </p:sp>
            <p:sp>
              <p:nvSpPr>
                <p:cNvPr id="58" name="外部交互方"/>
                <p:cNvSpPr/>
                <p:nvPr/>
              </p:nvSpPr>
              <p:spPr>
                <a:xfrm>
                  <a:off x="776334" y="2189305"/>
                  <a:ext cx="73615" cy="190869"/>
                </a:xfrm>
                <a:custGeom>
                  <a:avLst/>
                  <a:gdLst>
                    <a:gd name="connsiteX0" fmla="*/ 36807 w 73615"/>
                    <a:gd name="connsiteY0" fmla="*/ 190869 h 190869"/>
                    <a:gd name="connsiteX1" fmla="*/ 36807 w 73615"/>
                    <a:gd name="connsiteY1" fmla="*/ 0 h 190869"/>
                    <a:gd name="connsiteX2" fmla="*/ 73615 w 73615"/>
                    <a:gd name="connsiteY2" fmla="*/ 95435 h 190869"/>
                    <a:gd name="connsiteX3" fmla="*/ 0 w 73615"/>
                    <a:gd name="connsiteY3" fmla="*/ 95435 h 190869"/>
                    <a:gd name="connsiteX4" fmla="*/ 36807 w 73615"/>
                    <a:gd name="connsiteY4" fmla="*/ 95435 h 190869"/>
                    <a:gd name="connsiteX5" fmla="*/ 0 w 73615"/>
                    <a:gd name="connsiteY5" fmla="*/ 47717 h 190869"/>
                    <a:gd name="connsiteX6" fmla="*/ 0 w 73615"/>
                    <a:gd name="connsiteY6" fmla="*/ 143152 h 190869"/>
                    <a:gd name="connsiteX7" fmla="*/ 73615 w 73615"/>
                    <a:gd name="connsiteY7" fmla="*/ 47717 h 190869"/>
                    <a:gd name="connsiteX8" fmla="*/ 73615 w 73615"/>
                    <a:gd name="connsiteY8" fmla="*/ 143152 h 190869"/>
                    <a:gd name="connsiteX9" fmla="*/ 18404 w 73615"/>
                    <a:gd name="connsiteY9" fmla="*/ 0 h 190869"/>
                    <a:gd name="connsiteX10" fmla="*/ 55211 w 73615"/>
                    <a:gd name="connsiteY10" fmla="*/ 0 h 190869"/>
                    <a:gd name="connsiteX11" fmla="*/ 18404 w 73615"/>
                    <a:gd name="connsiteY11" fmla="*/ 190869 h 190869"/>
                    <a:gd name="connsiteX12" fmla="*/ 55211 w 73615"/>
                    <a:gd name="connsiteY12" fmla="*/ 190869 h 19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615" h="190869">
                      <a:moveTo>
                        <a:pt x="73615" y="190869"/>
                      </a:moveTo>
                      <a:lnTo>
                        <a:pt x="73615" y="0"/>
                      </a:lnTo>
                      <a:lnTo>
                        <a:pt x="0" y="0"/>
                      </a:lnTo>
                      <a:lnTo>
                        <a:pt x="0" y="190869"/>
                      </a:lnTo>
                      <a:lnTo>
                        <a:pt x="73615" y="190869"/>
                      </a:lnTo>
                      <a:close/>
                    </a:path>
                  </a:pathLst>
                </a:custGeom>
                <a:solidFill>
                  <a:srgbClr val="3498DB"/>
                </a:solidFill>
                <a:ln w="7600" cap="flat">
                  <a:solidFill>
                    <a:srgbClr val="3498DB"/>
                  </a:solidFill>
                  <a:bevel/>
                </a:ln>
              </p:spPr>
            </p:sp>
            <p:cxnSp>
              <p:nvCxnSpPr>
                <p:cNvPr id="59" name="Line"/>
                <p:cNvCxnSpPr/>
                <p:nvPr/>
              </p:nvCxnSpPr>
              <p:spPr>
                <a:xfrm rot="5400000">
                  <a:off x="910179" y="2282160"/>
                  <a:ext cx="247614" cy="0"/>
                </a:xfrm>
                <a:prstGeom prst="line">
                  <a:avLst/>
                </a:prstGeom>
                <a:ln w="7600" cap="flat">
                  <a:solidFill>
                    <a:srgbClr val="000000"/>
                  </a:solidFill>
                  <a:bevel/>
                </a:ln>
              </p:spPr>
            </p:cxnSp>
            <p:sp>
              <p:nvSpPr>
                <p:cNvPr id="60" name="外部交互方"/>
                <p:cNvSpPr/>
                <p:nvPr/>
              </p:nvSpPr>
              <p:spPr>
                <a:xfrm>
                  <a:off x="900141" y="2189305"/>
                  <a:ext cx="73615" cy="190869"/>
                </a:xfrm>
                <a:custGeom>
                  <a:avLst/>
                  <a:gdLst>
                    <a:gd name="connsiteX0" fmla="*/ 36807 w 73615"/>
                    <a:gd name="connsiteY0" fmla="*/ 190869 h 190869"/>
                    <a:gd name="connsiteX1" fmla="*/ 36807 w 73615"/>
                    <a:gd name="connsiteY1" fmla="*/ 0 h 190869"/>
                    <a:gd name="connsiteX2" fmla="*/ 73615 w 73615"/>
                    <a:gd name="connsiteY2" fmla="*/ 95435 h 190869"/>
                    <a:gd name="connsiteX3" fmla="*/ 0 w 73615"/>
                    <a:gd name="connsiteY3" fmla="*/ 95435 h 190869"/>
                    <a:gd name="connsiteX4" fmla="*/ 36807 w 73615"/>
                    <a:gd name="connsiteY4" fmla="*/ 95435 h 190869"/>
                    <a:gd name="connsiteX5" fmla="*/ 0 w 73615"/>
                    <a:gd name="connsiteY5" fmla="*/ 47717 h 190869"/>
                    <a:gd name="connsiteX6" fmla="*/ 0 w 73615"/>
                    <a:gd name="connsiteY6" fmla="*/ 143152 h 190869"/>
                    <a:gd name="connsiteX7" fmla="*/ 73615 w 73615"/>
                    <a:gd name="connsiteY7" fmla="*/ 47717 h 190869"/>
                    <a:gd name="connsiteX8" fmla="*/ 73615 w 73615"/>
                    <a:gd name="connsiteY8" fmla="*/ 143152 h 190869"/>
                    <a:gd name="connsiteX9" fmla="*/ 18404 w 73615"/>
                    <a:gd name="connsiteY9" fmla="*/ 0 h 190869"/>
                    <a:gd name="connsiteX10" fmla="*/ 55211 w 73615"/>
                    <a:gd name="connsiteY10" fmla="*/ 0 h 190869"/>
                    <a:gd name="connsiteX11" fmla="*/ 18404 w 73615"/>
                    <a:gd name="connsiteY11" fmla="*/ 190869 h 190869"/>
                    <a:gd name="connsiteX12" fmla="*/ 55211 w 73615"/>
                    <a:gd name="connsiteY12" fmla="*/ 190869 h 19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615" h="190869">
                      <a:moveTo>
                        <a:pt x="73615" y="190869"/>
                      </a:moveTo>
                      <a:lnTo>
                        <a:pt x="73615" y="0"/>
                      </a:lnTo>
                      <a:lnTo>
                        <a:pt x="0" y="0"/>
                      </a:lnTo>
                      <a:lnTo>
                        <a:pt x="0" y="190869"/>
                      </a:lnTo>
                      <a:lnTo>
                        <a:pt x="73615" y="190869"/>
                      </a:lnTo>
                      <a:close/>
                    </a:path>
                  </a:pathLst>
                </a:custGeom>
                <a:solidFill>
                  <a:srgbClr val="3498DB"/>
                </a:solidFill>
                <a:ln w="7600" cap="flat">
                  <a:solidFill>
                    <a:srgbClr val="3498DB"/>
                  </a:solidFill>
                  <a:bevel/>
                </a:ln>
              </p:spPr>
            </p:sp>
          </p:grpSp>
          <p:sp>
            <p:nvSpPr>
              <p:cNvPr id="56" name="选择点"/>
              <p:cNvSpPr/>
              <p:nvPr/>
            </p:nvSpPr>
            <p:spPr>
              <a:xfrm>
                <a:off x="1091751" y="2091430"/>
                <a:ext cx="821022" cy="381459"/>
              </a:xfrm>
              <a:custGeom>
                <a:avLst/>
                <a:gdLst>
                  <a:gd name="connsiteX0" fmla="*/ 0 w 769614"/>
                  <a:gd name="connsiteY0" fmla="*/ 190730 h 381459"/>
                  <a:gd name="connsiteX1" fmla="*/ 384805 w 769614"/>
                  <a:gd name="connsiteY1" fmla="*/ 0 h 381459"/>
                  <a:gd name="connsiteX2" fmla="*/ 769614 w 769614"/>
                  <a:gd name="connsiteY2" fmla="*/ 190730 h 381459"/>
                  <a:gd name="connsiteX3" fmla="*/ 384805 w 769614"/>
                  <a:gd name="connsiteY3" fmla="*/ 381459 h 381459"/>
                </a:gdLst>
                <a:ahLst/>
                <a:cxnLst>
                  <a:cxn ang="0">
                    <a:pos x="connsiteX0" y="connsiteY0"/>
                  </a:cxn>
                  <a:cxn ang="0">
                    <a:pos x="connsiteX1" y="connsiteY1"/>
                  </a:cxn>
                  <a:cxn ang="0">
                    <a:pos x="connsiteX2" y="connsiteY2"/>
                  </a:cxn>
                  <a:cxn ang="0">
                    <a:pos x="connsiteX3" y="connsiteY3"/>
                  </a:cxn>
                </a:cxnLst>
                <a:rect l="l" t="t" r="r" b="b"/>
                <a:pathLst>
                  <a:path w="769614" h="381459">
                    <a:moveTo>
                      <a:pt x="0" y="190730"/>
                    </a:moveTo>
                    <a:cubicBezTo>
                      <a:pt x="0" y="85393"/>
                      <a:pt x="172284" y="0"/>
                      <a:pt x="384805" y="0"/>
                    </a:cubicBezTo>
                    <a:cubicBezTo>
                      <a:pt x="597327" y="0"/>
                      <a:pt x="769614" y="85393"/>
                      <a:pt x="769614" y="190730"/>
                    </a:cubicBezTo>
                    <a:cubicBezTo>
                      <a:pt x="769614" y="296066"/>
                      <a:pt x="597327" y="381459"/>
                      <a:pt x="384805" y="381459"/>
                    </a:cubicBezTo>
                    <a:cubicBezTo>
                      <a:pt x="172284" y="381459"/>
                      <a:pt x="0" y="296066"/>
                      <a:pt x="0" y="190730"/>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accept</a:t>
                </a:r>
                <a:endParaRPr sz="1100" b="1" dirty="0">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dirty="0">
                    <a:solidFill>
                      <a:srgbClr val="404557"/>
                    </a:solidFill>
                    <a:latin typeface="微软雅黑" panose="020B0503020204020204" pitchFamily="34" charset="-122"/>
                    <a:ea typeface="微软雅黑" panose="020B0503020204020204" pitchFamily="34" charset="-122"/>
                  </a:rPr>
                  <a:t>connection</a:t>
                </a:r>
                <a:endParaRPr sz="1100" b="1" dirty="0">
                  <a:solidFill>
                    <a:srgbClr val="404557"/>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52527" y="2900804"/>
              <a:ext cx="1308317" cy="570935"/>
              <a:chOff x="652527" y="2900804"/>
              <a:chExt cx="1308317" cy="570935"/>
            </a:xfrm>
          </p:grpSpPr>
          <p:grpSp>
            <p:nvGrpSpPr>
              <p:cNvPr id="46" name="组合 45"/>
              <p:cNvGrpSpPr/>
              <p:nvPr/>
            </p:nvGrpSpPr>
            <p:grpSpPr>
              <a:xfrm>
                <a:off x="941318" y="2900804"/>
                <a:ext cx="1019525" cy="570935"/>
                <a:chOff x="941318" y="2900804"/>
                <a:chExt cx="1019525" cy="570935"/>
              </a:xfrm>
            </p:grpSpPr>
            <p:sp>
              <p:nvSpPr>
                <p:cNvPr id="52" name="参与者引用"/>
                <p:cNvSpPr/>
                <p:nvPr/>
              </p:nvSpPr>
              <p:spPr>
                <a:xfrm>
                  <a:off x="941318" y="2900804"/>
                  <a:ext cx="1019525" cy="570935"/>
                </a:xfrm>
                <a:custGeom>
                  <a:avLst/>
                  <a:gdLst>
                    <a:gd name="connsiteX0" fmla="*/ 509763 w 1019525"/>
                    <a:gd name="connsiteY0" fmla="*/ 570935 h 570935"/>
                    <a:gd name="connsiteX1" fmla="*/ 509763 w 1019525"/>
                    <a:gd name="connsiteY1" fmla="*/ 0 h 570935"/>
                    <a:gd name="connsiteX2" fmla="*/ 1019525 w 1019525"/>
                    <a:gd name="connsiteY2" fmla="*/ 285467 h 570935"/>
                    <a:gd name="connsiteX3" fmla="*/ 0 w 1019525"/>
                    <a:gd name="connsiteY3" fmla="*/ 285467 h 570935"/>
                    <a:gd name="connsiteX4" fmla="*/ 509763 w 1019525"/>
                    <a:gd name="connsiteY4" fmla="*/ 285467 h 570935"/>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1019525" h="570935">
                      <a:moveTo>
                        <a:pt x="1019525" y="570935"/>
                      </a:moveTo>
                      <a:lnTo>
                        <a:pt x="1019525" y="0"/>
                      </a:lnTo>
                      <a:lnTo>
                        <a:pt x="0" y="0"/>
                      </a:lnTo>
                      <a:lnTo>
                        <a:pt x="0" y="570935"/>
                      </a:lnTo>
                      <a:lnTo>
                        <a:pt x="1019525" y="570935"/>
                      </a:lnTo>
                      <a:close/>
                    </a:path>
                  </a:pathLst>
                </a:custGeom>
                <a:solidFill>
                  <a:srgbClr val="FFFFFF"/>
                </a:solidFill>
                <a:ln w="7600" cap="flat">
                  <a:solidFill>
                    <a:srgbClr val="000000"/>
                  </a:solidFill>
                  <a:bevel/>
                </a:ln>
              </p:spPr>
            </p:sp>
            <p:sp>
              <p:nvSpPr>
                <p:cNvPr id="53" name="选择点"/>
                <p:cNvSpPr/>
                <p:nvPr/>
              </p:nvSpPr>
              <p:spPr>
                <a:xfrm>
                  <a:off x="1102644" y="2995737"/>
                  <a:ext cx="768824" cy="381069"/>
                </a:xfrm>
                <a:custGeom>
                  <a:avLst/>
                  <a:gdLst>
                    <a:gd name="connsiteX0" fmla="*/ 0 w 768824"/>
                    <a:gd name="connsiteY0" fmla="*/ 190534 h 381069"/>
                    <a:gd name="connsiteX1" fmla="*/ 384412 w 768824"/>
                    <a:gd name="connsiteY1" fmla="*/ 0 h 381069"/>
                    <a:gd name="connsiteX2" fmla="*/ 768824 w 768824"/>
                    <a:gd name="connsiteY2" fmla="*/ 190534 h 381069"/>
                    <a:gd name="connsiteX3" fmla="*/ 384412 w 768824"/>
                    <a:gd name="connsiteY3" fmla="*/ 381069 h 381069"/>
                  </a:gdLst>
                  <a:ahLst/>
                  <a:cxnLst>
                    <a:cxn ang="0">
                      <a:pos x="connsiteX0" y="connsiteY0"/>
                    </a:cxn>
                    <a:cxn ang="0">
                      <a:pos x="connsiteX1" y="connsiteY1"/>
                    </a:cxn>
                    <a:cxn ang="0">
                      <a:pos x="connsiteX2" y="connsiteY2"/>
                    </a:cxn>
                    <a:cxn ang="0">
                      <a:pos x="connsiteX3" y="connsiteY3"/>
                    </a:cxn>
                  </a:cxnLst>
                  <a:rect l="l" t="t" r="r" b="b"/>
                  <a:pathLst>
                    <a:path w="768824" h="381069">
                      <a:moveTo>
                        <a:pt x="0" y="190534"/>
                      </a:moveTo>
                      <a:cubicBezTo>
                        <a:pt x="0" y="85305"/>
                        <a:pt x="172107" y="0"/>
                        <a:pt x="384412" y="0"/>
                      </a:cubicBezTo>
                      <a:cubicBezTo>
                        <a:pt x="596716" y="0"/>
                        <a:pt x="768824" y="85305"/>
                        <a:pt x="768824" y="190534"/>
                      </a:cubicBezTo>
                      <a:cubicBezTo>
                        <a:pt x="768824" y="295764"/>
                        <a:pt x="596716" y="381069"/>
                        <a:pt x="384412" y="381069"/>
                      </a:cubicBezTo>
                      <a:cubicBezTo>
                        <a:pt x="172107" y="381069"/>
                        <a:pt x="0" y="295764"/>
                        <a:pt x="0" y="190534"/>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read</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packet</a:t>
                  </a:r>
                  <a:endParaRPr sz="1100" b="1">
                    <a:solidFill>
                      <a:srgbClr val="404557"/>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652527" y="3062591"/>
                <a:ext cx="387754" cy="247360"/>
                <a:chOff x="652527" y="3062591"/>
                <a:chExt cx="387754" cy="247360"/>
              </a:xfrm>
            </p:grpSpPr>
            <p:sp>
              <p:nvSpPr>
                <p:cNvPr id="48" name="数据存储"/>
                <p:cNvSpPr/>
                <p:nvPr/>
              </p:nvSpPr>
              <p:spPr>
                <a:xfrm>
                  <a:off x="652527" y="3062591"/>
                  <a:ext cx="381069" cy="247360"/>
                </a:xfrm>
                <a:custGeom>
                  <a:avLst/>
                  <a:gdLst>
                    <a:gd name="connsiteX0" fmla="*/ 190534 w 381069"/>
                    <a:gd name="connsiteY0" fmla="*/ 247360 h 247360"/>
                    <a:gd name="connsiteX1" fmla="*/ 190534 w 381069"/>
                    <a:gd name="connsiteY1" fmla="*/ 0 h 247360"/>
                    <a:gd name="connsiteX2" fmla="*/ 76214 w 381069"/>
                    <a:gd name="connsiteY2" fmla="*/ 0 h 247360"/>
                    <a:gd name="connsiteX3" fmla="*/ 304855 w 381069"/>
                    <a:gd name="connsiteY3" fmla="*/ 247360 h 247360"/>
                    <a:gd name="connsiteX4" fmla="*/ 190534 w 381069"/>
                    <a:gd name="connsiteY4" fmla="*/ 123680 h 247360"/>
                    <a:gd name="connsiteX5" fmla="*/ 76214 w 381069"/>
                    <a:gd name="connsiteY5" fmla="*/ 247360 h 247360"/>
                    <a:gd name="connsiteX6" fmla="*/ 304855 w 381069"/>
                    <a:gd name="connsiteY6" fmla="*/ 0 h 247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81069" h="247360" fill="none">
                      <a:moveTo>
                        <a:pt x="381069" y="0"/>
                      </a:moveTo>
                      <a:lnTo>
                        <a:pt x="0" y="0"/>
                      </a:lnTo>
                      <a:moveTo>
                        <a:pt x="0" y="247360"/>
                      </a:moveTo>
                      <a:lnTo>
                        <a:pt x="381069" y="247360"/>
                      </a:lnTo>
                    </a:path>
                  </a:pathLst>
                </a:custGeom>
                <a:solidFill>
                  <a:srgbClr val="3498DB"/>
                </a:solidFill>
                <a:ln w="10133" cap="flat">
                  <a:solidFill>
                    <a:srgbClr val="000000"/>
                  </a:solidFill>
                  <a:bevel/>
                </a:ln>
              </p:spPr>
            </p:sp>
            <p:sp>
              <p:nvSpPr>
                <p:cNvPr id="49" name="外部交互方"/>
                <p:cNvSpPr/>
                <p:nvPr/>
              </p:nvSpPr>
              <p:spPr>
                <a:xfrm>
                  <a:off x="776207" y="3093512"/>
                  <a:ext cx="73540" cy="190673"/>
                </a:xfrm>
                <a:custGeom>
                  <a:avLst/>
                  <a:gdLst>
                    <a:gd name="connsiteX0" fmla="*/ 36770 w 73540"/>
                    <a:gd name="connsiteY0" fmla="*/ 190673 h 190673"/>
                    <a:gd name="connsiteX1" fmla="*/ 36770 w 73540"/>
                    <a:gd name="connsiteY1" fmla="*/ 0 h 190673"/>
                    <a:gd name="connsiteX2" fmla="*/ 73540 w 73540"/>
                    <a:gd name="connsiteY2" fmla="*/ 95337 h 190673"/>
                    <a:gd name="connsiteX3" fmla="*/ 0 w 73540"/>
                    <a:gd name="connsiteY3" fmla="*/ 95337 h 190673"/>
                    <a:gd name="connsiteX4" fmla="*/ 36770 w 73540"/>
                    <a:gd name="connsiteY4" fmla="*/ 95337 h 190673"/>
                    <a:gd name="connsiteX5" fmla="*/ 0 w 73540"/>
                    <a:gd name="connsiteY5" fmla="*/ 47668 h 190673"/>
                    <a:gd name="connsiteX6" fmla="*/ 0 w 73540"/>
                    <a:gd name="connsiteY6" fmla="*/ 143005 h 190673"/>
                    <a:gd name="connsiteX7" fmla="*/ 73540 w 73540"/>
                    <a:gd name="connsiteY7" fmla="*/ 47668 h 190673"/>
                    <a:gd name="connsiteX8" fmla="*/ 73540 w 73540"/>
                    <a:gd name="connsiteY8" fmla="*/ 143005 h 190673"/>
                    <a:gd name="connsiteX9" fmla="*/ 18385 w 73540"/>
                    <a:gd name="connsiteY9" fmla="*/ 0 h 190673"/>
                    <a:gd name="connsiteX10" fmla="*/ 55155 w 73540"/>
                    <a:gd name="connsiteY10" fmla="*/ 0 h 190673"/>
                    <a:gd name="connsiteX11" fmla="*/ 18385 w 73540"/>
                    <a:gd name="connsiteY11" fmla="*/ 190673 h 190673"/>
                    <a:gd name="connsiteX12" fmla="*/ 55155 w 73540"/>
                    <a:gd name="connsiteY12" fmla="*/ 190673 h 19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540" h="190673">
                      <a:moveTo>
                        <a:pt x="73540" y="190673"/>
                      </a:moveTo>
                      <a:lnTo>
                        <a:pt x="73540" y="0"/>
                      </a:lnTo>
                      <a:lnTo>
                        <a:pt x="0" y="0"/>
                      </a:lnTo>
                      <a:lnTo>
                        <a:pt x="0" y="190673"/>
                      </a:lnTo>
                      <a:lnTo>
                        <a:pt x="73540" y="190673"/>
                      </a:lnTo>
                      <a:close/>
                    </a:path>
                  </a:pathLst>
                </a:custGeom>
                <a:solidFill>
                  <a:srgbClr val="3498DB"/>
                </a:solidFill>
                <a:ln w="7600" cap="flat">
                  <a:solidFill>
                    <a:srgbClr val="3498DB"/>
                  </a:solidFill>
                  <a:bevel/>
                </a:ln>
              </p:spPr>
            </p:sp>
            <p:cxnSp>
              <p:nvCxnSpPr>
                <p:cNvPr id="50" name="Line"/>
                <p:cNvCxnSpPr/>
                <p:nvPr/>
              </p:nvCxnSpPr>
              <p:spPr>
                <a:xfrm rot="5400000">
                  <a:off x="909916" y="3186271"/>
                  <a:ext cx="247360" cy="0"/>
                </a:xfrm>
                <a:prstGeom prst="line">
                  <a:avLst/>
                </a:prstGeom>
                <a:ln w="7600" cap="flat">
                  <a:solidFill>
                    <a:srgbClr val="000000"/>
                  </a:solidFill>
                  <a:bevel/>
                </a:ln>
              </p:spPr>
            </p:cxnSp>
            <p:sp>
              <p:nvSpPr>
                <p:cNvPr id="51" name="外部交互方"/>
                <p:cNvSpPr/>
                <p:nvPr/>
              </p:nvSpPr>
              <p:spPr>
                <a:xfrm>
                  <a:off x="899887" y="3093512"/>
                  <a:ext cx="73540" cy="190673"/>
                </a:xfrm>
                <a:custGeom>
                  <a:avLst/>
                  <a:gdLst>
                    <a:gd name="connsiteX0" fmla="*/ 36770 w 73540"/>
                    <a:gd name="connsiteY0" fmla="*/ 190673 h 190673"/>
                    <a:gd name="connsiteX1" fmla="*/ 36770 w 73540"/>
                    <a:gd name="connsiteY1" fmla="*/ 0 h 190673"/>
                    <a:gd name="connsiteX2" fmla="*/ 73540 w 73540"/>
                    <a:gd name="connsiteY2" fmla="*/ 95337 h 190673"/>
                    <a:gd name="connsiteX3" fmla="*/ 0 w 73540"/>
                    <a:gd name="connsiteY3" fmla="*/ 95337 h 190673"/>
                    <a:gd name="connsiteX4" fmla="*/ 36770 w 73540"/>
                    <a:gd name="connsiteY4" fmla="*/ 95337 h 190673"/>
                    <a:gd name="connsiteX5" fmla="*/ 0 w 73540"/>
                    <a:gd name="connsiteY5" fmla="*/ 47668 h 190673"/>
                    <a:gd name="connsiteX6" fmla="*/ 0 w 73540"/>
                    <a:gd name="connsiteY6" fmla="*/ 143005 h 190673"/>
                    <a:gd name="connsiteX7" fmla="*/ 73540 w 73540"/>
                    <a:gd name="connsiteY7" fmla="*/ 47668 h 190673"/>
                    <a:gd name="connsiteX8" fmla="*/ 73540 w 73540"/>
                    <a:gd name="connsiteY8" fmla="*/ 143005 h 190673"/>
                    <a:gd name="connsiteX9" fmla="*/ 18385 w 73540"/>
                    <a:gd name="connsiteY9" fmla="*/ 0 h 190673"/>
                    <a:gd name="connsiteX10" fmla="*/ 55155 w 73540"/>
                    <a:gd name="connsiteY10" fmla="*/ 0 h 190673"/>
                    <a:gd name="connsiteX11" fmla="*/ 18385 w 73540"/>
                    <a:gd name="connsiteY11" fmla="*/ 190673 h 190673"/>
                    <a:gd name="connsiteX12" fmla="*/ 55155 w 73540"/>
                    <a:gd name="connsiteY12" fmla="*/ 190673 h 19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540" h="190673">
                      <a:moveTo>
                        <a:pt x="73540" y="190673"/>
                      </a:moveTo>
                      <a:lnTo>
                        <a:pt x="73540" y="0"/>
                      </a:lnTo>
                      <a:lnTo>
                        <a:pt x="0" y="0"/>
                      </a:lnTo>
                      <a:lnTo>
                        <a:pt x="0" y="190673"/>
                      </a:lnTo>
                      <a:lnTo>
                        <a:pt x="73540" y="190673"/>
                      </a:lnTo>
                      <a:close/>
                    </a:path>
                  </a:pathLst>
                </a:custGeom>
                <a:solidFill>
                  <a:srgbClr val="3498DB"/>
                </a:solidFill>
                <a:ln w="7600" cap="flat">
                  <a:solidFill>
                    <a:srgbClr val="3498DB"/>
                  </a:solidFill>
                  <a:bevel/>
                </a:ln>
              </p:spPr>
            </p:sp>
          </p:grpSp>
        </p:grpSp>
        <p:grpSp>
          <p:nvGrpSpPr>
            <p:cNvPr id="15" name="组合 14"/>
            <p:cNvGrpSpPr/>
            <p:nvPr/>
          </p:nvGrpSpPr>
          <p:grpSpPr>
            <a:xfrm>
              <a:off x="652523" y="3734107"/>
              <a:ext cx="1307200" cy="570447"/>
              <a:chOff x="652523" y="3734107"/>
              <a:chExt cx="1307200" cy="570447"/>
            </a:xfrm>
          </p:grpSpPr>
          <p:grpSp>
            <p:nvGrpSpPr>
              <p:cNvPr id="36" name="组合 35"/>
              <p:cNvGrpSpPr/>
              <p:nvPr/>
            </p:nvGrpSpPr>
            <p:grpSpPr>
              <a:xfrm>
                <a:off x="941066" y="3734107"/>
                <a:ext cx="1018658" cy="570447"/>
                <a:chOff x="941066" y="3734107"/>
                <a:chExt cx="1018658" cy="570447"/>
              </a:xfrm>
            </p:grpSpPr>
            <p:sp>
              <p:nvSpPr>
                <p:cNvPr id="42" name="选择点"/>
                <p:cNvSpPr/>
                <p:nvPr/>
              </p:nvSpPr>
              <p:spPr>
                <a:xfrm>
                  <a:off x="1102254" y="3828958"/>
                  <a:ext cx="768170" cy="380743"/>
                </a:xfrm>
                <a:custGeom>
                  <a:avLst/>
                  <a:gdLst>
                    <a:gd name="connsiteX0" fmla="*/ 0 w 768170"/>
                    <a:gd name="connsiteY0" fmla="*/ 190372 h 380743"/>
                    <a:gd name="connsiteX1" fmla="*/ 384083 w 768170"/>
                    <a:gd name="connsiteY1" fmla="*/ 0 h 380743"/>
                    <a:gd name="connsiteX2" fmla="*/ 768170 w 768170"/>
                    <a:gd name="connsiteY2" fmla="*/ 190372 h 380743"/>
                    <a:gd name="connsiteX3" fmla="*/ 384083 w 768170"/>
                    <a:gd name="connsiteY3" fmla="*/ 380743 h 380743"/>
                  </a:gdLst>
                  <a:ahLst/>
                  <a:cxnLst>
                    <a:cxn ang="0">
                      <a:pos x="connsiteX0" y="connsiteY0"/>
                    </a:cxn>
                    <a:cxn ang="0">
                      <a:pos x="connsiteX1" y="connsiteY1"/>
                    </a:cxn>
                    <a:cxn ang="0">
                      <a:pos x="connsiteX2" y="connsiteY2"/>
                    </a:cxn>
                    <a:cxn ang="0">
                      <a:pos x="connsiteX3" y="connsiteY3"/>
                    </a:cxn>
                  </a:cxnLst>
                  <a:rect l="l" t="t" r="r" b="b"/>
                  <a:pathLst>
                    <a:path w="768170" h="380743">
                      <a:moveTo>
                        <a:pt x="0" y="190372"/>
                      </a:moveTo>
                      <a:cubicBezTo>
                        <a:pt x="0" y="85232"/>
                        <a:pt x="171960" y="0"/>
                        <a:pt x="384083" y="0"/>
                      </a:cubicBezTo>
                      <a:cubicBezTo>
                        <a:pt x="596206" y="0"/>
                        <a:pt x="768170" y="85232"/>
                        <a:pt x="768170" y="190372"/>
                      </a:cubicBezTo>
                      <a:cubicBezTo>
                        <a:pt x="768170" y="295511"/>
                        <a:pt x="596206" y="380743"/>
                        <a:pt x="384083" y="380743"/>
                      </a:cubicBezTo>
                      <a:cubicBezTo>
                        <a:pt x="171960" y="380743"/>
                        <a:pt x="0" y="295511"/>
                        <a:pt x="0" y="190372"/>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nvGrpSpPr>
                <p:cNvPr id="43" name="组合 42"/>
                <p:cNvGrpSpPr/>
                <p:nvPr/>
              </p:nvGrpSpPr>
              <p:grpSpPr>
                <a:xfrm>
                  <a:off x="941066" y="3734107"/>
                  <a:ext cx="1018658" cy="570447"/>
                  <a:chOff x="941066" y="3734107"/>
                  <a:chExt cx="1018658" cy="570447"/>
                </a:xfrm>
              </p:grpSpPr>
              <p:sp>
                <p:nvSpPr>
                  <p:cNvPr id="44" name="参与者引用"/>
                  <p:cNvSpPr/>
                  <p:nvPr/>
                </p:nvSpPr>
                <p:spPr>
                  <a:xfrm>
                    <a:off x="941066" y="3734107"/>
                    <a:ext cx="1018658" cy="570447"/>
                  </a:xfrm>
                  <a:custGeom>
                    <a:avLst/>
                    <a:gdLst>
                      <a:gd name="connsiteX0" fmla="*/ 509328 w 1018658"/>
                      <a:gd name="connsiteY0" fmla="*/ 570447 h 570447"/>
                      <a:gd name="connsiteX1" fmla="*/ 509328 w 1018658"/>
                      <a:gd name="connsiteY1" fmla="*/ 0 h 570447"/>
                      <a:gd name="connsiteX2" fmla="*/ 1018658 w 1018658"/>
                      <a:gd name="connsiteY2" fmla="*/ 285223 h 570447"/>
                      <a:gd name="connsiteX3" fmla="*/ 0 w 1018658"/>
                      <a:gd name="connsiteY3" fmla="*/ 285223 h 570447"/>
                      <a:gd name="connsiteX4" fmla="*/ 509328 w 1018658"/>
                      <a:gd name="connsiteY4" fmla="*/ 285223 h 570447"/>
                    </a:gdLst>
                    <a:ahLst/>
                    <a:cxnLst>
                      <a:cxn ang="0">
                        <a:pos x="connsiteX0" y="connsiteY0"/>
                      </a:cxn>
                      <a:cxn ang="0">
                        <a:pos x="connsiteX1" y="connsiteY1"/>
                      </a:cxn>
                      <a:cxn ang="0">
                        <a:pos x="connsiteX2" y="connsiteY2"/>
                      </a:cxn>
                      <a:cxn ang="0">
                        <a:pos x="connsiteX3" y="connsiteY3"/>
                      </a:cxn>
                      <a:cxn ang="0">
                        <a:pos x="connsiteX4" y="connsiteY4"/>
                      </a:cxn>
                    </a:cxnLst>
                    <a:rect l="0" t="0" r="0" b="0"/>
                    <a:pathLst>
                      <a:path w="1018658" h="570447">
                        <a:moveTo>
                          <a:pt x="1018658" y="570447"/>
                        </a:moveTo>
                        <a:lnTo>
                          <a:pt x="1018658" y="0"/>
                        </a:lnTo>
                        <a:lnTo>
                          <a:pt x="0" y="0"/>
                        </a:lnTo>
                        <a:lnTo>
                          <a:pt x="0" y="570447"/>
                        </a:lnTo>
                        <a:lnTo>
                          <a:pt x="1018658" y="570447"/>
                        </a:lnTo>
                        <a:close/>
                      </a:path>
                    </a:pathLst>
                  </a:custGeom>
                  <a:solidFill>
                    <a:srgbClr val="FFFFFF"/>
                  </a:solidFill>
                  <a:ln w="7600" cap="flat">
                    <a:solidFill>
                      <a:srgbClr val="000000"/>
                    </a:solidFill>
                    <a:bevel/>
                  </a:ln>
                </p:spPr>
              </p:sp>
              <p:sp>
                <p:nvSpPr>
                  <p:cNvPr id="45" name="选择点"/>
                  <p:cNvSpPr/>
                  <p:nvPr/>
                </p:nvSpPr>
                <p:spPr>
                  <a:xfrm>
                    <a:off x="1102254" y="3828958"/>
                    <a:ext cx="768162" cy="380743"/>
                  </a:xfrm>
                  <a:custGeom>
                    <a:avLst/>
                    <a:gdLst>
                      <a:gd name="connsiteX0" fmla="*/ 0 w 768162"/>
                      <a:gd name="connsiteY0" fmla="*/ 190372 h 380743"/>
                      <a:gd name="connsiteX1" fmla="*/ 384083 w 768162"/>
                      <a:gd name="connsiteY1" fmla="*/ 0 h 380743"/>
                      <a:gd name="connsiteX2" fmla="*/ 768162 w 768162"/>
                      <a:gd name="connsiteY2" fmla="*/ 190372 h 380743"/>
                      <a:gd name="connsiteX3" fmla="*/ 384083 w 768162"/>
                      <a:gd name="connsiteY3" fmla="*/ 380743 h 380743"/>
                    </a:gdLst>
                    <a:ahLst/>
                    <a:cxnLst>
                      <a:cxn ang="0">
                        <a:pos x="connsiteX0" y="connsiteY0"/>
                      </a:cxn>
                      <a:cxn ang="0">
                        <a:pos x="connsiteX1" y="connsiteY1"/>
                      </a:cxn>
                      <a:cxn ang="0">
                        <a:pos x="connsiteX2" y="connsiteY2"/>
                      </a:cxn>
                      <a:cxn ang="0">
                        <a:pos x="connsiteX3" y="connsiteY3"/>
                      </a:cxn>
                    </a:cxnLst>
                    <a:rect l="l" t="t" r="r" b="b"/>
                    <a:pathLst>
                      <a:path w="768162" h="380743">
                        <a:moveTo>
                          <a:pt x="0" y="190372"/>
                        </a:moveTo>
                        <a:cubicBezTo>
                          <a:pt x="0" y="85232"/>
                          <a:pt x="171960" y="0"/>
                          <a:pt x="384083" y="0"/>
                        </a:cubicBezTo>
                        <a:cubicBezTo>
                          <a:pt x="596206" y="0"/>
                          <a:pt x="768162" y="85232"/>
                          <a:pt x="768162" y="190372"/>
                        </a:cubicBezTo>
                        <a:cubicBezTo>
                          <a:pt x="768162" y="295511"/>
                          <a:pt x="596206" y="380743"/>
                          <a:pt x="384083" y="380743"/>
                        </a:cubicBezTo>
                        <a:cubicBezTo>
                          <a:pt x="171960" y="380743"/>
                          <a:pt x="0" y="295511"/>
                          <a:pt x="0" y="190372"/>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100" b="1">
                        <a:solidFill>
                          <a:srgbClr val="404557"/>
                        </a:solidFill>
                        <a:latin typeface="微软雅黑" panose="020B0503020204020204" pitchFamily="34" charset="-122"/>
                        <a:ea typeface="微软雅黑" panose="020B0503020204020204" pitchFamily="34" charset="-122"/>
                      </a:rPr>
                      <a:t>SSL/TLS</a:t>
                    </a:r>
                    <a:endParaRPr sz="1100" b="1">
                      <a:solidFill>
                        <a:srgbClr val="404557"/>
                      </a:solidFill>
                      <a:latin typeface="微软雅黑" panose="020B0503020204020204" pitchFamily="34" charset="-122"/>
                      <a:ea typeface="微软雅黑" panose="020B0503020204020204" pitchFamily="34" charset="-122"/>
                    </a:endParaRPr>
                  </a:p>
                  <a:p>
                    <a:pPr algn="ctr">
                      <a:lnSpc>
                        <a:spcPct val="100000"/>
                      </a:lnSpc>
                    </a:pPr>
                    <a:r>
                      <a:rPr sz="1100" b="1">
                        <a:solidFill>
                          <a:srgbClr val="404557"/>
                        </a:solidFill>
                        <a:latin typeface="微软雅黑" panose="020B0503020204020204" pitchFamily="34" charset="-122"/>
                        <a:ea typeface="微软雅黑" panose="020B0503020204020204" pitchFamily="34" charset="-122"/>
                      </a:rPr>
                      <a:t>processing</a:t>
                    </a:r>
                    <a:endParaRPr sz="1100" b="1">
                      <a:solidFill>
                        <a:srgbClr val="404557"/>
                      </a:solidFill>
                      <a:latin typeface="微软雅黑" panose="020B0503020204020204" pitchFamily="34" charset="-122"/>
                      <a:ea typeface="微软雅黑" panose="020B0503020204020204" pitchFamily="34" charset="-122"/>
                    </a:endParaRPr>
                  </a:p>
                </p:txBody>
              </p:sp>
            </p:grpSp>
          </p:grpSp>
          <p:grpSp>
            <p:nvGrpSpPr>
              <p:cNvPr id="37" name="组合 36"/>
              <p:cNvGrpSpPr/>
              <p:nvPr/>
            </p:nvGrpSpPr>
            <p:grpSpPr>
              <a:xfrm>
                <a:off x="652523" y="3895756"/>
                <a:ext cx="387423" cy="247149"/>
                <a:chOff x="652523" y="3895756"/>
                <a:chExt cx="387423" cy="247149"/>
              </a:xfrm>
            </p:grpSpPr>
            <p:sp>
              <p:nvSpPr>
                <p:cNvPr id="38" name="数据存储"/>
                <p:cNvSpPr/>
                <p:nvPr/>
              </p:nvSpPr>
              <p:spPr>
                <a:xfrm>
                  <a:off x="652523" y="3895756"/>
                  <a:ext cx="380743" cy="247149"/>
                </a:xfrm>
                <a:custGeom>
                  <a:avLst/>
                  <a:gdLst>
                    <a:gd name="connsiteX0" fmla="*/ 190372 w 380743"/>
                    <a:gd name="connsiteY0" fmla="*/ 247149 h 247149"/>
                    <a:gd name="connsiteX1" fmla="*/ 190372 w 380743"/>
                    <a:gd name="connsiteY1" fmla="*/ 0 h 247149"/>
                    <a:gd name="connsiteX2" fmla="*/ 76149 w 380743"/>
                    <a:gd name="connsiteY2" fmla="*/ 0 h 247149"/>
                    <a:gd name="connsiteX3" fmla="*/ 304595 w 380743"/>
                    <a:gd name="connsiteY3" fmla="*/ 247149 h 247149"/>
                    <a:gd name="connsiteX4" fmla="*/ 190372 w 380743"/>
                    <a:gd name="connsiteY4" fmla="*/ 123574 h 247149"/>
                    <a:gd name="connsiteX5" fmla="*/ 76149 w 380743"/>
                    <a:gd name="connsiteY5" fmla="*/ 247149 h 247149"/>
                    <a:gd name="connsiteX6" fmla="*/ 304595 w 380743"/>
                    <a:gd name="connsiteY6" fmla="*/ 0 h 24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380743" h="247149" fill="none">
                      <a:moveTo>
                        <a:pt x="380743" y="0"/>
                      </a:moveTo>
                      <a:lnTo>
                        <a:pt x="0" y="0"/>
                      </a:lnTo>
                      <a:moveTo>
                        <a:pt x="0" y="247149"/>
                      </a:moveTo>
                      <a:lnTo>
                        <a:pt x="380743" y="247149"/>
                      </a:lnTo>
                    </a:path>
                  </a:pathLst>
                </a:custGeom>
                <a:solidFill>
                  <a:srgbClr val="3498DB"/>
                </a:solidFill>
                <a:ln w="10133" cap="flat">
                  <a:solidFill>
                    <a:srgbClr val="000000"/>
                  </a:solidFill>
                  <a:bevel/>
                </a:ln>
              </p:spPr>
            </p:sp>
            <p:sp>
              <p:nvSpPr>
                <p:cNvPr id="39" name="外部交互方"/>
                <p:cNvSpPr/>
                <p:nvPr/>
              </p:nvSpPr>
              <p:spPr>
                <a:xfrm>
                  <a:off x="776097" y="3926650"/>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cxnSp>
              <p:nvCxnSpPr>
                <p:cNvPr id="40" name="Line"/>
                <p:cNvCxnSpPr/>
                <p:nvPr/>
              </p:nvCxnSpPr>
              <p:spPr>
                <a:xfrm rot="5400000">
                  <a:off x="909692" y="4019330"/>
                  <a:ext cx="247149" cy="0"/>
                </a:xfrm>
                <a:prstGeom prst="line">
                  <a:avLst/>
                </a:prstGeom>
                <a:ln w="7600" cap="flat">
                  <a:solidFill>
                    <a:srgbClr val="000000"/>
                  </a:solidFill>
                  <a:bevel/>
                </a:ln>
              </p:spPr>
            </p:cxnSp>
            <p:sp>
              <p:nvSpPr>
                <p:cNvPr id="41" name="外部交互方"/>
                <p:cNvSpPr/>
                <p:nvPr/>
              </p:nvSpPr>
              <p:spPr>
                <a:xfrm>
                  <a:off x="899672" y="3926650"/>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grpSp>
        </p:grpSp>
        <p:grpSp>
          <p:nvGrpSpPr>
            <p:cNvPr id="16" name="Group 285"/>
            <p:cNvGrpSpPr/>
            <p:nvPr/>
          </p:nvGrpSpPr>
          <p:grpSpPr>
            <a:xfrm rot="-2842896">
              <a:off x="4657596" y="1727249"/>
              <a:ext cx="1270317" cy="1380299"/>
              <a:chOff x="4633688" y="1737739"/>
              <a:chExt cx="1270317" cy="1380299"/>
            </a:xfrm>
          </p:grpSpPr>
          <p:sp>
            <p:nvSpPr>
              <p:cNvPr id="34" name="直线连接线"/>
              <p:cNvSpPr/>
              <p:nvPr/>
            </p:nvSpPr>
            <p:spPr>
              <a:xfrm>
                <a:off x="4633688" y="2395400"/>
                <a:ext cx="1270317" cy="0"/>
              </a:xfrm>
              <a:custGeom>
                <a:avLst/>
                <a:gdLst/>
                <a:ahLst/>
                <a:cxnLst/>
                <a:rect l="0" t="0" r="0" b="0"/>
                <a:pathLst>
                  <a:path w="1270317" fill="none">
                    <a:moveTo>
                      <a:pt x="0" y="0"/>
                    </a:moveTo>
                    <a:lnTo>
                      <a:pt x="1270317" y="0"/>
                    </a:lnTo>
                  </a:path>
                </a:pathLst>
              </a:custGeom>
              <a:noFill/>
              <a:ln w="7600" cap="flat">
                <a:solidFill>
                  <a:srgbClr val="236EA1"/>
                </a:solidFill>
                <a:bevel/>
                <a:tailEnd type="stealth" w="med" len="med"/>
              </a:ln>
            </p:spPr>
          </p:sp>
          <p:sp>
            <p:nvSpPr>
              <p:cNvPr id="35" name="Text 286"/>
              <p:cNvSpPr txBox="1"/>
              <p:nvPr/>
            </p:nvSpPr>
            <p:spPr>
              <a:xfrm rot="2842896">
                <a:off x="4601255" y="2291089"/>
                <a:ext cx="1380299" cy="273600"/>
              </a:xfrm>
              <a:prstGeom prst="rect">
                <a:avLst/>
              </a:prstGeom>
              <a:noFill/>
            </p:spPr>
            <p:txBody>
              <a:bodyPr wrap="square" lIns="36000" tIns="0" rIns="36000" bIns="0" rtlCol="0" anchor="ctr"/>
              <a:lstStyle/>
              <a:p>
                <a:pPr algn="ctr">
                  <a:lnSpc>
                    <a:spcPct val="100000"/>
                  </a:lnSpc>
                </a:pPr>
                <a:r>
                  <a:rPr sz="1200" b="1" dirty="0">
                    <a:solidFill>
                      <a:srgbClr val="1F6391"/>
                    </a:solidFill>
                    <a:latin typeface="微软雅黑" panose="020B0503020204020204" pitchFamily="34" charset="-122"/>
                    <a:ea typeface="微软雅黑" panose="020B0503020204020204" pitchFamily="34" charset="-122"/>
                  </a:rPr>
                  <a:t>dynamic pages</a:t>
                </a:r>
                <a:endParaRPr sz="1200" b="1" dirty="0">
                  <a:solidFill>
                    <a:srgbClr val="1F6391"/>
                  </a:solidFill>
                  <a:latin typeface="微软雅黑" panose="020B0503020204020204" pitchFamily="34" charset="-122"/>
                  <a:ea typeface="微软雅黑" panose="020B0503020204020204" pitchFamily="34" charset="-122"/>
                </a:endParaRPr>
              </a:p>
            </p:txBody>
          </p:sp>
        </p:grpSp>
        <p:grpSp>
          <p:nvGrpSpPr>
            <p:cNvPr id="17" name="Group 287"/>
            <p:cNvGrpSpPr/>
            <p:nvPr/>
          </p:nvGrpSpPr>
          <p:grpSpPr>
            <a:xfrm>
              <a:off x="5369417" y="3159960"/>
              <a:ext cx="397906" cy="0"/>
              <a:chOff x="5369417" y="3159960"/>
              <a:chExt cx="397906" cy="0"/>
            </a:xfrm>
          </p:grpSpPr>
          <p:sp>
            <p:nvSpPr>
              <p:cNvPr id="32" name="直线连接线"/>
              <p:cNvSpPr/>
              <p:nvPr/>
            </p:nvSpPr>
            <p:spPr>
              <a:xfrm>
                <a:off x="5369417" y="3159960"/>
                <a:ext cx="397906" cy="0"/>
              </a:xfrm>
              <a:custGeom>
                <a:avLst/>
                <a:gdLst/>
                <a:ahLst/>
                <a:cxnLst/>
                <a:rect l="0" t="0" r="0" b="0"/>
                <a:pathLst>
                  <a:path w="397906" fill="none">
                    <a:moveTo>
                      <a:pt x="0" y="0"/>
                    </a:moveTo>
                    <a:lnTo>
                      <a:pt x="397906" y="0"/>
                    </a:lnTo>
                  </a:path>
                </a:pathLst>
              </a:custGeom>
              <a:noFill/>
              <a:ln w="7600" cap="flat">
                <a:solidFill>
                  <a:srgbClr val="236EA1"/>
                </a:solidFill>
                <a:bevel/>
                <a:tailEnd type="stealth" w="med" len="med"/>
              </a:ln>
            </p:spPr>
          </p:sp>
          <p:sp>
            <p:nvSpPr>
              <p:cNvPr id="33" name="Text 288"/>
              <p:cNvSpPr txBox="1"/>
              <p:nvPr/>
            </p:nvSpPr>
            <p:spPr>
              <a:xfrm>
                <a:off x="5081970" y="2635560"/>
                <a:ext cx="972800" cy="1048800"/>
              </a:xfrm>
              <a:prstGeom prst="rect">
                <a:avLst/>
              </a:prstGeom>
              <a:noFill/>
            </p:spPr>
            <p:txBody>
              <a:bodyPr wrap="square" lIns="36000" tIns="0" rIns="36000" bIns="0" rtlCol="0" anchor="ctr"/>
              <a:lstStyle/>
              <a:p>
                <a:pPr algn="ctr">
                  <a:lnSpc>
                    <a:spcPct val="100000"/>
                  </a:lnSpc>
                </a:pPr>
                <a:r>
                  <a:rPr sz="1100" b="1" dirty="0">
                    <a:solidFill>
                      <a:srgbClr val="1F6391"/>
                    </a:solidFill>
                    <a:latin typeface="微软雅黑" panose="020B0503020204020204" pitchFamily="34" charset="-122"/>
                    <a:ea typeface="微软雅黑" panose="020B0503020204020204" pitchFamily="34" charset="-122"/>
                  </a:rPr>
                  <a:t>static pages</a:t>
                </a: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a:p>
                <a:pPr algn="ctr">
                  <a:lnSpc>
                    <a:spcPct val="100000"/>
                  </a:lnSpc>
                </a:pPr>
                <a:endParaRPr sz="1100" b="1" dirty="0">
                  <a:solidFill>
                    <a:srgbClr val="1F6391"/>
                  </a:solidFill>
                  <a:latin typeface="微软雅黑" panose="020B0503020204020204" pitchFamily="34" charset="-122"/>
                  <a:ea typeface="微软雅黑" panose="020B0503020204020204" pitchFamily="34" charset="-122"/>
                </a:endParaRPr>
              </a:p>
            </p:txBody>
          </p:sp>
        </p:grpSp>
        <p:cxnSp>
          <p:nvCxnSpPr>
            <p:cNvPr id="18" name="直线连接线"/>
            <p:cNvCxnSpPr>
              <a:stCxn id="98" idx="2"/>
            </p:cNvCxnSpPr>
            <p:nvPr/>
          </p:nvCxnSpPr>
          <p:spPr>
            <a:xfrm rot="4609932">
              <a:off x="6468541" y="2522700"/>
              <a:ext cx="1135660" cy="0"/>
            </a:xfrm>
            <a:prstGeom prst="line">
              <a:avLst/>
            </a:prstGeom>
            <a:ln w="7600" cap="flat">
              <a:solidFill>
                <a:srgbClr val="236EA1"/>
              </a:solidFill>
              <a:bevel/>
              <a:tailEnd type="stealth" w="med" len="med"/>
            </a:ln>
          </p:spPr>
        </p:cxnSp>
        <p:cxnSp>
          <p:nvCxnSpPr>
            <p:cNvPr id="19" name="直线连接线"/>
            <p:cNvCxnSpPr>
              <a:stCxn id="121" idx="2"/>
            </p:cNvCxnSpPr>
            <p:nvPr/>
          </p:nvCxnSpPr>
          <p:spPr>
            <a:xfrm>
              <a:off x="6993869" y="3163175"/>
              <a:ext cx="209856" cy="0"/>
            </a:xfrm>
            <a:prstGeom prst="line">
              <a:avLst/>
            </a:prstGeom>
            <a:ln w="7600" cap="flat">
              <a:solidFill>
                <a:srgbClr val="236EA1"/>
              </a:solidFill>
              <a:bevel/>
              <a:tailEnd type="stealth" w="med" len="med"/>
            </a:ln>
          </p:spPr>
        </p:cxnSp>
        <p:cxnSp>
          <p:nvCxnSpPr>
            <p:cNvPr id="20" name="直线连接线"/>
            <p:cNvCxnSpPr>
              <a:stCxn id="70" idx="2"/>
            </p:cNvCxnSpPr>
            <p:nvPr/>
          </p:nvCxnSpPr>
          <p:spPr>
            <a:xfrm flipV="1">
              <a:off x="6993858" y="3326402"/>
              <a:ext cx="213931" cy="718023"/>
            </a:xfrm>
            <a:prstGeom prst="line">
              <a:avLst/>
            </a:prstGeom>
            <a:ln w="7600" cap="flat">
              <a:solidFill>
                <a:srgbClr val="236EA1"/>
              </a:solidFill>
              <a:bevel/>
              <a:tailEnd type="stealth" w="med" len="med"/>
            </a:ln>
          </p:spPr>
        </p:cxnSp>
        <p:grpSp>
          <p:nvGrpSpPr>
            <p:cNvPr id="21" name="Group 289"/>
            <p:cNvGrpSpPr/>
            <p:nvPr/>
          </p:nvGrpSpPr>
          <p:grpSpPr>
            <a:xfrm rot="-2399844">
              <a:off x="5571548" y="3698420"/>
              <a:ext cx="1089004" cy="0"/>
              <a:chOff x="5571548" y="3698420"/>
              <a:chExt cx="1089004" cy="0"/>
            </a:xfrm>
          </p:grpSpPr>
          <p:sp>
            <p:nvSpPr>
              <p:cNvPr id="30" name="从中心到中心"/>
              <p:cNvSpPr/>
              <p:nvPr/>
            </p:nvSpPr>
            <p:spPr>
              <a:xfrm>
                <a:off x="5571548" y="3698420"/>
                <a:ext cx="1089004" cy="0"/>
              </a:xfrm>
              <a:custGeom>
                <a:avLst/>
                <a:gdLst/>
                <a:ahLst/>
                <a:cxnLst/>
                <a:rect l="0" t="0" r="0" b="0"/>
                <a:pathLst>
                  <a:path w="1089004" fill="none">
                    <a:moveTo>
                      <a:pt x="0" y="0"/>
                    </a:moveTo>
                    <a:cubicBezTo>
                      <a:pt x="184064" y="-271909"/>
                      <a:pt x="728565" y="-271909"/>
                      <a:pt x="1089004"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31" name="Text 290"/>
              <p:cNvSpPr txBox="1"/>
              <p:nvPr/>
            </p:nvSpPr>
            <p:spPr>
              <a:xfrm rot="2399844">
                <a:off x="5575663" y="3301111"/>
                <a:ext cx="904400" cy="250800"/>
              </a:xfrm>
              <a:prstGeom prst="rect">
                <a:avLst/>
              </a:prstGeom>
              <a:noFill/>
            </p:spPr>
            <p:txBody>
              <a:bodyPr wrap="square" lIns="36000" tIns="0" rIns="36000" bIns="0" rtlCol="0" anchor="ctr"/>
              <a:lstStyle/>
              <a:p>
                <a:pPr algn="ctr">
                  <a:lnSpc>
                    <a:spcPct val="100000"/>
                  </a:lnSpc>
                </a:pPr>
                <a:r>
                  <a:rPr sz="1200" b="1" dirty="0">
                    <a:solidFill>
                      <a:srgbClr val="1F6391"/>
                    </a:solidFill>
                    <a:latin typeface="微软雅黑" panose="020B0503020204020204" pitchFamily="34" charset="-122"/>
                    <a:ea typeface="微软雅黑" panose="020B0503020204020204" pitchFamily="34" charset="-122"/>
                  </a:rPr>
                  <a:t>cache miss</a:t>
                </a:r>
                <a:endParaRPr sz="1200" b="1" dirty="0">
                  <a:solidFill>
                    <a:srgbClr val="1F6391"/>
                  </a:solidFill>
                  <a:latin typeface="微软雅黑" panose="020B0503020204020204" pitchFamily="34" charset="-122"/>
                  <a:ea typeface="微软雅黑" panose="020B0503020204020204" pitchFamily="34" charset="-122"/>
                </a:endParaRPr>
              </a:p>
            </p:txBody>
          </p:sp>
        </p:grpSp>
        <p:grpSp>
          <p:nvGrpSpPr>
            <p:cNvPr id="22" name="Group 291"/>
            <p:cNvGrpSpPr/>
            <p:nvPr/>
          </p:nvGrpSpPr>
          <p:grpSpPr>
            <a:xfrm rot="152473">
              <a:off x="5659755" y="4169446"/>
              <a:ext cx="2374735" cy="0"/>
              <a:chOff x="5659755" y="4169446"/>
              <a:chExt cx="2374735" cy="0"/>
            </a:xfrm>
          </p:grpSpPr>
          <p:sp>
            <p:nvSpPr>
              <p:cNvPr id="28" name="从中心到中心"/>
              <p:cNvSpPr/>
              <p:nvPr/>
            </p:nvSpPr>
            <p:spPr>
              <a:xfrm>
                <a:off x="5659755" y="4169446"/>
                <a:ext cx="2374735" cy="0"/>
              </a:xfrm>
              <a:custGeom>
                <a:avLst/>
                <a:gdLst/>
                <a:ahLst/>
                <a:cxnLst/>
                <a:rect l="0" t="0" r="0" b="0"/>
                <a:pathLst>
                  <a:path w="2374735" fill="none">
                    <a:moveTo>
                      <a:pt x="0" y="0"/>
                    </a:moveTo>
                    <a:cubicBezTo>
                      <a:pt x="-1015381" y="954436"/>
                      <a:pt x="171987" y="954436"/>
                      <a:pt x="2374735" y="0"/>
                    </a:cubicBezTo>
                  </a:path>
                </a:pathLst>
              </a:custGeom>
              <a:gradFill>
                <a:gsLst>
                  <a:gs pos="0">
                    <a:srgbClr val="3498DB"/>
                  </a:gs>
                  <a:gs pos="100000">
                    <a:srgbClr val="2D85C1"/>
                  </a:gs>
                </a:gsLst>
                <a:lin ang="5400000" scaled="0"/>
              </a:gradFill>
              <a:ln w="7600" cap="flat">
                <a:solidFill>
                  <a:srgbClr val="236EA1"/>
                </a:solidFill>
                <a:bevel/>
                <a:headEnd type="triangle" w="med" len="med"/>
              </a:ln>
            </p:spPr>
          </p:sp>
          <p:sp>
            <p:nvSpPr>
              <p:cNvPr id="29" name="Text 292"/>
              <p:cNvSpPr txBox="1"/>
              <p:nvPr/>
            </p:nvSpPr>
            <p:spPr>
              <a:xfrm rot="-152473">
                <a:off x="4641458" y="4998481"/>
                <a:ext cx="1193200" cy="250800"/>
              </a:xfrm>
              <a:prstGeom prst="rect">
                <a:avLst/>
              </a:prstGeom>
              <a:noFill/>
            </p:spPr>
            <p:txBody>
              <a:bodyPr wrap="square" lIns="36000" tIns="0" rIns="36000" bIns="0" rtlCol="0" anchor="ctr"/>
              <a:lstStyle/>
              <a:p>
                <a:pPr algn="ctr">
                  <a:lnSpc>
                    <a:spcPct val="100000"/>
                  </a:lnSpc>
                </a:pPr>
                <a:r>
                  <a:rPr sz="1100" b="1">
                    <a:solidFill>
                      <a:srgbClr val="1F6391"/>
                    </a:solidFill>
                    <a:latin typeface="微软雅黑" panose="020B0503020204020204" pitchFamily="34" charset="-122"/>
                    <a:ea typeface="微软雅黑" panose="020B0503020204020204" pitchFamily="34" charset="-122"/>
                  </a:rPr>
                  <a:t>I/O completion</a:t>
                </a:r>
                <a:endParaRPr sz="1100" b="1">
                  <a:solidFill>
                    <a:srgbClr val="1F6391"/>
                  </a:solidFill>
                  <a:latin typeface="微软雅黑" panose="020B0503020204020204" pitchFamily="34" charset="-122"/>
                  <a:ea typeface="微软雅黑" panose="020B0503020204020204" pitchFamily="34" charset="-122"/>
                </a:endParaRPr>
              </a:p>
            </p:txBody>
          </p:sp>
        </p:grpSp>
        <p:sp>
          <p:nvSpPr>
            <p:cNvPr id="23" name="直线连接线"/>
            <p:cNvSpPr/>
            <p:nvPr/>
          </p:nvSpPr>
          <p:spPr>
            <a:xfrm rot="-50283">
              <a:off x="6993851" y="4041878"/>
              <a:ext cx="348295" cy="0"/>
            </a:xfrm>
            <a:custGeom>
              <a:avLst/>
              <a:gdLst/>
              <a:ahLst/>
              <a:cxnLst/>
              <a:rect l="0" t="0" r="0" b="0"/>
              <a:pathLst>
                <a:path w="348295" fill="none">
                  <a:moveTo>
                    <a:pt x="0" y="0"/>
                  </a:moveTo>
                  <a:lnTo>
                    <a:pt x="348295" y="0"/>
                  </a:lnTo>
                </a:path>
              </a:pathLst>
            </a:custGeom>
            <a:noFill/>
            <a:ln w="7600" cap="flat">
              <a:solidFill>
                <a:srgbClr val="236EA1"/>
              </a:solidFill>
              <a:bevel/>
              <a:tailEnd type="stealth" w="med" len="med"/>
            </a:ln>
          </p:spPr>
        </p:sp>
        <p:cxnSp>
          <p:nvCxnSpPr>
            <p:cNvPr id="24" name="直线连接线"/>
            <p:cNvCxnSpPr>
              <a:stCxn id="54" idx="2"/>
            </p:cNvCxnSpPr>
            <p:nvPr/>
          </p:nvCxnSpPr>
          <p:spPr>
            <a:xfrm>
              <a:off x="1950828" y="2282161"/>
              <a:ext cx="346091" cy="831439"/>
            </a:xfrm>
            <a:prstGeom prst="line">
              <a:avLst/>
            </a:prstGeom>
            <a:ln w="7600" cap="flat">
              <a:solidFill>
                <a:srgbClr val="236EA1"/>
              </a:solidFill>
              <a:bevel/>
              <a:tailEnd type="stealth" w="med" len="med"/>
            </a:ln>
          </p:spPr>
        </p:cxnSp>
        <p:cxnSp>
          <p:nvCxnSpPr>
            <p:cNvPr id="25" name="直线连接线"/>
            <p:cNvCxnSpPr>
              <a:stCxn id="44" idx="2"/>
            </p:cNvCxnSpPr>
            <p:nvPr/>
          </p:nvCxnSpPr>
          <p:spPr>
            <a:xfrm flipV="1">
              <a:off x="1959724" y="3258000"/>
              <a:ext cx="335750" cy="761331"/>
            </a:xfrm>
            <a:prstGeom prst="line">
              <a:avLst/>
            </a:prstGeom>
            <a:ln w="7600" cap="flat">
              <a:solidFill>
                <a:srgbClr val="236EA1"/>
              </a:solidFill>
              <a:bevel/>
              <a:tailEnd type="stealth" w="med" len="med"/>
            </a:ln>
          </p:spPr>
        </p:cxnSp>
        <p:cxnSp>
          <p:nvCxnSpPr>
            <p:cNvPr id="26" name="直线连接线"/>
            <p:cNvCxnSpPr>
              <a:stCxn id="52" idx="2"/>
            </p:cNvCxnSpPr>
            <p:nvPr/>
          </p:nvCxnSpPr>
          <p:spPr>
            <a:xfrm>
              <a:off x="1960843" y="3186271"/>
              <a:ext cx="219280" cy="0"/>
            </a:xfrm>
            <a:prstGeom prst="line">
              <a:avLst/>
            </a:prstGeom>
            <a:ln w="7600" cap="flat">
              <a:solidFill>
                <a:srgbClr val="236EA1"/>
              </a:solidFill>
              <a:bevel/>
              <a:tailEnd type="stealth" w="med" len="med"/>
            </a:ln>
          </p:spPr>
        </p:cxnSp>
        <p:cxnSp>
          <p:nvCxnSpPr>
            <p:cNvPr id="27" name="直线连接线"/>
            <p:cNvCxnSpPr>
              <a:stCxn id="106" idx="2"/>
            </p:cNvCxnSpPr>
            <p:nvPr/>
          </p:nvCxnSpPr>
          <p:spPr>
            <a:xfrm>
              <a:off x="3676139" y="3163760"/>
              <a:ext cx="365984" cy="0"/>
            </a:xfrm>
            <a:prstGeom prst="line">
              <a:avLst/>
            </a:prstGeom>
            <a:ln w="7600" cap="flat">
              <a:solidFill>
                <a:srgbClr val="236EA1"/>
              </a:solidFill>
              <a:bevel/>
              <a:tailEnd type="stealth" w="med" len="med"/>
            </a:ln>
          </p:spPr>
        </p:cxnSp>
      </p:grpSp>
      <p:sp>
        <p:nvSpPr>
          <p:cNvPr id="129" name="副标题 2"/>
          <p:cNvSpPr txBox="1"/>
          <p:nvPr/>
        </p:nvSpPr>
        <p:spPr>
          <a:xfrm>
            <a:off x="0" y="6142711"/>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altLang="zh-CN" sz="1600" dirty="0">
                <a:solidFill>
                  <a:schemeClr val="tx1"/>
                </a:solidFill>
                <a:latin typeface="微软雅黑" panose="020B0503020204020204" pitchFamily="34" charset="-122"/>
                <a:ea typeface="微软雅黑" panose="020B0503020204020204" pitchFamily="34" charset="-122"/>
              </a:rPr>
              <a:t>SEDA</a:t>
            </a:r>
            <a:r>
              <a:rPr lang="zh-CN" altLang="en-US" sz="1600" dirty="0">
                <a:solidFill>
                  <a:schemeClr val="tx1"/>
                </a:solidFill>
                <a:latin typeface="微软雅黑" panose="020B0503020204020204" pitchFamily="34" charset="-122"/>
                <a:ea typeface="微软雅黑" panose="020B0503020204020204" pitchFamily="34" charset="-122"/>
              </a:rPr>
              <a:t>模型</a:t>
            </a:r>
            <a:r>
              <a:rPr lang="en-US" altLang="zh-CN" sz="1600" dirty="0">
                <a:solidFill>
                  <a:schemeClr val="tx1"/>
                </a:solidFill>
                <a:latin typeface="微软雅黑" panose="020B0503020204020204" pitchFamily="34" charset="-122"/>
                <a:ea typeface="微软雅黑" panose="020B0503020204020204" pitchFamily="34" charset="-122"/>
              </a:rPr>
              <a:t>http</a:t>
            </a:r>
            <a:r>
              <a:rPr lang="zh-CN" altLang="en-US" sz="1600" dirty="0">
                <a:solidFill>
                  <a:schemeClr val="tx1"/>
                </a:solidFill>
                <a:latin typeface="微软雅黑" panose="020B0503020204020204" pitchFamily="34" charset="-122"/>
                <a:ea typeface="微软雅黑" panose="020B0503020204020204" pitchFamily="34" charset="-122"/>
              </a:rPr>
              <a:t>服务器有穷机</a:t>
            </a:r>
            <a:r>
              <a:rPr lang="zh-CN" altLang="en-US" sz="1600" dirty="0" smtClean="0">
                <a:solidFill>
                  <a:schemeClr val="tx1"/>
                </a:solidFill>
                <a:latin typeface="微软雅黑" panose="020B0503020204020204" pitchFamily="34" charset="-122"/>
                <a:ea typeface="微软雅黑" panose="020B0503020204020204" pitchFamily="34" charset="-122"/>
              </a:rPr>
              <a:t>状态图</a:t>
            </a:r>
            <a:endParaRPr lang="en-US" altLang="zh-CN" sz="1600" dirty="0" smtClean="0">
              <a:solidFill>
                <a:schemeClr val="tx1"/>
              </a:solidFill>
              <a:latin typeface="微软雅黑" panose="020B0503020204020204" pitchFamily="34" charset="-122"/>
              <a:ea typeface="微软雅黑" panose="020B0503020204020204" pitchFamily="34" charset="-122"/>
            </a:endParaRPr>
          </a:p>
        </p:txBody>
      </p:sp>
      <p:sp>
        <p:nvSpPr>
          <p:cNvPr id="3" name="副标题 2"/>
          <p:cNvSpPr txBox="1"/>
          <p:nvPr/>
        </p:nvSpPr>
        <p:spPr>
          <a:xfrm>
            <a:off x="0" y="693073"/>
            <a:ext cx="9144000" cy="59865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架构图</a:t>
            </a:r>
            <a:endParaRPr lang="en-US" altLang="zh-CN" sz="24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阶段式</a:t>
            </a:r>
            <a:r>
              <a:rPr lang="zh-CN" altLang="en-US" dirty="0">
                <a:solidFill>
                  <a:schemeClr val="bg1"/>
                </a:solidFill>
                <a:latin typeface="微软雅黑" panose="020B0503020204020204" pitchFamily="34" charset="-122"/>
                <a:ea typeface="微软雅黑" panose="020B0503020204020204" pitchFamily="34" charset="-122"/>
                <a:sym typeface="+mn-ea"/>
              </a:rPr>
              <a:t>事件</a:t>
            </a:r>
            <a:r>
              <a:rPr lang="zh-CN" altLang="en-US" dirty="0" smtClean="0">
                <a:solidFill>
                  <a:schemeClr val="bg1"/>
                </a:solidFill>
                <a:latin typeface="微软雅黑" panose="020B0503020204020204" pitchFamily="34" charset="-122"/>
                <a:ea typeface="微软雅黑" panose="020B0503020204020204" pitchFamily="34" charset="-122"/>
                <a:sym typeface="+mn-ea"/>
              </a:rPr>
              <a:t>驱动架构</a:t>
            </a:r>
            <a:endParaRPr lang="zh-CN" altLang="en-US" dirty="0"/>
          </a:p>
        </p:txBody>
      </p:sp>
      <p:grpSp>
        <p:nvGrpSpPr>
          <p:cNvPr id="4" name="Group266"/>
          <p:cNvGrpSpPr/>
          <p:nvPr/>
        </p:nvGrpSpPr>
        <p:grpSpPr>
          <a:xfrm>
            <a:off x="265156" y="897303"/>
            <a:ext cx="8298886" cy="5628041"/>
            <a:chOff x="2113401" y="1525921"/>
            <a:chExt cx="4955200" cy="3853986"/>
          </a:xfrm>
        </p:grpSpPr>
        <p:sp>
          <p:nvSpPr>
            <p:cNvPr id="5" name="外部交互方"/>
            <p:cNvSpPr/>
            <p:nvPr/>
          </p:nvSpPr>
          <p:spPr>
            <a:xfrm>
              <a:off x="2770144" y="2520079"/>
              <a:ext cx="2197714" cy="1694800"/>
            </a:xfrm>
            <a:custGeom>
              <a:avLst/>
              <a:gdLst>
                <a:gd name="connsiteX0" fmla="*/ 1098857 w 2197714"/>
                <a:gd name="connsiteY0" fmla="*/ 1694800 h 1694800"/>
                <a:gd name="connsiteX1" fmla="*/ 1098857 w 2197714"/>
                <a:gd name="connsiteY1" fmla="*/ 0 h 1694800"/>
                <a:gd name="connsiteX2" fmla="*/ 2197714 w 2197714"/>
                <a:gd name="connsiteY2" fmla="*/ 847400 h 1694800"/>
                <a:gd name="connsiteX3" fmla="*/ 0 w 2197714"/>
                <a:gd name="connsiteY3" fmla="*/ 847400 h 1694800"/>
                <a:gd name="connsiteX4" fmla="*/ 1098857 w 2197714"/>
                <a:gd name="connsiteY4" fmla="*/ 847400 h 1694800"/>
                <a:gd name="connsiteX5" fmla="*/ 0 w 2197714"/>
                <a:gd name="connsiteY5" fmla="*/ 423700 h 1694800"/>
                <a:gd name="connsiteX6" fmla="*/ 0 w 2197714"/>
                <a:gd name="connsiteY6" fmla="*/ 1271100 h 1694800"/>
                <a:gd name="connsiteX7" fmla="*/ 2197714 w 2197714"/>
                <a:gd name="connsiteY7" fmla="*/ 423700 h 1694800"/>
                <a:gd name="connsiteX8" fmla="*/ 2197714 w 2197714"/>
                <a:gd name="connsiteY8" fmla="*/ 1271100 h 1694800"/>
                <a:gd name="connsiteX9" fmla="*/ 549428 w 2197714"/>
                <a:gd name="connsiteY9" fmla="*/ 0 h 1694800"/>
                <a:gd name="connsiteX10" fmla="*/ 1648285 w 2197714"/>
                <a:gd name="connsiteY10" fmla="*/ 0 h 1694800"/>
                <a:gd name="connsiteX11" fmla="*/ 549428 w 2197714"/>
                <a:gd name="connsiteY11" fmla="*/ 1694800 h 1694800"/>
                <a:gd name="connsiteX12" fmla="*/ 1648285 w 2197714"/>
                <a:gd name="connsiteY12" fmla="*/ 1694800 h 16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2197714" h="1694800">
                  <a:moveTo>
                    <a:pt x="2197714" y="1694800"/>
                  </a:moveTo>
                  <a:lnTo>
                    <a:pt x="2197714" y="0"/>
                  </a:lnTo>
                  <a:lnTo>
                    <a:pt x="0" y="0"/>
                  </a:lnTo>
                  <a:lnTo>
                    <a:pt x="0" y="1694800"/>
                  </a:lnTo>
                  <a:lnTo>
                    <a:pt x="2197714" y="1694800"/>
                  </a:lnTo>
                  <a:close/>
                </a:path>
              </a:pathLst>
            </a:custGeom>
            <a:solidFill>
              <a:srgbClr val="FFFFFF"/>
            </a:solidFill>
            <a:ln w="7600" cap="flat">
              <a:solidFill>
                <a:srgbClr val="000000"/>
              </a:solidFill>
              <a:bevel/>
            </a:ln>
          </p:spPr>
        </p:sp>
        <p:grpSp>
          <p:nvGrpSpPr>
            <p:cNvPr id="6" name="组合 5"/>
            <p:cNvGrpSpPr/>
            <p:nvPr/>
          </p:nvGrpSpPr>
          <p:grpSpPr>
            <a:xfrm>
              <a:off x="2113401" y="3257279"/>
              <a:ext cx="709510" cy="250800"/>
              <a:chOff x="2113401" y="3257279"/>
              <a:chExt cx="709510" cy="250800"/>
            </a:xfrm>
          </p:grpSpPr>
          <p:grpSp>
            <p:nvGrpSpPr>
              <p:cNvPr id="112" name="组合 111"/>
              <p:cNvGrpSpPr/>
              <p:nvPr/>
            </p:nvGrpSpPr>
            <p:grpSpPr>
              <a:xfrm>
                <a:off x="2113401" y="3259105"/>
                <a:ext cx="714223" cy="247149"/>
                <a:chOff x="2113401" y="3259105"/>
                <a:chExt cx="714223" cy="247149"/>
              </a:xfrm>
            </p:grpSpPr>
            <p:sp>
              <p:nvSpPr>
                <p:cNvPr id="119" name="数据存储"/>
                <p:cNvSpPr/>
                <p:nvPr/>
              </p:nvSpPr>
              <p:spPr>
                <a:xfrm>
                  <a:off x="2113401" y="3259105"/>
                  <a:ext cx="701909" cy="247149"/>
                </a:xfrm>
                <a:custGeom>
                  <a:avLst/>
                  <a:gdLst>
                    <a:gd name="connsiteX0" fmla="*/ 350955 w 701909"/>
                    <a:gd name="connsiteY0" fmla="*/ 247149 h 247149"/>
                    <a:gd name="connsiteX1" fmla="*/ 350955 w 701909"/>
                    <a:gd name="connsiteY1" fmla="*/ 0 h 247149"/>
                    <a:gd name="connsiteX2" fmla="*/ 140382 w 701909"/>
                    <a:gd name="connsiteY2" fmla="*/ 0 h 247149"/>
                    <a:gd name="connsiteX3" fmla="*/ 561528 w 701909"/>
                    <a:gd name="connsiteY3" fmla="*/ 247149 h 247149"/>
                    <a:gd name="connsiteX4" fmla="*/ 350955 w 701909"/>
                    <a:gd name="connsiteY4" fmla="*/ 123574 h 247149"/>
                    <a:gd name="connsiteX5" fmla="*/ 140382 w 701909"/>
                    <a:gd name="connsiteY5" fmla="*/ 247149 h 247149"/>
                    <a:gd name="connsiteX6" fmla="*/ 561528 w 701909"/>
                    <a:gd name="connsiteY6" fmla="*/ 0 h 24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701909" h="247149" fill="none">
                      <a:moveTo>
                        <a:pt x="701909" y="0"/>
                      </a:moveTo>
                      <a:lnTo>
                        <a:pt x="0" y="0"/>
                      </a:lnTo>
                      <a:moveTo>
                        <a:pt x="0" y="247149"/>
                      </a:moveTo>
                      <a:lnTo>
                        <a:pt x="701909" y="247149"/>
                      </a:lnTo>
                    </a:path>
                  </a:pathLst>
                </a:custGeom>
                <a:solidFill>
                  <a:srgbClr val="3498DB"/>
                </a:solidFill>
                <a:ln w="10133" cap="flat">
                  <a:solidFill>
                    <a:srgbClr val="000000"/>
                  </a:solidFill>
                  <a:bevel/>
                </a:ln>
              </p:spPr>
            </p:sp>
            <p:cxnSp>
              <p:nvCxnSpPr>
                <p:cNvPr id="120" name="Line"/>
                <p:cNvCxnSpPr/>
                <p:nvPr/>
              </p:nvCxnSpPr>
              <p:spPr>
                <a:xfrm rot="5400000">
                  <a:off x="2691736" y="3382679"/>
                  <a:ext cx="247149" cy="0"/>
                </a:xfrm>
                <a:prstGeom prst="line">
                  <a:avLst/>
                </a:prstGeom>
                <a:ln w="7600" cap="flat">
                  <a:solidFill>
                    <a:srgbClr val="000000"/>
                  </a:solidFill>
                  <a:bevel/>
                </a:ln>
              </p:spPr>
            </p:cxnSp>
          </p:grpSp>
          <p:sp>
            <p:nvSpPr>
              <p:cNvPr id="113" name="外部交互方"/>
              <p:cNvSpPr/>
              <p:nvPr/>
            </p:nvSpPr>
            <p:spPr>
              <a:xfrm>
                <a:off x="2311001" y="3287424"/>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sp>
            <p:nvSpPr>
              <p:cNvPr id="114" name="外部交互方"/>
              <p:cNvSpPr/>
              <p:nvPr/>
            </p:nvSpPr>
            <p:spPr>
              <a:xfrm>
                <a:off x="2425001" y="3287424"/>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sp>
            <p:nvSpPr>
              <p:cNvPr id="115" name="外部交互方"/>
              <p:cNvSpPr/>
              <p:nvPr/>
            </p:nvSpPr>
            <p:spPr>
              <a:xfrm>
                <a:off x="2539001" y="3287424"/>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sp>
            <p:nvSpPr>
              <p:cNvPr id="116" name="外部交互方"/>
              <p:cNvSpPr/>
              <p:nvPr/>
            </p:nvSpPr>
            <p:spPr>
              <a:xfrm>
                <a:off x="2653001" y="3285566"/>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sp>
            <p:nvSpPr>
              <p:cNvPr id="117" name="外部交互方"/>
              <p:cNvSpPr/>
              <p:nvPr/>
            </p:nvSpPr>
            <p:spPr>
              <a:xfrm>
                <a:off x="2197001" y="3285566"/>
                <a:ext cx="73477" cy="190511"/>
              </a:xfrm>
              <a:custGeom>
                <a:avLst/>
                <a:gdLst>
                  <a:gd name="connsiteX0" fmla="*/ 36738 w 73477"/>
                  <a:gd name="connsiteY0" fmla="*/ 190511 h 190511"/>
                  <a:gd name="connsiteX1" fmla="*/ 36738 w 73477"/>
                  <a:gd name="connsiteY1" fmla="*/ 0 h 190511"/>
                  <a:gd name="connsiteX2" fmla="*/ 73477 w 73477"/>
                  <a:gd name="connsiteY2" fmla="*/ 95255 h 190511"/>
                  <a:gd name="connsiteX3" fmla="*/ 0 w 73477"/>
                  <a:gd name="connsiteY3" fmla="*/ 95255 h 190511"/>
                  <a:gd name="connsiteX4" fmla="*/ 36738 w 73477"/>
                  <a:gd name="connsiteY4" fmla="*/ 95255 h 190511"/>
                  <a:gd name="connsiteX5" fmla="*/ 0 w 73477"/>
                  <a:gd name="connsiteY5" fmla="*/ 47628 h 190511"/>
                  <a:gd name="connsiteX6" fmla="*/ 0 w 73477"/>
                  <a:gd name="connsiteY6" fmla="*/ 142883 h 190511"/>
                  <a:gd name="connsiteX7" fmla="*/ 73477 w 73477"/>
                  <a:gd name="connsiteY7" fmla="*/ 47628 h 190511"/>
                  <a:gd name="connsiteX8" fmla="*/ 73477 w 73477"/>
                  <a:gd name="connsiteY8" fmla="*/ 142883 h 190511"/>
                  <a:gd name="connsiteX9" fmla="*/ 18369 w 73477"/>
                  <a:gd name="connsiteY9" fmla="*/ 0 h 190511"/>
                  <a:gd name="connsiteX10" fmla="*/ 55108 w 73477"/>
                  <a:gd name="connsiteY10" fmla="*/ 0 h 190511"/>
                  <a:gd name="connsiteX11" fmla="*/ 18369 w 73477"/>
                  <a:gd name="connsiteY11" fmla="*/ 190511 h 190511"/>
                  <a:gd name="connsiteX12" fmla="*/ 55108 w 73477"/>
                  <a:gd name="connsiteY12" fmla="*/ 190511 h 19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73477" h="190511">
                    <a:moveTo>
                      <a:pt x="73477" y="190511"/>
                    </a:moveTo>
                    <a:lnTo>
                      <a:pt x="73477" y="0"/>
                    </a:lnTo>
                    <a:lnTo>
                      <a:pt x="0" y="0"/>
                    </a:lnTo>
                    <a:lnTo>
                      <a:pt x="0" y="190511"/>
                    </a:lnTo>
                    <a:lnTo>
                      <a:pt x="73477" y="190511"/>
                    </a:lnTo>
                    <a:close/>
                  </a:path>
                </a:pathLst>
              </a:custGeom>
              <a:solidFill>
                <a:srgbClr val="3498DB"/>
              </a:solidFill>
              <a:ln w="7600" cap="flat">
                <a:solidFill>
                  <a:srgbClr val="3498DB"/>
                </a:solidFill>
                <a:bevel/>
              </a:ln>
            </p:spPr>
          </p:sp>
          <p:cxnSp>
            <p:nvCxnSpPr>
              <p:cNvPr id="118" name="Line"/>
              <p:cNvCxnSpPr/>
              <p:nvPr/>
            </p:nvCxnSpPr>
            <p:spPr>
              <a:xfrm rot="5400000">
                <a:off x="1988001" y="3382679"/>
                <a:ext cx="250800" cy="0"/>
              </a:xfrm>
              <a:prstGeom prst="line">
                <a:avLst/>
              </a:prstGeom>
              <a:ln w="10133" cap="flat">
                <a:solidFill>
                  <a:srgbClr val="236EA1"/>
                </a:solidFill>
                <a:bevel/>
              </a:ln>
            </p:spPr>
          </p:cxnSp>
        </p:grpSp>
        <p:sp>
          <p:nvSpPr>
            <p:cNvPr id="7" name="选择点"/>
            <p:cNvSpPr/>
            <p:nvPr/>
          </p:nvSpPr>
          <p:spPr>
            <a:xfrm>
              <a:off x="3504066" y="4306079"/>
              <a:ext cx="729870" cy="595990"/>
            </a:xfrm>
            <a:custGeom>
              <a:avLst/>
              <a:gdLst>
                <a:gd name="connsiteX0" fmla="*/ 0 w 729870"/>
                <a:gd name="connsiteY0" fmla="*/ 297995 h 595990"/>
                <a:gd name="connsiteX1" fmla="*/ 364935 w 729870"/>
                <a:gd name="connsiteY1" fmla="*/ 0 h 595990"/>
                <a:gd name="connsiteX2" fmla="*/ 729870 w 729870"/>
                <a:gd name="connsiteY2" fmla="*/ 297995 h 595990"/>
                <a:gd name="connsiteX3" fmla="*/ 364935 w 729870"/>
                <a:gd name="connsiteY3" fmla="*/ 595990 h 595990"/>
              </a:gdLst>
              <a:ahLst/>
              <a:cxnLst>
                <a:cxn ang="0">
                  <a:pos x="connsiteX0" y="connsiteY0"/>
                </a:cxn>
                <a:cxn ang="0">
                  <a:pos x="connsiteX1" y="connsiteY1"/>
                </a:cxn>
                <a:cxn ang="0">
                  <a:pos x="connsiteX2" y="connsiteY2"/>
                </a:cxn>
                <a:cxn ang="0">
                  <a:pos x="connsiteX3" y="connsiteY3"/>
                </a:cxn>
              </a:cxnLst>
              <a:rect l="l" t="t" r="r" b="b"/>
              <a:pathLst>
                <a:path w="729870" h="595990">
                  <a:moveTo>
                    <a:pt x="0" y="297995"/>
                  </a:moveTo>
                  <a:cubicBezTo>
                    <a:pt x="0" y="133417"/>
                    <a:pt x="163387" y="0"/>
                    <a:pt x="364935" y="0"/>
                  </a:cubicBezTo>
                  <a:cubicBezTo>
                    <a:pt x="566483" y="0"/>
                    <a:pt x="729870" y="133417"/>
                    <a:pt x="729870" y="297995"/>
                  </a:cubicBezTo>
                  <a:cubicBezTo>
                    <a:pt x="729870" y="462573"/>
                    <a:pt x="566483" y="595990"/>
                    <a:pt x="364935" y="595990"/>
                  </a:cubicBezTo>
                  <a:cubicBezTo>
                    <a:pt x="163387" y="595990"/>
                    <a:pt x="0" y="462573"/>
                    <a:pt x="0" y="297995"/>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dirty="0" err="1">
                  <a:solidFill>
                    <a:srgbClr val="404557"/>
                  </a:solidFill>
                  <a:latin typeface="微软雅黑" panose="020B0503020204020204" pitchFamily="34" charset="-122"/>
                  <a:ea typeface="微软雅黑" panose="020B0503020204020204" pitchFamily="34" charset="-122"/>
                </a:rPr>
                <a:t>性能控制器</a:t>
              </a:r>
              <a:endParaRPr dirty="0" err="1">
                <a:solidFill>
                  <a:srgbClr val="404557"/>
                </a:solidFill>
                <a:latin typeface="微软雅黑" panose="020B0503020204020204" pitchFamily="34" charset="-122"/>
                <a:ea typeface="微软雅黑" panose="020B0503020204020204" pitchFamily="34" charset="-122"/>
              </a:endParaRPr>
            </a:p>
          </p:txBody>
        </p:sp>
        <p:sp>
          <p:nvSpPr>
            <p:cNvPr id="8" name="动态连接线"/>
            <p:cNvSpPr/>
            <p:nvPr/>
          </p:nvSpPr>
          <p:spPr>
            <a:xfrm>
              <a:off x="4418429" y="4214879"/>
              <a:ext cx="184493" cy="389195"/>
            </a:xfrm>
            <a:custGeom>
              <a:avLst/>
              <a:gdLst/>
              <a:ahLst/>
              <a:cxnLst/>
              <a:rect l="0" t="0" r="0" b="0"/>
              <a:pathLst>
                <a:path w="184493" h="389195" fill="none">
                  <a:moveTo>
                    <a:pt x="0" y="0"/>
                  </a:moveTo>
                  <a:lnTo>
                    <a:pt x="0" y="389195"/>
                  </a:lnTo>
                  <a:lnTo>
                    <a:pt x="-184493" y="389195"/>
                  </a:lnTo>
                </a:path>
              </a:pathLst>
            </a:custGeom>
            <a:noFill/>
            <a:ln w="7600" cap="flat">
              <a:solidFill>
                <a:srgbClr val="236EA1"/>
              </a:solidFill>
              <a:bevel/>
              <a:tailEnd type="stealth" w="med" len="med"/>
            </a:ln>
          </p:spPr>
        </p:sp>
        <p:sp>
          <p:nvSpPr>
            <p:cNvPr id="9" name="动态连接线"/>
            <p:cNvSpPr/>
            <p:nvPr/>
          </p:nvSpPr>
          <p:spPr>
            <a:xfrm>
              <a:off x="3504066" y="4604075"/>
              <a:ext cx="184493" cy="389195"/>
            </a:xfrm>
            <a:custGeom>
              <a:avLst/>
              <a:gdLst/>
              <a:ahLst/>
              <a:cxnLst/>
              <a:rect l="0" t="0" r="0" b="0"/>
              <a:pathLst>
                <a:path w="184493" h="389195" fill="none">
                  <a:moveTo>
                    <a:pt x="0" y="0"/>
                  </a:moveTo>
                  <a:lnTo>
                    <a:pt x="-184493" y="0"/>
                  </a:lnTo>
                  <a:lnTo>
                    <a:pt x="-184493" y="-389195"/>
                  </a:lnTo>
                </a:path>
              </a:pathLst>
            </a:custGeom>
            <a:noFill/>
            <a:ln w="7600" cap="flat">
              <a:solidFill>
                <a:srgbClr val="236EA1"/>
              </a:solidFill>
              <a:bevel/>
              <a:tailEnd type="stealth" w="med" len="med"/>
            </a:ln>
          </p:spPr>
        </p:sp>
        <p:grpSp>
          <p:nvGrpSpPr>
            <p:cNvPr id="10" name="Group 267"/>
            <p:cNvGrpSpPr/>
            <p:nvPr/>
          </p:nvGrpSpPr>
          <p:grpSpPr>
            <a:xfrm>
              <a:off x="2136201" y="3180741"/>
              <a:ext cx="608000" cy="0"/>
              <a:chOff x="2136201" y="3180741"/>
              <a:chExt cx="608000" cy="0"/>
            </a:xfrm>
          </p:grpSpPr>
          <p:sp>
            <p:nvSpPr>
              <p:cNvPr id="110" name="直线连接线"/>
              <p:cNvSpPr/>
              <p:nvPr/>
            </p:nvSpPr>
            <p:spPr>
              <a:xfrm>
                <a:off x="2136201" y="3180741"/>
                <a:ext cx="608000" cy="0"/>
              </a:xfrm>
              <a:custGeom>
                <a:avLst/>
                <a:gdLst/>
                <a:ahLst/>
                <a:cxnLst/>
                <a:rect l="0" t="0" r="0" b="0"/>
                <a:pathLst>
                  <a:path w="608000" fill="none">
                    <a:moveTo>
                      <a:pt x="0" y="0"/>
                    </a:moveTo>
                    <a:lnTo>
                      <a:pt x="608000" y="0"/>
                    </a:lnTo>
                  </a:path>
                </a:pathLst>
              </a:custGeom>
              <a:noFill/>
              <a:ln w="7600" cap="flat">
                <a:solidFill>
                  <a:srgbClr val="FFFFFF"/>
                </a:solidFill>
                <a:bevel/>
                <a:tailEnd type="stealth" w="med" len="med"/>
              </a:ln>
            </p:spPr>
          </p:sp>
          <p:sp>
            <p:nvSpPr>
              <p:cNvPr id="111" name="Text 268"/>
              <p:cNvSpPr txBox="1"/>
              <p:nvPr/>
            </p:nvSpPr>
            <p:spPr>
              <a:xfrm>
                <a:off x="2083001" y="2998341"/>
                <a:ext cx="714400" cy="364800"/>
              </a:xfrm>
              <a:prstGeom prst="rect">
                <a:avLst/>
              </a:prstGeom>
              <a:noFill/>
            </p:spPr>
            <p:txBody>
              <a:bodyPr wrap="square" lIns="36000" tIns="0" rIns="36000" bIns="0" rtlCol="0" anchor="ctr"/>
              <a:lstStyle/>
              <a:p>
                <a:pPr algn="ctr">
                  <a:lnSpc>
                    <a:spcPct val="100000"/>
                  </a:lnSpc>
                </a:pPr>
                <a:r>
                  <a:rPr sz="1600" dirty="0" err="1">
                    <a:solidFill>
                      <a:srgbClr val="000000"/>
                    </a:solidFill>
                    <a:latin typeface="微软雅黑" panose="020B0503020204020204" pitchFamily="34" charset="-122"/>
                    <a:ea typeface="微软雅黑" panose="020B0503020204020204" pitchFamily="34" charset="-122"/>
                  </a:rPr>
                  <a:t>事件队列</a:t>
                </a:r>
                <a:endParaRPr sz="1600" dirty="0">
                  <a:solidFill>
                    <a:srgbClr val="000000"/>
                  </a:solidFill>
                  <a:latin typeface="微软雅黑" panose="020B0503020204020204" pitchFamily="34" charset="-122"/>
                  <a:ea typeface="微软雅黑" panose="020B0503020204020204" pitchFamily="34" charset="-122"/>
                </a:endParaRPr>
              </a:p>
              <a:p>
                <a:pPr algn="ctr">
                  <a:lnSpc>
                    <a:spcPct val="100000"/>
                  </a:lnSpc>
                </a:pPr>
                <a:endParaRPr sz="1065" dirty="0">
                  <a:solidFill>
                    <a:srgbClr val="000000"/>
                  </a:solidFill>
                  <a:latin typeface="微软雅黑" panose="020B0503020204020204" pitchFamily="34" charset="-122"/>
                  <a:ea typeface="微软雅黑" panose="020B0503020204020204" pitchFamily="34" charset="-122"/>
                </a:endParaRPr>
              </a:p>
            </p:txBody>
          </p:sp>
        </p:grpSp>
        <p:grpSp>
          <p:nvGrpSpPr>
            <p:cNvPr id="11" name="椭圆形过程"/>
            <p:cNvGrpSpPr/>
            <p:nvPr/>
          </p:nvGrpSpPr>
          <p:grpSpPr>
            <a:xfrm>
              <a:off x="3299717" y="2612984"/>
              <a:ext cx="1260101" cy="613895"/>
              <a:chOff x="3299717" y="2612984"/>
              <a:chExt cx="1260101" cy="613895"/>
            </a:xfrm>
          </p:grpSpPr>
          <p:sp>
            <p:nvSpPr>
              <p:cNvPr id="107" name="任意多边形 106"/>
              <p:cNvSpPr/>
              <p:nvPr/>
            </p:nvSpPr>
            <p:spPr>
              <a:xfrm>
                <a:off x="3299717" y="2612984"/>
                <a:ext cx="1260101" cy="613895"/>
              </a:xfrm>
              <a:custGeom>
                <a:avLst/>
                <a:gdLst/>
                <a:ahLst/>
                <a:cxnLst/>
                <a:rect l="0" t="0" r="0" b="0"/>
                <a:pathLst>
                  <a:path w="1260101" h="613895" fill="none">
                    <a:moveTo>
                      <a:pt x="630051" y="306948"/>
                    </a:moveTo>
                    <a:moveTo>
                      <a:pt x="630051" y="306948"/>
                    </a:moveTo>
                    <a:moveTo>
                      <a:pt x="630051" y="306948"/>
                    </a:moveTo>
                    <a:moveTo>
                      <a:pt x="630051" y="306948"/>
                    </a:moveTo>
                  </a:path>
                </a:pathLst>
              </a:custGeom>
              <a:solidFill>
                <a:srgbClr val="FFFFFF"/>
              </a:solidFill>
              <a:ln w="7600" cap="flat">
                <a:solidFill>
                  <a:srgbClr val="000000"/>
                </a:solidFill>
                <a:bevel/>
              </a:ln>
            </p:spPr>
          </p:sp>
          <p:sp>
            <p:nvSpPr>
              <p:cNvPr id="108" name="Ellipse"/>
              <p:cNvSpPr/>
              <p:nvPr/>
            </p:nvSpPr>
            <p:spPr>
              <a:xfrm>
                <a:off x="3299717" y="2612984"/>
                <a:ext cx="1260101" cy="613895"/>
              </a:xfrm>
              <a:custGeom>
                <a:avLst/>
                <a:gdLst/>
                <a:ahLst/>
                <a:cxnLst/>
                <a:rect l="0" t="0" r="0" b="0"/>
                <a:pathLst>
                  <a:path w="1260101" h="613895">
                    <a:moveTo>
                      <a:pt x="0" y="306948"/>
                    </a:moveTo>
                    <a:cubicBezTo>
                      <a:pt x="0" y="137425"/>
                      <a:pt x="282083" y="0"/>
                      <a:pt x="630051" y="0"/>
                    </a:cubicBezTo>
                    <a:cubicBezTo>
                      <a:pt x="978018" y="0"/>
                      <a:pt x="1260101" y="137425"/>
                      <a:pt x="1260101" y="306948"/>
                    </a:cubicBezTo>
                    <a:cubicBezTo>
                      <a:pt x="1260101" y="476470"/>
                      <a:pt x="978018" y="613895"/>
                      <a:pt x="630051" y="613895"/>
                    </a:cubicBezTo>
                    <a:cubicBezTo>
                      <a:pt x="282083" y="613895"/>
                      <a:pt x="0" y="476470"/>
                      <a:pt x="0" y="306948"/>
                    </a:cubicBezTo>
                    <a:close/>
                  </a:path>
                </a:pathLst>
              </a:custGeom>
              <a:solidFill>
                <a:srgbClr val="FFFFFF"/>
              </a:solidFill>
              <a:ln w="7600" cap="flat">
                <a:solidFill>
                  <a:srgbClr val="000000"/>
                </a:solidFill>
                <a:bevel/>
              </a:ln>
            </p:spPr>
          </p:sp>
          <p:sp>
            <p:nvSpPr>
              <p:cNvPr id="109" name="Text 269"/>
              <p:cNvSpPr txBox="1"/>
              <p:nvPr/>
            </p:nvSpPr>
            <p:spPr>
              <a:xfrm>
                <a:off x="3299717" y="2612984"/>
                <a:ext cx="1260101" cy="613895"/>
              </a:xfrm>
              <a:prstGeom prst="rect">
                <a:avLst/>
              </a:prstGeom>
              <a:noFill/>
            </p:spPr>
            <p:txBody>
              <a:bodyPr wrap="square" lIns="0" tIns="0" rIns="0" bIns="0" rtlCol="0" anchor="ctr"/>
              <a:lstStyle/>
              <a:p>
                <a:pPr algn="ctr">
                  <a:lnSpc>
                    <a:spcPct val="100000"/>
                  </a:lnSpc>
                </a:pPr>
                <a:r>
                  <a:rPr sz="2400" dirty="0" err="1">
                    <a:solidFill>
                      <a:srgbClr val="000000"/>
                    </a:solidFill>
                    <a:latin typeface="微软雅黑" panose="020B0503020204020204" pitchFamily="34" charset="-122"/>
                    <a:ea typeface="微软雅黑" panose="020B0503020204020204" pitchFamily="34" charset="-122"/>
                  </a:rPr>
                  <a:t>事件处理器</a:t>
                </a:r>
                <a:endParaRPr sz="2400" dirty="0" err="1">
                  <a:solidFill>
                    <a:srgbClr val="000000"/>
                  </a:solidFill>
                  <a:latin typeface="微软雅黑" panose="020B0503020204020204" pitchFamily="34" charset="-122"/>
                  <a:ea typeface="微软雅黑" panose="020B0503020204020204" pitchFamily="34" charset="-122"/>
                </a:endParaRPr>
              </a:p>
            </p:txBody>
          </p:sp>
        </p:grpSp>
        <p:grpSp>
          <p:nvGrpSpPr>
            <p:cNvPr id="12" name="椭圆形过程"/>
            <p:cNvGrpSpPr/>
            <p:nvPr/>
          </p:nvGrpSpPr>
          <p:grpSpPr>
            <a:xfrm>
              <a:off x="3299715" y="3459532"/>
              <a:ext cx="1260103" cy="613895"/>
              <a:chOff x="3299715" y="3459532"/>
              <a:chExt cx="1260103" cy="613895"/>
            </a:xfrm>
          </p:grpSpPr>
          <p:sp>
            <p:nvSpPr>
              <p:cNvPr id="104" name="任意多边形 103"/>
              <p:cNvSpPr/>
              <p:nvPr/>
            </p:nvSpPr>
            <p:spPr>
              <a:xfrm>
                <a:off x="3299715" y="3459532"/>
                <a:ext cx="1260103" cy="613895"/>
              </a:xfrm>
              <a:custGeom>
                <a:avLst/>
                <a:gdLst/>
                <a:ahLst/>
                <a:cxnLst/>
                <a:rect l="0" t="0" r="0" b="0"/>
                <a:pathLst>
                  <a:path w="1260103" h="613895" fill="none">
                    <a:moveTo>
                      <a:pt x="630051" y="306948"/>
                    </a:moveTo>
                    <a:moveTo>
                      <a:pt x="630051" y="306948"/>
                    </a:moveTo>
                    <a:moveTo>
                      <a:pt x="630051" y="306948"/>
                    </a:moveTo>
                    <a:moveTo>
                      <a:pt x="630051" y="306948"/>
                    </a:moveTo>
                  </a:path>
                </a:pathLst>
              </a:custGeom>
              <a:solidFill>
                <a:srgbClr val="FFFFFF"/>
              </a:solidFill>
              <a:ln w="7600" cap="flat">
                <a:solidFill>
                  <a:srgbClr val="000000"/>
                </a:solidFill>
                <a:bevel/>
              </a:ln>
            </p:spPr>
          </p:sp>
          <p:sp>
            <p:nvSpPr>
              <p:cNvPr id="105" name="Ellipse"/>
              <p:cNvSpPr/>
              <p:nvPr/>
            </p:nvSpPr>
            <p:spPr>
              <a:xfrm>
                <a:off x="3299715" y="3459532"/>
                <a:ext cx="1260103" cy="613895"/>
              </a:xfrm>
              <a:custGeom>
                <a:avLst/>
                <a:gdLst/>
                <a:ahLst/>
                <a:cxnLst/>
                <a:rect l="0" t="0" r="0" b="0"/>
                <a:pathLst>
                  <a:path w="1260103" h="613895">
                    <a:moveTo>
                      <a:pt x="0" y="306948"/>
                    </a:moveTo>
                    <a:cubicBezTo>
                      <a:pt x="0" y="137425"/>
                      <a:pt x="282084" y="0"/>
                      <a:pt x="630051" y="0"/>
                    </a:cubicBezTo>
                    <a:cubicBezTo>
                      <a:pt x="978019" y="0"/>
                      <a:pt x="1260103" y="137425"/>
                      <a:pt x="1260103" y="306948"/>
                    </a:cubicBezTo>
                    <a:cubicBezTo>
                      <a:pt x="1259563" y="476284"/>
                      <a:pt x="977637" y="613419"/>
                      <a:pt x="630051" y="613419"/>
                    </a:cubicBezTo>
                    <a:cubicBezTo>
                      <a:pt x="282465" y="613419"/>
                      <a:pt x="540" y="476284"/>
                      <a:pt x="0" y="306948"/>
                    </a:cubicBezTo>
                    <a:close/>
                  </a:path>
                </a:pathLst>
              </a:custGeom>
              <a:solidFill>
                <a:srgbClr val="FFFFFF"/>
              </a:solidFill>
              <a:ln w="7600" cap="flat">
                <a:solidFill>
                  <a:srgbClr val="000000"/>
                </a:solidFill>
                <a:bevel/>
              </a:ln>
            </p:spPr>
          </p:sp>
          <p:sp>
            <p:nvSpPr>
              <p:cNvPr id="106" name="Text 270"/>
              <p:cNvSpPr txBox="1"/>
              <p:nvPr/>
            </p:nvSpPr>
            <p:spPr>
              <a:xfrm>
                <a:off x="3299715" y="3459532"/>
                <a:ext cx="1260103" cy="613895"/>
              </a:xfrm>
              <a:prstGeom prst="rect">
                <a:avLst/>
              </a:prstGeom>
              <a:noFill/>
            </p:spPr>
            <p:txBody>
              <a:bodyPr wrap="square" lIns="0" tIns="0" rIns="0" bIns="0" rtlCol="0" anchor="ctr"/>
              <a:lstStyle/>
              <a:p>
                <a:pPr algn="ctr">
                  <a:lnSpc>
                    <a:spcPct val="100000"/>
                  </a:lnSpc>
                </a:pPr>
                <a:r>
                  <a:rPr sz="2400" dirty="0" err="1">
                    <a:solidFill>
                      <a:srgbClr val="000000"/>
                    </a:solidFill>
                    <a:latin typeface="微软雅黑" panose="020B0503020204020204" pitchFamily="34" charset="-122"/>
                    <a:ea typeface="微软雅黑" panose="020B0503020204020204" pitchFamily="34" charset="-122"/>
                  </a:rPr>
                  <a:t>线程池</a:t>
                </a:r>
                <a:endParaRPr sz="2400" dirty="0" err="1">
                  <a:solidFill>
                    <a:srgbClr val="000000"/>
                  </a:solidFill>
                  <a:latin typeface="微软雅黑" panose="020B0503020204020204" pitchFamily="34" charset="-122"/>
                  <a:ea typeface="微软雅黑" panose="020B0503020204020204" pitchFamily="34" charset="-122"/>
                </a:endParaRPr>
              </a:p>
            </p:txBody>
          </p:sp>
        </p:grpSp>
        <p:cxnSp>
          <p:nvCxnSpPr>
            <p:cNvPr id="13" name="直线/曲线连接线"/>
            <p:cNvCxnSpPr/>
            <p:nvPr/>
          </p:nvCxnSpPr>
          <p:spPr>
            <a:xfrm rot="5400033">
              <a:off x="4130080" y="3343205"/>
              <a:ext cx="355431" cy="0"/>
            </a:xfrm>
            <a:prstGeom prst="line">
              <a:avLst/>
            </a:prstGeom>
            <a:ln w="7600" cap="flat">
              <a:solidFill>
                <a:srgbClr val="236EA1"/>
              </a:solidFill>
              <a:bevel/>
              <a:tailEnd type="stealth" w="med" len="med"/>
            </a:ln>
          </p:spPr>
        </p:cxnSp>
        <p:cxnSp>
          <p:nvCxnSpPr>
            <p:cNvPr id="14" name="直线/曲线连接线"/>
            <p:cNvCxnSpPr/>
            <p:nvPr/>
          </p:nvCxnSpPr>
          <p:spPr>
            <a:xfrm rot="-5399987">
              <a:off x="3374021" y="3343205"/>
              <a:ext cx="355431" cy="0"/>
            </a:xfrm>
            <a:prstGeom prst="line">
              <a:avLst/>
            </a:prstGeom>
            <a:ln w="7600" cap="flat">
              <a:solidFill>
                <a:srgbClr val="236EA1"/>
              </a:solidFill>
              <a:bevel/>
              <a:tailEnd type="stealth" w="med" len="med"/>
            </a:ln>
          </p:spPr>
        </p:cxnSp>
        <p:grpSp>
          <p:nvGrpSpPr>
            <p:cNvPr id="15" name="组合 14"/>
            <p:cNvGrpSpPr/>
            <p:nvPr/>
          </p:nvGrpSpPr>
          <p:grpSpPr>
            <a:xfrm>
              <a:off x="5354801" y="4138879"/>
              <a:ext cx="1713800" cy="1241028"/>
              <a:chOff x="5354801" y="4138879"/>
              <a:chExt cx="1713800" cy="1241028"/>
            </a:xfrm>
          </p:grpSpPr>
          <p:sp>
            <p:nvSpPr>
              <p:cNvPr id="77" name="外部交互方"/>
              <p:cNvSpPr/>
              <p:nvPr/>
            </p:nvSpPr>
            <p:spPr>
              <a:xfrm>
                <a:off x="5749107" y="4138879"/>
                <a:ext cx="1319492" cy="827549"/>
              </a:xfrm>
              <a:custGeom>
                <a:avLst/>
                <a:gdLst>
                  <a:gd name="connsiteX0" fmla="*/ 659746 w 1319492"/>
                  <a:gd name="connsiteY0" fmla="*/ 827549 h 827549"/>
                  <a:gd name="connsiteX1" fmla="*/ 659746 w 1319492"/>
                  <a:gd name="connsiteY1" fmla="*/ 0 h 827549"/>
                  <a:gd name="connsiteX2" fmla="*/ 1319492 w 1319492"/>
                  <a:gd name="connsiteY2" fmla="*/ 413775 h 827549"/>
                  <a:gd name="connsiteX3" fmla="*/ 0 w 1319492"/>
                  <a:gd name="connsiteY3" fmla="*/ 413775 h 827549"/>
                  <a:gd name="connsiteX4" fmla="*/ 659746 w 1319492"/>
                  <a:gd name="connsiteY4" fmla="*/ 413775 h 827549"/>
                  <a:gd name="connsiteX5" fmla="*/ 0 w 1319492"/>
                  <a:gd name="connsiteY5" fmla="*/ 206887 h 827549"/>
                  <a:gd name="connsiteX6" fmla="*/ 0 w 1319492"/>
                  <a:gd name="connsiteY6" fmla="*/ 620662 h 827549"/>
                  <a:gd name="connsiteX7" fmla="*/ 1319492 w 1319492"/>
                  <a:gd name="connsiteY7" fmla="*/ 206887 h 827549"/>
                  <a:gd name="connsiteX8" fmla="*/ 1319492 w 1319492"/>
                  <a:gd name="connsiteY8" fmla="*/ 620662 h 827549"/>
                  <a:gd name="connsiteX9" fmla="*/ 329873 w 1319492"/>
                  <a:gd name="connsiteY9" fmla="*/ 0 h 827549"/>
                  <a:gd name="connsiteX10" fmla="*/ 989619 w 1319492"/>
                  <a:gd name="connsiteY10" fmla="*/ 0 h 827549"/>
                  <a:gd name="connsiteX11" fmla="*/ 329873 w 1319492"/>
                  <a:gd name="connsiteY11" fmla="*/ 827549 h 827549"/>
                  <a:gd name="connsiteX12" fmla="*/ 989619 w 1319492"/>
                  <a:gd name="connsiteY12" fmla="*/ 827549 h 82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1319492" h="827549">
                    <a:moveTo>
                      <a:pt x="1319492" y="827549"/>
                    </a:moveTo>
                    <a:lnTo>
                      <a:pt x="1319492" y="0"/>
                    </a:lnTo>
                    <a:lnTo>
                      <a:pt x="0" y="0"/>
                    </a:lnTo>
                    <a:lnTo>
                      <a:pt x="0" y="827549"/>
                    </a:lnTo>
                    <a:lnTo>
                      <a:pt x="1319492" y="827549"/>
                    </a:lnTo>
                    <a:close/>
                  </a:path>
                </a:pathLst>
              </a:custGeom>
              <a:solidFill>
                <a:srgbClr val="FFFFFF"/>
              </a:solidFill>
              <a:ln w="7600" cap="flat">
                <a:solidFill>
                  <a:srgbClr val="000000"/>
                </a:solidFill>
                <a:bevel/>
              </a:ln>
            </p:spPr>
          </p:sp>
          <p:grpSp>
            <p:nvGrpSpPr>
              <p:cNvPr id="78" name="组合 77"/>
              <p:cNvGrpSpPr/>
              <p:nvPr/>
            </p:nvGrpSpPr>
            <p:grpSpPr>
              <a:xfrm>
                <a:off x="5354802" y="4498845"/>
                <a:ext cx="425984" cy="122462"/>
                <a:chOff x="5354802" y="4498845"/>
                <a:chExt cx="425984" cy="122462"/>
              </a:xfrm>
            </p:grpSpPr>
            <p:grpSp>
              <p:nvGrpSpPr>
                <p:cNvPr id="95" name="组合 94"/>
                <p:cNvGrpSpPr/>
                <p:nvPr/>
              </p:nvGrpSpPr>
              <p:grpSpPr>
                <a:xfrm>
                  <a:off x="5354803" y="4499737"/>
                  <a:ext cx="428812" cy="120680"/>
                  <a:chOff x="5354803" y="4499737"/>
                  <a:chExt cx="428812" cy="120680"/>
                </a:xfrm>
              </p:grpSpPr>
              <p:sp>
                <p:nvSpPr>
                  <p:cNvPr id="102" name="数据存储"/>
                  <p:cNvSpPr/>
                  <p:nvPr/>
                </p:nvSpPr>
                <p:spPr>
                  <a:xfrm>
                    <a:off x="5354802" y="4499737"/>
                    <a:ext cx="421419" cy="120680"/>
                  </a:xfrm>
                  <a:custGeom>
                    <a:avLst/>
                    <a:gdLst>
                      <a:gd name="connsiteX0" fmla="*/ 210710 w 421419"/>
                      <a:gd name="connsiteY0" fmla="*/ 120680 h 120680"/>
                      <a:gd name="connsiteX1" fmla="*/ 210710 w 421419"/>
                      <a:gd name="connsiteY1" fmla="*/ 0 h 120680"/>
                      <a:gd name="connsiteX2" fmla="*/ 84284 w 421419"/>
                      <a:gd name="connsiteY2" fmla="*/ 0 h 120680"/>
                      <a:gd name="connsiteX3" fmla="*/ 337135 w 421419"/>
                      <a:gd name="connsiteY3" fmla="*/ 120680 h 120680"/>
                      <a:gd name="connsiteX4" fmla="*/ 210710 w 421419"/>
                      <a:gd name="connsiteY4" fmla="*/ 60340 h 120680"/>
                      <a:gd name="connsiteX5" fmla="*/ 84284 w 421419"/>
                      <a:gd name="connsiteY5" fmla="*/ 120680 h 120680"/>
                      <a:gd name="connsiteX6" fmla="*/ 337135 w 421419"/>
                      <a:gd name="connsiteY6" fmla="*/ 0 h 12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421419" h="120680" fill="none">
                        <a:moveTo>
                          <a:pt x="421419" y="0"/>
                        </a:moveTo>
                        <a:lnTo>
                          <a:pt x="0" y="0"/>
                        </a:lnTo>
                        <a:moveTo>
                          <a:pt x="0" y="120680"/>
                        </a:moveTo>
                        <a:lnTo>
                          <a:pt x="421419" y="120680"/>
                        </a:lnTo>
                      </a:path>
                    </a:pathLst>
                  </a:custGeom>
                  <a:solidFill>
                    <a:srgbClr val="3498DB"/>
                  </a:solidFill>
                  <a:ln w="10133" cap="flat">
                    <a:solidFill>
                      <a:srgbClr val="000000"/>
                    </a:solidFill>
                    <a:bevel/>
                  </a:ln>
                </p:spPr>
              </p:sp>
              <p:cxnSp>
                <p:nvCxnSpPr>
                  <p:cNvPr id="103" name="Line"/>
                  <p:cNvCxnSpPr/>
                  <p:nvPr/>
                </p:nvCxnSpPr>
                <p:spPr>
                  <a:xfrm rot="5400000">
                    <a:off x="5715882" y="4560077"/>
                    <a:ext cx="120680" cy="0"/>
                  </a:xfrm>
                  <a:prstGeom prst="line">
                    <a:avLst/>
                  </a:prstGeom>
                  <a:ln w="7600" cap="flat">
                    <a:solidFill>
                      <a:srgbClr val="000000"/>
                    </a:solidFill>
                    <a:bevel/>
                  </a:ln>
                </p:spPr>
              </p:cxnSp>
            </p:grpSp>
            <p:sp>
              <p:nvSpPr>
                <p:cNvPr id="96" name="外部交互方"/>
                <p:cNvSpPr/>
                <p:nvPr/>
              </p:nvSpPr>
              <p:spPr>
                <a:xfrm>
                  <a:off x="5473440" y="451356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97" name="外部交互方"/>
                <p:cNvSpPr/>
                <p:nvPr/>
              </p:nvSpPr>
              <p:spPr>
                <a:xfrm>
                  <a:off x="5541884" y="451356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98" name="外部交互方"/>
                <p:cNvSpPr/>
                <p:nvPr/>
              </p:nvSpPr>
              <p:spPr>
                <a:xfrm>
                  <a:off x="5610329" y="451356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99" name="外部交互方"/>
                <p:cNvSpPr/>
                <p:nvPr/>
              </p:nvSpPr>
              <p:spPr>
                <a:xfrm>
                  <a:off x="5678774" y="4512658"/>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100" name="外部交互方"/>
                <p:cNvSpPr/>
                <p:nvPr/>
              </p:nvSpPr>
              <p:spPr>
                <a:xfrm>
                  <a:off x="5404995" y="4512658"/>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cxnSp>
              <p:nvCxnSpPr>
                <p:cNvPr id="101" name="Line"/>
                <p:cNvCxnSpPr/>
                <p:nvPr/>
              </p:nvCxnSpPr>
              <p:spPr>
                <a:xfrm rot="5400000">
                  <a:off x="5293571" y="4560077"/>
                  <a:ext cx="122462" cy="0"/>
                </a:xfrm>
                <a:prstGeom prst="line">
                  <a:avLst/>
                </a:prstGeom>
                <a:ln w="10133" cap="flat">
                  <a:solidFill>
                    <a:srgbClr val="236EA1"/>
                  </a:solidFill>
                  <a:bevel/>
                </a:ln>
              </p:spPr>
            </p:cxnSp>
          </p:grpSp>
          <p:sp>
            <p:nvSpPr>
              <p:cNvPr id="79" name="选择点"/>
              <p:cNvSpPr/>
              <p:nvPr/>
            </p:nvSpPr>
            <p:spPr>
              <a:xfrm>
                <a:off x="6189749" y="5020491"/>
                <a:ext cx="438208" cy="291015"/>
              </a:xfrm>
              <a:custGeom>
                <a:avLst/>
                <a:gdLst>
                  <a:gd name="connsiteX0" fmla="*/ 0 w 438208"/>
                  <a:gd name="connsiteY0" fmla="*/ 145507 h 291015"/>
                  <a:gd name="connsiteX1" fmla="*/ 219104 w 438208"/>
                  <a:gd name="connsiteY1" fmla="*/ 0 h 291015"/>
                  <a:gd name="connsiteX2" fmla="*/ 438208 w 438208"/>
                  <a:gd name="connsiteY2" fmla="*/ 145507 h 291015"/>
                  <a:gd name="connsiteX3" fmla="*/ 219104 w 438208"/>
                  <a:gd name="connsiteY3" fmla="*/ 291015 h 291015"/>
                </a:gdLst>
                <a:ahLst/>
                <a:cxnLst>
                  <a:cxn ang="0">
                    <a:pos x="connsiteX0" y="connsiteY0"/>
                  </a:cxn>
                  <a:cxn ang="0">
                    <a:pos x="connsiteX1" y="connsiteY1"/>
                  </a:cxn>
                  <a:cxn ang="0">
                    <a:pos x="connsiteX2" y="connsiteY2"/>
                  </a:cxn>
                  <a:cxn ang="0">
                    <a:pos x="connsiteX3" y="connsiteY3"/>
                  </a:cxn>
                </a:cxnLst>
                <a:rect l="l" t="t" r="r" b="b"/>
                <a:pathLst>
                  <a:path w="438208" h="291015">
                    <a:moveTo>
                      <a:pt x="0" y="145507"/>
                    </a:moveTo>
                    <a:cubicBezTo>
                      <a:pt x="0" y="65146"/>
                      <a:pt x="98096" y="0"/>
                      <a:pt x="219104" y="0"/>
                    </a:cubicBezTo>
                    <a:cubicBezTo>
                      <a:pt x="340112" y="0"/>
                      <a:pt x="438208" y="65146"/>
                      <a:pt x="438208" y="145507"/>
                    </a:cubicBezTo>
                    <a:cubicBezTo>
                      <a:pt x="438208" y="225869"/>
                      <a:pt x="340112" y="291015"/>
                      <a:pt x="219104" y="291015"/>
                    </a:cubicBezTo>
                    <a:cubicBezTo>
                      <a:pt x="98096" y="291015"/>
                      <a:pt x="0" y="225869"/>
                      <a:pt x="0" y="14550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200">
                    <a:solidFill>
                      <a:srgbClr val="404557"/>
                    </a:solidFill>
                    <a:latin typeface="微软雅黑" panose="020B0503020204020204" pitchFamily="34" charset="-122"/>
                    <a:ea typeface="微软雅黑" panose="020B0503020204020204" pitchFamily="34" charset="-122"/>
                  </a:rPr>
                  <a:t>性能控制器</a:t>
                </a:r>
                <a:endParaRPr sz="1200">
                  <a:solidFill>
                    <a:srgbClr val="404557"/>
                  </a:solidFill>
                  <a:latin typeface="微软雅黑" panose="020B0503020204020204" pitchFamily="34" charset="-122"/>
                  <a:ea typeface="微软雅黑" panose="020B0503020204020204" pitchFamily="34" charset="-122"/>
                </a:endParaRPr>
              </a:p>
            </p:txBody>
          </p:sp>
          <p:sp>
            <p:nvSpPr>
              <p:cNvPr id="80" name="动态连接线"/>
              <p:cNvSpPr/>
              <p:nvPr/>
            </p:nvSpPr>
            <p:spPr>
              <a:xfrm>
                <a:off x="6738726" y="4966429"/>
                <a:ext cx="110769" cy="199570"/>
              </a:xfrm>
              <a:custGeom>
                <a:avLst/>
                <a:gdLst/>
                <a:ahLst/>
                <a:cxnLst/>
                <a:rect l="0" t="0" r="0" b="0"/>
                <a:pathLst>
                  <a:path w="110769" h="199570" fill="none">
                    <a:moveTo>
                      <a:pt x="0" y="0"/>
                    </a:moveTo>
                    <a:lnTo>
                      <a:pt x="0" y="199570"/>
                    </a:lnTo>
                    <a:lnTo>
                      <a:pt x="-110769" y="199570"/>
                    </a:lnTo>
                  </a:path>
                </a:pathLst>
              </a:custGeom>
              <a:noFill/>
              <a:ln w="7600" cap="flat">
                <a:solidFill>
                  <a:srgbClr val="236EA1"/>
                </a:solidFill>
                <a:bevel/>
                <a:tailEnd type="stealth" w="med" len="med"/>
              </a:ln>
            </p:spPr>
          </p:sp>
          <p:sp>
            <p:nvSpPr>
              <p:cNvPr id="81" name="动态连接线"/>
              <p:cNvSpPr/>
              <p:nvPr/>
            </p:nvSpPr>
            <p:spPr>
              <a:xfrm>
                <a:off x="6189749" y="5165999"/>
                <a:ext cx="110769" cy="199570"/>
              </a:xfrm>
              <a:custGeom>
                <a:avLst/>
                <a:gdLst/>
                <a:ahLst/>
                <a:cxnLst/>
                <a:rect l="0" t="0" r="0" b="0"/>
                <a:pathLst>
                  <a:path w="110769" h="199570" fill="none">
                    <a:moveTo>
                      <a:pt x="0" y="0"/>
                    </a:moveTo>
                    <a:lnTo>
                      <a:pt x="-110769" y="0"/>
                    </a:lnTo>
                    <a:lnTo>
                      <a:pt x="-110769" y="-199570"/>
                    </a:lnTo>
                  </a:path>
                </a:pathLst>
              </a:custGeom>
              <a:noFill/>
              <a:ln w="7600" cap="flat">
                <a:solidFill>
                  <a:srgbClr val="236EA1"/>
                </a:solidFill>
                <a:bevel/>
                <a:tailEnd type="stealth" w="med" len="med"/>
              </a:ln>
            </p:spPr>
          </p:sp>
          <p:grpSp>
            <p:nvGrpSpPr>
              <p:cNvPr id="82" name="Group 271"/>
              <p:cNvGrpSpPr/>
              <p:nvPr/>
            </p:nvGrpSpPr>
            <p:grpSpPr>
              <a:xfrm>
                <a:off x="5368491" y="4461472"/>
                <a:ext cx="365039" cy="0"/>
                <a:chOff x="5368491" y="4461472"/>
                <a:chExt cx="365039" cy="0"/>
              </a:xfrm>
            </p:grpSpPr>
            <p:sp>
              <p:nvSpPr>
                <p:cNvPr id="93" name="直线连接线"/>
                <p:cNvSpPr/>
                <p:nvPr/>
              </p:nvSpPr>
              <p:spPr>
                <a:xfrm>
                  <a:off x="5368491" y="4461472"/>
                  <a:ext cx="365039" cy="0"/>
                </a:xfrm>
                <a:custGeom>
                  <a:avLst/>
                  <a:gdLst/>
                  <a:ahLst/>
                  <a:cxnLst/>
                  <a:rect l="0" t="0" r="0" b="0"/>
                  <a:pathLst>
                    <a:path w="365039" fill="none">
                      <a:moveTo>
                        <a:pt x="0" y="0"/>
                      </a:moveTo>
                      <a:lnTo>
                        <a:pt x="365039" y="0"/>
                      </a:lnTo>
                    </a:path>
                  </a:pathLst>
                </a:custGeom>
                <a:noFill/>
                <a:ln w="7600" cap="flat">
                  <a:solidFill>
                    <a:srgbClr val="FFFFFF"/>
                  </a:solidFill>
                  <a:bevel/>
                  <a:tailEnd type="stealth" w="med" len="med"/>
                </a:ln>
              </p:spPr>
            </p:sp>
            <p:sp>
              <p:nvSpPr>
                <p:cNvPr id="94" name="Text 272"/>
                <p:cNvSpPr txBox="1"/>
                <p:nvPr/>
              </p:nvSpPr>
              <p:spPr>
                <a:xfrm>
                  <a:off x="5285011" y="4282872"/>
                  <a:ext cx="532000" cy="357200"/>
                </a:xfrm>
                <a:prstGeom prst="rect">
                  <a:avLst/>
                </a:prstGeom>
                <a:noFill/>
              </p:spPr>
              <p:txBody>
                <a:bodyPr wrap="square" lIns="36000" tIns="0" rIns="36000" bIns="0" rtlCol="0" anchor="ctr"/>
                <a:lstStyle/>
                <a:p>
                  <a:pPr algn="ctr">
                    <a:lnSpc>
                      <a:spcPct val="100000"/>
                    </a:lnSpc>
                  </a:pPr>
                  <a:r>
                    <a:rPr sz="1200" dirty="0" err="1">
                      <a:solidFill>
                        <a:srgbClr val="000000"/>
                      </a:solidFill>
                      <a:latin typeface="微软雅黑" panose="020B0503020204020204" pitchFamily="34" charset="-122"/>
                      <a:ea typeface="微软雅黑" panose="020B0503020204020204" pitchFamily="34" charset="-122"/>
                    </a:rPr>
                    <a:t>事件队列</a:t>
                  </a:r>
                  <a:endParaRPr sz="1200" dirty="0">
                    <a:solidFill>
                      <a:srgbClr val="000000"/>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000000"/>
                    </a:solidFill>
                    <a:latin typeface="微软雅黑" panose="020B0503020204020204" pitchFamily="34" charset="-122"/>
                    <a:ea typeface="微软雅黑" panose="020B0503020204020204" pitchFamily="34" charset="-122"/>
                  </a:endParaRPr>
                </a:p>
              </p:txBody>
            </p:sp>
          </p:grpSp>
          <p:grpSp>
            <p:nvGrpSpPr>
              <p:cNvPr id="83" name="椭圆形过程"/>
              <p:cNvGrpSpPr/>
              <p:nvPr/>
            </p:nvGrpSpPr>
            <p:grpSpPr>
              <a:xfrm>
                <a:off x="6067060" y="4184243"/>
                <a:ext cx="756557" cy="299758"/>
                <a:chOff x="6067060" y="4184243"/>
                <a:chExt cx="756557" cy="299758"/>
              </a:xfrm>
            </p:grpSpPr>
            <p:sp>
              <p:nvSpPr>
                <p:cNvPr id="90" name="任意多边形 89"/>
                <p:cNvSpPr/>
                <p:nvPr/>
              </p:nvSpPr>
              <p:spPr>
                <a:xfrm>
                  <a:off x="6067060" y="4184243"/>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91" name="Ellipse"/>
                <p:cNvSpPr/>
                <p:nvPr/>
              </p:nvSpPr>
              <p:spPr>
                <a:xfrm>
                  <a:off x="6067060" y="4184243"/>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92" name="Text 273"/>
                <p:cNvSpPr txBox="1"/>
                <p:nvPr/>
              </p:nvSpPr>
              <p:spPr>
                <a:xfrm>
                  <a:off x="6067060" y="4184243"/>
                  <a:ext cx="756557" cy="299758"/>
                </a:xfrm>
                <a:prstGeom prst="rect">
                  <a:avLst/>
                </a:prstGeom>
                <a:noFill/>
              </p:spPr>
              <p:txBody>
                <a:bodyPr wrap="square" lIns="0" tIns="0" rIns="0" bIns="0" rtlCol="0" anchor="ctr"/>
                <a:lstStyle/>
                <a:p>
                  <a:pPr algn="ctr">
                    <a:lnSpc>
                      <a:spcPct val="100000"/>
                    </a:lnSpc>
                  </a:pPr>
                  <a:r>
                    <a:rPr sz="1200">
                      <a:solidFill>
                        <a:srgbClr val="000000"/>
                      </a:solidFill>
                      <a:latin typeface="微软雅黑" panose="020B0503020204020204" pitchFamily="34" charset="-122"/>
                      <a:ea typeface="微软雅黑" panose="020B0503020204020204" pitchFamily="34" charset="-122"/>
                    </a:rPr>
                    <a:t>事件处理器</a:t>
                  </a:r>
                  <a:endParaRPr sz="1200">
                    <a:solidFill>
                      <a:srgbClr val="000000"/>
                    </a:solidFill>
                    <a:latin typeface="微软雅黑" panose="020B0503020204020204" pitchFamily="34" charset="-122"/>
                    <a:ea typeface="微软雅黑" panose="020B0503020204020204" pitchFamily="34" charset="-122"/>
                  </a:endParaRPr>
                </a:p>
              </p:txBody>
            </p:sp>
          </p:grpSp>
          <p:grpSp>
            <p:nvGrpSpPr>
              <p:cNvPr id="84" name="椭圆形过程"/>
              <p:cNvGrpSpPr/>
              <p:nvPr/>
            </p:nvGrpSpPr>
            <p:grpSpPr>
              <a:xfrm>
                <a:off x="6067055" y="4597602"/>
                <a:ext cx="756557" cy="299758"/>
                <a:chOff x="6067055" y="4597602"/>
                <a:chExt cx="756557" cy="299758"/>
              </a:xfrm>
            </p:grpSpPr>
            <p:sp>
              <p:nvSpPr>
                <p:cNvPr id="87" name="任意多边形 86"/>
                <p:cNvSpPr/>
                <p:nvPr/>
              </p:nvSpPr>
              <p:spPr>
                <a:xfrm>
                  <a:off x="6067055" y="4597602"/>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88" name="Ellipse"/>
                <p:cNvSpPr/>
                <p:nvPr/>
              </p:nvSpPr>
              <p:spPr>
                <a:xfrm>
                  <a:off x="6067055" y="4597602"/>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89" name="Text 274"/>
                <p:cNvSpPr txBox="1"/>
                <p:nvPr/>
              </p:nvSpPr>
              <p:spPr>
                <a:xfrm>
                  <a:off x="6067055" y="4597602"/>
                  <a:ext cx="756557" cy="299758"/>
                </a:xfrm>
                <a:prstGeom prst="rect">
                  <a:avLst/>
                </a:prstGeom>
                <a:noFill/>
              </p:spPr>
              <p:txBody>
                <a:bodyPr wrap="square" lIns="0" tIns="0" rIns="0" bIns="0" rtlCol="0" anchor="ctr"/>
                <a:lstStyle/>
                <a:p>
                  <a:pPr algn="ctr">
                    <a:lnSpc>
                      <a:spcPct val="100000"/>
                    </a:lnSpc>
                  </a:pPr>
                  <a:r>
                    <a:rPr sz="1200">
                      <a:solidFill>
                        <a:srgbClr val="000000"/>
                      </a:solidFill>
                      <a:latin typeface="微软雅黑" panose="020B0503020204020204" pitchFamily="34" charset="-122"/>
                      <a:ea typeface="微软雅黑" panose="020B0503020204020204" pitchFamily="34" charset="-122"/>
                    </a:rPr>
                    <a:t>线程池</a:t>
                  </a:r>
                  <a:endParaRPr sz="1200">
                    <a:solidFill>
                      <a:srgbClr val="000000"/>
                    </a:solidFill>
                    <a:latin typeface="微软雅黑" panose="020B0503020204020204" pitchFamily="34" charset="-122"/>
                    <a:ea typeface="微软雅黑" panose="020B0503020204020204" pitchFamily="34" charset="-122"/>
                  </a:endParaRPr>
                </a:p>
              </p:txBody>
            </p:sp>
          </p:grpSp>
          <p:cxnSp>
            <p:nvCxnSpPr>
              <p:cNvPr id="85" name="直线/曲线连接线"/>
              <p:cNvCxnSpPr/>
              <p:nvPr/>
            </p:nvCxnSpPr>
            <p:spPr>
              <a:xfrm rot="5400102">
                <a:off x="6585526" y="4540801"/>
                <a:ext cx="173553" cy="0"/>
              </a:xfrm>
              <a:prstGeom prst="line">
                <a:avLst/>
              </a:prstGeom>
              <a:ln w="7600" cap="flat">
                <a:solidFill>
                  <a:srgbClr val="236EA1"/>
                </a:solidFill>
                <a:bevel/>
                <a:tailEnd type="stealth" w="med" len="med"/>
              </a:ln>
            </p:spPr>
          </p:cxnSp>
          <p:cxnSp>
            <p:nvCxnSpPr>
              <p:cNvPr id="86" name="直线/曲线连接线"/>
              <p:cNvCxnSpPr/>
              <p:nvPr/>
            </p:nvCxnSpPr>
            <p:spPr>
              <a:xfrm rot="-5399898">
                <a:off x="6131592" y="4540801"/>
                <a:ext cx="173553" cy="0"/>
              </a:xfrm>
              <a:prstGeom prst="line">
                <a:avLst/>
              </a:prstGeom>
              <a:ln w="7600" cap="flat">
                <a:solidFill>
                  <a:srgbClr val="236EA1"/>
                </a:solidFill>
                <a:bevel/>
                <a:tailEnd type="stealth" w="med" len="med"/>
              </a:ln>
            </p:spPr>
          </p:cxnSp>
        </p:grpSp>
        <p:grpSp>
          <p:nvGrpSpPr>
            <p:cNvPr id="16" name="组合 15"/>
            <p:cNvGrpSpPr/>
            <p:nvPr/>
          </p:nvGrpSpPr>
          <p:grpSpPr>
            <a:xfrm>
              <a:off x="5354801" y="2832400"/>
              <a:ext cx="1713800" cy="1241027"/>
              <a:chOff x="5354801" y="2832400"/>
              <a:chExt cx="1713800" cy="1241027"/>
            </a:xfrm>
          </p:grpSpPr>
          <p:sp>
            <p:nvSpPr>
              <p:cNvPr id="50" name="外部交互方"/>
              <p:cNvSpPr/>
              <p:nvPr/>
            </p:nvSpPr>
            <p:spPr>
              <a:xfrm>
                <a:off x="5749106" y="2832400"/>
                <a:ext cx="1319489" cy="827549"/>
              </a:xfrm>
              <a:custGeom>
                <a:avLst/>
                <a:gdLst>
                  <a:gd name="connsiteX0" fmla="*/ 659746 w 1319489"/>
                  <a:gd name="connsiteY0" fmla="*/ 827549 h 827549"/>
                  <a:gd name="connsiteX1" fmla="*/ 659746 w 1319489"/>
                  <a:gd name="connsiteY1" fmla="*/ 0 h 827549"/>
                  <a:gd name="connsiteX2" fmla="*/ 1319489 w 1319489"/>
                  <a:gd name="connsiteY2" fmla="*/ 413774 h 827549"/>
                  <a:gd name="connsiteX3" fmla="*/ 0 w 1319489"/>
                  <a:gd name="connsiteY3" fmla="*/ 413774 h 827549"/>
                  <a:gd name="connsiteX4" fmla="*/ 659746 w 1319489"/>
                  <a:gd name="connsiteY4" fmla="*/ 413774 h 827549"/>
                  <a:gd name="connsiteX5" fmla="*/ 0 w 1319489"/>
                  <a:gd name="connsiteY5" fmla="*/ 206887 h 827549"/>
                  <a:gd name="connsiteX6" fmla="*/ 0 w 1319489"/>
                  <a:gd name="connsiteY6" fmla="*/ 620662 h 827549"/>
                  <a:gd name="connsiteX7" fmla="*/ 1319489 w 1319489"/>
                  <a:gd name="connsiteY7" fmla="*/ 206887 h 827549"/>
                  <a:gd name="connsiteX8" fmla="*/ 1319489 w 1319489"/>
                  <a:gd name="connsiteY8" fmla="*/ 620662 h 827549"/>
                  <a:gd name="connsiteX9" fmla="*/ 329873 w 1319489"/>
                  <a:gd name="connsiteY9" fmla="*/ 0 h 827549"/>
                  <a:gd name="connsiteX10" fmla="*/ 989619 w 1319489"/>
                  <a:gd name="connsiteY10" fmla="*/ 0 h 827549"/>
                  <a:gd name="connsiteX11" fmla="*/ 329873 w 1319489"/>
                  <a:gd name="connsiteY11" fmla="*/ 827549 h 827549"/>
                  <a:gd name="connsiteX12" fmla="*/ 989619 w 1319489"/>
                  <a:gd name="connsiteY12" fmla="*/ 827549 h 82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1319489" h="827549">
                    <a:moveTo>
                      <a:pt x="1319489" y="827549"/>
                    </a:moveTo>
                    <a:lnTo>
                      <a:pt x="1319489" y="0"/>
                    </a:lnTo>
                    <a:lnTo>
                      <a:pt x="0" y="0"/>
                    </a:lnTo>
                    <a:lnTo>
                      <a:pt x="0" y="827549"/>
                    </a:lnTo>
                    <a:lnTo>
                      <a:pt x="1319489" y="827549"/>
                    </a:lnTo>
                    <a:close/>
                  </a:path>
                </a:pathLst>
              </a:custGeom>
              <a:solidFill>
                <a:srgbClr val="FFFFFF"/>
              </a:solidFill>
              <a:ln w="7600" cap="flat">
                <a:solidFill>
                  <a:srgbClr val="000000"/>
                </a:solidFill>
                <a:bevel/>
              </a:ln>
            </p:spPr>
          </p:sp>
          <p:grpSp>
            <p:nvGrpSpPr>
              <p:cNvPr id="51" name="组合 50"/>
              <p:cNvGrpSpPr/>
              <p:nvPr/>
            </p:nvGrpSpPr>
            <p:grpSpPr>
              <a:xfrm>
                <a:off x="5354802" y="3192366"/>
                <a:ext cx="425984" cy="122463"/>
                <a:chOff x="5354802" y="3192366"/>
                <a:chExt cx="425984" cy="122463"/>
              </a:xfrm>
            </p:grpSpPr>
            <p:grpSp>
              <p:nvGrpSpPr>
                <p:cNvPr id="68" name="组合 67"/>
                <p:cNvGrpSpPr/>
                <p:nvPr/>
              </p:nvGrpSpPr>
              <p:grpSpPr>
                <a:xfrm>
                  <a:off x="5354803" y="3193258"/>
                  <a:ext cx="428813" cy="120680"/>
                  <a:chOff x="5354803" y="3193258"/>
                  <a:chExt cx="428813" cy="120680"/>
                </a:xfrm>
              </p:grpSpPr>
              <p:sp>
                <p:nvSpPr>
                  <p:cNvPr id="75" name="数据存储"/>
                  <p:cNvSpPr/>
                  <p:nvPr/>
                </p:nvSpPr>
                <p:spPr>
                  <a:xfrm>
                    <a:off x="5354803" y="3193258"/>
                    <a:ext cx="421419" cy="120680"/>
                  </a:xfrm>
                  <a:custGeom>
                    <a:avLst/>
                    <a:gdLst>
                      <a:gd name="connsiteX0" fmla="*/ 210709 w 421419"/>
                      <a:gd name="connsiteY0" fmla="*/ 120680 h 120680"/>
                      <a:gd name="connsiteX1" fmla="*/ 210709 w 421419"/>
                      <a:gd name="connsiteY1" fmla="*/ 0 h 120680"/>
                      <a:gd name="connsiteX2" fmla="*/ 84284 w 421419"/>
                      <a:gd name="connsiteY2" fmla="*/ 0 h 120680"/>
                      <a:gd name="connsiteX3" fmla="*/ 337135 w 421419"/>
                      <a:gd name="connsiteY3" fmla="*/ 120680 h 120680"/>
                      <a:gd name="connsiteX4" fmla="*/ 210709 w 421419"/>
                      <a:gd name="connsiteY4" fmla="*/ 60340 h 120680"/>
                      <a:gd name="connsiteX5" fmla="*/ 84284 w 421419"/>
                      <a:gd name="connsiteY5" fmla="*/ 120680 h 120680"/>
                      <a:gd name="connsiteX6" fmla="*/ 337135 w 421419"/>
                      <a:gd name="connsiteY6" fmla="*/ 0 h 12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421419" h="120680" fill="none">
                        <a:moveTo>
                          <a:pt x="421419" y="0"/>
                        </a:moveTo>
                        <a:lnTo>
                          <a:pt x="0" y="0"/>
                        </a:lnTo>
                        <a:moveTo>
                          <a:pt x="0" y="120680"/>
                        </a:moveTo>
                        <a:lnTo>
                          <a:pt x="421419" y="120680"/>
                        </a:lnTo>
                      </a:path>
                    </a:pathLst>
                  </a:custGeom>
                  <a:solidFill>
                    <a:srgbClr val="3498DB"/>
                  </a:solidFill>
                  <a:ln w="10133" cap="flat">
                    <a:solidFill>
                      <a:srgbClr val="000000"/>
                    </a:solidFill>
                    <a:bevel/>
                  </a:ln>
                </p:spPr>
              </p:sp>
              <p:cxnSp>
                <p:nvCxnSpPr>
                  <p:cNvPr id="76" name="Line"/>
                  <p:cNvCxnSpPr/>
                  <p:nvPr/>
                </p:nvCxnSpPr>
                <p:spPr>
                  <a:xfrm rot="5400000">
                    <a:off x="5715883" y="3253597"/>
                    <a:ext cx="120680" cy="0"/>
                  </a:xfrm>
                  <a:prstGeom prst="line">
                    <a:avLst/>
                  </a:prstGeom>
                  <a:ln w="7600" cap="flat">
                    <a:solidFill>
                      <a:srgbClr val="000000"/>
                    </a:solidFill>
                    <a:bevel/>
                  </a:ln>
                </p:spPr>
              </p:cxnSp>
            </p:grpSp>
            <p:sp>
              <p:nvSpPr>
                <p:cNvPr id="69" name="外部交互方"/>
                <p:cNvSpPr/>
                <p:nvPr/>
              </p:nvSpPr>
              <p:spPr>
                <a:xfrm>
                  <a:off x="5473439" y="320708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70" name="外部交互方"/>
                <p:cNvSpPr/>
                <p:nvPr/>
              </p:nvSpPr>
              <p:spPr>
                <a:xfrm>
                  <a:off x="5541884" y="320708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71" name="外部交互方"/>
                <p:cNvSpPr/>
                <p:nvPr/>
              </p:nvSpPr>
              <p:spPr>
                <a:xfrm>
                  <a:off x="5610328" y="3207085"/>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72" name="外部交互方"/>
                <p:cNvSpPr/>
                <p:nvPr/>
              </p:nvSpPr>
              <p:spPr>
                <a:xfrm>
                  <a:off x="5678774" y="3206179"/>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73" name="外部交互方"/>
                <p:cNvSpPr/>
                <p:nvPr/>
              </p:nvSpPr>
              <p:spPr>
                <a:xfrm>
                  <a:off x="5404995" y="3206179"/>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cxnSp>
              <p:nvCxnSpPr>
                <p:cNvPr id="74" name="Line"/>
                <p:cNvCxnSpPr/>
                <p:nvPr/>
              </p:nvCxnSpPr>
              <p:spPr>
                <a:xfrm rot="5400000">
                  <a:off x="5293571" y="3253597"/>
                  <a:ext cx="122463" cy="0"/>
                </a:xfrm>
                <a:prstGeom prst="line">
                  <a:avLst/>
                </a:prstGeom>
                <a:ln w="10133" cap="flat">
                  <a:solidFill>
                    <a:srgbClr val="236EA1"/>
                  </a:solidFill>
                  <a:bevel/>
                </a:ln>
              </p:spPr>
            </p:cxnSp>
          </p:grpSp>
          <p:sp>
            <p:nvSpPr>
              <p:cNvPr id="52" name="选择点"/>
              <p:cNvSpPr/>
              <p:nvPr/>
            </p:nvSpPr>
            <p:spPr>
              <a:xfrm>
                <a:off x="6189748" y="3698810"/>
                <a:ext cx="438208" cy="291015"/>
              </a:xfrm>
              <a:custGeom>
                <a:avLst/>
                <a:gdLst>
                  <a:gd name="connsiteX0" fmla="*/ 0 w 438208"/>
                  <a:gd name="connsiteY0" fmla="*/ 145507 h 291015"/>
                  <a:gd name="connsiteX1" fmla="*/ 219104 w 438208"/>
                  <a:gd name="connsiteY1" fmla="*/ 0 h 291015"/>
                  <a:gd name="connsiteX2" fmla="*/ 438208 w 438208"/>
                  <a:gd name="connsiteY2" fmla="*/ 145507 h 291015"/>
                  <a:gd name="connsiteX3" fmla="*/ 219104 w 438208"/>
                  <a:gd name="connsiteY3" fmla="*/ 291015 h 291015"/>
                </a:gdLst>
                <a:ahLst/>
                <a:cxnLst>
                  <a:cxn ang="0">
                    <a:pos x="connsiteX0" y="connsiteY0"/>
                  </a:cxn>
                  <a:cxn ang="0">
                    <a:pos x="connsiteX1" y="connsiteY1"/>
                  </a:cxn>
                  <a:cxn ang="0">
                    <a:pos x="connsiteX2" y="connsiteY2"/>
                  </a:cxn>
                  <a:cxn ang="0">
                    <a:pos x="connsiteX3" y="connsiteY3"/>
                  </a:cxn>
                </a:cxnLst>
                <a:rect l="l" t="t" r="r" b="b"/>
                <a:pathLst>
                  <a:path w="438208" h="291015">
                    <a:moveTo>
                      <a:pt x="0" y="145507"/>
                    </a:moveTo>
                    <a:cubicBezTo>
                      <a:pt x="0" y="65146"/>
                      <a:pt x="98096" y="0"/>
                      <a:pt x="219104" y="0"/>
                    </a:cubicBezTo>
                    <a:cubicBezTo>
                      <a:pt x="340112" y="0"/>
                      <a:pt x="438208" y="65146"/>
                      <a:pt x="438208" y="145507"/>
                    </a:cubicBezTo>
                    <a:cubicBezTo>
                      <a:pt x="438208" y="225869"/>
                      <a:pt x="340112" y="291015"/>
                      <a:pt x="219104" y="291015"/>
                    </a:cubicBezTo>
                    <a:cubicBezTo>
                      <a:pt x="98096" y="291015"/>
                      <a:pt x="0" y="225869"/>
                      <a:pt x="0" y="14550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200">
                    <a:solidFill>
                      <a:srgbClr val="404557"/>
                    </a:solidFill>
                    <a:latin typeface="微软雅黑" panose="020B0503020204020204" pitchFamily="34" charset="-122"/>
                    <a:ea typeface="微软雅黑" panose="020B0503020204020204" pitchFamily="34" charset="-122"/>
                  </a:rPr>
                  <a:t>性能控制器</a:t>
                </a:r>
                <a:endParaRPr sz="1200">
                  <a:solidFill>
                    <a:srgbClr val="404557"/>
                  </a:solidFill>
                  <a:latin typeface="微软雅黑" panose="020B0503020204020204" pitchFamily="34" charset="-122"/>
                  <a:ea typeface="微软雅黑" panose="020B0503020204020204" pitchFamily="34" charset="-122"/>
                </a:endParaRPr>
              </a:p>
            </p:txBody>
          </p:sp>
          <p:sp>
            <p:nvSpPr>
              <p:cNvPr id="53" name="动态连接线"/>
              <p:cNvSpPr/>
              <p:nvPr/>
            </p:nvSpPr>
            <p:spPr>
              <a:xfrm>
                <a:off x="6738725" y="3659949"/>
                <a:ext cx="110768" cy="184368"/>
              </a:xfrm>
              <a:custGeom>
                <a:avLst/>
                <a:gdLst/>
                <a:ahLst/>
                <a:cxnLst/>
                <a:rect l="0" t="0" r="0" b="0"/>
                <a:pathLst>
                  <a:path w="110768" h="184368" fill="none">
                    <a:moveTo>
                      <a:pt x="0" y="0"/>
                    </a:moveTo>
                    <a:lnTo>
                      <a:pt x="0" y="184368"/>
                    </a:lnTo>
                    <a:lnTo>
                      <a:pt x="-110768" y="184368"/>
                    </a:lnTo>
                  </a:path>
                </a:pathLst>
              </a:custGeom>
              <a:noFill/>
              <a:ln w="7600" cap="flat">
                <a:solidFill>
                  <a:srgbClr val="236EA1"/>
                </a:solidFill>
                <a:bevel/>
                <a:tailEnd type="stealth" w="med" len="med"/>
              </a:ln>
            </p:spPr>
          </p:sp>
          <p:sp>
            <p:nvSpPr>
              <p:cNvPr id="54" name="动态连接线"/>
              <p:cNvSpPr/>
              <p:nvPr/>
            </p:nvSpPr>
            <p:spPr>
              <a:xfrm>
                <a:off x="6189748" y="3844317"/>
                <a:ext cx="110768" cy="184368"/>
              </a:xfrm>
              <a:custGeom>
                <a:avLst/>
                <a:gdLst/>
                <a:ahLst/>
                <a:cxnLst/>
                <a:rect l="0" t="0" r="0" b="0"/>
                <a:pathLst>
                  <a:path w="110768" h="184368" fill="none">
                    <a:moveTo>
                      <a:pt x="0" y="0"/>
                    </a:moveTo>
                    <a:lnTo>
                      <a:pt x="-110768" y="0"/>
                    </a:lnTo>
                    <a:lnTo>
                      <a:pt x="-110768" y="-184368"/>
                    </a:lnTo>
                  </a:path>
                </a:pathLst>
              </a:custGeom>
              <a:noFill/>
              <a:ln w="7600" cap="flat">
                <a:solidFill>
                  <a:srgbClr val="236EA1"/>
                </a:solidFill>
                <a:bevel/>
                <a:tailEnd type="stealth" w="med" len="med"/>
              </a:ln>
            </p:spPr>
          </p:sp>
          <p:grpSp>
            <p:nvGrpSpPr>
              <p:cNvPr id="55" name="Group 275"/>
              <p:cNvGrpSpPr/>
              <p:nvPr/>
            </p:nvGrpSpPr>
            <p:grpSpPr>
              <a:xfrm>
                <a:off x="5368492" y="3154993"/>
                <a:ext cx="365039" cy="0"/>
                <a:chOff x="5368492" y="3154993"/>
                <a:chExt cx="365039" cy="0"/>
              </a:xfrm>
            </p:grpSpPr>
            <p:sp>
              <p:nvSpPr>
                <p:cNvPr id="66" name="直线连接线"/>
                <p:cNvSpPr/>
                <p:nvPr/>
              </p:nvSpPr>
              <p:spPr>
                <a:xfrm>
                  <a:off x="5368492" y="3154993"/>
                  <a:ext cx="365039" cy="0"/>
                </a:xfrm>
                <a:custGeom>
                  <a:avLst/>
                  <a:gdLst/>
                  <a:ahLst/>
                  <a:cxnLst/>
                  <a:rect l="0" t="0" r="0" b="0"/>
                  <a:pathLst>
                    <a:path w="365039" fill="none">
                      <a:moveTo>
                        <a:pt x="0" y="0"/>
                      </a:moveTo>
                      <a:lnTo>
                        <a:pt x="365039" y="0"/>
                      </a:lnTo>
                    </a:path>
                  </a:pathLst>
                </a:custGeom>
                <a:noFill/>
                <a:ln w="7600" cap="flat">
                  <a:solidFill>
                    <a:srgbClr val="FFFFFF"/>
                  </a:solidFill>
                  <a:bevel/>
                  <a:tailEnd type="stealth" w="med" len="med"/>
                </a:ln>
              </p:spPr>
            </p:sp>
            <p:sp>
              <p:nvSpPr>
                <p:cNvPr id="67" name="Text 276"/>
                <p:cNvSpPr txBox="1"/>
                <p:nvPr/>
              </p:nvSpPr>
              <p:spPr>
                <a:xfrm>
                  <a:off x="5285011" y="2976393"/>
                  <a:ext cx="532000" cy="357200"/>
                </a:xfrm>
                <a:prstGeom prst="rect">
                  <a:avLst/>
                </a:prstGeom>
                <a:noFill/>
              </p:spPr>
              <p:txBody>
                <a:bodyPr wrap="square" lIns="36000" tIns="0" rIns="36000" bIns="0" rtlCol="0" anchor="ctr"/>
                <a:lstStyle/>
                <a:p>
                  <a:pPr algn="ctr">
                    <a:lnSpc>
                      <a:spcPct val="100000"/>
                    </a:lnSpc>
                  </a:pPr>
                  <a:r>
                    <a:rPr sz="1200" dirty="0" err="1">
                      <a:solidFill>
                        <a:srgbClr val="000000"/>
                      </a:solidFill>
                      <a:latin typeface="微软雅黑" panose="020B0503020204020204" pitchFamily="34" charset="-122"/>
                      <a:ea typeface="微软雅黑" panose="020B0503020204020204" pitchFamily="34" charset="-122"/>
                    </a:rPr>
                    <a:t>事件队列</a:t>
                  </a:r>
                  <a:endParaRPr sz="1200" dirty="0">
                    <a:solidFill>
                      <a:srgbClr val="000000"/>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000000"/>
                    </a:solidFill>
                    <a:latin typeface="微软雅黑" panose="020B0503020204020204" pitchFamily="34" charset="-122"/>
                    <a:ea typeface="微软雅黑" panose="020B0503020204020204" pitchFamily="34" charset="-122"/>
                  </a:endParaRPr>
                </a:p>
              </p:txBody>
            </p:sp>
          </p:grpSp>
          <p:grpSp>
            <p:nvGrpSpPr>
              <p:cNvPr id="56" name="椭圆形过程"/>
              <p:cNvGrpSpPr/>
              <p:nvPr/>
            </p:nvGrpSpPr>
            <p:grpSpPr>
              <a:xfrm>
                <a:off x="6067062" y="2877764"/>
                <a:ext cx="756557" cy="299758"/>
                <a:chOff x="6067062" y="2877764"/>
                <a:chExt cx="756557" cy="299758"/>
              </a:xfrm>
            </p:grpSpPr>
            <p:sp>
              <p:nvSpPr>
                <p:cNvPr id="63" name="任意多边形 62"/>
                <p:cNvSpPr/>
                <p:nvPr/>
              </p:nvSpPr>
              <p:spPr>
                <a:xfrm>
                  <a:off x="6067062" y="2877764"/>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64" name="Ellipse"/>
                <p:cNvSpPr/>
                <p:nvPr/>
              </p:nvSpPr>
              <p:spPr>
                <a:xfrm>
                  <a:off x="6067062" y="2877764"/>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65" name="Text 277"/>
                <p:cNvSpPr txBox="1"/>
                <p:nvPr/>
              </p:nvSpPr>
              <p:spPr>
                <a:xfrm>
                  <a:off x="6067062" y="2877764"/>
                  <a:ext cx="756557" cy="299758"/>
                </a:xfrm>
                <a:prstGeom prst="rect">
                  <a:avLst/>
                </a:prstGeom>
                <a:noFill/>
              </p:spPr>
              <p:txBody>
                <a:bodyPr wrap="square" lIns="0" tIns="0" rIns="0" bIns="0" rtlCol="0" anchor="ctr"/>
                <a:lstStyle/>
                <a:p>
                  <a:pPr algn="ctr">
                    <a:lnSpc>
                      <a:spcPct val="100000"/>
                    </a:lnSpc>
                  </a:pPr>
                  <a:r>
                    <a:rPr sz="1200">
                      <a:solidFill>
                        <a:srgbClr val="000000"/>
                      </a:solidFill>
                      <a:latin typeface="微软雅黑" panose="020B0503020204020204" pitchFamily="34" charset="-122"/>
                      <a:ea typeface="微软雅黑" panose="020B0503020204020204" pitchFamily="34" charset="-122"/>
                    </a:rPr>
                    <a:t>事件处理器</a:t>
                  </a:r>
                  <a:endParaRPr sz="1200">
                    <a:solidFill>
                      <a:srgbClr val="000000"/>
                    </a:solidFill>
                    <a:latin typeface="微软雅黑" panose="020B0503020204020204" pitchFamily="34" charset="-122"/>
                    <a:ea typeface="微软雅黑" panose="020B0503020204020204" pitchFamily="34" charset="-122"/>
                  </a:endParaRPr>
                </a:p>
              </p:txBody>
            </p:sp>
          </p:grpSp>
          <p:grpSp>
            <p:nvGrpSpPr>
              <p:cNvPr id="57" name="椭圆形过程"/>
              <p:cNvGrpSpPr/>
              <p:nvPr/>
            </p:nvGrpSpPr>
            <p:grpSpPr>
              <a:xfrm>
                <a:off x="6067054" y="3291122"/>
                <a:ext cx="756557" cy="299758"/>
                <a:chOff x="6067054" y="3291122"/>
                <a:chExt cx="756557" cy="299758"/>
              </a:xfrm>
            </p:grpSpPr>
            <p:sp>
              <p:nvSpPr>
                <p:cNvPr id="60" name="任意多边形 59"/>
                <p:cNvSpPr/>
                <p:nvPr/>
              </p:nvSpPr>
              <p:spPr>
                <a:xfrm>
                  <a:off x="6067054" y="3291122"/>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61" name="Ellipse"/>
                <p:cNvSpPr/>
                <p:nvPr/>
              </p:nvSpPr>
              <p:spPr>
                <a:xfrm>
                  <a:off x="6067054" y="3291122"/>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62" name="Text 278"/>
                <p:cNvSpPr txBox="1"/>
                <p:nvPr/>
              </p:nvSpPr>
              <p:spPr>
                <a:xfrm>
                  <a:off x="6067054" y="3291122"/>
                  <a:ext cx="756557" cy="299758"/>
                </a:xfrm>
                <a:prstGeom prst="rect">
                  <a:avLst/>
                </a:prstGeom>
                <a:noFill/>
              </p:spPr>
              <p:txBody>
                <a:bodyPr wrap="square" lIns="0" tIns="0" rIns="0" bIns="0" rtlCol="0" anchor="ctr"/>
                <a:lstStyle/>
                <a:p>
                  <a:pPr algn="ctr">
                    <a:lnSpc>
                      <a:spcPct val="100000"/>
                    </a:lnSpc>
                  </a:pPr>
                  <a:r>
                    <a:rPr sz="1200">
                      <a:solidFill>
                        <a:srgbClr val="000000"/>
                      </a:solidFill>
                      <a:latin typeface="微软雅黑" panose="020B0503020204020204" pitchFamily="34" charset="-122"/>
                      <a:ea typeface="微软雅黑" panose="020B0503020204020204" pitchFamily="34" charset="-122"/>
                    </a:rPr>
                    <a:t>线程池</a:t>
                  </a:r>
                  <a:endParaRPr sz="1200">
                    <a:solidFill>
                      <a:srgbClr val="000000"/>
                    </a:solidFill>
                    <a:latin typeface="微软雅黑" panose="020B0503020204020204" pitchFamily="34" charset="-122"/>
                    <a:ea typeface="微软雅黑" panose="020B0503020204020204" pitchFamily="34" charset="-122"/>
                  </a:endParaRPr>
                </a:p>
              </p:txBody>
            </p:sp>
          </p:grpSp>
          <p:cxnSp>
            <p:nvCxnSpPr>
              <p:cNvPr id="58" name="直线/曲线连接线"/>
              <p:cNvCxnSpPr/>
              <p:nvPr/>
            </p:nvCxnSpPr>
            <p:spPr>
              <a:xfrm rot="5400151">
                <a:off x="6585527" y="3234322"/>
                <a:ext cx="173553" cy="0"/>
              </a:xfrm>
              <a:prstGeom prst="line">
                <a:avLst/>
              </a:prstGeom>
              <a:ln w="7600" cap="flat">
                <a:solidFill>
                  <a:srgbClr val="236EA1"/>
                </a:solidFill>
                <a:bevel/>
                <a:tailEnd type="stealth" w="med" len="med"/>
              </a:ln>
            </p:spPr>
          </p:cxnSp>
          <p:cxnSp>
            <p:nvCxnSpPr>
              <p:cNvPr id="59" name="直线/曲线连接线"/>
              <p:cNvCxnSpPr/>
              <p:nvPr/>
            </p:nvCxnSpPr>
            <p:spPr>
              <a:xfrm rot="-5399849">
                <a:off x="6131593" y="3234322"/>
                <a:ext cx="173553" cy="0"/>
              </a:xfrm>
              <a:prstGeom prst="line">
                <a:avLst/>
              </a:prstGeom>
              <a:ln w="7600" cap="flat">
                <a:solidFill>
                  <a:srgbClr val="236EA1"/>
                </a:solidFill>
                <a:bevel/>
                <a:tailEnd type="stealth" w="med" len="med"/>
              </a:ln>
            </p:spPr>
          </p:cxnSp>
        </p:grpSp>
        <p:grpSp>
          <p:nvGrpSpPr>
            <p:cNvPr id="17" name="组合 16"/>
            <p:cNvGrpSpPr/>
            <p:nvPr/>
          </p:nvGrpSpPr>
          <p:grpSpPr>
            <a:xfrm>
              <a:off x="5354801" y="1525921"/>
              <a:ext cx="1713800" cy="1241027"/>
              <a:chOff x="5354801" y="1525921"/>
              <a:chExt cx="1713800" cy="1241027"/>
            </a:xfrm>
          </p:grpSpPr>
          <p:sp>
            <p:nvSpPr>
              <p:cNvPr id="23" name="外部交互方"/>
              <p:cNvSpPr/>
              <p:nvPr/>
            </p:nvSpPr>
            <p:spPr>
              <a:xfrm>
                <a:off x="5749106" y="1525921"/>
                <a:ext cx="1319489" cy="827549"/>
              </a:xfrm>
              <a:custGeom>
                <a:avLst/>
                <a:gdLst>
                  <a:gd name="connsiteX0" fmla="*/ 659746 w 1319489"/>
                  <a:gd name="connsiteY0" fmla="*/ 827549 h 827549"/>
                  <a:gd name="connsiteX1" fmla="*/ 659746 w 1319489"/>
                  <a:gd name="connsiteY1" fmla="*/ 0 h 827549"/>
                  <a:gd name="connsiteX2" fmla="*/ 1319489 w 1319489"/>
                  <a:gd name="connsiteY2" fmla="*/ 413774 h 827549"/>
                  <a:gd name="connsiteX3" fmla="*/ 0 w 1319489"/>
                  <a:gd name="connsiteY3" fmla="*/ 413774 h 827549"/>
                  <a:gd name="connsiteX4" fmla="*/ 659746 w 1319489"/>
                  <a:gd name="connsiteY4" fmla="*/ 413774 h 827549"/>
                  <a:gd name="connsiteX5" fmla="*/ 0 w 1319489"/>
                  <a:gd name="connsiteY5" fmla="*/ 206887 h 827549"/>
                  <a:gd name="connsiteX6" fmla="*/ 0 w 1319489"/>
                  <a:gd name="connsiteY6" fmla="*/ 620662 h 827549"/>
                  <a:gd name="connsiteX7" fmla="*/ 1319489 w 1319489"/>
                  <a:gd name="connsiteY7" fmla="*/ 206887 h 827549"/>
                  <a:gd name="connsiteX8" fmla="*/ 1319489 w 1319489"/>
                  <a:gd name="connsiteY8" fmla="*/ 620662 h 827549"/>
                  <a:gd name="connsiteX9" fmla="*/ 329873 w 1319489"/>
                  <a:gd name="connsiteY9" fmla="*/ 0 h 827549"/>
                  <a:gd name="connsiteX10" fmla="*/ 989619 w 1319489"/>
                  <a:gd name="connsiteY10" fmla="*/ 0 h 827549"/>
                  <a:gd name="connsiteX11" fmla="*/ 329873 w 1319489"/>
                  <a:gd name="connsiteY11" fmla="*/ 827549 h 827549"/>
                  <a:gd name="connsiteX12" fmla="*/ 989619 w 1319489"/>
                  <a:gd name="connsiteY12" fmla="*/ 827549 h 82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1319489" h="827549">
                    <a:moveTo>
                      <a:pt x="1319489" y="827549"/>
                    </a:moveTo>
                    <a:lnTo>
                      <a:pt x="1319489" y="0"/>
                    </a:lnTo>
                    <a:lnTo>
                      <a:pt x="0" y="0"/>
                    </a:lnTo>
                    <a:lnTo>
                      <a:pt x="0" y="827549"/>
                    </a:lnTo>
                    <a:lnTo>
                      <a:pt x="1319489" y="827549"/>
                    </a:lnTo>
                    <a:close/>
                  </a:path>
                </a:pathLst>
              </a:custGeom>
              <a:solidFill>
                <a:srgbClr val="FFFFFF"/>
              </a:solidFill>
              <a:ln w="7600" cap="flat">
                <a:solidFill>
                  <a:srgbClr val="000000"/>
                </a:solidFill>
                <a:bevel/>
              </a:ln>
            </p:spPr>
          </p:sp>
          <p:grpSp>
            <p:nvGrpSpPr>
              <p:cNvPr id="24" name="组合 23"/>
              <p:cNvGrpSpPr/>
              <p:nvPr/>
            </p:nvGrpSpPr>
            <p:grpSpPr>
              <a:xfrm>
                <a:off x="5354802" y="1885887"/>
                <a:ext cx="425984" cy="122463"/>
                <a:chOff x="5354802" y="1885887"/>
                <a:chExt cx="425984" cy="122463"/>
              </a:xfrm>
            </p:grpSpPr>
            <p:grpSp>
              <p:nvGrpSpPr>
                <p:cNvPr id="41" name="组合 40"/>
                <p:cNvGrpSpPr/>
                <p:nvPr/>
              </p:nvGrpSpPr>
              <p:grpSpPr>
                <a:xfrm>
                  <a:off x="5354803" y="1886778"/>
                  <a:ext cx="428813" cy="120680"/>
                  <a:chOff x="5354803" y="1886778"/>
                  <a:chExt cx="428813" cy="120680"/>
                </a:xfrm>
              </p:grpSpPr>
              <p:sp>
                <p:nvSpPr>
                  <p:cNvPr id="48" name="数据存储"/>
                  <p:cNvSpPr/>
                  <p:nvPr/>
                </p:nvSpPr>
                <p:spPr>
                  <a:xfrm>
                    <a:off x="5354803" y="1886778"/>
                    <a:ext cx="421419" cy="120680"/>
                  </a:xfrm>
                  <a:custGeom>
                    <a:avLst/>
                    <a:gdLst>
                      <a:gd name="connsiteX0" fmla="*/ 210709 w 421419"/>
                      <a:gd name="connsiteY0" fmla="*/ 120680 h 120680"/>
                      <a:gd name="connsiteX1" fmla="*/ 210709 w 421419"/>
                      <a:gd name="connsiteY1" fmla="*/ 0 h 120680"/>
                      <a:gd name="connsiteX2" fmla="*/ 84284 w 421419"/>
                      <a:gd name="connsiteY2" fmla="*/ 0 h 120680"/>
                      <a:gd name="connsiteX3" fmla="*/ 337135 w 421419"/>
                      <a:gd name="connsiteY3" fmla="*/ 120680 h 120680"/>
                      <a:gd name="connsiteX4" fmla="*/ 210709 w 421419"/>
                      <a:gd name="connsiteY4" fmla="*/ 60340 h 120680"/>
                      <a:gd name="connsiteX5" fmla="*/ 84284 w 421419"/>
                      <a:gd name="connsiteY5" fmla="*/ 120680 h 120680"/>
                      <a:gd name="connsiteX6" fmla="*/ 337135 w 421419"/>
                      <a:gd name="connsiteY6" fmla="*/ 0 h 12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0" b="0"/>
                    <a:pathLst>
                      <a:path w="421419" h="120680" fill="none">
                        <a:moveTo>
                          <a:pt x="421419" y="0"/>
                        </a:moveTo>
                        <a:lnTo>
                          <a:pt x="0" y="0"/>
                        </a:lnTo>
                        <a:moveTo>
                          <a:pt x="0" y="120680"/>
                        </a:moveTo>
                        <a:lnTo>
                          <a:pt x="421419" y="120680"/>
                        </a:lnTo>
                      </a:path>
                    </a:pathLst>
                  </a:custGeom>
                  <a:solidFill>
                    <a:srgbClr val="3498DB"/>
                  </a:solidFill>
                  <a:ln w="10133" cap="flat">
                    <a:solidFill>
                      <a:srgbClr val="000000"/>
                    </a:solidFill>
                    <a:bevel/>
                  </a:ln>
                </p:spPr>
              </p:sp>
              <p:cxnSp>
                <p:nvCxnSpPr>
                  <p:cNvPr id="49" name="Line"/>
                  <p:cNvCxnSpPr/>
                  <p:nvPr/>
                </p:nvCxnSpPr>
                <p:spPr>
                  <a:xfrm rot="5400000">
                    <a:off x="5715883" y="1947118"/>
                    <a:ext cx="120680" cy="0"/>
                  </a:xfrm>
                  <a:prstGeom prst="line">
                    <a:avLst/>
                  </a:prstGeom>
                  <a:ln w="7600" cap="flat">
                    <a:solidFill>
                      <a:srgbClr val="000000"/>
                    </a:solidFill>
                    <a:bevel/>
                  </a:ln>
                </p:spPr>
              </p:cxnSp>
            </p:grpSp>
            <p:sp>
              <p:nvSpPr>
                <p:cNvPr id="42" name="外部交互方"/>
                <p:cNvSpPr/>
                <p:nvPr/>
              </p:nvSpPr>
              <p:spPr>
                <a:xfrm>
                  <a:off x="5473439" y="1900606"/>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43" name="外部交互方"/>
                <p:cNvSpPr/>
                <p:nvPr/>
              </p:nvSpPr>
              <p:spPr>
                <a:xfrm>
                  <a:off x="5541884" y="1900606"/>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44" name="外部交互方"/>
                <p:cNvSpPr/>
                <p:nvPr/>
              </p:nvSpPr>
              <p:spPr>
                <a:xfrm>
                  <a:off x="5610328" y="1900606"/>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45" name="外部交互方"/>
                <p:cNvSpPr/>
                <p:nvPr/>
              </p:nvSpPr>
              <p:spPr>
                <a:xfrm>
                  <a:off x="5678774" y="1899699"/>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sp>
              <p:nvSpPr>
                <p:cNvPr id="46" name="外部交互方"/>
                <p:cNvSpPr/>
                <p:nvPr/>
              </p:nvSpPr>
              <p:spPr>
                <a:xfrm>
                  <a:off x="5404995" y="1899699"/>
                  <a:ext cx="44115" cy="93024"/>
                </a:xfrm>
                <a:custGeom>
                  <a:avLst/>
                  <a:gdLst>
                    <a:gd name="connsiteX0" fmla="*/ 22057 w 44115"/>
                    <a:gd name="connsiteY0" fmla="*/ 93024 h 93024"/>
                    <a:gd name="connsiteX1" fmla="*/ 22057 w 44115"/>
                    <a:gd name="connsiteY1" fmla="*/ 0 h 93024"/>
                    <a:gd name="connsiteX2" fmla="*/ 44115 w 44115"/>
                    <a:gd name="connsiteY2" fmla="*/ 46512 h 93024"/>
                    <a:gd name="connsiteX3" fmla="*/ 0 w 44115"/>
                    <a:gd name="connsiteY3" fmla="*/ 46512 h 93024"/>
                    <a:gd name="connsiteX4" fmla="*/ 22057 w 44115"/>
                    <a:gd name="connsiteY4" fmla="*/ 46512 h 93024"/>
                    <a:gd name="connsiteX5" fmla="*/ 0 w 44115"/>
                    <a:gd name="connsiteY5" fmla="*/ 23256 h 93024"/>
                    <a:gd name="connsiteX6" fmla="*/ 0 w 44115"/>
                    <a:gd name="connsiteY6" fmla="*/ 69768 h 93024"/>
                    <a:gd name="connsiteX7" fmla="*/ 44115 w 44115"/>
                    <a:gd name="connsiteY7" fmla="*/ 23256 h 93024"/>
                    <a:gd name="connsiteX8" fmla="*/ 44115 w 44115"/>
                    <a:gd name="connsiteY8" fmla="*/ 69768 h 93024"/>
                    <a:gd name="connsiteX9" fmla="*/ 11029 w 44115"/>
                    <a:gd name="connsiteY9" fmla="*/ 0 h 93024"/>
                    <a:gd name="connsiteX10" fmla="*/ 33086 w 44115"/>
                    <a:gd name="connsiteY10" fmla="*/ 0 h 93024"/>
                    <a:gd name="connsiteX11" fmla="*/ 11029 w 44115"/>
                    <a:gd name="connsiteY11" fmla="*/ 93024 h 93024"/>
                    <a:gd name="connsiteX12" fmla="*/ 33086 w 44115"/>
                    <a:gd name="connsiteY12" fmla="*/ 93024 h 9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0" t="0" r="0" b="0"/>
                  <a:pathLst>
                    <a:path w="44115" h="93024">
                      <a:moveTo>
                        <a:pt x="44115" y="93024"/>
                      </a:moveTo>
                      <a:lnTo>
                        <a:pt x="44115" y="0"/>
                      </a:lnTo>
                      <a:lnTo>
                        <a:pt x="0" y="0"/>
                      </a:lnTo>
                      <a:lnTo>
                        <a:pt x="0" y="93024"/>
                      </a:lnTo>
                      <a:lnTo>
                        <a:pt x="44115" y="93024"/>
                      </a:lnTo>
                      <a:close/>
                    </a:path>
                  </a:pathLst>
                </a:custGeom>
                <a:solidFill>
                  <a:srgbClr val="3498DB"/>
                </a:solidFill>
                <a:ln w="7600" cap="flat">
                  <a:solidFill>
                    <a:srgbClr val="3498DB"/>
                  </a:solidFill>
                  <a:bevel/>
                </a:ln>
              </p:spPr>
            </p:sp>
            <p:cxnSp>
              <p:nvCxnSpPr>
                <p:cNvPr id="47" name="Line"/>
                <p:cNvCxnSpPr/>
                <p:nvPr/>
              </p:nvCxnSpPr>
              <p:spPr>
                <a:xfrm rot="5400000">
                  <a:off x="5293571" y="1947118"/>
                  <a:ext cx="122463" cy="0"/>
                </a:xfrm>
                <a:prstGeom prst="line">
                  <a:avLst/>
                </a:prstGeom>
                <a:ln w="10133" cap="flat">
                  <a:solidFill>
                    <a:srgbClr val="236EA1"/>
                  </a:solidFill>
                  <a:bevel/>
                </a:ln>
              </p:spPr>
            </p:cxnSp>
          </p:grpSp>
          <p:sp>
            <p:nvSpPr>
              <p:cNvPr id="25" name="选择点"/>
              <p:cNvSpPr/>
              <p:nvPr/>
            </p:nvSpPr>
            <p:spPr>
              <a:xfrm>
                <a:off x="6189748" y="2415131"/>
                <a:ext cx="438208" cy="291015"/>
              </a:xfrm>
              <a:custGeom>
                <a:avLst/>
                <a:gdLst>
                  <a:gd name="connsiteX0" fmla="*/ 0 w 438208"/>
                  <a:gd name="connsiteY0" fmla="*/ 145507 h 291015"/>
                  <a:gd name="connsiteX1" fmla="*/ 219104 w 438208"/>
                  <a:gd name="connsiteY1" fmla="*/ 0 h 291015"/>
                  <a:gd name="connsiteX2" fmla="*/ 438208 w 438208"/>
                  <a:gd name="connsiteY2" fmla="*/ 145507 h 291015"/>
                  <a:gd name="connsiteX3" fmla="*/ 219104 w 438208"/>
                  <a:gd name="connsiteY3" fmla="*/ 291015 h 291015"/>
                </a:gdLst>
                <a:ahLst/>
                <a:cxnLst>
                  <a:cxn ang="0">
                    <a:pos x="connsiteX0" y="connsiteY0"/>
                  </a:cxn>
                  <a:cxn ang="0">
                    <a:pos x="connsiteX1" y="connsiteY1"/>
                  </a:cxn>
                  <a:cxn ang="0">
                    <a:pos x="connsiteX2" y="connsiteY2"/>
                  </a:cxn>
                  <a:cxn ang="0">
                    <a:pos x="connsiteX3" y="connsiteY3"/>
                  </a:cxn>
                </a:cxnLst>
                <a:rect l="l" t="t" r="r" b="b"/>
                <a:pathLst>
                  <a:path w="438208" h="291015">
                    <a:moveTo>
                      <a:pt x="0" y="145507"/>
                    </a:moveTo>
                    <a:cubicBezTo>
                      <a:pt x="0" y="65146"/>
                      <a:pt x="98096" y="0"/>
                      <a:pt x="219104" y="0"/>
                    </a:cubicBezTo>
                    <a:cubicBezTo>
                      <a:pt x="340112" y="0"/>
                      <a:pt x="438208" y="65146"/>
                      <a:pt x="438208" y="145507"/>
                    </a:cubicBezTo>
                    <a:cubicBezTo>
                      <a:pt x="438208" y="225869"/>
                      <a:pt x="340112" y="291015"/>
                      <a:pt x="219104" y="291015"/>
                    </a:cubicBezTo>
                    <a:cubicBezTo>
                      <a:pt x="98096" y="291015"/>
                      <a:pt x="0" y="225869"/>
                      <a:pt x="0" y="145507"/>
                    </a:cubicBezTo>
                    <a:close/>
                  </a:path>
                </a:pathLst>
              </a:custGeom>
              <a:solidFill>
                <a:srgbClr val="FFFFFF"/>
              </a:solidFill>
              <a:ln w="7600" cap="flat">
                <a:solidFill>
                  <a:srgbClr val="000000"/>
                </a:solidFill>
                <a:bevel/>
              </a:ln>
            </p:spPr>
            <p:txBody>
              <a:bodyPr wrap="square" lIns="0" tIns="0" rIns="0" bIns="0" rtlCol="0" anchor="ctr"/>
              <a:lstStyle/>
              <a:p>
                <a:pPr algn="ctr">
                  <a:lnSpc>
                    <a:spcPct val="100000"/>
                  </a:lnSpc>
                </a:pPr>
                <a:r>
                  <a:rPr sz="1200">
                    <a:solidFill>
                      <a:srgbClr val="404557"/>
                    </a:solidFill>
                    <a:latin typeface="微软雅黑" panose="020B0503020204020204" pitchFamily="34" charset="-122"/>
                    <a:ea typeface="微软雅黑" panose="020B0503020204020204" pitchFamily="34" charset="-122"/>
                  </a:rPr>
                  <a:t>性能控制器</a:t>
                </a:r>
                <a:endParaRPr sz="1200">
                  <a:solidFill>
                    <a:srgbClr val="404557"/>
                  </a:solidFill>
                  <a:latin typeface="微软雅黑" panose="020B0503020204020204" pitchFamily="34" charset="-122"/>
                  <a:ea typeface="微软雅黑" panose="020B0503020204020204" pitchFamily="34" charset="-122"/>
                </a:endParaRPr>
              </a:p>
            </p:txBody>
          </p:sp>
          <p:sp>
            <p:nvSpPr>
              <p:cNvPr id="26" name="动态连接线"/>
              <p:cNvSpPr/>
              <p:nvPr/>
            </p:nvSpPr>
            <p:spPr>
              <a:xfrm>
                <a:off x="6738725" y="2353470"/>
                <a:ext cx="110768" cy="207168"/>
              </a:xfrm>
              <a:custGeom>
                <a:avLst/>
                <a:gdLst/>
                <a:ahLst/>
                <a:cxnLst/>
                <a:rect l="0" t="0" r="0" b="0"/>
                <a:pathLst>
                  <a:path w="110768" h="207168" fill="none">
                    <a:moveTo>
                      <a:pt x="0" y="0"/>
                    </a:moveTo>
                    <a:lnTo>
                      <a:pt x="0" y="207168"/>
                    </a:lnTo>
                    <a:lnTo>
                      <a:pt x="-110768" y="207168"/>
                    </a:lnTo>
                  </a:path>
                </a:pathLst>
              </a:custGeom>
              <a:noFill/>
              <a:ln w="7600" cap="flat">
                <a:solidFill>
                  <a:srgbClr val="236EA1"/>
                </a:solidFill>
                <a:bevel/>
                <a:tailEnd type="stealth" w="med" len="med"/>
              </a:ln>
            </p:spPr>
          </p:sp>
          <p:sp>
            <p:nvSpPr>
              <p:cNvPr id="27" name="动态连接线"/>
              <p:cNvSpPr/>
              <p:nvPr/>
            </p:nvSpPr>
            <p:spPr>
              <a:xfrm>
                <a:off x="6189748" y="2560638"/>
                <a:ext cx="110768" cy="207168"/>
              </a:xfrm>
              <a:custGeom>
                <a:avLst/>
                <a:gdLst/>
                <a:ahLst/>
                <a:cxnLst/>
                <a:rect l="0" t="0" r="0" b="0"/>
                <a:pathLst>
                  <a:path w="110768" h="207168" fill="none">
                    <a:moveTo>
                      <a:pt x="0" y="0"/>
                    </a:moveTo>
                    <a:lnTo>
                      <a:pt x="-110768" y="0"/>
                    </a:lnTo>
                    <a:lnTo>
                      <a:pt x="-110768" y="-207168"/>
                    </a:lnTo>
                  </a:path>
                </a:pathLst>
              </a:custGeom>
              <a:noFill/>
              <a:ln w="7600" cap="flat">
                <a:solidFill>
                  <a:srgbClr val="236EA1"/>
                </a:solidFill>
                <a:bevel/>
                <a:tailEnd type="stealth" w="med" len="med"/>
              </a:ln>
            </p:spPr>
          </p:sp>
          <p:grpSp>
            <p:nvGrpSpPr>
              <p:cNvPr id="28" name="Group 279"/>
              <p:cNvGrpSpPr/>
              <p:nvPr/>
            </p:nvGrpSpPr>
            <p:grpSpPr>
              <a:xfrm>
                <a:off x="5368492" y="1848514"/>
                <a:ext cx="365039" cy="0"/>
                <a:chOff x="5368492" y="1848514"/>
                <a:chExt cx="365039" cy="0"/>
              </a:xfrm>
            </p:grpSpPr>
            <p:sp>
              <p:nvSpPr>
                <p:cNvPr id="39" name="直线连接线"/>
                <p:cNvSpPr/>
                <p:nvPr/>
              </p:nvSpPr>
              <p:spPr>
                <a:xfrm>
                  <a:off x="5368492" y="1848514"/>
                  <a:ext cx="365039" cy="0"/>
                </a:xfrm>
                <a:custGeom>
                  <a:avLst/>
                  <a:gdLst/>
                  <a:ahLst/>
                  <a:cxnLst/>
                  <a:rect l="0" t="0" r="0" b="0"/>
                  <a:pathLst>
                    <a:path w="365039" fill="none">
                      <a:moveTo>
                        <a:pt x="0" y="0"/>
                      </a:moveTo>
                      <a:lnTo>
                        <a:pt x="365039" y="0"/>
                      </a:lnTo>
                    </a:path>
                  </a:pathLst>
                </a:custGeom>
                <a:noFill/>
                <a:ln w="7600" cap="flat">
                  <a:solidFill>
                    <a:srgbClr val="FFFFFF"/>
                  </a:solidFill>
                  <a:bevel/>
                  <a:tailEnd type="stealth" w="med" len="med"/>
                </a:ln>
              </p:spPr>
            </p:sp>
            <p:sp>
              <p:nvSpPr>
                <p:cNvPr id="40" name="Text 280"/>
                <p:cNvSpPr txBox="1"/>
                <p:nvPr/>
              </p:nvSpPr>
              <p:spPr>
                <a:xfrm>
                  <a:off x="5285011" y="1669914"/>
                  <a:ext cx="532000" cy="357200"/>
                </a:xfrm>
                <a:prstGeom prst="rect">
                  <a:avLst/>
                </a:prstGeom>
                <a:noFill/>
              </p:spPr>
              <p:txBody>
                <a:bodyPr wrap="square" lIns="36000" tIns="0" rIns="36000" bIns="0" rtlCol="0" anchor="ctr"/>
                <a:lstStyle/>
                <a:p>
                  <a:pPr algn="ctr">
                    <a:lnSpc>
                      <a:spcPct val="100000"/>
                    </a:lnSpc>
                  </a:pPr>
                  <a:r>
                    <a:rPr sz="1200" dirty="0" err="1">
                      <a:solidFill>
                        <a:srgbClr val="000000"/>
                      </a:solidFill>
                      <a:latin typeface="微软雅黑" panose="020B0503020204020204" pitchFamily="34" charset="-122"/>
                      <a:ea typeface="微软雅黑" panose="020B0503020204020204" pitchFamily="34" charset="-122"/>
                    </a:rPr>
                    <a:t>事件队列</a:t>
                  </a:r>
                  <a:endParaRPr sz="1200" dirty="0">
                    <a:solidFill>
                      <a:srgbClr val="000000"/>
                    </a:solidFill>
                    <a:latin typeface="微软雅黑" panose="020B0503020204020204" pitchFamily="34" charset="-122"/>
                    <a:ea typeface="微软雅黑" panose="020B0503020204020204" pitchFamily="34" charset="-122"/>
                  </a:endParaRPr>
                </a:p>
                <a:p>
                  <a:pPr algn="ctr">
                    <a:lnSpc>
                      <a:spcPct val="100000"/>
                    </a:lnSpc>
                  </a:pPr>
                  <a:endParaRPr sz="760" dirty="0">
                    <a:solidFill>
                      <a:srgbClr val="000000"/>
                    </a:solidFill>
                    <a:latin typeface="微软雅黑" panose="020B0503020204020204" pitchFamily="34" charset="-122"/>
                    <a:ea typeface="微软雅黑" panose="020B0503020204020204" pitchFamily="34" charset="-122"/>
                  </a:endParaRPr>
                </a:p>
              </p:txBody>
            </p:sp>
          </p:grpSp>
          <p:grpSp>
            <p:nvGrpSpPr>
              <p:cNvPr id="29" name="椭圆形过程"/>
              <p:cNvGrpSpPr/>
              <p:nvPr/>
            </p:nvGrpSpPr>
            <p:grpSpPr>
              <a:xfrm>
                <a:off x="6067062" y="1571285"/>
                <a:ext cx="756557" cy="299758"/>
                <a:chOff x="6067062" y="1571285"/>
                <a:chExt cx="756557" cy="299758"/>
              </a:xfrm>
            </p:grpSpPr>
            <p:sp>
              <p:nvSpPr>
                <p:cNvPr id="36" name="任意多边形 35"/>
                <p:cNvSpPr/>
                <p:nvPr/>
              </p:nvSpPr>
              <p:spPr>
                <a:xfrm>
                  <a:off x="6067062" y="1571285"/>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37" name="Ellipse"/>
                <p:cNvSpPr/>
                <p:nvPr/>
              </p:nvSpPr>
              <p:spPr>
                <a:xfrm>
                  <a:off x="6067062" y="1571285"/>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38" name="Text 281"/>
                <p:cNvSpPr txBox="1"/>
                <p:nvPr/>
              </p:nvSpPr>
              <p:spPr>
                <a:xfrm>
                  <a:off x="6067062" y="1571285"/>
                  <a:ext cx="756557" cy="299758"/>
                </a:xfrm>
                <a:prstGeom prst="rect">
                  <a:avLst/>
                </a:prstGeom>
                <a:noFill/>
              </p:spPr>
              <p:txBody>
                <a:bodyPr wrap="square" lIns="0" tIns="0" rIns="0" bIns="0" rtlCol="0" anchor="ctr"/>
                <a:lstStyle/>
                <a:p>
                  <a:pPr algn="ctr">
                    <a:lnSpc>
                      <a:spcPct val="100000"/>
                    </a:lnSpc>
                  </a:pPr>
                  <a:r>
                    <a:rPr sz="1200" dirty="0" err="1">
                      <a:solidFill>
                        <a:srgbClr val="000000"/>
                      </a:solidFill>
                      <a:latin typeface="微软雅黑" panose="020B0503020204020204" pitchFamily="34" charset="-122"/>
                      <a:ea typeface="微软雅黑" panose="020B0503020204020204" pitchFamily="34" charset="-122"/>
                    </a:rPr>
                    <a:t>事件处理器</a:t>
                  </a:r>
                  <a:endParaRPr sz="1200" dirty="0" err="1">
                    <a:solidFill>
                      <a:srgbClr val="000000"/>
                    </a:solidFill>
                    <a:latin typeface="微软雅黑" panose="020B0503020204020204" pitchFamily="34" charset="-122"/>
                    <a:ea typeface="微软雅黑" panose="020B0503020204020204" pitchFamily="34" charset="-122"/>
                  </a:endParaRPr>
                </a:p>
              </p:txBody>
            </p:sp>
          </p:grpSp>
          <p:grpSp>
            <p:nvGrpSpPr>
              <p:cNvPr id="30" name="椭圆形过程"/>
              <p:cNvGrpSpPr/>
              <p:nvPr/>
            </p:nvGrpSpPr>
            <p:grpSpPr>
              <a:xfrm>
                <a:off x="6067054" y="1984643"/>
                <a:ext cx="756557" cy="299758"/>
                <a:chOff x="6067054" y="1984643"/>
                <a:chExt cx="756557" cy="299758"/>
              </a:xfrm>
            </p:grpSpPr>
            <p:sp>
              <p:nvSpPr>
                <p:cNvPr id="33" name="任意多边形 32"/>
                <p:cNvSpPr/>
                <p:nvPr/>
              </p:nvSpPr>
              <p:spPr>
                <a:xfrm>
                  <a:off x="6067054" y="1984643"/>
                  <a:ext cx="756557" cy="299758"/>
                </a:xfrm>
                <a:custGeom>
                  <a:avLst/>
                  <a:gdLst/>
                  <a:ahLst/>
                  <a:cxnLst/>
                  <a:rect l="0" t="0" r="0" b="0"/>
                  <a:pathLst>
                    <a:path w="756557" h="299758" fill="none">
                      <a:moveTo>
                        <a:pt x="378279" y="149879"/>
                      </a:moveTo>
                      <a:moveTo>
                        <a:pt x="378279" y="149879"/>
                      </a:moveTo>
                      <a:moveTo>
                        <a:pt x="378279" y="149879"/>
                      </a:moveTo>
                      <a:moveTo>
                        <a:pt x="378279" y="149879"/>
                      </a:moveTo>
                    </a:path>
                  </a:pathLst>
                </a:custGeom>
                <a:solidFill>
                  <a:srgbClr val="FFFFFF"/>
                </a:solidFill>
                <a:ln w="7600" cap="flat">
                  <a:solidFill>
                    <a:srgbClr val="000000"/>
                  </a:solidFill>
                  <a:bevel/>
                </a:ln>
              </p:spPr>
            </p:sp>
            <p:sp>
              <p:nvSpPr>
                <p:cNvPr id="34" name="Ellipse"/>
                <p:cNvSpPr/>
                <p:nvPr/>
              </p:nvSpPr>
              <p:spPr>
                <a:xfrm>
                  <a:off x="6067054" y="1984643"/>
                  <a:ext cx="756557" cy="299758"/>
                </a:xfrm>
                <a:custGeom>
                  <a:avLst/>
                  <a:gdLst/>
                  <a:ahLst/>
                  <a:cxnLst/>
                  <a:rect l="0" t="0" r="0" b="0"/>
                  <a:pathLst>
                    <a:path w="756557" h="299758">
                      <a:moveTo>
                        <a:pt x="0" y="149879"/>
                      </a:moveTo>
                      <a:cubicBezTo>
                        <a:pt x="0" y="67103"/>
                        <a:pt x="169361" y="0"/>
                        <a:pt x="378279" y="0"/>
                      </a:cubicBezTo>
                      <a:cubicBezTo>
                        <a:pt x="587196" y="0"/>
                        <a:pt x="756557" y="67103"/>
                        <a:pt x="756557" y="149879"/>
                      </a:cubicBezTo>
                      <a:cubicBezTo>
                        <a:pt x="756557" y="232655"/>
                        <a:pt x="587196" y="299758"/>
                        <a:pt x="378279" y="299758"/>
                      </a:cubicBezTo>
                      <a:cubicBezTo>
                        <a:pt x="169361" y="299758"/>
                        <a:pt x="0" y="232655"/>
                        <a:pt x="0" y="149879"/>
                      </a:cubicBezTo>
                      <a:close/>
                    </a:path>
                  </a:pathLst>
                </a:custGeom>
                <a:solidFill>
                  <a:srgbClr val="FFFFFF"/>
                </a:solidFill>
                <a:ln w="7600" cap="flat">
                  <a:solidFill>
                    <a:srgbClr val="000000"/>
                  </a:solidFill>
                  <a:bevel/>
                </a:ln>
              </p:spPr>
            </p:sp>
            <p:sp>
              <p:nvSpPr>
                <p:cNvPr id="35" name="Text 282"/>
                <p:cNvSpPr txBox="1"/>
                <p:nvPr/>
              </p:nvSpPr>
              <p:spPr>
                <a:xfrm>
                  <a:off x="6067054" y="1984643"/>
                  <a:ext cx="756557" cy="299758"/>
                </a:xfrm>
                <a:prstGeom prst="rect">
                  <a:avLst/>
                </a:prstGeom>
                <a:noFill/>
              </p:spPr>
              <p:txBody>
                <a:bodyPr wrap="square" lIns="0" tIns="0" rIns="0" bIns="0" rtlCol="0" anchor="ctr"/>
                <a:lstStyle/>
                <a:p>
                  <a:pPr algn="ctr">
                    <a:lnSpc>
                      <a:spcPct val="100000"/>
                    </a:lnSpc>
                  </a:pPr>
                  <a:r>
                    <a:rPr sz="1200">
                      <a:solidFill>
                        <a:srgbClr val="000000"/>
                      </a:solidFill>
                      <a:latin typeface="微软雅黑" panose="020B0503020204020204" pitchFamily="34" charset="-122"/>
                      <a:ea typeface="微软雅黑" panose="020B0503020204020204" pitchFamily="34" charset="-122"/>
                    </a:rPr>
                    <a:t>线程池</a:t>
                  </a:r>
                  <a:endParaRPr sz="1200">
                    <a:solidFill>
                      <a:srgbClr val="000000"/>
                    </a:solidFill>
                    <a:latin typeface="微软雅黑" panose="020B0503020204020204" pitchFamily="34" charset="-122"/>
                    <a:ea typeface="微软雅黑" panose="020B0503020204020204" pitchFamily="34" charset="-122"/>
                  </a:endParaRPr>
                </a:p>
              </p:txBody>
            </p:sp>
          </p:grpSp>
          <p:cxnSp>
            <p:nvCxnSpPr>
              <p:cNvPr id="31" name="直线/曲线连接线"/>
              <p:cNvCxnSpPr/>
              <p:nvPr/>
            </p:nvCxnSpPr>
            <p:spPr>
              <a:xfrm rot="5400151">
                <a:off x="6585527" y="1927843"/>
                <a:ext cx="173553" cy="0"/>
              </a:xfrm>
              <a:prstGeom prst="line">
                <a:avLst/>
              </a:prstGeom>
              <a:ln w="7600" cap="flat">
                <a:solidFill>
                  <a:srgbClr val="236EA1"/>
                </a:solidFill>
                <a:bevel/>
                <a:tailEnd type="stealth" w="med" len="med"/>
              </a:ln>
            </p:spPr>
          </p:cxnSp>
          <p:cxnSp>
            <p:nvCxnSpPr>
              <p:cNvPr id="32" name="直线/曲线连接线"/>
              <p:cNvCxnSpPr/>
              <p:nvPr/>
            </p:nvCxnSpPr>
            <p:spPr>
              <a:xfrm rot="-5399849">
                <a:off x="6131593" y="1927843"/>
                <a:ext cx="173553" cy="0"/>
              </a:xfrm>
              <a:prstGeom prst="line">
                <a:avLst/>
              </a:prstGeom>
              <a:ln w="7600" cap="flat">
                <a:solidFill>
                  <a:srgbClr val="236EA1"/>
                </a:solidFill>
                <a:bevel/>
                <a:tailEnd type="stealth" w="med" len="med"/>
              </a:ln>
            </p:spPr>
          </p:cxnSp>
        </p:grpSp>
        <p:grpSp>
          <p:nvGrpSpPr>
            <p:cNvPr id="18" name="Group 283"/>
            <p:cNvGrpSpPr/>
            <p:nvPr/>
          </p:nvGrpSpPr>
          <p:grpSpPr>
            <a:xfrm rot="-2836794">
              <a:off x="4317885" y="2047985"/>
              <a:ext cx="1286629" cy="797712"/>
              <a:chOff x="4333448" y="2031404"/>
              <a:chExt cx="1286629" cy="797712"/>
            </a:xfrm>
          </p:grpSpPr>
          <p:sp>
            <p:nvSpPr>
              <p:cNvPr id="21" name="直线连接线"/>
              <p:cNvSpPr/>
              <p:nvPr/>
            </p:nvSpPr>
            <p:spPr>
              <a:xfrm>
                <a:off x="4333448" y="2400449"/>
                <a:ext cx="1286629" cy="56939"/>
              </a:xfrm>
              <a:custGeom>
                <a:avLst/>
                <a:gdLst/>
                <a:ahLst/>
                <a:cxnLst/>
                <a:rect l="0" t="0" r="0" b="0"/>
                <a:pathLst>
                  <a:path w="1262063" fill="none">
                    <a:moveTo>
                      <a:pt x="0" y="0"/>
                    </a:moveTo>
                    <a:lnTo>
                      <a:pt x="1262063" y="0"/>
                    </a:lnTo>
                  </a:path>
                </a:pathLst>
              </a:custGeom>
              <a:noFill/>
              <a:ln w="7600" cap="flat">
                <a:solidFill>
                  <a:srgbClr val="236EA1"/>
                </a:solidFill>
                <a:bevel/>
                <a:tailEnd type="stealth" w="med" len="med"/>
              </a:ln>
            </p:spPr>
          </p:sp>
          <p:sp>
            <p:nvSpPr>
              <p:cNvPr id="22" name="Text 284"/>
              <p:cNvSpPr txBox="1"/>
              <p:nvPr/>
            </p:nvSpPr>
            <p:spPr>
              <a:xfrm rot="2836794">
                <a:off x="4804381" y="2327660"/>
                <a:ext cx="797712" cy="205200"/>
              </a:xfrm>
              <a:prstGeom prst="rect">
                <a:avLst/>
              </a:prstGeom>
              <a:noFill/>
            </p:spPr>
            <p:txBody>
              <a:bodyPr wrap="square" lIns="36000" tIns="0" rIns="36000" bIns="0" rtlCol="0" anchor="ctr"/>
              <a:lstStyle/>
              <a:p>
                <a:pPr algn="ctr">
                  <a:lnSpc>
                    <a:spcPct val="100000"/>
                  </a:lnSpc>
                </a:pPr>
                <a:r>
                  <a:rPr sz="1600" dirty="0" err="1">
                    <a:solidFill>
                      <a:srgbClr val="1F6391"/>
                    </a:solidFill>
                    <a:latin typeface="微软雅黑" panose="020B0503020204020204" pitchFamily="34" charset="-122"/>
                    <a:ea typeface="微软雅黑" panose="020B0503020204020204" pitchFamily="34" charset="-122"/>
                  </a:rPr>
                  <a:t>出队事件</a:t>
                </a:r>
                <a:endParaRPr sz="1600" dirty="0" err="1">
                  <a:solidFill>
                    <a:srgbClr val="1F6391"/>
                  </a:solidFill>
                  <a:latin typeface="微软雅黑" panose="020B0503020204020204" pitchFamily="34" charset="-122"/>
                  <a:ea typeface="微软雅黑" panose="020B0503020204020204" pitchFamily="34" charset="-122"/>
                </a:endParaRPr>
              </a:p>
            </p:txBody>
          </p:sp>
        </p:grpSp>
        <p:cxnSp>
          <p:nvCxnSpPr>
            <p:cNvPr id="19" name="直线连接线"/>
            <p:cNvCxnSpPr/>
            <p:nvPr/>
          </p:nvCxnSpPr>
          <p:spPr>
            <a:xfrm rot="1402078">
              <a:off x="4526508" y="3081005"/>
              <a:ext cx="812203" cy="0"/>
            </a:xfrm>
            <a:prstGeom prst="line">
              <a:avLst/>
            </a:prstGeom>
            <a:ln w="7600" cap="flat">
              <a:solidFill>
                <a:srgbClr val="236EA1"/>
              </a:solidFill>
              <a:bevel/>
              <a:tailEnd type="stealth" w="med" len="med"/>
            </a:ln>
          </p:spPr>
        </p:cxnSp>
        <p:cxnSp>
          <p:nvCxnSpPr>
            <p:cNvPr id="20" name="直线连接线"/>
            <p:cNvCxnSpPr>
              <a:stCxn id="109" idx="3"/>
              <a:endCxn id="100" idx="9"/>
            </p:cNvCxnSpPr>
            <p:nvPr/>
          </p:nvCxnSpPr>
          <p:spPr>
            <a:xfrm>
              <a:off x="4559818" y="2919932"/>
              <a:ext cx="856206" cy="1592725"/>
            </a:xfrm>
            <a:prstGeom prst="line">
              <a:avLst/>
            </a:prstGeom>
            <a:ln w="7600" cap="flat">
              <a:solidFill>
                <a:srgbClr val="236EA1"/>
              </a:solidFill>
              <a:bevel/>
              <a:tailEnd type="stealth" w="med" len="med"/>
            </a:ln>
          </p:spPr>
        </p:cxnSp>
      </p:grpSp>
      <p:sp>
        <p:nvSpPr>
          <p:cNvPr id="121" name="副标题 2"/>
          <p:cNvSpPr txBox="1"/>
          <p:nvPr/>
        </p:nvSpPr>
        <p:spPr>
          <a:xfrm>
            <a:off x="107504" y="6358688"/>
            <a:ext cx="9144000" cy="499481"/>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altLang="zh-CN" sz="1600" dirty="0" smtClean="0">
                <a:solidFill>
                  <a:schemeClr val="tx1"/>
                </a:solidFill>
                <a:latin typeface="微软雅黑" panose="020B0503020204020204" pitchFamily="34" charset="-122"/>
                <a:ea typeface="微软雅黑" panose="020B0503020204020204" pitchFamily="34" charset="-122"/>
              </a:rPr>
              <a:t>SEDA-</a:t>
            </a:r>
            <a:r>
              <a:rPr lang="zh-CN" altLang="en-US" sz="1600" dirty="0" smtClean="0">
                <a:solidFill>
                  <a:schemeClr val="tx1"/>
                </a:solidFill>
                <a:latin typeface="微软雅黑" panose="020B0503020204020204" pitchFamily="34" charset="-122"/>
                <a:ea typeface="微软雅黑" panose="020B0503020204020204" pitchFamily="34" charset="-122"/>
              </a:rPr>
              <a:t>基本处理单元</a:t>
            </a:r>
            <a:r>
              <a:rPr lang="en-US" altLang="zh-CN" sz="1600" dirty="0" smtClean="0">
                <a:solidFill>
                  <a:schemeClr val="tx1"/>
                </a:solidFill>
                <a:latin typeface="微软雅黑" panose="020B0503020204020204" pitchFamily="34" charset="-122"/>
                <a:ea typeface="微软雅黑" panose="020B0503020204020204" pitchFamily="34" charset="-122"/>
              </a:rPr>
              <a:t>Stage</a:t>
            </a:r>
            <a:r>
              <a:rPr lang="zh-CN" altLang="en-US" sz="1600" dirty="0" smtClean="0">
                <a:solidFill>
                  <a:schemeClr val="tx1"/>
                </a:solidFill>
                <a:latin typeface="微软雅黑" panose="020B0503020204020204" pitchFamily="34" charset="-122"/>
                <a:ea typeface="微软雅黑" panose="020B0503020204020204" pitchFamily="34" charset="-122"/>
              </a:rPr>
              <a:t>结构图</a:t>
            </a:r>
            <a:endParaRPr lang="en-US" altLang="zh-CN" sz="1600" dirty="0" smtClean="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阶段式</a:t>
            </a:r>
            <a:r>
              <a:rPr lang="zh-CN" altLang="en-US" dirty="0">
                <a:solidFill>
                  <a:schemeClr val="bg1"/>
                </a:solidFill>
                <a:latin typeface="微软雅黑" panose="020B0503020204020204" pitchFamily="34" charset="-122"/>
                <a:ea typeface="微软雅黑" panose="020B0503020204020204" pitchFamily="34" charset="-122"/>
                <a:sym typeface="+mn-ea"/>
              </a:rPr>
              <a:t>事件</a:t>
            </a:r>
            <a:r>
              <a:rPr lang="zh-CN" altLang="en-US" dirty="0" smtClean="0">
                <a:solidFill>
                  <a:schemeClr val="bg1"/>
                </a:solidFill>
                <a:latin typeface="微软雅黑" panose="020B0503020204020204" pitchFamily="34" charset="-122"/>
                <a:ea typeface="微软雅黑" panose="020B0503020204020204" pitchFamily="34" charset="-122"/>
                <a:sym typeface="+mn-ea"/>
              </a:rPr>
              <a:t>驱动架构</a:t>
            </a:r>
            <a:endParaRPr lang="zh-CN" altLang="en-US" dirty="0"/>
          </a:p>
        </p:txBody>
      </p:sp>
      <p:sp>
        <p:nvSpPr>
          <p:cNvPr id="4" name="副标题 2"/>
          <p:cNvSpPr txBox="1"/>
          <p:nvPr/>
        </p:nvSpPr>
        <p:spPr>
          <a:xfrm>
            <a:off x="108139" y="784642"/>
            <a:ext cx="8928992" cy="561662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zh-CN" altLang="en-US" sz="2400" dirty="0" smtClean="0">
                <a:solidFill>
                  <a:schemeClr val="tx1"/>
                </a:solidFill>
                <a:latin typeface="微软雅黑" panose="020B0503020204020204" pitchFamily="34" charset="-122"/>
                <a:ea typeface="微软雅黑" panose="020B0503020204020204" pitchFamily="34" charset="-122"/>
              </a:rPr>
              <a:t>应用实例</a:t>
            </a:r>
            <a:r>
              <a:rPr lang="en-US" altLang="zh-CN" sz="2400" dirty="0" smtClean="0">
                <a:solidFill>
                  <a:schemeClr val="tx1"/>
                </a:solidFill>
                <a:latin typeface="微软雅黑" panose="020B0503020204020204" pitchFamily="34" charset="-122"/>
                <a:ea typeface="微软雅黑" panose="020B0503020204020204" pitchFamily="34" charset="-122"/>
              </a:rPr>
              <a:t>-</a:t>
            </a:r>
            <a:r>
              <a:rPr lang="zh-CN" altLang="en-US" sz="1600" dirty="0" smtClean="0">
                <a:solidFill>
                  <a:schemeClr val="tx1"/>
                </a:solidFill>
                <a:latin typeface="微软雅黑" panose="020B0503020204020204" pitchFamily="34" charset="-122"/>
                <a:ea typeface="微软雅黑" panose="020B0503020204020204" pitchFamily="34" charset="-122"/>
                <a:sym typeface="+mn-ea"/>
              </a:rPr>
              <a:t>基于</a:t>
            </a:r>
            <a:r>
              <a:rPr lang="en-US" altLang="zh-CN" sz="1600" dirty="0" smtClean="0">
                <a:solidFill>
                  <a:schemeClr val="tx1"/>
                </a:solidFill>
                <a:latin typeface="微软雅黑" panose="020B0503020204020204" pitchFamily="34" charset="-122"/>
                <a:ea typeface="微软雅黑" panose="020B0503020204020204" pitchFamily="34" charset="-122"/>
                <a:sym typeface="+mn-ea"/>
              </a:rPr>
              <a:t>SEDA</a:t>
            </a:r>
            <a:r>
              <a:rPr lang="zh-CN" altLang="en-US" sz="1600" dirty="0" smtClean="0">
                <a:solidFill>
                  <a:schemeClr val="tx1"/>
                </a:solidFill>
                <a:latin typeface="微软雅黑" panose="020B0503020204020204" pitchFamily="34" charset="-122"/>
                <a:ea typeface="微软雅黑" panose="020B0503020204020204" pitchFamily="34" charset="-122"/>
                <a:sym typeface="+mn-ea"/>
              </a:rPr>
              <a:t>架构</a:t>
            </a:r>
            <a:br>
              <a:rPr lang="zh-CN" altLang="en-US" sz="2800" dirty="0" smtClean="0">
                <a:solidFill>
                  <a:schemeClr val="tx1"/>
                </a:solidFill>
                <a:latin typeface="微软雅黑" panose="020B0503020204020204" pitchFamily="34" charset="-122"/>
                <a:ea typeface="微软雅黑" panose="020B0503020204020204" pitchFamily="34" charset="-122"/>
              </a:rPr>
            </a:br>
            <a:endParaRPr lang="zh-CN" altLang="en-US" sz="2800" dirty="0" smtClean="0">
              <a:solidFill>
                <a:schemeClr val="tx1"/>
              </a:solidFill>
              <a:latin typeface="微软雅黑" panose="020B0503020204020204" pitchFamily="34" charset="-122"/>
              <a:ea typeface="微软雅黑" panose="020B0503020204020204" pitchFamily="34" charset="-122"/>
            </a:endParaRPr>
          </a:p>
          <a:p>
            <a:pPr algn="l"/>
            <a:endParaRPr lang="zh-CN" altLang="en-US" sz="28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en-US" altLang="zh-CN" sz="2000" dirty="0" err="1" smtClean="0">
                <a:solidFill>
                  <a:schemeClr val="tx1"/>
                </a:solidFill>
                <a:latin typeface="微软雅黑" panose="020B0503020204020204" pitchFamily="34" charset="-122"/>
                <a:ea typeface="微软雅黑" panose="020B0503020204020204" pitchFamily="34" charset="-122"/>
              </a:rPr>
              <a:t>                        Sandstorm</a:t>
            </a:r>
            <a:r>
              <a:rPr lang="zh-CN" altLang="en-US" sz="2000" dirty="0" err="1" smtClean="0">
                <a:solidFill>
                  <a:schemeClr val="tx1"/>
                </a:solidFill>
                <a:latin typeface="微软雅黑" panose="020B0503020204020204" pitchFamily="34" charset="-122"/>
                <a:ea typeface="微软雅黑" panose="020B0503020204020204" pitchFamily="34" charset="-122"/>
              </a:rPr>
              <a:t>：</a:t>
            </a:r>
            <a:r>
              <a:rPr sz="1400" dirty="0" smtClean="0">
                <a:solidFill>
                  <a:schemeClr val="tx1"/>
                </a:solidFill>
                <a:latin typeface="微软雅黑" panose="020B0503020204020204" pitchFamily="34" charset="-122"/>
                <a:ea typeface="微软雅黑" panose="020B0503020204020204" pitchFamily="34" charset="-122"/>
              </a:rPr>
              <a:t>免费开源个人云平</a:t>
            </a:r>
            <a:r>
              <a:rPr sz="1600" dirty="0" smtClean="0">
                <a:solidFill>
                  <a:schemeClr val="tx1"/>
                </a:solidFill>
                <a:latin typeface="微软雅黑" panose="020B0503020204020204" pitchFamily="34" charset="-122"/>
                <a:ea typeface="微软雅黑" panose="020B0503020204020204" pitchFamily="34" charset="-122"/>
              </a:rPr>
              <a:t>台</a:t>
            </a:r>
            <a:endParaRPr lang="zh-CN"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pitchFamily="2" charset="2"/>
            </a:pPr>
            <a:endParaRPr lang="en-US" altLang="zh-CN" sz="2000" dirty="0" err="1"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en-US" altLang="zh-CN" sz="2000" dirty="0" smtClean="0">
                <a:solidFill>
                  <a:schemeClr val="tx1"/>
                </a:solidFill>
                <a:latin typeface="微软雅黑" panose="020B0503020204020204" pitchFamily="34" charset="-122"/>
                <a:ea typeface="微软雅黑" panose="020B0503020204020204" pitchFamily="34" charset="-122"/>
              </a:rPr>
              <a:t>                        Spring-Batch</a:t>
            </a:r>
            <a:endParaRPr lang="en-US" altLang="zh-CN" sz="20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pitchFamily="2" charset="2"/>
            </a:pPr>
            <a:endParaRPr sz="16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pitchFamily="2" charset="2"/>
            </a:pPr>
            <a:r>
              <a:rPr sz="1600" dirty="0" smtClean="0">
                <a:solidFill>
                  <a:schemeClr val="tx1"/>
                </a:solidFill>
                <a:latin typeface="微软雅黑" panose="020B0503020204020204" pitchFamily="34" charset="-122"/>
                <a:ea typeface="微软雅黑" panose="020B0503020204020204" pitchFamily="34" charset="-122"/>
              </a:rPr>
              <a:t>    </a:t>
            </a:r>
            <a:r>
              <a:rPr sz="1400" dirty="0" smtClean="0">
                <a:solidFill>
                  <a:schemeClr val="tx1"/>
                </a:solidFill>
                <a:latin typeface="微软雅黑" panose="020B0503020204020204" pitchFamily="34" charset="-122"/>
                <a:ea typeface="微软雅黑" panose="020B0503020204020204" pitchFamily="34" charset="-122"/>
              </a:rPr>
              <a:t>一个轻量级的、完善的批处理框架</a:t>
            </a:r>
            <a:r>
              <a:rPr lang="zh-CN" sz="1400" dirty="0" smtClean="0">
                <a:solidFill>
                  <a:schemeClr val="tx1"/>
                </a:solidFill>
                <a:latin typeface="微软雅黑" panose="020B0503020204020204" pitchFamily="34" charset="-122"/>
                <a:ea typeface="微软雅黑" panose="020B0503020204020204" pitchFamily="34" charset="-122"/>
              </a:rPr>
              <a:t>，</a:t>
            </a:r>
            <a:r>
              <a:rPr sz="1400" dirty="0" smtClean="0">
                <a:solidFill>
                  <a:schemeClr val="tx1"/>
                </a:solidFill>
                <a:latin typeface="微软雅黑" panose="020B0503020204020204" pitchFamily="34" charset="-122"/>
                <a:ea typeface="微软雅黑" panose="020B0503020204020204" pitchFamily="34" charset="-122"/>
              </a:rPr>
              <a:t>旨在帮助企业建立健壮、高效的批处理应用</a:t>
            </a:r>
            <a:endParaRPr sz="1400" dirty="0" smtClean="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pitchFamily="2" charset="2"/>
            </a:pP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l"/>
            </a:pPr>
            <a:r>
              <a:rPr lang="en-US" altLang="zh-CN" sz="2000" dirty="0" smtClean="0">
                <a:solidFill>
                  <a:schemeClr val="tx1"/>
                </a:solidFill>
                <a:latin typeface="微软雅黑" panose="020B0503020204020204" pitchFamily="34" charset="-122"/>
                <a:ea typeface="微软雅黑" panose="020B0503020204020204" pitchFamily="34" charset="-122"/>
              </a:rPr>
              <a:t>                        </a:t>
            </a:r>
            <a:r>
              <a:rPr lang="en-US" altLang="zh-CN" sz="1800" dirty="0" smtClean="0">
                <a:solidFill>
                  <a:schemeClr val="tx1"/>
                </a:solidFill>
                <a:latin typeface="微软雅黑" panose="020B0503020204020204" pitchFamily="34" charset="-122"/>
                <a:ea typeface="微软雅黑" panose="020B0503020204020204" pitchFamily="34" charset="-122"/>
              </a:rPr>
              <a:t>开源企业服务总线（ESB</a:t>
            </a:r>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rPr>
              <a:t>：</a:t>
            </a:r>
            <a:r>
              <a:rPr lang="en-US" altLang="zh-CN" sz="1400" dirty="0" smtClean="0">
                <a:solidFill>
                  <a:schemeClr val="tx1"/>
                </a:solidFill>
                <a:latin typeface="微软雅黑" panose="020B0503020204020204" pitchFamily="34" charset="-122"/>
                <a:ea typeface="微软雅黑" panose="020B0503020204020204" pitchFamily="34" charset="-122"/>
              </a:rPr>
              <a:t>Mule</a:t>
            </a:r>
            <a:endParaRPr lang="en-US" altLang="zh-CN" sz="1400" dirty="0" smtClean="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34975" y="4773930"/>
            <a:ext cx="1824990" cy="645160"/>
          </a:xfrm>
          <a:prstGeom prst="rect">
            <a:avLst/>
          </a:prstGeom>
          <a:ln>
            <a:solidFill>
              <a:schemeClr val="tx1">
                <a:lumMod val="50000"/>
                <a:lumOff val="50000"/>
              </a:schemeClr>
            </a:solidFill>
          </a:ln>
          <a:effectLst>
            <a:softEdge rad="12700"/>
          </a:effectLst>
        </p:spPr>
      </p:pic>
      <p:pic>
        <p:nvPicPr>
          <p:cNvPr id="5" name="图片 4"/>
          <p:cNvPicPr>
            <a:picLocks noChangeAspect="1"/>
          </p:cNvPicPr>
          <p:nvPr/>
        </p:nvPicPr>
        <p:blipFill>
          <a:blip r:embed="rId2"/>
          <a:stretch>
            <a:fillRect/>
          </a:stretch>
        </p:blipFill>
        <p:spPr>
          <a:xfrm>
            <a:off x="445135" y="1966595"/>
            <a:ext cx="1814830" cy="605155"/>
          </a:xfrm>
          <a:prstGeom prst="rect">
            <a:avLst/>
          </a:prstGeom>
          <a:ln>
            <a:solidFill>
              <a:schemeClr val="tx1">
                <a:lumMod val="50000"/>
                <a:lumOff val="50000"/>
              </a:schemeClr>
            </a:solidFill>
          </a:ln>
          <a:effectLst/>
        </p:spPr>
      </p:pic>
      <p:pic>
        <p:nvPicPr>
          <p:cNvPr id="7" name="图片 6"/>
          <p:cNvPicPr>
            <a:picLocks noChangeAspect="1"/>
          </p:cNvPicPr>
          <p:nvPr/>
        </p:nvPicPr>
        <p:blipFill>
          <a:blip r:embed="rId3"/>
          <a:stretch>
            <a:fillRect/>
          </a:stretch>
        </p:blipFill>
        <p:spPr>
          <a:xfrm>
            <a:off x="414655" y="3129915"/>
            <a:ext cx="1876425" cy="597535"/>
          </a:xfrm>
          <a:prstGeom prst="rect">
            <a:avLst/>
          </a:prstGeom>
          <a:ln>
            <a:solidFill>
              <a:schemeClr val="tx1">
                <a:lumMod val="50000"/>
                <a:lumOff val="50000"/>
              </a:schemeClr>
            </a:solidFill>
          </a:ln>
          <a:effectLst>
            <a:softEdge rad="12700"/>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
            <a:ext cx="9144000" cy="692696"/>
          </a:xfrm>
          <a:solidFill>
            <a:schemeClr val="accent1">
              <a:lumMod val="75000"/>
            </a:schemeClr>
          </a:solidFill>
        </p:spPr>
        <p:txBody>
          <a:bodyPr>
            <a:normAutofit fontScale="90000"/>
          </a:bodyPr>
          <a:lstStyle/>
          <a:p>
            <a:r>
              <a:rPr lang="zh-CN" altLang="en-US" dirty="0" smtClean="0">
                <a:solidFill>
                  <a:schemeClr val="bg1"/>
                </a:solidFill>
                <a:latin typeface="微软雅黑" panose="020B0503020204020204" pitchFamily="34" charset="-122"/>
                <a:ea typeface="微软雅黑" panose="020B0503020204020204" pitchFamily="34" charset="-122"/>
                <a:sym typeface="+mn-ea"/>
              </a:rPr>
              <a:t>阶段式</a:t>
            </a:r>
            <a:r>
              <a:rPr lang="zh-CN" altLang="en-US" dirty="0">
                <a:solidFill>
                  <a:schemeClr val="bg1"/>
                </a:solidFill>
                <a:latin typeface="微软雅黑" panose="020B0503020204020204" pitchFamily="34" charset="-122"/>
                <a:ea typeface="微软雅黑" panose="020B0503020204020204" pitchFamily="34" charset="-122"/>
                <a:sym typeface="+mn-ea"/>
              </a:rPr>
              <a:t>事件</a:t>
            </a:r>
            <a:r>
              <a:rPr lang="zh-CN" altLang="en-US" dirty="0" smtClean="0">
                <a:solidFill>
                  <a:schemeClr val="bg1"/>
                </a:solidFill>
                <a:latin typeface="微软雅黑" panose="020B0503020204020204" pitchFamily="34" charset="-122"/>
                <a:ea typeface="微软雅黑" panose="020B0503020204020204" pitchFamily="34" charset="-122"/>
                <a:sym typeface="+mn-ea"/>
              </a:rPr>
              <a:t>驱动架构</a:t>
            </a:r>
            <a:endParaRPr lang="zh-CN" altLang="en-US" dirty="0"/>
          </a:p>
        </p:txBody>
      </p:sp>
      <p:sp>
        <p:nvSpPr>
          <p:cNvPr id="3" name="副标题 2"/>
          <p:cNvSpPr>
            <a:spLocks noGrp="1"/>
          </p:cNvSpPr>
          <p:nvPr>
            <p:ph type="subTitle" idx="1"/>
          </p:nvPr>
        </p:nvSpPr>
        <p:spPr>
          <a:xfrm>
            <a:off x="109786" y="798602"/>
            <a:ext cx="8208912" cy="4968552"/>
          </a:xfrm>
        </p:spPr>
        <p:txBody>
          <a:bodyPr>
            <a:noAutofit/>
          </a:bodyPr>
          <a:lstStyle/>
          <a:p>
            <a:pPr algn="l">
              <a:buFont typeface="Wingdings" panose="05000000000000000000" pitchFamily="2" charset="2"/>
            </a:pPr>
            <a:r>
              <a:rPr lang="zh-CN" altLang="en-US" sz="2400" dirty="0">
                <a:solidFill>
                  <a:schemeClr val="tx1"/>
                </a:solidFill>
                <a:latin typeface="微软雅黑" panose="020B0503020204020204" pitchFamily="34" charset="-122"/>
                <a:ea typeface="微软雅黑" panose="020B0503020204020204" pitchFamily="34" charset="-122"/>
              </a:rPr>
              <a:t>分析</a:t>
            </a:r>
            <a:endParaRPr lang="zh-CN" altLang="en-US" sz="2400" dirty="0">
              <a:solidFill>
                <a:schemeClr val="tx1"/>
              </a:solidFill>
              <a:latin typeface="微软雅黑" panose="020B0503020204020204" pitchFamily="34" charset="-122"/>
              <a:ea typeface="微软雅黑" panose="020B0503020204020204" pitchFamily="34" charset="-122"/>
            </a:endParaRPr>
          </a:p>
          <a:p>
            <a:pPr algn="l">
              <a:buFont typeface="Wingdings" panose="05000000000000000000" pitchFamily="2" charset="2"/>
            </a:pPr>
            <a:endParaRPr lang="zh-CN" altLang="en-US" dirty="0">
              <a:solidFill>
                <a:schemeClr val="tx1"/>
              </a:solidFill>
              <a:latin typeface="微软雅黑" panose="020B0503020204020204" pitchFamily="34" charset="-122"/>
              <a:ea typeface="微软雅黑" panose="020B0503020204020204" pitchFamily="34" charset="-122"/>
            </a:endParaRPr>
          </a:p>
          <a:p>
            <a:pPr marL="457200" indent="-457200" algn="l">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如何合理地进行资源的初始化</a:t>
            </a:r>
            <a:r>
              <a:rPr lang="zh-CN" altLang="en-US" sz="2400" dirty="0" smtClean="0">
                <a:solidFill>
                  <a:schemeClr val="tx1"/>
                </a:solidFill>
                <a:latin typeface="微软雅黑" panose="020B0503020204020204" pitchFamily="34" charset="-122"/>
                <a:ea typeface="微软雅黑" panose="020B0503020204020204" pitchFamily="34" charset="-122"/>
              </a:rPr>
              <a:t>分配</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Arial" panose="020B0604020202020204" pitchFamily="34" charset="0"/>
              <a:buChar char="•"/>
            </a:pPr>
            <a:r>
              <a:rPr lang="zh-CN" altLang="en-US" sz="1600" dirty="0" smtClean="0">
                <a:solidFill>
                  <a:schemeClr val="tx1"/>
                </a:solidFill>
                <a:latin typeface="微软雅黑" panose="020B0503020204020204" pitchFamily="34" charset="-122"/>
                <a:ea typeface="微软雅黑" panose="020B0503020204020204" pitchFamily="34" charset="-122"/>
              </a:rPr>
              <a:t>资源</a:t>
            </a:r>
            <a:r>
              <a:rPr lang="zh-CN" altLang="en-US" sz="1600" dirty="0">
                <a:solidFill>
                  <a:schemeClr val="tx1"/>
                </a:solidFill>
                <a:latin typeface="微软雅黑" panose="020B0503020204020204" pitchFamily="34" charset="-122"/>
                <a:ea typeface="微软雅黑" panose="020B0503020204020204" pitchFamily="34" charset="-122"/>
              </a:rPr>
              <a:t>需求较大的阶段被分配了数量不足的线程</a:t>
            </a:r>
            <a:r>
              <a:rPr lang="zh-CN" altLang="en-US" sz="1600" dirty="0" smtClean="0">
                <a:solidFill>
                  <a:schemeClr val="tx1"/>
                </a:solidFill>
                <a:latin typeface="微软雅黑" panose="020B0503020204020204" pitchFamily="34" charset="-122"/>
                <a:ea typeface="微软雅黑" panose="020B0503020204020204" pitchFamily="34" charset="-122"/>
              </a:rPr>
              <a:t>数</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marL="742950" lvl="1" indent="-285750" algn="l">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rPr>
              <a:t>资源需求较小</a:t>
            </a:r>
            <a:r>
              <a:rPr lang="zh-CN" altLang="en-US" sz="1600" dirty="0" smtClean="0">
                <a:solidFill>
                  <a:schemeClr val="tx1"/>
                </a:solidFill>
                <a:latin typeface="微软雅黑" panose="020B0503020204020204" pitchFamily="34" charset="-122"/>
                <a:ea typeface="微软雅黑" panose="020B0503020204020204" pitchFamily="34" charset="-122"/>
              </a:rPr>
              <a:t>的阶段</a:t>
            </a:r>
            <a:r>
              <a:rPr lang="zh-CN" altLang="en-US" sz="1600" dirty="0">
                <a:solidFill>
                  <a:schemeClr val="tx1"/>
                </a:solidFill>
                <a:latin typeface="微软雅黑" panose="020B0503020204020204" pitchFamily="34" charset="-122"/>
                <a:ea typeface="微软雅黑" panose="020B0503020204020204" pitchFamily="34" charset="-122"/>
              </a:rPr>
              <a:t>被分配了数量过多的线程</a:t>
            </a:r>
            <a:r>
              <a:rPr lang="zh-CN" altLang="en-US" sz="1600" dirty="0" smtClean="0">
                <a:solidFill>
                  <a:schemeClr val="tx1"/>
                </a:solidFill>
                <a:latin typeface="微软雅黑" panose="020B0503020204020204" pitchFamily="34" charset="-122"/>
                <a:ea typeface="微软雅黑" panose="020B0503020204020204" pitchFamily="34" charset="-122"/>
              </a:rPr>
              <a:t>数</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lvl="1" algn="l"/>
            <a:r>
              <a:rPr lang="zh-CN" altLang="en-US" sz="1600" dirty="0" smtClean="0">
                <a:solidFill>
                  <a:schemeClr val="tx1"/>
                </a:solidFill>
                <a:latin typeface="微软雅黑" panose="020B0503020204020204" pitchFamily="34" charset="-122"/>
                <a:ea typeface="微软雅黑" panose="020B0503020204020204" pitchFamily="34" charset="-122"/>
              </a:rPr>
              <a:t>     </a:t>
            </a:r>
            <a:r>
              <a:rPr lang="en-US" altLang="zh-CN" sz="1600" dirty="0" smtClean="0">
                <a:solidFill>
                  <a:schemeClr val="tx1"/>
                </a:solidFill>
                <a:latin typeface="微软雅黑" panose="020B0503020204020204" pitchFamily="34" charset="-122"/>
                <a:ea typeface="微软雅黑" panose="020B0503020204020204" pitchFamily="34" charset="-122"/>
              </a:rPr>
              <a:t>--------&gt;</a:t>
            </a:r>
            <a:r>
              <a:rPr lang="zh-CN" altLang="en-US" sz="1600" dirty="0" smtClean="0">
                <a:solidFill>
                  <a:schemeClr val="tx1"/>
                </a:solidFill>
                <a:latin typeface="微软雅黑" panose="020B0503020204020204" pitchFamily="34" charset="-122"/>
                <a:ea typeface="微软雅黑" panose="020B0503020204020204" pitchFamily="34" charset="-122"/>
              </a:rPr>
              <a:t>都会</a:t>
            </a:r>
            <a:r>
              <a:rPr lang="zh-CN" altLang="en-US" sz="1600" dirty="0">
                <a:solidFill>
                  <a:schemeClr val="tx1"/>
                </a:solidFill>
                <a:latin typeface="微软雅黑" panose="020B0503020204020204" pitchFamily="34" charset="-122"/>
                <a:ea typeface="微软雅黑" panose="020B0503020204020204" pitchFamily="34" charset="-122"/>
              </a:rPr>
              <a:t>造成系统吞吐量的下滑</a:t>
            </a:r>
            <a:endParaRPr lang="en-US" altLang="zh-CN" sz="1600" dirty="0" smtClean="0">
              <a:solidFill>
                <a:schemeClr val="tx1"/>
              </a:solidFill>
              <a:latin typeface="微软雅黑" panose="020B0503020204020204" pitchFamily="34" charset="-122"/>
              <a:ea typeface="微软雅黑" panose="020B0503020204020204" pitchFamily="34" charset="-122"/>
            </a:endParaRPr>
          </a:p>
          <a:p>
            <a:pPr algn="l"/>
            <a:endParaRPr lang="en-US" altLang="zh-CN" dirty="0" smtClean="0">
              <a:solidFill>
                <a:schemeClr val="tx1"/>
              </a:solidFill>
              <a:latin typeface="微软雅黑" panose="020B0503020204020204" pitchFamily="34" charset="-122"/>
              <a:ea typeface="微软雅黑" panose="020B0503020204020204" pitchFamily="34" charset="-122"/>
            </a:endParaRPr>
          </a:p>
          <a:p>
            <a:pPr marL="457200" indent="-457200" algn="l">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如何合理地对系统进行阶段</a:t>
            </a:r>
            <a:r>
              <a:rPr lang="zh-CN" altLang="en-US" sz="2400" dirty="0" smtClean="0">
                <a:solidFill>
                  <a:schemeClr val="tx1"/>
                </a:solidFill>
                <a:latin typeface="微软雅黑" panose="020B0503020204020204" pitchFamily="34" charset="-122"/>
                <a:ea typeface="微软雅黑" panose="020B0503020204020204" pitchFamily="34" charset="-122"/>
              </a:rPr>
              <a:t>划分</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800100" lvl="1" indent="-342900" algn="l">
              <a:buFont typeface="Arial" panose="020B0604020202020204" pitchFamily="34" charset="0"/>
              <a:buChar char="•"/>
            </a:pPr>
            <a:r>
              <a:rPr lang="zh-CN" altLang="en-US" sz="1600" dirty="0" smtClean="0">
                <a:solidFill>
                  <a:schemeClr val="tx1"/>
                </a:solidFill>
                <a:latin typeface="微软雅黑" panose="020B0503020204020204" pitchFamily="34" charset="-122"/>
                <a:ea typeface="微软雅黑" panose="020B0503020204020204" pitchFamily="34" charset="-122"/>
              </a:rPr>
              <a:t>不合理</a:t>
            </a:r>
            <a:r>
              <a:rPr lang="zh-CN" altLang="en-US" sz="1600" dirty="0">
                <a:solidFill>
                  <a:schemeClr val="tx1"/>
                </a:solidFill>
                <a:latin typeface="微软雅黑" panose="020B0503020204020204" pitchFamily="34" charset="-122"/>
                <a:ea typeface="微软雅黑" panose="020B0503020204020204" pitchFamily="34" charset="-122"/>
              </a:rPr>
              <a:t>的阶段划分将导致系统性能的下滑</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2996952"/>
            <a:ext cx="9144000" cy="692696"/>
          </a:xfrm>
          <a:solidFill>
            <a:schemeClr val="accent1">
              <a:lumMod val="75000"/>
            </a:schemeClr>
          </a:solidFill>
        </p:spPr>
        <p:txBody>
          <a:bodyPr>
            <a:normAutofit fontScale="90000"/>
          </a:bodyPr>
          <a:lstStyle/>
          <a:p>
            <a:r>
              <a:rPr lang="en-US" altLang="zh-CN" dirty="0" smtClean="0">
                <a:solidFill>
                  <a:schemeClr val="bg1"/>
                </a:solidFill>
                <a:latin typeface="微软雅黑" panose="020B0503020204020204" pitchFamily="34" charset="-122"/>
                <a:ea typeface="微软雅黑" panose="020B0503020204020204" pitchFamily="34" charset="-122"/>
              </a:rPr>
              <a:t>thanks</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2855</Words>
  <Application>WPS 演示</Application>
  <PresentationFormat>全屏显示(4:3)</PresentationFormat>
  <Paragraphs>552</Paragraphs>
  <Slides>24</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宋体</vt:lpstr>
      <vt:lpstr>Wingdings</vt:lpstr>
      <vt:lpstr>微软雅黑</vt:lpstr>
      <vt:lpstr>Wingdings</vt:lpstr>
      <vt:lpstr>Arial Unicode MS</vt:lpstr>
      <vt:lpstr>Calibri</vt:lpstr>
      <vt:lpstr>Office 主题</vt:lpstr>
      <vt:lpstr>互联网主流编程模型</vt:lpstr>
      <vt:lpstr>目录</vt:lpstr>
      <vt:lpstr>编程模型-分类</vt:lpstr>
      <vt:lpstr>多线程并发模型</vt:lpstr>
      <vt:lpstr>多线程并发模型</vt:lpstr>
      <vt:lpstr>多线程并发模型</vt:lpstr>
      <vt:lpstr>多线程并发模型</vt:lpstr>
      <vt:lpstr>多线程并发模型</vt:lpstr>
      <vt:lpstr>事件驱动模型</vt:lpstr>
      <vt:lpstr>事件驱动模型</vt:lpstr>
      <vt:lpstr>事件驱动模型</vt:lpstr>
      <vt:lpstr>事件驱动模型</vt:lpstr>
      <vt:lpstr>事件驱动模型</vt:lpstr>
      <vt:lpstr>事件驱动模型</vt:lpstr>
      <vt:lpstr>事件驱动模型</vt:lpstr>
      <vt:lpstr>事件驱动模型</vt:lpstr>
      <vt:lpstr>事件驱动模型</vt:lpstr>
      <vt:lpstr>事件驱动模型</vt:lpstr>
      <vt:lpstr>阶段式事件驱动架构</vt:lpstr>
      <vt:lpstr>阶段式事件驱动架构</vt:lpstr>
      <vt:lpstr>阶段式事件驱动架构</vt:lpstr>
      <vt:lpstr>阶段式事件驱动架构</vt:lpstr>
      <vt:lpstr>阶段式事件驱动架构</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服务器编程模型</dc:title>
  <dc:creator/>
  <cp:lastModifiedBy>PENGXB3</cp:lastModifiedBy>
  <cp:revision>172</cp:revision>
  <dcterms:created xsi:type="dcterms:W3CDTF">2017-09-21T09:27:00Z</dcterms:created>
  <dcterms:modified xsi:type="dcterms:W3CDTF">2017-09-23T08:41:22Z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
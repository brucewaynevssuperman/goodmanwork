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0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1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26"/>
  </p:notesMasterIdLst>
  <p:sldIdLst>
    <p:sldId id="298" r:id="rId2"/>
    <p:sldId id="325" r:id="rId3"/>
    <p:sldId id="326" r:id="rId4"/>
    <p:sldId id="297" r:id="rId5"/>
    <p:sldId id="304" r:id="rId6"/>
    <p:sldId id="311" r:id="rId7"/>
    <p:sldId id="310" r:id="rId8"/>
    <p:sldId id="306" r:id="rId9"/>
    <p:sldId id="307" r:id="rId10"/>
    <p:sldId id="308" r:id="rId11"/>
    <p:sldId id="327" r:id="rId12"/>
    <p:sldId id="309" r:id="rId13"/>
    <p:sldId id="300" r:id="rId14"/>
    <p:sldId id="302" r:id="rId15"/>
    <p:sldId id="301" r:id="rId16"/>
    <p:sldId id="303" r:id="rId17"/>
    <p:sldId id="318" r:id="rId18"/>
    <p:sldId id="320" r:id="rId19"/>
    <p:sldId id="321" r:id="rId20"/>
    <p:sldId id="322" r:id="rId21"/>
    <p:sldId id="312" r:id="rId22"/>
    <p:sldId id="323" r:id="rId23"/>
    <p:sldId id="319" r:id="rId24"/>
    <p:sldId id="32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C439"/>
    <a:srgbClr val="0DA35C"/>
    <a:srgbClr val="EAE898"/>
    <a:srgbClr val="F9F487"/>
    <a:srgbClr val="E1D70B"/>
    <a:srgbClr val="EBE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6300" autoAdjust="0"/>
  </p:normalViewPr>
  <p:slideViewPr>
    <p:cSldViewPr snapToGrid="0">
      <p:cViewPr varScale="1">
        <p:scale>
          <a:sx n="99" d="100"/>
          <a:sy n="99" d="100"/>
        </p:scale>
        <p:origin x="19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612DFD-B706-4D9A-A722-1A7BDA1CDE8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FC5F8DF6-52DF-4F6E-B56B-A6653B72AF98}">
      <dgm:prSet phldrT="[文本]" custT="1"/>
      <dgm:spPr/>
      <dgm:t>
        <a:bodyPr/>
        <a:lstStyle/>
        <a:p>
          <a:r>
            <a:rPr lang="zh-CN" altLang="en-US" sz="2000" dirty="0"/>
            <a:t>定义</a:t>
          </a:r>
        </a:p>
      </dgm:t>
    </dgm:pt>
    <dgm:pt modelId="{ED1A8F75-F7E7-4956-AE02-7C99EC760B6E}" type="par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692E7101-6540-4114-9E1F-1C2056CFF502}" type="sib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99C08C2F-807B-4E27-8EB1-E718608220FB}">
      <dgm:prSet phldrT="[文本]" custT="1"/>
      <dgm:spPr/>
      <dgm:t>
        <a:bodyPr/>
        <a:lstStyle/>
        <a:p>
          <a:r>
            <a:rPr lang="en-US" altLang="zh-CN" sz="1800" dirty="0">
              <a:latin typeface="+mn-ea"/>
            </a:rPr>
            <a:t>Extract-</a:t>
          </a:r>
          <a:r>
            <a:rPr lang="en-US" altLang="zh-CN" sz="1800" dirty="0" err="1">
              <a:latin typeface="+mn-ea"/>
            </a:rPr>
            <a:t>Transfrom</a:t>
          </a:r>
          <a:r>
            <a:rPr lang="en-US" altLang="zh-CN" sz="1800" dirty="0">
              <a:latin typeface="+mn-ea"/>
            </a:rPr>
            <a:t>-Load</a:t>
          </a:r>
          <a:r>
            <a:rPr lang="zh-CN" altLang="en-US" sz="1800" dirty="0">
              <a:latin typeface="+mn-ea"/>
            </a:rPr>
            <a:t>的缩写，用来描述数据从来源端经过抽取（</a:t>
          </a:r>
          <a:r>
            <a:rPr lang="en-US" altLang="zh-CN" sz="1800" dirty="0">
              <a:latin typeface="+mn-ea"/>
            </a:rPr>
            <a:t>extract</a:t>
          </a:r>
          <a:r>
            <a:rPr lang="zh-CN" altLang="en-US" sz="1800" dirty="0">
              <a:latin typeface="+mn-ea"/>
            </a:rPr>
            <a:t>）、转换（</a:t>
          </a:r>
          <a:r>
            <a:rPr lang="en-US" altLang="zh-CN" sz="1800" dirty="0" err="1">
              <a:latin typeface="+mn-ea"/>
            </a:rPr>
            <a:t>transfrom</a:t>
          </a:r>
          <a:r>
            <a:rPr lang="zh-CN" altLang="en-US" sz="1800" dirty="0">
              <a:latin typeface="+mn-ea"/>
            </a:rPr>
            <a:t>）、加载（</a:t>
          </a:r>
          <a:r>
            <a:rPr lang="en-US" altLang="zh-CN" sz="1800" dirty="0">
              <a:latin typeface="+mn-ea"/>
            </a:rPr>
            <a:t>load</a:t>
          </a:r>
          <a:r>
            <a:rPr lang="zh-CN" altLang="en-US" sz="1800" dirty="0">
              <a:latin typeface="+mn-ea"/>
            </a:rPr>
            <a:t>）到目的端的过程。常用于数据仓库。</a:t>
          </a:r>
          <a:endParaRPr lang="zh-CN" altLang="en-US" sz="1200" dirty="0"/>
        </a:p>
      </dgm:t>
    </dgm:pt>
    <dgm:pt modelId="{47CF3A34-A4F8-4AE6-8E8C-8DDA019B069B}" type="parTrans" cxnId="{E68E7B48-5631-4B20-876C-38DBE917C63D}">
      <dgm:prSet/>
      <dgm:spPr/>
      <dgm:t>
        <a:bodyPr/>
        <a:lstStyle/>
        <a:p>
          <a:endParaRPr lang="zh-CN" altLang="en-US"/>
        </a:p>
      </dgm:t>
    </dgm:pt>
    <dgm:pt modelId="{FC57F430-6624-4A58-AF7A-52319D9F576D}" type="sibTrans" cxnId="{E68E7B48-5631-4B20-876C-38DBE917C63D}">
      <dgm:prSet/>
      <dgm:spPr/>
      <dgm:t>
        <a:bodyPr/>
        <a:lstStyle/>
        <a:p>
          <a:endParaRPr lang="zh-CN" altLang="en-US"/>
        </a:p>
      </dgm:t>
    </dgm:pt>
    <dgm:pt modelId="{7A54905F-7237-433C-BDF3-AD32414E97E0}">
      <dgm:prSet phldrT="[文本]" custT="1"/>
      <dgm:spPr/>
      <dgm:t>
        <a:bodyPr/>
        <a:lstStyle/>
        <a:p>
          <a:endParaRPr lang="zh-CN" altLang="en-US" sz="1200" dirty="0"/>
        </a:p>
      </dgm:t>
    </dgm:pt>
    <dgm:pt modelId="{71D99AC8-62C5-4F01-9813-81E556556D31}" type="parTrans" cxnId="{0E60F27D-F759-4050-B5A3-E99F32AAAA80}">
      <dgm:prSet/>
      <dgm:spPr/>
      <dgm:t>
        <a:bodyPr/>
        <a:lstStyle/>
        <a:p>
          <a:endParaRPr lang="zh-CN" altLang="en-US"/>
        </a:p>
      </dgm:t>
    </dgm:pt>
    <dgm:pt modelId="{E263B5C1-DDD2-4028-B2A3-69248A25A597}" type="sibTrans" cxnId="{0E60F27D-F759-4050-B5A3-E99F32AAAA80}">
      <dgm:prSet/>
      <dgm:spPr/>
      <dgm:t>
        <a:bodyPr/>
        <a:lstStyle/>
        <a:p>
          <a:endParaRPr lang="zh-CN" altLang="en-US"/>
        </a:p>
      </dgm:t>
    </dgm:pt>
    <dgm:pt modelId="{487A9785-89B7-4CA1-9A60-9E7CFF244E22}" type="pres">
      <dgm:prSet presAssocID="{30612DFD-B706-4D9A-A722-1A7BDA1CDE8F}" presName="linear" presStyleCnt="0">
        <dgm:presLayoutVars>
          <dgm:animLvl val="lvl"/>
          <dgm:resizeHandles val="exact"/>
        </dgm:presLayoutVars>
      </dgm:prSet>
      <dgm:spPr/>
    </dgm:pt>
    <dgm:pt modelId="{59A6B346-BB8C-4ADF-8325-515B18F388A3}" type="pres">
      <dgm:prSet presAssocID="{FC5F8DF6-52DF-4F6E-B56B-A6653B72AF98}" presName="parentText" presStyleLbl="node1" presStyleIdx="0" presStyleCnt="1" custScaleY="111215" custLinFactNeighborY="-2011">
        <dgm:presLayoutVars>
          <dgm:chMax val="0"/>
          <dgm:bulletEnabled val="1"/>
        </dgm:presLayoutVars>
      </dgm:prSet>
      <dgm:spPr/>
    </dgm:pt>
    <dgm:pt modelId="{D06C6889-BB72-402F-8861-1C72CFD9FAAA}" type="pres">
      <dgm:prSet presAssocID="{FC5F8DF6-52DF-4F6E-B56B-A6653B72AF98}" presName="childText" presStyleLbl="revTx" presStyleIdx="0" presStyleCnt="1" custScaleY="112255">
        <dgm:presLayoutVars>
          <dgm:bulletEnabled val="1"/>
        </dgm:presLayoutVars>
      </dgm:prSet>
      <dgm:spPr/>
    </dgm:pt>
  </dgm:ptLst>
  <dgm:cxnLst>
    <dgm:cxn modelId="{8D6FA102-2F7A-420F-9422-097C792A65A8}" type="presOf" srcId="{FC5F8DF6-52DF-4F6E-B56B-A6653B72AF98}" destId="{59A6B346-BB8C-4ADF-8325-515B18F388A3}" srcOrd="0" destOrd="0" presId="urn:microsoft.com/office/officeart/2005/8/layout/vList2"/>
    <dgm:cxn modelId="{4A11C109-55DC-41FB-A63B-D9B33A4EE914}" type="presOf" srcId="{7A54905F-7237-433C-BDF3-AD32414E97E0}" destId="{D06C6889-BB72-402F-8861-1C72CFD9FAAA}" srcOrd="0" destOrd="0" presId="urn:microsoft.com/office/officeart/2005/8/layout/vList2"/>
    <dgm:cxn modelId="{D1E35966-3749-472B-B14A-64134D5F23DE}" type="presOf" srcId="{99C08C2F-807B-4E27-8EB1-E718608220FB}" destId="{D06C6889-BB72-402F-8861-1C72CFD9FAAA}" srcOrd="0" destOrd="1" presId="urn:microsoft.com/office/officeart/2005/8/layout/vList2"/>
    <dgm:cxn modelId="{E68E7B48-5631-4B20-876C-38DBE917C63D}" srcId="{FC5F8DF6-52DF-4F6E-B56B-A6653B72AF98}" destId="{99C08C2F-807B-4E27-8EB1-E718608220FB}" srcOrd="1" destOrd="0" parTransId="{47CF3A34-A4F8-4AE6-8E8C-8DDA019B069B}" sibTransId="{FC57F430-6624-4A58-AF7A-52319D9F576D}"/>
    <dgm:cxn modelId="{0E60F27D-F759-4050-B5A3-E99F32AAAA80}" srcId="{FC5F8DF6-52DF-4F6E-B56B-A6653B72AF98}" destId="{7A54905F-7237-433C-BDF3-AD32414E97E0}" srcOrd="0" destOrd="0" parTransId="{71D99AC8-62C5-4F01-9813-81E556556D31}" sibTransId="{E263B5C1-DDD2-4028-B2A3-69248A25A597}"/>
    <dgm:cxn modelId="{595CEEC8-AEA1-41B1-B6DF-51F4E7821D12}" type="presOf" srcId="{30612DFD-B706-4D9A-A722-1A7BDA1CDE8F}" destId="{487A9785-89B7-4CA1-9A60-9E7CFF244E22}" srcOrd="0" destOrd="0" presId="urn:microsoft.com/office/officeart/2005/8/layout/vList2"/>
    <dgm:cxn modelId="{8ACD9DE2-F3B8-415B-B445-10B80352A236}" srcId="{30612DFD-B706-4D9A-A722-1A7BDA1CDE8F}" destId="{FC5F8DF6-52DF-4F6E-B56B-A6653B72AF98}" srcOrd="0" destOrd="0" parTransId="{ED1A8F75-F7E7-4956-AE02-7C99EC760B6E}" sibTransId="{692E7101-6540-4114-9E1F-1C2056CFF502}"/>
    <dgm:cxn modelId="{0B96F9A5-D4EC-4938-91BA-F0E36600A674}" type="presParOf" srcId="{487A9785-89B7-4CA1-9A60-9E7CFF244E22}" destId="{59A6B346-BB8C-4ADF-8325-515B18F388A3}" srcOrd="0" destOrd="0" presId="urn:microsoft.com/office/officeart/2005/8/layout/vList2"/>
    <dgm:cxn modelId="{57BEC8BC-88FE-4A74-87A3-E2E56026B545}" type="presParOf" srcId="{487A9785-89B7-4CA1-9A60-9E7CFF244E22}" destId="{D06C6889-BB72-402F-8861-1C72CFD9FAA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612DFD-B706-4D9A-A722-1A7BDA1CDE8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FC5F8DF6-52DF-4F6E-B56B-A6653B72AF98}">
      <dgm:prSet phldrT="[文本]" custT="1"/>
      <dgm:spPr/>
      <dgm:t>
        <a:bodyPr/>
        <a:lstStyle/>
        <a:p>
          <a:r>
            <a:rPr lang="zh-CN" altLang="en-US" sz="2000" dirty="0">
              <a:latin typeface="+mn-ea"/>
              <a:ea typeface="+mn-ea"/>
            </a:rPr>
            <a:t>数据仓库（</a:t>
          </a:r>
          <a:r>
            <a:rPr lang="en-US" altLang="zh-CN" sz="2000" dirty="0">
              <a:latin typeface="+mn-ea"/>
              <a:ea typeface="+mn-ea"/>
            </a:rPr>
            <a:t>DW</a:t>
          </a:r>
          <a:r>
            <a:rPr lang="zh-CN" altLang="en-US" sz="2000" dirty="0">
              <a:latin typeface="+mn-ea"/>
              <a:ea typeface="+mn-ea"/>
            </a:rPr>
            <a:t>）</a:t>
          </a:r>
          <a:endParaRPr lang="zh-CN" altLang="en-US" sz="2000" dirty="0"/>
        </a:p>
      </dgm:t>
    </dgm:pt>
    <dgm:pt modelId="{ED1A8F75-F7E7-4956-AE02-7C99EC760B6E}" type="par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692E7101-6540-4114-9E1F-1C2056CFF502}" type="sib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5DA048A5-F11E-46B0-BEA2-1D0DAEF65C35}">
      <dgm:prSet phldrT="[文本]" custT="1"/>
      <dgm:spPr/>
      <dgm:t>
        <a:bodyPr/>
        <a:lstStyle/>
        <a:p>
          <a:endParaRPr lang="zh-CN" altLang="en-US" sz="1200" dirty="0"/>
        </a:p>
      </dgm:t>
    </dgm:pt>
    <dgm:pt modelId="{A0DE7887-F724-474C-88AA-DAB350214237}" type="parTrans" cxnId="{E47F45B3-EB3E-4166-88E3-847AE93CE5C5}">
      <dgm:prSet/>
      <dgm:spPr/>
      <dgm:t>
        <a:bodyPr/>
        <a:lstStyle/>
        <a:p>
          <a:endParaRPr lang="zh-CN" altLang="en-US"/>
        </a:p>
      </dgm:t>
    </dgm:pt>
    <dgm:pt modelId="{934F8BEE-35C6-4A8F-A437-2630475AE583}" type="sibTrans" cxnId="{E47F45B3-EB3E-4166-88E3-847AE93CE5C5}">
      <dgm:prSet/>
      <dgm:spPr/>
      <dgm:t>
        <a:bodyPr/>
        <a:lstStyle/>
        <a:p>
          <a:endParaRPr lang="zh-CN" altLang="en-US"/>
        </a:p>
      </dgm:t>
    </dgm:pt>
    <dgm:pt modelId="{487A9785-89B7-4CA1-9A60-9E7CFF244E22}" type="pres">
      <dgm:prSet presAssocID="{30612DFD-B706-4D9A-A722-1A7BDA1CDE8F}" presName="linear" presStyleCnt="0">
        <dgm:presLayoutVars>
          <dgm:animLvl val="lvl"/>
          <dgm:resizeHandles val="exact"/>
        </dgm:presLayoutVars>
      </dgm:prSet>
      <dgm:spPr/>
    </dgm:pt>
    <dgm:pt modelId="{59A6B346-BB8C-4ADF-8325-515B18F388A3}" type="pres">
      <dgm:prSet presAssocID="{FC5F8DF6-52DF-4F6E-B56B-A6653B72AF98}" presName="parentText" presStyleLbl="node1" presStyleIdx="0" presStyleCnt="1" custScaleY="29232" custLinFactNeighborX="-2052" custLinFactNeighborY="-1707">
        <dgm:presLayoutVars>
          <dgm:chMax val="0"/>
          <dgm:bulletEnabled val="1"/>
        </dgm:presLayoutVars>
      </dgm:prSet>
      <dgm:spPr/>
    </dgm:pt>
    <dgm:pt modelId="{D06C6889-BB72-402F-8861-1C72CFD9FAAA}" type="pres">
      <dgm:prSet presAssocID="{FC5F8DF6-52DF-4F6E-B56B-A6653B72AF98}" presName="childText" presStyleLbl="revTx" presStyleIdx="0" presStyleCnt="1" custScaleY="112255">
        <dgm:presLayoutVars>
          <dgm:bulletEnabled val="1"/>
        </dgm:presLayoutVars>
      </dgm:prSet>
      <dgm:spPr/>
    </dgm:pt>
  </dgm:ptLst>
  <dgm:cxnLst>
    <dgm:cxn modelId="{8D6FA102-2F7A-420F-9422-097C792A65A8}" type="presOf" srcId="{FC5F8DF6-52DF-4F6E-B56B-A6653B72AF98}" destId="{59A6B346-BB8C-4ADF-8325-515B18F388A3}" srcOrd="0" destOrd="0" presId="urn:microsoft.com/office/officeart/2005/8/layout/vList2"/>
    <dgm:cxn modelId="{E47F45B3-EB3E-4166-88E3-847AE93CE5C5}" srcId="{FC5F8DF6-52DF-4F6E-B56B-A6653B72AF98}" destId="{5DA048A5-F11E-46B0-BEA2-1D0DAEF65C35}" srcOrd="0" destOrd="0" parTransId="{A0DE7887-F724-474C-88AA-DAB350214237}" sibTransId="{934F8BEE-35C6-4A8F-A437-2630475AE583}"/>
    <dgm:cxn modelId="{595CEEC8-AEA1-41B1-B6DF-51F4E7821D12}" type="presOf" srcId="{30612DFD-B706-4D9A-A722-1A7BDA1CDE8F}" destId="{487A9785-89B7-4CA1-9A60-9E7CFF244E22}" srcOrd="0" destOrd="0" presId="urn:microsoft.com/office/officeart/2005/8/layout/vList2"/>
    <dgm:cxn modelId="{8ACD9DE2-F3B8-415B-B445-10B80352A236}" srcId="{30612DFD-B706-4D9A-A722-1A7BDA1CDE8F}" destId="{FC5F8DF6-52DF-4F6E-B56B-A6653B72AF98}" srcOrd="0" destOrd="0" parTransId="{ED1A8F75-F7E7-4956-AE02-7C99EC760B6E}" sibTransId="{692E7101-6540-4114-9E1F-1C2056CFF502}"/>
    <dgm:cxn modelId="{AD0C71EB-836F-412B-9B46-2A80D444913F}" type="presOf" srcId="{5DA048A5-F11E-46B0-BEA2-1D0DAEF65C35}" destId="{D06C6889-BB72-402F-8861-1C72CFD9FAAA}" srcOrd="0" destOrd="0" presId="urn:microsoft.com/office/officeart/2005/8/layout/vList2"/>
    <dgm:cxn modelId="{0B96F9A5-D4EC-4938-91BA-F0E36600A674}" type="presParOf" srcId="{487A9785-89B7-4CA1-9A60-9E7CFF244E22}" destId="{59A6B346-BB8C-4ADF-8325-515B18F388A3}" srcOrd="0" destOrd="0" presId="urn:microsoft.com/office/officeart/2005/8/layout/vList2"/>
    <dgm:cxn modelId="{57BEC8BC-88FE-4A74-87A3-E2E56026B545}" type="presParOf" srcId="{487A9785-89B7-4CA1-9A60-9E7CFF244E22}" destId="{D06C6889-BB72-402F-8861-1C72CFD9FAA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612DFD-B706-4D9A-A722-1A7BDA1CDE8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FC5F8DF6-52DF-4F6E-B56B-A6653B72AF98}">
      <dgm:prSet phldrT="[文本]" custT="1"/>
      <dgm:spPr/>
      <dgm:t>
        <a:bodyPr/>
        <a:lstStyle/>
        <a:p>
          <a:r>
            <a:rPr lang="zh-CN" altLang="en-US" sz="2000" dirty="0">
              <a:latin typeface="+mn-ea"/>
            </a:rPr>
            <a:t>数据抽取（</a:t>
          </a:r>
          <a:r>
            <a:rPr lang="en-US" altLang="zh-CN" sz="2000" dirty="0" err="1">
              <a:latin typeface="+mn-ea"/>
            </a:rPr>
            <a:t>extraxt</a:t>
          </a:r>
          <a:r>
            <a:rPr lang="zh-CN" altLang="en-US" sz="2000" dirty="0">
              <a:latin typeface="+mn-ea"/>
            </a:rPr>
            <a:t>）</a:t>
          </a:r>
          <a:endParaRPr lang="zh-CN" altLang="en-US" sz="2000" dirty="0"/>
        </a:p>
      </dgm:t>
    </dgm:pt>
    <dgm:pt modelId="{ED1A8F75-F7E7-4956-AE02-7C99EC760B6E}" type="par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692E7101-6540-4114-9E1F-1C2056CFF502}" type="sib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99C08C2F-807B-4E27-8EB1-E718608220FB}">
      <dgm:prSet phldrT="[文本]" custT="1"/>
      <dgm:spPr/>
      <dgm:t>
        <a:bodyPr/>
        <a:lstStyle/>
        <a:p>
          <a:r>
            <a:rPr lang="zh-CN" altLang="en-US" sz="1800" kern="1200" dirty="0">
              <a:latin typeface="+mn-ea"/>
            </a:rPr>
            <a:t>从数据源把数据读取到</a:t>
          </a:r>
          <a:r>
            <a:rPr lang="en-US" altLang="zh-CN" sz="1800" kern="1200" dirty="0">
              <a:latin typeface="+mn-ea"/>
            </a:rPr>
            <a:t>ODS</a:t>
          </a:r>
          <a:r>
            <a:rPr lang="zh-CN" altLang="en-US" sz="1800" kern="1200" dirty="0">
              <a:latin typeface="+mn-ea"/>
            </a:rPr>
            <a:t>的过程（</a:t>
          </a:r>
          <a:r>
            <a:rPr lang="en-US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rPr>
            <a:t>Operational Data Store</a:t>
          </a:r>
          <a:r>
            <a:rPr lang="zh-CN" altLang="en-US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rPr>
            <a:t>操作</a:t>
          </a:r>
          <a:r>
            <a:rPr lang="zh-CN" altLang="en-US" sz="1800" kern="1200" dirty="0">
              <a:latin typeface="+mn-ea"/>
            </a:rPr>
            <a:t>数据存储）</a:t>
          </a:r>
          <a:endParaRPr lang="zh-CN" altLang="en-US" sz="1200" kern="1200" dirty="0"/>
        </a:p>
      </dgm:t>
    </dgm:pt>
    <dgm:pt modelId="{47CF3A34-A4F8-4AE6-8E8C-8DDA019B069B}" type="parTrans" cxnId="{E68E7B48-5631-4B20-876C-38DBE917C63D}">
      <dgm:prSet/>
      <dgm:spPr/>
      <dgm:t>
        <a:bodyPr/>
        <a:lstStyle/>
        <a:p>
          <a:endParaRPr lang="zh-CN" altLang="en-US"/>
        </a:p>
      </dgm:t>
    </dgm:pt>
    <dgm:pt modelId="{FC57F430-6624-4A58-AF7A-52319D9F576D}" type="sibTrans" cxnId="{E68E7B48-5631-4B20-876C-38DBE917C63D}">
      <dgm:prSet/>
      <dgm:spPr/>
      <dgm:t>
        <a:bodyPr/>
        <a:lstStyle/>
        <a:p>
          <a:endParaRPr lang="zh-CN" altLang="en-US"/>
        </a:p>
      </dgm:t>
    </dgm:pt>
    <dgm:pt modelId="{56EF0D4B-4F90-4542-86D7-D348849931CD}">
      <dgm:prSet phldrT="[文本]" custT="1"/>
      <dgm:spPr/>
      <dgm:t>
        <a:bodyPr/>
        <a:lstStyle/>
        <a:p>
          <a:endParaRPr lang="zh-CN" altLang="en-US" sz="1200" kern="1200" dirty="0"/>
        </a:p>
      </dgm:t>
    </dgm:pt>
    <dgm:pt modelId="{B7AE1BD7-0056-4076-8B0E-8A83C03A11D0}" type="parTrans" cxnId="{8ABDAE99-50C0-4D3F-AC79-36B299613022}">
      <dgm:prSet/>
      <dgm:spPr/>
      <dgm:t>
        <a:bodyPr/>
        <a:lstStyle/>
        <a:p>
          <a:endParaRPr lang="zh-CN" altLang="en-US"/>
        </a:p>
      </dgm:t>
    </dgm:pt>
    <dgm:pt modelId="{5FE5D3CE-F1C5-4F47-B86B-72F8A898726E}" type="sibTrans" cxnId="{8ABDAE99-50C0-4D3F-AC79-36B299613022}">
      <dgm:prSet/>
      <dgm:spPr/>
      <dgm:t>
        <a:bodyPr/>
        <a:lstStyle/>
        <a:p>
          <a:endParaRPr lang="zh-CN" altLang="en-US"/>
        </a:p>
      </dgm:t>
    </dgm:pt>
    <dgm:pt modelId="{487A9785-89B7-4CA1-9A60-9E7CFF244E22}" type="pres">
      <dgm:prSet presAssocID="{30612DFD-B706-4D9A-A722-1A7BDA1CDE8F}" presName="linear" presStyleCnt="0">
        <dgm:presLayoutVars>
          <dgm:animLvl val="lvl"/>
          <dgm:resizeHandles val="exact"/>
        </dgm:presLayoutVars>
      </dgm:prSet>
      <dgm:spPr/>
    </dgm:pt>
    <dgm:pt modelId="{59A6B346-BB8C-4ADF-8325-515B18F388A3}" type="pres">
      <dgm:prSet presAssocID="{FC5F8DF6-52DF-4F6E-B56B-A6653B72AF98}" presName="parentText" presStyleLbl="node1" presStyleIdx="0" presStyleCnt="1" custScaleY="33181" custLinFactNeighborX="-2052" custLinFactNeighborY="-1707">
        <dgm:presLayoutVars>
          <dgm:chMax val="0"/>
          <dgm:bulletEnabled val="1"/>
        </dgm:presLayoutVars>
      </dgm:prSet>
      <dgm:spPr/>
    </dgm:pt>
    <dgm:pt modelId="{D06C6889-BB72-402F-8861-1C72CFD9FAAA}" type="pres">
      <dgm:prSet presAssocID="{FC5F8DF6-52DF-4F6E-B56B-A6653B72AF98}" presName="childText" presStyleLbl="revTx" presStyleIdx="0" presStyleCnt="1" custScaleY="112255">
        <dgm:presLayoutVars>
          <dgm:bulletEnabled val="1"/>
        </dgm:presLayoutVars>
      </dgm:prSet>
      <dgm:spPr/>
    </dgm:pt>
  </dgm:ptLst>
  <dgm:cxnLst>
    <dgm:cxn modelId="{8D6FA102-2F7A-420F-9422-097C792A65A8}" type="presOf" srcId="{FC5F8DF6-52DF-4F6E-B56B-A6653B72AF98}" destId="{59A6B346-BB8C-4ADF-8325-515B18F388A3}" srcOrd="0" destOrd="0" presId="urn:microsoft.com/office/officeart/2005/8/layout/vList2"/>
    <dgm:cxn modelId="{737A4635-136B-4309-9D9D-4DE40A0AF087}" type="presOf" srcId="{56EF0D4B-4F90-4542-86D7-D348849931CD}" destId="{D06C6889-BB72-402F-8861-1C72CFD9FAAA}" srcOrd="0" destOrd="0" presId="urn:microsoft.com/office/officeart/2005/8/layout/vList2"/>
    <dgm:cxn modelId="{D1E35966-3749-472B-B14A-64134D5F23DE}" type="presOf" srcId="{99C08C2F-807B-4E27-8EB1-E718608220FB}" destId="{D06C6889-BB72-402F-8861-1C72CFD9FAAA}" srcOrd="0" destOrd="1" presId="urn:microsoft.com/office/officeart/2005/8/layout/vList2"/>
    <dgm:cxn modelId="{E68E7B48-5631-4B20-876C-38DBE917C63D}" srcId="{FC5F8DF6-52DF-4F6E-B56B-A6653B72AF98}" destId="{99C08C2F-807B-4E27-8EB1-E718608220FB}" srcOrd="1" destOrd="0" parTransId="{47CF3A34-A4F8-4AE6-8E8C-8DDA019B069B}" sibTransId="{FC57F430-6624-4A58-AF7A-52319D9F576D}"/>
    <dgm:cxn modelId="{8ABDAE99-50C0-4D3F-AC79-36B299613022}" srcId="{FC5F8DF6-52DF-4F6E-B56B-A6653B72AF98}" destId="{56EF0D4B-4F90-4542-86D7-D348849931CD}" srcOrd="0" destOrd="0" parTransId="{B7AE1BD7-0056-4076-8B0E-8A83C03A11D0}" sibTransId="{5FE5D3CE-F1C5-4F47-B86B-72F8A898726E}"/>
    <dgm:cxn modelId="{595CEEC8-AEA1-41B1-B6DF-51F4E7821D12}" type="presOf" srcId="{30612DFD-B706-4D9A-A722-1A7BDA1CDE8F}" destId="{487A9785-89B7-4CA1-9A60-9E7CFF244E22}" srcOrd="0" destOrd="0" presId="urn:microsoft.com/office/officeart/2005/8/layout/vList2"/>
    <dgm:cxn modelId="{8ACD9DE2-F3B8-415B-B445-10B80352A236}" srcId="{30612DFD-B706-4D9A-A722-1A7BDA1CDE8F}" destId="{FC5F8DF6-52DF-4F6E-B56B-A6653B72AF98}" srcOrd="0" destOrd="0" parTransId="{ED1A8F75-F7E7-4956-AE02-7C99EC760B6E}" sibTransId="{692E7101-6540-4114-9E1F-1C2056CFF502}"/>
    <dgm:cxn modelId="{0B96F9A5-D4EC-4938-91BA-F0E36600A674}" type="presParOf" srcId="{487A9785-89B7-4CA1-9A60-9E7CFF244E22}" destId="{59A6B346-BB8C-4ADF-8325-515B18F388A3}" srcOrd="0" destOrd="0" presId="urn:microsoft.com/office/officeart/2005/8/layout/vList2"/>
    <dgm:cxn modelId="{57BEC8BC-88FE-4A74-87A3-E2E56026B545}" type="presParOf" srcId="{487A9785-89B7-4CA1-9A60-9E7CFF244E22}" destId="{D06C6889-BB72-402F-8861-1C72CFD9FAA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612DFD-B706-4D9A-A722-1A7BDA1CDE8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FC5F8DF6-52DF-4F6E-B56B-A6653B72AF98}">
      <dgm:prSet phldrT="[文本]" custT="1"/>
      <dgm:spPr/>
      <dgm:t>
        <a:bodyPr/>
        <a:lstStyle/>
        <a:p>
          <a:r>
            <a:rPr lang="zh-CN" altLang="en-US" sz="2000" dirty="0">
              <a:latin typeface="+mn-ea"/>
              <a:ea typeface="+mn-ea"/>
            </a:rPr>
            <a:t>数据转换（</a:t>
          </a:r>
          <a:r>
            <a:rPr lang="en-US" altLang="zh-CN" sz="2000" dirty="0">
              <a:latin typeface="+mn-ea"/>
              <a:ea typeface="+mn-ea"/>
            </a:rPr>
            <a:t>transform</a:t>
          </a:r>
          <a:r>
            <a:rPr lang="zh-CN" altLang="en-US" sz="2000" dirty="0">
              <a:latin typeface="+mn-ea"/>
              <a:ea typeface="+mn-ea"/>
            </a:rPr>
            <a:t>）</a:t>
          </a:r>
          <a:endParaRPr lang="zh-CN" altLang="en-US" sz="2000" dirty="0"/>
        </a:p>
      </dgm:t>
    </dgm:pt>
    <dgm:pt modelId="{ED1A8F75-F7E7-4956-AE02-7C99EC760B6E}" type="par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692E7101-6540-4114-9E1F-1C2056CFF502}" type="sib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99C08C2F-807B-4E27-8EB1-E718608220FB}">
      <dgm:prSet phldrT="[文本]" custT="1"/>
      <dgm:spPr/>
      <dgm:t>
        <a:bodyPr/>
        <a:lstStyle/>
        <a:p>
          <a:r>
            <a:rPr lang="zh-CN" altLang="en-US" sz="1800" dirty="0"/>
            <a:t>抽取的数据转换为目标库的数据</a:t>
          </a:r>
          <a:endParaRPr lang="zh-CN" altLang="en-US" sz="1200" dirty="0"/>
        </a:p>
      </dgm:t>
    </dgm:pt>
    <dgm:pt modelId="{47CF3A34-A4F8-4AE6-8E8C-8DDA019B069B}" type="parTrans" cxnId="{E68E7B48-5631-4B20-876C-38DBE917C63D}">
      <dgm:prSet/>
      <dgm:spPr/>
      <dgm:t>
        <a:bodyPr/>
        <a:lstStyle/>
        <a:p>
          <a:endParaRPr lang="zh-CN" altLang="en-US"/>
        </a:p>
      </dgm:t>
    </dgm:pt>
    <dgm:pt modelId="{FC57F430-6624-4A58-AF7A-52319D9F576D}" type="sibTrans" cxnId="{E68E7B48-5631-4B20-876C-38DBE917C63D}">
      <dgm:prSet/>
      <dgm:spPr/>
      <dgm:t>
        <a:bodyPr/>
        <a:lstStyle/>
        <a:p>
          <a:endParaRPr lang="zh-CN" altLang="en-US"/>
        </a:p>
      </dgm:t>
    </dgm:pt>
    <dgm:pt modelId="{56EF0D4B-4F90-4542-86D7-D348849931CD}">
      <dgm:prSet phldrT="[文本]" custT="1"/>
      <dgm:spPr/>
      <dgm:t>
        <a:bodyPr/>
        <a:lstStyle/>
        <a:p>
          <a:endParaRPr lang="zh-CN" altLang="en-US" sz="1200" dirty="0"/>
        </a:p>
      </dgm:t>
    </dgm:pt>
    <dgm:pt modelId="{B7AE1BD7-0056-4076-8B0E-8A83C03A11D0}" type="parTrans" cxnId="{8ABDAE99-50C0-4D3F-AC79-36B299613022}">
      <dgm:prSet/>
      <dgm:spPr/>
      <dgm:t>
        <a:bodyPr/>
        <a:lstStyle/>
        <a:p>
          <a:endParaRPr lang="zh-CN" altLang="en-US"/>
        </a:p>
      </dgm:t>
    </dgm:pt>
    <dgm:pt modelId="{5FE5D3CE-F1C5-4F47-B86B-72F8A898726E}" type="sibTrans" cxnId="{8ABDAE99-50C0-4D3F-AC79-36B299613022}">
      <dgm:prSet/>
      <dgm:spPr/>
      <dgm:t>
        <a:bodyPr/>
        <a:lstStyle/>
        <a:p>
          <a:endParaRPr lang="zh-CN" altLang="en-US"/>
        </a:p>
      </dgm:t>
    </dgm:pt>
    <dgm:pt modelId="{487A9785-89B7-4CA1-9A60-9E7CFF244E22}" type="pres">
      <dgm:prSet presAssocID="{30612DFD-B706-4D9A-A722-1A7BDA1CDE8F}" presName="linear" presStyleCnt="0">
        <dgm:presLayoutVars>
          <dgm:animLvl val="lvl"/>
          <dgm:resizeHandles val="exact"/>
        </dgm:presLayoutVars>
      </dgm:prSet>
      <dgm:spPr/>
    </dgm:pt>
    <dgm:pt modelId="{59A6B346-BB8C-4ADF-8325-515B18F388A3}" type="pres">
      <dgm:prSet presAssocID="{FC5F8DF6-52DF-4F6E-B56B-A6653B72AF98}" presName="parentText" presStyleLbl="node1" presStyleIdx="0" presStyleCnt="1" custScaleY="33181" custLinFactNeighborX="-2052" custLinFactNeighborY="-1707">
        <dgm:presLayoutVars>
          <dgm:chMax val="0"/>
          <dgm:bulletEnabled val="1"/>
        </dgm:presLayoutVars>
      </dgm:prSet>
      <dgm:spPr/>
    </dgm:pt>
    <dgm:pt modelId="{D06C6889-BB72-402F-8861-1C72CFD9FAAA}" type="pres">
      <dgm:prSet presAssocID="{FC5F8DF6-52DF-4F6E-B56B-A6653B72AF98}" presName="childText" presStyleLbl="revTx" presStyleIdx="0" presStyleCnt="1" custScaleY="112255">
        <dgm:presLayoutVars>
          <dgm:bulletEnabled val="1"/>
        </dgm:presLayoutVars>
      </dgm:prSet>
      <dgm:spPr/>
    </dgm:pt>
  </dgm:ptLst>
  <dgm:cxnLst>
    <dgm:cxn modelId="{8D6FA102-2F7A-420F-9422-097C792A65A8}" type="presOf" srcId="{FC5F8DF6-52DF-4F6E-B56B-A6653B72AF98}" destId="{59A6B346-BB8C-4ADF-8325-515B18F388A3}" srcOrd="0" destOrd="0" presId="urn:microsoft.com/office/officeart/2005/8/layout/vList2"/>
    <dgm:cxn modelId="{737A4635-136B-4309-9D9D-4DE40A0AF087}" type="presOf" srcId="{56EF0D4B-4F90-4542-86D7-D348849931CD}" destId="{D06C6889-BB72-402F-8861-1C72CFD9FAAA}" srcOrd="0" destOrd="0" presId="urn:microsoft.com/office/officeart/2005/8/layout/vList2"/>
    <dgm:cxn modelId="{D1E35966-3749-472B-B14A-64134D5F23DE}" type="presOf" srcId="{99C08C2F-807B-4E27-8EB1-E718608220FB}" destId="{D06C6889-BB72-402F-8861-1C72CFD9FAAA}" srcOrd="0" destOrd="1" presId="urn:microsoft.com/office/officeart/2005/8/layout/vList2"/>
    <dgm:cxn modelId="{E68E7B48-5631-4B20-876C-38DBE917C63D}" srcId="{FC5F8DF6-52DF-4F6E-B56B-A6653B72AF98}" destId="{99C08C2F-807B-4E27-8EB1-E718608220FB}" srcOrd="1" destOrd="0" parTransId="{47CF3A34-A4F8-4AE6-8E8C-8DDA019B069B}" sibTransId="{FC57F430-6624-4A58-AF7A-52319D9F576D}"/>
    <dgm:cxn modelId="{8ABDAE99-50C0-4D3F-AC79-36B299613022}" srcId="{FC5F8DF6-52DF-4F6E-B56B-A6653B72AF98}" destId="{56EF0D4B-4F90-4542-86D7-D348849931CD}" srcOrd="0" destOrd="0" parTransId="{B7AE1BD7-0056-4076-8B0E-8A83C03A11D0}" sibTransId="{5FE5D3CE-F1C5-4F47-B86B-72F8A898726E}"/>
    <dgm:cxn modelId="{595CEEC8-AEA1-41B1-B6DF-51F4E7821D12}" type="presOf" srcId="{30612DFD-B706-4D9A-A722-1A7BDA1CDE8F}" destId="{487A9785-89B7-4CA1-9A60-9E7CFF244E22}" srcOrd="0" destOrd="0" presId="urn:microsoft.com/office/officeart/2005/8/layout/vList2"/>
    <dgm:cxn modelId="{8ACD9DE2-F3B8-415B-B445-10B80352A236}" srcId="{30612DFD-B706-4D9A-A722-1A7BDA1CDE8F}" destId="{FC5F8DF6-52DF-4F6E-B56B-A6653B72AF98}" srcOrd="0" destOrd="0" parTransId="{ED1A8F75-F7E7-4956-AE02-7C99EC760B6E}" sibTransId="{692E7101-6540-4114-9E1F-1C2056CFF502}"/>
    <dgm:cxn modelId="{0B96F9A5-D4EC-4938-91BA-F0E36600A674}" type="presParOf" srcId="{487A9785-89B7-4CA1-9A60-9E7CFF244E22}" destId="{59A6B346-BB8C-4ADF-8325-515B18F388A3}" srcOrd="0" destOrd="0" presId="urn:microsoft.com/office/officeart/2005/8/layout/vList2"/>
    <dgm:cxn modelId="{57BEC8BC-88FE-4A74-87A3-E2E56026B545}" type="presParOf" srcId="{487A9785-89B7-4CA1-9A60-9E7CFF244E22}" destId="{D06C6889-BB72-402F-8861-1C72CFD9FAA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0612DFD-B706-4D9A-A722-1A7BDA1CDE8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FC5F8DF6-52DF-4F6E-B56B-A6653B72AF98}">
      <dgm:prSet phldrT="[文本]" custT="1"/>
      <dgm:spPr/>
      <dgm:t>
        <a:bodyPr/>
        <a:lstStyle/>
        <a:p>
          <a:r>
            <a:rPr lang="zh-CN" altLang="en-US" sz="2000" dirty="0">
              <a:latin typeface="+mn-ea"/>
              <a:ea typeface="+mn-ea"/>
            </a:rPr>
            <a:t>数据加载（</a:t>
          </a:r>
          <a:r>
            <a:rPr lang="en-US" altLang="zh-CN" sz="2000" dirty="0">
              <a:latin typeface="+mn-ea"/>
              <a:ea typeface="+mn-ea"/>
            </a:rPr>
            <a:t>LOAD</a:t>
          </a:r>
          <a:r>
            <a:rPr lang="zh-CN" altLang="en-US" sz="2000" dirty="0">
              <a:latin typeface="+mn-ea"/>
              <a:ea typeface="+mn-ea"/>
            </a:rPr>
            <a:t>）</a:t>
          </a:r>
          <a:endParaRPr lang="zh-CN" altLang="en-US" sz="2000" dirty="0"/>
        </a:p>
      </dgm:t>
    </dgm:pt>
    <dgm:pt modelId="{ED1A8F75-F7E7-4956-AE02-7C99EC760B6E}" type="par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692E7101-6540-4114-9E1F-1C2056CFF502}" type="sib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99C08C2F-807B-4E27-8EB1-E718608220FB}">
      <dgm:prSet phldrT="[文本]" custT="1"/>
      <dgm:spPr/>
      <dgm:t>
        <a:bodyPr/>
        <a:lstStyle/>
        <a:p>
          <a:r>
            <a:rPr lang="zh-CN" altLang="en-US" sz="1800" dirty="0"/>
            <a:t>转换后的数据写入到数据仓库中</a:t>
          </a:r>
          <a:endParaRPr lang="zh-CN" altLang="en-US" sz="1200" dirty="0"/>
        </a:p>
      </dgm:t>
    </dgm:pt>
    <dgm:pt modelId="{47CF3A34-A4F8-4AE6-8E8C-8DDA019B069B}" type="parTrans" cxnId="{E68E7B48-5631-4B20-876C-38DBE917C63D}">
      <dgm:prSet/>
      <dgm:spPr/>
      <dgm:t>
        <a:bodyPr/>
        <a:lstStyle/>
        <a:p>
          <a:endParaRPr lang="zh-CN" altLang="en-US"/>
        </a:p>
      </dgm:t>
    </dgm:pt>
    <dgm:pt modelId="{FC57F430-6624-4A58-AF7A-52319D9F576D}" type="sibTrans" cxnId="{E68E7B48-5631-4B20-876C-38DBE917C63D}">
      <dgm:prSet/>
      <dgm:spPr/>
      <dgm:t>
        <a:bodyPr/>
        <a:lstStyle/>
        <a:p>
          <a:endParaRPr lang="zh-CN" altLang="en-US"/>
        </a:p>
      </dgm:t>
    </dgm:pt>
    <dgm:pt modelId="{56EF0D4B-4F90-4542-86D7-D348849931CD}">
      <dgm:prSet phldrT="[文本]" custT="1"/>
      <dgm:spPr/>
      <dgm:t>
        <a:bodyPr/>
        <a:lstStyle/>
        <a:p>
          <a:endParaRPr lang="zh-CN" altLang="en-US" sz="1200" dirty="0"/>
        </a:p>
      </dgm:t>
    </dgm:pt>
    <dgm:pt modelId="{B7AE1BD7-0056-4076-8B0E-8A83C03A11D0}" type="parTrans" cxnId="{8ABDAE99-50C0-4D3F-AC79-36B299613022}">
      <dgm:prSet/>
      <dgm:spPr/>
      <dgm:t>
        <a:bodyPr/>
        <a:lstStyle/>
        <a:p>
          <a:endParaRPr lang="zh-CN" altLang="en-US"/>
        </a:p>
      </dgm:t>
    </dgm:pt>
    <dgm:pt modelId="{5FE5D3CE-F1C5-4F47-B86B-72F8A898726E}" type="sibTrans" cxnId="{8ABDAE99-50C0-4D3F-AC79-36B299613022}">
      <dgm:prSet/>
      <dgm:spPr/>
      <dgm:t>
        <a:bodyPr/>
        <a:lstStyle/>
        <a:p>
          <a:endParaRPr lang="zh-CN" altLang="en-US"/>
        </a:p>
      </dgm:t>
    </dgm:pt>
    <dgm:pt modelId="{487A9785-89B7-4CA1-9A60-9E7CFF244E22}" type="pres">
      <dgm:prSet presAssocID="{30612DFD-B706-4D9A-A722-1A7BDA1CDE8F}" presName="linear" presStyleCnt="0">
        <dgm:presLayoutVars>
          <dgm:animLvl val="lvl"/>
          <dgm:resizeHandles val="exact"/>
        </dgm:presLayoutVars>
      </dgm:prSet>
      <dgm:spPr/>
    </dgm:pt>
    <dgm:pt modelId="{59A6B346-BB8C-4ADF-8325-515B18F388A3}" type="pres">
      <dgm:prSet presAssocID="{FC5F8DF6-52DF-4F6E-B56B-A6653B72AF98}" presName="parentText" presStyleLbl="node1" presStyleIdx="0" presStyleCnt="1" custScaleY="33181" custLinFactNeighborX="-2052" custLinFactNeighborY="-1707">
        <dgm:presLayoutVars>
          <dgm:chMax val="0"/>
          <dgm:bulletEnabled val="1"/>
        </dgm:presLayoutVars>
      </dgm:prSet>
      <dgm:spPr/>
    </dgm:pt>
    <dgm:pt modelId="{D06C6889-BB72-402F-8861-1C72CFD9FAAA}" type="pres">
      <dgm:prSet presAssocID="{FC5F8DF6-52DF-4F6E-B56B-A6653B72AF98}" presName="childText" presStyleLbl="revTx" presStyleIdx="0" presStyleCnt="1" custScaleY="112255">
        <dgm:presLayoutVars>
          <dgm:bulletEnabled val="1"/>
        </dgm:presLayoutVars>
      </dgm:prSet>
      <dgm:spPr/>
    </dgm:pt>
  </dgm:ptLst>
  <dgm:cxnLst>
    <dgm:cxn modelId="{8D6FA102-2F7A-420F-9422-097C792A65A8}" type="presOf" srcId="{FC5F8DF6-52DF-4F6E-B56B-A6653B72AF98}" destId="{59A6B346-BB8C-4ADF-8325-515B18F388A3}" srcOrd="0" destOrd="0" presId="urn:microsoft.com/office/officeart/2005/8/layout/vList2"/>
    <dgm:cxn modelId="{737A4635-136B-4309-9D9D-4DE40A0AF087}" type="presOf" srcId="{56EF0D4B-4F90-4542-86D7-D348849931CD}" destId="{D06C6889-BB72-402F-8861-1C72CFD9FAAA}" srcOrd="0" destOrd="0" presId="urn:microsoft.com/office/officeart/2005/8/layout/vList2"/>
    <dgm:cxn modelId="{D1E35966-3749-472B-B14A-64134D5F23DE}" type="presOf" srcId="{99C08C2F-807B-4E27-8EB1-E718608220FB}" destId="{D06C6889-BB72-402F-8861-1C72CFD9FAAA}" srcOrd="0" destOrd="1" presId="urn:microsoft.com/office/officeart/2005/8/layout/vList2"/>
    <dgm:cxn modelId="{E68E7B48-5631-4B20-876C-38DBE917C63D}" srcId="{FC5F8DF6-52DF-4F6E-B56B-A6653B72AF98}" destId="{99C08C2F-807B-4E27-8EB1-E718608220FB}" srcOrd="1" destOrd="0" parTransId="{47CF3A34-A4F8-4AE6-8E8C-8DDA019B069B}" sibTransId="{FC57F430-6624-4A58-AF7A-52319D9F576D}"/>
    <dgm:cxn modelId="{8ABDAE99-50C0-4D3F-AC79-36B299613022}" srcId="{FC5F8DF6-52DF-4F6E-B56B-A6653B72AF98}" destId="{56EF0D4B-4F90-4542-86D7-D348849931CD}" srcOrd="0" destOrd="0" parTransId="{B7AE1BD7-0056-4076-8B0E-8A83C03A11D0}" sibTransId="{5FE5D3CE-F1C5-4F47-B86B-72F8A898726E}"/>
    <dgm:cxn modelId="{595CEEC8-AEA1-41B1-B6DF-51F4E7821D12}" type="presOf" srcId="{30612DFD-B706-4D9A-A722-1A7BDA1CDE8F}" destId="{487A9785-89B7-4CA1-9A60-9E7CFF244E22}" srcOrd="0" destOrd="0" presId="urn:microsoft.com/office/officeart/2005/8/layout/vList2"/>
    <dgm:cxn modelId="{8ACD9DE2-F3B8-415B-B445-10B80352A236}" srcId="{30612DFD-B706-4D9A-A722-1A7BDA1CDE8F}" destId="{FC5F8DF6-52DF-4F6E-B56B-A6653B72AF98}" srcOrd="0" destOrd="0" parTransId="{ED1A8F75-F7E7-4956-AE02-7C99EC760B6E}" sibTransId="{692E7101-6540-4114-9E1F-1C2056CFF502}"/>
    <dgm:cxn modelId="{0B96F9A5-D4EC-4938-91BA-F0E36600A674}" type="presParOf" srcId="{487A9785-89B7-4CA1-9A60-9E7CFF244E22}" destId="{59A6B346-BB8C-4ADF-8325-515B18F388A3}" srcOrd="0" destOrd="0" presId="urn:microsoft.com/office/officeart/2005/8/layout/vList2"/>
    <dgm:cxn modelId="{57BEC8BC-88FE-4A74-87A3-E2E56026B545}" type="presParOf" srcId="{487A9785-89B7-4CA1-9A60-9E7CFF244E22}" destId="{D06C6889-BB72-402F-8861-1C72CFD9FAA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0612DFD-B706-4D9A-A722-1A7BDA1CDE8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FC5F8DF6-52DF-4F6E-B56B-A6653B72AF98}">
      <dgm:prSet phldrT="[文本]" custT="1"/>
      <dgm:spPr/>
      <dgm:t>
        <a:bodyPr/>
        <a:lstStyle/>
        <a:p>
          <a:r>
            <a:rPr lang="en-US" altLang="zh-CN" sz="2000" dirty="0">
              <a:latin typeface="+mn-ea"/>
              <a:ea typeface="+mn-ea"/>
            </a:rPr>
            <a:t>ETL</a:t>
          </a:r>
          <a:r>
            <a:rPr lang="zh-CN" altLang="en-US" sz="2000" dirty="0">
              <a:latin typeface="+mn-ea"/>
              <a:ea typeface="+mn-ea"/>
            </a:rPr>
            <a:t>工具</a:t>
          </a:r>
          <a:endParaRPr lang="zh-CN" altLang="en-US" sz="2000" dirty="0"/>
        </a:p>
      </dgm:t>
    </dgm:pt>
    <dgm:pt modelId="{ED1A8F75-F7E7-4956-AE02-7C99EC760B6E}" type="par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692E7101-6540-4114-9E1F-1C2056CFF502}" type="sib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5DA048A5-F11E-46B0-BEA2-1D0DAEF65C35}">
      <dgm:prSet phldrT="[文本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sz="1800" dirty="0">
              <a:latin typeface="+mn-ea"/>
            </a:rPr>
            <a:t>架构区分</a:t>
          </a:r>
          <a:endParaRPr lang="zh-CN" altLang="en-US" sz="1200" dirty="0"/>
        </a:p>
      </dgm:t>
    </dgm:pt>
    <dgm:pt modelId="{A0DE7887-F724-474C-88AA-DAB350214237}" type="parTrans" cxnId="{E47F45B3-EB3E-4166-88E3-847AE93CE5C5}">
      <dgm:prSet/>
      <dgm:spPr/>
      <dgm:t>
        <a:bodyPr/>
        <a:lstStyle/>
        <a:p>
          <a:endParaRPr lang="zh-CN" altLang="en-US"/>
        </a:p>
      </dgm:t>
    </dgm:pt>
    <dgm:pt modelId="{934F8BEE-35C6-4A8F-A437-2630475AE583}" type="sibTrans" cxnId="{E47F45B3-EB3E-4166-88E3-847AE93CE5C5}">
      <dgm:prSet/>
      <dgm:spPr/>
      <dgm:t>
        <a:bodyPr/>
        <a:lstStyle/>
        <a:p>
          <a:endParaRPr lang="zh-CN" altLang="en-US"/>
        </a:p>
      </dgm:t>
    </dgm:pt>
    <dgm:pt modelId="{8BCCD227-6D4A-4013-9CF2-67701E95151C}">
      <dgm:prSet phldrT="[文本]" custT="1"/>
      <dgm:spPr/>
      <dgm:t>
        <a:bodyPr/>
        <a:lstStyle/>
        <a:p>
          <a:endParaRPr lang="zh-CN" altLang="en-US" sz="1200" dirty="0"/>
        </a:p>
      </dgm:t>
    </dgm:pt>
    <dgm:pt modelId="{6D5EB7BA-7701-4E87-B80B-E4B9CC7972E4}" type="parTrans" cxnId="{577BB85C-1016-472C-A905-EFB5EA02ADDB}">
      <dgm:prSet/>
      <dgm:spPr/>
      <dgm:t>
        <a:bodyPr/>
        <a:lstStyle/>
        <a:p>
          <a:endParaRPr lang="zh-CN" altLang="en-US"/>
        </a:p>
      </dgm:t>
    </dgm:pt>
    <dgm:pt modelId="{592466BA-8DEF-4B1E-A4E2-CF840F5D532F}" type="sibTrans" cxnId="{577BB85C-1016-472C-A905-EFB5EA02ADDB}">
      <dgm:prSet/>
      <dgm:spPr/>
      <dgm:t>
        <a:bodyPr/>
        <a:lstStyle/>
        <a:p>
          <a:endParaRPr lang="zh-CN" altLang="en-US"/>
        </a:p>
      </dgm:t>
    </dgm:pt>
    <dgm:pt modelId="{487A9785-89B7-4CA1-9A60-9E7CFF244E22}" type="pres">
      <dgm:prSet presAssocID="{30612DFD-B706-4D9A-A722-1A7BDA1CDE8F}" presName="linear" presStyleCnt="0">
        <dgm:presLayoutVars>
          <dgm:animLvl val="lvl"/>
          <dgm:resizeHandles val="exact"/>
        </dgm:presLayoutVars>
      </dgm:prSet>
      <dgm:spPr/>
    </dgm:pt>
    <dgm:pt modelId="{59A6B346-BB8C-4ADF-8325-515B18F388A3}" type="pres">
      <dgm:prSet presAssocID="{FC5F8DF6-52DF-4F6E-B56B-A6653B72AF98}" presName="parentText" presStyleLbl="node1" presStyleIdx="0" presStyleCnt="1" custScaleY="33181" custLinFactNeighborX="-2052" custLinFactNeighborY="-1707">
        <dgm:presLayoutVars>
          <dgm:chMax val="0"/>
          <dgm:bulletEnabled val="1"/>
        </dgm:presLayoutVars>
      </dgm:prSet>
      <dgm:spPr/>
    </dgm:pt>
    <dgm:pt modelId="{D06C6889-BB72-402F-8861-1C72CFD9FAAA}" type="pres">
      <dgm:prSet presAssocID="{FC5F8DF6-52DF-4F6E-B56B-A6653B72AF98}" presName="childText" presStyleLbl="revTx" presStyleIdx="0" presStyleCnt="1" custScaleY="112255">
        <dgm:presLayoutVars>
          <dgm:bulletEnabled val="1"/>
        </dgm:presLayoutVars>
      </dgm:prSet>
      <dgm:spPr/>
    </dgm:pt>
  </dgm:ptLst>
  <dgm:cxnLst>
    <dgm:cxn modelId="{8D6FA102-2F7A-420F-9422-097C792A65A8}" type="presOf" srcId="{FC5F8DF6-52DF-4F6E-B56B-A6653B72AF98}" destId="{59A6B346-BB8C-4ADF-8325-515B18F388A3}" srcOrd="0" destOrd="0" presId="urn:microsoft.com/office/officeart/2005/8/layout/vList2"/>
    <dgm:cxn modelId="{40992209-198B-488B-BD63-3B70D8A11A4F}" type="presOf" srcId="{8BCCD227-6D4A-4013-9CF2-67701E95151C}" destId="{D06C6889-BB72-402F-8861-1C72CFD9FAAA}" srcOrd="0" destOrd="0" presId="urn:microsoft.com/office/officeart/2005/8/layout/vList2"/>
    <dgm:cxn modelId="{577BB85C-1016-472C-A905-EFB5EA02ADDB}" srcId="{FC5F8DF6-52DF-4F6E-B56B-A6653B72AF98}" destId="{8BCCD227-6D4A-4013-9CF2-67701E95151C}" srcOrd="0" destOrd="0" parTransId="{6D5EB7BA-7701-4E87-B80B-E4B9CC7972E4}" sibTransId="{592466BA-8DEF-4B1E-A4E2-CF840F5D532F}"/>
    <dgm:cxn modelId="{E47F45B3-EB3E-4166-88E3-847AE93CE5C5}" srcId="{FC5F8DF6-52DF-4F6E-B56B-A6653B72AF98}" destId="{5DA048A5-F11E-46B0-BEA2-1D0DAEF65C35}" srcOrd="1" destOrd="0" parTransId="{A0DE7887-F724-474C-88AA-DAB350214237}" sibTransId="{934F8BEE-35C6-4A8F-A437-2630475AE583}"/>
    <dgm:cxn modelId="{595CEEC8-AEA1-41B1-B6DF-51F4E7821D12}" type="presOf" srcId="{30612DFD-B706-4D9A-A722-1A7BDA1CDE8F}" destId="{487A9785-89B7-4CA1-9A60-9E7CFF244E22}" srcOrd="0" destOrd="0" presId="urn:microsoft.com/office/officeart/2005/8/layout/vList2"/>
    <dgm:cxn modelId="{8ACD9DE2-F3B8-415B-B445-10B80352A236}" srcId="{30612DFD-B706-4D9A-A722-1A7BDA1CDE8F}" destId="{FC5F8DF6-52DF-4F6E-B56B-A6653B72AF98}" srcOrd="0" destOrd="0" parTransId="{ED1A8F75-F7E7-4956-AE02-7C99EC760B6E}" sibTransId="{692E7101-6540-4114-9E1F-1C2056CFF502}"/>
    <dgm:cxn modelId="{AD0C71EB-836F-412B-9B46-2A80D444913F}" type="presOf" srcId="{5DA048A5-F11E-46B0-BEA2-1D0DAEF65C35}" destId="{D06C6889-BB72-402F-8861-1C72CFD9FAAA}" srcOrd="0" destOrd="1" presId="urn:microsoft.com/office/officeart/2005/8/layout/vList2"/>
    <dgm:cxn modelId="{0B96F9A5-D4EC-4938-91BA-F0E36600A674}" type="presParOf" srcId="{487A9785-89B7-4CA1-9A60-9E7CFF244E22}" destId="{59A6B346-BB8C-4ADF-8325-515B18F388A3}" srcOrd="0" destOrd="0" presId="urn:microsoft.com/office/officeart/2005/8/layout/vList2"/>
    <dgm:cxn modelId="{57BEC8BC-88FE-4A74-87A3-E2E56026B545}" type="presParOf" srcId="{487A9785-89B7-4CA1-9A60-9E7CFF244E22}" destId="{D06C6889-BB72-402F-8861-1C72CFD9FAA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0612DFD-B706-4D9A-A722-1A7BDA1CDE8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FC5F8DF6-52DF-4F6E-B56B-A6653B72AF98}">
      <dgm:prSet phldrT="[文本]" custT="1"/>
      <dgm:spPr/>
      <dgm:t>
        <a:bodyPr/>
        <a:lstStyle/>
        <a:p>
          <a:r>
            <a:rPr lang="en-US" altLang="zh-CN" sz="2000" dirty="0"/>
            <a:t>ETL</a:t>
          </a:r>
          <a:r>
            <a:rPr lang="zh-CN" altLang="en-US" sz="2000" dirty="0"/>
            <a:t>架构</a:t>
          </a:r>
        </a:p>
      </dgm:t>
    </dgm:pt>
    <dgm:pt modelId="{ED1A8F75-F7E7-4956-AE02-7C99EC760B6E}" type="par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692E7101-6540-4114-9E1F-1C2056CFF502}" type="sib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99C08C2F-807B-4E27-8EB1-E718608220FB}">
      <dgm:prSet phldrT="[文本]" custT="1"/>
      <dgm:spPr/>
      <dgm:t>
        <a:bodyPr/>
        <a:lstStyle/>
        <a:p>
          <a:r>
            <a:rPr lang="zh-CN" altLang="en-US" sz="1800" dirty="0"/>
            <a:t>数据从源数据流到</a:t>
          </a:r>
          <a:r>
            <a:rPr lang="en-US" altLang="zh-CN" sz="1800" dirty="0"/>
            <a:t>ETL</a:t>
          </a:r>
          <a:r>
            <a:rPr lang="zh-CN" altLang="en-US" sz="1800" dirty="0"/>
            <a:t>工具，转化后，加载到目标数据仓库中</a:t>
          </a:r>
          <a:endParaRPr lang="zh-CN" altLang="en-US" sz="1200" dirty="0"/>
        </a:p>
      </dgm:t>
    </dgm:pt>
    <dgm:pt modelId="{47CF3A34-A4F8-4AE6-8E8C-8DDA019B069B}" type="parTrans" cxnId="{E68E7B48-5631-4B20-876C-38DBE917C63D}">
      <dgm:prSet/>
      <dgm:spPr/>
      <dgm:t>
        <a:bodyPr/>
        <a:lstStyle/>
        <a:p>
          <a:endParaRPr lang="zh-CN" altLang="en-US"/>
        </a:p>
      </dgm:t>
    </dgm:pt>
    <dgm:pt modelId="{FC57F430-6624-4A58-AF7A-52319D9F576D}" type="sibTrans" cxnId="{E68E7B48-5631-4B20-876C-38DBE917C63D}">
      <dgm:prSet/>
      <dgm:spPr/>
      <dgm:t>
        <a:bodyPr/>
        <a:lstStyle/>
        <a:p>
          <a:endParaRPr lang="zh-CN" altLang="en-US"/>
        </a:p>
      </dgm:t>
    </dgm:pt>
    <dgm:pt modelId="{3D98082C-DF2C-46A9-8463-B5CB2C4E92F7}">
      <dgm:prSet phldrT="[文本]" custT="1"/>
      <dgm:spPr/>
      <dgm:t>
        <a:bodyPr/>
        <a:lstStyle/>
        <a:p>
          <a:endParaRPr lang="zh-CN" altLang="en-US" sz="1200" dirty="0"/>
        </a:p>
      </dgm:t>
    </dgm:pt>
    <dgm:pt modelId="{A6A24B55-DD08-43E2-B312-1E54A501B7CF}" type="parTrans" cxnId="{70B86140-2FB8-47CB-97C6-AD514284EEC1}">
      <dgm:prSet/>
      <dgm:spPr/>
      <dgm:t>
        <a:bodyPr/>
        <a:lstStyle/>
        <a:p>
          <a:endParaRPr lang="zh-CN" altLang="en-US"/>
        </a:p>
      </dgm:t>
    </dgm:pt>
    <dgm:pt modelId="{27A537DA-D1B9-4E16-B4A4-24C49ED9C2C6}" type="sibTrans" cxnId="{70B86140-2FB8-47CB-97C6-AD514284EEC1}">
      <dgm:prSet/>
      <dgm:spPr/>
      <dgm:t>
        <a:bodyPr/>
        <a:lstStyle/>
        <a:p>
          <a:endParaRPr lang="zh-CN" altLang="en-US"/>
        </a:p>
      </dgm:t>
    </dgm:pt>
    <dgm:pt modelId="{487A9785-89B7-4CA1-9A60-9E7CFF244E22}" type="pres">
      <dgm:prSet presAssocID="{30612DFD-B706-4D9A-A722-1A7BDA1CDE8F}" presName="linear" presStyleCnt="0">
        <dgm:presLayoutVars>
          <dgm:animLvl val="lvl"/>
          <dgm:resizeHandles val="exact"/>
        </dgm:presLayoutVars>
      </dgm:prSet>
      <dgm:spPr/>
    </dgm:pt>
    <dgm:pt modelId="{59A6B346-BB8C-4ADF-8325-515B18F388A3}" type="pres">
      <dgm:prSet presAssocID="{FC5F8DF6-52DF-4F6E-B56B-A6653B72AF98}" presName="parentText" presStyleLbl="node1" presStyleIdx="0" presStyleCnt="1" custScaleY="33181" custLinFactNeighborY="-2001">
        <dgm:presLayoutVars>
          <dgm:chMax val="0"/>
          <dgm:bulletEnabled val="1"/>
        </dgm:presLayoutVars>
      </dgm:prSet>
      <dgm:spPr/>
    </dgm:pt>
    <dgm:pt modelId="{D06C6889-BB72-402F-8861-1C72CFD9FAAA}" type="pres">
      <dgm:prSet presAssocID="{FC5F8DF6-52DF-4F6E-B56B-A6653B72AF98}" presName="childText" presStyleLbl="revTx" presStyleIdx="0" presStyleCnt="1" custScaleY="112255">
        <dgm:presLayoutVars>
          <dgm:bulletEnabled val="1"/>
        </dgm:presLayoutVars>
      </dgm:prSet>
      <dgm:spPr/>
    </dgm:pt>
  </dgm:ptLst>
  <dgm:cxnLst>
    <dgm:cxn modelId="{8D6FA102-2F7A-420F-9422-097C792A65A8}" type="presOf" srcId="{FC5F8DF6-52DF-4F6E-B56B-A6653B72AF98}" destId="{59A6B346-BB8C-4ADF-8325-515B18F388A3}" srcOrd="0" destOrd="0" presId="urn:microsoft.com/office/officeart/2005/8/layout/vList2"/>
    <dgm:cxn modelId="{70B86140-2FB8-47CB-97C6-AD514284EEC1}" srcId="{FC5F8DF6-52DF-4F6E-B56B-A6653B72AF98}" destId="{3D98082C-DF2C-46A9-8463-B5CB2C4E92F7}" srcOrd="0" destOrd="0" parTransId="{A6A24B55-DD08-43E2-B312-1E54A501B7CF}" sibTransId="{27A537DA-D1B9-4E16-B4A4-24C49ED9C2C6}"/>
    <dgm:cxn modelId="{D1E35966-3749-472B-B14A-64134D5F23DE}" type="presOf" srcId="{99C08C2F-807B-4E27-8EB1-E718608220FB}" destId="{D06C6889-BB72-402F-8861-1C72CFD9FAAA}" srcOrd="0" destOrd="1" presId="urn:microsoft.com/office/officeart/2005/8/layout/vList2"/>
    <dgm:cxn modelId="{E68E7B48-5631-4B20-876C-38DBE917C63D}" srcId="{FC5F8DF6-52DF-4F6E-B56B-A6653B72AF98}" destId="{99C08C2F-807B-4E27-8EB1-E718608220FB}" srcOrd="1" destOrd="0" parTransId="{47CF3A34-A4F8-4AE6-8E8C-8DDA019B069B}" sibTransId="{FC57F430-6624-4A58-AF7A-52319D9F576D}"/>
    <dgm:cxn modelId="{459AA98C-19F6-42B8-9DCF-C41D53A16A9B}" type="presOf" srcId="{3D98082C-DF2C-46A9-8463-B5CB2C4E92F7}" destId="{D06C6889-BB72-402F-8861-1C72CFD9FAAA}" srcOrd="0" destOrd="0" presId="urn:microsoft.com/office/officeart/2005/8/layout/vList2"/>
    <dgm:cxn modelId="{595CEEC8-AEA1-41B1-B6DF-51F4E7821D12}" type="presOf" srcId="{30612DFD-B706-4D9A-A722-1A7BDA1CDE8F}" destId="{487A9785-89B7-4CA1-9A60-9E7CFF244E22}" srcOrd="0" destOrd="0" presId="urn:microsoft.com/office/officeart/2005/8/layout/vList2"/>
    <dgm:cxn modelId="{8ACD9DE2-F3B8-415B-B445-10B80352A236}" srcId="{30612DFD-B706-4D9A-A722-1A7BDA1CDE8F}" destId="{FC5F8DF6-52DF-4F6E-B56B-A6653B72AF98}" srcOrd="0" destOrd="0" parTransId="{ED1A8F75-F7E7-4956-AE02-7C99EC760B6E}" sibTransId="{692E7101-6540-4114-9E1F-1C2056CFF502}"/>
    <dgm:cxn modelId="{0B96F9A5-D4EC-4938-91BA-F0E36600A674}" type="presParOf" srcId="{487A9785-89B7-4CA1-9A60-9E7CFF244E22}" destId="{59A6B346-BB8C-4ADF-8325-515B18F388A3}" srcOrd="0" destOrd="0" presId="urn:microsoft.com/office/officeart/2005/8/layout/vList2"/>
    <dgm:cxn modelId="{57BEC8BC-88FE-4A74-87A3-E2E56026B545}" type="presParOf" srcId="{487A9785-89B7-4CA1-9A60-9E7CFF244E22}" destId="{D06C6889-BB72-402F-8861-1C72CFD9FAA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0612DFD-B706-4D9A-A722-1A7BDA1CDE8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FC5F8DF6-52DF-4F6E-B56B-A6653B72AF98}">
      <dgm:prSet phldrT="[文本]" custT="1"/>
      <dgm:spPr/>
      <dgm:t>
        <a:bodyPr/>
        <a:lstStyle/>
        <a:p>
          <a:r>
            <a:rPr lang="en-US" altLang="zh-CN" sz="2000" dirty="0"/>
            <a:t>ELT</a:t>
          </a:r>
          <a:r>
            <a:rPr lang="zh-CN" altLang="en-US" sz="2000" dirty="0"/>
            <a:t>架构</a:t>
          </a:r>
        </a:p>
      </dgm:t>
    </dgm:pt>
    <dgm:pt modelId="{ED1A8F75-F7E7-4956-AE02-7C99EC760B6E}" type="par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692E7101-6540-4114-9E1F-1C2056CFF502}" type="sib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8DA660D5-0B6F-4248-BED5-4BD37666CC3F}">
      <dgm:prSet phldrT="[文本]" custT="1"/>
      <dgm:spPr/>
      <dgm:t>
        <a:bodyPr/>
        <a:lstStyle/>
        <a:p>
          <a:r>
            <a:rPr lang="zh-CN" altLang="en-US" sz="1800" dirty="0"/>
            <a:t>工具只设计业务规则，</a:t>
          </a:r>
          <a:r>
            <a:rPr lang="zh-CN" altLang="en-US" sz="1800" b="0" i="0" dirty="0"/>
            <a:t>数据的整个加工过程都在目标和源的数据库之间流动，</a:t>
          </a:r>
          <a:r>
            <a:rPr lang="zh-CN" altLang="en-US" sz="1800" dirty="0"/>
            <a:t>负责协调数据库执行操作，数据的加工过程可在源数据库端或目标数据仓库端执行</a:t>
          </a:r>
        </a:p>
      </dgm:t>
    </dgm:pt>
    <dgm:pt modelId="{E11E0A4D-E276-424B-9B28-0C7A27D67E0F}" type="sibTrans" cxnId="{58D02477-9AE9-4002-BCBF-596897778A09}">
      <dgm:prSet/>
      <dgm:spPr/>
      <dgm:t>
        <a:bodyPr/>
        <a:lstStyle/>
        <a:p>
          <a:endParaRPr lang="zh-CN" altLang="en-US"/>
        </a:p>
      </dgm:t>
    </dgm:pt>
    <dgm:pt modelId="{46738B9A-6C26-420B-B8F0-74248F0D97EA}" type="parTrans" cxnId="{58D02477-9AE9-4002-BCBF-596897778A09}">
      <dgm:prSet/>
      <dgm:spPr/>
      <dgm:t>
        <a:bodyPr/>
        <a:lstStyle/>
        <a:p>
          <a:endParaRPr lang="zh-CN" altLang="en-US"/>
        </a:p>
      </dgm:t>
    </dgm:pt>
    <dgm:pt modelId="{494D4C94-02D9-4D8E-98DC-F387FDE4D825}">
      <dgm:prSet phldrT="[文本]" custT="1"/>
      <dgm:spPr/>
      <dgm:t>
        <a:bodyPr/>
        <a:lstStyle/>
        <a:p>
          <a:endParaRPr lang="zh-CN" altLang="en-US" sz="1800" dirty="0"/>
        </a:p>
      </dgm:t>
    </dgm:pt>
    <dgm:pt modelId="{0DD0D46A-539E-4BFA-ABAF-38DAB6EEE277}" type="parTrans" cxnId="{C51707AF-81C4-4CE2-B42C-583F0E574324}">
      <dgm:prSet/>
      <dgm:spPr/>
      <dgm:t>
        <a:bodyPr/>
        <a:lstStyle/>
        <a:p>
          <a:endParaRPr lang="zh-CN" altLang="en-US"/>
        </a:p>
      </dgm:t>
    </dgm:pt>
    <dgm:pt modelId="{6EBC9286-A39D-424E-85E9-ABEBDEAC222E}" type="sibTrans" cxnId="{C51707AF-81C4-4CE2-B42C-583F0E574324}">
      <dgm:prSet/>
      <dgm:spPr/>
      <dgm:t>
        <a:bodyPr/>
        <a:lstStyle/>
        <a:p>
          <a:endParaRPr lang="zh-CN" altLang="en-US"/>
        </a:p>
      </dgm:t>
    </dgm:pt>
    <dgm:pt modelId="{487A9785-89B7-4CA1-9A60-9E7CFF244E22}" type="pres">
      <dgm:prSet presAssocID="{30612DFD-B706-4D9A-A722-1A7BDA1CDE8F}" presName="linear" presStyleCnt="0">
        <dgm:presLayoutVars>
          <dgm:animLvl val="lvl"/>
          <dgm:resizeHandles val="exact"/>
        </dgm:presLayoutVars>
      </dgm:prSet>
      <dgm:spPr/>
    </dgm:pt>
    <dgm:pt modelId="{59A6B346-BB8C-4ADF-8325-515B18F388A3}" type="pres">
      <dgm:prSet presAssocID="{FC5F8DF6-52DF-4F6E-B56B-A6653B72AF98}" presName="parentText" presStyleLbl="node1" presStyleIdx="0" presStyleCnt="1" custScaleY="34033" custLinFactNeighborY="-1206">
        <dgm:presLayoutVars>
          <dgm:chMax val="0"/>
          <dgm:bulletEnabled val="1"/>
        </dgm:presLayoutVars>
      </dgm:prSet>
      <dgm:spPr/>
    </dgm:pt>
    <dgm:pt modelId="{D06C6889-BB72-402F-8861-1C72CFD9FAAA}" type="pres">
      <dgm:prSet presAssocID="{FC5F8DF6-52DF-4F6E-B56B-A6653B72AF98}" presName="childText" presStyleLbl="revTx" presStyleIdx="0" presStyleCnt="1" custScaleY="112255">
        <dgm:presLayoutVars>
          <dgm:bulletEnabled val="1"/>
        </dgm:presLayoutVars>
      </dgm:prSet>
      <dgm:spPr/>
    </dgm:pt>
  </dgm:ptLst>
  <dgm:cxnLst>
    <dgm:cxn modelId="{8D6FA102-2F7A-420F-9422-097C792A65A8}" type="presOf" srcId="{FC5F8DF6-52DF-4F6E-B56B-A6653B72AF98}" destId="{59A6B346-BB8C-4ADF-8325-515B18F388A3}" srcOrd="0" destOrd="0" presId="urn:microsoft.com/office/officeart/2005/8/layout/vList2"/>
    <dgm:cxn modelId="{58D02477-9AE9-4002-BCBF-596897778A09}" srcId="{FC5F8DF6-52DF-4F6E-B56B-A6653B72AF98}" destId="{8DA660D5-0B6F-4248-BED5-4BD37666CC3F}" srcOrd="1" destOrd="0" parTransId="{46738B9A-6C26-420B-B8F0-74248F0D97EA}" sibTransId="{E11E0A4D-E276-424B-9B28-0C7A27D67E0F}"/>
    <dgm:cxn modelId="{3369F057-E6F5-4C09-8095-1875C8828FE3}" type="presOf" srcId="{494D4C94-02D9-4D8E-98DC-F387FDE4D825}" destId="{D06C6889-BB72-402F-8861-1C72CFD9FAAA}" srcOrd="0" destOrd="0" presId="urn:microsoft.com/office/officeart/2005/8/layout/vList2"/>
    <dgm:cxn modelId="{C51707AF-81C4-4CE2-B42C-583F0E574324}" srcId="{FC5F8DF6-52DF-4F6E-B56B-A6653B72AF98}" destId="{494D4C94-02D9-4D8E-98DC-F387FDE4D825}" srcOrd="0" destOrd="0" parTransId="{0DD0D46A-539E-4BFA-ABAF-38DAB6EEE277}" sibTransId="{6EBC9286-A39D-424E-85E9-ABEBDEAC222E}"/>
    <dgm:cxn modelId="{595CEEC8-AEA1-41B1-B6DF-51F4E7821D12}" type="presOf" srcId="{30612DFD-B706-4D9A-A722-1A7BDA1CDE8F}" destId="{487A9785-89B7-4CA1-9A60-9E7CFF244E22}" srcOrd="0" destOrd="0" presId="urn:microsoft.com/office/officeart/2005/8/layout/vList2"/>
    <dgm:cxn modelId="{8ACD9DE2-F3B8-415B-B445-10B80352A236}" srcId="{30612DFD-B706-4D9A-A722-1A7BDA1CDE8F}" destId="{FC5F8DF6-52DF-4F6E-B56B-A6653B72AF98}" srcOrd="0" destOrd="0" parTransId="{ED1A8F75-F7E7-4956-AE02-7C99EC760B6E}" sibTransId="{692E7101-6540-4114-9E1F-1C2056CFF502}"/>
    <dgm:cxn modelId="{717F61F1-7D62-47BA-8D72-11BAB42AF2B8}" type="presOf" srcId="{8DA660D5-0B6F-4248-BED5-4BD37666CC3F}" destId="{D06C6889-BB72-402F-8861-1C72CFD9FAAA}" srcOrd="0" destOrd="1" presId="urn:microsoft.com/office/officeart/2005/8/layout/vList2"/>
    <dgm:cxn modelId="{0B96F9A5-D4EC-4938-91BA-F0E36600A674}" type="presParOf" srcId="{487A9785-89B7-4CA1-9A60-9E7CFF244E22}" destId="{59A6B346-BB8C-4ADF-8325-515B18F388A3}" srcOrd="0" destOrd="0" presId="urn:microsoft.com/office/officeart/2005/8/layout/vList2"/>
    <dgm:cxn modelId="{57BEC8BC-88FE-4A74-87A3-E2E56026B545}" type="presParOf" srcId="{487A9785-89B7-4CA1-9A60-9E7CFF244E22}" destId="{D06C6889-BB72-402F-8861-1C72CFD9FAA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0612DFD-B706-4D9A-A722-1A7BDA1CDE8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FC5F8DF6-52DF-4F6E-B56B-A6653B72AF98}">
      <dgm:prSet phldrT="[文本]" custT="1"/>
      <dgm:spPr/>
      <dgm:t>
        <a:bodyPr/>
        <a:lstStyle/>
        <a:p>
          <a:r>
            <a:rPr lang="en-US" altLang="zh-CN" sz="2000" dirty="0"/>
            <a:t>ETL</a:t>
          </a:r>
          <a:r>
            <a:rPr lang="zh-CN" altLang="en-US" sz="2000" dirty="0"/>
            <a:t>产品</a:t>
          </a:r>
        </a:p>
      </dgm:t>
    </dgm:pt>
    <dgm:pt modelId="{ED1A8F75-F7E7-4956-AE02-7C99EC760B6E}" type="par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692E7101-6540-4114-9E1F-1C2056CFF502}" type="sib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487A9785-89B7-4CA1-9A60-9E7CFF244E22}" type="pres">
      <dgm:prSet presAssocID="{30612DFD-B706-4D9A-A722-1A7BDA1CDE8F}" presName="linear" presStyleCnt="0">
        <dgm:presLayoutVars>
          <dgm:animLvl val="lvl"/>
          <dgm:resizeHandles val="exact"/>
        </dgm:presLayoutVars>
      </dgm:prSet>
      <dgm:spPr/>
    </dgm:pt>
    <dgm:pt modelId="{59A6B346-BB8C-4ADF-8325-515B18F388A3}" type="pres">
      <dgm:prSet presAssocID="{FC5F8DF6-52DF-4F6E-B56B-A6653B72AF98}" presName="parentText" presStyleLbl="node1" presStyleIdx="0" presStyleCnt="1" custScaleY="38525" custLinFactY="-16836" custLinFactNeighborY="-100000">
        <dgm:presLayoutVars>
          <dgm:chMax val="0"/>
          <dgm:bulletEnabled val="1"/>
        </dgm:presLayoutVars>
      </dgm:prSet>
      <dgm:spPr/>
    </dgm:pt>
  </dgm:ptLst>
  <dgm:cxnLst>
    <dgm:cxn modelId="{8D6FA102-2F7A-420F-9422-097C792A65A8}" type="presOf" srcId="{FC5F8DF6-52DF-4F6E-B56B-A6653B72AF98}" destId="{59A6B346-BB8C-4ADF-8325-515B18F388A3}" srcOrd="0" destOrd="0" presId="urn:microsoft.com/office/officeart/2005/8/layout/vList2"/>
    <dgm:cxn modelId="{595CEEC8-AEA1-41B1-B6DF-51F4E7821D12}" type="presOf" srcId="{30612DFD-B706-4D9A-A722-1A7BDA1CDE8F}" destId="{487A9785-89B7-4CA1-9A60-9E7CFF244E22}" srcOrd="0" destOrd="0" presId="urn:microsoft.com/office/officeart/2005/8/layout/vList2"/>
    <dgm:cxn modelId="{8ACD9DE2-F3B8-415B-B445-10B80352A236}" srcId="{30612DFD-B706-4D9A-A722-1A7BDA1CDE8F}" destId="{FC5F8DF6-52DF-4F6E-B56B-A6653B72AF98}" srcOrd="0" destOrd="0" parTransId="{ED1A8F75-F7E7-4956-AE02-7C99EC760B6E}" sibTransId="{692E7101-6540-4114-9E1F-1C2056CFF502}"/>
    <dgm:cxn modelId="{0B96F9A5-D4EC-4938-91BA-F0E36600A674}" type="presParOf" srcId="{487A9785-89B7-4CA1-9A60-9E7CFF244E22}" destId="{59A6B346-BB8C-4ADF-8325-515B18F388A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0612DFD-B706-4D9A-A722-1A7BDA1CDE8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FC5F8DF6-52DF-4F6E-B56B-A6653B72AF98}">
      <dgm:prSet phldrT="[文本]" custT="1"/>
      <dgm:spPr/>
      <dgm:t>
        <a:bodyPr/>
        <a:lstStyle/>
        <a:p>
          <a:r>
            <a:rPr lang="en-US" altLang="zh-CN" sz="2000" dirty="0"/>
            <a:t>ETL</a:t>
          </a:r>
          <a:r>
            <a:rPr lang="zh-CN" altLang="en-US" sz="2000" dirty="0"/>
            <a:t>产品</a:t>
          </a:r>
        </a:p>
      </dgm:t>
    </dgm:pt>
    <dgm:pt modelId="{ED1A8F75-F7E7-4956-AE02-7C99EC760B6E}" type="par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692E7101-6540-4114-9E1F-1C2056CFF502}" type="sib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487A9785-89B7-4CA1-9A60-9E7CFF244E22}" type="pres">
      <dgm:prSet presAssocID="{30612DFD-B706-4D9A-A722-1A7BDA1CDE8F}" presName="linear" presStyleCnt="0">
        <dgm:presLayoutVars>
          <dgm:animLvl val="lvl"/>
          <dgm:resizeHandles val="exact"/>
        </dgm:presLayoutVars>
      </dgm:prSet>
      <dgm:spPr/>
    </dgm:pt>
    <dgm:pt modelId="{59A6B346-BB8C-4ADF-8325-515B18F388A3}" type="pres">
      <dgm:prSet presAssocID="{FC5F8DF6-52DF-4F6E-B56B-A6653B72AF98}" presName="parentText" presStyleLbl="node1" presStyleIdx="0" presStyleCnt="1" custScaleY="38525" custLinFactY="-16836" custLinFactNeighborY="-100000">
        <dgm:presLayoutVars>
          <dgm:chMax val="0"/>
          <dgm:bulletEnabled val="1"/>
        </dgm:presLayoutVars>
      </dgm:prSet>
      <dgm:spPr/>
    </dgm:pt>
  </dgm:ptLst>
  <dgm:cxnLst>
    <dgm:cxn modelId="{8D6FA102-2F7A-420F-9422-097C792A65A8}" type="presOf" srcId="{FC5F8DF6-52DF-4F6E-B56B-A6653B72AF98}" destId="{59A6B346-BB8C-4ADF-8325-515B18F388A3}" srcOrd="0" destOrd="0" presId="urn:microsoft.com/office/officeart/2005/8/layout/vList2"/>
    <dgm:cxn modelId="{595CEEC8-AEA1-41B1-B6DF-51F4E7821D12}" type="presOf" srcId="{30612DFD-B706-4D9A-A722-1A7BDA1CDE8F}" destId="{487A9785-89B7-4CA1-9A60-9E7CFF244E22}" srcOrd="0" destOrd="0" presId="urn:microsoft.com/office/officeart/2005/8/layout/vList2"/>
    <dgm:cxn modelId="{8ACD9DE2-F3B8-415B-B445-10B80352A236}" srcId="{30612DFD-B706-4D9A-A722-1A7BDA1CDE8F}" destId="{FC5F8DF6-52DF-4F6E-B56B-A6653B72AF98}" srcOrd="0" destOrd="0" parTransId="{ED1A8F75-F7E7-4956-AE02-7C99EC760B6E}" sibTransId="{692E7101-6540-4114-9E1F-1C2056CFF502}"/>
    <dgm:cxn modelId="{0B96F9A5-D4EC-4938-91BA-F0E36600A674}" type="presParOf" srcId="{487A9785-89B7-4CA1-9A60-9E7CFF244E22}" destId="{59A6B346-BB8C-4ADF-8325-515B18F388A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0612DFD-B706-4D9A-A722-1A7BDA1CDE8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FC5F8DF6-52DF-4F6E-B56B-A6653B72AF98}">
      <dgm:prSet phldrT="[文本]" custT="1"/>
      <dgm:spPr/>
      <dgm:t>
        <a:bodyPr/>
        <a:lstStyle/>
        <a:p>
          <a:r>
            <a:rPr lang="en-US" altLang="zh-CN" sz="2000" dirty="0">
              <a:latin typeface="+mn-ea"/>
              <a:ea typeface="+mn-ea"/>
            </a:rPr>
            <a:t>PowerCenter</a:t>
          </a:r>
          <a:r>
            <a:rPr lang="zh-CN" altLang="en-US" sz="2000" dirty="0">
              <a:latin typeface="+mn-ea"/>
              <a:ea typeface="+mn-ea"/>
            </a:rPr>
            <a:t>与</a:t>
          </a:r>
          <a:r>
            <a:rPr lang="en-US" altLang="zh-CN" sz="2000" b="1" i="0" dirty="0">
              <a:solidFill>
                <a:schemeClr val="lt1"/>
              </a:solidFill>
              <a:effectLst/>
              <a:latin typeface="+mn-ea"/>
              <a:ea typeface="+mn-ea"/>
              <a:cs typeface="+mn-cs"/>
            </a:rPr>
            <a:t>Kettle</a:t>
          </a:r>
          <a:r>
            <a:rPr lang="zh-CN" altLang="en-US" sz="2000" b="1" i="0" dirty="0">
              <a:solidFill>
                <a:schemeClr val="lt1"/>
              </a:solidFill>
              <a:effectLst/>
              <a:latin typeface="+mn-ea"/>
              <a:ea typeface="+mn-ea"/>
              <a:cs typeface="+mn-cs"/>
            </a:rPr>
            <a:t>比较</a:t>
          </a:r>
          <a:endParaRPr lang="zh-CN" altLang="en-US" sz="2000" dirty="0"/>
        </a:p>
      </dgm:t>
    </dgm:pt>
    <dgm:pt modelId="{ED1A8F75-F7E7-4956-AE02-7C99EC760B6E}" type="par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692E7101-6540-4114-9E1F-1C2056CFF502}" type="sib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487A9785-89B7-4CA1-9A60-9E7CFF244E22}" type="pres">
      <dgm:prSet presAssocID="{30612DFD-B706-4D9A-A722-1A7BDA1CDE8F}" presName="linear" presStyleCnt="0">
        <dgm:presLayoutVars>
          <dgm:animLvl val="lvl"/>
          <dgm:resizeHandles val="exact"/>
        </dgm:presLayoutVars>
      </dgm:prSet>
      <dgm:spPr/>
    </dgm:pt>
    <dgm:pt modelId="{59A6B346-BB8C-4ADF-8325-515B18F388A3}" type="pres">
      <dgm:prSet presAssocID="{FC5F8DF6-52DF-4F6E-B56B-A6653B72AF98}" presName="parentText" presStyleLbl="node1" presStyleIdx="0" presStyleCnt="1" custScaleY="38525" custLinFactY="-16836" custLinFactNeighborY="-100000">
        <dgm:presLayoutVars>
          <dgm:chMax val="0"/>
          <dgm:bulletEnabled val="1"/>
        </dgm:presLayoutVars>
      </dgm:prSet>
      <dgm:spPr/>
    </dgm:pt>
  </dgm:ptLst>
  <dgm:cxnLst>
    <dgm:cxn modelId="{8D6FA102-2F7A-420F-9422-097C792A65A8}" type="presOf" srcId="{FC5F8DF6-52DF-4F6E-B56B-A6653B72AF98}" destId="{59A6B346-BB8C-4ADF-8325-515B18F388A3}" srcOrd="0" destOrd="0" presId="urn:microsoft.com/office/officeart/2005/8/layout/vList2"/>
    <dgm:cxn modelId="{595CEEC8-AEA1-41B1-B6DF-51F4E7821D12}" type="presOf" srcId="{30612DFD-B706-4D9A-A722-1A7BDA1CDE8F}" destId="{487A9785-89B7-4CA1-9A60-9E7CFF244E22}" srcOrd="0" destOrd="0" presId="urn:microsoft.com/office/officeart/2005/8/layout/vList2"/>
    <dgm:cxn modelId="{8ACD9DE2-F3B8-415B-B445-10B80352A236}" srcId="{30612DFD-B706-4D9A-A722-1A7BDA1CDE8F}" destId="{FC5F8DF6-52DF-4F6E-B56B-A6653B72AF98}" srcOrd="0" destOrd="0" parTransId="{ED1A8F75-F7E7-4956-AE02-7C99EC760B6E}" sibTransId="{692E7101-6540-4114-9E1F-1C2056CFF502}"/>
    <dgm:cxn modelId="{0B96F9A5-D4EC-4938-91BA-F0E36600A674}" type="presParOf" srcId="{487A9785-89B7-4CA1-9A60-9E7CFF244E22}" destId="{59A6B346-BB8C-4ADF-8325-515B18F388A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0612DFD-B706-4D9A-A722-1A7BDA1CDE8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FC5F8DF6-52DF-4F6E-B56B-A6653B72AF98}">
      <dgm:prSet phldrT="[文本]" custT="1"/>
      <dgm:spPr/>
      <dgm:t>
        <a:bodyPr/>
        <a:lstStyle/>
        <a:p>
          <a:r>
            <a:rPr lang="en-US" altLang="zh-CN" sz="2000" dirty="0"/>
            <a:t>ETL</a:t>
          </a:r>
          <a:r>
            <a:rPr lang="zh-CN" altLang="en-US" sz="2000" dirty="0"/>
            <a:t>产品</a:t>
          </a:r>
        </a:p>
      </dgm:t>
    </dgm:pt>
    <dgm:pt modelId="{ED1A8F75-F7E7-4956-AE02-7C99EC760B6E}" type="par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692E7101-6540-4114-9E1F-1C2056CFF502}" type="sib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487A9785-89B7-4CA1-9A60-9E7CFF244E22}" type="pres">
      <dgm:prSet presAssocID="{30612DFD-B706-4D9A-A722-1A7BDA1CDE8F}" presName="linear" presStyleCnt="0">
        <dgm:presLayoutVars>
          <dgm:animLvl val="lvl"/>
          <dgm:resizeHandles val="exact"/>
        </dgm:presLayoutVars>
      </dgm:prSet>
      <dgm:spPr/>
    </dgm:pt>
    <dgm:pt modelId="{59A6B346-BB8C-4ADF-8325-515B18F388A3}" type="pres">
      <dgm:prSet presAssocID="{FC5F8DF6-52DF-4F6E-B56B-A6653B72AF98}" presName="parentText" presStyleLbl="node1" presStyleIdx="0" presStyleCnt="1" custScaleY="38525" custLinFactY="-16836" custLinFactNeighborY="-100000">
        <dgm:presLayoutVars>
          <dgm:chMax val="0"/>
          <dgm:bulletEnabled val="1"/>
        </dgm:presLayoutVars>
      </dgm:prSet>
      <dgm:spPr/>
    </dgm:pt>
  </dgm:ptLst>
  <dgm:cxnLst>
    <dgm:cxn modelId="{8D6FA102-2F7A-420F-9422-097C792A65A8}" type="presOf" srcId="{FC5F8DF6-52DF-4F6E-B56B-A6653B72AF98}" destId="{59A6B346-BB8C-4ADF-8325-515B18F388A3}" srcOrd="0" destOrd="0" presId="urn:microsoft.com/office/officeart/2005/8/layout/vList2"/>
    <dgm:cxn modelId="{595CEEC8-AEA1-41B1-B6DF-51F4E7821D12}" type="presOf" srcId="{30612DFD-B706-4D9A-A722-1A7BDA1CDE8F}" destId="{487A9785-89B7-4CA1-9A60-9E7CFF244E22}" srcOrd="0" destOrd="0" presId="urn:microsoft.com/office/officeart/2005/8/layout/vList2"/>
    <dgm:cxn modelId="{8ACD9DE2-F3B8-415B-B445-10B80352A236}" srcId="{30612DFD-B706-4D9A-A722-1A7BDA1CDE8F}" destId="{FC5F8DF6-52DF-4F6E-B56B-A6653B72AF98}" srcOrd="0" destOrd="0" parTransId="{ED1A8F75-F7E7-4956-AE02-7C99EC760B6E}" sibTransId="{692E7101-6540-4114-9E1F-1C2056CFF502}"/>
    <dgm:cxn modelId="{0B96F9A5-D4EC-4938-91BA-F0E36600A674}" type="presParOf" srcId="{487A9785-89B7-4CA1-9A60-9E7CFF244E22}" destId="{59A6B346-BB8C-4ADF-8325-515B18F388A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0612DFD-B706-4D9A-A722-1A7BDA1CDE8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FC5F8DF6-52DF-4F6E-B56B-A6653B72AF98}">
      <dgm:prSet phldrT="[文本]" custT="1"/>
      <dgm:spPr/>
      <dgm:t>
        <a:bodyPr/>
        <a:lstStyle/>
        <a:p>
          <a:r>
            <a:rPr lang="en-US" altLang="zh-CN" sz="2000" dirty="0"/>
            <a:t>ELT</a:t>
          </a:r>
          <a:r>
            <a:rPr lang="zh-CN" altLang="en-US" sz="2000" dirty="0"/>
            <a:t>产品选择</a:t>
          </a:r>
        </a:p>
      </dgm:t>
    </dgm:pt>
    <dgm:pt modelId="{ED1A8F75-F7E7-4956-AE02-7C99EC760B6E}" type="par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692E7101-6540-4114-9E1F-1C2056CFF502}" type="sibTrans" cxnId="{8ACD9DE2-F3B8-415B-B445-10B80352A236}">
      <dgm:prSet/>
      <dgm:spPr/>
      <dgm:t>
        <a:bodyPr/>
        <a:lstStyle/>
        <a:p>
          <a:endParaRPr lang="zh-CN" altLang="en-US"/>
        </a:p>
      </dgm:t>
    </dgm:pt>
    <dgm:pt modelId="{487A9785-89B7-4CA1-9A60-9E7CFF244E22}" type="pres">
      <dgm:prSet presAssocID="{30612DFD-B706-4D9A-A722-1A7BDA1CDE8F}" presName="linear" presStyleCnt="0">
        <dgm:presLayoutVars>
          <dgm:animLvl val="lvl"/>
          <dgm:resizeHandles val="exact"/>
        </dgm:presLayoutVars>
      </dgm:prSet>
      <dgm:spPr/>
    </dgm:pt>
    <dgm:pt modelId="{59A6B346-BB8C-4ADF-8325-515B18F388A3}" type="pres">
      <dgm:prSet presAssocID="{FC5F8DF6-52DF-4F6E-B56B-A6653B72AF98}" presName="parentText" presStyleLbl="node1" presStyleIdx="0" presStyleCnt="1" custScaleY="38525" custLinFactY="-16836" custLinFactNeighborY="-100000">
        <dgm:presLayoutVars>
          <dgm:chMax val="0"/>
          <dgm:bulletEnabled val="1"/>
        </dgm:presLayoutVars>
      </dgm:prSet>
      <dgm:spPr/>
    </dgm:pt>
  </dgm:ptLst>
  <dgm:cxnLst>
    <dgm:cxn modelId="{8D6FA102-2F7A-420F-9422-097C792A65A8}" type="presOf" srcId="{FC5F8DF6-52DF-4F6E-B56B-A6653B72AF98}" destId="{59A6B346-BB8C-4ADF-8325-515B18F388A3}" srcOrd="0" destOrd="0" presId="urn:microsoft.com/office/officeart/2005/8/layout/vList2"/>
    <dgm:cxn modelId="{595CEEC8-AEA1-41B1-B6DF-51F4E7821D12}" type="presOf" srcId="{30612DFD-B706-4D9A-A722-1A7BDA1CDE8F}" destId="{487A9785-89B7-4CA1-9A60-9E7CFF244E22}" srcOrd="0" destOrd="0" presId="urn:microsoft.com/office/officeart/2005/8/layout/vList2"/>
    <dgm:cxn modelId="{8ACD9DE2-F3B8-415B-B445-10B80352A236}" srcId="{30612DFD-B706-4D9A-A722-1A7BDA1CDE8F}" destId="{FC5F8DF6-52DF-4F6E-B56B-A6653B72AF98}" srcOrd="0" destOrd="0" parTransId="{ED1A8F75-F7E7-4956-AE02-7C99EC760B6E}" sibTransId="{692E7101-6540-4114-9E1F-1C2056CFF502}"/>
    <dgm:cxn modelId="{0B96F9A5-D4EC-4938-91BA-F0E36600A674}" type="presParOf" srcId="{487A9785-89B7-4CA1-9A60-9E7CFF244E22}" destId="{59A6B346-BB8C-4ADF-8325-515B18F388A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6B346-BB8C-4ADF-8325-515B18F388A3}">
      <dsp:nvSpPr>
        <dsp:cNvPr id="0" name=""/>
        <dsp:cNvSpPr/>
      </dsp:nvSpPr>
      <dsp:spPr>
        <a:xfrm>
          <a:off x="0" y="0"/>
          <a:ext cx="7391669" cy="48473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定义</a:t>
          </a:r>
        </a:p>
      </dsp:txBody>
      <dsp:txXfrm>
        <a:off x="23663" y="23663"/>
        <a:ext cx="7344343" cy="437411"/>
      </dsp:txXfrm>
    </dsp:sp>
    <dsp:sp modelId="{D06C6889-BB72-402F-8861-1C72CFD9FAAA}">
      <dsp:nvSpPr>
        <dsp:cNvPr id="0" name=""/>
        <dsp:cNvSpPr/>
      </dsp:nvSpPr>
      <dsp:spPr>
        <a:xfrm>
          <a:off x="0" y="485662"/>
          <a:ext cx="7391669" cy="1006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85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zh-CN" altLang="en-US" sz="12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800" kern="1200" dirty="0">
              <a:latin typeface="+mn-ea"/>
            </a:rPr>
            <a:t>Extract-</a:t>
          </a:r>
          <a:r>
            <a:rPr lang="en-US" altLang="zh-CN" sz="1800" kern="1200" dirty="0" err="1">
              <a:latin typeface="+mn-ea"/>
            </a:rPr>
            <a:t>Transfrom</a:t>
          </a:r>
          <a:r>
            <a:rPr lang="en-US" altLang="zh-CN" sz="1800" kern="1200" dirty="0">
              <a:latin typeface="+mn-ea"/>
            </a:rPr>
            <a:t>-Load</a:t>
          </a:r>
          <a:r>
            <a:rPr lang="zh-CN" altLang="en-US" sz="1800" kern="1200" dirty="0">
              <a:latin typeface="+mn-ea"/>
            </a:rPr>
            <a:t>的缩写，用来描述数据从来源端经过抽取（</a:t>
          </a:r>
          <a:r>
            <a:rPr lang="en-US" altLang="zh-CN" sz="1800" kern="1200" dirty="0">
              <a:latin typeface="+mn-ea"/>
            </a:rPr>
            <a:t>extract</a:t>
          </a:r>
          <a:r>
            <a:rPr lang="zh-CN" altLang="en-US" sz="1800" kern="1200" dirty="0">
              <a:latin typeface="+mn-ea"/>
            </a:rPr>
            <a:t>）、转换（</a:t>
          </a:r>
          <a:r>
            <a:rPr lang="en-US" altLang="zh-CN" sz="1800" kern="1200" dirty="0" err="1">
              <a:latin typeface="+mn-ea"/>
            </a:rPr>
            <a:t>transfrom</a:t>
          </a:r>
          <a:r>
            <a:rPr lang="zh-CN" altLang="en-US" sz="1800" kern="1200" dirty="0">
              <a:latin typeface="+mn-ea"/>
            </a:rPr>
            <a:t>）、加载（</a:t>
          </a:r>
          <a:r>
            <a:rPr lang="en-US" altLang="zh-CN" sz="1800" kern="1200" dirty="0">
              <a:latin typeface="+mn-ea"/>
            </a:rPr>
            <a:t>load</a:t>
          </a:r>
          <a:r>
            <a:rPr lang="zh-CN" altLang="en-US" sz="1800" kern="1200" dirty="0">
              <a:latin typeface="+mn-ea"/>
            </a:rPr>
            <a:t>）到目的端的过程。常用于数据仓库。</a:t>
          </a:r>
          <a:endParaRPr lang="zh-CN" altLang="en-US" sz="1200" kern="1200" dirty="0"/>
        </a:p>
      </dsp:txBody>
      <dsp:txXfrm>
        <a:off x="0" y="485662"/>
        <a:ext cx="7391669" cy="10065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6B346-BB8C-4ADF-8325-515B18F388A3}">
      <dsp:nvSpPr>
        <dsp:cNvPr id="0" name=""/>
        <dsp:cNvSpPr/>
      </dsp:nvSpPr>
      <dsp:spPr>
        <a:xfrm>
          <a:off x="0" y="742"/>
          <a:ext cx="7182318" cy="3502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+mn-ea"/>
              <a:ea typeface="+mn-ea"/>
            </a:rPr>
            <a:t>数据仓库（</a:t>
          </a:r>
          <a:r>
            <a:rPr lang="en-US" altLang="zh-CN" sz="2000" kern="1200" dirty="0">
              <a:latin typeface="+mn-ea"/>
              <a:ea typeface="+mn-ea"/>
            </a:rPr>
            <a:t>DW</a:t>
          </a:r>
          <a:r>
            <a:rPr lang="zh-CN" altLang="en-US" sz="2000" kern="1200" dirty="0">
              <a:latin typeface="+mn-ea"/>
              <a:ea typeface="+mn-ea"/>
            </a:rPr>
            <a:t>）</a:t>
          </a:r>
          <a:endParaRPr lang="zh-CN" altLang="en-US" sz="2000" kern="1200" dirty="0"/>
        </a:p>
      </dsp:txBody>
      <dsp:txXfrm>
        <a:off x="17096" y="17838"/>
        <a:ext cx="7148126" cy="316030"/>
      </dsp:txXfrm>
    </dsp:sp>
    <dsp:sp modelId="{D06C6889-BB72-402F-8861-1C72CFD9FAAA}">
      <dsp:nvSpPr>
        <dsp:cNvPr id="0" name=""/>
        <dsp:cNvSpPr/>
      </dsp:nvSpPr>
      <dsp:spPr>
        <a:xfrm>
          <a:off x="0" y="369056"/>
          <a:ext cx="7182318" cy="1189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039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zh-CN" altLang="en-US" sz="1200" kern="1200" dirty="0"/>
        </a:p>
      </dsp:txBody>
      <dsp:txXfrm>
        <a:off x="0" y="369056"/>
        <a:ext cx="7182318" cy="11897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6B346-BB8C-4ADF-8325-515B18F388A3}">
      <dsp:nvSpPr>
        <dsp:cNvPr id="0" name=""/>
        <dsp:cNvSpPr/>
      </dsp:nvSpPr>
      <dsp:spPr>
        <a:xfrm>
          <a:off x="0" y="0"/>
          <a:ext cx="7182318" cy="3664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+mn-ea"/>
            </a:rPr>
            <a:t>数据抽取（</a:t>
          </a:r>
          <a:r>
            <a:rPr lang="en-US" altLang="zh-CN" sz="2000" kern="1200" dirty="0" err="1">
              <a:latin typeface="+mn-ea"/>
            </a:rPr>
            <a:t>extraxt</a:t>
          </a:r>
          <a:r>
            <a:rPr lang="zh-CN" altLang="en-US" sz="2000" kern="1200" dirty="0">
              <a:latin typeface="+mn-ea"/>
            </a:rPr>
            <a:t>）</a:t>
          </a:r>
          <a:endParaRPr lang="zh-CN" altLang="en-US" sz="2000" kern="1200" dirty="0"/>
        </a:p>
      </dsp:txBody>
      <dsp:txXfrm>
        <a:off x="17890" y="17890"/>
        <a:ext cx="7146538" cy="330697"/>
      </dsp:txXfrm>
    </dsp:sp>
    <dsp:sp modelId="{D06C6889-BB72-402F-8861-1C72CFD9FAAA}">
      <dsp:nvSpPr>
        <dsp:cNvPr id="0" name=""/>
        <dsp:cNvSpPr/>
      </dsp:nvSpPr>
      <dsp:spPr>
        <a:xfrm>
          <a:off x="0" y="376505"/>
          <a:ext cx="7182318" cy="1096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039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zh-CN" altLang="en-US" sz="12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kern="1200" dirty="0">
              <a:latin typeface="+mn-ea"/>
            </a:rPr>
            <a:t>从数据源把数据读取到</a:t>
          </a:r>
          <a:r>
            <a:rPr lang="en-US" altLang="zh-CN" sz="1800" kern="1200" dirty="0">
              <a:latin typeface="+mn-ea"/>
            </a:rPr>
            <a:t>ODS</a:t>
          </a:r>
          <a:r>
            <a:rPr lang="zh-CN" altLang="en-US" sz="1800" kern="1200" dirty="0">
              <a:latin typeface="+mn-ea"/>
            </a:rPr>
            <a:t>的过程（</a:t>
          </a:r>
          <a:r>
            <a:rPr lang="en-US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rPr>
            <a:t>Operational Data Store</a:t>
          </a:r>
          <a:r>
            <a:rPr lang="zh-CN" altLang="en-US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rPr>
            <a:t>操作</a:t>
          </a:r>
          <a:r>
            <a:rPr lang="zh-CN" altLang="en-US" sz="1800" kern="1200" dirty="0">
              <a:latin typeface="+mn-ea"/>
            </a:rPr>
            <a:t>数据存储）</a:t>
          </a:r>
          <a:endParaRPr lang="zh-CN" altLang="en-US" sz="1200" kern="1200" dirty="0"/>
        </a:p>
      </dsp:txBody>
      <dsp:txXfrm>
        <a:off x="0" y="376505"/>
        <a:ext cx="7182318" cy="10967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6B346-BB8C-4ADF-8325-515B18F388A3}">
      <dsp:nvSpPr>
        <dsp:cNvPr id="0" name=""/>
        <dsp:cNvSpPr/>
      </dsp:nvSpPr>
      <dsp:spPr>
        <a:xfrm>
          <a:off x="0" y="0"/>
          <a:ext cx="7182318" cy="3664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+mn-ea"/>
              <a:ea typeface="+mn-ea"/>
            </a:rPr>
            <a:t>数据转换（</a:t>
          </a:r>
          <a:r>
            <a:rPr lang="en-US" altLang="zh-CN" sz="2000" kern="1200" dirty="0">
              <a:latin typeface="+mn-ea"/>
              <a:ea typeface="+mn-ea"/>
            </a:rPr>
            <a:t>transform</a:t>
          </a:r>
          <a:r>
            <a:rPr lang="zh-CN" altLang="en-US" sz="2000" kern="1200" dirty="0">
              <a:latin typeface="+mn-ea"/>
              <a:ea typeface="+mn-ea"/>
            </a:rPr>
            <a:t>）</a:t>
          </a:r>
          <a:endParaRPr lang="zh-CN" altLang="en-US" sz="2000" kern="1200" dirty="0"/>
        </a:p>
      </dsp:txBody>
      <dsp:txXfrm>
        <a:off x="17890" y="17890"/>
        <a:ext cx="7146538" cy="330697"/>
      </dsp:txXfrm>
    </dsp:sp>
    <dsp:sp modelId="{D06C6889-BB72-402F-8861-1C72CFD9FAAA}">
      <dsp:nvSpPr>
        <dsp:cNvPr id="0" name=""/>
        <dsp:cNvSpPr/>
      </dsp:nvSpPr>
      <dsp:spPr>
        <a:xfrm>
          <a:off x="0" y="376505"/>
          <a:ext cx="7182318" cy="1096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039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zh-CN" altLang="en-US" sz="12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kern="1200" dirty="0"/>
            <a:t>抽取的数据转换为目标库的数据</a:t>
          </a:r>
          <a:endParaRPr lang="zh-CN" altLang="en-US" sz="1200" kern="1200" dirty="0"/>
        </a:p>
      </dsp:txBody>
      <dsp:txXfrm>
        <a:off x="0" y="376505"/>
        <a:ext cx="7182318" cy="10967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6B346-BB8C-4ADF-8325-515B18F388A3}">
      <dsp:nvSpPr>
        <dsp:cNvPr id="0" name=""/>
        <dsp:cNvSpPr/>
      </dsp:nvSpPr>
      <dsp:spPr>
        <a:xfrm>
          <a:off x="0" y="0"/>
          <a:ext cx="7182318" cy="3664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+mn-ea"/>
              <a:ea typeface="+mn-ea"/>
            </a:rPr>
            <a:t>数据加载（</a:t>
          </a:r>
          <a:r>
            <a:rPr lang="en-US" altLang="zh-CN" sz="2000" kern="1200" dirty="0">
              <a:latin typeface="+mn-ea"/>
              <a:ea typeface="+mn-ea"/>
            </a:rPr>
            <a:t>LOAD</a:t>
          </a:r>
          <a:r>
            <a:rPr lang="zh-CN" altLang="en-US" sz="2000" kern="1200" dirty="0">
              <a:latin typeface="+mn-ea"/>
              <a:ea typeface="+mn-ea"/>
            </a:rPr>
            <a:t>）</a:t>
          </a:r>
          <a:endParaRPr lang="zh-CN" altLang="en-US" sz="2000" kern="1200" dirty="0"/>
        </a:p>
      </dsp:txBody>
      <dsp:txXfrm>
        <a:off x="17890" y="17890"/>
        <a:ext cx="7146538" cy="330697"/>
      </dsp:txXfrm>
    </dsp:sp>
    <dsp:sp modelId="{D06C6889-BB72-402F-8861-1C72CFD9FAAA}">
      <dsp:nvSpPr>
        <dsp:cNvPr id="0" name=""/>
        <dsp:cNvSpPr/>
      </dsp:nvSpPr>
      <dsp:spPr>
        <a:xfrm>
          <a:off x="0" y="376505"/>
          <a:ext cx="7182318" cy="1096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039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zh-CN" altLang="en-US" sz="12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kern="1200" dirty="0"/>
            <a:t>转换后的数据写入到数据仓库中</a:t>
          </a:r>
          <a:endParaRPr lang="zh-CN" altLang="en-US" sz="1200" kern="1200" dirty="0"/>
        </a:p>
      </dsp:txBody>
      <dsp:txXfrm>
        <a:off x="0" y="376505"/>
        <a:ext cx="7182318" cy="10967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6B346-BB8C-4ADF-8325-515B18F388A3}">
      <dsp:nvSpPr>
        <dsp:cNvPr id="0" name=""/>
        <dsp:cNvSpPr/>
      </dsp:nvSpPr>
      <dsp:spPr>
        <a:xfrm>
          <a:off x="0" y="0"/>
          <a:ext cx="7182318" cy="3664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+mn-ea"/>
              <a:ea typeface="+mn-ea"/>
            </a:rPr>
            <a:t>ETL</a:t>
          </a:r>
          <a:r>
            <a:rPr lang="zh-CN" altLang="en-US" sz="2000" kern="1200" dirty="0">
              <a:latin typeface="+mn-ea"/>
              <a:ea typeface="+mn-ea"/>
            </a:rPr>
            <a:t>工具</a:t>
          </a:r>
          <a:endParaRPr lang="zh-CN" altLang="en-US" sz="2000" kern="1200" dirty="0"/>
        </a:p>
      </dsp:txBody>
      <dsp:txXfrm>
        <a:off x="17890" y="17890"/>
        <a:ext cx="7146538" cy="330697"/>
      </dsp:txXfrm>
    </dsp:sp>
    <dsp:sp modelId="{D06C6889-BB72-402F-8861-1C72CFD9FAAA}">
      <dsp:nvSpPr>
        <dsp:cNvPr id="0" name=""/>
        <dsp:cNvSpPr/>
      </dsp:nvSpPr>
      <dsp:spPr>
        <a:xfrm>
          <a:off x="0" y="376505"/>
          <a:ext cx="7182318" cy="1096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039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zh-CN" altLang="en-US" sz="12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zh-CN" altLang="en-US" sz="1800" kern="1200" dirty="0">
              <a:latin typeface="+mn-ea"/>
            </a:rPr>
            <a:t>架构区分</a:t>
          </a:r>
          <a:endParaRPr lang="zh-CN" altLang="en-US" sz="1200" kern="1200" dirty="0"/>
        </a:p>
      </dsp:txBody>
      <dsp:txXfrm>
        <a:off x="0" y="376505"/>
        <a:ext cx="7182318" cy="109677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6B346-BB8C-4ADF-8325-515B18F388A3}">
      <dsp:nvSpPr>
        <dsp:cNvPr id="0" name=""/>
        <dsp:cNvSpPr/>
      </dsp:nvSpPr>
      <dsp:spPr>
        <a:xfrm>
          <a:off x="0" y="0"/>
          <a:ext cx="7182318" cy="3664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ETL</a:t>
          </a:r>
          <a:r>
            <a:rPr lang="zh-CN" altLang="en-US" sz="2000" kern="1200" dirty="0"/>
            <a:t>架构</a:t>
          </a:r>
        </a:p>
      </dsp:txBody>
      <dsp:txXfrm>
        <a:off x="17890" y="17890"/>
        <a:ext cx="7146538" cy="330697"/>
      </dsp:txXfrm>
    </dsp:sp>
    <dsp:sp modelId="{D06C6889-BB72-402F-8861-1C72CFD9FAAA}">
      <dsp:nvSpPr>
        <dsp:cNvPr id="0" name=""/>
        <dsp:cNvSpPr/>
      </dsp:nvSpPr>
      <dsp:spPr>
        <a:xfrm>
          <a:off x="0" y="376505"/>
          <a:ext cx="7182318" cy="1096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039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zh-CN" altLang="en-US" sz="12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kern="1200" dirty="0"/>
            <a:t>数据从源数据流到</a:t>
          </a:r>
          <a:r>
            <a:rPr lang="en-US" altLang="zh-CN" sz="1800" kern="1200" dirty="0"/>
            <a:t>ETL</a:t>
          </a:r>
          <a:r>
            <a:rPr lang="zh-CN" altLang="en-US" sz="1800" kern="1200" dirty="0"/>
            <a:t>工具，转化后，加载到目标数据仓库中</a:t>
          </a:r>
          <a:endParaRPr lang="zh-CN" altLang="en-US" sz="1200" kern="1200" dirty="0"/>
        </a:p>
      </dsp:txBody>
      <dsp:txXfrm>
        <a:off x="0" y="376505"/>
        <a:ext cx="7182318" cy="10967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6B346-BB8C-4ADF-8325-515B18F388A3}">
      <dsp:nvSpPr>
        <dsp:cNvPr id="0" name=""/>
        <dsp:cNvSpPr/>
      </dsp:nvSpPr>
      <dsp:spPr>
        <a:xfrm>
          <a:off x="0" y="0"/>
          <a:ext cx="7182318" cy="33766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ELT</a:t>
          </a:r>
          <a:r>
            <a:rPr lang="zh-CN" altLang="en-US" sz="2000" kern="1200" dirty="0"/>
            <a:t>架构</a:t>
          </a:r>
        </a:p>
      </dsp:txBody>
      <dsp:txXfrm>
        <a:off x="16483" y="16483"/>
        <a:ext cx="7149352" cy="304695"/>
      </dsp:txXfrm>
    </dsp:sp>
    <dsp:sp modelId="{D06C6889-BB72-402F-8861-1C72CFD9FAAA}">
      <dsp:nvSpPr>
        <dsp:cNvPr id="0" name=""/>
        <dsp:cNvSpPr/>
      </dsp:nvSpPr>
      <dsp:spPr>
        <a:xfrm>
          <a:off x="0" y="342375"/>
          <a:ext cx="7182318" cy="1262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039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zh-CN" alt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kern="1200" dirty="0"/>
            <a:t>工具只设计业务规则，</a:t>
          </a:r>
          <a:r>
            <a:rPr lang="zh-CN" altLang="en-US" sz="1800" b="0" i="0" kern="1200" dirty="0"/>
            <a:t>数据的整个加工过程都在目标和源的数据库之间流动，</a:t>
          </a:r>
          <a:r>
            <a:rPr lang="zh-CN" altLang="en-US" sz="1800" kern="1200" dirty="0"/>
            <a:t>负责协调数据库执行操作，数据的加工过程可在源数据库端或目标数据仓库端执行</a:t>
          </a:r>
        </a:p>
      </dsp:txBody>
      <dsp:txXfrm>
        <a:off x="0" y="342375"/>
        <a:ext cx="7182318" cy="126233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6B346-BB8C-4ADF-8325-515B18F388A3}">
      <dsp:nvSpPr>
        <dsp:cNvPr id="0" name=""/>
        <dsp:cNvSpPr/>
      </dsp:nvSpPr>
      <dsp:spPr>
        <a:xfrm>
          <a:off x="0" y="0"/>
          <a:ext cx="7182318" cy="39016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ETL</a:t>
          </a:r>
          <a:r>
            <a:rPr lang="zh-CN" altLang="en-US" sz="2000" kern="1200" dirty="0"/>
            <a:t>产品</a:t>
          </a:r>
        </a:p>
      </dsp:txBody>
      <dsp:txXfrm>
        <a:off x="19046" y="19046"/>
        <a:ext cx="7144226" cy="35207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6B346-BB8C-4ADF-8325-515B18F388A3}">
      <dsp:nvSpPr>
        <dsp:cNvPr id="0" name=""/>
        <dsp:cNvSpPr/>
      </dsp:nvSpPr>
      <dsp:spPr>
        <a:xfrm>
          <a:off x="0" y="0"/>
          <a:ext cx="7182318" cy="39016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ETL</a:t>
          </a:r>
          <a:r>
            <a:rPr lang="zh-CN" altLang="en-US" sz="2000" kern="1200" dirty="0"/>
            <a:t>产品</a:t>
          </a:r>
        </a:p>
      </dsp:txBody>
      <dsp:txXfrm>
        <a:off x="19046" y="19046"/>
        <a:ext cx="7144226" cy="35207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6B346-BB8C-4ADF-8325-515B18F388A3}">
      <dsp:nvSpPr>
        <dsp:cNvPr id="0" name=""/>
        <dsp:cNvSpPr/>
      </dsp:nvSpPr>
      <dsp:spPr>
        <a:xfrm>
          <a:off x="0" y="0"/>
          <a:ext cx="7182318" cy="39017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+mn-ea"/>
              <a:ea typeface="+mn-ea"/>
            </a:rPr>
            <a:t>PowerCenter</a:t>
          </a:r>
          <a:r>
            <a:rPr lang="zh-CN" altLang="en-US" sz="2000" kern="1200" dirty="0">
              <a:latin typeface="+mn-ea"/>
              <a:ea typeface="+mn-ea"/>
            </a:rPr>
            <a:t>与</a:t>
          </a:r>
          <a:r>
            <a:rPr lang="en-US" altLang="zh-CN" sz="2000" b="1" i="0" kern="1200" dirty="0">
              <a:solidFill>
                <a:schemeClr val="lt1"/>
              </a:solidFill>
              <a:effectLst/>
              <a:latin typeface="+mn-ea"/>
              <a:ea typeface="+mn-ea"/>
              <a:cs typeface="+mn-cs"/>
            </a:rPr>
            <a:t>Kettle</a:t>
          </a:r>
          <a:r>
            <a:rPr lang="zh-CN" altLang="en-US" sz="2000" b="1" i="0" kern="1200" dirty="0">
              <a:solidFill>
                <a:schemeClr val="lt1"/>
              </a:solidFill>
              <a:effectLst/>
              <a:latin typeface="+mn-ea"/>
              <a:ea typeface="+mn-ea"/>
              <a:cs typeface="+mn-cs"/>
            </a:rPr>
            <a:t>比较</a:t>
          </a:r>
          <a:endParaRPr lang="zh-CN" altLang="en-US" sz="2000" kern="1200" dirty="0"/>
        </a:p>
      </dsp:txBody>
      <dsp:txXfrm>
        <a:off x="19047" y="19047"/>
        <a:ext cx="7144224" cy="35207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6B346-BB8C-4ADF-8325-515B18F388A3}">
      <dsp:nvSpPr>
        <dsp:cNvPr id="0" name=""/>
        <dsp:cNvSpPr/>
      </dsp:nvSpPr>
      <dsp:spPr>
        <a:xfrm>
          <a:off x="0" y="0"/>
          <a:ext cx="7182318" cy="39016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ETL</a:t>
          </a:r>
          <a:r>
            <a:rPr lang="zh-CN" altLang="en-US" sz="2000" kern="1200" dirty="0"/>
            <a:t>产品</a:t>
          </a:r>
        </a:p>
      </dsp:txBody>
      <dsp:txXfrm>
        <a:off x="19046" y="19046"/>
        <a:ext cx="7144226" cy="35207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6B346-BB8C-4ADF-8325-515B18F388A3}">
      <dsp:nvSpPr>
        <dsp:cNvPr id="0" name=""/>
        <dsp:cNvSpPr/>
      </dsp:nvSpPr>
      <dsp:spPr>
        <a:xfrm>
          <a:off x="0" y="0"/>
          <a:ext cx="7182318" cy="39016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ELT</a:t>
          </a:r>
          <a:r>
            <a:rPr lang="zh-CN" altLang="en-US" sz="2000" kern="1200" dirty="0"/>
            <a:t>产品选择</a:t>
          </a:r>
        </a:p>
      </dsp:txBody>
      <dsp:txXfrm>
        <a:off x="19046" y="19046"/>
        <a:ext cx="7144226" cy="3520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E34CB-4EEE-4272-B96C-08E722461F3F}" type="datetimeFigureOut">
              <a:rPr lang="zh-CN" altLang="en-US" smtClean="0"/>
              <a:t>2018-6-1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9F932-8908-4E23-8967-C1311C08A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54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GUI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ike.baidu.com/item/eclipse" TargetMode="Externa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109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983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是构建数据仓库的重要一环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84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数据仓库，即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Warehouse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，简写为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一般来说是汇总的数据，为不同的分析系统提供数据。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面向主题：一般数据是面向事务处理任务的，而数据仓库是按照一定的主题域进行组织，是用户决策时所关心的重点方面，是系统数据进行综合、归类的抽象；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集成的：相对分散的数据进行集成和综合；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相对稳定的：数据仓库的数据，一般很少进行修改，更多的是相对信息的查询操作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设计和实施的工作量一般要占数据仓库总工作量的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以上，是数据仓库的核心和灵魂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342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ODS</a:t>
            </a:r>
            <a:r>
              <a:rPr lang="zh-CN" altLang="en-US" dirty="0"/>
              <a:t>是数据仓库体系的可选部分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是业务系统和数据仓库之间的隔离层，其数据在结构、数据之间的逻辑关系与业务系统基本保持一致，不同在于数据量大小、抽取方式等</a:t>
            </a:r>
            <a:endParaRPr lang="en-US" altLang="zh-CN" dirty="0"/>
          </a:p>
          <a:p>
            <a:r>
              <a:rPr lang="zh-CN" altLang="en-US" dirty="0"/>
              <a:t>完成数据仓库中不能完成的功能，包含交易细节数据，还可支持面向主题或维度的查询</a:t>
            </a:r>
            <a:endParaRPr lang="en-US" altLang="zh-CN" dirty="0"/>
          </a:p>
          <a:p>
            <a:r>
              <a:rPr lang="zh-CN" altLang="en-US" dirty="0"/>
              <a:t>在没有</a:t>
            </a:r>
            <a:r>
              <a:rPr lang="en-US" altLang="zh-CN" dirty="0"/>
              <a:t>ODS</a:t>
            </a:r>
            <a:r>
              <a:rPr lang="zh-CN" altLang="en-US" dirty="0"/>
              <a:t>层的数据仓库体系中，数据仓库包括了细节数据，但是是“历史的，不再变化的”数据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874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触发器：在要抽取的表上建立触发器，当源表中数据发生变化，触发器就将变化的数据写入一个临时表，抽取线程再从临时表抽取数据；优点是性能较高，缺点是在业务表建立触发器，对业务系统有一定的影响；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时间戳：源表中增加时间戳字段，当系统中更新了表数据时候，修改时间戳字段的值，数据抽取时，通过比较系统时间和时间戳字段的值来决定抽取哪些数据；优点是性能高，对业务系统有一定侵入性；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全表对比：典型的全表对比方式是使用</a:t>
            </a:r>
            <a:r>
              <a:rPr lang="en-US" altLang="zh-CN" dirty="0"/>
              <a:t>MD5</a:t>
            </a:r>
            <a:r>
              <a:rPr lang="zh-CN" altLang="en-US" dirty="0"/>
              <a:t>校验码，为抽取表建立与业务表结构类似的临时表，里面源放主键及所有字段计算的</a:t>
            </a:r>
            <a:r>
              <a:rPr lang="en-US" altLang="zh-CN" dirty="0"/>
              <a:t>MD5</a:t>
            </a:r>
            <a:r>
              <a:rPr lang="zh-CN" altLang="en-US" dirty="0"/>
              <a:t>值，在进行抽取时，对源表和临时表进行</a:t>
            </a:r>
            <a:r>
              <a:rPr lang="en-US" altLang="zh-CN" dirty="0"/>
              <a:t>MD5</a:t>
            </a:r>
            <a:r>
              <a:rPr lang="zh-CN" altLang="en-US" dirty="0"/>
              <a:t>值比对，从而决定源数据的新增、修改、删除操作，并更新</a:t>
            </a:r>
            <a:r>
              <a:rPr lang="en-US" altLang="zh-CN" dirty="0"/>
              <a:t>MD5</a:t>
            </a:r>
            <a:r>
              <a:rPr lang="zh-CN" altLang="en-US" dirty="0"/>
              <a:t>值；优点对源数据的侵入性较小，缺点是性能较差；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日志对比：通过数据库自身的日志来判断变化的数据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474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不完整的数据：数据缺失，例如商户名称、公司名称缺失；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错误的数据：业务系统不够健全造成的，日期格式不正确等等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60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不一致转换：比如同一个供应商在</a:t>
            </a:r>
            <a:r>
              <a:rPr lang="en-US" altLang="zh-CN" dirty="0"/>
              <a:t>A</a:t>
            </a:r>
            <a:r>
              <a:rPr lang="zh-CN" altLang="en-US" dirty="0"/>
              <a:t>系统的编号是</a:t>
            </a:r>
            <a:r>
              <a:rPr lang="en-US" altLang="zh-CN" dirty="0"/>
              <a:t>001</a:t>
            </a:r>
            <a:r>
              <a:rPr lang="zh-CN" altLang="en-US" dirty="0"/>
              <a:t>，而在</a:t>
            </a:r>
            <a:r>
              <a:rPr lang="en-US" altLang="zh-CN" dirty="0"/>
              <a:t>B</a:t>
            </a:r>
            <a:r>
              <a:rPr lang="zh-CN" altLang="en-US" dirty="0"/>
              <a:t>系统的编号是</a:t>
            </a:r>
            <a:r>
              <a:rPr lang="en-US" altLang="zh-CN" dirty="0"/>
              <a:t>002</a:t>
            </a:r>
            <a:r>
              <a:rPr lang="zh-CN" altLang="en-US" dirty="0"/>
              <a:t>，这样就需要统一转换为一个编码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数据粒度转换：业务系统一般存储的非常明细的数据，而数据仓库中的数据是用来分析的，不需要很细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商务规则转换：不同企业有不同的业务规则、不同的数据指标，需要按照</a:t>
            </a:r>
            <a:r>
              <a:rPr lang="zh-CN" altLang="en-US" sz="1200" dirty="0"/>
              <a:t>规则指标进行计算，然后存到数据仓库以供分析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220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关系型数据库，可使用</a:t>
            </a:r>
            <a:r>
              <a:rPr lang="en-US" altLang="zh-CN" dirty="0" err="1"/>
              <a:t>sql</a:t>
            </a:r>
            <a:r>
              <a:rPr lang="zh-CN" altLang="en-US" dirty="0"/>
              <a:t>语句来操作，或者批量装载工具（</a:t>
            </a:r>
            <a:r>
              <a:rPr lang="en-US" altLang="zh-CN" dirty="0"/>
              <a:t>BCP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BCP</a:t>
            </a:r>
            <a:r>
              <a:rPr lang="zh-CN" altLang="en-US" dirty="0"/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SYBASE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公司的用于数据库表一级数据备份的工具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285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20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194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工具是一个单独的数据处理引擎，一般会在单独的硬件服务器上，实现所有数据转化的工作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763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目前主流的产品是</a:t>
            </a:r>
            <a:r>
              <a:rPr lang="en-US" altLang="zh-CN" dirty="0"/>
              <a:t>ETL</a:t>
            </a:r>
            <a:r>
              <a:rPr lang="zh-CN" altLang="en-US" dirty="0"/>
              <a:t>架构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797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转换也可以放到源数据端，但目标数据库一般性能比较强，大部分的转换是放在目标库，原则是放在转换效率高的地方转换</a:t>
            </a:r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2942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ea typeface="Hei" charset="-122"/>
              </a:rPr>
              <a:t>Repository</a:t>
            </a:r>
            <a:r>
              <a:rPr lang="zh-CN" altLang="en-US" b="0" dirty="0">
                <a:ea typeface="Hei" charset="-122"/>
              </a:rPr>
              <a:t>：</a:t>
            </a:r>
            <a:r>
              <a:rPr lang="zh-CN" altLang="en-GB" dirty="0">
                <a:ea typeface="Hei" charset="-122"/>
              </a:rPr>
              <a:t>元数据知识库</a:t>
            </a:r>
            <a:r>
              <a:rPr lang="zh-CN" altLang="en-US" dirty="0">
                <a:ea typeface="Hei" charset="-122"/>
              </a:rPr>
              <a:t>，</a:t>
            </a:r>
            <a:r>
              <a:rPr lang="zh-CN" altLang="en-GB" dirty="0">
                <a:ea typeface="Hei" charset="-122"/>
              </a:rPr>
              <a:t>数据整合引擎是基于元数据驱动的</a:t>
            </a:r>
            <a:r>
              <a:rPr lang="zh-CN" altLang="en-US" dirty="0">
                <a:ea typeface="Hei" charset="-122"/>
              </a:rPr>
              <a:t>，</a:t>
            </a:r>
            <a:r>
              <a:rPr lang="zh-CN" altLang="en-GB" dirty="0">
                <a:ea typeface="Hei" charset="-122"/>
              </a:rPr>
              <a:t>提供了基于元数据驱动的元数据知识库</a:t>
            </a:r>
            <a:r>
              <a:rPr lang="zh-CN" altLang="en-US" dirty="0">
                <a:ea typeface="Hei" charset="-122"/>
              </a:rPr>
              <a:t>，</a:t>
            </a:r>
            <a:r>
              <a:rPr lang="zh-CN" altLang="en-GB" dirty="0">
                <a:ea typeface="Hei" charset="-122"/>
              </a:rPr>
              <a:t>存储所有的</a:t>
            </a:r>
            <a:r>
              <a:rPr lang="en-GB" altLang="zh-CN" dirty="0">
                <a:ea typeface="Hei" charset="-122"/>
              </a:rPr>
              <a:t>ETL</a:t>
            </a:r>
            <a:r>
              <a:rPr lang="zh-CN" altLang="en-GB" dirty="0">
                <a:ea typeface="Hei" charset="-122"/>
              </a:rPr>
              <a:t>元数据</a:t>
            </a:r>
            <a:endParaRPr lang="zh-CN" altLang="en-US" dirty="0"/>
          </a:p>
          <a:p>
            <a:endParaRPr lang="en-US" altLang="zh-CN" dirty="0">
              <a:ea typeface="Hei" charset="-122"/>
            </a:endParaRPr>
          </a:p>
          <a:p>
            <a:r>
              <a:rPr lang="en-US" altLang="zh-CN" dirty="0">
                <a:ea typeface="Hei" charset="-122"/>
              </a:rPr>
              <a:t>2</a:t>
            </a:r>
            <a:r>
              <a:rPr lang="zh-CN" altLang="en-US" dirty="0">
                <a:ea typeface="Hei" charset="-122"/>
              </a:rPr>
              <a:t>个</a:t>
            </a:r>
            <a:r>
              <a:rPr lang="en-US" altLang="zh-CN" dirty="0">
                <a:ea typeface="Hei" charset="-122"/>
              </a:rPr>
              <a:t>Server</a:t>
            </a:r>
            <a:r>
              <a:rPr lang="zh-CN" altLang="en-US" dirty="0">
                <a:ea typeface="Hei" charset="-122"/>
              </a:rPr>
              <a:t>：</a:t>
            </a:r>
            <a:endParaRPr lang="en-US" altLang="zh-CN" dirty="0">
              <a:ea typeface="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ea typeface="Hei" charset="-122"/>
              </a:rPr>
              <a:t>Repository Server</a:t>
            </a:r>
            <a:r>
              <a:rPr lang="zh-CN" altLang="en-US" dirty="0">
                <a:ea typeface="Hei" charset="-122"/>
              </a:rPr>
              <a:t>：知识库</a:t>
            </a:r>
            <a:r>
              <a:rPr lang="en-US" altLang="zh-CN" dirty="0">
                <a:ea typeface="Hei" charset="-122"/>
              </a:rPr>
              <a:t>Server</a:t>
            </a:r>
            <a:r>
              <a:rPr lang="zh-CN" altLang="en-US" dirty="0">
                <a:ea typeface="Hei" charset="-122"/>
              </a:rPr>
              <a:t>，管理</a:t>
            </a:r>
            <a:r>
              <a:rPr lang="en-US" altLang="zh-CN" dirty="0">
                <a:ea typeface="Hei" charset="-122"/>
              </a:rPr>
              <a:t>ETL</a:t>
            </a:r>
            <a:r>
              <a:rPr lang="zh-CN" altLang="en-US" dirty="0">
                <a:ea typeface="Hei" charset="-122"/>
              </a:rPr>
              <a:t>过程中产生的元数据，</a:t>
            </a:r>
            <a:r>
              <a:rPr lang="zh-CN" altLang="en-GB" dirty="0">
                <a:ea typeface="Hei" charset="-122"/>
              </a:rPr>
              <a:t>用来管理所有对</a:t>
            </a:r>
            <a:r>
              <a:rPr lang="zh-CN" altLang="en-US" dirty="0">
                <a:ea typeface="Hei" charset="-122"/>
              </a:rPr>
              <a:t>知识</a:t>
            </a:r>
            <a:r>
              <a:rPr lang="zh-CN" altLang="en-GB" dirty="0">
                <a:ea typeface="Hei" charset="-122"/>
              </a:rPr>
              <a:t>库中元数据的请求和操作</a:t>
            </a:r>
            <a:r>
              <a:rPr lang="zh-CN" altLang="en-US" dirty="0">
                <a:ea typeface="Hei" charset="-122"/>
              </a:rPr>
              <a:t>；</a:t>
            </a:r>
            <a:endParaRPr lang="en-US" altLang="zh-CN" b="0" dirty="0">
              <a:ea typeface="Hei" charset="-122"/>
            </a:endParaRPr>
          </a:p>
          <a:p>
            <a:r>
              <a:rPr lang="en-US" altLang="zh-CN" dirty="0">
                <a:ea typeface="Hei" charset="-122"/>
              </a:rPr>
              <a:t>Informatica Server</a:t>
            </a:r>
            <a:r>
              <a:rPr lang="zh-CN" altLang="en-US" dirty="0">
                <a:ea typeface="Hei" charset="-122"/>
              </a:rPr>
              <a:t>：实际的</a:t>
            </a:r>
            <a:r>
              <a:rPr lang="en-US" altLang="zh-CN" dirty="0">
                <a:ea typeface="Hei" charset="-122"/>
              </a:rPr>
              <a:t>ETL</a:t>
            </a:r>
            <a:r>
              <a:rPr lang="zh-CN" altLang="en-US" dirty="0">
                <a:ea typeface="Hei" charset="-122"/>
              </a:rPr>
              <a:t>引擎 </a:t>
            </a:r>
            <a:endParaRPr lang="en-US" altLang="zh-CN" dirty="0">
              <a:ea typeface="Hei" charset="-122"/>
            </a:endParaRPr>
          </a:p>
          <a:p>
            <a:endParaRPr lang="en-US" altLang="zh-CN" b="0" dirty="0">
              <a:ea typeface="Hei" charset="-122"/>
            </a:endParaRPr>
          </a:p>
          <a:p>
            <a:r>
              <a:rPr lang="en-US" altLang="zh-CN" b="0" dirty="0">
                <a:ea typeface="Hei" charset="-122"/>
              </a:rPr>
              <a:t>5</a:t>
            </a:r>
            <a:r>
              <a:rPr lang="zh-CN" altLang="en-US" b="0" dirty="0">
                <a:ea typeface="Hei" charset="-122"/>
              </a:rPr>
              <a:t>个</a:t>
            </a:r>
            <a:r>
              <a:rPr lang="en-US" altLang="zh-CN" b="0" dirty="0">
                <a:ea typeface="Hei" charset="-122"/>
              </a:rPr>
              <a:t>Client</a:t>
            </a:r>
            <a:r>
              <a:rPr lang="zh-CN" altLang="en-US" b="0" dirty="0">
                <a:ea typeface="Hei" charset="-122"/>
              </a:rPr>
              <a:t>：</a:t>
            </a:r>
            <a:endParaRPr lang="en-US" altLang="zh-CN" b="0" dirty="0">
              <a:ea typeface="Hei" charset="-122"/>
            </a:endParaRPr>
          </a:p>
          <a:p>
            <a:r>
              <a:rPr lang="en-US" altLang="zh-CN" sz="1200" dirty="0">
                <a:ea typeface="Hei" charset="-122"/>
              </a:rPr>
              <a:t>Designer</a:t>
            </a:r>
            <a:r>
              <a:rPr lang="zh-CN" altLang="en-US" sz="1200" dirty="0">
                <a:ea typeface="Hei" charset="-122"/>
              </a:rPr>
              <a:t>：设计开发环境，定义源及目标数据结构；设计转换规则，生成</a:t>
            </a:r>
            <a:r>
              <a:rPr lang="en-US" altLang="zh-CN" sz="1200" dirty="0">
                <a:ea typeface="Hei" charset="-122"/>
              </a:rPr>
              <a:t>ETL</a:t>
            </a:r>
            <a:r>
              <a:rPr lang="zh-CN" altLang="en-US" sz="1200" dirty="0">
                <a:ea typeface="Hei" charset="-122"/>
              </a:rPr>
              <a:t>映射；</a:t>
            </a:r>
            <a:endParaRPr lang="en-US" altLang="zh-CN" sz="1200" dirty="0">
              <a:ea typeface="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ea typeface="Hei" charset="-122"/>
              </a:rPr>
              <a:t>Workflow Manager</a:t>
            </a:r>
            <a:r>
              <a:rPr lang="zh-CN" altLang="en-US" sz="1200" dirty="0">
                <a:ea typeface="Hei" charset="-122"/>
              </a:rPr>
              <a:t>：合理地实现复杂的</a:t>
            </a:r>
            <a:r>
              <a:rPr lang="en-US" altLang="zh-CN" sz="1200" dirty="0">
                <a:ea typeface="Hei" charset="-122"/>
              </a:rPr>
              <a:t>ETL</a:t>
            </a:r>
            <a:r>
              <a:rPr lang="zh-CN" altLang="en-US" sz="1200" dirty="0">
                <a:ea typeface="Hei" charset="-122"/>
              </a:rPr>
              <a:t>工作流，基于时间、事件的作业调度；</a:t>
            </a:r>
            <a:endParaRPr lang="en-US" altLang="zh-CN" sz="1200" dirty="0">
              <a:ea typeface="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ea typeface="Hei" charset="-122"/>
              </a:rPr>
              <a:t>Workflow Monitor</a:t>
            </a:r>
            <a:r>
              <a:rPr lang="zh-CN" altLang="en-US" sz="1200" dirty="0">
                <a:ea typeface="Hei" charset="-122"/>
              </a:rPr>
              <a:t>：监控</a:t>
            </a:r>
            <a:r>
              <a:rPr lang="en-US" altLang="zh-CN" sz="1200" dirty="0">
                <a:ea typeface="Hei" charset="-122"/>
              </a:rPr>
              <a:t>Workflow</a:t>
            </a:r>
            <a:r>
              <a:rPr lang="zh-CN" altLang="en-US" sz="1200" dirty="0">
                <a:ea typeface="Hei" charset="-122"/>
              </a:rPr>
              <a:t>和</a:t>
            </a:r>
            <a:r>
              <a:rPr lang="en-US" altLang="zh-CN" sz="1200" dirty="0">
                <a:ea typeface="Hei" charset="-122"/>
              </a:rPr>
              <a:t>Session</a:t>
            </a:r>
            <a:r>
              <a:rPr lang="zh-CN" altLang="en-US" sz="1200" dirty="0">
                <a:ea typeface="Hei" charset="-122"/>
              </a:rPr>
              <a:t>运行情况，生成日志和报告；</a:t>
            </a:r>
            <a:endParaRPr lang="en-US" altLang="zh-CN" sz="1200" dirty="0">
              <a:ea typeface="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ea typeface="Hei" charset="-122"/>
              </a:rPr>
              <a:t>Repository Manager</a:t>
            </a:r>
            <a:r>
              <a:rPr lang="zh-CN" altLang="en-US" sz="1200" dirty="0">
                <a:ea typeface="Hei" charset="-122"/>
              </a:rPr>
              <a:t>：知识库管理，包括安全性管理等，</a:t>
            </a:r>
            <a:r>
              <a:rPr lang="zh-CN" altLang="en-GB" sz="1200" dirty="0">
                <a:ea typeface="Hei" charset="-122"/>
              </a:rPr>
              <a:t>元数据维护和安全操作，如：元数据查找，用户、组、权限管理等</a:t>
            </a:r>
            <a:r>
              <a:rPr lang="zh-CN" altLang="en-US" sz="1200" dirty="0">
                <a:ea typeface="Hei" charset="-122"/>
              </a:rPr>
              <a:t>；</a:t>
            </a:r>
          </a:p>
          <a:p>
            <a:r>
              <a:rPr lang="en-US" altLang="zh-CN" sz="1200" dirty="0">
                <a:ea typeface="Hei" charset="-122"/>
              </a:rPr>
              <a:t>Repository Server Administrator Console</a:t>
            </a:r>
            <a:r>
              <a:rPr lang="zh-CN" altLang="en-US" sz="1200" dirty="0">
                <a:ea typeface="Hei" charset="-122"/>
              </a:rPr>
              <a:t>：</a:t>
            </a:r>
            <a:r>
              <a:rPr lang="zh-CN" altLang="en-GB" sz="1200" dirty="0">
                <a:ea typeface="Hei" charset="-122"/>
              </a:rPr>
              <a:t>对知识库的操作，如：知识库的创建、备份、恢复等</a:t>
            </a:r>
            <a:r>
              <a:rPr lang="zh-CN" altLang="en-US" sz="1200" dirty="0">
                <a:ea typeface="Hei" charset="-122"/>
              </a:rPr>
              <a:t>。</a:t>
            </a:r>
            <a:endParaRPr lang="en-US" altLang="zh-CN" b="0" dirty="0">
              <a:ea typeface="Hei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4489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>
                <a:ea typeface="Hei" charset="-122"/>
              </a:rPr>
              <a:t>目前版本是</a:t>
            </a:r>
            <a:r>
              <a:rPr lang="en-US" altLang="zh-CN" b="0" dirty="0">
                <a:ea typeface="Hei" charset="-122"/>
              </a:rPr>
              <a:t>10.2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>
              <a:ea typeface="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>
                <a:ea typeface="Hei" charset="-122"/>
              </a:rPr>
              <a:t>时间类型转换：</a:t>
            </a:r>
            <a:r>
              <a:rPr lang="zh-CN" altLang="en-US" sz="1200" dirty="0">
                <a:ea typeface="Hei" charset="-122"/>
              </a:rPr>
              <a:t>如在记录中，符合时间格式，可自动进行字符型和时间类型的转换，并且提供</a:t>
            </a:r>
            <a:r>
              <a:rPr lang="en-US" altLang="zh-CN" sz="1200" dirty="0" err="1">
                <a:ea typeface="Hei" charset="-122"/>
              </a:rPr>
              <a:t>to_char</a:t>
            </a:r>
            <a:r>
              <a:rPr lang="zh-CN" altLang="en-US" sz="1200" dirty="0">
                <a:ea typeface="Hei" charset="-122"/>
              </a:rPr>
              <a:t>，</a:t>
            </a:r>
            <a:r>
              <a:rPr lang="en-US" altLang="zh-CN" sz="1200" dirty="0" err="1">
                <a:ea typeface="Hei" charset="-122"/>
              </a:rPr>
              <a:t>to_date</a:t>
            </a:r>
            <a:r>
              <a:rPr lang="zh-CN" altLang="en-US" sz="1200" dirty="0">
                <a:ea typeface="Hei" charset="-122"/>
              </a:rPr>
              <a:t>等强制转换函数。</a:t>
            </a:r>
            <a:endParaRPr lang="en-US" altLang="zh-CN" sz="1200" dirty="0">
              <a:ea typeface="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dirty="0">
              <a:ea typeface="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ea typeface="Hei" charset="-122"/>
              </a:rPr>
              <a:t>字段拆分：</a:t>
            </a:r>
            <a:r>
              <a:rPr lang="zh-CN" altLang="en-US" dirty="0">
                <a:ea typeface="Hei" charset="-122"/>
              </a:rPr>
              <a:t>可完成字段的拆分、合并等操作。</a:t>
            </a:r>
            <a:endParaRPr lang="en-US" altLang="zh-CN" dirty="0">
              <a:ea typeface="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>
              <a:ea typeface="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ea typeface="Hei" charset="-122"/>
              </a:rPr>
              <a:t>多字段的混合运算</a:t>
            </a:r>
            <a:r>
              <a:rPr lang="zh-CN" altLang="en-US" sz="1200" dirty="0">
                <a:ea typeface="+mn-ea"/>
              </a:rPr>
              <a:t>：</a:t>
            </a:r>
            <a:r>
              <a:rPr lang="zh-CN" altLang="en-US" dirty="0">
                <a:ea typeface="Hei" charset="-122"/>
              </a:rPr>
              <a:t>内部具有</a:t>
            </a:r>
            <a:r>
              <a:rPr lang="en-US" altLang="zh-CN" dirty="0">
                <a:ea typeface="Hei" charset="-122"/>
              </a:rPr>
              <a:t>Expression</a:t>
            </a:r>
            <a:r>
              <a:rPr lang="zh-CN" altLang="en-US" dirty="0">
                <a:ea typeface="Hei" charset="-122"/>
              </a:rPr>
              <a:t>组件，可增加复杂的多字段混合计算，同时可嵌入</a:t>
            </a:r>
            <a:r>
              <a:rPr lang="en-US" altLang="zh-CN" dirty="0">
                <a:ea typeface="Hei" charset="-122"/>
              </a:rPr>
              <a:t>100</a:t>
            </a:r>
            <a:r>
              <a:rPr lang="zh-CN" altLang="en-US" dirty="0">
                <a:ea typeface="Hei" charset="-122"/>
              </a:rPr>
              <a:t>多种函数和参数，极大的提高了计算表达式的灵活性。</a:t>
            </a:r>
            <a:endParaRPr lang="en-US" altLang="zh-CN" b="0" dirty="0">
              <a:ea typeface="Hei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480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>
                <a:ea typeface="Hei" charset="-122"/>
              </a:rPr>
              <a:t>转换的主要组成部分：</a:t>
            </a:r>
            <a:r>
              <a:rPr lang="en-US" altLang="zh-CN" b="0" dirty="0">
                <a:ea typeface="Hei" charset="-122"/>
              </a:rPr>
              <a:t>step</a:t>
            </a:r>
            <a:r>
              <a:rPr lang="zh-CN" altLang="en-US" b="0" dirty="0">
                <a:ea typeface="Hei" charset="-122"/>
              </a:rPr>
              <a:t>（步骤）、</a:t>
            </a:r>
            <a:r>
              <a:rPr lang="en-US" altLang="zh-CN" b="0" dirty="0">
                <a:ea typeface="Hei" charset="-122"/>
              </a:rPr>
              <a:t>hops</a:t>
            </a:r>
            <a:r>
              <a:rPr lang="zh-CN" altLang="en-US" b="0" dirty="0">
                <a:ea typeface="Hei" charset="-122"/>
              </a:rPr>
              <a:t>（节点连接）；</a:t>
            </a:r>
            <a:endParaRPr lang="en-US" altLang="zh-CN" b="0" dirty="0">
              <a:ea typeface="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>
                <a:ea typeface="Hei" charset="-122"/>
              </a:rPr>
              <a:t>在</a:t>
            </a:r>
            <a:r>
              <a:rPr lang="en-US" altLang="zh-CN" b="0" dirty="0">
                <a:ea typeface="Hei" charset="-122"/>
              </a:rPr>
              <a:t>PDI</a:t>
            </a:r>
            <a:r>
              <a:rPr lang="zh-CN" altLang="en-US" b="0" dirty="0">
                <a:ea typeface="Hei" charset="-122"/>
              </a:rPr>
              <a:t>中有</a:t>
            </a:r>
            <a:r>
              <a:rPr lang="en-US" altLang="zh-CN" b="0" dirty="0">
                <a:ea typeface="Hei" charset="-122"/>
              </a:rPr>
              <a:t>140</a:t>
            </a:r>
            <a:r>
              <a:rPr lang="zh-CN" altLang="en-US" b="0" dirty="0">
                <a:ea typeface="Hei" charset="-122"/>
              </a:rPr>
              <a:t>多种步骤，比如文件输入、脚本类等等；</a:t>
            </a:r>
            <a:endParaRPr lang="en-US" altLang="zh-CN" b="0" dirty="0">
              <a:ea typeface="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ea typeface="Hei" charset="-122"/>
              </a:rPr>
              <a:t>hops</a:t>
            </a:r>
            <a:r>
              <a:rPr lang="zh-CN" altLang="en-US" b="0" dirty="0">
                <a:ea typeface="Hei" charset="-122"/>
              </a:rPr>
              <a:t>是数据通道，用于连接</a:t>
            </a:r>
            <a:r>
              <a:rPr lang="en-US" altLang="zh-CN" b="0" dirty="0">
                <a:ea typeface="Hei" charset="-122"/>
              </a:rPr>
              <a:t>2</a:t>
            </a:r>
            <a:r>
              <a:rPr lang="zh-CN" altLang="en-US" b="0" dirty="0">
                <a:ea typeface="Hei" charset="-122"/>
              </a:rPr>
              <a:t>个步骤，使得元数据从一个步骤传递到另一个步骤；</a:t>
            </a:r>
            <a:endParaRPr lang="en-US" altLang="zh-CN" b="0" dirty="0">
              <a:ea typeface="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>
              <a:ea typeface="Hei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>
                <a:ea typeface="Hei" charset="-122"/>
              </a:rPr>
              <a:t>作业由作业实体、作业节点连接组成；</a:t>
            </a:r>
            <a:endParaRPr lang="en-US" altLang="zh-CN" b="0" dirty="0">
              <a:ea typeface="Hei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1160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SWT(Standard Widget Toolkit) Standard Widget Toolkit</a:t>
            </a:r>
            <a:r>
              <a:rPr lang="zh-CN" alt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是一个开源的</a:t>
            </a:r>
            <a:r>
              <a:rPr lang="en-US" altLang="zh-CN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GUI</a:t>
            </a:r>
            <a:r>
              <a:rPr lang="zh-CN" alt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编程框架，著名的开源</a:t>
            </a:r>
            <a:r>
              <a:rPr lang="en-US" altLang="zh-CN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IDE-</a:t>
            </a:r>
            <a:r>
              <a:rPr lang="en-US" altLang="zh-CN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eclipse</a:t>
            </a:r>
            <a:r>
              <a:rPr lang="zh-CN" alt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就是用</a:t>
            </a:r>
            <a:r>
              <a:rPr lang="en-US" altLang="zh-CN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SWT</a:t>
            </a:r>
            <a:r>
              <a:rPr lang="zh-CN" alt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开发的。</a:t>
            </a:r>
            <a:endParaRPr lang="en-US" altLang="zh-CN" sz="1200" b="0" i="0" u="non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u="non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是一个轻量级的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服务，允许远程请求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进行监控、启动、停止在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服务上运行的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</a:t>
            </a:r>
            <a:endParaRPr lang="en-US" altLang="zh-CN" sz="1200" b="0" i="0" u="non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集群：是由一个主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服务器和多个从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服务器组成的，类似于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master-slave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结构，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只负责任务的分发和收集运行结果。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结点收到请求后，把任务分成多个部分交给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slave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节点执行，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slave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执行完毕后把结果交给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进行汇总，再由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mster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返回结果。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集群的优点：多服务器运行，加快处理速度，对于大数据量的操作更明显；防单点失败，一台服务器故障后其它服务器还可以运行；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集群的缺点：采用主从结构，不具备自动切换主从的功能。所以一旦主节点宕机，整个系统不可用；对网络要求高，节点之间需要不断的传输数据；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适用场景： 需求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kettle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能时刻保持正常运行的场景；大批量处理数据的场景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集成解决方案：将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kettle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集成到应用程序，以代码的形式，通过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来调用。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9561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易用性：都有</a:t>
            </a:r>
            <a:r>
              <a:rPr lang="en-US" altLang="zh-CN" dirty="0"/>
              <a:t>GUI</a:t>
            </a:r>
            <a:r>
              <a:rPr lang="zh-CN" altLang="en-US" dirty="0"/>
              <a:t>图形界面，操作步骤都比较简单易用；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速度：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Kettle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在异构数据库的处理能力比同构数据库的处理能力要弱很多；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日志监控：</a:t>
            </a:r>
            <a:r>
              <a:rPr lang="en-US" altLang="zh-CN" sz="1200" dirty="0">
                <a:latin typeface="+mn-ea"/>
              </a:rPr>
              <a:t>PowerCenter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的监控日志相对要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Kettle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更详细；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部署：</a:t>
            </a:r>
            <a:r>
              <a:rPr lang="en-US" altLang="zh-CN" sz="1200" dirty="0">
                <a:latin typeface="+mn-ea"/>
              </a:rPr>
              <a:t>PowerCenter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将客户端和服务端进行分离，而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Kettle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则没有；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9090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>
              <a:ea typeface="Hei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6065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支持平台：对高性能的硬件和主机的支持；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/>
              <a:t>数据源：数据源类型，及数据源接口类型，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针对同一种数据库，使用通用的接口（如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ODBC/JDBC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）还是原厂商自己的专用接口，数据抽取效率都会有很大差别；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/>
              <a:t>数据转换：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许多数据仓库分析中所要求的数据在业务系统中并不直接存在，需要根据某些公式对各部分数据进行计算才能得到；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管理和调度：抽取过程的备份与恢复；支持时间触发方式；支持事件触发方式等；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集成和开放性：是否能调用各种外部应用，包括存储过程、各种流行语言开发的应用程序等；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6840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支持平台：对高性能的硬件和主机的支持；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/>
              <a:t>数据源：数据源类型，及数据源接口类型，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针对同一种数据库，使用通用的接口（如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ODBC/JDBC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）还是原厂商自己的专用接口，数据抽取效率都会有很大差别；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/>
              <a:t>数据转换：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许多数据仓库分析中所要求的数据在业务系统中并不直接存在，需要根据某些公式对各部分数据进行计算才能得到；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管理和调度：抽取过程的备份与恢复；支持时间触发方式；支持事件触发方式等；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集成和开放性：是否能调用各种外部应用，包括存储过程、各种流行语言开发的应用程序等；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9F932-8908-4E23-8967-C1311C08A8A7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63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48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Picture 2" descr="D:\MyData\LIDUAN\Documents\WeChat Files\Sodakevin\Files\美的标志PNG格式\美的标志PNG格式 (1).png">
            <a:extLst>
              <a:ext uri="{FF2B5EF4-FFF2-40B4-BE49-F238E27FC236}">
                <a16:creationId xmlns:a16="http://schemas.microsoft.com/office/drawing/2014/main" id="{58B3646A-5CE4-4E8C-A41A-50B776C5E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0366" y="-207281"/>
            <a:ext cx="1313514" cy="1238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28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068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469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197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96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834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64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324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61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370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1288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06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273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087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00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71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9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Relationship Id="rId9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B01A06BB-661C-4103-B244-F5D6DF5FA3AC}"/>
              </a:ext>
            </a:extLst>
          </p:cNvPr>
          <p:cNvSpPr txBox="1">
            <a:spLocks/>
          </p:cNvSpPr>
          <p:nvPr/>
        </p:nvSpPr>
        <p:spPr>
          <a:xfrm>
            <a:off x="1313259" y="1832847"/>
            <a:ext cx="6517482" cy="1635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Maiandra GD" panose="020E0502030308020204" pitchFamily="34" charset="0"/>
                <a:ea typeface="+mn-ea"/>
              </a:rPr>
              <a:t>ETL</a:t>
            </a:r>
            <a:r>
              <a:rPr lang="zh-CN" altLang="en-US" dirty="0">
                <a:latin typeface="Maiandra GD" panose="020E0502030308020204" pitchFamily="34" charset="0"/>
                <a:ea typeface="+mn-ea"/>
              </a:rPr>
              <a:t>原理</a:t>
            </a:r>
            <a:r>
              <a:rPr lang="zh-CN" altLang="en-US">
                <a:latin typeface="Maiandra GD" panose="020E0502030308020204" pitchFamily="34" charset="0"/>
                <a:ea typeface="+mn-ea"/>
              </a:rPr>
              <a:t>及工具介绍</a:t>
            </a:r>
            <a:endParaRPr lang="zh-CN" altLang="en-US" dirty="0">
              <a:latin typeface="Maiandra GD" panose="020E0502030308020204" pitchFamily="34" charset="0"/>
              <a:ea typeface="+mn-ea"/>
            </a:endParaRPr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336B5CCA-62AF-4B8A-B031-73803F75C555}"/>
              </a:ext>
            </a:extLst>
          </p:cNvPr>
          <p:cNvSpPr txBox="1">
            <a:spLocks/>
          </p:cNvSpPr>
          <p:nvPr/>
        </p:nvSpPr>
        <p:spPr>
          <a:xfrm>
            <a:off x="6044665" y="4484190"/>
            <a:ext cx="1525569" cy="10286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王南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marL="0" indent="0" algn="r">
              <a:buNone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2018-6-1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0333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椭圆 30">
            <a:extLst>
              <a:ext uri="{FF2B5EF4-FFF2-40B4-BE49-F238E27FC236}">
                <a16:creationId xmlns:a16="http://schemas.microsoft.com/office/drawing/2014/main" id="{3AFF17FD-540D-457A-BF28-CAB61E854857}"/>
              </a:ext>
            </a:extLst>
          </p:cNvPr>
          <p:cNvSpPr/>
          <p:nvPr/>
        </p:nvSpPr>
        <p:spPr>
          <a:xfrm>
            <a:off x="1115616" y="2610967"/>
            <a:ext cx="1940868" cy="1940868"/>
          </a:xfrm>
          <a:prstGeom prst="ellipse">
            <a:avLst/>
          </a:prstGeom>
          <a:noFill/>
          <a:ln w="9525" cap="flat" cmpd="sng" algn="ctr">
            <a:gradFill>
              <a:gsLst>
                <a:gs pos="100000">
                  <a:srgbClr val="138F81"/>
                </a:gs>
                <a:gs pos="0">
                  <a:srgbClr val="19BAA9"/>
                </a:gs>
              </a:gsLst>
              <a:lin ang="2700000" scaled="0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ysClr val="window" lastClr="FFFFFF">
                      <a:shade val="30000"/>
                      <a:satMod val="115000"/>
                    </a:sysClr>
                  </a:gs>
                  <a:gs pos="50000">
                    <a:sysClr val="window" lastClr="FFFFFF">
                      <a:shade val="67500"/>
                      <a:satMod val="115000"/>
                    </a:sysClr>
                  </a:gs>
                  <a:gs pos="100000">
                    <a:sysClr val="window" lastClr="FFFFFF">
                      <a:shade val="100000"/>
                      <a:satMod val="115000"/>
                    </a:sys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A237593F-1BE2-4B73-AE87-F80630EB420A}"/>
              </a:ext>
            </a:extLst>
          </p:cNvPr>
          <p:cNvSpPr/>
          <p:nvPr/>
        </p:nvSpPr>
        <p:spPr>
          <a:xfrm>
            <a:off x="-540568" y="4806330"/>
            <a:ext cx="2007046" cy="2007046"/>
          </a:xfrm>
          <a:prstGeom prst="ellipse">
            <a:avLst/>
          </a:prstGeom>
          <a:noFill/>
          <a:ln w="9525" cap="flat" cmpd="sng" algn="ctr">
            <a:gradFill>
              <a:gsLst>
                <a:gs pos="100000">
                  <a:srgbClr val="89A13D"/>
                </a:gs>
                <a:gs pos="0">
                  <a:srgbClr val="B2D138"/>
                </a:gs>
              </a:gsLst>
              <a:lin ang="2700000" scaled="0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ysClr val="window" lastClr="FFFFFF">
                      <a:shade val="30000"/>
                      <a:satMod val="115000"/>
                    </a:sysClr>
                  </a:gs>
                  <a:gs pos="50000">
                    <a:sysClr val="window" lastClr="FFFFFF">
                      <a:shade val="67500"/>
                      <a:satMod val="115000"/>
                    </a:sysClr>
                  </a:gs>
                  <a:gs pos="100000">
                    <a:sysClr val="window" lastClr="FFFFFF">
                      <a:shade val="100000"/>
                      <a:satMod val="115000"/>
                    </a:sys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273960E5-0E90-46C2-8507-D021C5143D4F}"/>
              </a:ext>
            </a:extLst>
          </p:cNvPr>
          <p:cNvSpPr/>
          <p:nvPr/>
        </p:nvSpPr>
        <p:spPr>
          <a:xfrm>
            <a:off x="2302173" y="2286050"/>
            <a:ext cx="802258" cy="802258"/>
          </a:xfrm>
          <a:prstGeom prst="ellipse">
            <a:avLst/>
          </a:prstGeom>
          <a:noFill/>
          <a:ln w="9525" cap="flat" cmpd="sng" algn="ctr">
            <a:gradFill>
              <a:gsLst>
                <a:gs pos="100000">
                  <a:srgbClr val="E33F24"/>
                </a:gs>
                <a:gs pos="0">
                  <a:srgbClr val="F26434"/>
                </a:gs>
              </a:gsLst>
              <a:lin ang="2700000" scaled="0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ysClr val="window" lastClr="FFFFFF">
                      <a:shade val="30000"/>
                      <a:satMod val="115000"/>
                    </a:sysClr>
                  </a:gs>
                  <a:gs pos="50000">
                    <a:sysClr val="window" lastClr="FFFFFF">
                      <a:shade val="67500"/>
                      <a:satMod val="115000"/>
                    </a:sysClr>
                  </a:gs>
                  <a:gs pos="100000">
                    <a:sysClr val="window" lastClr="FFFFFF">
                      <a:shade val="100000"/>
                      <a:satMod val="115000"/>
                    </a:sys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34" name="TextBox 23">
            <a:extLst>
              <a:ext uri="{FF2B5EF4-FFF2-40B4-BE49-F238E27FC236}">
                <a16:creationId xmlns:a16="http://schemas.microsoft.com/office/drawing/2014/main" id="{85AF9276-9B58-4CA3-B95A-7793FA318613}"/>
              </a:ext>
            </a:extLst>
          </p:cNvPr>
          <p:cNvSpPr txBox="1"/>
          <p:nvPr/>
        </p:nvSpPr>
        <p:spPr>
          <a:xfrm>
            <a:off x="1500181" y="3165902"/>
            <a:ext cx="11684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>
                  <a:lumMod val="65000"/>
                  <a:lumOff val="3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>
                  <a:lumMod val="65000"/>
                  <a:lumOff val="3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72A4E62B-9FA7-4AFE-B565-AF567F0AE00C}"/>
              </a:ext>
            </a:extLst>
          </p:cNvPr>
          <p:cNvSpPr/>
          <p:nvPr/>
        </p:nvSpPr>
        <p:spPr>
          <a:xfrm>
            <a:off x="4372328" y="2946720"/>
            <a:ext cx="565516" cy="565516"/>
          </a:xfrm>
          <a:prstGeom prst="ellipse">
            <a:avLst/>
          </a:prstGeom>
          <a:gradFill flip="none" rotWithShape="1">
            <a:gsLst>
              <a:gs pos="90000">
                <a:srgbClr val="138F81"/>
              </a:gs>
              <a:gs pos="30000">
                <a:srgbClr val="19BAA9"/>
              </a:gs>
            </a:gsLst>
            <a:lin ang="2700000" scaled="1"/>
            <a:tileRect/>
          </a:gradFill>
          <a:ln w="25400" cap="flat" cmpd="sng" algn="ctr">
            <a:gradFill>
              <a:gsLst>
                <a:gs pos="0">
                  <a:srgbClr val="138F81"/>
                </a:gs>
                <a:gs pos="100000">
                  <a:srgbClr val="19BAA9"/>
                </a:gs>
              </a:gsLst>
              <a:lin ang="5400000" scaled="0"/>
            </a:gradFill>
            <a:prstDash val="solid"/>
          </a:ln>
          <a:effectLst>
            <a:outerShdw blurRad="254000" dist="190500" dir="3540000" sx="105000" sy="105000" algn="tl" rotWithShape="0">
              <a:sysClr val="windowText" lastClr="000000">
                <a:lumMod val="95000"/>
                <a:lumOff val="5000"/>
                <a:alpha val="2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ysClr val="window" lastClr="FFFFFF">
                      <a:shade val="30000"/>
                      <a:satMod val="115000"/>
                    </a:sysClr>
                  </a:gs>
                  <a:gs pos="50000">
                    <a:sysClr val="window" lastClr="FFFFFF">
                      <a:shade val="67500"/>
                      <a:satMod val="115000"/>
                    </a:sysClr>
                  </a:gs>
                  <a:gs pos="100000">
                    <a:sysClr val="window" lastClr="FFFFFF">
                      <a:shade val="100000"/>
                      <a:satMod val="115000"/>
                    </a:sys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B0B4D384-D642-48F5-8BB3-7761476268E0}"/>
              </a:ext>
            </a:extLst>
          </p:cNvPr>
          <p:cNvSpPr txBox="1"/>
          <p:nvPr/>
        </p:nvSpPr>
        <p:spPr>
          <a:xfrm>
            <a:off x="4547252" y="3002860"/>
            <a:ext cx="215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Impact" panose="020B0806030902050204" pitchFamily="34" charset="0"/>
              </a:rPr>
              <a:t>1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F7372DB5-F140-4809-9098-6C730B7BDAED}"/>
              </a:ext>
            </a:extLst>
          </p:cNvPr>
          <p:cNvSpPr/>
          <p:nvPr/>
        </p:nvSpPr>
        <p:spPr>
          <a:xfrm>
            <a:off x="4361250" y="3893957"/>
            <a:ext cx="565516" cy="565516"/>
          </a:xfrm>
          <a:prstGeom prst="ellipse">
            <a:avLst/>
          </a:prstGeom>
          <a:gradFill flip="none" rotWithShape="1">
            <a:gsLst>
              <a:gs pos="90000">
                <a:srgbClr val="E33F24"/>
              </a:gs>
              <a:gs pos="30000">
                <a:srgbClr val="F26434"/>
              </a:gs>
            </a:gsLst>
            <a:lin ang="2700000" scaled="1"/>
            <a:tileRect/>
          </a:gradFill>
          <a:ln w="25400" cap="flat" cmpd="sng" algn="ctr">
            <a:gradFill>
              <a:gsLst>
                <a:gs pos="0">
                  <a:srgbClr val="E33F24"/>
                </a:gs>
                <a:gs pos="100000">
                  <a:srgbClr val="F26434"/>
                </a:gs>
              </a:gsLst>
              <a:lin ang="5400000" scaled="0"/>
            </a:gradFill>
            <a:prstDash val="solid"/>
          </a:ln>
          <a:effectLst>
            <a:outerShdw blurRad="254000" dist="190500" dir="3540000" sx="105000" sy="105000" algn="tl" rotWithShape="0">
              <a:sysClr val="windowText" lastClr="000000">
                <a:lumMod val="95000"/>
                <a:lumOff val="5000"/>
                <a:alpha val="2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ysClr val="window" lastClr="FFFFFF">
                      <a:shade val="30000"/>
                      <a:satMod val="115000"/>
                    </a:sysClr>
                  </a:gs>
                  <a:gs pos="50000">
                    <a:sysClr val="window" lastClr="FFFFFF">
                      <a:shade val="67500"/>
                      <a:satMod val="115000"/>
                    </a:sysClr>
                  </a:gs>
                  <a:gs pos="100000">
                    <a:sysClr val="window" lastClr="FFFFFF">
                      <a:shade val="100000"/>
                      <a:satMod val="115000"/>
                    </a:sys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38" name="TextBox 27">
            <a:extLst>
              <a:ext uri="{FF2B5EF4-FFF2-40B4-BE49-F238E27FC236}">
                <a16:creationId xmlns:a16="http://schemas.microsoft.com/office/drawing/2014/main" id="{A49A95BA-9DD7-4D77-A031-764422A51EE1}"/>
              </a:ext>
            </a:extLst>
          </p:cNvPr>
          <p:cNvSpPr txBox="1"/>
          <p:nvPr/>
        </p:nvSpPr>
        <p:spPr>
          <a:xfrm>
            <a:off x="4536174" y="3950097"/>
            <a:ext cx="215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Impact" panose="020B0806030902050204" pitchFamily="34" charset="0"/>
              </a:rPr>
              <a:t>2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7B01B8B-A803-41FF-9D9B-0D7D18C8544C}"/>
              </a:ext>
            </a:extLst>
          </p:cNvPr>
          <p:cNvSpPr/>
          <p:nvPr/>
        </p:nvSpPr>
        <p:spPr>
          <a:xfrm>
            <a:off x="5315862" y="3042751"/>
            <a:ext cx="1944216" cy="3693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ETL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原理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>
                  <a:lumMod val="65000"/>
                  <a:lumOff val="35000"/>
                </a:sysClr>
              </a:solidFill>
              <a:effectLst/>
              <a:uLnTx/>
              <a:uFillTx/>
              <a:latin typeface="Impact" panose="020B0806030902050204" pitchFamily="34" charset="0"/>
              <a:ea typeface="宋体" charset="-122"/>
              <a:cs typeface="Arial" panose="020B060402020202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90D73AE-17A6-41C4-91FC-A1F8A44BC2C4}"/>
              </a:ext>
            </a:extLst>
          </p:cNvPr>
          <p:cNvSpPr/>
          <p:nvPr/>
        </p:nvSpPr>
        <p:spPr>
          <a:xfrm>
            <a:off x="5315862" y="4021500"/>
            <a:ext cx="2448272" cy="3693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ETL</a:t>
            </a: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的常用工具及比较</a:t>
            </a:r>
            <a:endParaRPr lang="zh-CN" altLang="en-US" sz="140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  <a:ea typeface="宋体" charset="-122"/>
              <a:cs typeface="Arial" panose="020B0604020202020204" pitchFamily="34" charset="0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171FE5AD-3017-46BB-9DA0-900573DE01FB}"/>
              </a:ext>
            </a:extLst>
          </p:cNvPr>
          <p:cNvSpPr/>
          <p:nvPr/>
        </p:nvSpPr>
        <p:spPr>
          <a:xfrm>
            <a:off x="1331541" y="5505079"/>
            <a:ext cx="1296144" cy="1296144"/>
          </a:xfrm>
          <a:prstGeom prst="ellipse">
            <a:avLst/>
          </a:prstGeom>
          <a:noFill/>
          <a:ln w="9525" cap="flat" cmpd="sng" algn="ctr">
            <a:gradFill>
              <a:gsLst>
                <a:gs pos="100000">
                  <a:srgbClr val="108692"/>
                </a:gs>
                <a:gs pos="0">
                  <a:srgbClr val="16B2C1"/>
                </a:gs>
              </a:gsLst>
              <a:lin ang="2700000" scaled="0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ysClr val="window" lastClr="FFFFFF">
                      <a:shade val="30000"/>
                      <a:satMod val="115000"/>
                    </a:sysClr>
                  </a:gs>
                  <a:gs pos="50000">
                    <a:sysClr val="window" lastClr="FFFFFF">
                      <a:shade val="67500"/>
                      <a:satMod val="115000"/>
                    </a:sysClr>
                  </a:gs>
                  <a:gs pos="100000">
                    <a:sysClr val="window" lastClr="FFFFFF">
                      <a:shade val="100000"/>
                      <a:satMod val="115000"/>
                    </a:sys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877099AE-7AD2-4D74-80D9-A766794CC654}"/>
              </a:ext>
            </a:extLst>
          </p:cNvPr>
          <p:cNvSpPr/>
          <p:nvPr/>
        </p:nvSpPr>
        <p:spPr>
          <a:xfrm>
            <a:off x="2936826" y="5259388"/>
            <a:ext cx="347246" cy="347246"/>
          </a:xfrm>
          <a:prstGeom prst="ellipse">
            <a:avLst/>
          </a:prstGeom>
          <a:noFill/>
          <a:ln w="9525" cap="flat" cmpd="sng" algn="ctr">
            <a:gradFill>
              <a:gsLst>
                <a:gs pos="100000">
                  <a:srgbClr val="E33F24"/>
                </a:gs>
                <a:gs pos="0">
                  <a:srgbClr val="F26434"/>
                </a:gs>
              </a:gsLst>
              <a:lin ang="2700000" scaled="0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ysClr val="window" lastClr="FFFFFF">
                      <a:shade val="30000"/>
                      <a:satMod val="115000"/>
                    </a:sysClr>
                  </a:gs>
                  <a:gs pos="50000">
                    <a:sysClr val="window" lastClr="FFFFFF">
                      <a:shade val="67500"/>
                      <a:satMod val="115000"/>
                    </a:sysClr>
                  </a:gs>
                  <a:gs pos="100000">
                    <a:sysClr val="window" lastClr="FFFFFF">
                      <a:shade val="100000"/>
                      <a:satMod val="115000"/>
                    </a:sys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7938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3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3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6" presetClass="emph" presetSubtype="0" autoRev="1" fill="hold" grpId="1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11" dur="15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2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" dur="3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3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3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6" presetClass="emph" presetSubtype="0" autoRev="1" fill="hold" grpId="1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animScale>
                                          <p:cBhvr>
                                            <p:cTn id="18" dur="150" fill="hold"/>
                                            <p:tgtEl>
                                              <p:spTgt spid="3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9" presetID="5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" dur="3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6" presetClass="emph" presetSubtype="0" autoRev="1" fill="hold" grpId="1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25" dur="150" fill="hold"/>
                                            <p:tgtEl>
                                              <p:spTgt spid="3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6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3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3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6" presetClass="emph" presetSubtype="0" autoRev="1" fill="hold" grpId="1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150" fill="hold"/>
                                            <p:tgtEl>
                                              <p:spTgt spid="4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3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3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3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6" presetClass="emph" presetSubtype="0" autoRev="1" fill="hold" grpId="1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animScale>
                                          <p:cBhvr>
                                            <p:cTn id="39" dur="150" fill="hold"/>
                                            <p:tgtEl>
                                              <p:spTgt spid="4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0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3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3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6" presetClass="emph" presetSubtype="0" autoRev="1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Scale>
                                          <p:cBhvr>
                                            <p:cTn id="46" dur="150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7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1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6" presetClass="emph" presetSubtype="0" autoRev="1" fill="hold" grpId="1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animScale>
                                          <p:cBhvr>
                                            <p:cTn id="53" dur="150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4" presetID="53" presetClass="entr" presetSubtype="16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3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3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8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6" presetClass="emph" presetSubtype="0" autoRev="1" fill="hold" grpId="1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animScale>
                                          <p:cBhvr>
                                            <p:cTn id="60" dur="15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 p14:presetBounceEnd="58333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8333">
                                          <p:cBhvr additive="base">
                                            <p:cTn id="63" dur="6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8333">
                                          <p:cBhvr additive="base">
                                            <p:cTn id="64" dur="6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3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3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3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6" presetClass="emph" presetSubtype="0" autoRev="1" fill="hold" grpId="1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Scale>
                                          <p:cBhvr>
                                            <p:cTn id="71" dur="1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2" presetID="53" presetClass="entr" presetSubtype="16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4" dur="3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3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6" dur="3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6" presetClass="emph" presetSubtype="0" autoRev="1" fill="hold" grpId="1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animScale>
                                          <p:cBhvr>
                                            <p:cTn id="78" dur="150" fill="hold"/>
                                            <p:tgtEl>
                                              <p:spTgt spid="3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9" presetID="2" presetClass="entr" presetSubtype="2" fill="hold" grpId="0" nodeType="withEffect" p14:presetBounceEnd="58333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8333">
                                          <p:cBhvr additive="base">
                                            <p:cTn id="81" dur="6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8333">
                                          <p:cBhvr additive="base">
                                            <p:cTn id="82" dur="6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1" grpId="1" animBg="1"/>
          <p:bldP spid="32" grpId="0" animBg="1"/>
          <p:bldP spid="32" grpId="1" animBg="1"/>
          <p:bldP spid="33" grpId="0" animBg="1"/>
          <p:bldP spid="33" grpId="1" animBg="1"/>
          <p:bldP spid="34" grpId="0"/>
          <p:bldP spid="34" grpId="1"/>
          <p:bldP spid="35" grpId="0" animBg="1"/>
          <p:bldP spid="35" grpId="1" animBg="1"/>
          <p:bldP spid="36" grpId="0"/>
          <p:bldP spid="36" grpId="1"/>
          <p:bldP spid="37" grpId="0" animBg="1"/>
          <p:bldP spid="37" grpId="1" animBg="1"/>
          <p:bldP spid="38" grpId="0"/>
          <p:bldP spid="38" grpId="1"/>
          <p:bldP spid="43" grpId="0"/>
          <p:bldP spid="44" grpId="0"/>
          <p:bldP spid="47" grpId="0" animBg="1"/>
          <p:bldP spid="47" grpId="1" animBg="1"/>
          <p:bldP spid="48" grpId="0" animBg="1"/>
          <p:bldP spid="48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3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3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6" presetClass="emph" presetSubtype="0" autoRev="1" fill="hold" grpId="1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11" dur="15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2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" dur="3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3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3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6" presetClass="emph" presetSubtype="0" autoRev="1" fill="hold" grpId="1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animScale>
                                          <p:cBhvr>
                                            <p:cTn id="18" dur="150" fill="hold"/>
                                            <p:tgtEl>
                                              <p:spTgt spid="3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9" presetID="5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" dur="3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6" presetClass="emph" presetSubtype="0" autoRev="1" fill="hold" grpId="1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25" dur="150" fill="hold"/>
                                            <p:tgtEl>
                                              <p:spTgt spid="3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6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3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3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6" presetClass="emph" presetSubtype="0" autoRev="1" fill="hold" grpId="1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150" fill="hold"/>
                                            <p:tgtEl>
                                              <p:spTgt spid="4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3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3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3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6" presetClass="emph" presetSubtype="0" autoRev="1" fill="hold" grpId="1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animScale>
                                          <p:cBhvr>
                                            <p:cTn id="39" dur="150" fill="hold"/>
                                            <p:tgtEl>
                                              <p:spTgt spid="4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0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3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3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6" presetClass="emph" presetSubtype="0" autoRev="1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Scale>
                                          <p:cBhvr>
                                            <p:cTn id="46" dur="150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7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1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6" presetClass="emph" presetSubtype="0" autoRev="1" fill="hold" grpId="1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animScale>
                                          <p:cBhvr>
                                            <p:cTn id="53" dur="150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4" presetID="53" presetClass="entr" presetSubtype="16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3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3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8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6" presetClass="emph" presetSubtype="0" autoRev="1" fill="hold" grpId="1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animScale>
                                          <p:cBhvr>
                                            <p:cTn id="60" dur="15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2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6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6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3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3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3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6" presetClass="emph" presetSubtype="0" autoRev="1" fill="hold" grpId="1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Scale>
                                          <p:cBhvr>
                                            <p:cTn id="71" dur="1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2" presetID="53" presetClass="entr" presetSubtype="16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4" dur="3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3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6" dur="3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6" presetClass="emph" presetSubtype="0" autoRev="1" fill="hold" grpId="1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animScale>
                                          <p:cBhvr>
                                            <p:cTn id="78" dur="150" fill="hold"/>
                                            <p:tgtEl>
                                              <p:spTgt spid="3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9" presetID="2" presetClass="entr" presetSubtype="2" fill="hold" grpId="0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1" dur="6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2" dur="6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1" grpId="1" animBg="1"/>
          <p:bldP spid="32" grpId="0" animBg="1"/>
          <p:bldP spid="32" grpId="1" animBg="1"/>
          <p:bldP spid="33" grpId="0" animBg="1"/>
          <p:bldP spid="33" grpId="1" animBg="1"/>
          <p:bldP spid="34" grpId="0"/>
          <p:bldP spid="34" grpId="1"/>
          <p:bldP spid="35" grpId="0" animBg="1"/>
          <p:bldP spid="35" grpId="1" animBg="1"/>
          <p:bldP spid="36" grpId="0"/>
          <p:bldP spid="36" grpId="1"/>
          <p:bldP spid="37" grpId="0" animBg="1"/>
          <p:bldP spid="37" grpId="1" animBg="1"/>
          <p:bldP spid="38" grpId="0"/>
          <p:bldP spid="38" grpId="1"/>
          <p:bldP spid="43" grpId="0"/>
          <p:bldP spid="44" grpId="0"/>
          <p:bldP spid="47" grpId="0" animBg="1"/>
          <p:bldP spid="47" grpId="1" animBg="1"/>
          <p:bldP spid="48" grpId="0" animBg="1"/>
          <p:bldP spid="48" grpId="1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椭圆 34">
            <a:extLst>
              <a:ext uri="{FF2B5EF4-FFF2-40B4-BE49-F238E27FC236}">
                <a16:creationId xmlns:a16="http://schemas.microsoft.com/office/drawing/2014/main" id="{72A4E62B-9FA7-4AFE-B565-AF567F0AE00C}"/>
              </a:ext>
            </a:extLst>
          </p:cNvPr>
          <p:cNvSpPr/>
          <p:nvPr/>
        </p:nvSpPr>
        <p:spPr>
          <a:xfrm>
            <a:off x="3390551" y="2988613"/>
            <a:ext cx="565516" cy="565516"/>
          </a:xfrm>
          <a:prstGeom prst="ellipse">
            <a:avLst/>
          </a:prstGeom>
          <a:gradFill flip="none" rotWithShape="1">
            <a:gsLst>
              <a:gs pos="90000">
                <a:srgbClr val="138F81"/>
              </a:gs>
              <a:gs pos="30000">
                <a:srgbClr val="19BAA9"/>
              </a:gs>
            </a:gsLst>
            <a:lin ang="2700000" scaled="1"/>
            <a:tileRect/>
          </a:gradFill>
          <a:ln w="25400" cap="flat" cmpd="sng" algn="ctr">
            <a:gradFill>
              <a:gsLst>
                <a:gs pos="0">
                  <a:srgbClr val="138F81"/>
                </a:gs>
                <a:gs pos="100000">
                  <a:srgbClr val="19BAA9"/>
                </a:gs>
              </a:gsLst>
              <a:lin ang="5400000" scaled="0"/>
            </a:gradFill>
            <a:prstDash val="solid"/>
          </a:ln>
          <a:effectLst>
            <a:outerShdw blurRad="254000" dist="190500" dir="3540000" sx="105000" sy="105000" algn="tl" rotWithShape="0">
              <a:sysClr val="windowText" lastClr="000000">
                <a:lumMod val="95000"/>
                <a:lumOff val="5000"/>
                <a:alpha val="2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ysClr val="window" lastClr="FFFFFF">
                      <a:shade val="30000"/>
                      <a:satMod val="115000"/>
                    </a:sysClr>
                  </a:gs>
                  <a:gs pos="50000">
                    <a:sysClr val="window" lastClr="FFFFFF">
                      <a:shade val="67500"/>
                      <a:satMod val="115000"/>
                    </a:sysClr>
                  </a:gs>
                  <a:gs pos="100000">
                    <a:sysClr val="window" lastClr="FFFFFF">
                      <a:shade val="100000"/>
                      <a:satMod val="115000"/>
                    </a:sys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B0B4D384-D642-48F5-8BB3-7761476268E0}"/>
              </a:ext>
            </a:extLst>
          </p:cNvPr>
          <p:cNvSpPr txBox="1"/>
          <p:nvPr/>
        </p:nvSpPr>
        <p:spPr>
          <a:xfrm>
            <a:off x="3565475" y="3044753"/>
            <a:ext cx="215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Impact" panose="020B0806030902050204" pitchFamily="34" charset="0"/>
              </a:rPr>
              <a:t>1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7B01B8B-A803-41FF-9D9B-0D7D18C8544C}"/>
              </a:ext>
            </a:extLst>
          </p:cNvPr>
          <p:cNvSpPr/>
          <p:nvPr/>
        </p:nvSpPr>
        <p:spPr>
          <a:xfrm>
            <a:off x="4334085" y="3084644"/>
            <a:ext cx="1479574" cy="461665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ETL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原理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>
                  <a:lumMod val="65000"/>
                  <a:lumOff val="35000"/>
                </a:sysClr>
              </a:solidFill>
              <a:effectLst/>
              <a:uLnTx/>
              <a:uFillTx/>
              <a:latin typeface="Impact" panose="020B0806030902050204" pitchFamily="34" charset="0"/>
              <a:ea typeface="宋体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64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1D6E5C3D-E534-439D-89CB-D10031759572}"/>
              </a:ext>
            </a:extLst>
          </p:cNvPr>
          <p:cNvSpPr/>
          <p:nvPr/>
        </p:nvSpPr>
        <p:spPr>
          <a:xfrm>
            <a:off x="3628169" y="3496648"/>
            <a:ext cx="1887662" cy="64901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+mn-ea"/>
              </a:rPr>
              <a:t>数据仓库技术</a:t>
            </a:r>
          </a:p>
        </p:txBody>
      </p:sp>
      <p:graphicFrame>
        <p:nvGraphicFramePr>
          <p:cNvPr id="13" name="图示 12">
            <a:extLst>
              <a:ext uri="{FF2B5EF4-FFF2-40B4-BE49-F238E27FC236}">
                <a16:creationId xmlns:a16="http://schemas.microsoft.com/office/drawing/2014/main" id="{82F5CCCE-6A8B-496F-96A7-D2D7EF6BCB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9217999"/>
              </p:ext>
            </p:extLst>
          </p:nvPr>
        </p:nvGraphicFramePr>
        <p:xfrm>
          <a:off x="866506" y="1228725"/>
          <a:ext cx="7391669" cy="1493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7169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D37301FA-89BA-4B1E-A4D6-768B00E40630}"/>
              </a:ext>
            </a:extLst>
          </p:cNvPr>
          <p:cNvGrpSpPr/>
          <p:nvPr/>
        </p:nvGrpSpPr>
        <p:grpSpPr>
          <a:xfrm>
            <a:off x="998268" y="2965381"/>
            <a:ext cx="1266825" cy="3100567"/>
            <a:chOff x="719135" y="3352800"/>
            <a:chExt cx="1266825" cy="3100567"/>
          </a:xfrm>
        </p:grpSpPr>
        <p:sp>
          <p:nvSpPr>
            <p:cNvPr id="4" name="流程图: 磁盘 3">
              <a:extLst>
                <a:ext uri="{FF2B5EF4-FFF2-40B4-BE49-F238E27FC236}">
                  <a16:creationId xmlns:a16="http://schemas.microsoft.com/office/drawing/2014/main" id="{398733E6-4CD2-4C35-A54C-DF5CFB05733B}"/>
                </a:ext>
              </a:extLst>
            </p:cNvPr>
            <p:cNvSpPr/>
            <p:nvPr/>
          </p:nvSpPr>
          <p:spPr>
            <a:xfrm>
              <a:off x="1000125" y="4379595"/>
              <a:ext cx="400050" cy="266700"/>
            </a:xfrm>
            <a:prstGeom prst="flowChartMagneticDisk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6" name="流程图: 磁盘 5">
              <a:extLst>
                <a:ext uri="{FF2B5EF4-FFF2-40B4-BE49-F238E27FC236}">
                  <a16:creationId xmlns:a16="http://schemas.microsoft.com/office/drawing/2014/main" id="{3364A7AA-3A9E-438F-A6C6-C184F2D69EF3}"/>
                </a:ext>
              </a:extLst>
            </p:cNvPr>
            <p:cNvSpPr/>
            <p:nvPr/>
          </p:nvSpPr>
          <p:spPr>
            <a:xfrm>
              <a:off x="1152525" y="4531995"/>
              <a:ext cx="400050" cy="266698"/>
            </a:xfrm>
            <a:prstGeom prst="flowChartMagneticDisk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8" name="流程图: 磁盘 7">
              <a:extLst>
                <a:ext uri="{FF2B5EF4-FFF2-40B4-BE49-F238E27FC236}">
                  <a16:creationId xmlns:a16="http://schemas.microsoft.com/office/drawing/2014/main" id="{BFA9D0F2-5796-4451-BE2A-81C2FFAEAC00}"/>
                </a:ext>
              </a:extLst>
            </p:cNvPr>
            <p:cNvSpPr/>
            <p:nvPr/>
          </p:nvSpPr>
          <p:spPr>
            <a:xfrm>
              <a:off x="1152525" y="4531995"/>
              <a:ext cx="400050" cy="266700"/>
            </a:xfrm>
            <a:prstGeom prst="flowChartMagneticDisk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9" name="流程图: 磁盘 8">
              <a:extLst>
                <a:ext uri="{FF2B5EF4-FFF2-40B4-BE49-F238E27FC236}">
                  <a16:creationId xmlns:a16="http://schemas.microsoft.com/office/drawing/2014/main" id="{D984F23F-5B86-40C3-8277-ED56324669E6}"/>
                </a:ext>
              </a:extLst>
            </p:cNvPr>
            <p:cNvSpPr/>
            <p:nvPr/>
          </p:nvSpPr>
          <p:spPr>
            <a:xfrm>
              <a:off x="1304925" y="4684395"/>
              <a:ext cx="400050" cy="266700"/>
            </a:xfrm>
            <a:prstGeom prst="flowChartMagneticDisk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0" name="矩形: 折角 9">
              <a:extLst>
                <a:ext uri="{FF2B5EF4-FFF2-40B4-BE49-F238E27FC236}">
                  <a16:creationId xmlns:a16="http://schemas.microsoft.com/office/drawing/2014/main" id="{F8266508-4996-49CE-A05A-A8A2DFD871B9}"/>
                </a:ext>
              </a:extLst>
            </p:cNvPr>
            <p:cNvSpPr/>
            <p:nvPr/>
          </p:nvSpPr>
          <p:spPr>
            <a:xfrm rot="5400000">
              <a:off x="1085848" y="5593369"/>
              <a:ext cx="628651" cy="386953"/>
            </a:xfrm>
            <a:prstGeom prst="foldedCorner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BC63F3A-2495-4423-B280-293F143BAA1F}"/>
                </a:ext>
              </a:extLst>
            </p:cNvPr>
            <p:cNvSpPr txBox="1"/>
            <p:nvPr/>
          </p:nvSpPr>
          <p:spPr>
            <a:xfrm>
              <a:off x="719135" y="5023317"/>
              <a:ext cx="12668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业务数据系统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84C6CBE-779A-48C4-A037-4F70FA5C4A1C}"/>
                </a:ext>
              </a:extLst>
            </p:cNvPr>
            <p:cNvSpPr txBox="1"/>
            <p:nvPr/>
          </p:nvSpPr>
          <p:spPr>
            <a:xfrm>
              <a:off x="873852" y="6145590"/>
              <a:ext cx="9573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文档资料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92050A03-72C7-42EC-B630-49E4E9A5A3F8}"/>
                </a:ext>
              </a:extLst>
            </p:cNvPr>
            <p:cNvSpPr/>
            <p:nvPr/>
          </p:nvSpPr>
          <p:spPr>
            <a:xfrm>
              <a:off x="1020603" y="3352800"/>
              <a:ext cx="375762" cy="194495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8AC3C3AD-9539-4F69-AA8D-3308EEAF1120}"/>
                </a:ext>
              </a:extLst>
            </p:cNvPr>
            <p:cNvSpPr/>
            <p:nvPr/>
          </p:nvSpPr>
          <p:spPr>
            <a:xfrm>
              <a:off x="1173003" y="3505200"/>
              <a:ext cx="375762" cy="194495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B821F3C-C079-414E-834C-BAD882035A6B}"/>
                </a:ext>
              </a:extLst>
            </p:cNvPr>
            <p:cNvSpPr txBox="1"/>
            <p:nvPr/>
          </p:nvSpPr>
          <p:spPr>
            <a:xfrm>
              <a:off x="896063" y="3749807"/>
              <a:ext cx="91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外部数据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D6A177A-16C6-491A-84E7-EEAF467F2A50}"/>
              </a:ext>
            </a:extLst>
          </p:cNvPr>
          <p:cNvGrpSpPr/>
          <p:nvPr/>
        </p:nvGrpSpPr>
        <p:grpSpPr>
          <a:xfrm>
            <a:off x="3607645" y="3377838"/>
            <a:ext cx="1243488" cy="1288273"/>
            <a:chOff x="3328512" y="3765257"/>
            <a:chExt cx="1243488" cy="1288273"/>
          </a:xfrm>
        </p:grpSpPr>
        <p:sp>
          <p:nvSpPr>
            <p:cNvPr id="16" name="流程图: 磁盘 15">
              <a:extLst>
                <a:ext uri="{FF2B5EF4-FFF2-40B4-BE49-F238E27FC236}">
                  <a16:creationId xmlns:a16="http://schemas.microsoft.com/office/drawing/2014/main" id="{9AC71D99-A8AA-48A9-9A51-D41AD9783727}"/>
                </a:ext>
              </a:extLst>
            </p:cNvPr>
            <p:cNvSpPr/>
            <p:nvPr/>
          </p:nvSpPr>
          <p:spPr>
            <a:xfrm>
              <a:off x="3629025" y="4239059"/>
              <a:ext cx="851536" cy="814471"/>
            </a:xfrm>
            <a:prstGeom prst="flowChartMagneticDisk">
              <a:avLst/>
            </a:prstGeom>
          </p:spPr>
          <p:style>
            <a:lnRef idx="1">
              <a:schemeClr val="dk1"/>
            </a:lnRef>
            <a:fillRef idx="1002">
              <a:schemeClr val="lt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F76C5DD-FD7D-4ADD-B7EE-3E8FFBE9BB04}"/>
                </a:ext>
              </a:extLst>
            </p:cNvPr>
            <p:cNvSpPr txBox="1"/>
            <p:nvPr/>
          </p:nvSpPr>
          <p:spPr>
            <a:xfrm>
              <a:off x="3328512" y="3765257"/>
              <a:ext cx="12434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数据仓库</a:t>
              </a:r>
              <a:r>
                <a:rPr lang="en-US" altLang="zh-CN" sz="1400" dirty="0">
                  <a:latin typeface="+mn-ea"/>
                </a:rPr>
                <a:t>(DW)</a:t>
              </a:r>
              <a:endParaRPr lang="zh-CN" altLang="en-US" sz="1400" dirty="0">
                <a:latin typeface="+mn-ea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745040E-A4D1-415F-892E-DD6C3DE20393}"/>
              </a:ext>
            </a:extLst>
          </p:cNvPr>
          <p:cNvGrpSpPr/>
          <p:nvPr/>
        </p:nvGrpSpPr>
        <p:grpSpPr>
          <a:xfrm>
            <a:off x="6768426" y="3173302"/>
            <a:ext cx="939341" cy="2209384"/>
            <a:chOff x="6489293" y="3377841"/>
            <a:chExt cx="939341" cy="2209384"/>
          </a:xfrm>
        </p:grpSpPr>
        <p:sp>
          <p:nvSpPr>
            <p:cNvPr id="18" name="不完整圆 17">
              <a:extLst>
                <a:ext uri="{FF2B5EF4-FFF2-40B4-BE49-F238E27FC236}">
                  <a16:creationId xmlns:a16="http://schemas.microsoft.com/office/drawing/2014/main" id="{600AD62F-E561-410C-BD7A-D3DDF3294882}"/>
                </a:ext>
              </a:extLst>
            </p:cNvPr>
            <p:cNvSpPr/>
            <p:nvPr/>
          </p:nvSpPr>
          <p:spPr>
            <a:xfrm>
              <a:off x="6533673" y="3377841"/>
              <a:ext cx="846773" cy="638019"/>
            </a:xfrm>
            <a:prstGeom prst="pi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0E9E0CC-5389-43E9-A593-A11AB4387053}"/>
                </a:ext>
              </a:extLst>
            </p:cNvPr>
            <p:cNvSpPr txBox="1"/>
            <p:nvPr/>
          </p:nvSpPr>
          <p:spPr>
            <a:xfrm>
              <a:off x="6489293" y="4118673"/>
              <a:ext cx="935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数据分析</a:t>
              </a:r>
            </a:p>
          </p:txBody>
        </p:sp>
        <p:sp>
          <p:nvSpPr>
            <p:cNvPr id="26" name="矩形: 对角圆角 25">
              <a:extLst>
                <a:ext uri="{FF2B5EF4-FFF2-40B4-BE49-F238E27FC236}">
                  <a16:creationId xmlns:a16="http://schemas.microsoft.com/office/drawing/2014/main" id="{045BF3CC-85FE-4AD0-9CEA-AF394B74850F}"/>
                </a:ext>
              </a:extLst>
            </p:cNvPr>
            <p:cNvSpPr/>
            <p:nvPr/>
          </p:nvSpPr>
          <p:spPr>
            <a:xfrm>
              <a:off x="6533673" y="4684395"/>
              <a:ext cx="846773" cy="497205"/>
            </a:xfrm>
            <a:prstGeom prst="round2Diag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C4D1E33-D5B6-4496-AD22-033ADDEF14FD}"/>
                </a:ext>
              </a:extLst>
            </p:cNvPr>
            <p:cNvSpPr txBox="1"/>
            <p:nvPr/>
          </p:nvSpPr>
          <p:spPr>
            <a:xfrm>
              <a:off x="6493103" y="5279448"/>
              <a:ext cx="935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数据报表</a:t>
              </a:r>
            </a:p>
          </p:txBody>
        </p:sp>
      </p:grpSp>
      <p:sp>
        <p:nvSpPr>
          <p:cNvPr id="31" name="箭头: 右 30">
            <a:extLst>
              <a:ext uri="{FF2B5EF4-FFF2-40B4-BE49-F238E27FC236}">
                <a16:creationId xmlns:a16="http://schemas.microsoft.com/office/drawing/2014/main" id="{0F737619-D440-4FC9-B6FA-6826C210A381}"/>
              </a:ext>
            </a:extLst>
          </p:cNvPr>
          <p:cNvSpPr/>
          <p:nvPr/>
        </p:nvSpPr>
        <p:spPr>
          <a:xfrm>
            <a:off x="2388920" y="3822352"/>
            <a:ext cx="1295400" cy="971829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n-ea"/>
              </a:rPr>
              <a:t>ETL</a:t>
            </a:r>
            <a:endParaRPr lang="zh-CN" altLang="en-US" dirty="0">
              <a:latin typeface="+mn-ea"/>
            </a:endParaRP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916EBB59-2504-4235-9722-478F69838A2E}"/>
              </a:ext>
            </a:extLst>
          </p:cNvPr>
          <p:cNvSpPr/>
          <p:nvPr/>
        </p:nvSpPr>
        <p:spPr>
          <a:xfrm>
            <a:off x="5138550" y="3792010"/>
            <a:ext cx="1295400" cy="971829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+mn-ea"/>
              </a:rPr>
              <a:t>服务</a:t>
            </a:r>
          </a:p>
        </p:txBody>
      </p:sp>
      <p:graphicFrame>
        <p:nvGraphicFramePr>
          <p:cNvPr id="39" name="图示 38">
            <a:extLst>
              <a:ext uri="{FF2B5EF4-FFF2-40B4-BE49-F238E27FC236}">
                <a16:creationId xmlns:a16="http://schemas.microsoft.com/office/drawing/2014/main" id="{F50CEEC4-EFAE-4F17-AF40-C36F569C8C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5463290"/>
              </p:ext>
            </p:extLst>
          </p:nvPr>
        </p:nvGraphicFramePr>
        <p:xfrm>
          <a:off x="866507" y="1220448"/>
          <a:ext cx="7182318" cy="1577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A315272-6652-4956-A560-5324FB34850D}"/>
              </a:ext>
            </a:extLst>
          </p:cNvPr>
          <p:cNvSpPr txBox="1"/>
          <p:nvPr/>
        </p:nvSpPr>
        <p:spPr>
          <a:xfrm>
            <a:off x="866507" y="1675995"/>
            <a:ext cx="7182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面向主题的、集成的、相对稳定的、反映历史变化的数据集合，用于支持管理决策。</a:t>
            </a:r>
            <a:endParaRPr lang="zh-CN" altLang="en-US" sz="12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8849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8452F72D-6CC5-42B2-BCF8-A40807DDC92F}"/>
              </a:ext>
            </a:extLst>
          </p:cNvPr>
          <p:cNvGrpSpPr/>
          <p:nvPr/>
        </p:nvGrpSpPr>
        <p:grpSpPr>
          <a:xfrm>
            <a:off x="827583" y="2657385"/>
            <a:ext cx="3190876" cy="3268393"/>
            <a:chOff x="827583" y="2657385"/>
            <a:chExt cx="3190876" cy="3268393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D8BA57E6-05FB-4315-9026-2B1EF00CF516}"/>
                </a:ext>
              </a:extLst>
            </p:cNvPr>
            <p:cNvSpPr/>
            <p:nvPr/>
          </p:nvSpPr>
          <p:spPr>
            <a:xfrm>
              <a:off x="827585" y="3488525"/>
              <a:ext cx="3190874" cy="28575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latin typeface="+mn-ea"/>
                </a:rPr>
                <a:t>与</a:t>
              </a:r>
              <a:r>
                <a:rPr lang="en-US" altLang="zh-CN" dirty="0">
                  <a:latin typeface="+mn-ea"/>
                </a:rPr>
                <a:t>DW</a:t>
              </a:r>
              <a:r>
                <a:rPr lang="zh-CN" altLang="en-US" dirty="0">
                  <a:latin typeface="+mn-ea"/>
                </a:rPr>
                <a:t>数据库系统相同的数据源</a:t>
              </a: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0E0A13C3-7F40-4A8F-B827-8AD18DA4091F}"/>
                </a:ext>
              </a:extLst>
            </p:cNvPr>
            <p:cNvSpPr/>
            <p:nvPr/>
          </p:nvSpPr>
          <p:spPr>
            <a:xfrm>
              <a:off x="827583" y="4564276"/>
              <a:ext cx="3190873" cy="28575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latin typeface="+mn-ea"/>
                </a:rPr>
                <a:t>与</a:t>
              </a:r>
              <a:r>
                <a:rPr lang="en-US" altLang="zh-CN" dirty="0">
                  <a:latin typeface="+mn-ea"/>
                </a:rPr>
                <a:t>DW</a:t>
              </a:r>
              <a:r>
                <a:rPr lang="zh-CN" altLang="en-US" dirty="0">
                  <a:latin typeface="+mn-ea"/>
                </a:rPr>
                <a:t>数据库系统不同的数据源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E6458112-1C78-4DF4-AFDB-1187D88E1E2F}"/>
                </a:ext>
              </a:extLst>
            </p:cNvPr>
            <p:cNvSpPr/>
            <p:nvPr/>
          </p:nvSpPr>
          <p:spPr>
            <a:xfrm>
              <a:off x="827584" y="5640028"/>
              <a:ext cx="3190872" cy="28575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latin typeface="+mn-ea"/>
                </a:rPr>
                <a:t>文件类型数据源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F412D306-FAAB-44AC-9157-78E2F8FAC3DF}"/>
                </a:ext>
              </a:extLst>
            </p:cNvPr>
            <p:cNvSpPr/>
            <p:nvPr/>
          </p:nvSpPr>
          <p:spPr>
            <a:xfrm>
              <a:off x="827584" y="2657385"/>
              <a:ext cx="1520979" cy="28575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latin typeface="+mn-ea"/>
                </a:rPr>
                <a:t>数据源不同</a:t>
              </a:r>
            </a:p>
          </p:txBody>
        </p:sp>
      </p:grpSp>
      <p:graphicFrame>
        <p:nvGraphicFramePr>
          <p:cNvPr id="16" name="图示 15">
            <a:extLst>
              <a:ext uri="{FF2B5EF4-FFF2-40B4-BE49-F238E27FC236}">
                <a16:creationId xmlns:a16="http://schemas.microsoft.com/office/drawing/2014/main" id="{2E5C0BBE-3BE0-4B18-BE78-74974EC1A4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6379237"/>
              </p:ext>
            </p:extLst>
          </p:nvPr>
        </p:nvGraphicFramePr>
        <p:xfrm>
          <a:off x="866507" y="1238552"/>
          <a:ext cx="7182318" cy="1483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D39C3F45-C972-4885-84C1-E539D2DC31E9}"/>
              </a:ext>
            </a:extLst>
          </p:cNvPr>
          <p:cNvGrpSpPr/>
          <p:nvPr/>
        </p:nvGrpSpPr>
        <p:grpSpPr>
          <a:xfrm>
            <a:off x="4457666" y="2615594"/>
            <a:ext cx="4143256" cy="3490474"/>
            <a:chOff x="4457666" y="2615594"/>
            <a:chExt cx="4143256" cy="3490474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5822E18-C491-4A80-89D3-6DA260570DA4}"/>
                </a:ext>
              </a:extLst>
            </p:cNvPr>
            <p:cNvSpPr txBox="1"/>
            <p:nvPr/>
          </p:nvSpPr>
          <p:spPr>
            <a:xfrm>
              <a:off x="4457700" y="3339012"/>
              <a:ext cx="4143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+mn-ea"/>
                </a:rPr>
                <a:t>把</a:t>
              </a:r>
              <a:r>
                <a:rPr lang="en-US" altLang="zh-CN" dirty="0" err="1">
                  <a:latin typeface="+mn-ea"/>
                </a:rPr>
                <a:t>dw</a:t>
              </a:r>
              <a:r>
                <a:rPr lang="zh-CN" altLang="en-US" dirty="0">
                  <a:latin typeface="+mn-ea"/>
                </a:rPr>
                <a:t>数据库与数据源之间建立直接的链接，写</a:t>
              </a:r>
              <a:r>
                <a:rPr lang="en-US" altLang="zh-CN" dirty="0">
                  <a:latin typeface="+mn-ea"/>
                </a:rPr>
                <a:t>select</a:t>
              </a:r>
              <a:r>
                <a:rPr lang="zh-CN" altLang="en-US" dirty="0">
                  <a:latin typeface="+mn-ea"/>
                </a:rPr>
                <a:t>语句直接访问；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CEA8261-9645-4754-A7B3-AB2D58FCBD8A}"/>
                </a:ext>
              </a:extLst>
            </p:cNvPr>
            <p:cNvSpPr txBox="1"/>
            <p:nvPr/>
          </p:nvSpPr>
          <p:spPr>
            <a:xfrm>
              <a:off x="4457700" y="4223756"/>
              <a:ext cx="402892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+mn-ea"/>
                </a:rPr>
                <a:t>源数据导出成</a:t>
              </a:r>
              <a:r>
                <a:rPr lang="en-US" altLang="zh-CN" dirty="0">
                  <a:latin typeface="+mn-ea"/>
                </a:rPr>
                <a:t>.txt</a:t>
              </a:r>
              <a:r>
                <a:rPr lang="zh-CN" altLang="en-US" dirty="0">
                  <a:latin typeface="+mn-ea"/>
                </a:rPr>
                <a:t>或</a:t>
              </a:r>
              <a:r>
                <a:rPr lang="en-US" altLang="zh-CN" dirty="0">
                  <a:latin typeface="+mn-ea"/>
                </a:rPr>
                <a:t>.</a:t>
              </a:r>
              <a:r>
                <a:rPr lang="en-US" altLang="zh-CN" dirty="0" err="1">
                  <a:latin typeface="+mn-ea"/>
                </a:rPr>
                <a:t>xls</a:t>
              </a:r>
              <a:r>
                <a:rPr lang="zh-CN" altLang="en-US" dirty="0">
                  <a:latin typeface="+mn-ea"/>
                </a:rPr>
                <a:t>文件，再将文件导入到</a:t>
              </a:r>
              <a:r>
                <a:rPr lang="en-US" altLang="zh-CN" dirty="0">
                  <a:latin typeface="+mn-ea"/>
                </a:rPr>
                <a:t>ODS</a:t>
              </a:r>
              <a:r>
                <a:rPr lang="zh-CN" altLang="en-US" dirty="0">
                  <a:latin typeface="+mn-ea"/>
                </a:rPr>
                <a:t>中；</a:t>
              </a:r>
              <a:endParaRPr lang="en-US" altLang="zh-CN" dirty="0">
                <a:latin typeface="+mn-ea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+mn-ea"/>
                </a:rPr>
                <a:t>通过程序来完成；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8BDC702-1FAB-4C09-A8C7-34E46E908B62}"/>
                </a:ext>
              </a:extLst>
            </p:cNvPr>
            <p:cNvSpPr txBox="1"/>
            <p:nvPr/>
          </p:nvSpPr>
          <p:spPr>
            <a:xfrm>
              <a:off x="4457666" y="5459737"/>
              <a:ext cx="37444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+mn-ea"/>
                </a:rPr>
                <a:t>导入到指定数据库再进行抽取；</a:t>
              </a:r>
              <a:endParaRPr lang="en-US" altLang="zh-CN" dirty="0">
                <a:latin typeface="+mn-ea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+mn-ea"/>
                </a:rPr>
                <a:t>借助工具实现；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6E8EC56-F7B7-40E0-BE3A-2B499A2F7E08}"/>
                </a:ext>
              </a:extLst>
            </p:cNvPr>
            <p:cNvSpPr txBox="1"/>
            <p:nvPr/>
          </p:nvSpPr>
          <p:spPr>
            <a:xfrm>
              <a:off x="4743450" y="2615594"/>
              <a:ext cx="1228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抽取方法</a:t>
              </a:r>
            </a:p>
          </p:txBody>
        </p:sp>
      </p:grp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629BB0F-CD4A-4FE4-839E-D08AB4C22223}"/>
              </a:ext>
            </a:extLst>
          </p:cNvPr>
          <p:cNvSpPr/>
          <p:nvPr/>
        </p:nvSpPr>
        <p:spPr>
          <a:xfrm>
            <a:off x="3526248" y="2115753"/>
            <a:ext cx="4000708" cy="38253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面向主题的、当前的不断变化的数据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975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44550AD-CA7D-4E7A-B46E-0D743A81D1CD}"/>
              </a:ext>
            </a:extLst>
          </p:cNvPr>
          <p:cNvGrpSpPr/>
          <p:nvPr/>
        </p:nvGrpSpPr>
        <p:grpSpPr>
          <a:xfrm>
            <a:off x="827584" y="2495460"/>
            <a:ext cx="7878266" cy="2152055"/>
            <a:chOff x="827584" y="2495460"/>
            <a:chExt cx="7878266" cy="215205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D8BA57E6-05FB-4315-9026-2B1EF00CF516}"/>
                </a:ext>
              </a:extLst>
            </p:cNvPr>
            <p:cNvSpPr/>
            <p:nvPr/>
          </p:nvSpPr>
          <p:spPr>
            <a:xfrm>
              <a:off x="827585" y="3278975"/>
              <a:ext cx="2391732" cy="28575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/>
                <a:t>全量抽取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5822E18-C491-4A80-89D3-6DA260570DA4}"/>
                </a:ext>
              </a:extLst>
            </p:cNvPr>
            <p:cNvSpPr txBox="1"/>
            <p:nvPr/>
          </p:nvSpPr>
          <p:spPr>
            <a:xfrm>
              <a:off x="4174297" y="3195393"/>
              <a:ext cx="45315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将数据源中的数据原封不动的复制过来</a:t>
              </a: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0E0A13C3-7F40-4A8F-B827-8AD18DA4091F}"/>
                </a:ext>
              </a:extLst>
            </p:cNvPr>
            <p:cNvSpPr/>
            <p:nvPr/>
          </p:nvSpPr>
          <p:spPr>
            <a:xfrm>
              <a:off x="827585" y="4181475"/>
              <a:ext cx="2391732" cy="28575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/>
                <a:t>增量抽取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CEA8261-9645-4754-A7B3-AB2D58FCBD8A}"/>
                </a:ext>
              </a:extLst>
            </p:cNvPr>
            <p:cNvSpPr txBox="1"/>
            <p:nvPr/>
          </p:nvSpPr>
          <p:spPr>
            <a:xfrm>
              <a:off x="4174297" y="4001184"/>
              <a:ext cx="43791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抽取自上次抽取以来数据源中新增或修改的数据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F412D306-FAAB-44AC-9157-78E2F8FAC3DF}"/>
                </a:ext>
              </a:extLst>
            </p:cNvPr>
            <p:cNvSpPr/>
            <p:nvPr/>
          </p:nvSpPr>
          <p:spPr>
            <a:xfrm>
              <a:off x="827584" y="2495460"/>
              <a:ext cx="1549856" cy="28575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/>
                <a:t>数据量不同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31B895BC-0A0A-4790-B40A-469D839E5B5F}"/>
              </a:ext>
            </a:extLst>
          </p:cNvPr>
          <p:cNvGrpSpPr/>
          <p:nvPr/>
        </p:nvGrpSpPr>
        <p:grpSpPr>
          <a:xfrm>
            <a:off x="4572000" y="5083974"/>
            <a:ext cx="2525049" cy="820446"/>
            <a:chOff x="4857748" y="4990660"/>
            <a:chExt cx="2525049" cy="820446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1B90D96B-710B-4492-BCE2-7EB97DFBFDAF}"/>
                </a:ext>
              </a:extLst>
            </p:cNvPr>
            <p:cNvSpPr/>
            <p:nvPr/>
          </p:nvSpPr>
          <p:spPr>
            <a:xfrm>
              <a:off x="4857748" y="4990660"/>
              <a:ext cx="1229049" cy="32575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/>
                <a:t>触发器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85015F3C-181C-4D25-B298-2B4276A4B127}"/>
                </a:ext>
              </a:extLst>
            </p:cNvPr>
            <p:cNvSpPr/>
            <p:nvPr/>
          </p:nvSpPr>
          <p:spPr>
            <a:xfrm>
              <a:off x="6153748" y="4990660"/>
              <a:ext cx="1229049" cy="32575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/>
                <a:t>时间戳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15CFD09B-A442-401F-A522-0AE36D483BC7}"/>
                </a:ext>
              </a:extLst>
            </p:cNvPr>
            <p:cNvSpPr/>
            <p:nvPr/>
          </p:nvSpPr>
          <p:spPr>
            <a:xfrm>
              <a:off x="4857748" y="5485352"/>
              <a:ext cx="1229049" cy="32575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/>
                <a:t>全表对比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97E7861B-2B10-4E31-9AC4-CA911D02862A}"/>
                </a:ext>
              </a:extLst>
            </p:cNvPr>
            <p:cNvSpPr/>
            <p:nvPr/>
          </p:nvSpPr>
          <p:spPr>
            <a:xfrm>
              <a:off x="6153748" y="5485352"/>
              <a:ext cx="1229049" cy="32575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/>
                <a:t>日志对比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4961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D8BA57E6-05FB-4315-9026-2B1EF00CF516}"/>
              </a:ext>
            </a:extLst>
          </p:cNvPr>
          <p:cNvSpPr/>
          <p:nvPr/>
        </p:nvSpPr>
        <p:spPr>
          <a:xfrm>
            <a:off x="827585" y="2736050"/>
            <a:ext cx="1744165" cy="2857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不完整的数据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822E18-C491-4A80-89D3-6DA260570DA4}"/>
              </a:ext>
            </a:extLst>
          </p:cNvPr>
          <p:cNvSpPr txBox="1"/>
          <p:nvPr/>
        </p:nvSpPr>
        <p:spPr>
          <a:xfrm>
            <a:off x="4448172" y="2694259"/>
            <a:ext cx="3190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可对数据进行补全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E0A13C3-7F40-4A8F-B827-8AD18DA4091F}"/>
              </a:ext>
            </a:extLst>
          </p:cNvPr>
          <p:cNvSpPr/>
          <p:nvPr/>
        </p:nvSpPr>
        <p:spPr>
          <a:xfrm>
            <a:off x="827585" y="3638550"/>
            <a:ext cx="1744165" cy="2857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错误的数据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EA8261-9645-4754-A7B3-AB2D58FCBD8A}"/>
              </a:ext>
            </a:extLst>
          </p:cNvPr>
          <p:cNvSpPr txBox="1"/>
          <p:nvPr/>
        </p:nvSpPr>
        <p:spPr>
          <a:xfrm>
            <a:off x="4448170" y="3596759"/>
            <a:ext cx="3286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业务系统修正后再进行抽取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6458112-1C78-4DF4-AFDB-1187D88E1E2F}"/>
              </a:ext>
            </a:extLst>
          </p:cNvPr>
          <p:cNvSpPr/>
          <p:nvPr/>
        </p:nvSpPr>
        <p:spPr>
          <a:xfrm>
            <a:off x="827585" y="4541050"/>
            <a:ext cx="1744165" cy="2857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重复的数据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BDC702-1FAB-4C09-A8C7-34E46E908B62}"/>
              </a:ext>
            </a:extLst>
          </p:cNvPr>
          <p:cNvSpPr txBox="1"/>
          <p:nvPr/>
        </p:nvSpPr>
        <p:spPr>
          <a:xfrm>
            <a:off x="4448170" y="4499259"/>
            <a:ext cx="3190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去掉重复的数据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72FFF9E-5902-4564-A552-BADFB10A817C}"/>
              </a:ext>
            </a:extLst>
          </p:cNvPr>
          <p:cNvSpPr/>
          <p:nvPr/>
        </p:nvSpPr>
        <p:spPr>
          <a:xfrm>
            <a:off x="827585" y="1579222"/>
            <a:ext cx="6906715" cy="67843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+mn-ea"/>
              </a:rPr>
              <a:t>数据清洗：</a:t>
            </a:r>
            <a:endParaRPr lang="en-US" altLang="zh-CN" dirty="0">
              <a:latin typeface="+mn-ea"/>
            </a:endParaRPr>
          </a:p>
          <a:p>
            <a:r>
              <a:rPr lang="zh-CN" altLang="en-US" dirty="0"/>
              <a:t>抽取过程中对数据进行清洗，过滤不符合要求的数据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11482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D8BA57E6-05FB-4315-9026-2B1EF00CF516}"/>
              </a:ext>
            </a:extLst>
          </p:cNvPr>
          <p:cNvSpPr/>
          <p:nvPr/>
        </p:nvSpPr>
        <p:spPr>
          <a:xfrm>
            <a:off x="866507" y="2721862"/>
            <a:ext cx="2213998" cy="2857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不一致的数据转换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822E18-C491-4A80-89D3-6DA260570DA4}"/>
              </a:ext>
            </a:extLst>
          </p:cNvPr>
          <p:cNvSpPr txBox="1"/>
          <p:nvPr/>
        </p:nvSpPr>
        <p:spPr>
          <a:xfrm>
            <a:off x="4457666" y="2680071"/>
            <a:ext cx="3705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将不同系统相同类型的数据统一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E0A13C3-7F40-4A8F-B827-8AD18DA4091F}"/>
              </a:ext>
            </a:extLst>
          </p:cNvPr>
          <p:cNvSpPr/>
          <p:nvPr/>
        </p:nvSpPr>
        <p:spPr>
          <a:xfrm>
            <a:off x="866507" y="3624362"/>
            <a:ext cx="2213998" cy="2857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数据粒度的转换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EA8261-9645-4754-A7B3-AB2D58FCBD8A}"/>
              </a:ext>
            </a:extLst>
          </p:cNvPr>
          <p:cNvSpPr txBox="1"/>
          <p:nvPr/>
        </p:nvSpPr>
        <p:spPr>
          <a:xfrm>
            <a:off x="4457665" y="3429000"/>
            <a:ext cx="3705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业务系统数据按照数据仓库粒度进行聚合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6458112-1C78-4DF4-AFDB-1187D88E1E2F}"/>
              </a:ext>
            </a:extLst>
          </p:cNvPr>
          <p:cNvSpPr/>
          <p:nvPr/>
        </p:nvSpPr>
        <p:spPr>
          <a:xfrm>
            <a:off x="866507" y="4526862"/>
            <a:ext cx="2213998" cy="2857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商务规则的转换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BDC702-1FAB-4C09-A8C7-34E46E908B62}"/>
              </a:ext>
            </a:extLst>
          </p:cNvPr>
          <p:cNvSpPr txBox="1"/>
          <p:nvPr/>
        </p:nvSpPr>
        <p:spPr>
          <a:xfrm>
            <a:off x="4457665" y="4485071"/>
            <a:ext cx="348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按照规则指标进行计算</a:t>
            </a:r>
          </a:p>
        </p:txBody>
      </p:sp>
      <p:graphicFrame>
        <p:nvGraphicFramePr>
          <p:cNvPr id="18" name="图示 17">
            <a:extLst>
              <a:ext uri="{FF2B5EF4-FFF2-40B4-BE49-F238E27FC236}">
                <a16:creationId xmlns:a16="http://schemas.microsoft.com/office/drawing/2014/main" id="{EEC8E30C-9CEE-4411-9E3F-9E2CD7F27E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1870743"/>
              </p:ext>
            </p:extLst>
          </p:nvPr>
        </p:nvGraphicFramePr>
        <p:xfrm>
          <a:off x="866507" y="1238552"/>
          <a:ext cx="7182318" cy="1483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04978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7121E005-4AF2-4659-B84B-0D074D2614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9408642"/>
              </p:ext>
            </p:extLst>
          </p:nvPr>
        </p:nvGraphicFramePr>
        <p:xfrm>
          <a:off x="866507" y="1238552"/>
          <a:ext cx="7182318" cy="1483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35460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>
            <a:extLst>
              <a:ext uri="{FF2B5EF4-FFF2-40B4-BE49-F238E27FC236}">
                <a16:creationId xmlns:a16="http://schemas.microsoft.com/office/drawing/2014/main" id="{DD97C0BC-5F18-45A9-B197-C545A62DE8AB}"/>
              </a:ext>
            </a:extLst>
          </p:cNvPr>
          <p:cNvSpPr/>
          <p:nvPr/>
        </p:nvSpPr>
        <p:spPr>
          <a:xfrm>
            <a:off x="2716781" y="3084277"/>
            <a:ext cx="565516" cy="565516"/>
          </a:xfrm>
          <a:prstGeom prst="ellipse">
            <a:avLst/>
          </a:prstGeom>
          <a:gradFill flip="none" rotWithShape="1">
            <a:gsLst>
              <a:gs pos="90000">
                <a:srgbClr val="E33F24"/>
              </a:gs>
              <a:gs pos="30000">
                <a:srgbClr val="F26434"/>
              </a:gs>
            </a:gsLst>
            <a:lin ang="2700000" scaled="1"/>
            <a:tileRect/>
          </a:gradFill>
          <a:ln w="25400" cap="flat" cmpd="sng" algn="ctr">
            <a:gradFill>
              <a:gsLst>
                <a:gs pos="0">
                  <a:srgbClr val="E33F24"/>
                </a:gs>
                <a:gs pos="100000">
                  <a:srgbClr val="F26434"/>
                </a:gs>
              </a:gsLst>
              <a:lin ang="5400000" scaled="0"/>
            </a:gradFill>
            <a:prstDash val="solid"/>
          </a:ln>
          <a:effectLst>
            <a:outerShdw blurRad="254000" dist="190500" dir="3540000" sx="105000" sy="105000" algn="tl" rotWithShape="0">
              <a:sysClr val="windowText" lastClr="000000">
                <a:lumMod val="95000"/>
                <a:lumOff val="5000"/>
                <a:alpha val="2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ysClr val="window" lastClr="FFFFFF">
                      <a:shade val="30000"/>
                      <a:satMod val="115000"/>
                    </a:sysClr>
                  </a:gs>
                  <a:gs pos="50000">
                    <a:sysClr val="window" lastClr="FFFFFF">
                      <a:shade val="67500"/>
                      <a:satMod val="115000"/>
                    </a:sysClr>
                  </a:gs>
                  <a:gs pos="100000">
                    <a:sysClr val="window" lastClr="FFFFFF">
                      <a:shade val="100000"/>
                      <a:satMod val="115000"/>
                    </a:sys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6" name="TextBox 27">
            <a:extLst>
              <a:ext uri="{FF2B5EF4-FFF2-40B4-BE49-F238E27FC236}">
                <a16:creationId xmlns:a16="http://schemas.microsoft.com/office/drawing/2014/main" id="{907AA1FB-75C5-4162-AF6D-35F7C17073AA}"/>
              </a:ext>
            </a:extLst>
          </p:cNvPr>
          <p:cNvSpPr txBox="1"/>
          <p:nvPr/>
        </p:nvSpPr>
        <p:spPr>
          <a:xfrm>
            <a:off x="2891705" y="3140417"/>
            <a:ext cx="215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Impact" panose="020B0806030902050204" pitchFamily="34" charset="0"/>
              </a:rPr>
              <a:t>2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730753-6F21-447C-BF9E-58CBAD1A2022}"/>
              </a:ext>
            </a:extLst>
          </p:cNvPr>
          <p:cNvSpPr/>
          <p:nvPr/>
        </p:nvSpPr>
        <p:spPr>
          <a:xfrm>
            <a:off x="3690643" y="3140417"/>
            <a:ext cx="3047039" cy="461665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ETL</a:t>
            </a: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的常用工具及比较</a:t>
            </a:r>
            <a:endParaRPr lang="zh-CN" altLang="en-US" sz="240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  <a:ea typeface="宋体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935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14037FA-E81B-4A1B-BAE8-31C6820F04EC}"/>
              </a:ext>
            </a:extLst>
          </p:cNvPr>
          <p:cNvSpPr/>
          <p:nvPr/>
        </p:nvSpPr>
        <p:spPr>
          <a:xfrm>
            <a:off x="2046603" y="2597095"/>
            <a:ext cx="1418492" cy="166381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1600" dirty="0">
              <a:latin typeface="+mn-ea"/>
            </a:endParaRPr>
          </a:p>
          <a:p>
            <a:r>
              <a:rPr lang="en-US" altLang="zh-CN" sz="2400" dirty="0">
                <a:latin typeface="+mn-ea"/>
              </a:rPr>
              <a:t>ETL</a:t>
            </a:r>
            <a:r>
              <a:rPr lang="zh-CN" altLang="en-US" sz="2400" dirty="0">
                <a:latin typeface="+mn-ea"/>
              </a:rPr>
              <a:t>架构</a:t>
            </a:r>
            <a:endParaRPr lang="en-US" altLang="zh-CN" sz="2400" dirty="0">
              <a:latin typeface="+mn-ea"/>
            </a:endParaRPr>
          </a:p>
          <a:p>
            <a:endParaRPr lang="zh-CN" altLang="en-US" sz="1600" dirty="0">
              <a:latin typeface="+mn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FD1A6C9-9484-44FB-95A9-8507A672187D}"/>
              </a:ext>
            </a:extLst>
          </p:cNvPr>
          <p:cNvSpPr/>
          <p:nvPr/>
        </p:nvSpPr>
        <p:spPr>
          <a:xfrm>
            <a:off x="5023803" y="2597095"/>
            <a:ext cx="1418493" cy="166381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1600" dirty="0">
              <a:latin typeface="+mn-ea"/>
            </a:endParaRPr>
          </a:p>
          <a:p>
            <a:r>
              <a:rPr lang="en-US" altLang="zh-CN" sz="2400" dirty="0">
                <a:latin typeface="+mn-ea"/>
              </a:rPr>
              <a:t>ELT</a:t>
            </a:r>
            <a:r>
              <a:rPr lang="zh-CN" altLang="en-US" sz="2400" dirty="0">
                <a:latin typeface="+mn-ea"/>
              </a:rPr>
              <a:t>架构</a:t>
            </a:r>
            <a:endParaRPr lang="en-US" altLang="zh-CN" sz="2400" dirty="0">
              <a:latin typeface="+mn-ea"/>
            </a:endParaRPr>
          </a:p>
          <a:p>
            <a:endParaRPr lang="zh-CN" altLang="en-US" sz="1600" dirty="0">
              <a:latin typeface="+mn-ea"/>
            </a:endParaRPr>
          </a:p>
        </p:txBody>
      </p: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467CA101-CE76-4AE5-B9E3-3C7225B76C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3040467"/>
              </p:ext>
            </p:extLst>
          </p:nvPr>
        </p:nvGraphicFramePr>
        <p:xfrm>
          <a:off x="866507" y="1238552"/>
          <a:ext cx="7182318" cy="1483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10074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089802A1-6EA3-4F7D-BC1D-548D9A5731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2473148"/>
              </p:ext>
            </p:extLst>
          </p:nvPr>
        </p:nvGraphicFramePr>
        <p:xfrm>
          <a:off x="847257" y="1209676"/>
          <a:ext cx="7182318" cy="1483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310D11B8-8FE5-409E-B96D-205630093C6A}"/>
              </a:ext>
            </a:extLst>
          </p:cNvPr>
          <p:cNvGrpSpPr/>
          <p:nvPr/>
        </p:nvGrpSpPr>
        <p:grpSpPr>
          <a:xfrm>
            <a:off x="1209672" y="2854911"/>
            <a:ext cx="6136118" cy="2599288"/>
            <a:chOff x="619122" y="3140661"/>
            <a:chExt cx="6136118" cy="2599288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83D1C3C-C4FA-4404-848C-8F1243BE726F}"/>
                </a:ext>
              </a:extLst>
            </p:cNvPr>
            <p:cNvSpPr txBox="1"/>
            <p:nvPr/>
          </p:nvSpPr>
          <p:spPr>
            <a:xfrm>
              <a:off x="5492989" y="3140661"/>
              <a:ext cx="12622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目标数据仓库</a:t>
              </a:r>
            </a:p>
          </p:txBody>
        </p:sp>
        <p:sp>
          <p:nvSpPr>
            <p:cNvPr id="19" name="圆柱形 18">
              <a:extLst>
                <a:ext uri="{FF2B5EF4-FFF2-40B4-BE49-F238E27FC236}">
                  <a16:creationId xmlns:a16="http://schemas.microsoft.com/office/drawing/2014/main" id="{ED449CBD-0F9C-4537-9902-28CB6963EB42}"/>
                </a:ext>
              </a:extLst>
            </p:cNvPr>
            <p:cNvSpPr/>
            <p:nvPr/>
          </p:nvSpPr>
          <p:spPr>
            <a:xfrm>
              <a:off x="5800265" y="3657600"/>
              <a:ext cx="647700" cy="1079898"/>
            </a:xfrm>
            <a:prstGeom prst="can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22" name="箭头: 右 21">
              <a:extLst>
                <a:ext uri="{FF2B5EF4-FFF2-40B4-BE49-F238E27FC236}">
                  <a16:creationId xmlns:a16="http://schemas.microsoft.com/office/drawing/2014/main" id="{4AF65EC7-E4B4-4562-91FE-75C6DC8B0F06}"/>
                </a:ext>
              </a:extLst>
            </p:cNvPr>
            <p:cNvSpPr/>
            <p:nvPr/>
          </p:nvSpPr>
          <p:spPr>
            <a:xfrm flipV="1">
              <a:off x="4864952" y="4143370"/>
              <a:ext cx="868637" cy="182197"/>
            </a:xfrm>
            <a:prstGeom prst="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8" name="流程图: 磁盘 7">
              <a:extLst>
                <a:ext uri="{FF2B5EF4-FFF2-40B4-BE49-F238E27FC236}">
                  <a16:creationId xmlns:a16="http://schemas.microsoft.com/office/drawing/2014/main" id="{C8A5DF83-B0B5-410B-A208-64A030494858}"/>
                </a:ext>
              </a:extLst>
            </p:cNvPr>
            <p:cNvSpPr/>
            <p:nvPr/>
          </p:nvSpPr>
          <p:spPr>
            <a:xfrm>
              <a:off x="838199" y="3514725"/>
              <a:ext cx="390525" cy="628649"/>
            </a:xfrm>
            <a:prstGeom prst="flowChartMagneticDisk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38AB4924-76CE-4CA9-A0A1-D64889B32410}"/>
                </a:ext>
              </a:extLst>
            </p:cNvPr>
            <p:cNvGrpSpPr/>
            <p:nvPr/>
          </p:nvGrpSpPr>
          <p:grpSpPr>
            <a:xfrm>
              <a:off x="830459" y="4519611"/>
              <a:ext cx="425053" cy="676277"/>
              <a:chOff x="1184672" y="4775597"/>
              <a:chExt cx="425053" cy="676277"/>
            </a:xfrm>
            <a:solidFill>
              <a:srgbClr val="00B050"/>
            </a:solidFill>
          </p:grpSpPr>
          <p:sp>
            <p:nvSpPr>
              <p:cNvPr id="13" name="矩形: 折角 12">
                <a:extLst>
                  <a:ext uri="{FF2B5EF4-FFF2-40B4-BE49-F238E27FC236}">
                    <a16:creationId xmlns:a16="http://schemas.microsoft.com/office/drawing/2014/main" id="{E62F9267-3AA9-4ADD-AE5B-B90B970D55D7}"/>
                  </a:ext>
                </a:extLst>
              </p:cNvPr>
              <p:cNvSpPr/>
              <p:nvPr/>
            </p:nvSpPr>
            <p:spPr>
              <a:xfrm rot="5400000">
                <a:off x="1063823" y="4944072"/>
                <a:ext cx="628651" cy="386953"/>
              </a:xfrm>
              <a:prstGeom prst="foldedCorner">
                <a:avLst/>
              </a:prstGeom>
              <a:ln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+mn-ea"/>
                </a:endParaRPr>
              </a:p>
            </p:txBody>
          </p:sp>
          <p:sp>
            <p:nvSpPr>
              <p:cNvPr id="14" name="矩形: 折角 13">
                <a:extLst>
                  <a:ext uri="{FF2B5EF4-FFF2-40B4-BE49-F238E27FC236}">
                    <a16:creationId xmlns:a16="http://schemas.microsoft.com/office/drawing/2014/main" id="{8D39FAF2-9D0F-412C-A609-CD02BE030510}"/>
                  </a:ext>
                </a:extLst>
              </p:cNvPr>
              <p:cNvSpPr/>
              <p:nvPr/>
            </p:nvSpPr>
            <p:spPr>
              <a:xfrm rot="5400000">
                <a:off x="1101923" y="4896446"/>
                <a:ext cx="628651" cy="386953"/>
              </a:xfrm>
              <a:prstGeom prst="foldedCorner">
                <a:avLst/>
              </a:prstGeom>
              <a:ln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+mn-ea"/>
                </a:endParaRPr>
              </a:p>
            </p:txBody>
          </p:sp>
        </p:grpSp>
        <p:sp>
          <p:nvSpPr>
            <p:cNvPr id="21" name="箭头: 右 20">
              <a:extLst>
                <a:ext uri="{FF2B5EF4-FFF2-40B4-BE49-F238E27FC236}">
                  <a16:creationId xmlns:a16="http://schemas.microsoft.com/office/drawing/2014/main" id="{A3695E93-DAEF-4950-B756-6850C858DED1}"/>
                </a:ext>
              </a:extLst>
            </p:cNvPr>
            <p:cNvSpPr/>
            <p:nvPr/>
          </p:nvSpPr>
          <p:spPr>
            <a:xfrm rot="20085352">
              <a:off x="1361441" y="4597061"/>
              <a:ext cx="963385" cy="83089"/>
            </a:xfrm>
            <a:prstGeom prst="rightArrow">
              <a:avLst/>
            </a:prstGeom>
            <a:solidFill>
              <a:srgbClr val="00B050"/>
            </a:solidFill>
            <a:ln>
              <a:solidFill>
                <a:srgbClr val="08C4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9069E3A-4F9E-4EE3-BCCE-33B44278AF57}"/>
                </a:ext>
              </a:extLst>
            </p:cNvPr>
            <p:cNvSpPr txBox="1"/>
            <p:nvPr/>
          </p:nvSpPr>
          <p:spPr>
            <a:xfrm>
              <a:off x="619122" y="3140661"/>
              <a:ext cx="8667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数据源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D1B033E-B427-4BDF-A2B0-2EA524D91733}"/>
                </a:ext>
              </a:extLst>
            </p:cNvPr>
            <p:cNvSpPr txBox="1"/>
            <p:nvPr/>
          </p:nvSpPr>
          <p:spPr>
            <a:xfrm>
              <a:off x="3158045" y="3369872"/>
              <a:ext cx="8667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+mn-ea"/>
                </a:rPr>
                <a:t>ETL</a:t>
              </a:r>
              <a:r>
                <a:rPr lang="zh-CN" altLang="en-US" sz="1400" dirty="0">
                  <a:latin typeface="+mn-ea"/>
                </a:rPr>
                <a:t>工具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92FFF6A-8EFA-4F58-AE7C-9CB5D522A7EC}"/>
                </a:ext>
              </a:extLst>
            </p:cNvPr>
            <p:cNvSpPr/>
            <p:nvPr/>
          </p:nvSpPr>
          <p:spPr>
            <a:xfrm>
              <a:off x="2391792" y="3780817"/>
              <a:ext cx="2399283" cy="1027397"/>
            </a:xfrm>
            <a:prstGeom prst="rect">
              <a:avLst/>
            </a:prstGeom>
            <a:solidFill>
              <a:srgbClr val="EAE898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27" name="箭头: 右 26">
              <a:extLst>
                <a:ext uri="{FF2B5EF4-FFF2-40B4-BE49-F238E27FC236}">
                  <a16:creationId xmlns:a16="http://schemas.microsoft.com/office/drawing/2014/main" id="{FBC4C7DE-E5EC-43B7-B9EB-146EF939C582}"/>
                </a:ext>
              </a:extLst>
            </p:cNvPr>
            <p:cNvSpPr/>
            <p:nvPr/>
          </p:nvSpPr>
          <p:spPr>
            <a:xfrm rot="1249569">
              <a:off x="1342391" y="3949361"/>
              <a:ext cx="963385" cy="83089"/>
            </a:xfrm>
            <a:prstGeom prst="rightArrow">
              <a:avLst/>
            </a:prstGeom>
            <a:solidFill>
              <a:srgbClr val="00B050"/>
            </a:solidFill>
            <a:ln>
              <a:solidFill>
                <a:srgbClr val="08C4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+mn-ea"/>
              </a:endParaRPr>
            </a:p>
          </p:txBody>
        </p:sp>
        <p:sp>
          <p:nvSpPr>
            <p:cNvPr id="11" name="流程图: 过程 10">
              <a:extLst>
                <a:ext uri="{FF2B5EF4-FFF2-40B4-BE49-F238E27FC236}">
                  <a16:creationId xmlns:a16="http://schemas.microsoft.com/office/drawing/2014/main" id="{0062011A-7C83-4A05-A74F-7D9283E2F87D}"/>
                </a:ext>
              </a:extLst>
            </p:cNvPr>
            <p:cNvSpPr/>
            <p:nvPr/>
          </p:nvSpPr>
          <p:spPr>
            <a:xfrm>
              <a:off x="2514314" y="4083901"/>
              <a:ext cx="543592" cy="483336"/>
            </a:xfrm>
            <a:prstGeom prst="flowChartProcess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zh-CN" altLang="en-US" sz="1400" dirty="0">
                  <a:latin typeface="+mn-ea"/>
                </a:rPr>
                <a:t>抽取</a:t>
              </a:r>
            </a:p>
          </p:txBody>
        </p:sp>
        <p:sp>
          <p:nvSpPr>
            <p:cNvPr id="30" name="流程图: 过程 29">
              <a:extLst>
                <a:ext uri="{FF2B5EF4-FFF2-40B4-BE49-F238E27FC236}">
                  <a16:creationId xmlns:a16="http://schemas.microsoft.com/office/drawing/2014/main" id="{CC97FD89-BE1A-4312-9192-0B0F8766ED08}"/>
                </a:ext>
              </a:extLst>
            </p:cNvPr>
            <p:cNvSpPr/>
            <p:nvPr/>
          </p:nvSpPr>
          <p:spPr>
            <a:xfrm>
              <a:off x="3312170" y="4083901"/>
              <a:ext cx="543592" cy="483336"/>
            </a:xfrm>
            <a:prstGeom prst="flowChartProcess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zh-CN" altLang="en-US" sz="1400" dirty="0">
                  <a:latin typeface="+mn-ea"/>
                </a:rPr>
                <a:t>转换</a:t>
              </a:r>
            </a:p>
          </p:txBody>
        </p:sp>
        <p:sp>
          <p:nvSpPr>
            <p:cNvPr id="31" name="流程图: 过程 30">
              <a:extLst>
                <a:ext uri="{FF2B5EF4-FFF2-40B4-BE49-F238E27FC236}">
                  <a16:creationId xmlns:a16="http://schemas.microsoft.com/office/drawing/2014/main" id="{B3B2B185-C336-4314-892F-5AB4A603F403}"/>
                </a:ext>
              </a:extLst>
            </p:cNvPr>
            <p:cNvSpPr/>
            <p:nvPr/>
          </p:nvSpPr>
          <p:spPr>
            <a:xfrm>
              <a:off x="4125204" y="4083901"/>
              <a:ext cx="543592" cy="483336"/>
            </a:xfrm>
            <a:prstGeom prst="flowChartProcess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zh-CN" altLang="en-US" sz="1400" dirty="0">
                  <a:latin typeface="+mn-ea"/>
                </a:rPr>
                <a:t>加载</a:t>
              </a: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C2177EEB-7FA3-4E74-9EA7-1288A5DF9362}"/>
                </a:ext>
              </a:extLst>
            </p:cNvPr>
            <p:cNvCxnSpPr>
              <a:stCxn id="11" idx="3"/>
              <a:endCxn id="30" idx="1"/>
            </p:cNvCxnSpPr>
            <p:nvPr/>
          </p:nvCxnSpPr>
          <p:spPr>
            <a:xfrm>
              <a:off x="3057906" y="4325569"/>
              <a:ext cx="2542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9EA0C8C7-4E16-49A5-BB4C-53E1247587EF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>
              <a:off x="3870940" y="4325568"/>
              <a:ext cx="25426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圆柱形 36">
              <a:extLst>
                <a:ext uri="{FF2B5EF4-FFF2-40B4-BE49-F238E27FC236}">
                  <a16:creationId xmlns:a16="http://schemas.microsoft.com/office/drawing/2014/main" id="{A15BF16B-5B2A-42E2-9C7C-9630CB743D31}"/>
                </a:ext>
              </a:extLst>
            </p:cNvPr>
            <p:cNvSpPr/>
            <p:nvPr/>
          </p:nvSpPr>
          <p:spPr>
            <a:xfrm>
              <a:off x="2699263" y="5111298"/>
              <a:ext cx="1777487" cy="628651"/>
            </a:xfrm>
            <a:prstGeom prst="can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+mn-ea"/>
                </a:rPr>
                <a:t>临时数据</a:t>
              </a:r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783798B6-2A3C-47DE-89C1-865271848409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2786110" y="4567237"/>
              <a:ext cx="510882" cy="54406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53B7D100-AC35-4872-92B3-6B03F9834BEC}"/>
                </a:ext>
              </a:extLst>
            </p:cNvPr>
            <p:cNvCxnSpPr>
              <a:cxnSpLocks/>
              <a:stCxn id="30" idx="2"/>
              <a:endCxn id="37" idx="1"/>
            </p:cNvCxnSpPr>
            <p:nvPr/>
          </p:nvCxnSpPr>
          <p:spPr>
            <a:xfrm>
              <a:off x="3583966" y="4567237"/>
              <a:ext cx="4041" cy="54406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51A6DB44-166A-49A8-BBF1-2B92D8ED9F80}"/>
                </a:ext>
              </a:extLst>
            </p:cNvPr>
            <p:cNvCxnSpPr>
              <a:cxnSpLocks/>
              <a:stCxn id="31" idx="2"/>
            </p:cNvCxnSpPr>
            <p:nvPr/>
          </p:nvCxnSpPr>
          <p:spPr>
            <a:xfrm flipH="1">
              <a:off x="3868872" y="4567237"/>
              <a:ext cx="528128" cy="54406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8264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E141B24F-34B7-4445-841B-6EB34D0F3833}"/>
              </a:ext>
            </a:extLst>
          </p:cNvPr>
          <p:cNvSpPr/>
          <p:nvPr/>
        </p:nvSpPr>
        <p:spPr>
          <a:xfrm>
            <a:off x="1199682" y="2487029"/>
            <a:ext cx="6029325" cy="39052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分担数据库系统负载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E2863A6-6D61-482C-9476-6B669AF7B398}"/>
              </a:ext>
            </a:extLst>
          </p:cNvPr>
          <p:cNvSpPr/>
          <p:nvPr/>
        </p:nvSpPr>
        <p:spPr>
          <a:xfrm>
            <a:off x="1199681" y="3215691"/>
            <a:ext cx="6029325" cy="39052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实现复杂的数据转换逻辑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6F636E9-93EC-4FDA-98D9-3E99827B4D0F}"/>
              </a:ext>
            </a:extLst>
          </p:cNvPr>
          <p:cNvSpPr/>
          <p:nvPr/>
        </p:nvSpPr>
        <p:spPr>
          <a:xfrm>
            <a:off x="1199681" y="3944353"/>
            <a:ext cx="6029325" cy="39052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使用单独的硬件服务器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1A38F28-20FB-479C-8D39-10ADEA6DD2F8}"/>
              </a:ext>
            </a:extLst>
          </p:cNvPr>
          <p:cNvSpPr/>
          <p:nvPr/>
        </p:nvSpPr>
        <p:spPr>
          <a:xfrm>
            <a:off x="1199681" y="4673015"/>
            <a:ext cx="6029325" cy="39052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与底层的数据库数据存储无关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7A20C4E-4DB3-4C33-A355-D6C46CF96C66}"/>
              </a:ext>
            </a:extLst>
          </p:cNvPr>
          <p:cNvSpPr/>
          <p:nvPr/>
        </p:nvSpPr>
        <p:spPr>
          <a:xfrm>
            <a:off x="818682" y="1664497"/>
            <a:ext cx="6029325" cy="39052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ETL</a:t>
            </a:r>
            <a:r>
              <a:rPr lang="zh-CN" altLang="en-US" dirty="0"/>
              <a:t>架构优势</a:t>
            </a:r>
          </a:p>
        </p:txBody>
      </p:sp>
    </p:spTree>
    <p:extLst>
      <p:ext uri="{BB962C8B-B14F-4D97-AF65-F5344CB8AC3E}">
        <p14:creationId xmlns:p14="http://schemas.microsoft.com/office/powerpoint/2010/main" val="2390361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089802A1-6EA3-4F7D-BC1D-548D9A5731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652300"/>
              </p:ext>
            </p:extLst>
          </p:nvPr>
        </p:nvGraphicFramePr>
        <p:xfrm>
          <a:off x="847257" y="1228725"/>
          <a:ext cx="7182318" cy="1609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80" name="组合 79">
            <a:extLst>
              <a:ext uri="{FF2B5EF4-FFF2-40B4-BE49-F238E27FC236}">
                <a16:creationId xmlns:a16="http://schemas.microsoft.com/office/drawing/2014/main" id="{194199AF-546B-4946-B460-93D224B9023F}"/>
              </a:ext>
            </a:extLst>
          </p:cNvPr>
          <p:cNvGrpSpPr/>
          <p:nvPr/>
        </p:nvGrpSpPr>
        <p:grpSpPr>
          <a:xfrm>
            <a:off x="1311718" y="2986564"/>
            <a:ext cx="5671910" cy="2407791"/>
            <a:chOff x="330643" y="3367564"/>
            <a:chExt cx="5671910" cy="2407791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AC4CC84-02EB-439D-BF0C-2D1BEFF5EFFD}"/>
                </a:ext>
              </a:extLst>
            </p:cNvPr>
            <p:cNvSpPr txBox="1"/>
            <p:nvPr/>
          </p:nvSpPr>
          <p:spPr>
            <a:xfrm>
              <a:off x="4582867" y="3367564"/>
              <a:ext cx="1419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n-ea"/>
                </a:rPr>
                <a:t>目标数据仓库</a:t>
              </a:r>
            </a:p>
          </p:txBody>
        </p:sp>
        <p:sp>
          <p:nvSpPr>
            <p:cNvPr id="26" name="圆柱形 25">
              <a:extLst>
                <a:ext uri="{FF2B5EF4-FFF2-40B4-BE49-F238E27FC236}">
                  <a16:creationId xmlns:a16="http://schemas.microsoft.com/office/drawing/2014/main" id="{0F162EDE-9185-433D-A764-17C9F8148763}"/>
                </a:ext>
              </a:extLst>
            </p:cNvPr>
            <p:cNvSpPr/>
            <p:nvPr/>
          </p:nvSpPr>
          <p:spPr>
            <a:xfrm>
              <a:off x="4968860" y="3884503"/>
              <a:ext cx="647700" cy="1079898"/>
            </a:xfrm>
            <a:prstGeom prst="can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27" name="箭头: 右 26">
              <a:extLst>
                <a:ext uri="{FF2B5EF4-FFF2-40B4-BE49-F238E27FC236}">
                  <a16:creationId xmlns:a16="http://schemas.microsoft.com/office/drawing/2014/main" id="{7D8186AC-6557-4CF8-87B5-730CB80C3C46}"/>
                </a:ext>
              </a:extLst>
            </p:cNvPr>
            <p:cNvSpPr/>
            <p:nvPr/>
          </p:nvSpPr>
          <p:spPr>
            <a:xfrm flipV="1">
              <a:off x="3804947" y="4408372"/>
              <a:ext cx="1090626" cy="125023"/>
            </a:xfrm>
            <a:prstGeom prst="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28" name="流程图: 磁盘 27">
              <a:extLst>
                <a:ext uri="{FF2B5EF4-FFF2-40B4-BE49-F238E27FC236}">
                  <a16:creationId xmlns:a16="http://schemas.microsoft.com/office/drawing/2014/main" id="{79F591D3-4358-4B0E-B9D8-F630BF0ED699}"/>
                </a:ext>
              </a:extLst>
            </p:cNvPr>
            <p:cNvSpPr/>
            <p:nvPr/>
          </p:nvSpPr>
          <p:spPr>
            <a:xfrm>
              <a:off x="568769" y="4189303"/>
              <a:ext cx="390525" cy="628649"/>
            </a:xfrm>
            <a:prstGeom prst="flowChartMagneticDisk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n-ea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4B67FD7-781F-40E8-B9D6-A399147DE68F}"/>
                </a:ext>
              </a:extLst>
            </p:cNvPr>
            <p:cNvSpPr txBox="1"/>
            <p:nvPr/>
          </p:nvSpPr>
          <p:spPr>
            <a:xfrm>
              <a:off x="330643" y="3724305"/>
              <a:ext cx="8667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+mn-ea"/>
                </a:rPr>
                <a:t>数据源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E90D3AE8-94A7-41ED-BBE8-55BBB4C4719F}"/>
                </a:ext>
              </a:extLst>
            </p:cNvPr>
            <p:cNvSpPr/>
            <p:nvPr/>
          </p:nvSpPr>
          <p:spPr>
            <a:xfrm>
              <a:off x="2121230" y="4102971"/>
              <a:ext cx="1550365" cy="755202"/>
            </a:xfrm>
            <a:prstGeom prst="rect">
              <a:avLst/>
            </a:prstGeom>
            <a:solidFill>
              <a:srgbClr val="EAE898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箭头: 右 33">
              <a:extLst>
                <a:ext uri="{FF2B5EF4-FFF2-40B4-BE49-F238E27FC236}">
                  <a16:creationId xmlns:a16="http://schemas.microsoft.com/office/drawing/2014/main" id="{048AADA7-EFB1-46CF-8E73-5CC4D94ECCD7}"/>
                </a:ext>
              </a:extLst>
            </p:cNvPr>
            <p:cNvSpPr/>
            <p:nvPr/>
          </p:nvSpPr>
          <p:spPr>
            <a:xfrm>
              <a:off x="1072961" y="4462014"/>
              <a:ext cx="963385" cy="83089"/>
            </a:xfrm>
            <a:prstGeom prst="rightArrow">
              <a:avLst/>
            </a:prstGeom>
            <a:solidFill>
              <a:srgbClr val="00B050"/>
            </a:solidFill>
            <a:ln>
              <a:solidFill>
                <a:srgbClr val="08C4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35" name="流程图: 过程 34">
              <a:extLst>
                <a:ext uri="{FF2B5EF4-FFF2-40B4-BE49-F238E27FC236}">
                  <a16:creationId xmlns:a16="http://schemas.microsoft.com/office/drawing/2014/main" id="{8994A11F-79CD-45B5-84EC-65D615D5F65E}"/>
                </a:ext>
              </a:extLst>
            </p:cNvPr>
            <p:cNvSpPr/>
            <p:nvPr/>
          </p:nvSpPr>
          <p:spPr>
            <a:xfrm>
              <a:off x="2197259" y="4253654"/>
              <a:ext cx="543592" cy="483336"/>
            </a:xfrm>
            <a:prstGeom prst="flowChartProcess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zh-CN" altLang="en-US" sz="1600" dirty="0">
                  <a:latin typeface="+mn-ea"/>
                </a:rPr>
                <a:t>抽取</a:t>
              </a:r>
            </a:p>
          </p:txBody>
        </p:sp>
        <p:sp>
          <p:nvSpPr>
            <p:cNvPr id="36" name="流程图: 过程 35">
              <a:extLst>
                <a:ext uri="{FF2B5EF4-FFF2-40B4-BE49-F238E27FC236}">
                  <a16:creationId xmlns:a16="http://schemas.microsoft.com/office/drawing/2014/main" id="{71BC45B5-A689-4311-83BE-E478CEF9AAE9}"/>
                </a:ext>
              </a:extLst>
            </p:cNvPr>
            <p:cNvSpPr/>
            <p:nvPr/>
          </p:nvSpPr>
          <p:spPr>
            <a:xfrm>
              <a:off x="5024526" y="5261656"/>
              <a:ext cx="543592" cy="483336"/>
            </a:xfrm>
            <a:prstGeom prst="flowChartProcess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zh-CN" altLang="en-US" sz="1600" dirty="0">
                  <a:latin typeface="+mn-ea"/>
                </a:rPr>
                <a:t>转换</a:t>
              </a:r>
            </a:p>
          </p:txBody>
        </p:sp>
        <p:sp>
          <p:nvSpPr>
            <p:cNvPr id="37" name="流程图: 过程 36">
              <a:extLst>
                <a:ext uri="{FF2B5EF4-FFF2-40B4-BE49-F238E27FC236}">
                  <a16:creationId xmlns:a16="http://schemas.microsoft.com/office/drawing/2014/main" id="{0F5DB706-0F1A-4490-A8BD-65836325252A}"/>
                </a:ext>
              </a:extLst>
            </p:cNvPr>
            <p:cNvSpPr/>
            <p:nvPr/>
          </p:nvSpPr>
          <p:spPr>
            <a:xfrm>
              <a:off x="3054716" y="4253654"/>
              <a:ext cx="543592" cy="483336"/>
            </a:xfrm>
            <a:prstGeom prst="flowChartProcess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zh-CN" altLang="en-US" sz="1600" dirty="0">
                  <a:latin typeface="+mn-ea"/>
                </a:rPr>
                <a:t>加载</a:t>
              </a:r>
            </a:p>
          </p:txBody>
        </p: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A3C19806-78AA-4794-8F9F-E758DA216959}"/>
                </a:ext>
              </a:extLst>
            </p:cNvPr>
            <p:cNvCxnSpPr>
              <a:cxnSpLocks/>
              <a:stCxn id="35" idx="3"/>
              <a:endCxn id="37" idx="1"/>
            </p:cNvCxnSpPr>
            <p:nvPr/>
          </p:nvCxnSpPr>
          <p:spPr>
            <a:xfrm>
              <a:off x="2740851" y="4495322"/>
              <a:ext cx="3138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圆柱形 39">
              <a:extLst>
                <a:ext uri="{FF2B5EF4-FFF2-40B4-BE49-F238E27FC236}">
                  <a16:creationId xmlns:a16="http://schemas.microsoft.com/office/drawing/2014/main" id="{F0B2DA73-3E2F-44D6-ADF2-0DE36B6920B7}"/>
                </a:ext>
              </a:extLst>
            </p:cNvPr>
            <p:cNvSpPr/>
            <p:nvPr/>
          </p:nvSpPr>
          <p:spPr>
            <a:xfrm>
              <a:off x="3314697" y="5231294"/>
              <a:ext cx="999894" cy="544061"/>
            </a:xfrm>
            <a:prstGeom prst="can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+mn-ea"/>
                </a:rPr>
                <a:t>临时数据</a:t>
              </a:r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4834E822-D97C-481D-9F8F-09E3A68BAA9B}"/>
                </a:ext>
              </a:extLst>
            </p:cNvPr>
            <p:cNvCxnSpPr>
              <a:cxnSpLocks/>
              <a:stCxn id="35" idx="2"/>
              <a:endCxn id="40" idx="1"/>
            </p:cNvCxnSpPr>
            <p:nvPr/>
          </p:nvCxnSpPr>
          <p:spPr>
            <a:xfrm>
              <a:off x="2469055" y="4736990"/>
              <a:ext cx="1345589" cy="49430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1551B929-B130-42E4-A22D-CAE6CBCD95B2}"/>
                </a:ext>
              </a:extLst>
            </p:cNvPr>
            <p:cNvCxnSpPr>
              <a:cxnSpLocks/>
              <a:stCxn id="36" idx="1"/>
              <a:endCxn id="40" idx="4"/>
            </p:cNvCxnSpPr>
            <p:nvPr/>
          </p:nvCxnSpPr>
          <p:spPr>
            <a:xfrm flipH="1">
              <a:off x="4314591" y="5503324"/>
              <a:ext cx="709935" cy="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C6D032DE-C879-4EE9-95C6-AE3BB81BDE36}"/>
                </a:ext>
              </a:extLst>
            </p:cNvPr>
            <p:cNvCxnSpPr>
              <a:cxnSpLocks/>
              <a:stCxn id="37" idx="2"/>
              <a:endCxn id="40" idx="1"/>
            </p:cNvCxnSpPr>
            <p:nvPr/>
          </p:nvCxnSpPr>
          <p:spPr>
            <a:xfrm>
              <a:off x="3326512" y="4736990"/>
              <a:ext cx="488132" cy="49430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254054A1-1FE6-4601-8EFA-2AB9062671B0}"/>
                </a:ext>
              </a:extLst>
            </p:cNvPr>
            <p:cNvCxnSpPr>
              <a:cxnSpLocks/>
              <a:stCxn id="26" idx="3"/>
              <a:endCxn id="36" idx="0"/>
            </p:cNvCxnSpPr>
            <p:nvPr/>
          </p:nvCxnSpPr>
          <p:spPr>
            <a:xfrm>
              <a:off x="5292710" y="4964401"/>
              <a:ext cx="3612" cy="29725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05904A93-A19E-4875-86B1-95244F1C0389}"/>
                </a:ext>
              </a:extLst>
            </p:cNvPr>
            <p:cNvSpPr txBox="1"/>
            <p:nvPr/>
          </p:nvSpPr>
          <p:spPr>
            <a:xfrm>
              <a:off x="2471160" y="3672157"/>
              <a:ext cx="9561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n-ea"/>
                </a:rPr>
                <a:t>ETL</a:t>
              </a:r>
              <a:r>
                <a:rPr lang="zh-CN" altLang="en-US" sz="1600" dirty="0">
                  <a:latin typeface="+mn-ea"/>
                </a:rPr>
                <a:t>工具</a:t>
              </a:r>
            </a:p>
          </p:txBody>
        </p:sp>
      </p:grpSp>
      <p:sp>
        <p:nvSpPr>
          <p:cNvPr id="82" name="流程图: 过程 81">
            <a:extLst>
              <a:ext uri="{FF2B5EF4-FFF2-40B4-BE49-F238E27FC236}">
                <a16:creationId xmlns:a16="http://schemas.microsoft.com/office/drawing/2014/main" id="{EB2DA4FE-6C46-4945-817D-CFC4EEEA160D}"/>
              </a:ext>
            </a:extLst>
          </p:cNvPr>
          <p:cNvSpPr/>
          <p:nvPr/>
        </p:nvSpPr>
        <p:spPr>
          <a:xfrm>
            <a:off x="7171379" y="3879332"/>
            <a:ext cx="1186846" cy="65101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ELTL</a:t>
            </a:r>
            <a:endParaRPr lang="zh-CN" altLang="en-US" sz="28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8366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E141B24F-34B7-4445-841B-6EB34D0F3833}"/>
              </a:ext>
            </a:extLst>
          </p:cNvPr>
          <p:cNvSpPr/>
          <p:nvPr/>
        </p:nvSpPr>
        <p:spPr>
          <a:xfrm>
            <a:off x="1199682" y="2495551"/>
            <a:ext cx="6029325" cy="39052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通过数据库引擎实现系统的可扩展性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E2863A6-6D61-482C-9476-6B669AF7B398}"/>
              </a:ext>
            </a:extLst>
          </p:cNvPr>
          <p:cNvSpPr/>
          <p:nvPr/>
        </p:nvSpPr>
        <p:spPr>
          <a:xfrm>
            <a:off x="1199682" y="3243262"/>
            <a:ext cx="6029325" cy="63983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保证数据始终在数据库中，避免数据加载和导出，保证了效率，提高了系统的可监控性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6F636E9-93EC-4FDA-98D9-3E99827B4D0F}"/>
              </a:ext>
            </a:extLst>
          </p:cNvPr>
          <p:cNvSpPr/>
          <p:nvPr/>
        </p:nvSpPr>
        <p:spPr>
          <a:xfrm>
            <a:off x="1199682" y="4252910"/>
            <a:ext cx="6029325" cy="63983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+mn-ea"/>
              </a:rPr>
              <a:t>根据数据的分布情况进行并行处理优化，利用数据库的固有功能优化磁盘</a:t>
            </a:r>
            <a:r>
              <a:rPr lang="en-US" altLang="zh-CN" dirty="0">
                <a:latin typeface="+mn-ea"/>
              </a:rPr>
              <a:t>I/O</a:t>
            </a:r>
            <a:endParaRPr lang="zh-CN" altLang="en-US" dirty="0">
              <a:latin typeface="+mn-ea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1A38F28-20FB-479C-8D39-10ADEA6DD2F8}"/>
              </a:ext>
            </a:extLst>
          </p:cNvPr>
          <p:cNvSpPr/>
          <p:nvPr/>
        </p:nvSpPr>
        <p:spPr>
          <a:xfrm>
            <a:off x="1199682" y="5262556"/>
            <a:ext cx="6029325" cy="37233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对数据库进行调优，从而提升数据处理效率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85A8E62-89EB-408A-8080-AAE5EEBA717E}"/>
              </a:ext>
            </a:extLst>
          </p:cNvPr>
          <p:cNvSpPr/>
          <p:nvPr/>
        </p:nvSpPr>
        <p:spPr>
          <a:xfrm>
            <a:off x="818682" y="1664497"/>
            <a:ext cx="6029325" cy="39052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dirty="0"/>
              <a:t>ELT</a:t>
            </a:r>
            <a:r>
              <a:rPr lang="zh-CN" altLang="en-US" dirty="0"/>
              <a:t>架构优势</a:t>
            </a:r>
          </a:p>
        </p:txBody>
      </p:sp>
    </p:spTree>
    <p:extLst>
      <p:ext uri="{BB962C8B-B14F-4D97-AF65-F5344CB8AC3E}">
        <p14:creationId xmlns:p14="http://schemas.microsoft.com/office/powerpoint/2010/main" val="1137442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089802A1-6EA3-4F7D-BC1D-548D9A5731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6975133"/>
              </p:ext>
            </p:extLst>
          </p:nvPr>
        </p:nvGraphicFramePr>
        <p:xfrm>
          <a:off x="847257" y="1209675"/>
          <a:ext cx="7182318" cy="39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矩形: 圆角 2">
            <a:extLst>
              <a:ext uri="{FF2B5EF4-FFF2-40B4-BE49-F238E27FC236}">
                <a16:creationId xmlns:a16="http://schemas.microsoft.com/office/drawing/2014/main" id="{E141B24F-34B7-4445-841B-6EB34D0F3833}"/>
              </a:ext>
            </a:extLst>
          </p:cNvPr>
          <p:cNvSpPr/>
          <p:nvPr/>
        </p:nvSpPr>
        <p:spPr>
          <a:xfrm>
            <a:off x="847257" y="1814512"/>
            <a:ext cx="7182318" cy="61105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+mn-ea"/>
              </a:rPr>
              <a:t>PowerCenter</a:t>
            </a:r>
            <a:r>
              <a:rPr lang="zh-CN" altLang="en-US" dirty="0">
                <a:latin typeface="+mn-ea"/>
              </a:rPr>
              <a:t>：</a:t>
            </a:r>
            <a:r>
              <a:rPr lang="en-US" altLang="zh-CN" dirty="0">
                <a:latin typeface="+mn-ea"/>
              </a:rPr>
              <a:t>Informatica</a:t>
            </a:r>
            <a:r>
              <a:rPr lang="zh-CN" altLang="en-US" dirty="0">
                <a:latin typeface="+mn-ea"/>
              </a:rPr>
              <a:t>公司的核心产品，是元数据驱动的数据集成平台，在</a:t>
            </a:r>
            <a:r>
              <a:rPr lang="en-US" altLang="zh-CN" dirty="0">
                <a:latin typeface="+mn-ea"/>
              </a:rPr>
              <a:t>ETL</a:t>
            </a:r>
            <a:r>
              <a:rPr lang="zh-CN" altLang="en-US" dirty="0">
                <a:latin typeface="+mn-ea"/>
              </a:rPr>
              <a:t>领域中无论是执行能力还是战略远见方面都是领先者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6D55303-DE6B-4EA2-A016-D56FC8F3271D}"/>
              </a:ext>
            </a:extLst>
          </p:cNvPr>
          <p:cNvSpPr/>
          <p:nvPr/>
        </p:nvSpPr>
        <p:spPr>
          <a:xfrm>
            <a:off x="7255182" y="3367331"/>
            <a:ext cx="1479077" cy="162818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+mn-ea"/>
              </a:rPr>
              <a:t>Repository</a:t>
            </a:r>
          </a:p>
          <a:p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Server</a:t>
            </a:r>
          </a:p>
          <a:p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Client</a:t>
            </a: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58018930-D1FE-411E-B5BC-A283CE019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7256" y="2899403"/>
            <a:ext cx="6004591" cy="3568767"/>
          </a:xfrm>
          <a:prstGeom prst="rect">
            <a:avLst/>
          </a:prstGeo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514D5BB-7FE5-4AB0-97EC-F16B2C40EBDE}"/>
              </a:ext>
            </a:extLst>
          </p:cNvPr>
          <p:cNvSpPr txBox="1"/>
          <p:nvPr/>
        </p:nvSpPr>
        <p:spPr>
          <a:xfrm>
            <a:off x="7255181" y="2930477"/>
            <a:ext cx="1310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ea"/>
              </a:rPr>
              <a:t>体系结构：</a:t>
            </a:r>
          </a:p>
        </p:txBody>
      </p:sp>
    </p:spTree>
    <p:extLst>
      <p:ext uri="{BB962C8B-B14F-4D97-AF65-F5344CB8AC3E}">
        <p14:creationId xmlns:p14="http://schemas.microsoft.com/office/powerpoint/2010/main" val="2444098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E141B24F-34B7-4445-841B-6EB34D0F3833}"/>
              </a:ext>
            </a:extLst>
          </p:cNvPr>
          <p:cNvSpPr/>
          <p:nvPr/>
        </p:nvSpPr>
        <p:spPr>
          <a:xfrm>
            <a:off x="847257" y="1814513"/>
            <a:ext cx="6029325" cy="32229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+mn-ea"/>
              </a:rPr>
              <a:t>PowerCenter </a:t>
            </a:r>
            <a:r>
              <a:rPr lang="zh-CN" altLang="en-US" dirty="0">
                <a:latin typeface="+mn-ea"/>
              </a:rPr>
              <a:t>特点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CAA04B-B605-4E9F-90BB-2C133E1A9E8D}"/>
              </a:ext>
            </a:extLst>
          </p:cNvPr>
          <p:cNvSpPr/>
          <p:nvPr/>
        </p:nvSpPr>
        <p:spPr>
          <a:xfrm>
            <a:off x="847257" y="2437398"/>
            <a:ext cx="512040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图形化设计，无需编码，快速开发和部署；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自动完成时间类型的转换；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字段的拆分，内置众多的字符串函数；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多字段的混合运算；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对广泛数据源的支持；</a:t>
            </a:r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需要单独的数据库来存储知识库；</a:t>
            </a:r>
          </a:p>
        </p:txBody>
      </p:sp>
    </p:spTree>
    <p:extLst>
      <p:ext uri="{BB962C8B-B14F-4D97-AF65-F5344CB8AC3E}">
        <p14:creationId xmlns:p14="http://schemas.microsoft.com/office/powerpoint/2010/main" val="2726749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089802A1-6EA3-4F7D-BC1D-548D9A5731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1255102"/>
              </p:ext>
            </p:extLst>
          </p:nvPr>
        </p:nvGraphicFramePr>
        <p:xfrm>
          <a:off x="847257" y="1209675"/>
          <a:ext cx="7182318" cy="39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矩形: 圆角 2">
            <a:extLst>
              <a:ext uri="{FF2B5EF4-FFF2-40B4-BE49-F238E27FC236}">
                <a16:creationId xmlns:a16="http://schemas.microsoft.com/office/drawing/2014/main" id="{E141B24F-34B7-4445-841B-6EB34D0F3833}"/>
              </a:ext>
            </a:extLst>
          </p:cNvPr>
          <p:cNvSpPr/>
          <p:nvPr/>
        </p:nvSpPr>
        <p:spPr>
          <a:xfrm>
            <a:off x="847257" y="1910765"/>
            <a:ext cx="7182318" cy="65917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+mn-ea"/>
              </a:rPr>
              <a:t>Kettle</a:t>
            </a:r>
            <a:r>
              <a:rPr lang="zh-CN" altLang="en-US" dirty="0">
                <a:latin typeface="+mn-ea"/>
              </a:rPr>
              <a:t>：开源的</a:t>
            </a:r>
            <a:r>
              <a:rPr lang="en-US" altLang="zh-CN" dirty="0">
                <a:latin typeface="+mn-ea"/>
              </a:rPr>
              <a:t>ETL</a:t>
            </a:r>
            <a:r>
              <a:rPr lang="zh-CN" altLang="en-US" dirty="0">
                <a:latin typeface="+mn-ea"/>
              </a:rPr>
              <a:t>工具，纯</a:t>
            </a:r>
            <a:r>
              <a:rPr lang="en-US" altLang="zh-CN" dirty="0">
                <a:latin typeface="+mn-ea"/>
              </a:rPr>
              <a:t>JAVA</a:t>
            </a:r>
            <a:r>
              <a:rPr lang="zh-CN" altLang="en-US" dirty="0">
                <a:latin typeface="+mn-ea"/>
              </a:rPr>
              <a:t>编写，加入开源的</a:t>
            </a:r>
            <a:r>
              <a:rPr lang="en-US" altLang="zh-CN" dirty="0">
                <a:latin typeface="+mn-ea"/>
              </a:rPr>
              <a:t>BI</a:t>
            </a:r>
            <a:r>
              <a:rPr lang="zh-CN" altLang="en-US" dirty="0">
                <a:latin typeface="+mn-ea"/>
              </a:rPr>
              <a:t>组织</a:t>
            </a:r>
            <a:r>
              <a:rPr lang="en-US" altLang="zh-CN" dirty="0">
                <a:latin typeface="+mn-ea"/>
              </a:rPr>
              <a:t>Pentaho</a:t>
            </a:r>
            <a:r>
              <a:rPr lang="zh-CN" altLang="en-US" dirty="0">
                <a:latin typeface="+mn-ea"/>
              </a:rPr>
              <a:t>，正式命名为</a:t>
            </a:r>
            <a:r>
              <a:rPr lang="en-US" altLang="zh-CN" dirty="0">
                <a:latin typeface="+mn-ea"/>
              </a:rPr>
              <a:t>PDI</a:t>
            </a:r>
            <a:r>
              <a:rPr lang="zh-CN" altLang="en-US" dirty="0">
                <a:latin typeface="+mn-ea"/>
              </a:rPr>
              <a:t>（</a:t>
            </a:r>
            <a:r>
              <a:rPr lang="en-US" altLang="zh-CN" dirty="0">
                <a:latin typeface="+mn-ea"/>
              </a:rPr>
              <a:t>Pentaho Data </a:t>
            </a:r>
            <a:r>
              <a:rPr lang="en-US" altLang="zh-CN" dirty="0" err="1">
                <a:latin typeface="+mn-ea"/>
              </a:rPr>
              <a:t>Integeration</a:t>
            </a:r>
            <a:r>
              <a:rPr lang="zh-CN" altLang="en-US" dirty="0">
                <a:latin typeface="+mn-ea"/>
              </a:rPr>
              <a:t>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702A948-C66C-41C6-8E93-BA86A04D7B35}"/>
              </a:ext>
            </a:extLst>
          </p:cNvPr>
          <p:cNvSpPr/>
          <p:nvPr/>
        </p:nvSpPr>
        <p:spPr>
          <a:xfrm>
            <a:off x="847257" y="2815689"/>
            <a:ext cx="2377206" cy="32229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+mn-ea"/>
              </a:rPr>
              <a:t>Kettle</a:t>
            </a:r>
            <a:r>
              <a:rPr lang="zh-CN" altLang="en-US" dirty="0">
                <a:latin typeface="+mn-ea"/>
              </a:rPr>
              <a:t>的核心：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60F723-5882-4B16-99E1-3354143C3209}"/>
              </a:ext>
            </a:extLst>
          </p:cNvPr>
          <p:cNvSpPr/>
          <p:nvPr/>
        </p:nvSpPr>
        <p:spPr>
          <a:xfrm>
            <a:off x="847257" y="3210534"/>
            <a:ext cx="772885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转换（</a:t>
            </a:r>
            <a:r>
              <a:rPr lang="en-US" altLang="zh-CN" dirty="0">
                <a:latin typeface="+mn-ea"/>
              </a:rPr>
              <a:t>transformation</a:t>
            </a:r>
            <a:r>
              <a:rPr lang="zh-CN" altLang="en-US" dirty="0">
                <a:latin typeface="+mn-ea"/>
              </a:rPr>
              <a:t>）：由一系列</a:t>
            </a:r>
            <a:r>
              <a:rPr lang="en-US" altLang="zh-CN" dirty="0" err="1">
                <a:latin typeface="+mn-ea"/>
              </a:rPr>
              <a:t>setp</a:t>
            </a:r>
            <a:r>
              <a:rPr lang="zh-CN" altLang="en-US" dirty="0">
                <a:latin typeface="+mn-ea"/>
              </a:rPr>
              <a:t>（步骤）组成的逻辑工作的网络，本质上是数据流；</a:t>
            </a:r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作业（</a:t>
            </a:r>
            <a:r>
              <a:rPr lang="en-US" altLang="zh-CN" dirty="0">
                <a:latin typeface="+mn-ea"/>
              </a:rPr>
              <a:t>job</a:t>
            </a:r>
            <a:r>
              <a:rPr lang="zh-CN" altLang="en-US" dirty="0">
                <a:latin typeface="+mn-ea"/>
              </a:rPr>
              <a:t>）：定义工作流控制，执行转换；</a:t>
            </a:r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2739565-E58C-422B-8C8A-4365169E11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6681" y="3920915"/>
            <a:ext cx="2695238" cy="95238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D854442-3E04-4469-B1FC-D7F3C0786A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6681" y="5648325"/>
            <a:ext cx="4752381" cy="9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334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9702A948-C66C-41C6-8E93-BA86A04D7B35}"/>
              </a:ext>
            </a:extLst>
          </p:cNvPr>
          <p:cNvSpPr/>
          <p:nvPr/>
        </p:nvSpPr>
        <p:spPr>
          <a:xfrm>
            <a:off x="493275" y="1699011"/>
            <a:ext cx="3878747" cy="32229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Kettle</a:t>
            </a:r>
            <a:r>
              <a:rPr lang="zh-CN" altLang="en-US" dirty="0"/>
              <a:t>的组件：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60F723-5882-4B16-99E1-3354143C3209}"/>
              </a:ext>
            </a:extLst>
          </p:cNvPr>
          <p:cNvSpPr/>
          <p:nvPr/>
        </p:nvSpPr>
        <p:spPr>
          <a:xfrm>
            <a:off x="493275" y="2382764"/>
            <a:ext cx="4355703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ea"/>
              </a:rPr>
              <a:t>spoon</a:t>
            </a:r>
            <a:r>
              <a:rPr lang="zh-CN" altLang="en-US" dirty="0">
                <a:latin typeface="+mn-ea"/>
              </a:rPr>
              <a:t>：一个基于</a:t>
            </a:r>
            <a:r>
              <a:rPr lang="en-US" altLang="zh-CN" dirty="0">
                <a:latin typeface="+mn-ea"/>
              </a:rPr>
              <a:t>SWT</a:t>
            </a:r>
            <a:r>
              <a:rPr lang="zh-CN" altLang="en-US" dirty="0">
                <a:latin typeface="+mn-ea"/>
              </a:rPr>
              <a:t>的</a:t>
            </a:r>
            <a:r>
              <a:rPr lang="en-US" altLang="zh-CN" dirty="0">
                <a:latin typeface="+mn-ea"/>
              </a:rPr>
              <a:t>IDE</a:t>
            </a:r>
            <a:r>
              <a:rPr lang="zh-CN" altLang="en-US" dirty="0">
                <a:latin typeface="+mn-ea"/>
              </a:rPr>
              <a:t>工具。用于完成转换（</a:t>
            </a:r>
            <a:r>
              <a:rPr lang="en-US" altLang="zh-CN" dirty="0">
                <a:latin typeface="+mn-ea"/>
              </a:rPr>
              <a:t>transformation</a:t>
            </a:r>
            <a:r>
              <a:rPr lang="zh-CN" altLang="en-US" dirty="0">
                <a:latin typeface="+mn-ea"/>
              </a:rPr>
              <a:t>）与作业</a:t>
            </a:r>
            <a:r>
              <a:rPr lang="en-US" altLang="zh-CN" dirty="0">
                <a:latin typeface="+mn-ea"/>
              </a:rPr>
              <a:t>(job)</a:t>
            </a:r>
            <a:r>
              <a:rPr lang="zh-CN" altLang="en-US" dirty="0">
                <a:latin typeface="+mn-ea"/>
              </a:rPr>
              <a:t>脚本的设计；</a:t>
            </a:r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ea"/>
              </a:rPr>
              <a:t>kitchen</a:t>
            </a:r>
            <a:r>
              <a:rPr lang="zh-CN" altLang="en-US" dirty="0">
                <a:latin typeface="+mn-ea"/>
              </a:rPr>
              <a:t>：命令行工具，用于执行作业</a:t>
            </a:r>
            <a:r>
              <a:rPr lang="en-US" altLang="zh-CN" dirty="0">
                <a:latin typeface="+mn-ea"/>
              </a:rPr>
              <a:t>(job)</a:t>
            </a:r>
            <a:r>
              <a:rPr lang="zh-CN" altLang="en-US" dirty="0">
                <a:latin typeface="+mn-ea"/>
              </a:rPr>
              <a:t>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ea"/>
              </a:rPr>
              <a:t>pan</a:t>
            </a:r>
            <a:r>
              <a:rPr lang="zh-CN" altLang="en-US" dirty="0">
                <a:latin typeface="+mn-ea"/>
              </a:rPr>
              <a:t>：命令行工具，用于执行转换</a:t>
            </a:r>
            <a:r>
              <a:rPr lang="en-US" altLang="zh-CN" dirty="0">
                <a:latin typeface="+mn-ea"/>
              </a:rPr>
              <a:t>(transformation)</a:t>
            </a:r>
            <a:r>
              <a:rPr lang="zh-CN" altLang="en-US" dirty="0">
                <a:latin typeface="+mn-ea"/>
              </a:rPr>
              <a:t>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ea"/>
              </a:rPr>
              <a:t>carte</a:t>
            </a:r>
            <a:r>
              <a:rPr lang="zh-CN" altLang="en-US" dirty="0">
                <a:latin typeface="+mn-ea"/>
              </a:rPr>
              <a:t>：</a:t>
            </a:r>
            <a:r>
              <a:rPr lang="en-US" altLang="zh-CN" dirty="0">
                <a:latin typeface="+mn-ea"/>
              </a:rPr>
              <a:t>http</a:t>
            </a:r>
            <a:r>
              <a:rPr lang="zh-CN" altLang="en-US" dirty="0">
                <a:latin typeface="+mn-ea"/>
              </a:rPr>
              <a:t>服务器，用于监听</a:t>
            </a:r>
            <a:r>
              <a:rPr lang="en-US" altLang="zh-CN" dirty="0">
                <a:latin typeface="+mn-ea"/>
              </a:rPr>
              <a:t>HTTP</a:t>
            </a:r>
            <a:r>
              <a:rPr lang="zh-CN" altLang="en-US" dirty="0">
                <a:latin typeface="+mn-ea"/>
              </a:rPr>
              <a:t>请求，完成远程执行转换（</a:t>
            </a:r>
            <a:r>
              <a:rPr lang="en-US" altLang="zh-CN" dirty="0">
                <a:latin typeface="+mn-ea"/>
              </a:rPr>
              <a:t>transformation</a:t>
            </a:r>
            <a:r>
              <a:rPr lang="zh-CN" altLang="en-US" dirty="0">
                <a:latin typeface="+mn-ea"/>
              </a:rPr>
              <a:t>）与作业</a:t>
            </a:r>
            <a:r>
              <a:rPr lang="en-US" altLang="zh-CN" dirty="0">
                <a:latin typeface="+mn-ea"/>
              </a:rPr>
              <a:t>(job)</a:t>
            </a:r>
            <a:r>
              <a:rPr lang="zh-CN" altLang="en-US" dirty="0">
                <a:latin typeface="+mn-ea"/>
              </a:rPr>
              <a:t>，另外也可以用于实现集群。</a:t>
            </a:r>
          </a:p>
          <a:p>
            <a:endParaRPr lang="en-US" altLang="zh-CN" sz="1600" dirty="0">
              <a:ea typeface="Hei" charset="-122"/>
            </a:endParaRPr>
          </a:p>
        </p:txBody>
      </p:sp>
      <p:pic>
        <p:nvPicPr>
          <p:cNvPr id="1026" name="Picture 2" descr="https://upload-images.jianshu.io/upload_images/1729028-0a1ca359951e8ea2.png?imageMogr2/auto-orient/">
            <a:extLst>
              <a:ext uri="{FF2B5EF4-FFF2-40B4-BE49-F238E27FC236}">
                <a16:creationId xmlns:a16="http://schemas.microsoft.com/office/drawing/2014/main" id="{17F77D6A-0320-4549-9A7D-60AD2F579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979" y="2156060"/>
            <a:ext cx="3962748" cy="4220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3987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1605EF9-44B2-422F-8945-610AD369A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443457"/>
              </p:ext>
            </p:extLst>
          </p:nvPr>
        </p:nvGraphicFramePr>
        <p:xfrm>
          <a:off x="2308658" y="2380382"/>
          <a:ext cx="4526684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343">
                  <a:extLst>
                    <a:ext uri="{9D8B030D-6E8A-4147-A177-3AD203B41FA5}">
                      <a16:colId xmlns:a16="http://schemas.microsoft.com/office/drawing/2014/main" val="404989124"/>
                    </a:ext>
                  </a:extLst>
                </a:gridCol>
                <a:gridCol w="1665170">
                  <a:extLst>
                    <a:ext uri="{9D8B030D-6E8A-4147-A177-3AD203B41FA5}">
                      <a16:colId xmlns:a16="http://schemas.microsoft.com/office/drawing/2014/main" val="825470236"/>
                    </a:ext>
                  </a:extLst>
                </a:gridCol>
                <a:gridCol w="1665171">
                  <a:extLst>
                    <a:ext uri="{9D8B030D-6E8A-4147-A177-3AD203B41FA5}">
                      <a16:colId xmlns:a16="http://schemas.microsoft.com/office/drawing/2014/main" val="1351167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+mn-ea"/>
                          <a:ea typeface="+mn-ea"/>
                        </a:rPr>
                        <a:t>PowerCenter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Kettle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322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是否开源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未开源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开源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908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104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易用性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756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很快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比较快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843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稳定性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中等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601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监控日志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非常详细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详细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772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连接性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广泛的数据库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广泛的数据库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685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稍难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+mn-ea"/>
                          <a:ea typeface="+mn-ea"/>
                        </a:rPr>
                        <a:t>容易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865060"/>
                  </a:ext>
                </a:extLst>
              </a:tr>
            </a:tbl>
          </a:graphicData>
        </a:graphic>
      </p:graphicFrame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7CD890B3-5731-4B05-B694-53C8A976F5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9912235"/>
              </p:ext>
            </p:extLst>
          </p:nvPr>
        </p:nvGraphicFramePr>
        <p:xfrm>
          <a:off x="847257" y="1209675"/>
          <a:ext cx="7182318" cy="39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83701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089802A1-6EA3-4F7D-BC1D-548D9A57311F}"/>
              </a:ext>
            </a:extLst>
          </p:cNvPr>
          <p:cNvGraphicFramePr/>
          <p:nvPr>
            <p:extLst/>
          </p:nvPr>
        </p:nvGraphicFramePr>
        <p:xfrm>
          <a:off x="847257" y="1209675"/>
          <a:ext cx="7182318" cy="39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矩形: 圆角 2">
            <a:extLst>
              <a:ext uri="{FF2B5EF4-FFF2-40B4-BE49-F238E27FC236}">
                <a16:creationId xmlns:a16="http://schemas.microsoft.com/office/drawing/2014/main" id="{E141B24F-34B7-4445-841B-6EB34D0F3833}"/>
              </a:ext>
            </a:extLst>
          </p:cNvPr>
          <p:cNvSpPr/>
          <p:nvPr/>
        </p:nvSpPr>
        <p:spPr>
          <a:xfrm>
            <a:off x="847256" y="1910767"/>
            <a:ext cx="2659103" cy="3235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+mn-ea"/>
              </a:rPr>
              <a:t>其他产品：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983E235-E681-4E39-B034-B75FDC272211}"/>
              </a:ext>
            </a:extLst>
          </p:cNvPr>
          <p:cNvSpPr/>
          <p:nvPr/>
        </p:nvSpPr>
        <p:spPr>
          <a:xfrm>
            <a:off x="847256" y="2698483"/>
            <a:ext cx="6462195" cy="257616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+mn-ea"/>
              </a:rPr>
              <a:t>DataStage</a:t>
            </a:r>
            <a:r>
              <a:rPr lang="zh-CN" altLang="en-US" dirty="0">
                <a:latin typeface="+mn-ea"/>
              </a:rPr>
              <a:t>：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IBM</a:t>
            </a:r>
            <a:r>
              <a:rPr lang="zh-CN" altLang="en-US" dirty="0">
                <a:latin typeface="+mn-ea"/>
              </a:rPr>
              <a:t>公司的数据集成软件平台；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Teradata</a:t>
            </a:r>
            <a:r>
              <a:rPr lang="zh-CN" altLang="en-US" dirty="0">
                <a:latin typeface="+mn-ea"/>
              </a:rPr>
              <a:t>：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基于大规模并行处理 </a:t>
            </a:r>
            <a:r>
              <a:rPr lang="en-US" altLang="zh-CN" dirty="0">
                <a:latin typeface="+mn-ea"/>
              </a:rPr>
              <a:t>(MPP) </a:t>
            </a:r>
            <a:r>
              <a:rPr lang="zh-CN" altLang="en-US" dirty="0">
                <a:latin typeface="+mn-ea"/>
              </a:rPr>
              <a:t>平台，能够高速处理海量数据；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OWB</a:t>
            </a:r>
            <a:r>
              <a:rPr lang="zh-CN" altLang="en-US" dirty="0">
                <a:latin typeface="+mn-ea"/>
              </a:rPr>
              <a:t>：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适用于</a:t>
            </a:r>
            <a:r>
              <a:rPr lang="en-US" altLang="zh-CN" dirty="0">
                <a:latin typeface="+mn-ea"/>
              </a:rPr>
              <a:t>oracle</a:t>
            </a:r>
            <a:r>
              <a:rPr lang="zh-CN" altLang="en-US" dirty="0">
                <a:latin typeface="+mn-ea"/>
              </a:rPr>
              <a:t>数据库；</a:t>
            </a:r>
            <a:endParaRPr lang="en-US" altLang="zh-CN" dirty="0">
              <a:latin typeface="+mn-ea"/>
            </a:endParaRPr>
          </a:p>
        </p:txBody>
      </p:sp>
      <p:sp>
        <p:nvSpPr>
          <p:cNvPr id="5" name="流程图: 过程 4">
            <a:extLst>
              <a:ext uri="{FF2B5EF4-FFF2-40B4-BE49-F238E27FC236}">
                <a16:creationId xmlns:a16="http://schemas.microsoft.com/office/drawing/2014/main" id="{F361DE45-CAF5-420B-A7CB-F57E731D84A1}"/>
              </a:ext>
            </a:extLst>
          </p:cNvPr>
          <p:cNvSpPr/>
          <p:nvPr/>
        </p:nvSpPr>
        <p:spPr>
          <a:xfrm>
            <a:off x="7524527" y="2929188"/>
            <a:ext cx="1292214" cy="47128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ETL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架构</a:t>
            </a:r>
          </a:p>
        </p:txBody>
      </p: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8623AE7F-A371-410A-826B-3F8195C6C60D}"/>
              </a:ext>
            </a:extLst>
          </p:cNvPr>
          <p:cNvSpPr/>
          <p:nvPr/>
        </p:nvSpPr>
        <p:spPr>
          <a:xfrm>
            <a:off x="7524527" y="3907857"/>
            <a:ext cx="1292214" cy="120315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ELT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架构</a:t>
            </a:r>
          </a:p>
        </p:txBody>
      </p:sp>
    </p:spTree>
    <p:extLst>
      <p:ext uri="{BB962C8B-B14F-4D97-AF65-F5344CB8AC3E}">
        <p14:creationId xmlns:p14="http://schemas.microsoft.com/office/powerpoint/2010/main" val="204192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089802A1-6EA3-4F7D-BC1D-548D9A5731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3002970"/>
              </p:ext>
            </p:extLst>
          </p:nvPr>
        </p:nvGraphicFramePr>
        <p:xfrm>
          <a:off x="847257" y="1228725"/>
          <a:ext cx="7182318" cy="39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矩形: 圆角 2">
            <a:extLst>
              <a:ext uri="{FF2B5EF4-FFF2-40B4-BE49-F238E27FC236}">
                <a16:creationId xmlns:a16="http://schemas.microsoft.com/office/drawing/2014/main" id="{E141B24F-34B7-4445-841B-6EB34D0F3833}"/>
              </a:ext>
            </a:extLst>
          </p:cNvPr>
          <p:cNvSpPr/>
          <p:nvPr/>
        </p:nvSpPr>
        <p:spPr>
          <a:xfrm>
            <a:off x="1199679" y="2070809"/>
            <a:ext cx="6029325" cy="37624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对平台的支持程度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E2863A6-6D61-482C-9476-6B669AF7B398}"/>
              </a:ext>
            </a:extLst>
          </p:cNvPr>
          <p:cNvSpPr/>
          <p:nvPr/>
        </p:nvSpPr>
        <p:spPr>
          <a:xfrm>
            <a:off x="1199679" y="2708986"/>
            <a:ext cx="6029325" cy="37624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对数据源的支持程度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1A38F28-20FB-479C-8D39-10ADEA6DD2F8}"/>
              </a:ext>
            </a:extLst>
          </p:cNvPr>
          <p:cNvSpPr/>
          <p:nvPr/>
        </p:nvSpPr>
        <p:spPr>
          <a:xfrm>
            <a:off x="1199679" y="3347163"/>
            <a:ext cx="6029325" cy="37624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数据转换功能的要求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3363777-4D47-4606-918C-BAA408F7F09A}"/>
              </a:ext>
            </a:extLst>
          </p:cNvPr>
          <p:cNvSpPr/>
          <p:nvPr/>
        </p:nvSpPr>
        <p:spPr>
          <a:xfrm>
            <a:off x="1199677" y="3985339"/>
            <a:ext cx="6029325" cy="37624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管理和调度功能要求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0EE3955-C14C-431C-9A8A-66679A2128E2}"/>
              </a:ext>
            </a:extLst>
          </p:cNvPr>
          <p:cNvSpPr/>
          <p:nvPr/>
        </p:nvSpPr>
        <p:spPr>
          <a:xfrm>
            <a:off x="1199677" y="4625019"/>
            <a:ext cx="6029325" cy="37624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集成和开放性要求</a:t>
            </a:r>
          </a:p>
        </p:txBody>
      </p:sp>
    </p:spTree>
    <p:extLst>
      <p:ext uri="{BB962C8B-B14F-4D97-AF65-F5344CB8AC3E}">
        <p14:creationId xmlns:p14="http://schemas.microsoft.com/office/powerpoint/2010/main" val="1846977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5988658-0EC7-4BAE-BFD2-C1E10AE909E0}"/>
              </a:ext>
            </a:extLst>
          </p:cNvPr>
          <p:cNvSpPr txBox="1"/>
          <p:nvPr/>
        </p:nvSpPr>
        <p:spPr>
          <a:xfrm>
            <a:off x="2067025" y="2767280"/>
            <a:ext cx="50099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latin typeface="Maiandra GD" panose="020E0502030308020204" pitchFamily="34" charset="0"/>
                <a:ea typeface="幼圆" panose="02010509060101010101" pitchFamily="49" charset="-122"/>
              </a:rPr>
              <a:t>Thank you</a:t>
            </a:r>
            <a:endParaRPr lang="zh-CN" altLang="en-US" sz="8000" dirty="0">
              <a:latin typeface="Maiandra GD" panose="020E0502030308020204" pitchFamily="34" charset="0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911291"/>
      </p:ext>
    </p:extLst>
  </p:cSld>
  <p:clrMapOvr>
    <a:masterClrMapping/>
  </p:clrMapOvr>
</p:sld>
</file>

<file path=ppt/theme/theme1.xml><?xml version="1.0" encoding="utf-8"?>
<a:theme xmlns:a="http://schemas.openxmlformats.org/drawingml/2006/main" name="水滴">
  <a:themeElements>
    <a:clrScheme name="水滴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TM04033925[[fn=水滴]]</Template>
  <TotalTime>12591</TotalTime>
  <Words>2463</Words>
  <Application>Microsoft Office PowerPoint</Application>
  <PresentationFormat>全屏显示(4:3)</PresentationFormat>
  <Paragraphs>302</Paragraphs>
  <Slides>24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Hei</vt:lpstr>
      <vt:lpstr>等线</vt:lpstr>
      <vt:lpstr>宋体</vt:lpstr>
      <vt:lpstr>微软雅黑</vt:lpstr>
      <vt:lpstr>幼圆</vt:lpstr>
      <vt:lpstr>Arial</vt:lpstr>
      <vt:lpstr>Calibri</vt:lpstr>
      <vt:lpstr>Impact</vt:lpstr>
      <vt:lpstr>Maiandra GD</vt:lpstr>
      <vt:lpstr>Tw Cen MT</vt:lpstr>
      <vt:lpstr>水滴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王南</dc:creator>
  <cp:lastModifiedBy>王南</cp:lastModifiedBy>
  <cp:revision>1359</cp:revision>
  <dcterms:created xsi:type="dcterms:W3CDTF">2017-10-24T09:24:59Z</dcterms:created>
  <dcterms:modified xsi:type="dcterms:W3CDTF">2018-06-01T09:20:27Z</dcterms:modified>
</cp:coreProperties>
</file>
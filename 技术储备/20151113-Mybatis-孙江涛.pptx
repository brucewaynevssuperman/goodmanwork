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82" r:id="rId4"/>
    <p:sldId id="283" r:id="rId5"/>
    <p:sldId id="288" r:id="rId6"/>
    <p:sldId id="286" r:id="rId7"/>
    <p:sldId id="284" r:id="rId8"/>
    <p:sldId id="285" r:id="rId9"/>
    <p:sldId id="289" r:id="rId10"/>
    <p:sldId id="291" r:id="rId11"/>
    <p:sldId id="287" r:id="rId12"/>
    <p:sldId id="290" r:id="rId13"/>
    <p:sldId id="292" r:id="rId14"/>
    <p:sldId id="293" r:id="rId15"/>
    <p:sldId id="265" r:id="rId1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03C"/>
    <a:srgbClr val="91DB01"/>
    <a:srgbClr val="93634C"/>
    <a:srgbClr val="94634C"/>
    <a:srgbClr val="EA71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5633" autoAdjust="0"/>
  </p:normalViewPr>
  <p:slideViewPr>
    <p:cSldViewPr>
      <p:cViewPr varScale="1">
        <p:scale>
          <a:sx n="68" d="100"/>
          <a:sy n="68" d="100"/>
        </p:scale>
        <p:origin x="-144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ea typeface="宋体" pitchFamily="2" charset="-122"/>
              </a:defRPr>
            </a:lvl1pPr>
          </a:lstStyle>
          <a:p>
            <a:pPr>
              <a:defRPr/>
            </a:pPr>
            <a:fld id="{655DDF82-6026-4046-801E-848A9BF49F7D}" type="datetimeFigureOut">
              <a:rPr lang="zh-CN" altLang="en-US"/>
              <a:pPr>
                <a:defRPr/>
              </a:pPr>
              <a:t>2015/11/13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ea typeface="宋体" pitchFamily="2" charset="-122"/>
              </a:defRPr>
            </a:lvl1pPr>
          </a:lstStyle>
          <a:p>
            <a:pPr>
              <a:defRPr/>
            </a:pPr>
            <a:fld id="{DCD0C73C-88B6-4763-9935-9077BA451DE7}" type="slidenum">
              <a:rPr lang="zh-CN" altLang="en-US"/>
              <a:pPr>
                <a:defRPr/>
              </a:pPr>
              <a:t>‹#›</a:t>
            </a:fld>
            <a:endParaRPr lang="zh-CN" altLang="en-US"/>
          </a:p>
        </p:txBody>
      </p:sp>
    </p:spTree>
    <p:extLst>
      <p:ext uri="{BB962C8B-B14F-4D97-AF65-F5344CB8AC3E}">
        <p14:creationId xmlns:p14="http://schemas.microsoft.com/office/powerpoint/2010/main" val="3277921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A41206E7-6A3A-4AC3-BF11-2254303764A2}" type="datetimeFigureOut">
              <a:rPr lang="zh-CN" altLang="en-US"/>
              <a:pPr>
                <a:defRPr/>
              </a:pPr>
              <a:t>2015/11/13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DC17CAE-5023-4240-90A7-C32BDD0E113D}"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8B2E357-93AB-4879-B3AB-566C52468FF2}" type="datetimeFigureOut">
              <a:rPr lang="zh-CN" altLang="en-US"/>
              <a:pPr>
                <a:defRPr/>
              </a:pPr>
              <a:t>2015/11/13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A0B8052-961A-4A21-9CAE-0BFB68714C8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BB162E2-A7FC-4887-83CB-DB593EA7B735}" type="datetimeFigureOut">
              <a:rPr lang="zh-CN" altLang="en-US"/>
              <a:pPr>
                <a:defRPr/>
              </a:pPr>
              <a:t>2015/11/13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B9E9067-4C9E-4024-85A2-D23CE137DF4D}"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F22230B5-12FF-47F8-B41C-24C536DD227E}" type="datetimeFigureOut">
              <a:rPr lang="zh-CN" altLang="en-US"/>
              <a:pPr>
                <a:defRPr/>
              </a:pPr>
              <a:t>2015/11/13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EC34FB9-66E9-4448-9A44-A33A42DE0798}"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E88D4107-DF97-4033-A020-1A86C9309038}" type="datetimeFigureOut">
              <a:rPr lang="zh-CN" altLang="en-US"/>
              <a:pPr>
                <a:defRPr/>
              </a:pPr>
              <a:t>2015/11/13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49959A8D-37B6-49B0-9627-E7BC8DF41676}"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7D7162EA-C23C-4F20-8B7C-FAE2E42ADC1B}" type="datetimeFigureOut">
              <a:rPr lang="zh-CN" altLang="en-US"/>
              <a:pPr>
                <a:defRPr/>
              </a:pPr>
              <a:t>2015/11/13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7D97C2A-8035-4F65-9348-D86DE1D15CBB}"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3EC60F2-1116-4323-BBA7-EDD3AFD5EA4A}" type="datetimeFigureOut">
              <a:rPr lang="zh-CN" altLang="en-US"/>
              <a:pPr>
                <a:defRPr/>
              </a:pPr>
              <a:t>2015/11/13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7537E87-2E1C-4D9E-8678-72D555F06F2F}"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3DB210D-5D04-4577-ACE8-5861FC7F3AAD}" type="datetimeFigureOut">
              <a:rPr lang="zh-CN" altLang="en-US"/>
              <a:pPr>
                <a:defRPr/>
              </a:pPr>
              <a:t>2015/11/13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90AA041-51C7-4DE2-A807-7831918DFE32}"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92D2449-2B09-4D20-9579-96578D7689DE}" type="datetimeFigureOut">
              <a:rPr lang="zh-CN" altLang="en-US"/>
              <a:pPr>
                <a:defRPr/>
              </a:pPr>
              <a:t>2015/11/13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6548EA2-9593-4ADB-B139-8E14C4C5C40C}"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C0C6086-8DFA-40C0-B9AB-44BDAA8D15AB}" type="datetimeFigureOut">
              <a:rPr lang="zh-CN" altLang="en-US"/>
              <a:pPr>
                <a:defRPr/>
              </a:pPr>
              <a:t>2015/11/13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9CA88B4-EC90-4265-93DE-09FC478352EB}"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A3111BC-7801-4DF4-ABDE-6DF300119B37}" type="datetimeFigureOut">
              <a:rPr lang="zh-CN" altLang="en-US"/>
              <a:pPr>
                <a:defRPr/>
              </a:pPr>
              <a:t>2015/11/13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47C5B65-7819-43D1-80B6-6BB4CD5AD98E}"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A6838470-0EAA-464E-BF24-7BF3D00D617C}" type="datetimeFigureOut">
              <a:rPr lang="zh-CN" altLang="en-US"/>
              <a:pPr>
                <a:defRPr/>
              </a:pPr>
              <a:t>2015/11/13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C61446AD-3141-4E8A-A567-8D985160D77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mybatis.org/" TargetMode="External"/><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hyperlink" Target="https://github.com/mybatis/mybatis-3" TargetMode="External"/><Relationship Id="rId4" Type="http://schemas.openxmlformats.org/officeDocument/2006/relationships/hyperlink" Target="http://tool.oschina.net/apidocs/apidoc?api=mybatis-3.1.1"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hyperlink" Target="http://blog.csdn.net/xiaoping8411/article/details/2629266"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l="-1000" r="-1000"/>
          </a:stretch>
        </a:blipFill>
        <a:effectLst/>
      </p:bgPr>
    </p:bg>
    <p:spTree>
      <p:nvGrpSpPr>
        <p:cNvPr id="1" name=""/>
        <p:cNvGrpSpPr/>
        <p:nvPr/>
      </p:nvGrpSpPr>
      <p:grpSpPr>
        <a:xfrm>
          <a:off x="0" y="0"/>
          <a:ext cx="0" cy="0"/>
          <a:chOff x="0" y="0"/>
          <a:chExt cx="0" cy="0"/>
        </a:xfrm>
      </p:grpSpPr>
      <p:sp>
        <p:nvSpPr>
          <p:cNvPr id="2050" name="TextBox 6"/>
          <p:cNvSpPr txBox="1">
            <a:spLocks noChangeArrowheads="1"/>
          </p:cNvSpPr>
          <p:nvPr/>
        </p:nvSpPr>
        <p:spPr bwMode="auto">
          <a:xfrm>
            <a:off x="214282" y="3799282"/>
            <a:ext cx="5509846" cy="1200329"/>
          </a:xfrm>
          <a:prstGeom prst="rect">
            <a:avLst/>
          </a:prstGeom>
          <a:noFill/>
          <a:ln w="9525">
            <a:noFill/>
            <a:miter lim="800000"/>
            <a:headEnd/>
            <a:tailEnd/>
          </a:ln>
        </p:spPr>
        <p:txBody>
          <a:bodyPr wrap="square">
            <a:spAutoFit/>
          </a:bodyPr>
          <a:lstStyle/>
          <a:p>
            <a:r>
              <a:rPr lang="en-US" altLang="zh-CN" sz="7200" smtClean="0">
                <a:latin typeface="Times New Roman" panose="02020603050405020304" pitchFamily="18" charset="0"/>
                <a:cs typeface="Times New Roman" panose="02020603050405020304" pitchFamily="18" charset="0"/>
              </a:rPr>
              <a:t>ibatis-Mybatis</a:t>
            </a:r>
            <a:endParaRPr lang="zh-CN" altLang="en-US" sz="7200" dirty="0">
              <a:latin typeface="Times New Roman" panose="02020603050405020304" pitchFamily="18" charset="0"/>
              <a:cs typeface="Times New Roman" panose="02020603050405020304" pitchFamily="18" charset="0"/>
            </a:endParaRPr>
          </a:p>
        </p:txBody>
      </p:sp>
      <p:sp>
        <p:nvSpPr>
          <p:cNvPr id="2051" name="TextBox 2"/>
          <p:cNvSpPr txBox="1">
            <a:spLocks noChangeArrowheads="1"/>
          </p:cNvSpPr>
          <p:nvPr/>
        </p:nvSpPr>
        <p:spPr bwMode="auto">
          <a:xfrm>
            <a:off x="7591923" y="6457890"/>
            <a:ext cx="1552077" cy="400110"/>
          </a:xfrm>
          <a:prstGeom prst="rect">
            <a:avLst/>
          </a:prstGeom>
          <a:noFill/>
          <a:ln w="9525">
            <a:noFill/>
            <a:miter lim="800000"/>
            <a:headEnd/>
            <a:tailEnd/>
          </a:ln>
        </p:spPr>
        <p:txBody>
          <a:bodyPr wrap="square">
            <a:spAutoFit/>
          </a:bodyPr>
          <a:lstStyle/>
          <a:p>
            <a:pPr>
              <a:defRPr/>
            </a:pPr>
            <a:r>
              <a:rPr lang="en-US" altLang="zh-CN" sz="2000" dirty="0" smtClean="0">
                <a:latin typeface="Times New Roman" panose="02020603050405020304" pitchFamily="18" charset="0"/>
                <a:ea typeface="微软雅黑" pitchFamily="34" charset="-122"/>
                <a:cs typeface="Times New Roman" panose="02020603050405020304" pitchFamily="18" charset="0"/>
              </a:rPr>
              <a:t>By </a:t>
            </a:r>
            <a:r>
              <a:rPr lang="en-US" altLang="zh-CN" sz="2000" dirty="0" err="1" smtClean="0">
                <a:latin typeface="Times New Roman" panose="02020603050405020304" pitchFamily="18" charset="0"/>
                <a:ea typeface="微软雅黑" pitchFamily="34" charset="-122"/>
                <a:cs typeface="Times New Roman" panose="02020603050405020304" pitchFamily="18" charset="0"/>
              </a:rPr>
              <a:t>VoidSun</a:t>
            </a:r>
            <a:endParaRPr lang="en-US" altLang="zh-CN" sz="2000" dirty="0">
              <a:latin typeface="Times New Roman" panose="02020603050405020304" pitchFamily="18" charset="0"/>
              <a:ea typeface="微软雅黑"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6048671" cy="523220"/>
          </a:xfrm>
          <a:prstGeom prst="rect">
            <a:avLst/>
          </a:prstGeom>
          <a:noFill/>
          <a:ln w="9525">
            <a:noFill/>
            <a:miter lim="800000"/>
            <a:headEnd/>
            <a:tailEnd/>
          </a:ln>
        </p:spPr>
        <p:txBody>
          <a:bodyPr wrap="square">
            <a:spAutoFit/>
          </a:bodyPr>
          <a:lstStyle/>
          <a:p>
            <a:r>
              <a:rPr lang="en-US" altLang="zh-CN" sz="2800" dirty="0" err="1" smtClean="0">
                <a:latin typeface="Times New Roman" panose="02020603050405020304" pitchFamily="18" charset="0"/>
                <a:cs typeface="Times New Roman" panose="02020603050405020304" pitchFamily="18" charset="0"/>
              </a:rPr>
              <a:t>Mybatis</a:t>
            </a:r>
            <a:r>
              <a:rPr lang="zh-CN" altLang="en-US" sz="2800" dirty="0" smtClean="0">
                <a:latin typeface="Times New Roman" panose="02020603050405020304" pitchFamily="18" charset="0"/>
                <a:cs typeface="Times New Roman" panose="02020603050405020304" pitchFamily="18" charset="0"/>
              </a:rPr>
              <a:t>简介 </a:t>
            </a:r>
            <a:r>
              <a:rPr lang="en-US" altLang="zh-CN" sz="2800" dirty="0" smtClean="0">
                <a:latin typeface="Times New Roman" panose="02020603050405020304" pitchFamily="18" charset="0"/>
                <a:cs typeface="Times New Roman" panose="02020603050405020304" pitchFamily="18" charset="0"/>
              </a:rPr>
              <a:t>-</a:t>
            </a:r>
            <a:r>
              <a:rPr lang="en-US" altLang="zh-CN" sz="2800" dirty="0" smtClean="0"/>
              <a:t> </a:t>
            </a:r>
            <a:r>
              <a:rPr lang="en-US" altLang="zh-CN" sz="2400" dirty="0" smtClean="0">
                <a:latin typeface="Times New Roman" panose="02020603050405020304" pitchFamily="18" charset="0"/>
                <a:cs typeface="Times New Roman" panose="02020603050405020304" pitchFamily="18" charset="0"/>
              </a:rPr>
              <a:t>internet </a:t>
            </a:r>
            <a:r>
              <a:rPr lang="zh-CN" altLang="en-US" sz="2400" dirty="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abatis</a:t>
            </a:r>
            <a:endParaRPr lang="zh-CN" altLang="en-US" sz="2400" dirty="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53823" y="1225689"/>
            <a:ext cx="8784975" cy="5416868"/>
          </a:xfrm>
          <a:prstGeom prst="rect">
            <a:avLst/>
          </a:prstGeom>
          <a:noFill/>
          <a:ln w="9525">
            <a:noFill/>
            <a:miter lim="800000"/>
            <a:headEnd/>
            <a:tailEnd/>
          </a:ln>
        </p:spPr>
        <p:txBody>
          <a:bodyPr wrap="square">
            <a:spAutoFit/>
          </a:bodyPr>
          <a:lstStyle/>
          <a:p>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    </a:t>
            </a:r>
            <a:r>
              <a:rPr lang="en-US" altLang="zh-CN" sz="2000" dirty="0" err="1" smtClean="0">
                <a:solidFill>
                  <a:srgbClr val="FF0000"/>
                </a:solidFill>
                <a:latin typeface="Times New Roman" panose="02020603050405020304" pitchFamily="18" charset="0"/>
                <a:cs typeface="Times New Roman" panose="02020603050405020304" pitchFamily="18" charset="0"/>
              </a:rPr>
              <a:t>MyBatis</a:t>
            </a:r>
            <a:r>
              <a:rPr lang="zh-CN" altLang="en-US" dirty="0">
                <a:latin typeface="Times New Roman" panose="02020603050405020304" pitchFamily="18" charset="0"/>
                <a:cs typeface="Times New Roman" panose="02020603050405020304" pitchFamily="18" charset="0"/>
              </a:rPr>
              <a:t>是一个支持</a:t>
            </a:r>
            <a:r>
              <a:rPr lang="zh-CN" altLang="en-US" b="1" i="1" dirty="0">
                <a:latin typeface="Times New Roman" panose="02020603050405020304" pitchFamily="18" charset="0"/>
                <a:cs typeface="Times New Roman" panose="02020603050405020304" pitchFamily="18" charset="0"/>
              </a:rPr>
              <a:t>普通</a:t>
            </a:r>
            <a:r>
              <a:rPr lang="en-US" altLang="zh-CN" b="1" i="1" dirty="0">
                <a:latin typeface="Times New Roman" panose="02020603050405020304" pitchFamily="18" charset="0"/>
                <a:cs typeface="Times New Roman" panose="02020603050405020304" pitchFamily="18" charset="0"/>
              </a:rPr>
              <a:t>SQL</a:t>
            </a:r>
            <a:r>
              <a:rPr lang="zh-CN" altLang="en-US" b="1" i="1" dirty="0">
                <a:latin typeface="Times New Roman" panose="02020603050405020304" pitchFamily="18" charset="0"/>
                <a:cs typeface="Times New Roman" panose="02020603050405020304" pitchFamily="18" charset="0"/>
              </a:rPr>
              <a:t>查询</a:t>
            </a:r>
            <a:r>
              <a:rPr lang="zh-CN" altLang="en-US" dirty="0">
                <a:latin typeface="Times New Roman" panose="02020603050405020304" pitchFamily="18" charset="0"/>
                <a:cs typeface="Times New Roman" panose="02020603050405020304" pitchFamily="18" charset="0"/>
              </a:rPr>
              <a:t>，</a:t>
            </a:r>
            <a:r>
              <a:rPr lang="zh-CN" altLang="en-US" b="1" i="1" dirty="0">
                <a:latin typeface="Times New Roman" panose="02020603050405020304" pitchFamily="18" charset="0"/>
                <a:cs typeface="Times New Roman" panose="02020603050405020304" pitchFamily="18" charset="0"/>
              </a:rPr>
              <a:t>存储过程</a:t>
            </a:r>
            <a:r>
              <a:rPr lang="zh-CN" altLang="en-US" dirty="0">
                <a:latin typeface="Times New Roman" panose="02020603050405020304" pitchFamily="18" charset="0"/>
                <a:cs typeface="Times New Roman" panose="02020603050405020304" pitchFamily="18" charset="0"/>
              </a:rPr>
              <a:t>和</a:t>
            </a:r>
            <a:r>
              <a:rPr lang="zh-CN" altLang="en-US" b="1" i="1" dirty="0">
                <a:latin typeface="Times New Roman" panose="02020603050405020304" pitchFamily="18" charset="0"/>
                <a:cs typeface="Times New Roman" panose="02020603050405020304" pitchFamily="18" charset="0"/>
              </a:rPr>
              <a:t>高级映射</a:t>
            </a:r>
            <a:r>
              <a:rPr lang="zh-CN" altLang="en-US" dirty="0">
                <a:latin typeface="Times New Roman" panose="02020603050405020304" pitchFamily="18" charset="0"/>
                <a:cs typeface="Times New Roman" panose="02020603050405020304" pitchFamily="18" charset="0"/>
              </a:rPr>
              <a:t>的优秀</a:t>
            </a:r>
            <a:r>
              <a:rPr lang="zh-CN" altLang="en-US" b="1" dirty="0">
                <a:latin typeface="Times New Roman" panose="02020603050405020304" pitchFamily="18" charset="0"/>
                <a:cs typeface="Times New Roman" panose="02020603050405020304" pitchFamily="18" charset="0"/>
              </a:rPr>
              <a:t>持久层框架</a:t>
            </a:r>
            <a:r>
              <a:rPr lang="zh-CN" altLang="en-US" dirty="0" smtClean="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     </a:t>
            </a:r>
            <a:r>
              <a:rPr lang="en-US" altLang="zh-CN" sz="2000" dirty="0" err="1" smtClean="0">
                <a:solidFill>
                  <a:srgbClr val="FF0000"/>
                </a:solidFill>
                <a:latin typeface="Times New Roman" panose="02020603050405020304" pitchFamily="18" charset="0"/>
                <a:cs typeface="Times New Roman" panose="02020603050405020304" pitchFamily="18" charset="0"/>
              </a:rPr>
              <a:t>MyBatis</a:t>
            </a:r>
            <a:r>
              <a:rPr lang="zh-CN" altLang="en-US" dirty="0">
                <a:latin typeface="Times New Roman" panose="02020603050405020304" pitchFamily="18" charset="0"/>
                <a:cs typeface="Times New Roman" panose="02020603050405020304" pitchFamily="18" charset="0"/>
              </a:rPr>
              <a:t>消除了几乎所有的</a:t>
            </a:r>
            <a:r>
              <a:rPr lang="en-US" altLang="zh-CN" dirty="0">
                <a:latin typeface="Times New Roman" panose="02020603050405020304" pitchFamily="18" charset="0"/>
                <a:cs typeface="Times New Roman" panose="02020603050405020304" pitchFamily="18" charset="0"/>
              </a:rPr>
              <a:t>JDBC</a:t>
            </a:r>
            <a:r>
              <a:rPr lang="zh-CN" altLang="en-US" dirty="0">
                <a:latin typeface="Times New Roman" panose="02020603050405020304" pitchFamily="18" charset="0"/>
                <a:cs typeface="Times New Roman" panose="02020603050405020304" pitchFamily="18" charset="0"/>
              </a:rPr>
              <a:t>代码和参数的手工设置以及对结果集的检索封装</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    </a:t>
            </a:r>
            <a:r>
              <a:rPr lang="en-US" altLang="zh-CN" sz="2000" dirty="0" err="1" smtClean="0">
                <a:solidFill>
                  <a:srgbClr val="FF0000"/>
                </a:solidFill>
                <a:latin typeface="Times New Roman" panose="02020603050405020304" pitchFamily="18" charset="0"/>
                <a:cs typeface="Times New Roman" panose="02020603050405020304" pitchFamily="18" charset="0"/>
              </a:rPr>
              <a:t>MyBatis</a:t>
            </a:r>
            <a:r>
              <a:rPr lang="zh-CN" altLang="en-US" dirty="0">
                <a:latin typeface="Times New Roman" panose="02020603050405020304" pitchFamily="18" charset="0"/>
                <a:cs typeface="Times New Roman" panose="02020603050405020304" pitchFamily="18" charset="0"/>
              </a:rPr>
              <a:t>可以使用简单的</a:t>
            </a:r>
            <a:r>
              <a:rPr lang="en-US" altLang="zh-CN" b="1" dirty="0">
                <a:latin typeface="Times New Roman" panose="02020603050405020304" pitchFamily="18" charset="0"/>
                <a:cs typeface="Times New Roman" panose="02020603050405020304" pitchFamily="18" charset="0"/>
              </a:rPr>
              <a:t>XML</a:t>
            </a:r>
            <a:r>
              <a:rPr lang="zh-CN" altLang="en-US" b="1" dirty="0">
                <a:latin typeface="Times New Roman" panose="02020603050405020304" pitchFamily="18" charset="0"/>
                <a:cs typeface="Times New Roman" panose="02020603050405020304" pitchFamily="18" charset="0"/>
              </a:rPr>
              <a:t>或注解</a:t>
            </a:r>
            <a:r>
              <a:rPr lang="zh-CN" altLang="en-US" dirty="0">
                <a:latin typeface="Times New Roman" panose="02020603050405020304" pitchFamily="18" charset="0"/>
                <a:cs typeface="Times New Roman" panose="02020603050405020304" pitchFamily="18" charset="0"/>
              </a:rPr>
              <a:t>用于配置和原始映射，将接口和</a:t>
            </a:r>
            <a:r>
              <a:rPr lang="en-US" altLang="zh-CN" dirty="0">
                <a:latin typeface="Times New Roman" panose="02020603050405020304" pitchFamily="18" charset="0"/>
                <a:cs typeface="Times New Roman" panose="02020603050405020304" pitchFamily="18" charset="0"/>
              </a:rPr>
              <a:t>Java</a:t>
            </a:r>
            <a:r>
              <a:rPr lang="zh-CN" altLang="en-US" dirty="0">
                <a:latin typeface="Times New Roman" panose="02020603050405020304" pitchFamily="18" charset="0"/>
                <a:cs typeface="Times New Roman" panose="02020603050405020304" pitchFamily="18" charset="0"/>
              </a:rPr>
              <a:t>的</a:t>
            </a:r>
            <a:r>
              <a:rPr lang="en-US" altLang="zh-CN" dirty="0">
                <a:latin typeface="Times New Roman" panose="02020603050405020304" pitchFamily="18" charset="0"/>
                <a:cs typeface="Times New Roman" panose="02020603050405020304" pitchFamily="18" charset="0"/>
              </a:rPr>
              <a:t>POJO</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Plain Old Java Objects</a:t>
            </a:r>
            <a:r>
              <a:rPr lang="zh-CN" altLang="en-US" dirty="0">
                <a:latin typeface="Times New Roman" panose="02020603050405020304" pitchFamily="18" charset="0"/>
                <a:cs typeface="Times New Roman" panose="02020603050405020304" pitchFamily="18" charset="0"/>
              </a:rPr>
              <a:t>，普通的</a:t>
            </a:r>
            <a:r>
              <a:rPr lang="en-US" altLang="zh-CN" dirty="0">
                <a:latin typeface="Times New Roman" panose="02020603050405020304" pitchFamily="18" charset="0"/>
                <a:cs typeface="Times New Roman" panose="02020603050405020304" pitchFamily="18" charset="0"/>
              </a:rPr>
              <a:t>Java</a:t>
            </a:r>
            <a:r>
              <a:rPr lang="zh-CN" altLang="en-US" dirty="0">
                <a:latin typeface="Times New Roman" panose="02020603050405020304" pitchFamily="18" charset="0"/>
                <a:cs typeface="Times New Roman" panose="02020603050405020304" pitchFamily="18" charset="0"/>
              </a:rPr>
              <a:t>对象）映射成数据库中的记录。</a:t>
            </a:r>
            <a:endParaRPr lang="en-US" altLang="zh-CN" dirty="0">
              <a:latin typeface="Times New Roman" panose="02020603050405020304" pitchFamily="18" charset="0"/>
              <a:cs typeface="Times New Roman" panose="02020603050405020304" pitchFamily="18" charset="0"/>
            </a:endParaRPr>
          </a:p>
          <a:p>
            <a:r>
              <a:rPr lang="en-US" altLang="zh-CN" dirty="0" smtClean="0">
                <a:latin typeface="Times New Roman" panose="02020603050405020304" pitchFamily="18" charset="0"/>
                <a:cs typeface="Times New Roman" panose="02020603050405020304" pitchFamily="18" charset="0"/>
              </a:rPr>
              <a:t> </a:t>
            </a:r>
          </a:p>
          <a:p>
            <a:endParaRPr lang="en-US" altLang="zh-CN" dirty="0">
              <a:latin typeface="Times New Roman" panose="02020603050405020304" pitchFamily="18" charset="0"/>
              <a:cs typeface="Times New Roman" panose="02020603050405020304" pitchFamily="18" charset="0"/>
            </a:endParaRPr>
          </a:p>
          <a:p>
            <a:r>
              <a:rPr lang="en-US" altLang="zh-CN" dirty="0" smtClean="0">
                <a:latin typeface="Times New Roman" panose="02020603050405020304" pitchFamily="18" charset="0"/>
                <a:cs typeface="Times New Roman" panose="02020603050405020304" pitchFamily="18" charset="0"/>
              </a:rPr>
              <a:t>    1. </a:t>
            </a:r>
            <a:r>
              <a:rPr lang="en-US" altLang="zh-CN" dirty="0" err="1" smtClean="0">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的是一个轻量级的持久层框架，它能够自动在</a:t>
            </a:r>
            <a:r>
              <a:rPr lang="en-US" altLang="zh-CN" dirty="0" smtClean="0">
                <a:latin typeface="Times New Roman" panose="02020603050405020304" pitchFamily="18" charset="0"/>
                <a:cs typeface="Times New Roman" panose="02020603050405020304" pitchFamily="18" charset="0"/>
              </a:rPr>
              <a:t>JAVA</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.NET</a:t>
            </a:r>
            <a:r>
              <a:rPr lang="zh-CN" altLang="en-US" dirty="0" smtClean="0">
                <a:latin typeface="Times New Roman" panose="02020603050405020304" pitchFamily="18" charset="0"/>
                <a:cs typeface="Times New Roman" panose="02020603050405020304" pitchFamily="18" charset="0"/>
              </a:rPr>
              <a:t>和</a:t>
            </a:r>
            <a:r>
              <a:rPr lang="en-US" altLang="zh-CN" dirty="0" smtClean="0">
                <a:latin typeface="Times New Roman" panose="02020603050405020304" pitchFamily="18" charset="0"/>
                <a:cs typeface="Times New Roman" panose="02020603050405020304" pitchFamily="18" charset="0"/>
              </a:rPr>
              <a:t>Ruby</a:t>
            </a:r>
            <a:r>
              <a:rPr lang="zh-CN" altLang="en-US" dirty="0" smtClean="0">
                <a:latin typeface="Times New Roman" panose="02020603050405020304" pitchFamily="18" charset="0"/>
                <a:cs typeface="Times New Roman" panose="02020603050405020304" pitchFamily="18" charset="0"/>
              </a:rPr>
              <a:t>在</a:t>
            </a:r>
            <a:r>
              <a:rPr lang="en-US" altLang="zh-CN" dirty="0" smtClean="0">
                <a:latin typeface="Times New Roman" panose="02020603050405020304" pitchFamily="18" charset="0"/>
                <a:cs typeface="Times New Roman" panose="02020603050405020304" pitchFamily="18" charset="0"/>
              </a:rPr>
              <a:t>Rails</a:t>
            </a:r>
            <a:r>
              <a:rPr lang="zh-CN" altLang="en-US" dirty="0" smtClean="0">
                <a:latin typeface="Times New Roman" panose="02020603050405020304" pitchFamily="18" charset="0"/>
                <a:cs typeface="Times New Roman" panose="02020603050405020304" pitchFamily="18" charset="0"/>
              </a:rPr>
              <a:t>中与</a:t>
            </a:r>
            <a:r>
              <a:rPr lang="en-US" altLang="zh-CN" dirty="0" smtClean="0">
                <a:latin typeface="Times New Roman" panose="02020603050405020304" pitchFamily="18" charset="0"/>
                <a:cs typeface="Times New Roman" panose="02020603050405020304" pitchFamily="18" charset="0"/>
              </a:rPr>
              <a:t>SQL</a:t>
            </a:r>
            <a:r>
              <a:rPr lang="zh-CN" altLang="en-US" dirty="0" smtClean="0">
                <a:latin typeface="Times New Roman" panose="02020603050405020304" pitchFamily="18" charset="0"/>
                <a:cs typeface="Times New Roman" panose="02020603050405020304" pitchFamily="18" charset="0"/>
              </a:rPr>
              <a:t>数据库和对象之间的映射。映射是从应用程序逻辑封装在</a:t>
            </a:r>
            <a:r>
              <a:rPr lang="en-US" altLang="zh-CN" dirty="0" smtClean="0">
                <a:latin typeface="Times New Roman" panose="02020603050405020304" pitchFamily="18" charset="0"/>
                <a:cs typeface="Times New Roman" panose="02020603050405020304" pitchFamily="18" charset="0"/>
              </a:rPr>
              <a:t>XML</a:t>
            </a:r>
            <a:r>
              <a:rPr lang="zh-CN" altLang="en-US" dirty="0" smtClean="0">
                <a:latin typeface="Times New Roman" panose="02020603050405020304" pitchFamily="18" charset="0"/>
                <a:cs typeface="Times New Roman" panose="02020603050405020304" pitchFamily="18" charset="0"/>
              </a:rPr>
              <a:t>配置文件中的</a:t>
            </a:r>
            <a:r>
              <a:rPr lang="en-US" altLang="zh-CN" dirty="0" smtClean="0">
                <a:latin typeface="Times New Roman" panose="02020603050405020304" pitchFamily="18" charset="0"/>
                <a:cs typeface="Times New Roman" panose="02020603050405020304" pitchFamily="18" charset="0"/>
              </a:rPr>
              <a:t>SQL</a:t>
            </a:r>
            <a:r>
              <a:rPr lang="zh-CN" altLang="en-US" dirty="0" smtClean="0">
                <a:latin typeface="Times New Roman" panose="02020603050405020304" pitchFamily="18" charset="0"/>
                <a:cs typeface="Times New Roman" panose="02020603050405020304" pitchFamily="18" charset="0"/>
              </a:rPr>
              <a:t>语句脱钩。</a:t>
            </a:r>
            <a:endParaRPr lang="en-US" altLang="zh-CN" dirty="0" smtClean="0">
              <a:latin typeface="Times New Roman" panose="02020603050405020304" pitchFamily="18" charset="0"/>
              <a:cs typeface="Times New Roman" panose="02020603050405020304" pitchFamily="18" charset="0"/>
            </a:endParaRPr>
          </a:p>
          <a:p>
            <a:r>
              <a:rPr lang="en-US" altLang="zh-CN" dirty="0" smtClean="0">
                <a:latin typeface="Times New Roman" panose="02020603050405020304" pitchFamily="18" charset="0"/>
                <a:cs typeface="Times New Roman" panose="02020603050405020304" pitchFamily="18" charset="0"/>
              </a:rPr>
              <a:t>     2. </a:t>
            </a:r>
            <a:r>
              <a:rPr lang="en-US" altLang="zh-CN" dirty="0" err="1" smtClean="0">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是被称为一个数据映射和映射需要的类的属性和数据库中的表的列之间的参数和结果。</a:t>
            </a:r>
          </a:p>
          <a:p>
            <a:r>
              <a:rPr lang="en-US" altLang="zh-CN" dirty="0" smtClean="0">
                <a:latin typeface="Times New Roman" panose="02020603050405020304" pitchFamily="18" charset="0"/>
                <a:cs typeface="Times New Roman" panose="02020603050405020304" pitchFamily="18" charset="0"/>
              </a:rPr>
              <a:t>     3.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和其他持久化框架，如</a:t>
            </a:r>
            <a:r>
              <a:rPr lang="en-US" altLang="zh-CN" dirty="0" smtClean="0">
                <a:latin typeface="Times New Roman" panose="02020603050405020304" pitchFamily="18" charset="0"/>
                <a:cs typeface="Times New Roman" panose="02020603050405020304" pitchFamily="18" charset="0"/>
              </a:rPr>
              <a:t>Hibernate</a:t>
            </a:r>
            <a:r>
              <a:rPr lang="zh-CN" altLang="en-US" dirty="0" smtClean="0">
                <a:latin typeface="Times New Roman" panose="02020603050405020304" pitchFamily="18" charset="0"/>
                <a:cs typeface="Times New Roman" panose="02020603050405020304" pitchFamily="18" charset="0"/>
              </a:rPr>
              <a:t>之间的显著区别在于</a:t>
            </a:r>
            <a:r>
              <a:rPr lang="zh-CN" altLang="en-US" dirty="0" smtClean="0">
                <a:latin typeface="Times New Roman" panose="02020603050405020304" pitchFamily="18" charset="0"/>
                <a:cs typeface="Times New Roman" panose="02020603050405020304" pitchFamily="18" charset="0"/>
              </a:rPr>
              <a:t>，</a:t>
            </a:r>
            <a:r>
              <a:rPr lang="en-US" altLang="zh-CN" dirty="0" err="1" smtClean="0">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强调</a:t>
            </a:r>
            <a:r>
              <a:rPr lang="zh-CN" altLang="en-US" dirty="0" smtClean="0">
                <a:latin typeface="Times New Roman" panose="02020603050405020304" pitchFamily="18" charset="0"/>
                <a:cs typeface="Times New Roman" panose="02020603050405020304" pitchFamily="18" charset="0"/>
              </a:rPr>
              <a:t>使用</a:t>
            </a:r>
            <a:r>
              <a:rPr lang="en-US" altLang="zh-CN" dirty="0" smtClean="0">
                <a:latin typeface="Times New Roman" panose="02020603050405020304" pitchFamily="18" charset="0"/>
                <a:cs typeface="Times New Roman" panose="02020603050405020304" pitchFamily="18" charset="0"/>
              </a:rPr>
              <a:t>SQL</a:t>
            </a:r>
            <a:r>
              <a:rPr lang="zh-CN" altLang="en-US" dirty="0" smtClean="0">
                <a:latin typeface="Times New Roman" panose="02020603050405020304" pitchFamily="18" charset="0"/>
                <a:cs typeface="Times New Roman" panose="02020603050405020304" pitchFamily="18" charset="0"/>
              </a:rPr>
              <a:t>，而其他的框架通常使用一个自定义的查询语言，具有</a:t>
            </a:r>
            <a:r>
              <a:rPr lang="en-US" altLang="zh-CN" dirty="0" smtClean="0">
                <a:latin typeface="Times New Roman" panose="02020603050405020304" pitchFamily="18" charset="0"/>
                <a:cs typeface="Times New Roman" panose="02020603050405020304" pitchFamily="18" charset="0"/>
              </a:rPr>
              <a:t>Hibernate</a:t>
            </a:r>
            <a:r>
              <a:rPr lang="zh-CN" altLang="en-US" dirty="0" smtClean="0">
                <a:latin typeface="Times New Roman" panose="02020603050405020304" pitchFamily="18" charset="0"/>
                <a:cs typeface="Times New Roman" panose="02020603050405020304" pitchFamily="18" charset="0"/>
              </a:rPr>
              <a:t>查询语言（</a:t>
            </a:r>
            <a:r>
              <a:rPr lang="en-US" altLang="zh-CN" dirty="0" smtClean="0">
                <a:latin typeface="Times New Roman" panose="02020603050405020304" pitchFamily="18" charset="0"/>
                <a:cs typeface="Times New Roman" panose="02020603050405020304" pitchFamily="18" charset="0"/>
              </a:rPr>
              <a:t>HQL</a:t>
            </a:r>
            <a:r>
              <a:rPr lang="zh-CN" altLang="en-US" dirty="0" smtClean="0">
                <a:latin typeface="Times New Roman" panose="02020603050405020304" pitchFamily="18" charset="0"/>
                <a:cs typeface="Times New Roman" panose="02020603050405020304" pitchFamily="18" charset="0"/>
              </a:rPr>
              <a:t>）或</a:t>
            </a:r>
            <a:r>
              <a:rPr lang="en-US" altLang="zh-CN" dirty="0" smtClean="0">
                <a:latin typeface="Times New Roman" panose="02020603050405020304" pitchFamily="18" charset="0"/>
                <a:cs typeface="Times New Roman" panose="02020603050405020304" pitchFamily="18" charset="0"/>
              </a:rPr>
              <a:t>Enterprise JavaBeans</a:t>
            </a:r>
            <a:r>
              <a:rPr lang="zh-CN" altLang="en-US" dirty="0" smtClean="0">
                <a:latin typeface="Times New Roman" panose="02020603050405020304" pitchFamily="18" charset="0"/>
                <a:cs typeface="Times New Roman" panose="02020603050405020304" pitchFamily="18" charset="0"/>
              </a:rPr>
              <a:t>的查询语言（</a:t>
            </a:r>
            <a:r>
              <a:rPr lang="en-US" altLang="zh-CN" dirty="0" smtClean="0">
                <a:latin typeface="Times New Roman" panose="02020603050405020304" pitchFamily="18" charset="0"/>
                <a:cs typeface="Times New Roman" panose="02020603050405020304" pitchFamily="18" charset="0"/>
              </a:rPr>
              <a:t>EJBQL</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官网：</a:t>
            </a:r>
            <a:r>
              <a:rPr lang="en-US" altLang="zh-CN" dirty="0" smtClean="0">
                <a:latin typeface="Times New Roman" panose="02020603050405020304" pitchFamily="18" charset="0"/>
                <a:cs typeface="Times New Roman" panose="02020603050405020304" pitchFamily="18" charset="0"/>
                <a:hlinkClick r:id="rId3"/>
              </a:rPr>
              <a:t>http://www.mybatis.org/</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在线</a:t>
            </a:r>
            <a:r>
              <a:rPr lang="en-US" altLang="zh-CN" dirty="0" smtClean="0">
                <a:latin typeface="Times New Roman" panose="02020603050405020304" pitchFamily="18" charset="0"/>
                <a:cs typeface="Times New Roman" panose="02020603050405020304" pitchFamily="18" charset="0"/>
              </a:rPr>
              <a:t>API</a:t>
            </a:r>
            <a:r>
              <a:rPr lang="zh-CN" altLang="en-US" dirty="0" smtClean="0">
                <a:latin typeface="Times New Roman" panose="02020603050405020304" pitchFamily="18" charset="0"/>
                <a:cs typeface="Times New Roman" panose="02020603050405020304" pitchFamily="18" charset="0"/>
              </a:rPr>
              <a:t>文档：</a:t>
            </a:r>
            <a:r>
              <a:rPr lang="en-US" altLang="zh-CN" dirty="0" smtClean="0">
                <a:latin typeface="Times New Roman" panose="02020603050405020304" pitchFamily="18" charset="0"/>
                <a:cs typeface="Times New Roman" panose="02020603050405020304" pitchFamily="18" charset="0"/>
                <a:hlinkClick r:id="rId4"/>
              </a:rPr>
              <a:t>http://tool.oschina.net/apidocs/apidoc?api=mybatis-3.1.1</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源码：</a:t>
            </a:r>
            <a:r>
              <a:rPr lang="en-US" altLang="zh-CN" dirty="0">
                <a:latin typeface="Times New Roman" panose="02020603050405020304" pitchFamily="18" charset="0"/>
                <a:cs typeface="Times New Roman" panose="02020603050405020304" pitchFamily="18" charset="0"/>
                <a:hlinkClick r:id="rId5"/>
              </a:rPr>
              <a:t>https://</a:t>
            </a:r>
            <a:r>
              <a:rPr lang="en-US" altLang="zh-CN" dirty="0" smtClean="0">
                <a:latin typeface="Times New Roman" panose="02020603050405020304" pitchFamily="18" charset="0"/>
                <a:cs typeface="Times New Roman" panose="02020603050405020304" pitchFamily="18" charset="0"/>
                <a:hlinkClick r:id="rId5"/>
              </a:rPr>
              <a:t>github.com/mybatis/mybatis-3</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2160239" cy="523220"/>
          </a:xfrm>
          <a:prstGeom prst="rect">
            <a:avLst/>
          </a:prstGeom>
          <a:noFill/>
          <a:ln w="9525">
            <a:noFill/>
            <a:miter lim="800000"/>
            <a:headEnd/>
            <a:tailEnd/>
          </a:ln>
        </p:spPr>
        <p:txBody>
          <a:bodyPr wrap="square">
            <a:spAutoFit/>
          </a:bodyPr>
          <a:lstStyle/>
          <a:p>
            <a:r>
              <a:rPr lang="en-US" altLang="zh-CN" sz="2800" smtClean="0">
                <a:latin typeface="Times New Roman" panose="02020603050405020304" pitchFamily="18" charset="0"/>
                <a:cs typeface="Times New Roman" panose="02020603050405020304" pitchFamily="18" charset="0"/>
              </a:rPr>
              <a:t>Mybatis</a:t>
            </a:r>
            <a:r>
              <a:rPr lang="zh-CN" altLang="en-US" sz="2800" smtClean="0">
                <a:latin typeface="Times New Roman" panose="02020603050405020304" pitchFamily="18" charset="0"/>
                <a:cs typeface="Times New Roman" panose="02020603050405020304" pitchFamily="18" charset="0"/>
              </a:rPr>
              <a:t>特点</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52400" y="1340768"/>
            <a:ext cx="8856983" cy="4862870"/>
          </a:xfrm>
          <a:prstGeom prst="rect">
            <a:avLst/>
          </a:prstGeom>
          <a:noFill/>
          <a:ln w="9525">
            <a:noFill/>
            <a:miter lim="800000"/>
            <a:headEnd/>
            <a:tailEnd/>
          </a:ln>
        </p:spPr>
        <p:txBody>
          <a:bodyPr wrap="square">
            <a:spAutoFit/>
          </a:bodyPr>
          <a:lstStyle/>
          <a:p>
            <a:r>
              <a:rPr lang="zh-CN" altLang="en-US" sz="2000" b="1" dirty="0" smtClean="0">
                <a:latin typeface="Times New Roman" panose="02020603050405020304" pitchFamily="18" charset="0"/>
                <a:cs typeface="Times New Roman" panose="02020603050405020304" pitchFamily="18" charset="0"/>
              </a:rPr>
              <a:t>设计理念</a:t>
            </a:r>
            <a:r>
              <a:rPr lang="zh-CN" altLang="en-US" sz="2000" dirty="0" smtClean="0">
                <a:latin typeface="Times New Roman" panose="02020603050405020304" pitchFamily="18" charset="0"/>
                <a:cs typeface="Times New Roman" panose="02020603050405020304" pitchFamily="18" charset="0"/>
              </a:rPr>
              <a:t>：</a:t>
            </a:r>
          </a:p>
          <a:p>
            <a:r>
              <a:rPr lang="zh-CN" altLang="en-US" dirty="0" smtClean="0">
                <a:solidFill>
                  <a:srgbClr val="FF0000"/>
                </a:solidFill>
                <a:latin typeface="Times New Roman" panose="02020603050405020304" pitchFamily="18" charset="0"/>
                <a:cs typeface="Times New Roman" panose="02020603050405020304" pitchFamily="18" charset="0"/>
              </a:rPr>
              <a:t>简单：</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的被广泛认为是可用的最简单的持久化框架之一。</a:t>
            </a:r>
          </a:p>
          <a:p>
            <a:r>
              <a:rPr lang="zh-CN" altLang="en-US" dirty="0" smtClean="0">
                <a:solidFill>
                  <a:srgbClr val="FF0000"/>
                </a:solidFill>
                <a:latin typeface="Times New Roman" panose="02020603050405020304" pitchFamily="18" charset="0"/>
                <a:cs typeface="Times New Roman" panose="02020603050405020304" pitchFamily="18" charset="0"/>
              </a:rPr>
              <a:t>快速开发：</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的理念是尽一切可能，以方便超快速开发。</a:t>
            </a:r>
          </a:p>
          <a:p>
            <a:r>
              <a:rPr lang="zh-CN" altLang="en-US" dirty="0" smtClean="0">
                <a:solidFill>
                  <a:srgbClr val="FF0000"/>
                </a:solidFill>
                <a:latin typeface="Times New Roman" panose="02020603050405020304" pitchFamily="18" charset="0"/>
                <a:cs typeface="Times New Roman" panose="02020603050405020304" pitchFamily="18" charset="0"/>
              </a:rPr>
              <a:t>可移植性</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可用于几乎任何语言或平台，如</a:t>
            </a:r>
            <a:r>
              <a:rPr lang="en-US" dirty="0" err="1" smtClean="0">
                <a:latin typeface="Times New Roman" panose="02020603050405020304" pitchFamily="18" charset="0"/>
                <a:cs typeface="Times New Roman" panose="02020603050405020304" pitchFamily="18" charset="0"/>
              </a:rPr>
              <a:t>Java，Ruby</a:t>
            </a:r>
            <a:r>
              <a:rPr lang="zh-CN" altLang="en-US" dirty="0" smtClean="0">
                <a:latin typeface="Times New Roman" panose="02020603050405020304" pitchFamily="18" charset="0"/>
                <a:cs typeface="Times New Roman" panose="02020603050405020304" pitchFamily="18" charset="0"/>
              </a:rPr>
              <a:t>和</a:t>
            </a:r>
            <a:r>
              <a:rPr lang="en-US" dirty="0" smtClean="0">
                <a:latin typeface="Times New Roman" panose="02020603050405020304" pitchFamily="18" charset="0"/>
                <a:cs typeface="Times New Roman" panose="02020603050405020304" pitchFamily="18" charset="0"/>
              </a:rPr>
              <a:t>C＃，</a:t>
            </a:r>
            <a:r>
              <a:rPr lang="zh-CN" altLang="en-US" dirty="0" smtClean="0">
                <a:latin typeface="Times New Roman" panose="02020603050405020304" pitchFamily="18" charset="0"/>
                <a:cs typeface="Times New Roman" panose="02020603050405020304" pitchFamily="18" charset="0"/>
              </a:rPr>
              <a:t>微软</a:t>
            </a:r>
            <a:r>
              <a:rPr lang="en-US" altLang="zh-CN"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NET</a:t>
            </a:r>
            <a:r>
              <a:rPr lang="zh-CN" altLang="en-US" dirty="0" smtClean="0">
                <a:latin typeface="Times New Roman" panose="02020603050405020304" pitchFamily="18" charset="0"/>
                <a:cs typeface="Times New Roman" panose="02020603050405020304" pitchFamily="18" charset="0"/>
              </a:rPr>
              <a:t>实现。</a:t>
            </a:r>
          </a:p>
          <a:p>
            <a:r>
              <a:rPr lang="zh-CN" altLang="en-US" dirty="0" smtClean="0">
                <a:solidFill>
                  <a:srgbClr val="FF0000"/>
                </a:solidFill>
                <a:latin typeface="Times New Roman" panose="02020603050405020304" pitchFamily="18" charset="0"/>
                <a:cs typeface="Times New Roman" panose="02020603050405020304" pitchFamily="18" charset="0"/>
              </a:rPr>
              <a:t>独立的接口：</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提供独立于数据库的接口和</a:t>
            </a:r>
            <a:r>
              <a:rPr lang="en-US" dirty="0" smtClean="0">
                <a:latin typeface="Times New Roman" panose="02020603050405020304" pitchFamily="18" charset="0"/>
                <a:cs typeface="Times New Roman" panose="02020603050405020304" pitchFamily="18" charset="0"/>
              </a:rPr>
              <a:t>API，</a:t>
            </a:r>
            <a:r>
              <a:rPr lang="zh-CN" altLang="en-US" dirty="0" smtClean="0">
                <a:latin typeface="Times New Roman" panose="02020603050405020304" pitchFamily="18" charset="0"/>
                <a:cs typeface="Times New Roman" panose="02020603050405020304" pitchFamily="18" charset="0"/>
              </a:rPr>
              <a:t>帮助应用程序的其余部分保持独立的任何持久性相关的资源，</a:t>
            </a:r>
          </a:p>
          <a:p>
            <a:r>
              <a:rPr lang="zh-CN" altLang="en-US" dirty="0" smtClean="0">
                <a:solidFill>
                  <a:srgbClr val="FF0000"/>
                </a:solidFill>
                <a:latin typeface="Times New Roman" panose="02020603050405020304" pitchFamily="18" charset="0"/>
                <a:cs typeface="Times New Roman" panose="02020603050405020304" pitchFamily="18" charset="0"/>
              </a:rPr>
              <a:t>开源：</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是自由和开放源码软件。</a:t>
            </a:r>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zh-CN" altLang="en-US" sz="2000" b="1" dirty="0" smtClean="0">
                <a:latin typeface="Times New Roman" panose="02020603050405020304" pitchFamily="18" charset="0"/>
                <a:cs typeface="Times New Roman" panose="02020603050405020304" pitchFamily="18" charset="0"/>
              </a:rPr>
              <a:t>优势</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zh-CN" altLang="en-US" dirty="0" smtClean="0">
                <a:solidFill>
                  <a:srgbClr val="FF0000"/>
                </a:solidFill>
                <a:latin typeface="Times New Roman" panose="02020603050405020304" pitchFamily="18" charset="0"/>
                <a:cs typeface="Times New Roman" panose="02020603050405020304" pitchFamily="18" charset="0"/>
              </a:rPr>
              <a:t>支持存储过程：</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的</a:t>
            </a:r>
            <a:r>
              <a:rPr lang="en-US" dirty="0" smtClean="0">
                <a:latin typeface="Times New Roman" panose="02020603050405020304" pitchFamily="18" charset="0"/>
                <a:cs typeface="Times New Roman" panose="02020603050405020304" pitchFamily="18" charset="0"/>
              </a:rPr>
              <a:t>SQL</a:t>
            </a:r>
            <a:r>
              <a:rPr lang="zh-CN" altLang="en-US" dirty="0" smtClean="0">
                <a:latin typeface="Times New Roman" panose="02020603050405020304" pitchFamily="18" charset="0"/>
                <a:cs typeface="Times New Roman" panose="02020603050405020304" pitchFamily="18" charset="0"/>
              </a:rPr>
              <a:t>封装以存储过程的形式，使业务逻辑保持在数据库之外，</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应用程序更易于部署和测试，更便于移植。</a:t>
            </a:r>
          </a:p>
          <a:p>
            <a:r>
              <a:rPr lang="zh-CN" altLang="en-US" dirty="0" smtClean="0">
                <a:solidFill>
                  <a:srgbClr val="FF0000"/>
                </a:solidFill>
                <a:latin typeface="Times New Roman" panose="02020603050405020304" pitchFamily="18" charset="0"/>
                <a:cs typeface="Times New Roman" panose="02020603050405020304" pitchFamily="18" charset="0"/>
              </a:rPr>
              <a:t>支持内嵌的</a:t>
            </a:r>
            <a:r>
              <a:rPr lang="en-US" dirty="0" smtClean="0">
                <a:solidFill>
                  <a:srgbClr val="FF0000"/>
                </a:solidFill>
                <a:latin typeface="Times New Roman" panose="02020603050405020304" pitchFamily="18" charset="0"/>
                <a:cs typeface="Times New Roman" panose="02020603050405020304" pitchFamily="18" charset="0"/>
              </a:rPr>
              <a:t>SQL</a:t>
            </a:r>
            <a:r>
              <a:rPr lang="en-US"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预编译器不是必需的，并有完全访问所有的</a:t>
            </a:r>
            <a:r>
              <a:rPr lang="en-US" dirty="0" smtClean="0">
                <a:latin typeface="Times New Roman" panose="02020603050405020304" pitchFamily="18" charset="0"/>
                <a:cs typeface="Times New Roman" panose="02020603050405020304" pitchFamily="18" charset="0"/>
              </a:rPr>
              <a:t>SQL</a:t>
            </a:r>
            <a:r>
              <a:rPr lang="zh-CN" altLang="en-US" dirty="0" smtClean="0">
                <a:latin typeface="Times New Roman" panose="02020603050405020304" pitchFamily="18" charset="0"/>
                <a:cs typeface="Times New Roman" panose="02020603050405020304" pitchFamily="18" charset="0"/>
              </a:rPr>
              <a:t>语句的特性。</a:t>
            </a:r>
          </a:p>
          <a:p>
            <a:r>
              <a:rPr lang="zh-CN" altLang="en-US" dirty="0" smtClean="0">
                <a:solidFill>
                  <a:srgbClr val="FF0000"/>
                </a:solidFill>
                <a:latin typeface="Times New Roman" panose="02020603050405020304" pitchFamily="18" charset="0"/>
                <a:cs typeface="Times New Roman" panose="02020603050405020304" pitchFamily="18" charset="0"/>
              </a:rPr>
              <a:t>支持动态</a:t>
            </a:r>
            <a:r>
              <a:rPr lang="en-US" dirty="0" smtClean="0">
                <a:solidFill>
                  <a:srgbClr val="FF0000"/>
                </a:solidFill>
                <a:latin typeface="Times New Roman" panose="02020603050405020304" pitchFamily="18" charset="0"/>
                <a:cs typeface="Times New Roman" panose="02020603050405020304" pitchFamily="18" charset="0"/>
              </a:rPr>
              <a:t>SQL:</a:t>
            </a:r>
            <a:r>
              <a:rPr lang="zh-CN" altLang="en-US" dirty="0" smtClean="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特性提供基于参数动态生成</a:t>
            </a:r>
            <a:r>
              <a:rPr lang="en-US" dirty="0" smtClean="0">
                <a:latin typeface="Times New Roman" panose="02020603050405020304" pitchFamily="18" charset="0"/>
                <a:cs typeface="Times New Roman" panose="02020603050405020304" pitchFamily="18" charset="0"/>
              </a:rPr>
              <a:t>SQL</a:t>
            </a:r>
            <a:r>
              <a:rPr lang="zh-CN" altLang="en-US" dirty="0" smtClean="0">
                <a:latin typeface="Times New Roman" panose="02020603050405020304" pitchFamily="18" charset="0"/>
                <a:cs typeface="Times New Roman" panose="02020603050405020304" pitchFamily="18" charset="0"/>
              </a:rPr>
              <a:t>查询。</a:t>
            </a:r>
          </a:p>
          <a:p>
            <a:r>
              <a:rPr lang="zh-CN" altLang="en-US" dirty="0" smtClean="0">
                <a:solidFill>
                  <a:srgbClr val="FF0000"/>
                </a:solidFill>
                <a:latin typeface="Times New Roman" panose="02020603050405020304" pitchFamily="18" charset="0"/>
                <a:cs typeface="Times New Roman" panose="02020603050405020304" pitchFamily="18" charset="0"/>
              </a:rPr>
              <a:t>支持</a:t>
            </a:r>
            <a:r>
              <a:rPr lang="en-US" dirty="0" smtClean="0">
                <a:solidFill>
                  <a:srgbClr val="FF0000"/>
                </a:solidFill>
                <a:latin typeface="Times New Roman" panose="02020603050405020304" pitchFamily="18" charset="0"/>
                <a:cs typeface="Times New Roman" panose="02020603050405020304" pitchFamily="18" charset="0"/>
              </a:rPr>
              <a:t>O / RM</a:t>
            </a:r>
            <a:r>
              <a:rPr lang="zh-CN" altLang="en-US" dirty="0" smtClean="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支持许多相同的功能作为一个</a:t>
            </a:r>
            <a:r>
              <a:rPr lang="en-US" dirty="0" smtClean="0">
                <a:latin typeface="Times New Roman" panose="02020603050405020304" pitchFamily="18" charset="0"/>
                <a:cs typeface="Times New Roman" panose="02020603050405020304" pitchFamily="18" charset="0"/>
              </a:rPr>
              <a:t>O/RM</a:t>
            </a:r>
            <a:r>
              <a:rPr lang="zh-CN" altLang="en-US" dirty="0" smtClean="0">
                <a:latin typeface="Times New Roman" panose="02020603050405020304" pitchFamily="18" charset="0"/>
                <a:cs typeface="Times New Roman" panose="02020603050405020304" pitchFamily="18" charset="0"/>
              </a:rPr>
              <a:t>工具，如延迟加载，连接抓取，缓存，运行时代码生成和继承。</a:t>
            </a:r>
          </a:p>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dirty="0" err="1" smtClean="0">
                <a:latin typeface="Times New Roman" panose="02020603050405020304" pitchFamily="18" charset="0"/>
                <a:cs typeface="Times New Roman" panose="02020603050405020304" pitchFamily="18" charset="0"/>
              </a:rPr>
              <a:t>Mybatis</a:t>
            </a:r>
            <a:r>
              <a:rPr lang="zh-CN" altLang="en-US" sz="2800" dirty="0" smtClean="0">
                <a:latin typeface="Times New Roman" panose="02020603050405020304" pitchFamily="18" charset="0"/>
                <a:cs typeface="Times New Roman" panose="02020603050405020304" pitchFamily="18" charset="0"/>
              </a:rPr>
              <a:t>框架</a:t>
            </a:r>
            <a:r>
              <a:rPr lang="en-US" altLang="zh-CN" sz="28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类层次结构图</a:t>
            </a:r>
            <a:endParaRPr lang="zh-CN" altLang="en-US" sz="24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4077072"/>
            <a:ext cx="6942926" cy="1754326"/>
          </a:xfrm>
          <a:prstGeom prst="rect">
            <a:avLst/>
          </a:prstGeom>
          <a:noFill/>
          <a:ln w="9525">
            <a:noFill/>
            <a:miter lim="800000"/>
            <a:headEnd/>
            <a:tailEnd/>
          </a:ln>
        </p:spPr>
        <p:txBody>
          <a:bodyPr wrap="none">
            <a:spAutoFit/>
          </a:bodyPr>
          <a:lstStyle/>
          <a:p>
            <a:r>
              <a:rPr lang="en-US" altLang="zh-CN" dirty="0" err="1" smtClean="0">
                <a:latin typeface="Times New Roman" panose="02020603050405020304" pitchFamily="18" charset="0"/>
                <a:cs typeface="Times New Roman" panose="02020603050405020304" pitchFamily="18" charset="0"/>
              </a:rPr>
              <a:t>Mybatis</a:t>
            </a:r>
            <a:r>
              <a:rPr lang="zh-CN" altLang="en-US" dirty="0" smtClean="0">
                <a:latin typeface="Times New Roman" panose="02020603050405020304" pitchFamily="18" charset="0"/>
                <a:cs typeface="Times New Roman" panose="02020603050405020304" pitchFamily="18" charset="0"/>
              </a:rPr>
              <a:t>系统结构（</a:t>
            </a:r>
            <a:r>
              <a:rPr lang="zh-CN" altLang="en-US" dirty="0">
                <a:latin typeface="Times New Roman" panose="02020603050405020304" pitchFamily="18" charset="0"/>
                <a:cs typeface="Times New Roman" panose="02020603050405020304" pitchFamily="18" charset="0"/>
              </a:rPr>
              <a:t>典型的交互式框架</a:t>
            </a:r>
            <a:r>
              <a:rPr lang="zh-CN" altLang="en-US" dirty="0" smtClean="0">
                <a:latin typeface="Times New Roman" panose="02020603050405020304" pitchFamily="18" charset="0"/>
                <a:cs typeface="Times New Roman" panose="02020603050405020304" pitchFamily="18" charset="0"/>
              </a:rPr>
              <a:t>）主要工作：</a:t>
            </a:r>
            <a:endParaRPr lang="en-US" altLang="zh-CN" dirty="0" smtClean="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
            </a:r>
            <a:br>
              <a:rPr lang="zh-CN" altLang="en-US" dirty="0">
                <a:latin typeface="Times New Roman" panose="02020603050405020304" pitchFamily="18" charset="0"/>
                <a:cs typeface="Times New Roman" panose="02020603050405020304" pitchFamily="18" charset="0"/>
              </a:rPr>
            </a:br>
            <a:r>
              <a:rPr lang="zh-CN" altLang="en-US"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1. </a:t>
            </a:r>
            <a:r>
              <a:rPr lang="zh-CN" altLang="en-US" dirty="0" smtClean="0">
                <a:latin typeface="Times New Roman" panose="02020603050405020304" pitchFamily="18" charset="0"/>
                <a:cs typeface="Times New Roman" panose="02020603050405020304" pitchFamily="18" charset="0"/>
              </a:rPr>
              <a:t>根据</a:t>
            </a:r>
            <a:r>
              <a:rPr lang="en-US" altLang="zh-CN" dirty="0" smtClean="0">
                <a:latin typeface="Times New Roman" panose="02020603050405020304" pitchFamily="18" charset="0"/>
                <a:cs typeface="Times New Roman" panose="02020603050405020304" pitchFamily="18" charset="0"/>
              </a:rPr>
              <a:t>JDBC</a:t>
            </a:r>
            <a:r>
              <a:rPr lang="zh-CN" altLang="en-US" dirty="0" smtClean="0">
                <a:latin typeface="Times New Roman" panose="02020603050405020304" pitchFamily="18" charset="0"/>
                <a:cs typeface="Times New Roman" panose="02020603050405020304" pitchFamily="18" charset="0"/>
              </a:rPr>
              <a:t>规范</a:t>
            </a:r>
            <a:r>
              <a:rPr lang="zh-CN" altLang="en-US" dirty="0">
                <a:latin typeface="Times New Roman" panose="02020603050405020304" pitchFamily="18" charset="0"/>
                <a:cs typeface="Times New Roman" panose="02020603050405020304" pitchFamily="18" charset="0"/>
              </a:rPr>
              <a:t>建立与数据库的连接</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en-US" altLang="zh-CN"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2</a:t>
            </a:r>
            <a:r>
              <a:rPr lang="en-US" altLang="zh-CN"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通过</a:t>
            </a:r>
            <a:r>
              <a:rPr lang="zh-CN" altLang="en-US" dirty="0" smtClean="0">
                <a:latin typeface="Times New Roman" panose="02020603050405020304" pitchFamily="18" charset="0"/>
                <a:cs typeface="Times New Roman" panose="02020603050405020304" pitchFamily="18" charset="0"/>
              </a:rPr>
              <a:t>反射建立</a:t>
            </a:r>
            <a:r>
              <a:rPr lang="en-US" altLang="zh-CN" dirty="0" smtClean="0">
                <a:latin typeface="Times New Roman" panose="02020603050405020304" pitchFamily="18" charset="0"/>
                <a:cs typeface="Times New Roman" panose="02020603050405020304" pitchFamily="18" charset="0"/>
              </a:rPr>
              <a:t>Java</a:t>
            </a:r>
            <a:r>
              <a:rPr lang="zh-CN" altLang="en-US" dirty="0" smtClean="0">
                <a:latin typeface="Times New Roman" panose="02020603050405020304" pitchFamily="18" charset="0"/>
                <a:cs typeface="Times New Roman" panose="02020603050405020304" pitchFamily="18" charset="0"/>
              </a:rPr>
              <a:t>对象</a:t>
            </a:r>
            <a:r>
              <a:rPr lang="zh-CN" altLang="en-US" dirty="0">
                <a:latin typeface="Times New Roman" panose="02020603050405020304" pitchFamily="18" charset="0"/>
                <a:cs typeface="Times New Roman" panose="02020603050405020304" pitchFamily="18" charset="0"/>
              </a:rPr>
              <a:t>与数据库参数交互之间相互转化关系</a:t>
            </a:r>
            <a:r>
              <a:rPr lang="zh-CN" altLang="en-US" dirty="0"/>
              <a:t>。</a:t>
            </a:r>
            <a:endParaRPr lang="en-US" altLang="zh-CN" dirty="0" smtClean="0"/>
          </a:p>
          <a:p>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68761"/>
            <a:ext cx="6978352"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dirty="0" err="1" smtClean="0">
                <a:latin typeface="Times New Roman" panose="02020603050405020304" pitchFamily="18" charset="0"/>
                <a:cs typeface="Times New Roman" panose="02020603050405020304" pitchFamily="18" charset="0"/>
              </a:rPr>
              <a:t>Mybatis</a:t>
            </a:r>
            <a:r>
              <a:rPr lang="zh-CN" altLang="en-US" sz="2800" dirty="0" smtClean="0">
                <a:latin typeface="Times New Roman" panose="02020603050405020304" pitchFamily="18" charset="0"/>
                <a:cs typeface="Times New Roman" panose="02020603050405020304" pitchFamily="18" charset="0"/>
              </a:rPr>
              <a:t>框架</a:t>
            </a:r>
            <a:r>
              <a:rPr lang="en-US" altLang="zh-CN" sz="28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运行原理</a:t>
            </a:r>
            <a:endParaRPr lang="zh-CN" altLang="en-US" sz="24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278160" y="4653136"/>
            <a:ext cx="8587680" cy="2031325"/>
          </a:xfrm>
          <a:prstGeom prst="rect">
            <a:avLst/>
          </a:prstGeom>
          <a:noFill/>
          <a:ln w="9525">
            <a:noFill/>
            <a:miter lim="800000"/>
            <a:headEnd/>
            <a:tailEnd/>
          </a:ln>
        </p:spPr>
        <p:txBody>
          <a:bodyPr wrap="square">
            <a:spAutoFit/>
          </a:bodyPr>
          <a:lstStyle/>
          <a:p>
            <a:r>
              <a:rPr lang="zh-CN" altLang="en-US" b="1" dirty="0" smtClean="0">
                <a:latin typeface="Times New Roman" panose="02020603050405020304" pitchFamily="18" charset="0"/>
                <a:cs typeface="Times New Roman" panose="02020603050405020304" pitchFamily="18" charset="0"/>
              </a:rPr>
              <a:t>运行原理</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r>
              <a:rPr lang="en-US" altLang="zh-CN" dirty="0" err="1" smtClean="0">
                <a:latin typeface="Times New Roman" panose="02020603050405020304" pitchFamily="18" charset="0"/>
                <a:cs typeface="Times New Roman" panose="02020603050405020304" pitchFamily="18" charset="0"/>
              </a:rPr>
              <a:t>SqlMapSession</a:t>
            </a:r>
            <a:r>
              <a:rPr lang="zh-CN" altLang="en-US" dirty="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负责</a:t>
            </a:r>
            <a:r>
              <a:rPr lang="zh-CN" altLang="en-US" dirty="0">
                <a:latin typeface="Times New Roman" panose="02020603050405020304" pitchFamily="18" charset="0"/>
                <a:cs typeface="Times New Roman" panose="02020603050405020304" pitchFamily="18" charset="0"/>
              </a:rPr>
              <a:t>创建数据库的连接，包括对事务的</a:t>
            </a:r>
            <a:r>
              <a:rPr lang="zh-CN" altLang="en-US" dirty="0" smtClean="0">
                <a:latin typeface="Times New Roman" panose="02020603050405020304" pitchFamily="18" charset="0"/>
                <a:cs typeface="Times New Roman" panose="02020603050405020304" pitchFamily="18" charset="0"/>
              </a:rPr>
              <a:t>管理；</a:t>
            </a:r>
            <a:endParaRPr lang="en-US" altLang="zh-CN" dirty="0" smtClean="0">
              <a:latin typeface="Times New Roman" panose="02020603050405020304" pitchFamily="18" charset="0"/>
              <a:cs typeface="Times New Roman" panose="02020603050405020304" pitchFamily="18" charset="0"/>
            </a:endParaRPr>
          </a:p>
          <a:p>
            <a:r>
              <a:rPr lang="en-US" altLang="zh-CN" dirty="0" err="1" smtClean="0">
                <a:latin typeface="Times New Roman" panose="02020603050405020304" pitchFamily="18" charset="0"/>
                <a:cs typeface="Times New Roman" panose="02020603050405020304" pitchFamily="18" charset="0"/>
              </a:rPr>
              <a:t>ParameterMap</a:t>
            </a:r>
            <a:r>
              <a:rPr lang="zh-CN" altLang="en-US" dirty="0" smtClean="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用于处理</a:t>
            </a:r>
            <a:r>
              <a:rPr lang="zh-CN" altLang="en-US" dirty="0" smtClean="0">
                <a:latin typeface="Times New Roman" panose="02020603050405020304" pitchFamily="18" charset="0"/>
                <a:cs typeface="Times New Roman" panose="02020603050405020304" pitchFamily="18" charset="0"/>
              </a:rPr>
              <a:t>参数；</a:t>
            </a:r>
            <a:endParaRPr lang="en-US" altLang="zh-CN" dirty="0" smtClean="0">
              <a:latin typeface="Times New Roman" panose="02020603050405020304" pitchFamily="18" charset="0"/>
              <a:cs typeface="Times New Roman" panose="02020603050405020304" pitchFamily="18" charset="0"/>
            </a:endParaRPr>
          </a:p>
          <a:p>
            <a:r>
              <a:rPr lang="en-US" altLang="zh-CN" dirty="0" err="1" smtClean="0">
                <a:latin typeface="Times New Roman" panose="02020603050405020304" pitchFamily="18" charset="0"/>
                <a:cs typeface="Times New Roman" panose="02020603050405020304" pitchFamily="18" charset="0"/>
              </a:rPr>
              <a:t>ResultMap</a:t>
            </a:r>
            <a:r>
              <a:rPr lang="zh-CN" altLang="en-US" dirty="0" smtClean="0">
                <a:latin typeface="Times New Roman" panose="02020603050405020304" pitchFamily="18" charset="0"/>
                <a:cs typeface="Times New Roman" panose="02020603050405020304" pitchFamily="18" charset="0"/>
              </a:rPr>
              <a:t>：经过</a:t>
            </a:r>
            <a:r>
              <a:rPr lang="zh-CN" altLang="en-US" dirty="0">
                <a:latin typeface="Times New Roman" panose="02020603050405020304" pitchFamily="18" charset="0"/>
                <a:cs typeface="Times New Roman" panose="02020603050405020304" pitchFamily="18" charset="0"/>
              </a:rPr>
              <a:t>解析后交给数据库处理</a:t>
            </a:r>
            <a:r>
              <a:rPr lang="zh-CN" altLang="en-US" dirty="0" smtClean="0">
                <a:latin typeface="Times New Roman" panose="02020603050405020304" pitchFamily="18" charset="0"/>
                <a:cs typeface="Times New Roman" panose="02020603050405020304" pitchFamily="18" charset="0"/>
              </a:rPr>
              <a:t>的</a:t>
            </a:r>
            <a:r>
              <a:rPr lang="en-US" altLang="zh-CN" dirty="0" err="1" smtClean="0">
                <a:latin typeface="Times New Roman" panose="02020603050405020304" pitchFamily="18" charset="0"/>
                <a:cs typeface="Times New Roman" panose="02020603050405020304" pitchFamily="18" charset="0"/>
              </a:rPr>
              <a:t>Sql</a:t>
            </a:r>
            <a:r>
              <a:rPr lang="en-US" altLang="zh-CN" dirty="0" smtClean="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对象。这样除去数据库的</a:t>
            </a:r>
            <a:r>
              <a:rPr lang="zh-CN" altLang="en-US" dirty="0" smtClean="0">
                <a:latin typeface="Times New Roman" panose="02020603050405020304" pitchFamily="18" charset="0"/>
                <a:cs typeface="Times New Roman" panose="02020603050405020304" pitchFamily="18" charset="0"/>
              </a:rPr>
              <a:t>连接。</a:t>
            </a:r>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重要</a:t>
            </a:r>
            <a:r>
              <a:rPr lang="zh-CN" altLang="en-US" dirty="0" smtClean="0">
                <a:latin typeface="Times New Roman" panose="02020603050405020304" pitchFamily="18" charset="0"/>
                <a:cs typeface="Times New Roman" panose="02020603050405020304" pitchFamily="18" charset="0"/>
              </a:rPr>
              <a:t>组成部分是：</a:t>
            </a:r>
            <a:r>
              <a:rPr lang="en-US" altLang="zh-CN" dirty="0" err="1" smtClean="0">
                <a:latin typeface="Times New Roman" panose="02020603050405020304" pitchFamily="18" charset="0"/>
                <a:cs typeface="Times New Roman" panose="02020603050405020304" pitchFamily="18" charset="0"/>
              </a:rPr>
              <a:t>SqlMap</a:t>
            </a:r>
            <a:r>
              <a:rPr lang="zh-CN" altLang="en-US" dirty="0" smtClean="0">
                <a:latin typeface="Times New Roman" panose="02020603050405020304" pitchFamily="18" charset="0"/>
                <a:cs typeface="Times New Roman" panose="02020603050405020304" pitchFamily="18" charset="0"/>
              </a:rPr>
              <a:t>配置文件</a:t>
            </a:r>
            <a:r>
              <a:rPr lang="zh-CN" altLang="en-US" dirty="0">
                <a:latin typeface="Times New Roman" panose="02020603050405020304" pitchFamily="18" charset="0"/>
                <a:cs typeface="Times New Roman" panose="02020603050405020304" pitchFamily="18" charset="0"/>
              </a:rPr>
              <a:t>，</a:t>
            </a:r>
            <a:r>
              <a:rPr lang="en-US" altLang="zh-CN" dirty="0" err="1" smtClean="0">
                <a:latin typeface="Times New Roman" panose="02020603050405020304" pitchFamily="18" charset="0"/>
                <a:cs typeface="Times New Roman" panose="02020603050405020304" pitchFamily="18" charset="0"/>
              </a:rPr>
              <a:t>SqlMap</a:t>
            </a:r>
            <a:r>
              <a:rPr lang="zh-CN" altLang="en-US" dirty="0" smtClean="0">
                <a:latin typeface="Times New Roman" panose="02020603050405020304" pitchFamily="18" charset="0"/>
                <a:cs typeface="Times New Roman" panose="02020603050405020304" pitchFamily="18" charset="0"/>
              </a:rPr>
              <a:t>配置文件</a:t>
            </a:r>
            <a:r>
              <a:rPr lang="zh-CN" altLang="en-US" dirty="0">
                <a:latin typeface="Times New Roman" panose="02020603050405020304" pitchFamily="18" charset="0"/>
                <a:cs typeface="Times New Roman" panose="02020603050405020304" pitchFamily="18" charset="0"/>
              </a:rPr>
              <a:t>的核心</a:t>
            </a:r>
            <a:r>
              <a:rPr lang="zh-CN" altLang="en-US" dirty="0" smtClean="0">
                <a:latin typeface="Times New Roman" panose="02020603050405020304" pitchFamily="18" charset="0"/>
                <a:cs typeface="Times New Roman" panose="02020603050405020304" pitchFamily="18" charset="0"/>
              </a:rPr>
              <a:t>是</a:t>
            </a:r>
            <a:r>
              <a:rPr lang="en-US" altLang="zh-CN" dirty="0" smtClean="0">
                <a:latin typeface="Times New Roman" panose="02020603050405020304" pitchFamily="18" charset="0"/>
                <a:cs typeface="Times New Roman" panose="02020603050405020304" pitchFamily="18" charset="0"/>
              </a:rPr>
              <a:t>Statement</a:t>
            </a:r>
            <a:r>
              <a:rPr lang="zh-CN" altLang="en-US" dirty="0" smtClean="0">
                <a:latin typeface="Times New Roman" panose="02020603050405020304" pitchFamily="18" charset="0"/>
                <a:cs typeface="Times New Roman" panose="02020603050405020304" pitchFamily="18" charset="0"/>
              </a:rPr>
              <a:t>语句</a:t>
            </a:r>
            <a:r>
              <a:rPr lang="zh-CN" altLang="en-US" dirty="0">
                <a:latin typeface="Times New Roman" panose="02020603050405020304" pitchFamily="18" charset="0"/>
                <a:cs typeface="Times New Roman" panose="02020603050405020304" pitchFamily="18" charset="0"/>
              </a:rPr>
              <a:t>包括 </a:t>
            </a:r>
            <a:r>
              <a:rPr lang="en-US" altLang="zh-CN" dirty="0">
                <a:latin typeface="Times New Roman" panose="02020603050405020304" pitchFamily="18" charset="0"/>
                <a:cs typeface="Times New Roman" panose="02020603050405020304" pitchFamily="18" charset="0"/>
              </a:rPr>
              <a:t>CIUD</a:t>
            </a:r>
            <a:r>
              <a:rPr lang="zh-CN" altLang="en-US" dirty="0">
                <a:latin typeface="Times New Roman" panose="02020603050405020304" pitchFamily="18" charset="0"/>
                <a:cs typeface="Times New Roman" panose="02020603050405020304" pitchFamily="18" charset="0"/>
              </a:rPr>
              <a:t>。</a:t>
            </a:r>
            <a:endParaRPr lang="zh-CN" altLang="en-US" b="1" dirty="0" smtClean="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40768"/>
            <a:ext cx="8964486"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smtClean="0">
                <a:latin typeface="Times New Roman" panose="02020603050405020304" pitchFamily="18" charset="0"/>
                <a:cs typeface="Times New Roman" panose="02020603050405020304" pitchFamily="18" charset="0"/>
              </a:rPr>
              <a:t>Mybatis</a:t>
            </a:r>
            <a:r>
              <a:rPr lang="zh-CN" altLang="en-US" sz="2800" smtClean="0">
                <a:latin typeface="Times New Roman" panose="02020603050405020304" pitchFamily="18" charset="0"/>
                <a:cs typeface="Times New Roman" panose="02020603050405020304" pitchFamily="18" charset="0"/>
              </a:rPr>
              <a:t>使用方法</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908720"/>
            <a:ext cx="1556836" cy="369332"/>
          </a:xfrm>
          <a:prstGeom prst="rect">
            <a:avLst/>
          </a:prstGeom>
          <a:noFill/>
          <a:ln w="9525">
            <a:noFill/>
            <a:miter lim="800000"/>
            <a:headEnd/>
            <a:tailEnd/>
          </a:ln>
        </p:spPr>
        <p:txBody>
          <a:bodyPr wrap="none">
            <a:spAutoFit/>
          </a:bodyPr>
          <a:lstStyle/>
          <a:p>
            <a:r>
              <a:rPr lang="en-US" dirty="0" smtClean="0"/>
              <a:t>1.</a:t>
            </a:r>
            <a:r>
              <a:rPr lang="zh-CN" altLang="en-US" dirty="0" smtClean="0"/>
              <a:t>导入</a:t>
            </a:r>
            <a:r>
              <a:rPr lang="en-US" altLang="zh-CN" dirty="0" smtClean="0"/>
              <a:t>jar</a:t>
            </a:r>
            <a:r>
              <a:rPr lang="zh-CN" altLang="en-US" dirty="0" smtClean="0"/>
              <a:t>包：</a:t>
            </a:r>
            <a:endParaRPr lang="zh-CN" altLang="en-US"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672" y="4079522"/>
            <a:ext cx="7738244" cy="2114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311483"/>
            <a:ext cx="5760640"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矩形 12"/>
          <p:cNvSpPr>
            <a:spLocks noChangeArrowheads="1"/>
          </p:cNvSpPr>
          <p:nvPr/>
        </p:nvSpPr>
        <p:spPr bwMode="auto">
          <a:xfrm>
            <a:off x="250874" y="3501008"/>
            <a:ext cx="2710999" cy="369332"/>
          </a:xfrm>
          <a:prstGeom prst="rect">
            <a:avLst/>
          </a:prstGeom>
          <a:noFill/>
          <a:ln w="9525">
            <a:noFill/>
            <a:miter lim="800000"/>
            <a:headEnd/>
            <a:tailEnd/>
          </a:ln>
        </p:spPr>
        <p:txBody>
          <a:bodyPr wrap="none">
            <a:spAutoFit/>
          </a:bodyPr>
          <a:lstStyle/>
          <a:p>
            <a:r>
              <a:rPr lang="en-US" altLang="zh-CN" dirty="0" smtClean="0"/>
              <a:t>2.</a:t>
            </a:r>
            <a:r>
              <a:rPr lang="zh-CN" altLang="en-US" dirty="0" smtClean="0"/>
              <a:t>配置</a:t>
            </a:r>
            <a:r>
              <a:rPr lang="en-US" altLang="zh-CN" dirty="0" err="1" smtClean="0"/>
              <a:t>mybatis</a:t>
            </a:r>
            <a:r>
              <a:rPr lang="en-US" altLang="zh-CN" dirty="0" smtClean="0"/>
              <a:t>(</a:t>
            </a:r>
            <a:r>
              <a:rPr lang="zh-CN" altLang="en-US" dirty="0" smtClean="0"/>
              <a:t>四步曲</a:t>
            </a:r>
            <a:r>
              <a:rPr lang="en-US" altLang="zh-CN" dirty="0" smtClean="0"/>
              <a:t>)</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dirty="0" err="1" smtClean="0">
                <a:latin typeface="Times New Roman" panose="02020603050405020304" pitchFamily="18" charset="0"/>
                <a:cs typeface="Times New Roman" panose="02020603050405020304" pitchFamily="18" charset="0"/>
              </a:rPr>
              <a:t>Mybatis</a:t>
            </a:r>
            <a:r>
              <a:rPr lang="zh-CN" altLang="en-US" sz="2800" dirty="0" smtClean="0">
                <a:latin typeface="Times New Roman" panose="02020603050405020304" pitchFamily="18" charset="0"/>
                <a:cs typeface="Times New Roman" panose="02020603050405020304" pitchFamily="18" charset="0"/>
              </a:rPr>
              <a:t>使用方法</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908720"/>
            <a:ext cx="2121093" cy="369332"/>
          </a:xfrm>
          <a:prstGeom prst="rect">
            <a:avLst/>
          </a:prstGeom>
          <a:noFill/>
          <a:ln w="9525">
            <a:noFill/>
            <a:miter lim="800000"/>
            <a:headEnd/>
            <a:tailEnd/>
          </a:ln>
        </p:spPr>
        <p:txBody>
          <a:bodyPr wrap="none">
            <a:spAutoFit/>
          </a:bodyPr>
          <a:lstStyle/>
          <a:p>
            <a:r>
              <a:rPr lang="en-US" dirty="0" smtClean="0"/>
              <a:t>2.1</a:t>
            </a:r>
            <a:r>
              <a:rPr lang="zh-CN" altLang="en-US" dirty="0" smtClean="0"/>
              <a:t>数据库连接池：</a:t>
            </a:r>
            <a:endParaRPr lang="zh-CN"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302424"/>
            <a:ext cx="7626424"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dirty="0" err="1">
                <a:latin typeface="Times New Roman" panose="02020603050405020304" pitchFamily="18" charset="0"/>
                <a:cs typeface="Times New Roman" panose="02020603050405020304" pitchFamily="18" charset="0"/>
              </a:rPr>
              <a:t>Mybatis</a:t>
            </a:r>
            <a:r>
              <a:rPr lang="zh-CN" altLang="en-US" sz="2800" dirty="0">
                <a:latin typeface="Times New Roman" panose="02020603050405020304" pitchFamily="18" charset="0"/>
                <a:cs typeface="Times New Roman" panose="02020603050405020304" pitchFamily="18" charset="0"/>
              </a:rPr>
              <a:t>使用方法</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908720"/>
            <a:ext cx="2518638" cy="369332"/>
          </a:xfrm>
          <a:prstGeom prst="rect">
            <a:avLst/>
          </a:prstGeom>
          <a:noFill/>
          <a:ln w="9525">
            <a:noFill/>
            <a:miter lim="800000"/>
            <a:headEnd/>
            <a:tailEnd/>
          </a:ln>
        </p:spPr>
        <p:txBody>
          <a:bodyPr wrap="none">
            <a:spAutoFit/>
          </a:bodyPr>
          <a:lstStyle/>
          <a:p>
            <a:r>
              <a:rPr lang="en-US" dirty="0" smtClean="0"/>
              <a:t>2.2 </a:t>
            </a:r>
            <a:r>
              <a:rPr lang="en-US" altLang="zh-CN" dirty="0" err="1" smtClean="0"/>
              <a:t>mybatis</a:t>
            </a:r>
            <a:r>
              <a:rPr lang="zh-CN" altLang="en-US" dirty="0" smtClean="0"/>
              <a:t>配置信息：</a:t>
            </a:r>
            <a:endParaRPr lang="zh-CN" altLang="en-US" dirty="0"/>
          </a:p>
        </p:txBody>
      </p:sp>
      <p:pic>
        <p:nvPicPr>
          <p:cNvPr id="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584" y="1412777"/>
            <a:ext cx="7850832" cy="1800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a:spLocks noChangeArrowheads="1"/>
          </p:cNvSpPr>
          <p:nvPr/>
        </p:nvSpPr>
        <p:spPr bwMode="auto">
          <a:xfrm>
            <a:off x="330772" y="3460358"/>
            <a:ext cx="2518638" cy="369332"/>
          </a:xfrm>
          <a:prstGeom prst="rect">
            <a:avLst/>
          </a:prstGeom>
          <a:noFill/>
          <a:ln w="9525">
            <a:noFill/>
            <a:miter lim="800000"/>
            <a:headEnd/>
            <a:tailEnd/>
          </a:ln>
        </p:spPr>
        <p:txBody>
          <a:bodyPr wrap="none">
            <a:spAutoFit/>
          </a:bodyPr>
          <a:lstStyle/>
          <a:p>
            <a:r>
              <a:rPr lang="en-US" dirty="0" smtClean="0"/>
              <a:t>2.3 </a:t>
            </a:r>
            <a:r>
              <a:rPr lang="en-US" altLang="zh-CN" dirty="0" err="1">
                <a:latin typeface="Times New Roman" panose="02020603050405020304" pitchFamily="18" charset="0"/>
                <a:cs typeface="Times New Roman" panose="02020603050405020304" pitchFamily="18" charset="0"/>
              </a:rPr>
              <a:t>SqlMap</a:t>
            </a:r>
            <a:r>
              <a:rPr lang="zh-CN" altLang="en-US" dirty="0">
                <a:latin typeface="Times New Roman" panose="02020603050405020304" pitchFamily="18" charset="0"/>
                <a:cs typeface="Times New Roman" panose="02020603050405020304" pitchFamily="18" charset="0"/>
              </a:rPr>
              <a:t>配置文件</a:t>
            </a:r>
            <a:r>
              <a:rPr lang="zh-CN" altLang="en-US" dirty="0" smtClean="0"/>
              <a:t>：</a:t>
            </a:r>
            <a:endParaRPr lang="zh-CN" altLang="en-US" dirty="0"/>
          </a:p>
        </p:txBody>
      </p: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494" y="3829690"/>
            <a:ext cx="8671012" cy="2992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dirty="0" err="1">
                <a:latin typeface="Times New Roman" panose="02020603050405020304" pitchFamily="18" charset="0"/>
                <a:cs typeface="Times New Roman" panose="02020603050405020304" pitchFamily="18" charset="0"/>
              </a:rPr>
              <a:t>Mybatis</a:t>
            </a:r>
            <a:r>
              <a:rPr lang="zh-CN" altLang="en-US" sz="2800" dirty="0">
                <a:latin typeface="Times New Roman" panose="02020603050405020304" pitchFamily="18" charset="0"/>
                <a:cs typeface="Times New Roman" panose="02020603050405020304" pitchFamily="18" charset="0"/>
              </a:rPr>
              <a:t>使用方法</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908720"/>
            <a:ext cx="3108543" cy="369332"/>
          </a:xfrm>
          <a:prstGeom prst="rect">
            <a:avLst/>
          </a:prstGeom>
          <a:noFill/>
          <a:ln w="9525">
            <a:noFill/>
            <a:miter lim="800000"/>
            <a:headEnd/>
            <a:tailEnd/>
          </a:ln>
        </p:spPr>
        <p:txBody>
          <a:bodyPr wrap="none">
            <a:spAutoFit/>
          </a:bodyPr>
          <a:lstStyle/>
          <a:p>
            <a:r>
              <a:rPr lang="en-US" dirty="0" smtClean="0"/>
              <a:t>2.4 </a:t>
            </a:r>
            <a:r>
              <a:rPr lang="zh-CN" altLang="en-US" dirty="0" smtClean="0"/>
              <a:t>结果实体类以及调用类：</a:t>
            </a:r>
            <a:endParaRPr lang="zh-CN"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89314"/>
            <a:ext cx="7994848" cy="271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221088"/>
            <a:ext cx="7994848"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9890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dirty="0" err="1" smtClean="0">
                <a:latin typeface="Times New Roman" panose="02020603050405020304" pitchFamily="18" charset="0"/>
                <a:cs typeface="Times New Roman" panose="02020603050405020304" pitchFamily="18" charset="0"/>
              </a:rPr>
              <a:t>Mybatis</a:t>
            </a:r>
            <a:r>
              <a:rPr lang="zh-CN" altLang="en-US" sz="2800" dirty="0" smtClean="0">
                <a:latin typeface="Times New Roman" panose="02020603050405020304" pitchFamily="18" charset="0"/>
                <a:cs typeface="Times New Roman" panose="02020603050405020304" pitchFamily="18" charset="0"/>
              </a:rPr>
              <a:t>参数说明</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639960" y="5589240"/>
            <a:ext cx="5925533" cy="923330"/>
          </a:xfrm>
          <a:prstGeom prst="rect">
            <a:avLst/>
          </a:prstGeom>
          <a:noFill/>
          <a:ln w="9525">
            <a:noFill/>
            <a:miter lim="800000"/>
            <a:headEnd/>
            <a:tailEnd/>
          </a:ln>
        </p:spPr>
        <p:txBody>
          <a:bodyPr wrap="none">
            <a:spAutoFit/>
          </a:bodyPr>
          <a:lstStyle/>
          <a:p>
            <a:r>
              <a:rPr lang="zh-CN" altLang="en-US" dirty="0" smtClean="0"/>
              <a:t>注：具体的参数说明参考：</a:t>
            </a:r>
            <a:endParaRPr lang="en-US" altLang="zh-CN" dirty="0" smtClean="0"/>
          </a:p>
          <a:p>
            <a:r>
              <a:rPr lang="en-US" altLang="zh-CN" dirty="0">
                <a:hlinkClick r:id="rId3"/>
              </a:rPr>
              <a:t>http://</a:t>
            </a:r>
            <a:r>
              <a:rPr lang="en-US" altLang="zh-CN" dirty="0" smtClean="0">
                <a:hlinkClick r:id="rId3"/>
              </a:rPr>
              <a:t>blog.csdn.net/xiaoping8411/article/details/2629266</a:t>
            </a:r>
            <a:endParaRPr lang="en-US" altLang="zh-CN" dirty="0" smtClean="0"/>
          </a:p>
          <a:p>
            <a:endParaRPr lang="zh-CN" alt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460" y="1484784"/>
            <a:ext cx="8121987" cy="338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a:spLocks noChangeArrowheads="1"/>
          </p:cNvSpPr>
          <p:nvPr/>
        </p:nvSpPr>
        <p:spPr bwMode="auto">
          <a:xfrm>
            <a:off x="609600" y="980498"/>
            <a:ext cx="2993127" cy="369332"/>
          </a:xfrm>
          <a:prstGeom prst="rect">
            <a:avLst/>
          </a:prstGeom>
          <a:noFill/>
          <a:ln w="9525">
            <a:noFill/>
            <a:miter lim="800000"/>
            <a:headEnd/>
            <a:tailEnd/>
          </a:ln>
        </p:spPr>
        <p:txBody>
          <a:bodyPr wrap="none">
            <a:spAutoFit/>
          </a:bodyPr>
          <a:lstStyle/>
          <a:p>
            <a:r>
              <a:rPr lang="en-US" altLang="zh-CN" dirty="0" err="1">
                <a:latin typeface="Times New Roman" panose="02020603050405020304" pitchFamily="18" charset="0"/>
                <a:cs typeface="Times New Roman" panose="02020603050405020304" pitchFamily="18" charset="0"/>
              </a:rPr>
              <a:t>SqlMap</a:t>
            </a:r>
            <a:r>
              <a:rPr lang="zh-CN" altLang="en-US" dirty="0" smtClean="0">
                <a:latin typeface="Times New Roman" panose="02020603050405020304" pitchFamily="18" charset="0"/>
                <a:cs typeface="Times New Roman" panose="02020603050405020304" pitchFamily="18" charset="0"/>
              </a:rPr>
              <a:t>配置文件参数说明：</a:t>
            </a:r>
            <a:endParaRPr lang="zh-CN" altLang="en-US" dirty="0"/>
          </a:p>
        </p:txBody>
      </p:sp>
    </p:spTree>
    <p:extLst>
      <p:ext uri="{BB962C8B-B14F-4D97-AF65-F5344CB8AC3E}">
        <p14:creationId xmlns:p14="http://schemas.microsoft.com/office/powerpoint/2010/main" val="453932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smtClean="0">
                <a:latin typeface="Times New Roman" panose="02020603050405020304" pitchFamily="18" charset="0"/>
                <a:cs typeface="Times New Roman" panose="02020603050405020304" pitchFamily="18" charset="0"/>
              </a:rPr>
              <a:t>Mybatis</a:t>
            </a:r>
            <a:r>
              <a:rPr lang="zh-CN" altLang="en-US" sz="2800" smtClean="0">
                <a:latin typeface="Times New Roman" panose="02020603050405020304" pitchFamily="18" charset="0"/>
                <a:cs typeface="Times New Roman" panose="02020603050405020304" pitchFamily="18" charset="0"/>
              </a:rPr>
              <a:t>使用总结</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908720"/>
            <a:ext cx="889987" cy="369332"/>
          </a:xfrm>
          <a:prstGeom prst="rect">
            <a:avLst/>
          </a:prstGeom>
          <a:noFill/>
          <a:ln w="9525">
            <a:noFill/>
            <a:miter lim="800000"/>
            <a:headEnd/>
            <a:tailEnd/>
          </a:ln>
        </p:spPr>
        <p:txBody>
          <a:bodyPr wrap="none">
            <a:spAutoFit/>
          </a:bodyPr>
          <a:lstStyle/>
          <a:p>
            <a:r>
              <a:rPr lang="en-US" altLang="zh-CN" dirty="0" smtClean="0"/>
              <a:t>1.list</a:t>
            </a:r>
            <a:r>
              <a:rPr lang="zh-CN" altLang="en-US" dirty="0" smtClean="0"/>
              <a:t>：</a:t>
            </a:r>
            <a:endParaRPr lang="en-US" altLang="zh-CN" dirty="0" smtClean="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2919" y="908720"/>
            <a:ext cx="6283634"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573016"/>
            <a:ext cx="8515672" cy="31548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smtClean="0">
                <a:latin typeface="Times New Roman" panose="02020603050405020304" pitchFamily="18" charset="0"/>
                <a:cs typeface="Times New Roman" panose="02020603050405020304" pitchFamily="18" charset="0"/>
              </a:rPr>
              <a:t>Mybatis</a:t>
            </a:r>
            <a:r>
              <a:rPr lang="zh-CN" altLang="en-US" sz="2800" smtClean="0">
                <a:latin typeface="Times New Roman" panose="02020603050405020304" pitchFamily="18" charset="0"/>
                <a:cs typeface="Times New Roman" panose="02020603050405020304" pitchFamily="18" charset="0"/>
              </a:rPr>
              <a:t>使用总结</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908720"/>
            <a:ext cx="1531188" cy="369332"/>
          </a:xfrm>
          <a:prstGeom prst="rect">
            <a:avLst/>
          </a:prstGeom>
          <a:noFill/>
          <a:ln w="9525">
            <a:noFill/>
            <a:miter lim="800000"/>
            <a:headEnd/>
            <a:tailEnd/>
          </a:ln>
        </p:spPr>
        <p:txBody>
          <a:bodyPr wrap="none">
            <a:spAutoFit/>
          </a:bodyPr>
          <a:lstStyle/>
          <a:p>
            <a:r>
              <a:rPr lang="en-US" altLang="zh-CN" dirty="0" smtClean="0"/>
              <a:t>2.</a:t>
            </a:r>
            <a:r>
              <a:rPr lang="zh-CN" altLang="en-US" dirty="0" smtClean="0"/>
              <a:t>时间格式：</a:t>
            </a:r>
            <a:endParaRPr lang="en-US" altLang="zh-CN" dirty="0" smtClean="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40768"/>
            <a:ext cx="8147248" cy="27363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4365104"/>
            <a:ext cx="8147248"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50950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smtClean="0">
                <a:latin typeface="Times New Roman" panose="02020603050405020304" pitchFamily="18" charset="0"/>
                <a:cs typeface="Times New Roman" panose="02020603050405020304" pitchFamily="18" charset="0"/>
              </a:rPr>
              <a:t>Mybatis</a:t>
            </a:r>
            <a:r>
              <a:rPr lang="zh-CN" altLang="en-US" sz="2800" smtClean="0">
                <a:latin typeface="Times New Roman" panose="02020603050405020304" pitchFamily="18" charset="0"/>
                <a:cs typeface="Times New Roman" panose="02020603050405020304" pitchFamily="18" charset="0"/>
              </a:rPr>
              <a:t>使用总结</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908720"/>
            <a:ext cx="3371436" cy="369332"/>
          </a:xfrm>
          <a:prstGeom prst="rect">
            <a:avLst/>
          </a:prstGeom>
          <a:noFill/>
          <a:ln w="9525">
            <a:noFill/>
            <a:miter lim="800000"/>
            <a:headEnd/>
            <a:tailEnd/>
          </a:ln>
        </p:spPr>
        <p:txBody>
          <a:bodyPr wrap="none">
            <a:spAutoFit/>
          </a:bodyPr>
          <a:lstStyle/>
          <a:p>
            <a:r>
              <a:rPr lang="en-US" altLang="zh-CN" dirty="0" smtClean="0"/>
              <a:t>3.1</a:t>
            </a:r>
            <a:r>
              <a:rPr lang="en-US" altLang="zh-CN" dirty="0" smtClean="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SqlMap</a:t>
            </a:r>
            <a:r>
              <a:rPr lang="zh-CN" altLang="en-US" dirty="0" smtClean="0">
                <a:latin typeface="Times New Roman" panose="02020603050405020304" pitchFamily="18" charset="0"/>
                <a:cs typeface="Times New Roman" panose="02020603050405020304" pitchFamily="18" charset="0"/>
              </a:rPr>
              <a:t>配置文件详细格式</a:t>
            </a:r>
            <a:r>
              <a:rPr lang="zh-CN" altLang="en-US" dirty="0" smtClean="0"/>
              <a:t>：</a:t>
            </a:r>
            <a:endParaRPr lang="en-US" altLang="zh-CN" dirty="0" smtClean="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533524"/>
            <a:ext cx="8515672" cy="4631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102990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5"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6"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7"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3078" name="TextBox 12"/>
          <p:cNvSpPr txBox="1">
            <a:spLocks noChangeArrowheads="1"/>
          </p:cNvSpPr>
          <p:nvPr/>
        </p:nvSpPr>
        <p:spPr bwMode="auto">
          <a:xfrm>
            <a:off x="179513" y="214313"/>
            <a:ext cx="4392487" cy="523220"/>
          </a:xfrm>
          <a:prstGeom prst="rect">
            <a:avLst/>
          </a:prstGeom>
          <a:noFill/>
          <a:ln w="9525">
            <a:noFill/>
            <a:miter lim="800000"/>
            <a:headEnd/>
            <a:tailEnd/>
          </a:ln>
        </p:spPr>
        <p:txBody>
          <a:bodyPr wrap="square">
            <a:spAutoFit/>
          </a:bodyPr>
          <a:lstStyle/>
          <a:p>
            <a:r>
              <a:rPr lang="en-US" altLang="zh-CN" sz="2800" smtClean="0">
                <a:latin typeface="Times New Roman" panose="02020603050405020304" pitchFamily="18" charset="0"/>
                <a:cs typeface="Times New Roman" panose="02020603050405020304" pitchFamily="18" charset="0"/>
              </a:rPr>
              <a:t>Mybatis</a:t>
            </a:r>
            <a:r>
              <a:rPr lang="zh-CN" altLang="en-US" sz="2800" smtClean="0">
                <a:latin typeface="Times New Roman" panose="02020603050405020304" pitchFamily="18" charset="0"/>
                <a:cs typeface="Times New Roman" panose="02020603050405020304" pitchFamily="18" charset="0"/>
              </a:rPr>
              <a:t>使用总结</a:t>
            </a:r>
            <a:endParaRPr lang="zh-CN" altLang="en-US" sz="2800" dirty="0">
              <a:latin typeface="隶书" panose="02010509060101010101" pitchFamily="49" charset="-122"/>
              <a:ea typeface="隶书" panose="02010509060101010101" pitchFamily="49" charset="-122"/>
            </a:endParaRPr>
          </a:p>
        </p:txBody>
      </p:sp>
      <p:sp>
        <p:nvSpPr>
          <p:cNvPr id="2" name="AutoShape 1" descr="C:\Users\adminstrator\AppData\Roaming\Tencent\Users\2918832265\QQ\WinTemp\RichOle\$U7V8$PS@0MRYY}X%JGM8.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2" descr="C:\Users\adminstrator\AppData\Roaming\Tencent\Users\2918832265\QQ\WinTemp\RichOle\$U7V8$PS@0MRYY}X%JGM8.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3" descr="C:\Users\adminstrator\AppData\Roaming\Tencent\Users\2918832265\QQ\WinTemp\RichOle\$U7V8$PS@0MRYY}X%JGM8.pn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C:\Users\adminstrator\AppData\Roaming\Tencent\Users\2918832265\QQ\WinTemp\RichOle\$U7V8$PS@0MRYY}X%JGM8.pn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2"/>
          <p:cNvSpPr>
            <a:spLocks noChangeArrowheads="1"/>
          </p:cNvSpPr>
          <p:nvPr/>
        </p:nvSpPr>
        <p:spPr bwMode="auto">
          <a:xfrm>
            <a:off x="179513" y="836712"/>
            <a:ext cx="3371436" cy="369332"/>
          </a:xfrm>
          <a:prstGeom prst="rect">
            <a:avLst/>
          </a:prstGeom>
          <a:noFill/>
          <a:ln w="9525">
            <a:noFill/>
            <a:miter lim="800000"/>
            <a:headEnd/>
            <a:tailEnd/>
          </a:ln>
        </p:spPr>
        <p:txBody>
          <a:bodyPr wrap="none">
            <a:spAutoFit/>
          </a:bodyPr>
          <a:lstStyle/>
          <a:p>
            <a:r>
              <a:rPr lang="en-US" altLang="zh-CN" dirty="0" smtClean="0"/>
              <a:t>3.2</a:t>
            </a:r>
            <a:r>
              <a:rPr lang="en-US" altLang="zh-CN" dirty="0" smtClean="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SqlMap</a:t>
            </a:r>
            <a:r>
              <a:rPr lang="zh-CN" altLang="en-US" dirty="0" smtClean="0">
                <a:latin typeface="Times New Roman" panose="02020603050405020304" pitchFamily="18" charset="0"/>
                <a:cs typeface="Times New Roman" panose="02020603050405020304" pitchFamily="18" charset="0"/>
              </a:rPr>
              <a:t>配置文件详细格式</a:t>
            </a:r>
            <a:r>
              <a:rPr lang="zh-CN" altLang="en-US" dirty="0" smtClean="0"/>
              <a:t>：</a:t>
            </a:r>
            <a:endParaRPr lang="en-US" altLang="zh-CN" dirty="0" smtClean="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251" y="1278052"/>
            <a:ext cx="8417213" cy="54633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10526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266" name="TextBox 5" hidden="1"/>
          <p:cNvSpPr txBox="1">
            <a:spLocks noChangeArrowheads="1"/>
          </p:cNvSpPr>
          <p:nvPr/>
        </p:nvSpPr>
        <p:spPr bwMode="auto">
          <a:xfrm>
            <a:off x="1939925" y="1954213"/>
            <a:ext cx="1943100" cy="369887"/>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11267" name="矩形 6" hidden="1"/>
          <p:cNvSpPr>
            <a:spLocks noChangeArrowheads="1"/>
          </p:cNvSpPr>
          <p:nvPr/>
        </p:nvSpPr>
        <p:spPr bwMode="auto">
          <a:xfrm>
            <a:off x="1939925" y="3025775"/>
            <a:ext cx="1471613" cy="646113"/>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11268" name="矩形 7" hidden="1"/>
          <p:cNvSpPr>
            <a:spLocks noChangeArrowheads="1"/>
          </p:cNvSpPr>
          <p:nvPr/>
        </p:nvSpPr>
        <p:spPr bwMode="auto">
          <a:xfrm>
            <a:off x="2011363" y="4240213"/>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11269" name="矩形 8" hidden="1"/>
          <p:cNvSpPr>
            <a:spLocks noChangeArrowheads="1"/>
          </p:cNvSpPr>
          <p:nvPr/>
        </p:nvSpPr>
        <p:spPr bwMode="auto">
          <a:xfrm>
            <a:off x="2011363" y="5526088"/>
            <a:ext cx="1471612" cy="646112"/>
          </a:xfrm>
          <a:prstGeom prst="rect">
            <a:avLst/>
          </a:prstGeom>
          <a:noFill/>
          <a:ln w="9525">
            <a:noFill/>
            <a:miter lim="800000"/>
            <a:headEnd/>
            <a:tailEnd/>
          </a:ln>
        </p:spPr>
        <p:txBody>
          <a:bodyPr>
            <a:spAutoFit/>
          </a:bodyPr>
          <a:lstStyle/>
          <a:p>
            <a:r>
              <a:rPr lang="zh-CN" altLang="en-US">
                <a:latin typeface="微软雅黑" pitchFamily="34" charset="-122"/>
                <a:ea typeface="微软雅黑" pitchFamily="34" charset="-122"/>
              </a:rPr>
              <a:t>点击添加文本</a:t>
            </a:r>
          </a:p>
        </p:txBody>
      </p:sp>
      <p:sp>
        <p:nvSpPr>
          <p:cNvPr id="7" name="流程图: 文档 6"/>
          <p:cNvSpPr/>
          <p:nvPr/>
        </p:nvSpPr>
        <p:spPr>
          <a:xfrm>
            <a:off x="1787649" y="1714500"/>
            <a:ext cx="3000375" cy="2009775"/>
          </a:xfrm>
          <a:prstGeom prst="flowChartDocument">
            <a:avLst/>
          </a:prstGeom>
          <a:solidFill>
            <a:srgbClr val="91DB0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流程图: 文档 7"/>
          <p:cNvSpPr/>
          <p:nvPr/>
        </p:nvSpPr>
        <p:spPr>
          <a:xfrm flipV="1">
            <a:off x="4788024" y="3356992"/>
            <a:ext cx="3000375" cy="2009775"/>
          </a:xfrm>
          <a:prstGeom prst="flowChartDocument">
            <a:avLst/>
          </a:prstGeom>
          <a:solidFill>
            <a:srgbClr val="FEB0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流程图: 文档 8"/>
          <p:cNvSpPr/>
          <p:nvPr/>
        </p:nvSpPr>
        <p:spPr>
          <a:xfrm flipH="1">
            <a:off x="4811985" y="1714500"/>
            <a:ext cx="3000375" cy="2009775"/>
          </a:xfrm>
          <a:prstGeom prst="flowChartDocument">
            <a:avLst/>
          </a:prstGeom>
          <a:solidFill>
            <a:srgbClr val="FEB0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0" name="流程图: 文档 9"/>
          <p:cNvSpPr/>
          <p:nvPr/>
        </p:nvSpPr>
        <p:spPr>
          <a:xfrm flipH="1" flipV="1">
            <a:off x="1859657" y="3356992"/>
            <a:ext cx="3000375" cy="2009775"/>
          </a:xfrm>
          <a:prstGeom prst="flowChartDocument">
            <a:avLst/>
          </a:prstGeom>
          <a:solidFill>
            <a:srgbClr val="91DB0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275" name="矩形 12"/>
          <p:cNvSpPr>
            <a:spLocks noChangeArrowheads="1"/>
          </p:cNvSpPr>
          <p:nvPr/>
        </p:nvSpPr>
        <p:spPr bwMode="auto">
          <a:xfrm>
            <a:off x="2810782" y="2034272"/>
            <a:ext cx="954107" cy="1015663"/>
          </a:xfrm>
          <a:prstGeom prst="rect">
            <a:avLst/>
          </a:prstGeom>
          <a:noFill/>
          <a:ln w="9525">
            <a:noFill/>
            <a:miter lim="800000"/>
            <a:headEnd/>
            <a:tailEnd/>
          </a:ln>
        </p:spPr>
        <p:txBody>
          <a:bodyPr wrap="none">
            <a:spAutoFit/>
          </a:bodyPr>
          <a:lstStyle/>
          <a:p>
            <a:r>
              <a:rPr lang="zh-CN" altLang="en-US" sz="6000" dirty="0">
                <a:latin typeface="隶书" panose="02010509060101010101" pitchFamily="49" charset="-122"/>
                <a:ea typeface="隶书" panose="02010509060101010101" pitchFamily="49" charset="-122"/>
              </a:rPr>
              <a:t>谢</a:t>
            </a:r>
          </a:p>
        </p:txBody>
      </p:sp>
      <p:sp>
        <p:nvSpPr>
          <p:cNvPr id="11278" name="矩形 15"/>
          <p:cNvSpPr>
            <a:spLocks noChangeArrowheads="1"/>
          </p:cNvSpPr>
          <p:nvPr/>
        </p:nvSpPr>
        <p:spPr bwMode="auto">
          <a:xfrm>
            <a:off x="5811157" y="2211555"/>
            <a:ext cx="954107" cy="1015663"/>
          </a:xfrm>
          <a:prstGeom prst="rect">
            <a:avLst/>
          </a:prstGeom>
          <a:noFill/>
          <a:ln w="9525">
            <a:noFill/>
            <a:miter lim="800000"/>
            <a:headEnd/>
            <a:tailEnd/>
          </a:ln>
        </p:spPr>
        <p:txBody>
          <a:bodyPr wrap="none">
            <a:spAutoFit/>
          </a:bodyPr>
          <a:lstStyle/>
          <a:p>
            <a:r>
              <a:rPr lang="zh-CN" altLang="en-US" sz="6000" dirty="0" smtClean="0">
                <a:latin typeface="隶书" panose="02010509060101010101" pitchFamily="49" charset="-122"/>
                <a:ea typeface="隶书" panose="02010509060101010101" pitchFamily="49" charset="-122"/>
              </a:rPr>
              <a:t>谢</a:t>
            </a:r>
            <a:endParaRPr lang="zh-CN" altLang="en-US" sz="6000" dirty="0">
              <a:latin typeface="隶书" panose="02010509060101010101" pitchFamily="49" charset="-122"/>
              <a:ea typeface="隶书" panose="02010509060101010101" pitchFamily="49" charset="-122"/>
            </a:endParaRPr>
          </a:p>
        </p:txBody>
      </p:sp>
      <p:sp>
        <p:nvSpPr>
          <p:cNvPr id="15" name="矩形 12"/>
          <p:cNvSpPr>
            <a:spLocks noChangeArrowheads="1"/>
          </p:cNvSpPr>
          <p:nvPr/>
        </p:nvSpPr>
        <p:spPr bwMode="auto">
          <a:xfrm>
            <a:off x="2882790" y="4077071"/>
            <a:ext cx="954107" cy="1015663"/>
          </a:xfrm>
          <a:prstGeom prst="rect">
            <a:avLst/>
          </a:prstGeom>
          <a:noFill/>
          <a:ln w="9525">
            <a:noFill/>
            <a:miter lim="800000"/>
            <a:headEnd/>
            <a:tailEnd/>
          </a:ln>
        </p:spPr>
        <p:txBody>
          <a:bodyPr wrap="none">
            <a:spAutoFit/>
          </a:bodyPr>
          <a:lstStyle/>
          <a:p>
            <a:r>
              <a:rPr lang="zh-CN" altLang="en-US" sz="6000" dirty="0">
                <a:latin typeface="隶书" panose="02010509060101010101" pitchFamily="49" charset="-122"/>
                <a:ea typeface="隶书" panose="02010509060101010101" pitchFamily="49" charset="-122"/>
              </a:rPr>
              <a:t>谢</a:t>
            </a:r>
          </a:p>
        </p:txBody>
      </p:sp>
      <p:sp>
        <p:nvSpPr>
          <p:cNvPr id="16" name="矩形 12"/>
          <p:cNvSpPr>
            <a:spLocks noChangeArrowheads="1"/>
          </p:cNvSpPr>
          <p:nvPr/>
        </p:nvSpPr>
        <p:spPr bwMode="auto">
          <a:xfrm>
            <a:off x="5811156" y="4077072"/>
            <a:ext cx="954107" cy="1015663"/>
          </a:xfrm>
          <a:prstGeom prst="rect">
            <a:avLst/>
          </a:prstGeom>
          <a:noFill/>
          <a:ln w="9525">
            <a:noFill/>
            <a:miter lim="800000"/>
            <a:headEnd/>
            <a:tailEnd/>
          </a:ln>
        </p:spPr>
        <p:txBody>
          <a:bodyPr wrap="none">
            <a:spAutoFit/>
          </a:bodyPr>
          <a:lstStyle/>
          <a:p>
            <a:r>
              <a:rPr lang="zh-CN" altLang="en-US" sz="6000" dirty="0">
                <a:latin typeface="隶书" panose="02010509060101010101" pitchFamily="49" charset="-122"/>
                <a:ea typeface="隶书" panose="02010509060101010101" pitchFamily="49" charset="-122"/>
              </a:rPr>
              <a:t>谢</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4607</TotalTime>
  <Words>635</Words>
  <Application>Microsoft Office PowerPoint</Application>
  <PresentationFormat>全屏显示(4:3)</PresentationFormat>
  <Paragraphs>125</Paragraphs>
  <Slides>15</Slides>
  <Notes>0</Notes>
  <HiddenSlides>0</HiddenSlides>
  <MMClips>0</MMClips>
  <ScaleCrop>false</ScaleCrop>
  <HeadingPairs>
    <vt:vector size="4" baseType="variant">
      <vt:variant>
        <vt:lpstr>主题</vt:lpstr>
      </vt:variant>
      <vt:variant>
        <vt:i4>1</vt:i4>
      </vt:variant>
      <vt:variant>
        <vt:lpstr>幻灯片标题</vt:lpstr>
      </vt:variant>
      <vt:variant>
        <vt:i4>15</vt:i4>
      </vt:variant>
    </vt:vector>
  </HeadingPairs>
  <TitlesOfParts>
    <vt:vector size="16"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bj</dc:creator>
  <cp:lastModifiedBy>voidsun</cp:lastModifiedBy>
  <cp:revision>395</cp:revision>
  <dcterms:created xsi:type="dcterms:W3CDTF">2013-10-30T09:04:50Z</dcterms:created>
  <dcterms:modified xsi:type="dcterms:W3CDTF">2015-11-13T08:14:28Z</dcterms:modified>
</cp:coreProperties>
</file>
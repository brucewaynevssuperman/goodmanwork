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286" r:id="rId3"/>
    <p:sldId id="309" r:id="rId4"/>
    <p:sldId id="287" r:id="rId5"/>
    <p:sldId id="310" r:id="rId6"/>
    <p:sldId id="311" r:id="rId7"/>
    <p:sldId id="303" r:id="rId8"/>
    <p:sldId id="294" r:id="rId9"/>
    <p:sldId id="304" r:id="rId10"/>
    <p:sldId id="292" r:id="rId11"/>
    <p:sldId id="308" r:id="rId12"/>
    <p:sldId id="295" r:id="rId13"/>
    <p:sldId id="312" r:id="rId14"/>
    <p:sldId id="296" r:id="rId15"/>
    <p:sldId id="289" r:id="rId16"/>
    <p:sldId id="313" r:id="rId17"/>
    <p:sldId id="297" r:id="rId18"/>
    <p:sldId id="290" r:id="rId19"/>
    <p:sldId id="307" r:id="rId20"/>
    <p:sldId id="291" r:id="rId21"/>
    <p:sldId id="299" r:id="rId22"/>
    <p:sldId id="300" r:id="rId23"/>
    <p:sldId id="301" r:id="rId24"/>
    <p:sldId id="27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D7"/>
    <a:srgbClr val="0365C0"/>
    <a:srgbClr val="EB931C"/>
    <a:srgbClr val="8F6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0" autoAdjust="0"/>
    <p:restoredTop sz="83183" autoAdjust="0"/>
  </p:normalViewPr>
  <p:slideViewPr>
    <p:cSldViewPr snapToGrid="0" snapToObjects="1">
      <p:cViewPr varScale="1">
        <p:scale>
          <a:sx n="30" d="100"/>
          <a:sy n="30" d="100"/>
        </p:scale>
        <p:origin x="-1152" y="-7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7" name="Shape 16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274141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设计原则：</a:t>
            </a:r>
            <a:endParaRPr kumimoji="0" lang="en-US" altLang="zh-CN" sz="2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  </a:t>
            </a: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外部适配，保持核心稳定</a:t>
            </a:r>
            <a:endParaRPr kumimoji="0" lang="en-US" altLang="zh-CN" sz="2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baseline="0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高内聚、低耦合，层级职责清晰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389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389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混合支付：余额</a:t>
            </a:r>
            <a:r>
              <a:rPr lang="en-US" altLang="zh-CN" baseline="0" dirty="0" smtClean="0"/>
              <a:t>+</a:t>
            </a:r>
            <a:r>
              <a:rPr lang="zh-CN" altLang="en-US" baseline="0" dirty="0" smtClean="0"/>
              <a:t>快捷、余额</a:t>
            </a:r>
            <a:r>
              <a:rPr lang="en-US" altLang="zh-CN" baseline="0" dirty="0" smtClean="0"/>
              <a:t>+</a:t>
            </a:r>
            <a:r>
              <a:rPr lang="zh-CN" altLang="en-US" baseline="0" dirty="0" smtClean="0"/>
              <a:t>网银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781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支付和退款是两个事件，而非事件的两个状态。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885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197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余额支付</a:t>
            </a:r>
            <a:endParaRPr lang="en-US" altLang="zh-CN" dirty="0" smtClean="0"/>
          </a:p>
          <a:p>
            <a:r>
              <a:rPr lang="zh-CN" altLang="en-US" smtClean="0"/>
              <a:t>非快速交易快捷</a:t>
            </a:r>
            <a:r>
              <a:rPr lang="en-US" altLang="zh-CN" dirty="0" smtClean="0"/>
              <a:t>/</a:t>
            </a:r>
            <a:r>
              <a:rPr lang="zh-CN" altLang="en-US" dirty="0" smtClean="0"/>
              <a:t>网银支付</a:t>
            </a:r>
            <a:endParaRPr lang="en-US" altLang="zh-CN" dirty="0" smtClean="0"/>
          </a:p>
          <a:p>
            <a:r>
              <a:rPr lang="zh-CN" altLang="en-US" dirty="0" smtClean="0"/>
              <a:t>快速交易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197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889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银行账户：银行账户类型、银行账号、开户支行、开户支行所属省市、联行行号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42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89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对账差异解决：查前</a:t>
            </a:r>
            <a:r>
              <a:rPr lang="en-US" altLang="zh-CN" dirty="0" smtClean="0"/>
              <a:t>7</a:t>
            </a:r>
            <a:r>
              <a:rPr lang="zh-CN" altLang="en-US" dirty="0" smtClean="0"/>
              <a:t>天与后一天数据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5293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763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386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8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41" name="Shape 41"/>
          <p:cNvSpPr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spcBef>
                <a:spcPts val="0"/>
              </a:spcBef>
              <a:buSzTx/>
              <a:buFontTx/>
              <a:buNone/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 defTabSz="821531">
              <a:spcBef>
                <a:spcPts val="0"/>
              </a:spcBef>
              <a:buSzTx/>
              <a:buFontTx/>
              <a:buNone/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 defTabSz="821531">
              <a:spcBef>
                <a:spcPts val="0"/>
              </a:spcBef>
              <a:buSzTx/>
              <a:buFontTx/>
              <a:buNone/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 defTabSz="821531">
              <a:spcBef>
                <a:spcPts val="0"/>
              </a:spcBef>
              <a:buSzTx/>
              <a:buFontTx/>
              <a:buNone/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 defTabSz="821531">
              <a:spcBef>
                <a:spcPts val="0"/>
              </a:spcBef>
              <a:buSzTx/>
              <a:buFontTx/>
              <a:buNone/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2" name="Shape 42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asted-image.pdf">
            <a:extLst>
              <a:ext uri="{FF2B5EF4-FFF2-40B4-BE49-F238E27FC236}">
                <a16:creationId xmlns:a16="http://schemas.microsoft.com/office/drawing/2014/main" xmlns="" id="{02B1C926-AE96-4713-B242-1615D1F773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/>
          </a:blip>
          <a:stretch>
            <a:fillRect/>
          </a:stretch>
        </p:blipFill>
        <p:spPr>
          <a:xfrm>
            <a:off x="21463000" y="425450"/>
            <a:ext cx="2540000" cy="901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182">
            <a:extLst>
              <a:ext uri="{FF2B5EF4-FFF2-40B4-BE49-F238E27FC236}">
                <a16:creationId xmlns:a16="http://schemas.microsoft.com/office/drawing/2014/main" xmlns="" id="{B9C3FA3D-D953-48B1-AD7A-D43E63295D07}"/>
              </a:ext>
            </a:extLst>
          </p:cNvPr>
          <p:cNvSpPr/>
          <p:nvPr userDrawn="1"/>
        </p:nvSpPr>
        <p:spPr>
          <a:xfrm>
            <a:off x="508000" y="510624"/>
            <a:ext cx="127000" cy="1079501"/>
          </a:xfrm>
          <a:prstGeom prst="rect">
            <a:avLst/>
          </a:prstGeom>
          <a:solidFill>
            <a:srgbClr val="0070D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l" defTabSz="2300011">
              <a:defRPr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58" name="Shape 58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  <a:lvl2pPr marL="10618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1506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9508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2395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9" name="Shape 59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/>
          </p:cNvSpPr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465364" indent="-465364" defTabSz="821531">
              <a:spcBef>
                <a:spcPts val="4500"/>
              </a:spcBef>
              <a:buFontTx/>
              <a:defRPr sz="3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  <a:lvl2pPr marL="808264" indent="-465364" defTabSz="821531">
              <a:spcBef>
                <a:spcPts val="4500"/>
              </a:spcBef>
              <a:buFontTx/>
              <a:defRPr sz="3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1151164" indent="-465364" defTabSz="821531">
              <a:spcBef>
                <a:spcPts val="4500"/>
              </a:spcBef>
              <a:buFontTx/>
              <a:defRPr sz="3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494064" indent="-465364" defTabSz="821531">
              <a:spcBef>
                <a:spcPts val="4500"/>
              </a:spcBef>
              <a:buFontTx/>
              <a:defRPr sz="3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36964" indent="-465364" defTabSz="821531">
              <a:spcBef>
                <a:spcPts val="4500"/>
              </a:spcBef>
              <a:buFontTx/>
              <a:defRPr sz="3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9" name="Shape 69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  <a:lvl2pPr marL="10618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1506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9508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2395361" indent="-617361" defTabSz="821531">
              <a:buFontTx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7" name="Shape 77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algn="ctr" defTabSz="821531">
              <a:spcBef>
                <a:spcPts val="0"/>
              </a:spcBef>
              <a:buSzTx/>
              <a:buFontTx/>
              <a:buNone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sz="quarter" idx="14"/>
          </p:nvPr>
        </p:nvSpPr>
        <p:spPr>
          <a:xfrm>
            <a:off x="4833937" y="5947965"/>
            <a:ext cx="14716126" cy="1069976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marL="0" indent="0" algn="ctr" defTabSz="821531">
              <a:spcBef>
                <a:spcPts val="0"/>
              </a:spcBef>
              <a:buSzTx/>
              <a:buFontTx/>
              <a:buNone/>
              <a:defRPr sz="5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6" name="Shape 96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与副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2.png" descr="背景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hape 119"/>
          <p:cNvSpPr/>
          <p:nvPr/>
        </p:nvSpPr>
        <p:spPr>
          <a:xfrm>
            <a:off x="20670049" y="12950034"/>
            <a:ext cx="2986904" cy="48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551" tIns="45551" rIns="45551" bIns="45551">
            <a:spAutoFit/>
          </a:bodyPr>
          <a:lstStyle>
            <a:lvl1pPr algn="l" defTabSz="1836440">
              <a:defRPr sz="2400">
                <a:solidFill>
                  <a:srgbClr val="DCDEE0">
                    <a:alpha val="5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IT内部资料  不可外传</a:t>
            </a:r>
          </a:p>
        </p:txBody>
      </p:sp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29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26973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33935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0670049" y="12950034"/>
            <a:ext cx="2986904" cy="48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551" tIns="45551" rIns="45551" bIns="45551">
            <a:spAutoFit/>
          </a:bodyPr>
          <a:lstStyle>
            <a:lvl1pPr algn="l" defTabSz="1836440">
              <a:defRPr sz="2400">
                <a:solidFill>
                  <a:srgbClr val="A7A7A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IT内部资料  不可外传</a:t>
            </a:r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10668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1066800" y="3124200"/>
            <a:ext cx="22237700" cy="937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23216221" y="12992100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 defTabSz="8255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3" r:id="rId11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ln>
            <a:noFill/>
          </a:ln>
          <a:solidFill>
            <a:srgbClr val="747474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/>
        </p:nvSpPr>
        <p:spPr>
          <a:xfrm>
            <a:off x="3784253" y="4553987"/>
            <a:ext cx="16815500" cy="3222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0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 smtClean="0"/>
              <a:t>从订单设计看</a:t>
            </a:r>
            <a:r>
              <a:rPr lang="zh-CN" altLang="en-US" dirty="0" smtClean="0"/>
              <a:t>架构</a:t>
            </a:r>
            <a:endParaRPr lang="en-US" altLang="zh-CN" dirty="0" smtClean="0"/>
          </a:p>
          <a:p>
            <a:r>
              <a:rPr lang="zh-CN" altLang="en-US" dirty="0"/>
              <a:t>为什么支付系统要如此设计？</a:t>
            </a:r>
          </a:p>
        </p:txBody>
      </p:sp>
      <p:pic>
        <p:nvPicPr>
          <p:cNvPr id="270" name="美集品牌字[2017]006号附件3：2017版美的logo-02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94810" y="412750"/>
            <a:ext cx="2551041" cy="901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851" y="7719846"/>
            <a:ext cx="5896304" cy="589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1723549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目录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445829" y="3540541"/>
            <a:ext cx="8588829" cy="1181173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6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支付订单逻辑分层</a:t>
            </a:r>
            <a:endParaRPr kumimoji="0" lang="zh-CN" altLang="en-US" sz="6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445829" y="5587055"/>
            <a:ext cx="8588829" cy="1181173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6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收付款类订单设计</a:t>
            </a:r>
            <a:endParaRPr kumimoji="0" lang="zh-CN" altLang="en-US" sz="6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445828" y="7666227"/>
            <a:ext cx="8588829" cy="1181173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6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历史订单表设计演进</a:t>
            </a:r>
            <a:endParaRPr kumimoji="0" lang="zh-CN" altLang="en-US" sz="6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445827" y="9778056"/>
            <a:ext cx="8588829" cy="1181173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6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支付订单处理原则</a:t>
            </a:r>
            <a:endParaRPr kumimoji="0" lang="zh-CN" altLang="en-US" sz="6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7956217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图片 2" descr="美的网络拓扑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4469" y="1897842"/>
            <a:ext cx="8125175" cy="5686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109639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以往大家心里的架构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616" y="1897843"/>
            <a:ext cx="9214058" cy="5686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345" y="7702418"/>
            <a:ext cx="8467425" cy="568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127" y="7702419"/>
            <a:ext cx="9761035" cy="5686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323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94179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支付系统订单数据逻辑分层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117" name="流程图: 可选过程 116"/>
          <p:cNvSpPr/>
          <p:nvPr/>
        </p:nvSpPr>
        <p:spPr>
          <a:xfrm>
            <a:off x="5300118" y="5065712"/>
            <a:ext cx="8637713" cy="1691951"/>
          </a:xfrm>
          <a:prstGeom prst="flowChartAlternateProcess">
            <a:avLst/>
          </a:prstGeom>
          <a:solidFill>
            <a:schemeClr val="bg1"/>
          </a:solidFill>
          <a:ln w="12700" cap="flat">
            <a:solidFill>
              <a:srgbClr val="00B0F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9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18" name="流程图: 可选过程 117"/>
          <p:cNvSpPr/>
          <p:nvPr/>
        </p:nvSpPr>
        <p:spPr>
          <a:xfrm>
            <a:off x="5300144" y="3113204"/>
            <a:ext cx="8637713" cy="1691951"/>
          </a:xfrm>
          <a:prstGeom prst="flowChartAlternateProcess">
            <a:avLst/>
          </a:prstGeom>
          <a:solidFill>
            <a:schemeClr val="bg1"/>
          </a:solidFill>
          <a:ln w="12700" cap="flat">
            <a:solidFill>
              <a:srgbClr val="00B0F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9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19" name="流程图: 可选过程 118"/>
          <p:cNvSpPr/>
          <p:nvPr/>
        </p:nvSpPr>
        <p:spPr>
          <a:xfrm>
            <a:off x="5300114" y="7798283"/>
            <a:ext cx="8637713" cy="1691951"/>
          </a:xfrm>
          <a:prstGeom prst="flowChartAlternateProcess">
            <a:avLst/>
          </a:prstGeom>
          <a:solidFill>
            <a:schemeClr val="bg1"/>
          </a:solidFill>
          <a:ln w="12700" cap="flat">
            <a:solidFill>
              <a:srgbClr val="00B0F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9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20" name="流程图: 可选过程 119"/>
          <p:cNvSpPr/>
          <p:nvPr/>
        </p:nvSpPr>
        <p:spPr>
          <a:xfrm>
            <a:off x="5300108" y="9736039"/>
            <a:ext cx="8637713" cy="1691951"/>
          </a:xfrm>
          <a:prstGeom prst="flowChartAlternateProcess">
            <a:avLst/>
          </a:prstGeom>
          <a:solidFill>
            <a:schemeClr val="bg1"/>
          </a:solidFill>
          <a:ln w="12700" cap="flat">
            <a:solidFill>
              <a:srgbClr val="00B0F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9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300144" y="3471546"/>
            <a:ext cx="8637677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接入映射订单</a:t>
            </a:r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300180" y="5424053"/>
            <a:ext cx="8637677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交易</a:t>
            </a:r>
            <a:r>
              <a:rPr lang="zh-CN" altLang="en-US" sz="5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订单管理</a:t>
            </a:r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zh-CN" altLang="en-US" sz="5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300180" y="10094381"/>
            <a:ext cx="8637677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渠道订单管理层</a:t>
            </a:r>
            <a:endParaRPr lang="zh-CN" altLang="en-US" sz="5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300108" y="8156625"/>
            <a:ext cx="8637677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订单处理引擎</a:t>
            </a:r>
            <a:endParaRPr lang="zh-CN" altLang="en-US" sz="5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5300180" y="7315200"/>
            <a:ext cx="15318065" cy="0"/>
          </a:xfrm>
          <a:prstGeom prst="line">
            <a:avLst/>
          </a:prstGeom>
          <a:noFill/>
          <a:ln w="76200" cap="flat">
            <a:solidFill>
              <a:schemeClr val="bg1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7" name="TextBox 126"/>
          <p:cNvSpPr txBox="1"/>
          <p:nvPr/>
        </p:nvSpPr>
        <p:spPr>
          <a:xfrm>
            <a:off x="13937786" y="5782397"/>
            <a:ext cx="6680460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用户可见</a:t>
            </a:r>
            <a:endParaRPr lang="zh-CN" altLang="en-US" sz="5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3937857" y="7885292"/>
            <a:ext cx="6680460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内部可见</a:t>
            </a:r>
            <a:endParaRPr lang="zh-CN" altLang="en-US" sz="5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92615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1095684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支付系统订单数据逻辑分层说明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03515"/>
              </p:ext>
            </p:extLst>
          </p:nvPr>
        </p:nvGraphicFramePr>
        <p:xfrm>
          <a:off x="2538828" y="2951785"/>
          <a:ext cx="18875830" cy="87581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31201"/>
                <a:gridCol w="14844629"/>
              </a:tblGrid>
              <a:tr h="72890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1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订单结构层次</a:t>
                      </a:r>
                      <a:endParaRPr lang="zh-CN" alt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1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逻辑层次说明</a:t>
                      </a:r>
                      <a:endParaRPr lang="zh-CN" altLang="en-US" sz="4000" b="1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5537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接入层</a:t>
                      </a:r>
                      <a:endParaRPr lang="zh-CN" alt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入参：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、商户提交的原始业务数据凭证记录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、交易指纹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信息记录（时间、“地点”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、“人物” 、过程等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、商户单号与支付内部单号映射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、商户提交订单时的关联信息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记录，如分润信息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/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出参：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、我方发送给商户的支付结果原始凭证记录</a:t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、发送过程及商户处理结果记录</a:t>
                      </a:r>
                      <a:endParaRPr lang="zh-CN" alt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73213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交易订单</a:t>
                      </a:r>
                      <a:endParaRPr lang="zh-CN" alt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以产品订单视角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维护的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订单信息；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/>
                      </a:r>
                      <a:b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lang="en-US" altLang="zh-CN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、交易多维状态管理，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如收货状态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、资金到</a:t>
                      </a:r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账</a:t>
                      </a:r>
                      <a:r>
                        <a:rPr lang="zh-CN" altLang="en-US" sz="4000" b="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状态；</a:t>
                      </a:r>
                      <a:endParaRPr lang="zh-CN" alt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70539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支付子单</a:t>
                      </a:r>
                      <a:endParaRPr lang="zh-CN" altLang="en-US" sz="40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保障资金安全的前提下，根据支付场景进行的任务拆解；</a:t>
                      </a:r>
                      <a:endParaRPr lang="zh-CN" altLang="en-US" sz="40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70539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渠道订单</a:t>
                      </a:r>
                      <a:endParaRPr lang="zh-CN" altLang="en-US" sz="40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0" b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按照渠道订单类型维度进行的订单记录</a:t>
                      </a:r>
                      <a:endParaRPr lang="zh-CN" alt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2958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10187404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支付订单与渠道订单对应关系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596017" y="4879124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代扣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564303" y="3740403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4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转账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10329" y="3732893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zh-CN" altLang="en-US" sz="4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逆向充值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585130" y="7139603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FF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交易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585130" y="6033539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充值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585129" y="8270814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提现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564302" y="9400076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代付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564301" y="10567058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工资代付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5845873" y="3732893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收款流水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5831560" y="4871614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代扣订单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5831559" y="6357778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FF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4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sz="4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银订单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5831560" y="9400076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0070D7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付款订单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5820673" y="7817890"/>
            <a:ext cx="3461657" cy="976862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FF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快捷订单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20" name="直接箭头连接符 19"/>
          <p:cNvCxnSpPr>
            <a:stCxn id="4" idx="3"/>
            <a:endCxn id="15" idx="1"/>
          </p:cNvCxnSpPr>
          <p:nvPr/>
        </p:nvCxnSpPr>
        <p:spPr>
          <a:xfrm flipV="1">
            <a:off x="7057674" y="5360045"/>
            <a:ext cx="8773886" cy="751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直接箭头连接符 21"/>
          <p:cNvCxnSpPr>
            <a:stCxn id="8" idx="3"/>
            <a:endCxn id="14" idx="1"/>
          </p:cNvCxnSpPr>
          <p:nvPr/>
        </p:nvCxnSpPr>
        <p:spPr>
          <a:xfrm>
            <a:off x="7071986" y="4221324"/>
            <a:ext cx="877388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直接箭头连接符 23"/>
          <p:cNvCxnSpPr>
            <a:stCxn id="10" idx="3"/>
          </p:cNvCxnSpPr>
          <p:nvPr/>
        </p:nvCxnSpPr>
        <p:spPr>
          <a:xfrm>
            <a:off x="7046787" y="6521970"/>
            <a:ext cx="877388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直接箭头连接符 25"/>
          <p:cNvCxnSpPr>
            <a:stCxn id="9" idx="3"/>
          </p:cNvCxnSpPr>
          <p:nvPr/>
        </p:nvCxnSpPr>
        <p:spPr>
          <a:xfrm flipV="1">
            <a:off x="7046787" y="6942756"/>
            <a:ext cx="8784773" cy="68527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直接箭头连接符 27"/>
          <p:cNvCxnSpPr/>
          <p:nvPr/>
        </p:nvCxnSpPr>
        <p:spPr>
          <a:xfrm>
            <a:off x="7025958" y="8726588"/>
            <a:ext cx="8754601" cy="75291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直接箭头连接符 29"/>
          <p:cNvCxnSpPr/>
          <p:nvPr/>
        </p:nvCxnSpPr>
        <p:spPr>
          <a:xfrm>
            <a:off x="7025960" y="8116465"/>
            <a:ext cx="8754599" cy="610123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直接箭头连接符 31"/>
          <p:cNvCxnSpPr>
            <a:endCxn id="18" idx="1"/>
          </p:cNvCxnSpPr>
          <p:nvPr/>
        </p:nvCxnSpPr>
        <p:spPr>
          <a:xfrm>
            <a:off x="7057674" y="6942756"/>
            <a:ext cx="8762999" cy="136356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直接箭头连接符 33"/>
          <p:cNvCxnSpPr>
            <a:stCxn id="12" idx="3"/>
          </p:cNvCxnSpPr>
          <p:nvPr/>
        </p:nvCxnSpPr>
        <p:spPr>
          <a:xfrm>
            <a:off x="7025959" y="9888507"/>
            <a:ext cx="872786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直接箭头连接符 35"/>
          <p:cNvCxnSpPr>
            <a:stCxn id="13" idx="3"/>
          </p:cNvCxnSpPr>
          <p:nvPr/>
        </p:nvCxnSpPr>
        <p:spPr>
          <a:xfrm flipV="1">
            <a:off x="7025958" y="10344282"/>
            <a:ext cx="8794715" cy="71120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直接箭头连接符 38"/>
          <p:cNvCxnSpPr/>
          <p:nvPr/>
        </p:nvCxnSpPr>
        <p:spPr>
          <a:xfrm>
            <a:off x="7057674" y="5848476"/>
            <a:ext cx="8762999" cy="203083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/>
          <p:cNvSpPr txBox="1"/>
          <p:nvPr/>
        </p:nvSpPr>
        <p:spPr>
          <a:xfrm rot="21271889">
            <a:off x="9444531" y="6724593"/>
            <a:ext cx="3375923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6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使用网银支付时</a:t>
            </a:r>
            <a:endParaRPr kumimoji="0" lang="zh-CN" altLang="en-US" sz="36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58" name="TextBox 57"/>
          <p:cNvSpPr txBox="1"/>
          <p:nvPr/>
        </p:nvSpPr>
        <p:spPr>
          <a:xfrm rot="209593">
            <a:off x="9444326" y="8366652"/>
            <a:ext cx="3375924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6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使用快捷支付时</a:t>
            </a:r>
            <a:endParaRPr kumimoji="0" lang="zh-CN" altLang="en-US" sz="36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7051158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879080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支付现有订单种类划分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0001" y="2951355"/>
            <a:ext cx="9851399" cy="7530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t_cash_receive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（逆向收款）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t_charge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（充值）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t_withdraw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（提现）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t_distribute</a:t>
            </a:r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t_distribute_salary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（代发）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t_transfer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（转账）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kumimoji="0" lang="en-US" altLang="zh-CN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t_trade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交易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t_refund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（交易退款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t_withhold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（代扣）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t_withhold_refund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（代扣退款）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2951355"/>
            <a:ext cx="5543550" cy="69153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sz="4000" dirty="0" err="1">
                <a:solidFill>
                  <a:srgbClr val="FF0000"/>
                </a:solidFill>
              </a:rPr>
              <a:t>t_finance_order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 err="1" smtClean="0">
                <a:solidFill>
                  <a:srgbClr val="FF0000"/>
                </a:solidFill>
              </a:rPr>
              <a:t>t_finance_refund</a:t>
            </a:r>
            <a:endParaRPr lang="en-US" altLang="zh-CN" sz="4000" dirty="0" smtClean="0">
              <a:solidFill>
                <a:srgbClr val="FF0000"/>
              </a:solidFill>
            </a:endParaRPr>
          </a:p>
          <a:p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 err="1">
                <a:solidFill>
                  <a:srgbClr val="FF0000"/>
                </a:solidFill>
              </a:rPr>
              <a:t>t_mobile_charge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 err="1">
                <a:solidFill>
                  <a:srgbClr val="FF0000"/>
                </a:solidFill>
              </a:rPr>
              <a:t>t_mx_card_recharge</a:t>
            </a:r>
            <a:endParaRPr lang="en-US" altLang="zh-CN" sz="4000" dirty="0">
              <a:solidFill>
                <a:srgbClr val="FF0000"/>
              </a:solidFill>
            </a:endParaRPr>
          </a:p>
          <a:p>
            <a:endParaRPr lang="en-US" altLang="zh-CN" sz="4000" dirty="0" smtClean="0"/>
          </a:p>
          <a:p>
            <a:r>
              <a:rPr lang="en-US" altLang="zh-CN" sz="4000" dirty="0" err="1">
                <a:solidFill>
                  <a:srgbClr val="FF0000"/>
                </a:solidFill>
              </a:rPr>
              <a:t>t_red_packet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 err="1">
                <a:solidFill>
                  <a:srgbClr val="FF0000"/>
                </a:solidFill>
              </a:rPr>
              <a:t>t_red_packet_order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 err="1">
                <a:solidFill>
                  <a:srgbClr val="FF0000"/>
                </a:solidFill>
              </a:rPr>
              <a:t>t_red_packet_refund</a:t>
            </a:r>
            <a:endParaRPr lang="en-US" altLang="zh-CN" sz="4000" dirty="0">
              <a:solidFill>
                <a:srgbClr val="FF0000"/>
              </a:solidFill>
            </a:endParaRPr>
          </a:p>
          <a:p>
            <a:endParaRPr lang="en-US" altLang="zh-CN" sz="4000" dirty="0" smtClean="0"/>
          </a:p>
          <a:p>
            <a:r>
              <a:rPr lang="en-US" altLang="zh-CN" sz="4000" dirty="0" err="1" smtClean="0">
                <a:solidFill>
                  <a:srgbClr val="FF0000"/>
                </a:solidFill>
              </a:rPr>
              <a:t>t_escrow_transfer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183100" y="2951355"/>
            <a:ext cx="6619875" cy="5068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t_accrued_charges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t_bank_settle</a:t>
            </a:r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t_charge_refund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t_charge_withdraw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t_quick_charge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t_quick_charge_rebate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 smtClean="0">
                <a:latin typeface="微软雅黑" pitchFamily="34" charset="-122"/>
                <a:ea typeface="微软雅黑" pitchFamily="34" charset="-122"/>
              </a:rPr>
              <a:t>t_repeat_pay_refund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 err="1">
                <a:latin typeface="微软雅黑" pitchFamily="34" charset="-122"/>
                <a:ea typeface="微软雅黑" pitchFamily="34" charset="-122"/>
              </a:rPr>
              <a:t>t_requisition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43430" y="10953703"/>
            <a:ext cx="13182601" cy="16831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设计考虑：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产品形式、处理流程、状态设计、隔离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要求等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34967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4430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交易订单设计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90814" y="4179241"/>
            <a:ext cx="19939545" cy="6570295"/>
            <a:chOff x="2032084" y="2671676"/>
            <a:chExt cx="19939545" cy="6570295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3903597" y="2671676"/>
              <a:ext cx="0" cy="6570295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直接箭头连接符 16"/>
            <p:cNvCxnSpPr>
              <a:stCxn id="3" idx="3"/>
              <a:endCxn id="6" idx="1"/>
            </p:cNvCxnSpPr>
            <p:nvPr/>
          </p:nvCxnSpPr>
          <p:spPr>
            <a:xfrm>
              <a:off x="5012476" y="5872076"/>
              <a:ext cx="910462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直接箭头连接符 18"/>
            <p:cNvCxnSpPr>
              <a:stCxn id="6" idx="3"/>
            </p:cNvCxnSpPr>
            <p:nvPr/>
          </p:nvCxnSpPr>
          <p:spPr>
            <a:xfrm>
              <a:off x="8903329" y="5872076"/>
              <a:ext cx="87723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直接箭头连接符 20"/>
            <p:cNvCxnSpPr>
              <a:stCxn id="7" idx="3"/>
            </p:cNvCxnSpPr>
            <p:nvPr/>
          </p:nvCxnSpPr>
          <p:spPr>
            <a:xfrm>
              <a:off x="12760954" y="5838738"/>
              <a:ext cx="1142643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13903597" y="3547975"/>
              <a:ext cx="1115716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" name="直接箭头连接符 27"/>
            <p:cNvCxnSpPr>
              <a:endCxn id="9" idx="1"/>
            </p:cNvCxnSpPr>
            <p:nvPr/>
          </p:nvCxnSpPr>
          <p:spPr>
            <a:xfrm>
              <a:off x="17999704" y="3538449"/>
              <a:ext cx="991534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028" name="组合 1027"/>
            <p:cNvGrpSpPr/>
            <p:nvPr/>
          </p:nvGrpSpPr>
          <p:grpSpPr>
            <a:xfrm>
              <a:off x="2032084" y="5400588"/>
              <a:ext cx="2980392" cy="942975"/>
              <a:chOff x="1272987" y="6929437"/>
              <a:chExt cx="2980392" cy="942975"/>
            </a:xfrm>
          </p:grpSpPr>
          <p:sp>
            <p:nvSpPr>
              <p:cNvPr id="3" name="圆角矩形 2"/>
              <p:cNvSpPr/>
              <p:nvPr/>
            </p:nvSpPr>
            <p:spPr>
              <a:xfrm>
                <a:off x="1272988" y="6929437"/>
                <a:ext cx="2980391" cy="942975"/>
              </a:xfrm>
              <a:prstGeom prst="roundRect">
                <a:avLst/>
              </a:prstGeom>
              <a:solidFill>
                <a:srgbClr val="FFFF00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025" name="TextBox 1024"/>
              <p:cNvSpPr txBox="1"/>
              <p:nvPr/>
            </p:nvSpPr>
            <p:spPr>
              <a:xfrm>
                <a:off x="1272987" y="7166243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商户订单落库映射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1029" name="组合 1028"/>
            <p:cNvGrpSpPr/>
            <p:nvPr/>
          </p:nvGrpSpPr>
          <p:grpSpPr>
            <a:xfrm>
              <a:off x="5922937" y="5400588"/>
              <a:ext cx="2980392" cy="942975"/>
              <a:chOff x="5163840" y="6929437"/>
              <a:chExt cx="2980392" cy="942975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交易</a:t>
                </a: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订单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1030" name="组合 1029"/>
            <p:cNvGrpSpPr/>
            <p:nvPr/>
          </p:nvGrpSpPr>
          <p:grpSpPr>
            <a:xfrm>
              <a:off x="9780563" y="5367250"/>
              <a:ext cx="2980391" cy="942975"/>
              <a:chOff x="9021466" y="6896099"/>
              <a:chExt cx="2980391" cy="94297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9021466" y="6896099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9021466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支付总单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1031" name="组合 1030"/>
            <p:cNvGrpSpPr/>
            <p:nvPr/>
          </p:nvGrpSpPr>
          <p:grpSpPr>
            <a:xfrm>
              <a:off x="15019312" y="3076488"/>
              <a:ext cx="2980392" cy="942975"/>
              <a:chOff x="14260215" y="4605337"/>
              <a:chExt cx="2980392" cy="942975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14260216" y="46053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4260215" y="4810498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支付方式</a:t>
                </a:r>
                <a:r>
                  <a:rPr lang="en-US" altLang="zh-CN" sz="2400" dirty="0" smtClean="0">
                    <a:latin typeface="微软雅黑" pitchFamily="34" charset="-122"/>
                    <a:ea typeface="微软雅黑" pitchFamily="34" charset="-122"/>
                  </a:rPr>
                  <a:t>100-1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1032" name="组合 1031"/>
            <p:cNvGrpSpPr/>
            <p:nvPr/>
          </p:nvGrpSpPr>
          <p:grpSpPr>
            <a:xfrm>
              <a:off x="18991237" y="3066962"/>
              <a:ext cx="2980392" cy="942975"/>
              <a:chOff x="18232140" y="4595811"/>
              <a:chExt cx="2980392" cy="942975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18232141" y="4595811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8232140" y="4810498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渠道订单</a:t>
                </a:r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1035" name="组合 1034"/>
            <p:cNvGrpSpPr/>
            <p:nvPr/>
          </p:nvGrpSpPr>
          <p:grpSpPr>
            <a:xfrm>
              <a:off x="15019315" y="7868851"/>
              <a:ext cx="2980392" cy="942975"/>
              <a:chOff x="14260215" y="9239249"/>
              <a:chExt cx="2980392" cy="942975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14260216" y="9239249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4260215" y="9453935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支付内转</a:t>
                </a:r>
                <a:r>
                  <a:rPr lang="en-US" altLang="zh-CN" sz="2400" dirty="0" smtClean="0">
                    <a:latin typeface="微软雅黑" pitchFamily="34" charset="-122"/>
                    <a:ea typeface="微软雅黑" pitchFamily="34" charset="-122"/>
                  </a:rPr>
                  <a:t>100-[</a:t>
                </a:r>
                <a:r>
                  <a:rPr lang="en-US" altLang="zh-CN" sz="2400" dirty="0" err="1" smtClean="0">
                    <a:latin typeface="微软雅黑" pitchFamily="34" charset="-122"/>
                    <a:ea typeface="微软雅黑" pitchFamily="34" charset="-122"/>
                  </a:rPr>
                  <a:t>m+n</a:t>
                </a:r>
                <a:r>
                  <a:rPr lang="en-US" altLang="zh-CN" sz="2400" dirty="0" smtClean="0">
                    <a:latin typeface="微软雅黑" pitchFamily="34" charset="-122"/>
                    <a:ea typeface="微软雅黑" pitchFamily="34" charset="-122"/>
                  </a:rPr>
                  <a:t>]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2032086" y="7868849"/>
              <a:ext cx="2980392" cy="942975"/>
              <a:chOff x="5163840" y="6929437"/>
              <a:chExt cx="2980392" cy="942975"/>
            </a:xfrm>
          </p:grpSpPr>
          <p:sp>
            <p:nvSpPr>
              <p:cNvPr id="54" name="圆角矩形 53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rgbClr val="FFFF00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通知</a:t>
                </a: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单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5019313" y="6426563"/>
              <a:ext cx="2980393" cy="942975"/>
              <a:chOff x="14260214" y="5943600"/>
              <a:chExt cx="2980393" cy="942975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14260216" y="5943600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rgbClr val="00B0F0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14260214" y="6158286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支付内转</a:t>
                </a:r>
                <a:r>
                  <a:rPr lang="en-US" altLang="zh-CN" sz="2400" dirty="0" smtClean="0">
                    <a:latin typeface="微软雅黑" pitchFamily="34" charset="-122"/>
                    <a:ea typeface="微软雅黑" pitchFamily="34" charset="-122"/>
                  </a:rPr>
                  <a:t>100-[m+1]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1050" name="肘形连接符 1049"/>
            <p:cNvCxnSpPr>
              <a:stCxn id="6" idx="2"/>
              <a:endCxn id="54" idx="3"/>
            </p:cNvCxnSpPr>
            <p:nvPr/>
          </p:nvCxnSpPr>
          <p:spPr>
            <a:xfrm rot="5400000">
              <a:off x="5214419" y="6141622"/>
              <a:ext cx="1996774" cy="2400656"/>
            </a:xfrm>
            <a:prstGeom prst="bentConnector2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45" name="直接箭头连接符 44"/>
          <p:cNvCxnSpPr/>
          <p:nvPr/>
        </p:nvCxnSpPr>
        <p:spPr>
          <a:xfrm>
            <a:off x="13962330" y="8411306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直接箭头连接符 45"/>
          <p:cNvCxnSpPr/>
          <p:nvPr/>
        </p:nvCxnSpPr>
        <p:spPr>
          <a:xfrm>
            <a:off x="13962325" y="9853594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704163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898194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交易订单主要数据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3203" y="2168876"/>
            <a:ext cx="10686865" cy="9377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单号（商户单号 </a:t>
            </a: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+ 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我方单号）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收款方信息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付款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信息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（支付账户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银行账户）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交易金额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交易状态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支付方式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商品信息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分账信息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附言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控信息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防篡改信息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时间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26142" y="3918857"/>
            <a:ext cx="9121086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为什么支付必须保持商户单号？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26141" y="5986867"/>
            <a:ext cx="5009384" cy="3222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1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、防止重复下单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幂等判断需要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、主动查询必须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、对账需要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5541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9751387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网银交易订单状态图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22737" y="8733795"/>
            <a:ext cx="6663478" cy="16831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为什么没有失败状态？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是否可以有退款状态？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964932" y="3700425"/>
            <a:ext cx="533568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状态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设计原则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状态不可孤立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状态之间互斥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场景适配刚好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事件推动变更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终态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之间禁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转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159275" y="3443624"/>
            <a:ext cx="13521083" cy="4234032"/>
            <a:chOff x="4588078" y="3392906"/>
            <a:chExt cx="13521083" cy="4234032"/>
          </a:xfrm>
        </p:grpSpPr>
        <p:grpSp>
          <p:nvGrpSpPr>
            <p:cNvPr id="4" name="组合 3"/>
            <p:cNvGrpSpPr/>
            <p:nvPr/>
          </p:nvGrpSpPr>
          <p:grpSpPr>
            <a:xfrm>
              <a:off x="7248095" y="5062366"/>
              <a:ext cx="2980392" cy="942975"/>
              <a:chOff x="5163840" y="6929437"/>
              <a:chExt cx="2980392" cy="942975"/>
            </a:xfrm>
          </p:grpSpPr>
          <p:sp>
            <p:nvSpPr>
              <p:cNvPr id="5" name="圆角矩形 4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未支付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2143945" y="5062366"/>
              <a:ext cx="3609921" cy="942975"/>
              <a:chOff x="5163840" y="6929437"/>
              <a:chExt cx="3609921" cy="942975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5793370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支付成功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sp>
          <p:nvSpPr>
            <p:cNvPr id="13" name="椭圆 12"/>
            <p:cNvSpPr/>
            <p:nvPr/>
          </p:nvSpPr>
          <p:spPr>
            <a:xfrm>
              <a:off x="4588078" y="5062366"/>
              <a:ext cx="941832" cy="941832"/>
            </a:xfrm>
            <a:prstGeom prst="ellipse">
              <a:avLst/>
            </a:prstGeom>
            <a:solidFill>
              <a:schemeClr val="tx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15" name="直接箭头连接符 14"/>
            <p:cNvCxnSpPr>
              <a:stCxn id="6" idx="3"/>
            </p:cNvCxnSpPr>
            <p:nvPr/>
          </p:nvCxnSpPr>
          <p:spPr>
            <a:xfrm>
              <a:off x="10228486" y="5533854"/>
              <a:ext cx="2544989" cy="7413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直接箭头连接符 16"/>
            <p:cNvCxnSpPr>
              <a:stCxn id="13" idx="6"/>
              <a:endCxn id="6" idx="1"/>
            </p:cNvCxnSpPr>
            <p:nvPr/>
          </p:nvCxnSpPr>
          <p:spPr>
            <a:xfrm>
              <a:off x="5529910" y="5533282"/>
              <a:ext cx="1718185" cy="572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7" name="TextBox 36"/>
            <p:cNvSpPr txBox="1"/>
            <p:nvPr/>
          </p:nvSpPr>
          <p:spPr>
            <a:xfrm>
              <a:off x="10010784" y="50123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渠道返回成功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799268" y="7113337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支付超期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7167329" y="5062366"/>
              <a:ext cx="941832" cy="941832"/>
              <a:chOff x="21388100" y="9830453"/>
              <a:chExt cx="941832" cy="941832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21388100" y="9830453"/>
                <a:ext cx="941832" cy="941832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542363" y="9989314"/>
                <a:ext cx="640080" cy="640080"/>
              </a:xfrm>
              <a:prstGeom prst="ellipse">
                <a:avLst/>
              </a:prstGeom>
              <a:solidFill>
                <a:schemeClr val="tx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cxnSp>
          <p:nvCxnSpPr>
            <p:cNvPr id="47" name="肘形连接符 46"/>
            <p:cNvCxnSpPr>
              <a:stCxn id="5" idx="2"/>
              <a:endCxn id="41" idx="4"/>
            </p:cNvCxnSpPr>
            <p:nvPr/>
          </p:nvCxnSpPr>
          <p:spPr>
            <a:xfrm rot="5400000" flipH="1" flipV="1">
              <a:off x="13187696" y="1554793"/>
              <a:ext cx="1143" cy="8899953"/>
            </a:xfrm>
            <a:prstGeom prst="bentConnector3">
              <a:avLst>
                <a:gd name="adj1" fmla="val -140000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直接箭头连接符 53"/>
            <p:cNvCxnSpPr>
              <a:stCxn id="8" idx="3"/>
              <a:endCxn id="41" idx="2"/>
            </p:cNvCxnSpPr>
            <p:nvPr/>
          </p:nvCxnSpPr>
          <p:spPr>
            <a:xfrm flipV="1">
              <a:off x="15753866" y="5533282"/>
              <a:ext cx="1413463" cy="572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肘形连接符 10"/>
            <p:cNvCxnSpPr>
              <a:endCxn id="5" idx="0"/>
            </p:cNvCxnSpPr>
            <p:nvPr/>
          </p:nvCxnSpPr>
          <p:spPr>
            <a:xfrm rot="10800000">
              <a:off x="8738292" y="5062366"/>
              <a:ext cx="1490194" cy="130390"/>
            </a:xfrm>
            <a:prstGeom prst="bentConnector4">
              <a:avLst>
                <a:gd name="adj1" fmla="val -1784"/>
                <a:gd name="adj2" fmla="val 895684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TextBox 26"/>
            <p:cNvSpPr txBox="1"/>
            <p:nvPr/>
          </p:nvSpPr>
          <p:spPr>
            <a:xfrm>
              <a:off x="7993193" y="3392906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渠道返回失败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05893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1161888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代扣</a:t>
            </a:r>
            <a:r>
              <a:rPr lang="en-US" altLang="zh-CN" sz="6000" dirty="0" smtClean="0">
                <a:solidFill>
                  <a:srgbClr val="0070D7"/>
                </a:solidFill>
              </a:rPr>
              <a:t>/</a:t>
            </a:r>
            <a:r>
              <a:rPr lang="zh-CN" altLang="en-US" sz="6000" dirty="0" smtClean="0">
                <a:solidFill>
                  <a:srgbClr val="0070D7"/>
                </a:solidFill>
              </a:rPr>
              <a:t>快捷交易订单状态图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31037" y="6637517"/>
            <a:ext cx="2980392" cy="942975"/>
            <a:chOff x="5163840" y="6929437"/>
            <a:chExt cx="2980392" cy="942975"/>
          </a:xfrm>
        </p:grpSpPr>
        <p:sp>
          <p:nvSpPr>
            <p:cNvPr id="5" name="圆角矩形 4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未支付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610754" y="8494908"/>
            <a:ext cx="2980392" cy="942975"/>
            <a:chOff x="5163840" y="6929437"/>
            <a:chExt cx="2980392" cy="942975"/>
          </a:xfrm>
        </p:grpSpPr>
        <p:sp>
          <p:nvSpPr>
            <p:cNvPr id="8" name="圆角矩形 7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支付成功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610755" y="4655815"/>
            <a:ext cx="2980392" cy="942975"/>
            <a:chOff x="5163840" y="6929437"/>
            <a:chExt cx="2980392" cy="942975"/>
          </a:xfrm>
        </p:grpSpPr>
        <p:sp>
          <p:nvSpPr>
            <p:cNvPr id="16" name="圆角矩形 15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支付失败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12" name="肘形连接符 11"/>
          <p:cNvCxnSpPr>
            <a:stCxn id="16" idx="3"/>
            <a:endCxn id="49" idx="0"/>
          </p:cNvCxnSpPr>
          <p:nvPr/>
        </p:nvCxnSpPr>
        <p:spPr>
          <a:xfrm>
            <a:off x="15591147" y="5127303"/>
            <a:ext cx="2527756" cy="1511357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/>
          <p:cNvSpPr txBox="1"/>
          <p:nvPr/>
        </p:nvSpPr>
        <p:spPr>
          <a:xfrm rot="1674725">
            <a:off x="9683512" y="7698686"/>
            <a:ext cx="2980391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渠道返回成功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37" name="TextBox 36"/>
          <p:cNvSpPr txBox="1"/>
          <p:nvPr/>
        </p:nvSpPr>
        <p:spPr>
          <a:xfrm rot="19864069">
            <a:off x="9229620" y="5626180"/>
            <a:ext cx="2980391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渠道返回失败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137318" y="6630939"/>
            <a:ext cx="941832" cy="94183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44" name="直接箭头连接符 43"/>
          <p:cNvCxnSpPr>
            <a:stCxn id="43" idx="6"/>
            <a:endCxn id="6" idx="1"/>
          </p:cNvCxnSpPr>
          <p:nvPr/>
        </p:nvCxnSpPr>
        <p:spPr>
          <a:xfrm>
            <a:off x="4079150" y="7101855"/>
            <a:ext cx="1951887" cy="715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8" name="组合 47"/>
          <p:cNvGrpSpPr/>
          <p:nvPr/>
        </p:nvGrpSpPr>
        <p:grpSpPr>
          <a:xfrm>
            <a:off x="17647987" y="6638660"/>
            <a:ext cx="941832" cy="941832"/>
            <a:chOff x="21388100" y="9830453"/>
            <a:chExt cx="941832" cy="941832"/>
          </a:xfrm>
        </p:grpSpPr>
        <p:sp>
          <p:nvSpPr>
            <p:cNvPr id="49" name="椭圆 48"/>
            <p:cNvSpPr/>
            <p:nvPr/>
          </p:nvSpPr>
          <p:spPr>
            <a:xfrm>
              <a:off x="21388100" y="9830453"/>
              <a:ext cx="941832" cy="941832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21538976" y="9981329"/>
              <a:ext cx="640080" cy="640080"/>
            </a:xfrm>
            <a:prstGeom prst="ellipse">
              <a:avLst/>
            </a:prstGeom>
            <a:solidFill>
              <a:schemeClr val="tx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24" name="肘形连接符 23"/>
          <p:cNvCxnSpPr>
            <a:stCxn id="8" idx="3"/>
            <a:endCxn id="49" idx="4"/>
          </p:cNvCxnSpPr>
          <p:nvPr/>
        </p:nvCxnSpPr>
        <p:spPr>
          <a:xfrm flipV="1">
            <a:off x="15591146" y="7580492"/>
            <a:ext cx="2527757" cy="1385904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直接箭头连接符 30"/>
          <p:cNvCxnSpPr>
            <a:stCxn id="5" idx="3"/>
            <a:endCxn id="18" idx="1"/>
          </p:cNvCxnSpPr>
          <p:nvPr/>
        </p:nvCxnSpPr>
        <p:spPr>
          <a:xfrm flipV="1">
            <a:off x="9011429" y="5127303"/>
            <a:ext cx="3599326" cy="198170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直接箭头连接符 32"/>
          <p:cNvCxnSpPr>
            <a:stCxn id="6" idx="3"/>
            <a:endCxn id="8" idx="1"/>
          </p:cNvCxnSpPr>
          <p:nvPr/>
        </p:nvCxnSpPr>
        <p:spPr>
          <a:xfrm>
            <a:off x="9011428" y="7109005"/>
            <a:ext cx="3599327" cy="185739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555962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14461454" y="3265714"/>
            <a:ext cx="4034016" cy="7151915"/>
          </a:xfrm>
          <a:prstGeom prst="roundRect">
            <a:avLst/>
          </a:prstGeom>
          <a:solidFill>
            <a:schemeClr val="bg1"/>
          </a:solidFill>
          <a:ln w="12700" cap="flat">
            <a:solidFill>
              <a:schemeClr val="bg1">
                <a:lumMod val="50000"/>
              </a:schemeClr>
            </a:solidFill>
            <a:prstDash val="dash"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4430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退款订单设计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3903595" y="3612902"/>
            <a:ext cx="0" cy="6570295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直接箭头连接符 4"/>
          <p:cNvCxnSpPr>
            <a:stCxn id="40" idx="3"/>
            <a:endCxn id="38" idx="1"/>
          </p:cNvCxnSpPr>
          <p:nvPr/>
        </p:nvCxnSpPr>
        <p:spPr>
          <a:xfrm>
            <a:off x="5012474" y="6813302"/>
            <a:ext cx="910462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直接箭头连接符 5"/>
          <p:cNvCxnSpPr>
            <a:stCxn id="38" idx="3"/>
          </p:cNvCxnSpPr>
          <p:nvPr/>
        </p:nvCxnSpPr>
        <p:spPr>
          <a:xfrm>
            <a:off x="8903327" y="6813302"/>
            <a:ext cx="877234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直接箭头连接符 6"/>
          <p:cNvCxnSpPr>
            <a:stCxn id="36" idx="3"/>
          </p:cNvCxnSpPr>
          <p:nvPr/>
        </p:nvCxnSpPr>
        <p:spPr>
          <a:xfrm>
            <a:off x="12760952" y="6779964"/>
            <a:ext cx="1142643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直接箭头连接符 7"/>
          <p:cNvCxnSpPr/>
          <p:nvPr/>
        </p:nvCxnSpPr>
        <p:spPr>
          <a:xfrm>
            <a:off x="13903595" y="4489201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0" name="组合 9"/>
          <p:cNvGrpSpPr/>
          <p:nvPr/>
        </p:nvGrpSpPr>
        <p:grpSpPr>
          <a:xfrm>
            <a:off x="2032082" y="6341814"/>
            <a:ext cx="2980392" cy="942975"/>
            <a:chOff x="1272987" y="6929437"/>
            <a:chExt cx="2980392" cy="942975"/>
          </a:xfrm>
        </p:grpSpPr>
        <p:sp>
          <p:nvSpPr>
            <p:cNvPr id="40" name="圆角矩形 39"/>
            <p:cNvSpPr/>
            <p:nvPr/>
          </p:nvSpPr>
          <p:spPr>
            <a:xfrm>
              <a:off x="1272988" y="6929437"/>
              <a:ext cx="2980391" cy="942975"/>
            </a:xfrm>
            <a:prstGeom prst="roundRect">
              <a:avLst/>
            </a:prstGeom>
            <a:solidFill>
              <a:srgbClr val="FFFF00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72987" y="7166243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商户订单落库映射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922935" y="6341814"/>
            <a:ext cx="2980392" cy="942975"/>
            <a:chOff x="5163840" y="6929437"/>
            <a:chExt cx="2980392" cy="942975"/>
          </a:xfrm>
        </p:grpSpPr>
        <p:sp>
          <p:nvSpPr>
            <p:cNvPr id="38" name="圆角矩形 37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退款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780561" y="6308476"/>
            <a:ext cx="2980391" cy="942975"/>
            <a:chOff x="9021466" y="6896099"/>
            <a:chExt cx="2980391" cy="942975"/>
          </a:xfrm>
        </p:grpSpPr>
        <p:sp>
          <p:nvSpPr>
            <p:cNvPr id="36" name="圆角矩形 35"/>
            <p:cNvSpPr/>
            <p:nvPr/>
          </p:nvSpPr>
          <p:spPr>
            <a:xfrm>
              <a:off x="9021466" y="6896099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21466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退款支付总单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5019310" y="4017714"/>
            <a:ext cx="2980392" cy="942975"/>
            <a:chOff x="14260215" y="4605337"/>
            <a:chExt cx="2980392" cy="942975"/>
          </a:xfrm>
        </p:grpSpPr>
        <p:sp>
          <p:nvSpPr>
            <p:cNvPr id="34" name="圆角矩形 33"/>
            <p:cNvSpPr/>
            <p:nvPr/>
          </p:nvSpPr>
          <p:spPr>
            <a:xfrm>
              <a:off x="14260216" y="46053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260215" y="4810498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收款方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转中间户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5081139" y="8810075"/>
            <a:ext cx="2980393" cy="942975"/>
            <a:chOff x="14260214" y="5943600"/>
            <a:chExt cx="2980393" cy="942975"/>
          </a:xfrm>
        </p:grpSpPr>
        <p:sp>
          <p:nvSpPr>
            <p:cNvPr id="30" name="圆角矩形 29"/>
            <p:cNvSpPr/>
            <p:nvPr/>
          </p:nvSpPr>
          <p:spPr>
            <a:xfrm>
              <a:off x="14260216" y="5943600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260214" y="6158286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渠道退款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032084" y="8810075"/>
            <a:ext cx="2980392" cy="942975"/>
            <a:chOff x="5163840" y="6929437"/>
            <a:chExt cx="2980392" cy="942975"/>
          </a:xfrm>
        </p:grpSpPr>
        <p:sp>
          <p:nvSpPr>
            <p:cNvPr id="26" name="圆角矩形 25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rgbClr val="FFFF00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通知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9053064" y="8810073"/>
            <a:ext cx="2980392" cy="942975"/>
            <a:chOff x="18232140" y="4595811"/>
            <a:chExt cx="2980392" cy="942975"/>
          </a:xfrm>
        </p:grpSpPr>
        <p:sp>
          <p:nvSpPr>
            <p:cNvPr id="22" name="圆角矩形 21"/>
            <p:cNvSpPr/>
            <p:nvPr/>
          </p:nvSpPr>
          <p:spPr>
            <a:xfrm>
              <a:off x="18232141" y="4595811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32140" y="4810498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渠道退款订单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20" name="直接箭头连接符 19"/>
          <p:cNvCxnSpPr>
            <a:endCxn id="23" idx="1"/>
          </p:cNvCxnSpPr>
          <p:nvPr/>
        </p:nvCxnSpPr>
        <p:spPr>
          <a:xfrm flipV="1">
            <a:off x="18061535" y="9281561"/>
            <a:ext cx="991529" cy="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肘形连接符 20"/>
          <p:cNvCxnSpPr>
            <a:stCxn id="38" idx="2"/>
            <a:endCxn id="26" idx="3"/>
          </p:cNvCxnSpPr>
          <p:nvPr/>
        </p:nvCxnSpPr>
        <p:spPr>
          <a:xfrm rot="5400000">
            <a:off x="5214417" y="7082848"/>
            <a:ext cx="1996774" cy="2400656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/>
          <p:cNvSpPr txBox="1"/>
          <p:nvPr/>
        </p:nvSpPr>
        <p:spPr>
          <a:xfrm>
            <a:off x="2032086" y="11076992"/>
            <a:ext cx="19939540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非快速交易下的网银</a:t>
            </a: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/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快捷原路退场景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922934" y="4008186"/>
            <a:ext cx="2980392" cy="942975"/>
            <a:chOff x="5163840" y="6929437"/>
            <a:chExt cx="2980392" cy="942975"/>
          </a:xfrm>
        </p:grpSpPr>
        <p:sp>
          <p:nvSpPr>
            <p:cNvPr id="45" name="圆角矩形 44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原收款交易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7388686" y="4960689"/>
            <a:ext cx="636712" cy="13382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1 : n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51" name="直接连接符 50"/>
          <p:cNvCxnSpPr>
            <a:endCxn id="38" idx="0"/>
          </p:cNvCxnSpPr>
          <p:nvPr/>
        </p:nvCxnSpPr>
        <p:spPr>
          <a:xfrm>
            <a:off x="7413129" y="4960689"/>
            <a:ext cx="3" cy="1381125"/>
          </a:xfrm>
          <a:prstGeom prst="line">
            <a:avLst/>
          </a:prstGeom>
          <a:noFill/>
          <a:ln w="25400" cap="flat">
            <a:solidFill>
              <a:schemeClr val="bg1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TextBox 53"/>
          <p:cNvSpPr txBox="1"/>
          <p:nvPr/>
        </p:nvSpPr>
        <p:spPr>
          <a:xfrm>
            <a:off x="14898491" y="3008913"/>
            <a:ext cx="3222035" cy="5136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因支付方式和渠道而异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053065" y="6502745"/>
            <a:ext cx="2980392" cy="942975"/>
            <a:chOff x="5163840" y="6929437"/>
            <a:chExt cx="2980392" cy="942975"/>
          </a:xfrm>
        </p:grpSpPr>
        <p:sp>
          <p:nvSpPr>
            <p:cNvPr id="56" name="圆角矩形 55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原收款交易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20518817" y="7455248"/>
            <a:ext cx="636712" cy="13382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1 : n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20543260" y="7455248"/>
            <a:ext cx="3" cy="1381125"/>
          </a:xfrm>
          <a:prstGeom prst="line">
            <a:avLst/>
          </a:prstGeom>
          <a:noFill/>
          <a:ln w="25400" cap="flat">
            <a:solidFill>
              <a:schemeClr val="bg1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直接箭头连接符 59"/>
          <p:cNvCxnSpPr/>
          <p:nvPr/>
        </p:nvCxnSpPr>
        <p:spPr>
          <a:xfrm>
            <a:off x="13965425" y="9335034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703939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10520829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退款订单渠道决定因素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4591400" y="3395085"/>
            <a:ext cx="2980392" cy="942975"/>
            <a:chOff x="5163840" y="6929437"/>
            <a:chExt cx="2980392" cy="942975"/>
          </a:xfrm>
        </p:grpSpPr>
        <p:sp>
          <p:nvSpPr>
            <p:cNvPr id="53" name="圆角矩形 52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转账至付款方余额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9" name="直接箭头连接符 8"/>
          <p:cNvCxnSpPr>
            <a:endCxn id="53" idx="1"/>
          </p:cNvCxnSpPr>
          <p:nvPr/>
        </p:nvCxnSpPr>
        <p:spPr>
          <a:xfrm>
            <a:off x="5355771" y="3866572"/>
            <a:ext cx="9235630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/>
          <p:cNvSpPr txBox="1"/>
          <p:nvPr/>
        </p:nvSpPr>
        <p:spPr>
          <a:xfrm>
            <a:off x="5355771" y="3363686"/>
            <a:ext cx="9195405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支付方式：余额支付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355771" y="5673429"/>
            <a:ext cx="3872644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TextBox 55"/>
          <p:cNvSpPr txBox="1"/>
          <p:nvPr/>
        </p:nvSpPr>
        <p:spPr>
          <a:xfrm>
            <a:off x="5355771" y="5101897"/>
            <a:ext cx="3872643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支付方式：银行账户支付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9318671" y="5693975"/>
            <a:ext cx="523250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8" name="TextBox 57"/>
          <p:cNvSpPr txBox="1"/>
          <p:nvPr/>
        </p:nvSpPr>
        <p:spPr>
          <a:xfrm>
            <a:off x="9340520" y="5095841"/>
            <a:ext cx="5210656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渠道支持退款</a:t>
            </a:r>
            <a:r>
              <a:rPr kumimoji="0" lang="en-US" altLang="zh-CN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/</a:t>
            </a: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渠道原单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未超期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4551177" y="5085568"/>
            <a:ext cx="2980392" cy="942975"/>
            <a:chOff x="5163840" y="6929437"/>
            <a:chExt cx="2980392" cy="942975"/>
          </a:xfrm>
        </p:grpSpPr>
        <p:sp>
          <p:nvSpPr>
            <p:cNvPr id="67" name="圆角矩形 6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退款至付款银行账户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74" name="直接箭头连接符 73"/>
          <p:cNvCxnSpPr>
            <a:endCxn id="78" idx="1"/>
          </p:cNvCxnSpPr>
          <p:nvPr/>
        </p:nvCxnSpPr>
        <p:spPr>
          <a:xfrm>
            <a:off x="9401769" y="7409359"/>
            <a:ext cx="514940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5" name="TextBox 74"/>
          <p:cNvSpPr txBox="1"/>
          <p:nvPr/>
        </p:nvSpPr>
        <p:spPr>
          <a:xfrm>
            <a:off x="9415426" y="6837426"/>
            <a:ext cx="5135749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有付款银行账户（如快捷、代扣）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4551176" y="6937871"/>
            <a:ext cx="2980392" cy="942975"/>
            <a:chOff x="5163840" y="6929437"/>
            <a:chExt cx="2980392" cy="942975"/>
          </a:xfrm>
        </p:grpSpPr>
        <p:sp>
          <p:nvSpPr>
            <p:cNvPr id="77" name="圆角矩形 7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代付至付款银行账户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8494878" y="6186485"/>
            <a:ext cx="452046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否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7793224" y="11114977"/>
            <a:ext cx="2980392" cy="942975"/>
            <a:chOff x="5163840" y="6929437"/>
            <a:chExt cx="2980392" cy="942975"/>
          </a:xfrm>
        </p:grpSpPr>
        <p:sp>
          <p:nvSpPr>
            <p:cNvPr id="82" name="圆角矩形 81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FF000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线下退款处理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4551175" y="8746536"/>
            <a:ext cx="2980392" cy="942975"/>
            <a:chOff x="5163840" y="6929437"/>
            <a:chExt cx="2980392" cy="942975"/>
          </a:xfrm>
        </p:grpSpPr>
        <p:sp>
          <p:nvSpPr>
            <p:cNvPr id="87" name="圆角矩形 8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转账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至付款方余额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93" name="直接箭头连接符 92"/>
          <p:cNvCxnSpPr/>
          <p:nvPr/>
        </p:nvCxnSpPr>
        <p:spPr>
          <a:xfrm>
            <a:off x="9415426" y="9256988"/>
            <a:ext cx="517597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TextBox 93"/>
          <p:cNvSpPr txBox="1"/>
          <p:nvPr/>
        </p:nvSpPr>
        <p:spPr>
          <a:xfrm>
            <a:off x="9415427" y="8677152"/>
            <a:ext cx="5135748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用户已登录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525508" y="10055280"/>
            <a:ext cx="452046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否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106" name="直接箭头连接符 105"/>
          <p:cNvCxnSpPr/>
          <p:nvPr/>
        </p:nvCxnSpPr>
        <p:spPr>
          <a:xfrm>
            <a:off x="9275206" y="7507329"/>
            <a:ext cx="0" cy="171069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7" name="TextBox 106"/>
          <p:cNvSpPr txBox="1"/>
          <p:nvPr/>
        </p:nvSpPr>
        <p:spPr>
          <a:xfrm>
            <a:off x="8517694" y="8105874"/>
            <a:ext cx="452046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否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145" name="直接箭头连接符 144"/>
          <p:cNvCxnSpPr/>
          <p:nvPr/>
        </p:nvCxnSpPr>
        <p:spPr>
          <a:xfrm>
            <a:off x="9283420" y="5719315"/>
            <a:ext cx="0" cy="171069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直接箭头连接符 145"/>
          <p:cNvCxnSpPr/>
          <p:nvPr/>
        </p:nvCxnSpPr>
        <p:spPr>
          <a:xfrm>
            <a:off x="9275206" y="9370423"/>
            <a:ext cx="0" cy="171069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211372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75" grpId="0"/>
      <p:bldP spid="80" grpId="0"/>
      <p:bldP spid="94" grpId="0"/>
      <p:bldP spid="96" grpId="0"/>
      <p:bldP spid="1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8212505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收款类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退款订单状态图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207182" y="3551850"/>
            <a:ext cx="17667944" cy="7718932"/>
            <a:chOff x="3207182" y="3551850"/>
            <a:chExt cx="17667944" cy="7718932"/>
          </a:xfrm>
        </p:grpSpPr>
        <p:grpSp>
          <p:nvGrpSpPr>
            <p:cNvPr id="3" name="组合 2"/>
            <p:cNvGrpSpPr/>
            <p:nvPr/>
          </p:nvGrpSpPr>
          <p:grpSpPr>
            <a:xfrm>
              <a:off x="3207182" y="6879635"/>
              <a:ext cx="2980392" cy="942975"/>
              <a:chOff x="5163840" y="6929437"/>
              <a:chExt cx="2980392" cy="94297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未支付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103032" y="6879635"/>
              <a:ext cx="2980392" cy="942975"/>
              <a:chOff x="5163840" y="6929437"/>
              <a:chExt cx="2980392" cy="94297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退款中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10" name="直接箭头连接符 9"/>
            <p:cNvCxnSpPr>
              <a:stCxn id="5" idx="3"/>
            </p:cNvCxnSpPr>
            <p:nvPr/>
          </p:nvCxnSpPr>
          <p:spPr>
            <a:xfrm flipV="1">
              <a:off x="6187573" y="7351122"/>
              <a:ext cx="1915460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3" name="组合 12"/>
            <p:cNvGrpSpPr/>
            <p:nvPr/>
          </p:nvGrpSpPr>
          <p:grpSpPr>
            <a:xfrm>
              <a:off x="12998883" y="6879634"/>
              <a:ext cx="2980392" cy="942975"/>
              <a:chOff x="5163840" y="6929437"/>
              <a:chExt cx="2980392" cy="94297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退款成功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16" name="直接箭头连接符 15"/>
            <p:cNvCxnSpPr/>
            <p:nvPr/>
          </p:nvCxnSpPr>
          <p:spPr>
            <a:xfrm flipV="1">
              <a:off x="11083423" y="7374934"/>
              <a:ext cx="1915460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7" name="组合 16"/>
            <p:cNvGrpSpPr/>
            <p:nvPr/>
          </p:nvGrpSpPr>
          <p:grpSpPr>
            <a:xfrm>
              <a:off x="17894734" y="6912222"/>
              <a:ext cx="2980392" cy="942975"/>
              <a:chOff x="5163840" y="6929437"/>
              <a:chExt cx="2980392" cy="942975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bg1">
                    <a:lumMod val="75000"/>
                  </a:schemeClr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 smtClean="0">
                    <a:solidFill>
                      <a:schemeClr val="bg1">
                        <a:lumMod val="7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资金状态：到</a:t>
                </a:r>
                <a:r>
                  <a:rPr lang="zh-CN" altLang="en-US" sz="2400" dirty="0">
                    <a:solidFill>
                      <a:schemeClr val="bg1">
                        <a:lumMod val="7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账</a:t>
                </a: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成功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20" name="直接箭头连接符 19"/>
            <p:cNvCxnSpPr/>
            <p:nvPr/>
          </p:nvCxnSpPr>
          <p:spPr>
            <a:xfrm flipV="1">
              <a:off x="15979274" y="7383709"/>
              <a:ext cx="1915460" cy="1"/>
            </a:xfrm>
            <a:prstGeom prst="straightConnector1">
              <a:avLst/>
            </a:prstGeom>
            <a:noFill/>
            <a:ln w="25400" cap="flat">
              <a:solidFill>
                <a:schemeClr val="bg1">
                  <a:lumMod val="75000"/>
                </a:schemeClr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21" name="组合 20"/>
            <p:cNvGrpSpPr/>
            <p:nvPr/>
          </p:nvGrpSpPr>
          <p:grpSpPr>
            <a:xfrm>
              <a:off x="12998882" y="10327807"/>
              <a:ext cx="2980392" cy="942975"/>
              <a:chOff x="5163840" y="6929437"/>
              <a:chExt cx="2980392" cy="942975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退款失败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27" name="肘形连接符 26"/>
            <p:cNvCxnSpPr>
              <a:stCxn id="8" idx="3"/>
            </p:cNvCxnSpPr>
            <p:nvPr/>
          </p:nvCxnSpPr>
          <p:spPr>
            <a:xfrm>
              <a:off x="11083423" y="7351123"/>
              <a:ext cx="1915461" cy="300013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8" name="椭圆 27"/>
            <p:cNvSpPr/>
            <p:nvPr/>
          </p:nvSpPr>
          <p:spPr>
            <a:xfrm>
              <a:off x="4226462" y="4494825"/>
              <a:ext cx="941832" cy="941832"/>
            </a:xfrm>
            <a:prstGeom prst="ellipse">
              <a:avLst/>
            </a:prstGeom>
            <a:solidFill>
              <a:schemeClr val="tx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8123058" y="8822630"/>
              <a:ext cx="941832" cy="941832"/>
              <a:chOff x="21388100" y="9830453"/>
              <a:chExt cx="941832" cy="941832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21388100" y="9830453"/>
                <a:ext cx="941832" cy="941832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21538976" y="9981329"/>
                <a:ext cx="640080" cy="640080"/>
              </a:xfrm>
              <a:prstGeom prst="ellipse">
                <a:avLst/>
              </a:prstGeom>
              <a:solidFill>
                <a:schemeClr val="tx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cxnSp>
          <p:nvCxnSpPr>
            <p:cNvPr id="11" name="直接箭头连接符 10"/>
            <p:cNvCxnSpPr>
              <a:stCxn id="28" idx="4"/>
              <a:endCxn id="4" idx="0"/>
            </p:cNvCxnSpPr>
            <p:nvPr/>
          </p:nvCxnSpPr>
          <p:spPr>
            <a:xfrm>
              <a:off x="4697378" y="5436657"/>
              <a:ext cx="1" cy="1442978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直接箭头连接符 23"/>
            <p:cNvCxnSpPr>
              <a:stCxn id="23" idx="3"/>
              <a:endCxn id="30" idx="3"/>
            </p:cNvCxnSpPr>
            <p:nvPr/>
          </p:nvCxnSpPr>
          <p:spPr>
            <a:xfrm flipV="1">
              <a:off x="15979273" y="9626534"/>
              <a:ext cx="2281713" cy="117276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2" name="直接箭头连接符 31"/>
            <p:cNvCxnSpPr>
              <a:stCxn id="14" idx="3"/>
              <a:endCxn id="30" idx="1"/>
            </p:cNvCxnSpPr>
            <p:nvPr/>
          </p:nvCxnSpPr>
          <p:spPr>
            <a:xfrm>
              <a:off x="15979275" y="7351122"/>
              <a:ext cx="2281711" cy="1609436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右大括号 33"/>
            <p:cNvSpPr/>
            <p:nvPr/>
          </p:nvSpPr>
          <p:spPr>
            <a:xfrm rot="5400000">
              <a:off x="9072217" y="4399692"/>
              <a:ext cx="1042024" cy="3521966"/>
            </a:xfrm>
            <a:prstGeom prst="rightBrace">
              <a:avLst/>
            </a:prstGeom>
            <a:noFill/>
            <a:ln w="25400" cap="flat">
              <a:solidFill>
                <a:schemeClr val="bg1">
                  <a:lumMod val="75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103031" y="3551850"/>
              <a:ext cx="2980392" cy="942975"/>
              <a:chOff x="5163840" y="6929437"/>
              <a:chExt cx="2980392" cy="942975"/>
            </a:xfrm>
          </p:grpSpPr>
          <p:sp>
            <p:nvSpPr>
              <p:cNvPr id="36" name="圆角矩形 35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bg1">
                    <a:lumMod val="75000"/>
                  </a:schemeClr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 smtClean="0">
                    <a:solidFill>
                      <a:schemeClr val="bg1">
                        <a:lumMod val="7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支付已收单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8103033" y="4735442"/>
              <a:ext cx="2980392" cy="942975"/>
              <a:chOff x="5163840" y="6929437"/>
              <a:chExt cx="2980392" cy="942975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bg1">
                    <a:lumMod val="75000"/>
                  </a:schemeClr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>
                    <a:solidFill>
                      <a:schemeClr val="bg1">
                        <a:lumMod val="7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渠道</a:t>
                </a:r>
                <a:r>
                  <a:rPr lang="zh-CN" altLang="en-US" sz="2400" dirty="0" smtClean="0">
                    <a:solidFill>
                      <a:schemeClr val="bg1">
                        <a:lumMod val="7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已收单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 rot="3465884">
              <a:off x="10184186" y="8927139"/>
              <a:ext cx="3405653" cy="519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支付或渠道处理失败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739234" y="6903738"/>
              <a:ext cx="261257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处理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cxnSp>
          <p:nvCxnSpPr>
            <p:cNvPr id="54" name="肘形连接符 53"/>
            <p:cNvCxnSpPr>
              <a:stCxn id="4" idx="2"/>
              <a:endCxn id="22" idx="1"/>
            </p:cNvCxnSpPr>
            <p:nvPr/>
          </p:nvCxnSpPr>
          <p:spPr>
            <a:xfrm rot="16200000" flipH="1">
              <a:off x="7359789" y="5160200"/>
              <a:ext cx="2976685" cy="8301504"/>
            </a:xfrm>
            <a:prstGeom prst="bentConnector2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5" name="TextBox 54"/>
            <p:cNvSpPr txBox="1"/>
            <p:nvPr/>
          </p:nvSpPr>
          <p:spPr>
            <a:xfrm>
              <a:off x="4697379" y="9679112"/>
              <a:ext cx="6041855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拒单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950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4430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付款类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交易订单设计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3903597" y="2671676"/>
            <a:ext cx="0" cy="6570295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直接箭头连接符 4"/>
          <p:cNvCxnSpPr>
            <a:stCxn id="33" idx="3"/>
            <a:endCxn id="31" idx="1"/>
          </p:cNvCxnSpPr>
          <p:nvPr/>
        </p:nvCxnSpPr>
        <p:spPr>
          <a:xfrm>
            <a:off x="5012476" y="5872076"/>
            <a:ext cx="910462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直接箭头连接符 5"/>
          <p:cNvCxnSpPr>
            <a:stCxn id="31" idx="3"/>
          </p:cNvCxnSpPr>
          <p:nvPr/>
        </p:nvCxnSpPr>
        <p:spPr>
          <a:xfrm>
            <a:off x="8903329" y="5872076"/>
            <a:ext cx="877234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直接箭头连接符 6"/>
          <p:cNvCxnSpPr>
            <a:stCxn id="29" idx="3"/>
          </p:cNvCxnSpPr>
          <p:nvPr/>
        </p:nvCxnSpPr>
        <p:spPr>
          <a:xfrm>
            <a:off x="12760954" y="5838738"/>
            <a:ext cx="1142643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直接箭头连接符 7"/>
          <p:cNvCxnSpPr/>
          <p:nvPr/>
        </p:nvCxnSpPr>
        <p:spPr>
          <a:xfrm>
            <a:off x="13903597" y="3547975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0" name="组合 9"/>
          <p:cNvGrpSpPr/>
          <p:nvPr/>
        </p:nvGrpSpPr>
        <p:grpSpPr>
          <a:xfrm>
            <a:off x="2032084" y="5400588"/>
            <a:ext cx="2980392" cy="942975"/>
            <a:chOff x="1272987" y="6929437"/>
            <a:chExt cx="2980392" cy="942975"/>
          </a:xfrm>
        </p:grpSpPr>
        <p:sp>
          <p:nvSpPr>
            <p:cNvPr id="33" name="圆角矩形 32"/>
            <p:cNvSpPr/>
            <p:nvPr/>
          </p:nvSpPr>
          <p:spPr>
            <a:xfrm>
              <a:off x="1272988" y="6929437"/>
              <a:ext cx="2980391" cy="942975"/>
            </a:xfrm>
            <a:prstGeom prst="roundRect">
              <a:avLst/>
            </a:prstGeom>
            <a:solidFill>
              <a:srgbClr val="FFFF00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72987" y="7166243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商户订单落库映射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922937" y="5400588"/>
            <a:ext cx="2980392" cy="942975"/>
            <a:chOff x="5163840" y="6929437"/>
            <a:chExt cx="2980392" cy="942975"/>
          </a:xfrm>
        </p:grpSpPr>
        <p:sp>
          <p:nvSpPr>
            <p:cNvPr id="31" name="圆角矩形 3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交易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780563" y="5367250"/>
            <a:ext cx="2980391" cy="942975"/>
            <a:chOff x="9021466" y="6896099"/>
            <a:chExt cx="2980391" cy="942975"/>
          </a:xfrm>
        </p:grpSpPr>
        <p:sp>
          <p:nvSpPr>
            <p:cNvPr id="29" name="圆角矩形 28"/>
            <p:cNvSpPr/>
            <p:nvPr/>
          </p:nvSpPr>
          <p:spPr>
            <a:xfrm>
              <a:off x="9021466" y="6896099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021466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支付总单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5019312" y="3076488"/>
            <a:ext cx="2980392" cy="942975"/>
            <a:chOff x="14260215" y="4605337"/>
            <a:chExt cx="2980392" cy="942975"/>
          </a:xfrm>
        </p:grpSpPr>
        <p:sp>
          <p:nvSpPr>
            <p:cNvPr id="27" name="圆角矩形 26"/>
            <p:cNvSpPr/>
            <p:nvPr/>
          </p:nvSpPr>
          <p:spPr>
            <a:xfrm>
              <a:off x="14260216" y="46053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4260215" y="4810498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付款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方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转至中间账户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32086" y="7868849"/>
            <a:ext cx="2980392" cy="942975"/>
            <a:chOff x="5163840" y="6929437"/>
            <a:chExt cx="2980392" cy="942975"/>
          </a:xfrm>
        </p:grpSpPr>
        <p:sp>
          <p:nvSpPr>
            <p:cNvPr id="21" name="圆角矩形 2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rgbClr val="FFFF00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通知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019313" y="7898870"/>
            <a:ext cx="2980393" cy="942975"/>
            <a:chOff x="14260214" y="5943600"/>
            <a:chExt cx="2980393" cy="942975"/>
          </a:xfrm>
        </p:grpSpPr>
        <p:sp>
          <p:nvSpPr>
            <p:cNvPr id="19" name="圆角矩形 18"/>
            <p:cNvSpPr/>
            <p:nvPr/>
          </p:nvSpPr>
          <p:spPr>
            <a:xfrm>
              <a:off x="14260216" y="5943600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260214" y="5973620"/>
              <a:ext cx="2980391" cy="882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中间账户至收款方银行账户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18" name="肘形连接符 17"/>
          <p:cNvCxnSpPr>
            <a:stCxn id="31" idx="2"/>
            <a:endCxn id="21" idx="3"/>
          </p:cNvCxnSpPr>
          <p:nvPr/>
        </p:nvCxnSpPr>
        <p:spPr>
          <a:xfrm rot="5400000">
            <a:off x="5214419" y="6141622"/>
            <a:ext cx="1996774" cy="2400656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5" name="组合 34"/>
          <p:cNvGrpSpPr/>
          <p:nvPr/>
        </p:nvGrpSpPr>
        <p:grpSpPr>
          <a:xfrm>
            <a:off x="19507739" y="7898870"/>
            <a:ext cx="2980393" cy="942975"/>
            <a:chOff x="14260214" y="5943600"/>
            <a:chExt cx="2980393" cy="942975"/>
          </a:xfrm>
        </p:grpSpPr>
        <p:sp>
          <p:nvSpPr>
            <p:cNvPr id="36" name="圆角矩形 35"/>
            <p:cNvSpPr/>
            <p:nvPr/>
          </p:nvSpPr>
          <p:spPr>
            <a:xfrm>
              <a:off x="14260216" y="5943600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260214" y="6158286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渠道付款订单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39" name="直接箭头连接符 38"/>
          <p:cNvCxnSpPr>
            <a:stCxn id="19" idx="3"/>
            <a:endCxn id="36" idx="1"/>
          </p:cNvCxnSpPr>
          <p:nvPr/>
        </p:nvCxnSpPr>
        <p:spPr>
          <a:xfrm>
            <a:off x="17999706" y="8370358"/>
            <a:ext cx="150803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直接箭头连接符 39"/>
          <p:cNvCxnSpPr/>
          <p:nvPr/>
        </p:nvCxnSpPr>
        <p:spPr>
          <a:xfrm>
            <a:off x="13903599" y="8370358"/>
            <a:ext cx="111571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592615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898194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付款</a:t>
            </a:r>
            <a:r>
              <a:rPr lang="zh-CN" altLang="en-US" sz="6000" dirty="0" smtClean="0">
                <a:solidFill>
                  <a:srgbClr val="0070D7"/>
                </a:solidFill>
              </a:rPr>
              <a:t>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交易订单主要数据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3203" y="2938317"/>
            <a:ext cx="9961651" cy="78386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单号（商户单号 </a:t>
            </a: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+ 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我方单号）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收款方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信息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（支付账户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银行账户）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付款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信息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交易金额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交易状态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支付方式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附言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控信息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防篡改信息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时间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87330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8212505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付款类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交易订单状态图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7182" y="6879635"/>
            <a:ext cx="2980392" cy="942975"/>
            <a:chOff x="5163840" y="6929437"/>
            <a:chExt cx="2980392" cy="942975"/>
          </a:xfrm>
        </p:grpSpPr>
        <p:sp>
          <p:nvSpPr>
            <p:cNvPr id="4" name="圆角矩形 3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未支付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103032" y="6879635"/>
            <a:ext cx="2980392" cy="942975"/>
            <a:chOff x="5163840" y="6929437"/>
            <a:chExt cx="2980392" cy="942975"/>
          </a:xfrm>
        </p:grpSpPr>
        <p:sp>
          <p:nvSpPr>
            <p:cNvPr id="7" name="圆角矩形 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付款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中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9" name="直接箭头连接符 8"/>
          <p:cNvCxnSpPr>
            <a:stCxn id="5" idx="3"/>
          </p:cNvCxnSpPr>
          <p:nvPr/>
        </p:nvCxnSpPr>
        <p:spPr>
          <a:xfrm flipV="1">
            <a:off x="6187573" y="7351122"/>
            <a:ext cx="1915460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0" name="组合 9"/>
          <p:cNvGrpSpPr/>
          <p:nvPr/>
        </p:nvGrpSpPr>
        <p:grpSpPr>
          <a:xfrm>
            <a:off x="12998883" y="6879634"/>
            <a:ext cx="2980392" cy="942975"/>
            <a:chOff x="5163840" y="6929437"/>
            <a:chExt cx="2980392" cy="942975"/>
          </a:xfrm>
        </p:grpSpPr>
        <p:sp>
          <p:nvSpPr>
            <p:cNvPr id="11" name="圆角矩形 1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付款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>
          <a:xfrm flipV="1">
            <a:off x="11083423" y="7374934"/>
            <a:ext cx="1915460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4" name="组合 13"/>
          <p:cNvGrpSpPr/>
          <p:nvPr/>
        </p:nvGrpSpPr>
        <p:grpSpPr>
          <a:xfrm>
            <a:off x="17894734" y="6912222"/>
            <a:ext cx="2980392" cy="942975"/>
            <a:chOff x="5163840" y="6929437"/>
            <a:chExt cx="2980392" cy="942975"/>
          </a:xfrm>
        </p:grpSpPr>
        <p:sp>
          <p:nvSpPr>
            <p:cNvPr id="15" name="圆角矩形 14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资金状态：到</a:t>
              </a:r>
              <a:r>
                <a:rPr lang="zh-CN" altLang="en-US" sz="2400" dirty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账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 flipV="1">
            <a:off x="15979274" y="7383709"/>
            <a:ext cx="1915460" cy="1"/>
          </a:xfrm>
          <a:prstGeom prst="straightConnector1">
            <a:avLst/>
          </a:prstGeom>
          <a:noFill/>
          <a:ln w="25400" cap="flat">
            <a:solidFill>
              <a:schemeClr val="bg1">
                <a:lumMod val="75000"/>
              </a:schemeClr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8" name="组合 17"/>
          <p:cNvGrpSpPr/>
          <p:nvPr/>
        </p:nvGrpSpPr>
        <p:grpSpPr>
          <a:xfrm>
            <a:off x="12998882" y="9403759"/>
            <a:ext cx="2980392" cy="942975"/>
            <a:chOff x="5163840" y="6929437"/>
            <a:chExt cx="2980392" cy="942975"/>
          </a:xfrm>
        </p:grpSpPr>
        <p:sp>
          <p:nvSpPr>
            <p:cNvPr id="19" name="圆角矩形 18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付款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失败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21" name="肘形连接符 20"/>
          <p:cNvCxnSpPr>
            <a:stCxn id="7" idx="2"/>
          </p:cNvCxnSpPr>
          <p:nvPr/>
        </p:nvCxnSpPr>
        <p:spPr>
          <a:xfrm rot="16200000" flipH="1">
            <a:off x="10427212" y="6988626"/>
            <a:ext cx="1737687" cy="340565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椭圆 21"/>
          <p:cNvSpPr/>
          <p:nvPr/>
        </p:nvSpPr>
        <p:spPr>
          <a:xfrm>
            <a:off x="4226462" y="4494825"/>
            <a:ext cx="941832" cy="94183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7972182" y="9409421"/>
            <a:ext cx="941832" cy="941832"/>
            <a:chOff x="21388100" y="9830453"/>
            <a:chExt cx="941832" cy="941832"/>
          </a:xfrm>
        </p:grpSpPr>
        <p:sp>
          <p:nvSpPr>
            <p:cNvPr id="24" name="椭圆 23"/>
            <p:cNvSpPr/>
            <p:nvPr/>
          </p:nvSpPr>
          <p:spPr>
            <a:xfrm>
              <a:off x="21388100" y="9830453"/>
              <a:ext cx="941832" cy="941832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21538976" y="9981329"/>
              <a:ext cx="640080" cy="640080"/>
            </a:xfrm>
            <a:prstGeom prst="ellipse">
              <a:avLst/>
            </a:prstGeom>
            <a:solidFill>
              <a:schemeClr val="tx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26" name="直接箭头连接符 25"/>
          <p:cNvCxnSpPr>
            <a:stCxn id="22" idx="4"/>
            <a:endCxn id="4" idx="0"/>
          </p:cNvCxnSpPr>
          <p:nvPr/>
        </p:nvCxnSpPr>
        <p:spPr>
          <a:xfrm>
            <a:off x="4697378" y="5436657"/>
            <a:ext cx="1" cy="144297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直接箭头连接符 26"/>
          <p:cNvCxnSpPr>
            <a:stCxn id="20" idx="3"/>
            <a:endCxn id="24" idx="2"/>
          </p:cNvCxnSpPr>
          <p:nvPr/>
        </p:nvCxnSpPr>
        <p:spPr>
          <a:xfrm>
            <a:off x="15979273" y="9875247"/>
            <a:ext cx="1992909" cy="509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直接箭头连接符 27"/>
          <p:cNvCxnSpPr>
            <a:stCxn id="11" idx="3"/>
          </p:cNvCxnSpPr>
          <p:nvPr/>
        </p:nvCxnSpPr>
        <p:spPr>
          <a:xfrm>
            <a:off x="15979275" y="7351122"/>
            <a:ext cx="2143783" cy="205263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右大括号 28"/>
          <p:cNvSpPr/>
          <p:nvPr/>
        </p:nvSpPr>
        <p:spPr>
          <a:xfrm rot="5400000">
            <a:off x="9072217" y="4399692"/>
            <a:ext cx="1042024" cy="3521966"/>
          </a:xfrm>
          <a:prstGeom prst="rightBrace">
            <a:avLst/>
          </a:prstGeom>
          <a:noFill/>
          <a:ln w="25400" cap="flat">
            <a:solidFill>
              <a:schemeClr val="bg1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103031" y="3551850"/>
            <a:ext cx="2980392" cy="942975"/>
            <a:chOff x="5163840" y="6929437"/>
            <a:chExt cx="2980392" cy="942975"/>
          </a:xfrm>
        </p:grpSpPr>
        <p:sp>
          <p:nvSpPr>
            <p:cNvPr id="31" name="圆角矩形 3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支付已收单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103033" y="4735442"/>
            <a:ext cx="2980392" cy="942975"/>
            <a:chOff x="5163840" y="6929437"/>
            <a:chExt cx="2980392" cy="942975"/>
          </a:xfrm>
        </p:grpSpPr>
        <p:sp>
          <p:nvSpPr>
            <p:cNvPr id="34" name="圆角矩形 33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渠道已收单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9593229" y="9049795"/>
            <a:ext cx="3405653" cy="5192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支付或渠道处理失败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39234" y="6903738"/>
            <a:ext cx="2612571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成功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38" name="肘形连接符 37"/>
          <p:cNvCxnSpPr>
            <a:stCxn id="4" idx="2"/>
          </p:cNvCxnSpPr>
          <p:nvPr/>
        </p:nvCxnSpPr>
        <p:spPr>
          <a:xfrm rot="16200000" flipH="1">
            <a:off x="7659247" y="4860741"/>
            <a:ext cx="2377767" cy="830150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TextBox 38"/>
          <p:cNvSpPr txBox="1"/>
          <p:nvPr/>
        </p:nvSpPr>
        <p:spPr>
          <a:xfrm>
            <a:off x="4697379" y="9679112"/>
            <a:ext cx="6041855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拒单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7894735" y="4965169"/>
            <a:ext cx="2980392" cy="942975"/>
            <a:chOff x="5163840" y="6929437"/>
            <a:chExt cx="2980392" cy="942975"/>
          </a:xfrm>
        </p:grpSpPr>
        <p:sp>
          <p:nvSpPr>
            <p:cNvPr id="41" name="圆角矩形 4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bg1">
                  <a:lumMod val="75000"/>
                </a:schemeClr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资金状态：退汇</a:t>
              </a: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43" name="直接箭头连接符 42"/>
          <p:cNvCxnSpPr>
            <a:endCxn id="42" idx="1"/>
          </p:cNvCxnSpPr>
          <p:nvPr/>
        </p:nvCxnSpPr>
        <p:spPr>
          <a:xfrm flipV="1">
            <a:off x="15979273" y="5436657"/>
            <a:ext cx="1915462" cy="2010123"/>
          </a:xfrm>
          <a:prstGeom prst="straightConnector1">
            <a:avLst/>
          </a:prstGeom>
          <a:noFill/>
          <a:ln w="25400" cap="flat">
            <a:solidFill>
              <a:schemeClr val="bg1">
                <a:lumMod val="75000"/>
              </a:schemeClr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287786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4430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付款类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退汇订单设计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cxnSp>
        <p:nvCxnSpPr>
          <p:cNvPr id="5" name="直接箭头连接符 4"/>
          <p:cNvCxnSpPr>
            <a:stCxn id="12" idx="3"/>
            <a:endCxn id="15" idx="1"/>
          </p:cNvCxnSpPr>
          <p:nvPr/>
        </p:nvCxnSpPr>
        <p:spPr>
          <a:xfrm>
            <a:off x="9140517" y="5980207"/>
            <a:ext cx="1220135" cy="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" name="组合 10"/>
          <p:cNvGrpSpPr/>
          <p:nvPr/>
        </p:nvGrpSpPr>
        <p:grpSpPr>
          <a:xfrm>
            <a:off x="6160125" y="5508719"/>
            <a:ext cx="2980392" cy="942975"/>
            <a:chOff x="5163840" y="6929437"/>
            <a:chExt cx="2980392" cy="942975"/>
          </a:xfrm>
        </p:grpSpPr>
        <p:sp>
          <p:nvSpPr>
            <p:cNvPr id="12" name="圆角矩形 11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退汇订单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360652" y="5508722"/>
            <a:ext cx="2980391" cy="942975"/>
            <a:chOff x="9021466" y="6896099"/>
            <a:chExt cx="2980391" cy="942975"/>
          </a:xfrm>
        </p:grpSpPr>
        <p:sp>
          <p:nvSpPr>
            <p:cNvPr id="15" name="圆角矩形 14"/>
            <p:cNvSpPr/>
            <p:nvPr/>
          </p:nvSpPr>
          <p:spPr>
            <a:xfrm>
              <a:off x="9021466" y="6896099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21466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退汇支付总单子单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4743016" y="5537296"/>
            <a:ext cx="2980393" cy="942975"/>
            <a:chOff x="14260214" y="5943600"/>
            <a:chExt cx="2980393" cy="942975"/>
          </a:xfrm>
        </p:grpSpPr>
        <p:sp>
          <p:nvSpPr>
            <p:cNvPr id="28" name="圆角矩形 27"/>
            <p:cNvSpPr/>
            <p:nvPr/>
          </p:nvSpPr>
          <p:spPr>
            <a:xfrm>
              <a:off x="14260216" y="5943600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rgbClr val="00B0F0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260214" y="6158286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渠道退汇订单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30" name="直接箭头连接符 29"/>
          <p:cNvCxnSpPr>
            <a:stCxn id="16" idx="3"/>
            <a:endCxn id="28" idx="1"/>
          </p:cNvCxnSpPr>
          <p:nvPr/>
        </p:nvCxnSpPr>
        <p:spPr>
          <a:xfrm flipV="1">
            <a:off x="13341043" y="6008784"/>
            <a:ext cx="1401975" cy="476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4" name="组合 73"/>
          <p:cNvGrpSpPr/>
          <p:nvPr/>
        </p:nvGrpSpPr>
        <p:grpSpPr>
          <a:xfrm>
            <a:off x="5490661" y="8408253"/>
            <a:ext cx="13056700" cy="2181232"/>
            <a:chOff x="5490661" y="8408253"/>
            <a:chExt cx="13056700" cy="2181232"/>
          </a:xfrm>
        </p:grpSpPr>
        <p:grpSp>
          <p:nvGrpSpPr>
            <p:cNvPr id="22" name="组合 21"/>
            <p:cNvGrpSpPr/>
            <p:nvPr/>
          </p:nvGrpSpPr>
          <p:grpSpPr>
            <a:xfrm>
              <a:off x="7926019" y="9646168"/>
              <a:ext cx="2980392" cy="942975"/>
              <a:chOff x="5163840" y="6929437"/>
              <a:chExt cx="2980392" cy="942975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退</a:t>
                </a:r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汇未到账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33" name="直接箭头连接符 32"/>
            <p:cNvCxnSpPr/>
            <p:nvPr/>
          </p:nvCxnSpPr>
          <p:spPr>
            <a:xfrm flipV="1">
              <a:off x="6010560" y="10117655"/>
              <a:ext cx="1915460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38" name="组合 37"/>
            <p:cNvGrpSpPr/>
            <p:nvPr/>
          </p:nvGrpSpPr>
          <p:grpSpPr>
            <a:xfrm>
              <a:off x="13075808" y="9646510"/>
              <a:ext cx="2980392" cy="942975"/>
              <a:chOff x="5163840" y="6929437"/>
              <a:chExt cx="2980392" cy="942975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5163841" y="6929437"/>
                <a:ext cx="2980391" cy="942975"/>
              </a:xfrm>
              <a:prstGeom prst="roundRect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163840" y="7144124"/>
                <a:ext cx="2980391" cy="51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退汇到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账</a:t>
                </a:r>
                <a:r>
                  <a:rPr kumimoji="0" lang="zh-CN" altLang="en-US" sz="2400" b="0" i="0" u="none" strike="noStrike" cap="none" spc="0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微软雅黑" pitchFamily="34" charset="-122"/>
                    <a:ea typeface="微软雅黑" pitchFamily="34" charset="-122"/>
                    <a:sym typeface="Helvetica Light"/>
                  </a:rPr>
                  <a:t>成功</a:t>
                </a:r>
                <a:endParaRPr kumimoji="0" lang="zh-CN" alt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cxnSp>
          <p:nvCxnSpPr>
            <p:cNvPr id="41" name="直接箭头连接符 40"/>
            <p:cNvCxnSpPr>
              <a:stCxn id="26" idx="3"/>
              <a:endCxn id="40" idx="1"/>
            </p:cNvCxnSpPr>
            <p:nvPr/>
          </p:nvCxnSpPr>
          <p:spPr>
            <a:xfrm>
              <a:off x="10906411" y="10117656"/>
              <a:ext cx="2169397" cy="342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6" name="椭圆 45"/>
            <p:cNvSpPr/>
            <p:nvPr/>
          </p:nvSpPr>
          <p:spPr>
            <a:xfrm>
              <a:off x="5490661" y="9646168"/>
              <a:ext cx="941832" cy="941832"/>
            </a:xfrm>
            <a:prstGeom prst="ellipse">
              <a:avLst/>
            </a:prstGeom>
            <a:solidFill>
              <a:schemeClr val="tx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7605529" y="9647653"/>
              <a:ext cx="941832" cy="941832"/>
              <a:chOff x="21388100" y="9830453"/>
              <a:chExt cx="941832" cy="941832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21388100" y="9830453"/>
                <a:ext cx="941832" cy="941832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538976" y="9981329"/>
                <a:ext cx="640080" cy="640080"/>
              </a:xfrm>
              <a:prstGeom prst="ellipse">
                <a:avLst/>
              </a:prstGeom>
              <a:solidFill>
                <a:schemeClr val="tx1"/>
              </a:solidFill>
              <a:ln w="12700" cap="flat">
                <a:solidFill>
                  <a:schemeClr val="tx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cxnSp>
          <p:nvCxnSpPr>
            <p:cNvPr id="64" name="直接箭头连接符 63"/>
            <p:cNvCxnSpPr>
              <a:stCxn id="39" idx="3"/>
              <a:endCxn id="48" idx="2"/>
            </p:cNvCxnSpPr>
            <p:nvPr/>
          </p:nvCxnSpPr>
          <p:spPr>
            <a:xfrm>
              <a:off x="16056200" y="10117998"/>
              <a:ext cx="1549329" cy="571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8" name="TextBox 17"/>
            <p:cNvSpPr txBox="1"/>
            <p:nvPr/>
          </p:nvSpPr>
          <p:spPr>
            <a:xfrm>
              <a:off x="11303421" y="9541728"/>
              <a:ext cx="1375376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记账成功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cxnSp>
          <p:nvCxnSpPr>
            <p:cNvPr id="70" name="肘形连接符 69"/>
            <p:cNvCxnSpPr>
              <a:endCxn id="26" idx="0"/>
            </p:cNvCxnSpPr>
            <p:nvPr/>
          </p:nvCxnSpPr>
          <p:spPr>
            <a:xfrm rot="10800000">
              <a:off x="9416216" y="9646169"/>
              <a:ext cx="1490196" cy="214687"/>
            </a:xfrm>
            <a:prstGeom prst="bentConnector4">
              <a:avLst>
                <a:gd name="adj1" fmla="val 0"/>
                <a:gd name="adj2" fmla="val 446062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3" name="TextBox 72"/>
            <p:cNvSpPr txBox="1"/>
            <p:nvPr/>
          </p:nvSpPr>
          <p:spPr>
            <a:xfrm>
              <a:off x="9473625" y="8408253"/>
              <a:ext cx="1375376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记账失败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2615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557075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关于清分</a:t>
            </a:r>
            <a:r>
              <a:rPr lang="zh-CN" altLang="en-US" sz="6000" dirty="0">
                <a:solidFill>
                  <a:srgbClr val="0070D7"/>
                </a:solidFill>
              </a:rPr>
              <a:t>与</a:t>
            </a:r>
            <a:r>
              <a:rPr lang="zh-CN" altLang="en-US" sz="6000" dirty="0" smtClean="0">
                <a:solidFill>
                  <a:srgbClr val="0070D7"/>
                </a:solidFill>
              </a:rPr>
              <a:t>结算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616492" y="6185535"/>
            <a:ext cx="2980392" cy="942975"/>
            <a:chOff x="5163840" y="6929437"/>
            <a:chExt cx="2980392" cy="942975"/>
          </a:xfrm>
        </p:grpSpPr>
        <p:sp>
          <p:nvSpPr>
            <p:cNvPr id="4" name="圆角矩形 3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退款</a:t>
              </a:r>
              <a:r>
                <a:rPr lang="en-US" altLang="zh-CN" sz="2400" dirty="0" smtClean="0">
                  <a:latin typeface="微软雅黑" pitchFamily="34" charset="-122"/>
                  <a:ea typeface="微软雅黑" pitchFamily="34" charset="-122"/>
                </a:rPr>
                <a:t>/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退汇成功订单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616489" y="3909059"/>
            <a:ext cx="2980392" cy="942975"/>
            <a:chOff x="5163840" y="6929437"/>
            <a:chExt cx="2980392" cy="942975"/>
          </a:xfrm>
        </p:grpSpPr>
        <p:sp>
          <p:nvSpPr>
            <p:cNvPr id="7" name="圆角矩形 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支付成功订单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16" name="右大括号 15"/>
          <p:cNvSpPr/>
          <p:nvPr/>
        </p:nvSpPr>
        <p:spPr>
          <a:xfrm>
            <a:off x="6596882" y="4380547"/>
            <a:ext cx="3575821" cy="2276474"/>
          </a:xfrm>
          <a:prstGeom prst="rightBrace">
            <a:avLst>
              <a:gd name="adj1" fmla="val 6277"/>
              <a:gd name="adj2" fmla="val 51255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172703" y="5047296"/>
            <a:ext cx="2980392" cy="942975"/>
            <a:chOff x="5163840" y="6929437"/>
            <a:chExt cx="2980392" cy="942975"/>
          </a:xfrm>
        </p:grpSpPr>
        <p:sp>
          <p:nvSpPr>
            <p:cNvPr id="18" name="圆角矩形 17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清分明细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904661" y="5077316"/>
            <a:ext cx="1375376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满足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结算条件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6768297" y="3922253"/>
            <a:ext cx="2980392" cy="942975"/>
            <a:chOff x="5163840" y="6929437"/>
            <a:chExt cx="2980392" cy="942975"/>
          </a:xfrm>
        </p:grpSpPr>
        <p:sp>
          <p:nvSpPr>
            <p:cNvPr id="22" name="圆角矩形 21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汇总结算订单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25" name="直接箭头连接符 24"/>
          <p:cNvCxnSpPr>
            <a:endCxn id="22" idx="1"/>
          </p:cNvCxnSpPr>
          <p:nvPr/>
        </p:nvCxnSpPr>
        <p:spPr>
          <a:xfrm flipV="1">
            <a:off x="13153093" y="4393741"/>
            <a:ext cx="3615205" cy="112504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TextBox 26"/>
          <p:cNvSpPr txBox="1"/>
          <p:nvPr/>
        </p:nvSpPr>
        <p:spPr>
          <a:xfrm>
            <a:off x="8606062" y="4976606"/>
            <a:ext cx="1375376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分账计算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6768295" y="6185533"/>
            <a:ext cx="2980392" cy="942975"/>
            <a:chOff x="5163840" y="6929437"/>
            <a:chExt cx="2980392" cy="942975"/>
          </a:xfrm>
        </p:grpSpPr>
        <p:sp>
          <p:nvSpPr>
            <p:cNvPr id="29" name="圆角矩形 28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单笔结算订单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cxnSp>
        <p:nvCxnSpPr>
          <p:cNvPr id="31" name="直接箭头连接符 30"/>
          <p:cNvCxnSpPr>
            <a:stCxn id="18" idx="3"/>
            <a:endCxn id="30" idx="1"/>
          </p:cNvCxnSpPr>
          <p:nvPr/>
        </p:nvCxnSpPr>
        <p:spPr>
          <a:xfrm>
            <a:off x="13153095" y="5518784"/>
            <a:ext cx="3615200" cy="113823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TextBox 38"/>
          <p:cNvSpPr txBox="1"/>
          <p:nvPr/>
        </p:nvSpPr>
        <p:spPr>
          <a:xfrm>
            <a:off x="13979237" y="5261983"/>
            <a:ext cx="2526332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汇总</a:t>
            </a:r>
            <a:r>
              <a:rPr lang="en-US" altLang="zh-CN" dirty="0" smtClean="0"/>
              <a:t>+</a:t>
            </a:r>
            <a:r>
              <a:rPr lang="zh-CN" altLang="en-US" dirty="0" smtClean="0"/>
              <a:t>收款方信息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3616491" y="9166860"/>
            <a:ext cx="2980392" cy="942975"/>
            <a:chOff x="5163840" y="6929437"/>
            <a:chExt cx="2980392" cy="942975"/>
          </a:xfrm>
        </p:grpSpPr>
        <p:sp>
          <p:nvSpPr>
            <p:cNvPr id="41" name="圆角矩形 40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对账单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2702" y="9166860"/>
            <a:ext cx="2980392" cy="942975"/>
            <a:chOff x="5163840" y="6929437"/>
            <a:chExt cx="2980392" cy="942975"/>
          </a:xfrm>
        </p:grpSpPr>
        <p:sp>
          <p:nvSpPr>
            <p:cNvPr id="44" name="圆角矩形 43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资金对账明细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6768296" y="9166859"/>
            <a:ext cx="2980392" cy="942975"/>
            <a:chOff x="5163840" y="6929437"/>
            <a:chExt cx="2980392" cy="942975"/>
          </a:xfrm>
        </p:grpSpPr>
        <p:sp>
          <p:nvSpPr>
            <p:cNvPr id="47" name="圆角矩形 46"/>
            <p:cNvSpPr/>
            <p:nvPr/>
          </p:nvSpPr>
          <p:spPr>
            <a:xfrm>
              <a:off x="5163841" y="6929437"/>
              <a:ext cx="2980391" cy="942975"/>
            </a:xfrm>
            <a:prstGeom prst="roundRect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163840" y="7144124"/>
              <a:ext cx="2980391" cy="51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微软雅黑" pitchFamily="34" charset="-122"/>
                  <a:ea typeface="微软雅黑" pitchFamily="34" charset="-122"/>
                  <a:sym typeface="Helvetica Light"/>
                </a:rPr>
                <a:t>资金划款单</a:t>
              </a:r>
              <a:endPara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110951" y="11172825"/>
            <a:ext cx="3991476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订单状态核对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46560" y="11172824"/>
            <a:ext cx="4632677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资金准确性核对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621550" y="11172823"/>
            <a:ext cx="5273879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实际资金变动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校验</a:t>
            </a: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340319" y="7515225"/>
            <a:ext cx="1532733" cy="1257300"/>
          </a:xfrm>
          <a:prstGeom prst="downArrow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prstDash val="dash"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下箭头 36"/>
          <p:cNvSpPr/>
          <p:nvPr/>
        </p:nvSpPr>
        <p:spPr>
          <a:xfrm>
            <a:off x="10896532" y="7515225"/>
            <a:ext cx="1532733" cy="1257300"/>
          </a:xfrm>
          <a:prstGeom prst="downArrow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prstDash val="dash"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8" name="下箭头 37"/>
          <p:cNvSpPr/>
          <p:nvPr/>
        </p:nvSpPr>
        <p:spPr>
          <a:xfrm>
            <a:off x="17492126" y="7515225"/>
            <a:ext cx="1532733" cy="1257300"/>
          </a:xfrm>
          <a:prstGeom prst="downArrow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prstDash val="dash"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862584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744306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历史</a:t>
            </a:r>
            <a:r>
              <a:rPr lang="en-US" altLang="zh-CN" sz="6000" dirty="0" smtClean="0">
                <a:solidFill>
                  <a:srgbClr val="0070D7"/>
                </a:solidFill>
              </a:rPr>
              <a:t>-</a:t>
            </a:r>
            <a:r>
              <a:rPr lang="zh-CN" altLang="en-US" sz="6000" dirty="0" smtClean="0">
                <a:solidFill>
                  <a:srgbClr val="0070D7"/>
                </a:solidFill>
              </a:rPr>
              <a:t>订单维度表设计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557059"/>
              </p:ext>
            </p:extLst>
          </p:nvPr>
        </p:nvGraphicFramePr>
        <p:xfrm>
          <a:off x="2318900" y="1884240"/>
          <a:ext cx="15352804" cy="82001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13375"/>
                <a:gridCol w="6384925"/>
                <a:gridCol w="3554504"/>
              </a:tblGrid>
              <a:tr h="65124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1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库名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1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表名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b="1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水平拆分</a:t>
                      </a:r>
                      <a:r>
                        <a:rPr lang="en-US" sz="2800" b="1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KEY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db_order_map_[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商户号后两位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t_order_map</a:t>
                      </a:r>
                      <a:r>
                        <a:rPr lang="en-US" sz="280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_[</a:t>
                      </a:r>
                      <a:r>
                        <a:rPr lang="zh-CN" altLang="en-US" sz="280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商户号倒数第三位</a:t>
                      </a:r>
                      <a:r>
                        <a:rPr lang="en-US" altLang="zh-CN" sz="280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partner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db_order_[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商户号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发起方后两位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t_trade_[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商户号倒数第三位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partner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t_refund_[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商户号倒数第三位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trade_no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t_charge_[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发起方倒数第三位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payer_id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t_transfer_[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发起方倒数第三位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payer_id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t_withdraw_[</a:t>
                      </a:r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发起方倒数第三位</a:t>
                      </a:r>
                      <a:r>
                        <a:rPr lang="en-US" altLang="zh-CN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payer_id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Db_pay_yyyyMM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t_pay_total_dd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t_pay_flow_dd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db_partner_act</a:t>
                      </a:r>
                      <a:r>
                        <a:rPr 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_[</a:t>
                      </a:r>
                      <a:r>
                        <a:rPr lang="zh-CN" alt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账户号后两位</a:t>
                      </a:r>
                      <a:r>
                        <a:rPr 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8255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 err="1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t_partner_history</a:t>
                      </a:r>
                      <a:r>
                        <a:rPr lang="en-US" altLang="zh-CN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_[</a:t>
                      </a:r>
                      <a:r>
                        <a:rPr lang="zh-CN" alt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账户号倒数第三位</a:t>
                      </a:r>
                      <a:r>
                        <a:rPr lang="en-US" altLang="zh-CN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act_no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marL="0" marR="0" indent="0" algn="l" defTabSz="8255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 err="1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db_user_act</a:t>
                      </a:r>
                      <a:r>
                        <a:rPr lang="en-US" altLang="zh-CN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_[</a:t>
                      </a:r>
                      <a:r>
                        <a:rPr lang="zh-CN" alt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账户号后两位</a:t>
                      </a:r>
                      <a:r>
                        <a:rPr lang="en-US" altLang="zh-CN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]</a:t>
                      </a:r>
                      <a:endParaRPr lang="en-US" altLang="zh-CN" sz="28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t_user_history</a:t>
                      </a:r>
                      <a:r>
                        <a:rPr lang="en-US" altLang="zh-CN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_[</a:t>
                      </a:r>
                      <a:r>
                        <a:rPr lang="zh-CN" altLang="en-US" sz="2800" u="none" strike="noStrike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账户号倒数第三位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act_no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db_bank_act_yyyyMM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t_bank_history_dd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db_risk_yyyyMM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t_risk_balance_log_dd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t_risk_quick_pay_log_dd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39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db_bank_yyyyMM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t_bank_tran_dd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create_date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72436" y="11583310"/>
            <a:ext cx="11217813" cy="19909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4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、水平负载均衡了吗？</a:t>
            </a:r>
            <a:endParaRPr lang="en-US" altLang="zh-CN" sz="4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2</a:t>
            </a:r>
            <a:r>
              <a:rPr kumimoji="0" lang="zh-CN" altLang="en-US" sz="40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、是否能实现数据部署水平扩展？</a:t>
            </a:r>
            <a:endParaRPr kumimoji="0" lang="en-US" altLang="zh-CN" sz="4000" b="0" i="0" u="none" strike="noStrike" cap="none" spc="0" normalizeH="0" baseline="0" dirty="0" smtClean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4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、数据分布式部署后带来的事务问题如何解决？</a:t>
            </a:r>
            <a:endParaRPr kumimoji="0" lang="zh-CN" altLang="en-US" sz="4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18062998" y="3447566"/>
            <a:ext cx="1105204" cy="2035278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396341" y="3900628"/>
            <a:ext cx="2196113" cy="1129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用户视图表</a:t>
            </a:r>
            <a:endParaRPr kumimoji="0" lang="en-US" altLang="zh-CN" sz="32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订单视图表</a:t>
            </a:r>
            <a:endParaRPr lang="en-US" altLang="zh-CN" sz="32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18062998" y="7021591"/>
            <a:ext cx="1105204" cy="732504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96341" y="7069486"/>
            <a:ext cx="3016851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资金流水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视图表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424798" y="9447631"/>
            <a:ext cx="3837588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如何解决对账差异？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41337" y="2544694"/>
            <a:ext cx="4658326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用户如何查看合并数据？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446459" y="10206825"/>
            <a:ext cx="4658326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向前查表合并数据后对账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7730698" y="9765987"/>
            <a:ext cx="574263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矩形 20"/>
          <p:cNvSpPr/>
          <p:nvPr/>
        </p:nvSpPr>
        <p:spPr>
          <a:xfrm>
            <a:off x="2272436" y="10206825"/>
            <a:ext cx="1186093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两种方法实现订单的前后落点定位：</a:t>
            </a:r>
            <a:endParaRPr lang="en-US" altLang="zh-CN" sz="40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使用相同的分区</a:t>
            </a:r>
            <a:r>
              <a:rPr lang="en-US" altLang="zh-CN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；冗余记录上下层分区</a:t>
            </a:r>
            <a:r>
              <a:rPr lang="en-US" altLang="zh-CN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sz="4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4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9261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4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4031873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订单号设计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7062" y="8197654"/>
            <a:ext cx="8837686" cy="47609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1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、为什么是谁调用谁生成？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A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指唯一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组合唯一键由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调用方生成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B)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赋予调用方重试的决定权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C)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有利于实现客户端负载均衡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2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、如何确保单号的唯一性？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A)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号段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唯一性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管理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 </a:t>
            </a:r>
            <a:r>
              <a:rPr kumimoji="0" lang="en-US" altLang="zh-CN" sz="40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   B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多维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Unique Key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设置</a:t>
            </a:r>
            <a:endParaRPr kumimoji="0" lang="en-US" altLang="zh-CN" sz="4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970371"/>
              </p:ext>
            </p:extLst>
          </p:nvPr>
        </p:nvGraphicFramePr>
        <p:xfrm>
          <a:off x="2607063" y="1558204"/>
          <a:ext cx="18896083" cy="6371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0841"/>
                <a:gridCol w="557327"/>
                <a:gridCol w="557327"/>
                <a:gridCol w="557327"/>
                <a:gridCol w="557327"/>
                <a:gridCol w="424632"/>
                <a:gridCol w="424632"/>
                <a:gridCol w="424632"/>
                <a:gridCol w="424632"/>
                <a:gridCol w="424632"/>
                <a:gridCol w="424632"/>
                <a:gridCol w="424632"/>
                <a:gridCol w="424632"/>
                <a:gridCol w="557327"/>
                <a:gridCol w="557327"/>
                <a:gridCol w="424632"/>
                <a:gridCol w="424632"/>
                <a:gridCol w="424632"/>
                <a:gridCol w="424632"/>
                <a:gridCol w="424632"/>
                <a:gridCol w="424632"/>
                <a:gridCol w="424632"/>
                <a:gridCol w="424632"/>
                <a:gridCol w="769644"/>
                <a:gridCol w="769644"/>
                <a:gridCol w="769644"/>
                <a:gridCol w="557327"/>
                <a:gridCol w="875800"/>
                <a:gridCol w="875801"/>
                <a:gridCol w="557327"/>
                <a:gridCol w="557327"/>
                <a:gridCol w="557327"/>
                <a:gridCol w="557327"/>
              </a:tblGrid>
              <a:tr h="530942"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1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2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3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4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5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6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7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8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9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0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1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2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3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4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5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6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7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8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9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0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1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2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3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4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5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6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7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8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9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0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1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2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交易订单号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商户号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退款订单号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IDC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类型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日期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原单号后三位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充值订单号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付款方后三位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转账订单号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类型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付款方后三位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提现订单号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付款方后三位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支付总单号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日期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支付流水号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u="none" strike="noStrike" dirty="0" smtClean="0">
                          <a:effectLst/>
                        </a:rPr>
                        <a:t>-</a:t>
                      </a:r>
                      <a:endParaRPr lang="en-US" altLang="zh-CN" sz="24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8255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u="none" strike="noStrike" dirty="0" smtClean="0">
                          <a:effectLst/>
                        </a:rPr>
                        <a:t>交易序列号</a:t>
                      </a:r>
                      <a:endParaRPr lang="zh-CN" altLang="en-US" sz="24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-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步骤</a:t>
                      </a:r>
                      <a:r>
                        <a:rPr lang="zh-CN" altLang="en-US" sz="2400" u="none" strike="noStrike" dirty="0" smtClean="0">
                          <a:effectLst/>
                        </a:rPr>
                        <a:t>序号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账务流水号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8255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SN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53094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渠道流水号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IDC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类型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渠道类型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日期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692066" y="8197654"/>
            <a:ext cx="10813972" cy="39914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3</a:t>
            </a:r>
            <a:r>
              <a:rPr kumimoji="0" lang="zh-CN" altLang="en-US" sz="5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、如何保证订单至多被处理一次？</a:t>
            </a:r>
            <a:endParaRPr kumimoji="0" lang="en-US" altLang="zh-CN" sz="5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A)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防重复提交机制（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Token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B)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订单创建过程中适当使用串行机制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C)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执行权限获取时的状态悲观锁机制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0" lang="en-US" altLang="zh-CN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 </a:t>
            </a:r>
            <a:r>
              <a:rPr kumimoji="0" lang="en-US" altLang="zh-CN" sz="4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   D)</a:t>
            </a:r>
            <a:r>
              <a:rPr kumimoji="0" lang="zh-CN" altLang="en-US" sz="4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重复收款时的自动退款机制</a:t>
            </a:r>
            <a:endParaRPr kumimoji="0" lang="en-US" altLang="zh-CN" sz="4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dirty="0" smtClean="0">
                <a:latin typeface="微软雅黑" pitchFamily="34" charset="-122"/>
                <a:ea typeface="微软雅黑" pitchFamily="34" charset="-122"/>
              </a:rPr>
              <a:t>   E)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与场景结合的疑似重复订单推定</a:t>
            </a:r>
            <a:endParaRPr kumimoji="0" lang="en-US" altLang="zh-CN" sz="4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343974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3262432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幂等设计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5126" y="3327683"/>
            <a:ext cx="17971105" cy="79617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、单号相同情况下，核心要素不可变。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哪些是核心要素？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）收款方；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）付款方；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）交易金额；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）商品信息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如何返回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外部接入方？</a:t>
            </a:r>
            <a:endParaRPr lang="en-US" altLang="zh-CN" sz="5400" b="1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）禁止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返回异常；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）参数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错误应拒单；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）相同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核心要素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的调用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，根据场景判断返回；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）核心要素变更应返回收单错误信息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）有用户交互的或异步的交易应考虑进行回调通知；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f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）同一笔单不可返回两种不同的终态；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7052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1">
            <a:extLst>
              <a:ext uri="{FF2B5EF4-FFF2-40B4-BE49-F238E27FC236}">
                <a16:creationId xmlns:a16="http://schemas.microsoft.com/office/drawing/2014/main" xmlns="" id="{0279F139-49FD-45C1-95F2-0714C0AFF51D}"/>
              </a:ext>
            </a:extLst>
          </p:cNvPr>
          <p:cNvSpPr/>
          <p:nvPr/>
        </p:nvSpPr>
        <p:spPr>
          <a:xfrm>
            <a:off x="591127" y="542543"/>
            <a:ext cx="5570756" cy="101566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tIns="91439" bIns="91439">
            <a:spAutoFit/>
          </a:bodyPr>
          <a:lstStyle>
            <a:lvl1pPr algn="l" defTabSz="1791866">
              <a:lnSpc>
                <a:spcPct val="90000"/>
              </a:lnSpc>
              <a:defRPr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sz="6000" dirty="0" smtClean="0">
                <a:solidFill>
                  <a:srgbClr val="0070D7"/>
                </a:solidFill>
              </a:rPr>
              <a:t>状态一致性设计</a:t>
            </a:r>
            <a:endParaRPr lang="zh-CN" altLang="en-US" sz="6000" dirty="0">
              <a:solidFill>
                <a:srgbClr val="0070D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5127" y="2984783"/>
            <a:ext cx="17844041" cy="79617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状态一致性设计，是在分布式与性能之间寻求最优解：</a:t>
            </a:r>
            <a:endParaRPr kumimoji="0" lang="en-US" altLang="zh-CN" sz="5400" b="1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500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1</a:t>
            </a:r>
            <a:r>
              <a:rPr kumimoji="0" lang="zh-CN" altLang="en-US" sz="500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、子模块内强一致，通过事务保障</a:t>
            </a:r>
            <a:endParaRPr kumimoji="0" lang="en-US" altLang="zh-CN" sz="500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、子模块间弱一致，通过重试、补单完成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500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3</a:t>
            </a:r>
            <a:r>
              <a:rPr kumimoji="0" lang="zh-CN" altLang="en-US" sz="500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、系统间最终一致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，通过通知、对账完成</a:t>
            </a:r>
            <a:endParaRPr kumimoji="0" lang="en-US" altLang="zh-CN" sz="500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模块</a:t>
            </a:r>
            <a:r>
              <a:rPr kumimoji="0" lang="en-US" altLang="zh-CN" sz="5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/</a:t>
            </a:r>
            <a:r>
              <a:rPr kumimoji="0" lang="zh-CN" altLang="en-US" sz="5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Light"/>
              </a:rPr>
              <a:t>系统间状态的同步机制：</a:t>
            </a:r>
            <a:endParaRPr kumimoji="0" lang="en-US" altLang="zh-CN" sz="5400" b="1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Light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同步返回（正常结果）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主动查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单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异步通知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对账单解析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3927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/>
        </p:nvSpPr>
        <p:spPr>
          <a:xfrm>
            <a:off x="10343752" y="5980112"/>
            <a:ext cx="3696495" cy="175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29">
              <a:lnSpc>
                <a:spcPct val="150000"/>
              </a:lnSpc>
              <a:defRPr sz="9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谢 谢 !</a:t>
            </a:r>
          </a:p>
        </p:txBody>
      </p:sp>
      <p:pic>
        <p:nvPicPr>
          <p:cNvPr id="273" name="美集品牌字[2017]006号附件3：2017版美的logo-02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94810" y="412750"/>
            <a:ext cx="2551041" cy="901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15326</TotalTime>
  <Words>1567</Words>
  <Application>Microsoft Office PowerPoint</Application>
  <PresentationFormat>自定义</PresentationFormat>
  <Paragraphs>416</Paragraphs>
  <Slides>24</Slides>
  <Notes>12</Notes>
  <HiddenSlides>2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叶腾超</cp:lastModifiedBy>
  <cp:revision>1336</cp:revision>
  <dcterms:modified xsi:type="dcterms:W3CDTF">2019-03-27T09:57:30Z</dcterms:modified>
</cp:coreProperties>
</file>
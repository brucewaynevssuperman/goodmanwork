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31"/>
  </p:notesMasterIdLst>
  <p:sldIdLst>
    <p:sldId id="263" r:id="rId3"/>
    <p:sldId id="503" r:id="rId4"/>
    <p:sldId id="484" r:id="rId5"/>
    <p:sldId id="482" r:id="rId6"/>
    <p:sldId id="493" r:id="rId7"/>
    <p:sldId id="491" r:id="rId8"/>
    <p:sldId id="494" r:id="rId9"/>
    <p:sldId id="506" r:id="rId10"/>
    <p:sldId id="403" r:id="rId11"/>
    <p:sldId id="495" r:id="rId12"/>
    <p:sldId id="492" r:id="rId13"/>
    <p:sldId id="507" r:id="rId14"/>
    <p:sldId id="497" r:id="rId15"/>
    <p:sldId id="496" r:id="rId16"/>
    <p:sldId id="498" r:id="rId17"/>
    <p:sldId id="502" r:id="rId18"/>
    <p:sldId id="499" r:id="rId19"/>
    <p:sldId id="504" r:id="rId20"/>
    <p:sldId id="505" r:id="rId21"/>
    <p:sldId id="500" r:id="rId22"/>
    <p:sldId id="510" r:id="rId23"/>
    <p:sldId id="511" r:id="rId24"/>
    <p:sldId id="512" r:id="rId25"/>
    <p:sldId id="514" r:id="rId26"/>
    <p:sldId id="515" r:id="rId27"/>
    <p:sldId id="509" r:id="rId28"/>
    <p:sldId id="508" r:id="rId29"/>
    <p:sldId id="264" r:id="rId30"/>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EFAFB233-063F-42B5-8137-9DF3F51BA10A}">
      <p15:sldGuideLst xmlns="" xmlns:p15="http://schemas.microsoft.com/office/powerpoint/2012/main">
        <p15:guide id="1" orient="horz" pos="172">
          <p15:clr>
            <a:srgbClr val="A4A3A4"/>
          </p15:clr>
        </p15:guide>
        <p15:guide id="2" orient="horz" pos="618">
          <p15:clr>
            <a:srgbClr val="A4A3A4"/>
          </p15:clr>
        </p15:guide>
        <p15:guide id="3" orient="horz" pos="723">
          <p15:clr>
            <a:srgbClr val="A4A3A4"/>
          </p15:clr>
        </p15:guide>
        <p15:guide id="4" orient="horz" pos="3988">
          <p15:clr>
            <a:srgbClr val="A4A3A4"/>
          </p15:clr>
        </p15:guide>
        <p15:guide id="5" orient="horz" pos="4065">
          <p15:clr>
            <a:srgbClr val="A4A3A4"/>
          </p15:clr>
        </p15:guide>
        <p15:guide id="6" orient="horz" pos="4234">
          <p15:clr>
            <a:srgbClr val="A4A3A4"/>
          </p15:clr>
        </p15:guide>
        <p15:guide id="7" orient="horz" pos="3788">
          <p15:clr>
            <a:srgbClr val="A4A3A4"/>
          </p15:clr>
        </p15:guide>
        <p15:guide id="8" pos="5519">
          <p15:clr>
            <a:srgbClr val="A4A3A4"/>
          </p15:clr>
        </p15:guide>
        <p15:guide id="9" pos="249">
          <p15:clr>
            <a:srgbClr val="A4A3A4"/>
          </p15:clr>
        </p15:guide>
        <p15:guide id="10" pos="2880">
          <p15:clr>
            <a:srgbClr val="A4A3A4"/>
          </p15:clr>
        </p15:guide>
        <p15:guide id="11" pos="2829">
          <p15:clr>
            <a:srgbClr val="A4A3A4"/>
          </p15:clr>
        </p15:guide>
        <p15:guide id="1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790" autoAdjust="0"/>
  </p:normalViewPr>
  <p:slideViewPr>
    <p:cSldViewPr showGuides="1">
      <p:cViewPr>
        <p:scale>
          <a:sx n="66" d="100"/>
          <a:sy n="66" d="100"/>
        </p:scale>
        <p:origin x="-1915" y="-442"/>
      </p:cViewPr>
      <p:guideLst>
        <p:guide orient="horz" pos="172"/>
        <p:guide orient="horz" pos="618"/>
        <p:guide orient="horz" pos="723"/>
        <p:guide orient="horz" pos="3988"/>
        <p:guide orient="horz" pos="4065"/>
        <p:guide orient="horz" pos="4234"/>
        <p:guide orient="horz" pos="3788"/>
        <p:guide pos="5519"/>
        <p:guide pos="249"/>
        <p:guide pos="2880"/>
        <p:guide pos="2829"/>
        <p:guide pos="2976"/>
      </p:guideLst>
    </p:cSldViewPr>
  </p:slideViewPr>
  <p:notesTextViewPr>
    <p:cViewPr>
      <p:scale>
        <a:sx n="100" d="100"/>
        <a:sy n="100" d="100"/>
      </p:scale>
      <p:origin x="0" y="0"/>
    </p:cViewPr>
  </p:notesTextViewPr>
  <p:gridSpacing cx="69848" cy="6984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77DDEC-502C-4261-BB9A-99EC0BB2BFCC}"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zh-CN" altLang="en-US"/>
        </a:p>
      </dgm:t>
    </dgm:pt>
    <dgm:pt modelId="{307B0355-7BC3-4C37-A203-079A3C3F6614}">
      <dgm:prSet phldrT="[文本]"/>
      <dgm:spPr/>
      <dgm:t>
        <a:bodyPr/>
        <a:lstStyle/>
        <a:p>
          <a:r>
            <a:rPr lang="en-US" altLang="zh-CN" dirty="0" smtClean="0"/>
            <a:t>2</a:t>
          </a:r>
          <a:r>
            <a:rPr lang="zh-CN" altLang="en-US" dirty="0" smtClean="0"/>
            <a:t>、实现的基础算法</a:t>
          </a:r>
          <a:endParaRPr lang="zh-CN" altLang="en-US" dirty="0"/>
        </a:p>
      </dgm:t>
    </dgm:pt>
    <dgm:pt modelId="{85B1B3B1-3D8D-46FE-AD85-758570DF86BE}" type="parTrans" cxnId="{6FE0DDBA-6158-4A54-9A24-07124439B017}">
      <dgm:prSet/>
      <dgm:spPr/>
      <dgm:t>
        <a:bodyPr/>
        <a:lstStyle/>
        <a:p>
          <a:endParaRPr lang="zh-CN" altLang="en-US"/>
        </a:p>
      </dgm:t>
    </dgm:pt>
    <dgm:pt modelId="{EF918857-9F24-4F11-A8A0-0518635F00AD}" type="sibTrans" cxnId="{6FE0DDBA-6158-4A54-9A24-07124439B017}">
      <dgm:prSet/>
      <dgm:spPr/>
      <dgm:t>
        <a:bodyPr/>
        <a:lstStyle/>
        <a:p>
          <a:endParaRPr lang="zh-CN" altLang="en-US"/>
        </a:p>
      </dgm:t>
    </dgm:pt>
    <dgm:pt modelId="{34E22613-2FF9-454D-AA70-8C305A1175AE}">
      <dgm:prSet phldrT="[文本]"/>
      <dgm:spPr/>
      <dgm:t>
        <a:bodyPr/>
        <a:lstStyle/>
        <a:p>
          <a:r>
            <a:rPr lang="en-US" altLang="zh-CN" dirty="0" smtClean="0"/>
            <a:t>3</a:t>
          </a:r>
          <a:r>
            <a:rPr lang="zh-CN" altLang="en-US" dirty="0" smtClean="0"/>
            <a:t>、应用级别限流</a:t>
          </a:r>
          <a:endParaRPr lang="en-US" altLang="zh-CN" dirty="0" smtClean="0"/>
        </a:p>
      </dgm:t>
    </dgm:pt>
    <dgm:pt modelId="{A03A043E-6046-4632-A3FE-82CD576CF270}" type="parTrans" cxnId="{30FB2CB0-A7A8-4E8A-BDFF-306EEB3CD0B5}">
      <dgm:prSet/>
      <dgm:spPr/>
      <dgm:t>
        <a:bodyPr/>
        <a:lstStyle/>
        <a:p>
          <a:endParaRPr lang="zh-CN" altLang="en-US"/>
        </a:p>
      </dgm:t>
    </dgm:pt>
    <dgm:pt modelId="{DBE7DC73-4E02-43A9-8C6F-91CC2C2B0222}" type="sibTrans" cxnId="{30FB2CB0-A7A8-4E8A-BDFF-306EEB3CD0B5}">
      <dgm:prSet/>
      <dgm:spPr/>
      <dgm:t>
        <a:bodyPr/>
        <a:lstStyle/>
        <a:p>
          <a:endParaRPr lang="zh-CN" altLang="en-US"/>
        </a:p>
      </dgm:t>
    </dgm:pt>
    <dgm:pt modelId="{15969F5F-735D-4C75-A66D-5862BA7E4C1F}">
      <dgm:prSet phldrT="[文本]"/>
      <dgm:spPr/>
      <dgm:t>
        <a:bodyPr/>
        <a:lstStyle/>
        <a:p>
          <a:r>
            <a:rPr lang="en-US" altLang="zh-CN" dirty="0" smtClean="0"/>
            <a:t>1</a:t>
          </a:r>
          <a:r>
            <a:rPr lang="zh-CN" altLang="en-US" dirty="0" smtClean="0"/>
            <a:t>、引入</a:t>
          </a:r>
          <a:endParaRPr lang="zh-CN" altLang="en-US" dirty="0"/>
        </a:p>
      </dgm:t>
    </dgm:pt>
    <dgm:pt modelId="{B7E82F4D-EE35-4FA7-BC6E-D827F29A49EE}" type="parTrans" cxnId="{EE1F29D3-D2C1-4BE5-9241-FDFFD209CCB1}">
      <dgm:prSet/>
      <dgm:spPr/>
      <dgm:t>
        <a:bodyPr/>
        <a:lstStyle/>
        <a:p>
          <a:endParaRPr lang="zh-CN" altLang="en-US"/>
        </a:p>
      </dgm:t>
    </dgm:pt>
    <dgm:pt modelId="{EFAB3FC9-653E-40EB-982C-9073719AF9D9}" type="sibTrans" cxnId="{EE1F29D3-D2C1-4BE5-9241-FDFFD209CCB1}">
      <dgm:prSet/>
      <dgm:spPr/>
      <dgm:t>
        <a:bodyPr/>
        <a:lstStyle/>
        <a:p>
          <a:endParaRPr lang="zh-CN" altLang="en-US"/>
        </a:p>
      </dgm:t>
    </dgm:pt>
    <dgm:pt modelId="{F2C78E01-6E8B-4D35-AC16-1A18C141EEE9}" type="pres">
      <dgm:prSet presAssocID="{2977DDEC-502C-4261-BB9A-99EC0BB2BFCC}" presName="linear" presStyleCnt="0">
        <dgm:presLayoutVars>
          <dgm:dir/>
          <dgm:animLvl val="lvl"/>
          <dgm:resizeHandles val="exact"/>
        </dgm:presLayoutVars>
      </dgm:prSet>
      <dgm:spPr/>
      <dgm:t>
        <a:bodyPr/>
        <a:lstStyle/>
        <a:p>
          <a:endParaRPr lang="zh-CN" altLang="en-US"/>
        </a:p>
      </dgm:t>
    </dgm:pt>
    <dgm:pt modelId="{1882A56C-841C-46D0-80BF-F708D59AE0D3}" type="pres">
      <dgm:prSet presAssocID="{15969F5F-735D-4C75-A66D-5862BA7E4C1F}" presName="parentLin" presStyleCnt="0"/>
      <dgm:spPr/>
    </dgm:pt>
    <dgm:pt modelId="{12A0AB29-116A-419D-BB79-D71030411527}" type="pres">
      <dgm:prSet presAssocID="{15969F5F-735D-4C75-A66D-5862BA7E4C1F}" presName="parentLeftMargin" presStyleLbl="node1" presStyleIdx="0" presStyleCnt="3"/>
      <dgm:spPr/>
      <dgm:t>
        <a:bodyPr/>
        <a:lstStyle/>
        <a:p>
          <a:endParaRPr lang="zh-CN" altLang="en-US"/>
        </a:p>
      </dgm:t>
    </dgm:pt>
    <dgm:pt modelId="{92E89D3A-3459-47AC-9FAE-C17BBA63E962}" type="pres">
      <dgm:prSet presAssocID="{15969F5F-735D-4C75-A66D-5862BA7E4C1F}" presName="parentText" presStyleLbl="node1" presStyleIdx="0" presStyleCnt="3">
        <dgm:presLayoutVars>
          <dgm:chMax val="0"/>
          <dgm:bulletEnabled val="1"/>
        </dgm:presLayoutVars>
      </dgm:prSet>
      <dgm:spPr/>
      <dgm:t>
        <a:bodyPr/>
        <a:lstStyle/>
        <a:p>
          <a:endParaRPr lang="zh-CN" altLang="en-US"/>
        </a:p>
      </dgm:t>
    </dgm:pt>
    <dgm:pt modelId="{B4BD068E-CDF2-428F-A47C-E7BBC6EA39EF}" type="pres">
      <dgm:prSet presAssocID="{15969F5F-735D-4C75-A66D-5862BA7E4C1F}" presName="negativeSpace" presStyleCnt="0"/>
      <dgm:spPr/>
    </dgm:pt>
    <dgm:pt modelId="{1106C14A-EB50-4AB5-BCF8-0B6C39AA3343}" type="pres">
      <dgm:prSet presAssocID="{15969F5F-735D-4C75-A66D-5862BA7E4C1F}" presName="childText" presStyleLbl="conFgAcc1" presStyleIdx="0" presStyleCnt="3">
        <dgm:presLayoutVars>
          <dgm:bulletEnabled val="1"/>
        </dgm:presLayoutVars>
      </dgm:prSet>
      <dgm:spPr/>
    </dgm:pt>
    <dgm:pt modelId="{3C33D810-E56E-4250-A221-B49EBD76066E}" type="pres">
      <dgm:prSet presAssocID="{EFAB3FC9-653E-40EB-982C-9073719AF9D9}" presName="spaceBetweenRectangles" presStyleCnt="0"/>
      <dgm:spPr/>
    </dgm:pt>
    <dgm:pt modelId="{B6425B6D-12B5-4712-ACBF-C2113ABCE374}" type="pres">
      <dgm:prSet presAssocID="{307B0355-7BC3-4C37-A203-079A3C3F6614}" presName="parentLin" presStyleCnt="0"/>
      <dgm:spPr/>
      <dgm:t>
        <a:bodyPr/>
        <a:lstStyle/>
        <a:p>
          <a:endParaRPr lang="zh-CN" altLang="en-US"/>
        </a:p>
      </dgm:t>
    </dgm:pt>
    <dgm:pt modelId="{709AE6A8-055B-454A-A02B-E4E7F729DD91}" type="pres">
      <dgm:prSet presAssocID="{307B0355-7BC3-4C37-A203-079A3C3F6614}" presName="parentLeftMargin" presStyleLbl="node1" presStyleIdx="0" presStyleCnt="3"/>
      <dgm:spPr/>
      <dgm:t>
        <a:bodyPr/>
        <a:lstStyle/>
        <a:p>
          <a:endParaRPr lang="zh-CN" altLang="en-US"/>
        </a:p>
      </dgm:t>
    </dgm:pt>
    <dgm:pt modelId="{DDEB2F94-4AE3-4A2A-A8DB-C41E6397E24C}" type="pres">
      <dgm:prSet presAssocID="{307B0355-7BC3-4C37-A203-079A3C3F6614}" presName="parentText" presStyleLbl="node1" presStyleIdx="1" presStyleCnt="3">
        <dgm:presLayoutVars>
          <dgm:chMax val="0"/>
          <dgm:bulletEnabled val="1"/>
        </dgm:presLayoutVars>
      </dgm:prSet>
      <dgm:spPr/>
      <dgm:t>
        <a:bodyPr/>
        <a:lstStyle/>
        <a:p>
          <a:endParaRPr lang="zh-CN" altLang="en-US"/>
        </a:p>
      </dgm:t>
    </dgm:pt>
    <dgm:pt modelId="{8D8B4526-03FC-44C2-92EB-4F8B9A53AD7A}" type="pres">
      <dgm:prSet presAssocID="{307B0355-7BC3-4C37-A203-079A3C3F6614}" presName="negativeSpace" presStyleCnt="0"/>
      <dgm:spPr/>
      <dgm:t>
        <a:bodyPr/>
        <a:lstStyle/>
        <a:p>
          <a:endParaRPr lang="zh-CN" altLang="en-US"/>
        </a:p>
      </dgm:t>
    </dgm:pt>
    <dgm:pt modelId="{301F4945-2654-4892-BCC5-36B2F510A36D}" type="pres">
      <dgm:prSet presAssocID="{307B0355-7BC3-4C37-A203-079A3C3F6614}" presName="childText" presStyleLbl="conFgAcc1" presStyleIdx="1" presStyleCnt="3">
        <dgm:presLayoutVars>
          <dgm:bulletEnabled val="1"/>
        </dgm:presLayoutVars>
      </dgm:prSet>
      <dgm:spPr/>
      <dgm:t>
        <a:bodyPr/>
        <a:lstStyle/>
        <a:p>
          <a:endParaRPr lang="zh-CN" altLang="en-US"/>
        </a:p>
      </dgm:t>
    </dgm:pt>
    <dgm:pt modelId="{81F9261B-CCAA-45DE-A83A-C9AF614264FF}" type="pres">
      <dgm:prSet presAssocID="{EF918857-9F24-4F11-A8A0-0518635F00AD}" presName="spaceBetweenRectangles" presStyleCnt="0"/>
      <dgm:spPr/>
      <dgm:t>
        <a:bodyPr/>
        <a:lstStyle/>
        <a:p>
          <a:endParaRPr lang="zh-CN" altLang="en-US"/>
        </a:p>
      </dgm:t>
    </dgm:pt>
    <dgm:pt modelId="{2E975587-64D0-4CDE-BEC2-2F534F0FD0A6}" type="pres">
      <dgm:prSet presAssocID="{34E22613-2FF9-454D-AA70-8C305A1175AE}" presName="parentLin" presStyleCnt="0"/>
      <dgm:spPr/>
      <dgm:t>
        <a:bodyPr/>
        <a:lstStyle/>
        <a:p>
          <a:endParaRPr lang="zh-CN" altLang="en-US"/>
        </a:p>
      </dgm:t>
    </dgm:pt>
    <dgm:pt modelId="{7F40D748-1CDA-407C-85EB-796D3E835CDE}" type="pres">
      <dgm:prSet presAssocID="{34E22613-2FF9-454D-AA70-8C305A1175AE}" presName="parentLeftMargin" presStyleLbl="node1" presStyleIdx="1" presStyleCnt="3"/>
      <dgm:spPr/>
      <dgm:t>
        <a:bodyPr/>
        <a:lstStyle/>
        <a:p>
          <a:endParaRPr lang="zh-CN" altLang="en-US"/>
        </a:p>
      </dgm:t>
    </dgm:pt>
    <dgm:pt modelId="{EC4A9B96-4D67-4CE2-90A8-00BFC23CB23C}" type="pres">
      <dgm:prSet presAssocID="{34E22613-2FF9-454D-AA70-8C305A1175AE}" presName="parentText" presStyleLbl="node1" presStyleIdx="2" presStyleCnt="3">
        <dgm:presLayoutVars>
          <dgm:chMax val="0"/>
          <dgm:bulletEnabled val="1"/>
        </dgm:presLayoutVars>
      </dgm:prSet>
      <dgm:spPr/>
      <dgm:t>
        <a:bodyPr/>
        <a:lstStyle/>
        <a:p>
          <a:endParaRPr lang="zh-CN" altLang="en-US"/>
        </a:p>
      </dgm:t>
    </dgm:pt>
    <dgm:pt modelId="{54824492-B292-4FC3-B425-710C13C7B6CB}" type="pres">
      <dgm:prSet presAssocID="{34E22613-2FF9-454D-AA70-8C305A1175AE}" presName="negativeSpace" presStyleCnt="0"/>
      <dgm:spPr/>
      <dgm:t>
        <a:bodyPr/>
        <a:lstStyle/>
        <a:p>
          <a:endParaRPr lang="zh-CN" altLang="en-US"/>
        </a:p>
      </dgm:t>
    </dgm:pt>
    <dgm:pt modelId="{E4930568-3823-40A6-AC2F-3C381F375821}" type="pres">
      <dgm:prSet presAssocID="{34E22613-2FF9-454D-AA70-8C305A1175AE}" presName="childText" presStyleLbl="conFgAcc1" presStyleIdx="2" presStyleCnt="3">
        <dgm:presLayoutVars>
          <dgm:bulletEnabled val="1"/>
        </dgm:presLayoutVars>
      </dgm:prSet>
      <dgm:spPr/>
      <dgm:t>
        <a:bodyPr/>
        <a:lstStyle/>
        <a:p>
          <a:endParaRPr lang="zh-CN" altLang="en-US"/>
        </a:p>
      </dgm:t>
    </dgm:pt>
  </dgm:ptLst>
  <dgm:cxnLst>
    <dgm:cxn modelId="{30FB2CB0-A7A8-4E8A-BDFF-306EEB3CD0B5}" srcId="{2977DDEC-502C-4261-BB9A-99EC0BB2BFCC}" destId="{34E22613-2FF9-454D-AA70-8C305A1175AE}" srcOrd="2" destOrd="0" parTransId="{A03A043E-6046-4632-A3FE-82CD576CF270}" sibTransId="{DBE7DC73-4E02-43A9-8C6F-91CC2C2B0222}"/>
    <dgm:cxn modelId="{403A5A0C-68D2-42BB-8C3E-EBB14FDCD2BE}" type="presOf" srcId="{34E22613-2FF9-454D-AA70-8C305A1175AE}" destId="{EC4A9B96-4D67-4CE2-90A8-00BFC23CB23C}" srcOrd="1" destOrd="0" presId="urn:microsoft.com/office/officeart/2005/8/layout/list1"/>
    <dgm:cxn modelId="{60A24CDB-79DB-4F87-B2DC-BD08D1007EA3}" type="presOf" srcId="{15969F5F-735D-4C75-A66D-5862BA7E4C1F}" destId="{92E89D3A-3459-47AC-9FAE-C17BBA63E962}" srcOrd="1" destOrd="0" presId="urn:microsoft.com/office/officeart/2005/8/layout/list1"/>
    <dgm:cxn modelId="{83C96723-30EE-444F-8CB3-D749C200261C}" type="presOf" srcId="{2977DDEC-502C-4261-BB9A-99EC0BB2BFCC}" destId="{F2C78E01-6E8B-4D35-AC16-1A18C141EEE9}" srcOrd="0" destOrd="0" presId="urn:microsoft.com/office/officeart/2005/8/layout/list1"/>
    <dgm:cxn modelId="{B331D31D-7FBC-4D28-8349-79A7A0150A8D}" type="presOf" srcId="{307B0355-7BC3-4C37-A203-079A3C3F6614}" destId="{709AE6A8-055B-454A-A02B-E4E7F729DD91}" srcOrd="0" destOrd="0" presId="urn:microsoft.com/office/officeart/2005/8/layout/list1"/>
    <dgm:cxn modelId="{6FE0DDBA-6158-4A54-9A24-07124439B017}" srcId="{2977DDEC-502C-4261-BB9A-99EC0BB2BFCC}" destId="{307B0355-7BC3-4C37-A203-079A3C3F6614}" srcOrd="1" destOrd="0" parTransId="{85B1B3B1-3D8D-46FE-AD85-758570DF86BE}" sibTransId="{EF918857-9F24-4F11-A8A0-0518635F00AD}"/>
    <dgm:cxn modelId="{60D4565A-6A70-4AEE-AFA8-7226D85C8B74}" type="presOf" srcId="{307B0355-7BC3-4C37-A203-079A3C3F6614}" destId="{DDEB2F94-4AE3-4A2A-A8DB-C41E6397E24C}" srcOrd="1" destOrd="0" presId="urn:microsoft.com/office/officeart/2005/8/layout/list1"/>
    <dgm:cxn modelId="{EE1F29D3-D2C1-4BE5-9241-FDFFD209CCB1}" srcId="{2977DDEC-502C-4261-BB9A-99EC0BB2BFCC}" destId="{15969F5F-735D-4C75-A66D-5862BA7E4C1F}" srcOrd="0" destOrd="0" parTransId="{B7E82F4D-EE35-4FA7-BC6E-D827F29A49EE}" sibTransId="{EFAB3FC9-653E-40EB-982C-9073719AF9D9}"/>
    <dgm:cxn modelId="{0138458F-D77A-454F-AFD3-FB3643EF3CCC}" type="presOf" srcId="{34E22613-2FF9-454D-AA70-8C305A1175AE}" destId="{7F40D748-1CDA-407C-85EB-796D3E835CDE}" srcOrd="0" destOrd="0" presId="urn:microsoft.com/office/officeart/2005/8/layout/list1"/>
    <dgm:cxn modelId="{CFEF9259-150C-4152-97D1-60B6E6CAE11F}" type="presOf" srcId="{15969F5F-735D-4C75-A66D-5862BA7E4C1F}" destId="{12A0AB29-116A-419D-BB79-D71030411527}" srcOrd="0" destOrd="0" presId="urn:microsoft.com/office/officeart/2005/8/layout/list1"/>
    <dgm:cxn modelId="{97975E4A-DAC2-4C62-9950-F41F9C6E6547}" type="presParOf" srcId="{F2C78E01-6E8B-4D35-AC16-1A18C141EEE9}" destId="{1882A56C-841C-46D0-80BF-F708D59AE0D3}" srcOrd="0" destOrd="0" presId="urn:microsoft.com/office/officeart/2005/8/layout/list1"/>
    <dgm:cxn modelId="{501A9341-E5E9-441D-AA46-4BACEC2830A7}" type="presParOf" srcId="{1882A56C-841C-46D0-80BF-F708D59AE0D3}" destId="{12A0AB29-116A-419D-BB79-D71030411527}" srcOrd="0" destOrd="0" presId="urn:microsoft.com/office/officeart/2005/8/layout/list1"/>
    <dgm:cxn modelId="{5C0745FB-E928-41C9-8589-1F07D3D0A7A2}" type="presParOf" srcId="{1882A56C-841C-46D0-80BF-F708D59AE0D3}" destId="{92E89D3A-3459-47AC-9FAE-C17BBA63E962}" srcOrd="1" destOrd="0" presId="urn:microsoft.com/office/officeart/2005/8/layout/list1"/>
    <dgm:cxn modelId="{831927E7-F631-4A3A-935A-22E502DFE09E}" type="presParOf" srcId="{F2C78E01-6E8B-4D35-AC16-1A18C141EEE9}" destId="{B4BD068E-CDF2-428F-A47C-E7BBC6EA39EF}" srcOrd="1" destOrd="0" presId="urn:microsoft.com/office/officeart/2005/8/layout/list1"/>
    <dgm:cxn modelId="{E841470F-8B3D-4A02-934F-FBCA9B127C35}" type="presParOf" srcId="{F2C78E01-6E8B-4D35-AC16-1A18C141EEE9}" destId="{1106C14A-EB50-4AB5-BCF8-0B6C39AA3343}" srcOrd="2" destOrd="0" presId="urn:microsoft.com/office/officeart/2005/8/layout/list1"/>
    <dgm:cxn modelId="{D96D790C-FC0E-46A9-A0A0-2BC665D9EA0B}" type="presParOf" srcId="{F2C78E01-6E8B-4D35-AC16-1A18C141EEE9}" destId="{3C33D810-E56E-4250-A221-B49EBD76066E}" srcOrd="3" destOrd="0" presId="urn:microsoft.com/office/officeart/2005/8/layout/list1"/>
    <dgm:cxn modelId="{4C22C17C-6B38-4912-AA46-73383969044F}" type="presParOf" srcId="{F2C78E01-6E8B-4D35-AC16-1A18C141EEE9}" destId="{B6425B6D-12B5-4712-ACBF-C2113ABCE374}" srcOrd="4" destOrd="0" presId="urn:microsoft.com/office/officeart/2005/8/layout/list1"/>
    <dgm:cxn modelId="{D7E4A841-F1BA-46F8-B5EC-8174418486F2}" type="presParOf" srcId="{B6425B6D-12B5-4712-ACBF-C2113ABCE374}" destId="{709AE6A8-055B-454A-A02B-E4E7F729DD91}" srcOrd="0" destOrd="0" presId="urn:microsoft.com/office/officeart/2005/8/layout/list1"/>
    <dgm:cxn modelId="{D6ADBC61-A0D1-4F1C-B175-A829BAC1405F}" type="presParOf" srcId="{B6425B6D-12B5-4712-ACBF-C2113ABCE374}" destId="{DDEB2F94-4AE3-4A2A-A8DB-C41E6397E24C}" srcOrd="1" destOrd="0" presId="urn:microsoft.com/office/officeart/2005/8/layout/list1"/>
    <dgm:cxn modelId="{9DB39093-F74F-4922-9500-195C03393C3F}" type="presParOf" srcId="{F2C78E01-6E8B-4D35-AC16-1A18C141EEE9}" destId="{8D8B4526-03FC-44C2-92EB-4F8B9A53AD7A}" srcOrd="5" destOrd="0" presId="urn:microsoft.com/office/officeart/2005/8/layout/list1"/>
    <dgm:cxn modelId="{2A3BCFA7-3665-4307-925E-380D756F4CF1}" type="presParOf" srcId="{F2C78E01-6E8B-4D35-AC16-1A18C141EEE9}" destId="{301F4945-2654-4892-BCC5-36B2F510A36D}" srcOrd="6" destOrd="0" presId="urn:microsoft.com/office/officeart/2005/8/layout/list1"/>
    <dgm:cxn modelId="{18151651-D87C-44FD-B302-286DC0CD20F0}" type="presParOf" srcId="{F2C78E01-6E8B-4D35-AC16-1A18C141EEE9}" destId="{81F9261B-CCAA-45DE-A83A-C9AF614264FF}" srcOrd="7" destOrd="0" presId="urn:microsoft.com/office/officeart/2005/8/layout/list1"/>
    <dgm:cxn modelId="{11FC931E-2787-45E7-A477-FC898D8ADE57}" type="presParOf" srcId="{F2C78E01-6E8B-4D35-AC16-1A18C141EEE9}" destId="{2E975587-64D0-4CDE-BEC2-2F534F0FD0A6}" srcOrd="8" destOrd="0" presId="urn:microsoft.com/office/officeart/2005/8/layout/list1"/>
    <dgm:cxn modelId="{DF6293D3-C6E1-4967-B378-5732D56FA16C}" type="presParOf" srcId="{2E975587-64D0-4CDE-BEC2-2F534F0FD0A6}" destId="{7F40D748-1CDA-407C-85EB-796D3E835CDE}" srcOrd="0" destOrd="0" presId="urn:microsoft.com/office/officeart/2005/8/layout/list1"/>
    <dgm:cxn modelId="{2D34E498-B15A-487E-996C-44FD6CDB1C86}" type="presParOf" srcId="{2E975587-64D0-4CDE-BEC2-2F534F0FD0A6}" destId="{EC4A9B96-4D67-4CE2-90A8-00BFC23CB23C}" srcOrd="1" destOrd="0" presId="urn:microsoft.com/office/officeart/2005/8/layout/list1"/>
    <dgm:cxn modelId="{57E6B8DC-25A3-4D13-9B63-010067ADC092}" type="presParOf" srcId="{F2C78E01-6E8B-4D35-AC16-1A18C141EEE9}" destId="{54824492-B292-4FC3-B425-710C13C7B6CB}" srcOrd="9" destOrd="0" presId="urn:microsoft.com/office/officeart/2005/8/layout/list1"/>
    <dgm:cxn modelId="{5C372B77-1464-49B6-AB4D-CAC2E4CB9377}" type="presParOf" srcId="{F2C78E01-6E8B-4D35-AC16-1A18C141EEE9}" destId="{E4930568-3823-40A6-AC2F-3C381F37582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2511CE-414C-458A-80C5-324EB27DCB5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F100006A-B073-441C-B03A-7EB7A6DF11C7}">
      <dgm:prSet phldrT="[文本]"/>
      <dgm:spPr/>
      <dgm:t>
        <a:bodyPr/>
        <a:lstStyle/>
        <a:p>
          <a:r>
            <a:rPr lang="zh-CN" altLang="en-US" dirty="0" smtClean="0"/>
            <a:t>计数器算法</a:t>
          </a:r>
          <a:endParaRPr lang="zh-CN" altLang="en-US" dirty="0"/>
        </a:p>
      </dgm:t>
    </dgm:pt>
    <dgm:pt modelId="{A5399DE6-1F11-4F23-91E4-4F81DD15E547}" type="parTrans" cxnId="{A4E10E81-ADB2-420B-A7D0-1276862980FE}">
      <dgm:prSet/>
      <dgm:spPr/>
      <dgm:t>
        <a:bodyPr/>
        <a:lstStyle/>
        <a:p>
          <a:endParaRPr lang="zh-CN" altLang="en-US"/>
        </a:p>
      </dgm:t>
    </dgm:pt>
    <dgm:pt modelId="{D42B7A71-5192-4F99-B8C4-BB382DC78CAF}" type="sibTrans" cxnId="{A4E10E81-ADB2-420B-A7D0-1276862980FE}">
      <dgm:prSet/>
      <dgm:spPr/>
      <dgm:t>
        <a:bodyPr/>
        <a:lstStyle/>
        <a:p>
          <a:endParaRPr lang="zh-CN" altLang="en-US"/>
        </a:p>
      </dgm:t>
    </dgm:pt>
    <dgm:pt modelId="{E63C7FBB-383D-4656-830F-0AAAC83C64AF}">
      <dgm:prSet phldrT="[文本]"/>
      <dgm:spPr/>
      <dgm:t>
        <a:bodyPr/>
        <a:lstStyle/>
        <a:p>
          <a:r>
            <a:rPr lang="zh-CN" altLang="en-US" dirty="0" smtClean="0"/>
            <a:t>漏桶算法（</a:t>
          </a:r>
          <a:r>
            <a:rPr lang="en-US" altLang="zh-CN" dirty="0" smtClean="0"/>
            <a:t>leaky bucket</a:t>
          </a:r>
          <a:r>
            <a:rPr lang="zh-CN" altLang="en-US" dirty="0" smtClean="0"/>
            <a:t>）</a:t>
          </a:r>
          <a:endParaRPr lang="zh-CN" altLang="en-US" dirty="0"/>
        </a:p>
      </dgm:t>
    </dgm:pt>
    <dgm:pt modelId="{19304383-B538-4B7A-9723-9C920F168BAE}" type="parTrans" cxnId="{D33424F7-2B38-4BE1-A9CE-97B233811C7F}">
      <dgm:prSet/>
      <dgm:spPr/>
      <dgm:t>
        <a:bodyPr/>
        <a:lstStyle/>
        <a:p>
          <a:endParaRPr lang="zh-CN" altLang="en-US"/>
        </a:p>
      </dgm:t>
    </dgm:pt>
    <dgm:pt modelId="{EC08586F-7108-491C-B1C1-92F3EBE6AB09}" type="sibTrans" cxnId="{D33424F7-2B38-4BE1-A9CE-97B233811C7F}">
      <dgm:prSet/>
      <dgm:spPr/>
      <dgm:t>
        <a:bodyPr/>
        <a:lstStyle/>
        <a:p>
          <a:endParaRPr lang="zh-CN" altLang="en-US"/>
        </a:p>
      </dgm:t>
    </dgm:pt>
    <dgm:pt modelId="{2F7FB37F-E84D-48DA-9998-F0A7ED7F0F24}">
      <dgm:prSet phldrT="[文本]"/>
      <dgm:spPr/>
      <dgm:t>
        <a:bodyPr/>
        <a:lstStyle/>
        <a:p>
          <a:r>
            <a:rPr lang="zh-CN" altLang="en-US" dirty="0" smtClean="0"/>
            <a:t>令牌算法（</a:t>
          </a:r>
          <a:r>
            <a:rPr lang="en-US" altLang="zh-CN" dirty="0" smtClean="0"/>
            <a:t>Token Bucket</a:t>
          </a:r>
          <a:r>
            <a:rPr lang="zh-CN" altLang="en-US" dirty="0" smtClean="0"/>
            <a:t>）</a:t>
          </a:r>
          <a:endParaRPr lang="zh-CN" altLang="en-US" dirty="0"/>
        </a:p>
      </dgm:t>
    </dgm:pt>
    <dgm:pt modelId="{92D96C30-9DE0-4AEE-9FDF-F02B7E2B479D}" type="parTrans" cxnId="{AD590D19-FEA1-450B-8017-B63B28398413}">
      <dgm:prSet/>
      <dgm:spPr/>
      <dgm:t>
        <a:bodyPr/>
        <a:lstStyle/>
        <a:p>
          <a:endParaRPr lang="zh-CN" altLang="en-US"/>
        </a:p>
      </dgm:t>
    </dgm:pt>
    <dgm:pt modelId="{F28D1CCF-7A53-4703-9265-8363917483EE}" type="sibTrans" cxnId="{AD590D19-FEA1-450B-8017-B63B28398413}">
      <dgm:prSet/>
      <dgm:spPr/>
      <dgm:t>
        <a:bodyPr/>
        <a:lstStyle/>
        <a:p>
          <a:endParaRPr lang="zh-CN" altLang="en-US"/>
        </a:p>
      </dgm:t>
    </dgm:pt>
    <dgm:pt modelId="{478D5C47-33D4-4FCF-BCE1-B357800B13D0}">
      <dgm:prSet phldrT="[文本]"/>
      <dgm:spPr/>
      <dgm:t>
        <a:bodyPr/>
        <a:lstStyle/>
        <a:p>
          <a:r>
            <a:rPr lang="zh-CN" altLang="en-US" dirty="0" smtClean="0"/>
            <a:t>滑动窗口算法</a:t>
          </a:r>
          <a:endParaRPr lang="zh-CN" altLang="en-US" dirty="0"/>
        </a:p>
      </dgm:t>
    </dgm:pt>
    <dgm:pt modelId="{A5EDE535-DD73-4D7E-AE2B-9EFDEAEE37A0}" type="parTrans" cxnId="{C36686AB-9657-4EE2-B456-DF983C6ACFFD}">
      <dgm:prSet/>
      <dgm:spPr/>
      <dgm:t>
        <a:bodyPr/>
        <a:lstStyle/>
        <a:p>
          <a:endParaRPr lang="zh-CN" altLang="en-US"/>
        </a:p>
      </dgm:t>
    </dgm:pt>
    <dgm:pt modelId="{2FAB446D-2C38-4DD6-965E-20DA2B17F7E3}" type="sibTrans" cxnId="{C36686AB-9657-4EE2-B456-DF983C6ACFFD}">
      <dgm:prSet/>
      <dgm:spPr/>
      <dgm:t>
        <a:bodyPr/>
        <a:lstStyle/>
        <a:p>
          <a:endParaRPr lang="zh-CN" altLang="en-US"/>
        </a:p>
      </dgm:t>
    </dgm:pt>
    <dgm:pt modelId="{FE85C25F-DDDB-4005-9157-6040ABC4F5B9}" type="pres">
      <dgm:prSet presAssocID="{492511CE-414C-458A-80C5-324EB27DCB55}" presName="Name0" presStyleCnt="0">
        <dgm:presLayoutVars>
          <dgm:chMax val="7"/>
          <dgm:chPref val="7"/>
          <dgm:dir/>
        </dgm:presLayoutVars>
      </dgm:prSet>
      <dgm:spPr/>
      <dgm:t>
        <a:bodyPr/>
        <a:lstStyle/>
        <a:p>
          <a:endParaRPr lang="zh-CN" altLang="en-US"/>
        </a:p>
      </dgm:t>
    </dgm:pt>
    <dgm:pt modelId="{3EA3B4C8-34DA-4E92-8641-9D8144A9E7B3}" type="pres">
      <dgm:prSet presAssocID="{492511CE-414C-458A-80C5-324EB27DCB55}" presName="Name1" presStyleCnt="0"/>
      <dgm:spPr/>
    </dgm:pt>
    <dgm:pt modelId="{2A8FF64A-C5E1-429E-99C2-E56D9158EE40}" type="pres">
      <dgm:prSet presAssocID="{492511CE-414C-458A-80C5-324EB27DCB55}" presName="cycle" presStyleCnt="0"/>
      <dgm:spPr/>
    </dgm:pt>
    <dgm:pt modelId="{A5242ED3-76D7-48AA-82E7-3042B6E9E88C}" type="pres">
      <dgm:prSet presAssocID="{492511CE-414C-458A-80C5-324EB27DCB55}" presName="srcNode" presStyleLbl="node1" presStyleIdx="0" presStyleCnt="4"/>
      <dgm:spPr/>
    </dgm:pt>
    <dgm:pt modelId="{D966858E-179B-4CD3-8BC6-D31F702E1435}" type="pres">
      <dgm:prSet presAssocID="{492511CE-414C-458A-80C5-324EB27DCB55}" presName="conn" presStyleLbl="parChTrans1D2" presStyleIdx="0" presStyleCnt="1"/>
      <dgm:spPr/>
      <dgm:t>
        <a:bodyPr/>
        <a:lstStyle/>
        <a:p>
          <a:endParaRPr lang="zh-CN" altLang="en-US"/>
        </a:p>
      </dgm:t>
    </dgm:pt>
    <dgm:pt modelId="{5DDFA64A-7B60-43A1-ABFD-8EF1EF863A10}" type="pres">
      <dgm:prSet presAssocID="{492511CE-414C-458A-80C5-324EB27DCB55}" presName="extraNode" presStyleLbl="node1" presStyleIdx="0" presStyleCnt="4"/>
      <dgm:spPr/>
    </dgm:pt>
    <dgm:pt modelId="{69C08CE9-245D-4005-9D75-84CC36D21605}" type="pres">
      <dgm:prSet presAssocID="{492511CE-414C-458A-80C5-324EB27DCB55}" presName="dstNode" presStyleLbl="node1" presStyleIdx="0" presStyleCnt="4"/>
      <dgm:spPr/>
    </dgm:pt>
    <dgm:pt modelId="{18A3040B-8C84-4F8E-BC2D-B8D595BEC0A5}" type="pres">
      <dgm:prSet presAssocID="{F100006A-B073-441C-B03A-7EB7A6DF11C7}" presName="text_1" presStyleLbl="node1" presStyleIdx="0" presStyleCnt="4" custLinFactNeighborX="647" custLinFactNeighborY="-39521">
        <dgm:presLayoutVars>
          <dgm:bulletEnabled val="1"/>
        </dgm:presLayoutVars>
      </dgm:prSet>
      <dgm:spPr/>
      <dgm:t>
        <a:bodyPr/>
        <a:lstStyle/>
        <a:p>
          <a:endParaRPr lang="zh-CN" altLang="en-US"/>
        </a:p>
      </dgm:t>
    </dgm:pt>
    <dgm:pt modelId="{A5F8AB6C-5C66-4FAB-87BA-19E5769294CB}" type="pres">
      <dgm:prSet presAssocID="{F100006A-B073-441C-B03A-7EB7A6DF11C7}" presName="accent_1" presStyleCnt="0"/>
      <dgm:spPr/>
    </dgm:pt>
    <dgm:pt modelId="{6FE66825-C915-491C-B20B-A436A7351E42}" type="pres">
      <dgm:prSet presAssocID="{F100006A-B073-441C-B03A-7EB7A6DF11C7}" presName="accentRepeatNode" presStyleLbl="solidFgAcc1" presStyleIdx="0" presStyleCnt="4" custLinFactNeighborX="-18412" custLinFactNeighborY="-36974"/>
      <dgm:spPr/>
    </dgm:pt>
    <dgm:pt modelId="{8BDBFAAB-7214-4B01-904A-5C5D1827BEC7}" type="pres">
      <dgm:prSet presAssocID="{478D5C47-33D4-4FCF-BCE1-B357800B13D0}" presName="text_2" presStyleLbl="node1" presStyleIdx="1" presStyleCnt="4">
        <dgm:presLayoutVars>
          <dgm:bulletEnabled val="1"/>
        </dgm:presLayoutVars>
      </dgm:prSet>
      <dgm:spPr/>
      <dgm:t>
        <a:bodyPr/>
        <a:lstStyle/>
        <a:p>
          <a:endParaRPr lang="zh-CN" altLang="en-US"/>
        </a:p>
      </dgm:t>
    </dgm:pt>
    <dgm:pt modelId="{B202543C-F8DC-4A68-BB69-ED1BED60EAC4}" type="pres">
      <dgm:prSet presAssocID="{478D5C47-33D4-4FCF-BCE1-B357800B13D0}" presName="accent_2" presStyleCnt="0"/>
      <dgm:spPr/>
    </dgm:pt>
    <dgm:pt modelId="{9DEC134E-0576-4B57-BF9C-019AC05BA78A}" type="pres">
      <dgm:prSet presAssocID="{478D5C47-33D4-4FCF-BCE1-B357800B13D0}" presName="accentRepeatNode" presStyleLbl="solidFgAcc1" presStyleIdx="1" presStyleCnt="4"/>
      <dgm:spPr/>
    </dgm:pt>
    <dgm:pt modelId="{A9A2FBE0-6E9B-4DB2-BCC0-087223B3AD7F}" type="pres">
      <dgm:prSet presAssocID="{E63C7FBB-383D-4656-830F-0AAAC83C64AF}" presName="text_3" presStyleLbl="node1" presStyleIdx="2" presStyleCnt="4">
        <dgm:presLayoutVars>
          <dgm:bulletEnabled val="1"/>
        </dgm:presLayoutVars>
      </dgm:prSet>
      <dgm:spPr/>
      <dgm:t>
        <a:bodyPr/>
        <a:lstStyle/>
        <a:p>
          <a:endParaRPr lang="zh-CN" altLang="en-US"/>
        </a:p>
      </dgm:t>
    </dgm:pt>
    <dgm:pt modelId="{63D943C3-A6F5-4757-8E5F-35AA1AF11DAA}" type="pres">
      <dgm:prSet presAssocID="{E63C7FBB-383D-4656-830F-0AAAC83C64AF}" presName="accent_3" presStyleCnt="0"/>
      <dgm:spPr/>
    </dgm:pt>
    <dgm:pt modelId="{B7CFB7D0-B6EC-4315-9B76-954C00D2ED00}" type="pres">
      <dgm:prSet presAssocID="{E63C7FBB-383D-4656-830F-0AAAC83C64AF}" presName="accentRepeatNode" presStyleLbl="solidFgAcc1" presStyleIdx="2" presStyleCnt="4" custLinFactNeighborX="2508" custLinFactNeighborY="22887"/>
      <dgm:spPr/>
    </dgm:pt>
    <dgm:pt modelId="{C0B7DC7F-CAB9-4944-8044-2B3800FEBA7D}" type="pres">
      <dgm:prSet presAssocID="{2F7FB37F-E84D-48DA-9998-F0A7ED7F0F24}" presName="text_4" presStyleLbl="node1" presStyleIdx="3" presStyleCnt="4" custLinFactNeighborX="1899" custLinFactNeighborY="37701">
        <dgm:presLayoutVars>
          <dgm:bulletEnabled val="1"/>
        </dgm:presLayoutVars>
      </dgm:prSet>
      <dgm:spPr/>
      <dgm:t>
        <a:bodyPr/>
        <a:lstStyle/>
        <a:p>
          <a:endParaRPr lang="zh-CN" altLang="en-US"/>
        </a:p>
      </dgm:t>
    </dgm:pt>
    <dgm:pt modelId="{B8B875E3-D314-4AB6-B216-35FA8B54AE30}" type="pres">
      <dgm:prSet presAssocID="{2F7FB37F-E84D-48DA-9998-F0A7ED7F0F24}" presName="accent_4" presStyleCnt="0"/>
      <dgm:spPr/>
    </dgm:pt>
    <dgm:pt modelId="{33FC86B8-7FDC-400B-B77D-939813539C3D}" type="pres">
      <dgm:prSet presAssocID="{2F7FB37F-E84D-48DA-9998-F0A7ED7F0F24}" presName="accentRepeatNode" presStyleLbl="solidFgAcc1" presStyleIdx="3" presStyleCnt="4" custLinFactNeighborX="-8494" custLinFactNeighborY="27785"/>
      <dgm:spPr/>
    </dgm:pt>
  </dgm:ptLst>
  <dgm:cxnLst>
    <dgm:cxn modelId="{AD590D19-FEA1-450B-8017-B63B28398413}" srcId="{492511CE-414C-458A-80C5-324EB27DCB55}" destId="{2F7FB37F-E84D-48DA-9998-F0A7ED7F0F24}" srcOrd="3" destOrd="0" parTransId="{92D96C30-9DE0-4AEE-9FDF-F02B7E2B479D}" sibTransId="{F28D1CCF-7A53-4703-9265-8363917483EE}"/>
    <dgm:cxn modelId="{D3E1DAA1-8BFC-4C15-A4B1-CC1E4FBEFEE9}" type="presOf" srcId="{E63C7FBB-383D-4656-830F-0AAAC83C64AF}" destId="{A9A2FBE0-6E9B-4DB2-BCC0-087223B3AD7F}" srcOrd="0" destOrd="0" presId="urn:microsoft.com/office/officeart/2008/layout/VerticalCurvedList"/>
    <dgm:cxn modelId="{2FF14901-8B60-420E-AF26-C13ADF8FF614}" type="presOf" srcId="{492511CE-414C-458A-80C5-324EB27DCB55}" destId="{FE85C25F-DDDB-4005-9157-6040ABC4F5B9}" srcOrd="0" destOrd="0" presId="urn:microsoft.com/office/officeart/2008/layout/VerticalCurvedList"/>
    <dgm:cxn modelId="{2202398B-7B60-499C-97B7-C17FD82610F5}" type="presOf" srcId="{2F7FB37F-E84D-48DA-9998-F0A7ED7F0F24}" destId="{C0B7DC7F-CAB9-4944-8044-2B3800FEBA7D}" srcOrd="0" destOrd="0" presId="urn:microsoft.com/office/officeart/2008/layout/VerticalCurvedList"/>
    <dgm:cxn modelId="{64B701B3-99B0-46E1-8A15-7FB795FEC0B3}" type="presOf" srcId="{478D5C47-33D4-4FCF-BCE1-B357800B13D0}" destId="{8BDBFAAB-7214-4B01-904A-5C5D1827BEC7}" srcOrd="0" destOrd="0" presId="urn:microsoft.com/office/officeart/2008/layout/VerticalCurvedList"/>
    <dgm:cxn modelId="{D33424F7-2B38-4BE1-A9CE-97B233811C7F}" srcId="{492511CE-414C-458A-80C5-324EB27DCB55}" destId="{E63C7FBB-383D-4656-830F-0AAAC83C64AF}" srcOrd="2" destOrd="0" parTransId="{19304383-B538-4B7A-9723-9C920F168BAE}" sibTransId="{EC08586F-7108-491C-B1C1-92F3EBE6AB09}"/>
    <dgm:cxn modelId="{A4E10E81-ADB2-420B-A7D0-1276862980FE}" srcId="{492511CE-414C-458A-80C5-324EB27DCB55}" destId="{F100006A-B073-441C-B03A-7EB7A6DF11C7}" srcOrd="0" destOrd="0" parTransId="{A5399DE6-1F11-4F23-91E4-4F81DD15E547}" sibTransId="{D42B7A71-5192-4F99-B8C4-BB382DC78CAF}"/>
    <dgm:cxn modelId="{FE25D33E-E23A-48A2-B183-D78687C57B76}" type="presOf" srcId="{D42B7A71-5192-4F99-B8C4-BB382DC78CAF}" destId="{D966858E-179B-4CD3-8BC6-D31F702E1435}" srcOrd="0" destOrd="0" presId="urn:microsoft.com/office/officeart/2008/layout/VerticalCurvedList"/>
    <dgm:cxn modelId="{C36686AB-9657-4EE2-B456-DF983C6ACFFD}" srcId="{492511CE-414C-458A-80C5-324EB27DCB55}" destId="{478D5C47-33D4-4FCF-BCE1-B357800B13D0}" srcOrd="1" destOrd="0" parTransId="{A5EDE535-DD73-4D7E-AE2B-9EFDEAEE37A0}" sibTransId="{2FAB446D-2C38-4DD6-965E-20DA2B17F7E3}"/>
    <dgm:cxn modelId="{D0A59F9F-CFEA-4823-A9F6-1CF9C7A38CAE}" type="presOf" srcId="{F100006A-B073-441C-B03A-7EB7A6DF11C7}" destId="{18A3040B-8C84-4F8E-BC2D-B8D595BEC0A5}" srcOrd="0" destOrd="0" presId="urn:microsoft.com/office/officeart/2008/layout/VerticalCurvedList"/>
    <dgm:cxn modelId="{7EEEFAE5-9ABA-415C-911D-281ADE4CCBDA}" type="presParOf" srcId="{FE85C25F-DDDB-4005-9157-6040ABC4F5B9}" destId="{3EA3B4C8-34DA-4E92-8641-9D8144A9E7B3}" srcOrd="0" destOrd="0" presId="urn:microsoft.com/office/officeart/2008/layout/VerticalCurvedList"/>
    <dgm:cxn modelId="{4FFA5A03-2B1A-43ED-BD21-25BA43DDD9B8}" type="presParOf" srcId="{3EA3B4C8-34DA-4E92-8641-9D8144A9E7B3}" destId="{2A8FF64A-C5E1-429E-99C2-E56D9158EE40}" srcOrd="0" destOrd="0" presId="urn:microsoft.com/office/officeart/2008/layout/VerticalCurvedList"/>
    <dgm:cxn modelId="{BBF87D19-A216-4B44-83C9-02B53E41E173}" type="presParOf" srcId="{2A8FF64A-C5E1-429E-99C2-E56D9158EE40}" destId="{A5242ED3-76D7-48AA-82E7-3042B6E9E88C}" srcOrd="0" destOrd="0" presId="urn:microsoft.com/office/officeart/2008/layout/VerticalCurvedList"/>
    <dgm:cxn modelId="{0E5FC29D-4CFE-45DA-AB6C-D2E1D0470336}" type="presParOf" srcId="{2A8FF64A-C5E1-429E-99C2-E56D9158EE40}" destId="{D966858E-179B-4CD3-8BC6-D31F702E1435}" srcOrd="1" destOrd="0" presId="urn:microsoft.com/office/officeart/2008/layout/VerticalCurvedList"/>
    <dgm:cxn modelId="{42F93798-7A7B-410B-89C7-BDECD8B2E683}" type="presParOf" srcId="{2A8FF64A-C5E1-429E-99C2-E56D9158EE40}" destId="{5DDFA64A-7B60-43A1-ABFD-8EF1EF863A10}" srcOrd="2" destOrd="0" presId="urn:microsoft.com/office/officeart/2008/layout/VerticalCurvedList"/>
    <dgm:cxn modelId="{FB0199A5-FDAC-498A-9560-E0B8BC1D5FCD}" type="presParOf" srcId="{2A8FF64A-C5E1-429E-99C2-E56D9158EE40}" destId="{69C08CE9-245D-4005-9D75-84CC36D21605}" srcOrd="3" destOrd="0" presId="urn:microsoft.com/office/officeart/2008/layout/VerticalCurvedList"/>
    <dgm:cxn modelId="{D6AFB625-F60C-45FD-AD62-C3AF004BF5B9}" type="presParOf" srcId="{3EA3B4C8-34DA-4E92-8641-9D8144A9E7B3}" destId="{18A3040B-8C84-4F8E-BC2D-B8D595BEC0A5}" srcOrd="1" destOrd="0" presId="urn:microsoft.com/office/officeart/2008/layout/VerticalCurvedList"/>
    <dgm:cxn modelId="{7AD36CAE-6065-4FB4-9941-20AB4008FD68}" type="presParOf" srcId="{3EA3B4C8-34DA-4E92-8641-9D8144A9E7B3}" destId="{A5F8AB6C-5C66-4FAB-87BA-19E5769294CB}" srcOrd="2" destOrd="0" presId="urn:microsoft.com/office/officeart/2008/layout/VerticalCurvedList"/>
    <dgm:cxn modelId="{6B608500-1A62-4F2C-BA13-A26C7CA0D295}" type="presParOf" srcId="{A5F8AB6C-5C66-4FAB-87BA-19E5769294CB}" destId="{6FE66825-C915-491C-B20B-A436A7351E42}" srcOrd="0" destOrd="0" presId="urn:microsoft.com/office/officeart/2008/layout/VerticalCurvedList"/>
    <dgm:cxn modelId="{06B0FFBB-B10A-4FAA-9D25-2F19AAC58496}" type="presParOf" srcId="{3EA3B4C8-34DA-4E92-8641-9D8144A9E7B3}" destId="{8BDBFAAB-7214-4B01-904A-5C5D1827BEC7}" srcOrd="3" destOrd="0" presId="urn:microsoft.com/office/officeart/2008/layout/VerticalCurvedList"/>
    <dgm:cxn modelId="{C4841F2D-FB7B-419B-9E5A-205D8C1DD97A}" type="presParOf" srcId="{3EA3B4C8-34DA-4E92-8641-9D8144A9E7B3}" destId="{B202543C-F8DC-4A68-BB69-ED1BED60EAC4}" srcOrd="4" destOrd="0" presId="urn:microsoft.com/office/officeart/2008/layout/VerticalCurvedList"/>
    <dgm:cxn modelId="{56ACD00C-DCF7-4A7F-AE61-0EB7BB7B4412}" type="presParOf" srcId="{B202543C-F8DC-4A68-BB69-ED1BED60EAC4}" destId="{9DEC134E-0576-4B57-BF9C-019AC05BA78A}" srcOrd="0" destOrd="0" presId="urn:microsoft.com/office/officeart/2008/layout/VerticalCurvedList"/>
    <dgm:cxn modelId="{A75A361A-778A-4AFD-9C7A-81148504ADE4}" type="presParOf" srcId="{3EA3B4C8-34DA-4E92-8641-9D8144A9E7B3}" destId="{A9A2FBE0-6E9B-4DB2-BCC0-087223B3AD7F}" srcOrd="5" destOrd="0" presId="urn:microsoft.com/office/officeart/2008/layout/VerticalCurvedList"/>
    <dgm:cxn modelId="{9E18F59C-7A73-4B6A-812D-38A735A0FE1B}" type="presParOf" srcId="{3EA3B4C8-34DA-4E92-8641-9D8144A9E7B3}" destId="{63D943C3-A6F5-4757-8E5F-35AA1AF11DAA}" srcOrd="6" destOrd="0" presId="urn:microsoft.com/office/officeart/2008/layout/VerticalCurvedList"/>
    <dgm:cxn modelId="{1EC57E7C-71DF-49F1-8426-332124ADE23C}" type="presParOf" srcId="{63D943C3-A6F5-4757-8E5F-35AA1AF11DAA}" destId="{B7CFB7D0-B6EC-4315-9B76-954C00D2ED00}" srcOrd="0" destOrd="0" presId="urn:microsoft.com/office/officeart/2008/layout/VerticalCurvedList"/>
    <dgm:cxn modelId="{7D35750A-D253-4A5A-BF24-F6A04261076D}" type="presParOf" srcId="{3EA3B4C8-34DA-4E92-8641-9D8144A9E7B3}" destId="{C0B7DC7F-CAB9-4944-8044-2B3800FEBA7D}" srcOrd="7" destOrd="0" presId="urn:microsoft.com/office/officeart/2008/layout/VerticalCurvedList"/>
    <dgm:cxn modelId="{43B99132-F571-4A5C-93F4-0A9A7BCC18FB}" type="presParOf" srcId="{3EA3B4C8-34DA-4E92-8641-9D8144A9E7B3}" destId="{B8B875E3-D314-4AB6-B216-35FA8B54AE30}" srcOrd="8" destOrd="0" presId="urn:microsoft.com/office/officeart/2008/layout/VerticalCurvedList"/>
    <dgm:cxn modelId="{10B33E38-1B95-434F-947A-51F281CE2197}" type="presParOf" srcId="{B8B875E3-D314-4AB6-B216-35FA8B54AE30}" destId="{33FC86B8-7FDC-400B-B77D-939813539C3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6C14A-EB50-4AB5-BCF8-0B6C39AA3343}">
      <dsp:nvSpPr>
        <dsp:cNvPr id="0" name=""/>
        <dsp:cNvSpPr/>
      </dsp:nvSpPr>
      <dsp:spPr>
        <a:xfrm>
          <a:off x="0" y="523991"/>
          <a:ext cx="8143875" cy="8316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2E89D3A-3459-47AC-9FAE-C17BBA63E962}">
      <dsp:nvSpPr>
        <dsp:cNvPr id="0" name=""/>
        <dsp:cNvSpPr/>
      </dsp:nvSpPr>
      <dsp:spPr>
        <a:xfrm>
          <a:off x="407193" y="36911"/>
          <a:ext cx="5700712" cy="974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1466850">
            <a:lnSpc>
              <a:spcPct val="90000"/>
            </a:lnSpc>
            <a:spcBef>
              <a:spcPct val="0"/>
            </a:spcBef>
            <a:spcAft>
              <a:spcPct val="35000"/>
            </a:spcAft>
          </a:pPr>
          <a:r>
            <a:rPr lang="en-US" altLang="zh-CN" sz="3300" kern="1200" dirty="0" smtClean="0"/>
            <a:t>1</a:t>
          </a:r>
          <a:r>
            <a:rPr lang="zh-CN" altLang="en-US" sz="3300" kern="1200" dirty="0" smtClean="0"/>
            <a:t>、引入</a:t>
          </a:r>
          <a:endParaRPr lang="zh-CN" altLang="en-US" sz="3300" kern="1200" dirty="0"/>
        </a:p>
      </dsp:txBody>
      <dsp:txXfrm>
        <a:off x="454748" y="84466"/>
        <a:ext cx="5605602" cy="879050"/>
      </dsp:txXfrm>
    </dsp:sp>
    <dsp:sp modelId="{301F4945-2654-4892-BCC5-36B2F510A36D}">
      <dsp:nvSpPr>
        <dsp:cNvPr id="0" name=""/>
        <dsp:cNvSpPr/>
      </dsp:nvSpPr>
      <dsp:spPr>
        <a:xfrm>
          <a:off x="0" y="2020871"/>
          <a:ext cx="8143875" cy="8316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DEB2F94-4AE3-4A2A-A8DB-C41E6397E24C}">
      <dsp:nvSpPr>
        <dsp:cNvPr id="0" name=""/>
        <dsp:cNvSpPr/>
      </dsp:nvSpPr>
      <dsp:spPr>
        <a:xfrm>
          <a:off x="407193" y="1533791"/>
          <a:ext cx="5700712" cy="974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1466850">
            <a:lnSpc>
              <a:spcPct val="90000"/>
            </a:lnSpc>
            <a:spcBef>
              <a:spcPct val="0"/>
            </a:spcBef>
            <a:spcAft>
              <a:spcPct val="35000"/>
            </a:spcAft>
          </a:pPr>
          <a:r>
            <a:rPr lang="en-US" altLang="zh-CN" sz="3300" kern="1200" dirty="0" smtClean="0"/>
            <a:t>2</a:t>
          </a:r>
          <a:r>
            <a:rPr lang="zh-CN" altLang="en-US" sz="3300" kern="1200" dirty="0" smtClean="0"/>
            <a:t>、实现的基础算法</a:t>
          </a:r>
          <a:endParaRPr lang="zh-CN" altLang="en-US" sz="3300" kern="1200" dirty="0"/>
        </a:p>
      </dsp:txBody>
      <dsp:txXfrm>
        <a:off x="454748" y="1581346"/>
        <a:ext cx="5605602" cy="879050"/>
      </dsp:txXfrm>
    </dsp:sp>
    <dsp:sp modelId="{E4930568-3823-40A6-AC2F-3C381F375821}">
      <dsp:nvSpPr>
        <dsp:cNvPr id="0" name=""/>
        <dsp:cNvSpPr/>
      </dsp:nvSpPr>
      <dsp:spPr>
        <a:xfrm>
          <a:off x="0" y="3517751"/>
          <a:ext cx="8143875" cy="8316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C4A9B96-4D67-4CE2-90A8-00BFC23CB23C}">
      <dsp:nvSpPr>
        <dsp:cNvPr id="0" name=""/>
        <dsp:cNvSpPr/>
      </dsp:nvSpPr>
      <dsp:spPr>
        <a:xfrm>
          <a:off x="407193" y="3030671"/>
          <a:ext cx="5700712" cy="974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1466850">
            <a:lnSpc>
              <a:spcPct val="90000"/>
            </a:lnSpc>
            <a:spcBef>
              <a:spcPct val="0"/>
            </a:spcBef>
            <a:spcAft>
              <a:spcPct val="35000"/>
            </a:spcAft>
          </a:pPr>
          <a:r>
            <a:rPr lang="en-US" altLang="zh-CN" sz="3300" kern="1200" dirty="0" smtClean="0"/>
            <a:t>3</a:t>
          </a:r>
          <a:r>
            <a:rPr lang="zh-CN" altLang="en-US" sz="3300" kern="1200" dirty="0" smtClean="0"/>
            <a:t>、应用级别限流</a:t>
          </a:r>
          <a:endParaRPr lang="en-US" altLang="zh-CN" sz="3300" kern="1200" dirty="0" smtClean="0"/>
        </a:p>
      </dsp:txBody>
      <dsp:txXfrm>
        <a:off x="454748" y="3078226"/>
        <a:ext cx="5605602" cy="879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66858E-179B-4CD3-8BC6-D31F702E1435}">
      <dsp:nvSpPr>
        <dsp:cNvPr id="0" name=""/>
        <dsp:cNvSpPr/>
      </dsp:nvSpPr>
      <dsp:spPr>
        <a:xfrm>
          <a:off x="-4112937" y="-631222"/>
          <a:ext cx="4900949" cy="4900949"/>
        </a:xfrm>
        <a:prstGeom prst="blockArc">
          <a:avLst>
            <a:gd name="adj1" fmla="val 18900000"/>
            <a:gd name="adj2" fmla="val 2700000"/>
            <a:gd name="adj3" fmla="val 441"/>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A3040B-8C84-4F8E-BC2D-B8D595BEC0A5}">
      <dsp:nvSpPr>
        <dsp:cNvPr id="0" name=""/>
        <dsp:cNvSpPr/>
      </dsp:nvSpPr>
      <dsp:spPr>
        <a:xfrm>
          <a:off x="449352" y="58510"/>
          <a:ext cx="5634637" cy="5597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300" tIns="55880" rIns="55880" bIns="55880" numCol="1" spcCol="1270" anchor="ctr" anchorCtr="0">
          <a:noAutofit/>
        </a:bodyPr>
        <a:lstStyle/>
        <a:p>
          <a:pPr lvl="0" algn="l" defTabSz="977900">
            <a:lnSpc>
              <a:spcPct val="90000"/>
            </a:lnSpc>
            <a:spcBef>
              <a:spcPct val="0"/>
            </a:spcBef>
            <a:spcAft>
              <a:spcPct val="35000"/>
            </a:spcAft>
          </a:pPr>
          <a:r>
            <a:rPr lang="zh-CN" altLang="en-US" sz="2200" kern="1200" dirty="0" smtClean="0"/>
            <a:t>计数器算法</a:t>
          </a:r>
          <a:endParaRPr lang="zh-CN" altLang="en-US" sz="2200" kern="1200" dirty="0"/>
        </a:p>
      </dsp:txBody>
      <dsp:txXfrm>
        <a:off x="449352" y="58510"/>
        <a:ext cx="5634637" cy="559747"/>
      </dsp:txXfrm>
    </dsp:sp>
    <dsp:sp modelId="{6FE66825-C915-491C-B20B-A436A7351E42}">
      <dsp:nvSpPr>
        <dsp:cNvPr id="0" name=""/>
        <dsp:cNvSpPr/>
      </dsp:nvSpPr>
      <dsp:spPr>
        <a:xfrm>
          <a:off x="0" y="0"/>
          <a:ext cx="699684" cy="69968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DBFAAB-7214-4B01-904A-5C5D1827BEC7}">
      <dsp:nvSpPr>
        <dsp:cNvPr id="0" name=""/>
        <dsp:cNvSpPr/>
      </dsp:nvSpPr>
      <dsp:spPr>
        <a:xfrm>
          <a:off x="733812" y="1119494"/>
          <a:ext cx="5313721" cy="5597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300" tIns="55880" rIns="55880" bIns="55880" numCol="1" spcCol="1270" anchor="ctr" anchorCtr="0">
          <a:noAutofit/>
        </a:bodyPr>
        <a:lstStyle/>
        <a:p>
          <a:pPr lvl="0" algn="l" defTabSz="977900">
            <a:lnSpc>
              <a:spcPct val="90000"/>
            </a:lnSpc>
            <a:spcBef>
              <a:spcPct val="0"/>
            </a:spcBef>
            <a:spcAft>
              <a:spcPct val="35000"/>
            </a:spcAft>
          </a:pPr>
          <a:r>
            <a:rPr lang="zh-CN" altLang="en-US" sz="2200" kern="1200" dirty="0" smtClean="0"/>
            <a:t>滑动窗口算法</a:t>
          </a:r>
          <a:endParaRPr lang="zh-CN" altLang="en-US" sz="2200" kern="1200" dirty="0"/>
        </a:p>
      </dsp:txBody>
      <dsp:txXfrm>
        <a:off x="733812" y="1119494"/>
        <a:ext cx="5313721" cy="559747"/>
      </dsp:txXfrm>
    </dsp:sp>
    <dsp:sp modelId="{9DEC134E-0576-4B57-BF9C-019AC05BA78A}">
      <dsp:nvSpPr>
        <dsp:cNvPr id="0" name=""/>
        <dsp:cNvSpPr/>
      </dsp:nvSpPr>
      <dsp:spPr>
        <a:xfrm>
          <a:off x="383969" y="1049526"/>
          <a:ext cx="699684" cy="69968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A2FBE0-6E9B-4DB2-BCC0-087223B3AD7F}">
      <dsp:nvSpPr>
        <dsp:cNvPr id="0" name=""/>
        <dsp:cNvSpPr/>
      </dsp:nvSpPr>
      <dsp:spPr>
        <a:xfrm>
          <a:off x="733812" y="1959261"/>
          <a:ext cx="5313721" cy="5597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300" tIns="55880" rIns="55880" bIns="55880" numCol="1" spcCol="1270" anchor="ctr" anchorCtr="0">
          <a:noAutofit/>
        </a:bodyPr>
        <a:lstStyle/>
        <a:p>
          <a:pPr lvl="0" algn="l" defTabSz="977900">
            <a:lnSpc>
              <a:spcPct val="90000"/>
            </a:lnSpc>
            <a:spcBef>
              <a:spcPct val="0"/>
            </a:spcBef>
            <a:spcAft>
              <a:spcPct val="35000"/>
            </a:spcAft>
          </a:pPr>
          <a:r>
            <a:rPr lang="zh-CN" altLang="en-US" sz="2200" kern="1200" dirty="0" smtClean="0"/>
            <a:t>漏桶算法（</a:t>
          </a:r>
          <a:r>
            <a:rPr lang="en-US" altLang="zh-CN" sz="2200" kern="1200" dirty="0" smtClean="0"/>
            <a:t>leaky bucket</a:t>
          </a:r>
          <a:r>
            <a:rPr lang="zh-CN" altLang="en-US" sz="2200" kern="1200" dirty="0" smtClean="0"/>
            <a:t>）</a:t>
          </a:r>
          <a:endParaRPr lang="zh-CN" altLang="en-US" sz="2200" kern="1200" dirty="0"/>
        </a:p>
      </dsp:txBody>
      <dsp:txXfrm>
        <a:off x="733812" y="1959261"/>
        <a:ext cx="5313721" cy="559747"/>
      </dsp:txXfrm>
    </dsp:sp>
    <dsp:sp modelId="{B7CFB7D0-B6EC-4315-9B76-954C00D2ED00}">
      <dsp:nvSpPr>
        <dsp:cNvPr id="0" name=""/>
        <dsp:cNvSpPr/>
      </dsp:nvSpPr>
      <dsp:spPr>
        <a:xfrm>
          <a:off x="401517" y="2049429"/>
          <a:ext cx="699684" cy="69968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B7DC7F-CAB9-4944-8044-2B3800FEBA7D}">
      <dsp:nvSpPr>
        <dsp:cNvPr id="0" name=""/>
        <dsp:cNvSpPr/>
      </dsp:nvSpPr>
      <dsp:spPr>
        <a:xfrm>
          <a:off x="461362" y="3010058"/>
          <a:ext cx="5634637" cy="5597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300" tIns="55880" rIns="55880" bIns="55880" numCol="1" spcCol="1270" anchor="ctr" anchorCtr="0">
          <a:noAutofit/>
        </a:bodyPr>
        <a:lstStyle/>
        <a:p>
          <a:pPr lvl="0" algn="l" defTabSz="977900">
            <a:lnSpc>
              <a:spcPct val="90000"/>
            </a:lnSpc>
            <a:spcBef>
              <a:spcPct val="0"/>
            </a:spcBef>
            <a:spcAft>
              <a:spcPct val="35000"/>
            </a:spcAft>
          </a:pPr>
          <a:r>
            <a:rPr lang="zh-CN" altLang="en-US" sz="2200" kern="1200" dirty="0" smtClean="0"/>
            <a:t>令牌算法（</a:t>
          </a:r>
          <a:r>
            <a:rPr lang="en-US" altLang="zh-CN" sz="2200" kern="1200" dirty="0" smtClean="0"/>
            <a:t>Token Bucket</a:t>
          </a:r>
          <a:r>
            <a:rPr lang="zh-CN" altLang="en-US" sz="2200" kern="1200" dirty="0" smtClean="0"/>
            <a:t>）</a:t>
          </a:r>
          <a:endParaRPr lang="zh-CN" altLang="en-US" sz="2200" kern="1200" dirty="0"/>
        </a:p>
      </dsp:txBody>
      <dsp:txXfrm>
        <a:off x="461362" y="3010058"/>
        <a:ext cx="5634637" cy="559747"/>
      </dsp:txXfrm>
    </dsp:sp>
    <dsp:sp modelId="{33FC86B8-7FDC-400B-B77D-939813539C3D}">
      <dsp:nvSpPr>
        <dsp:cNvPr id="0" name=""/>
        <dsp:cNvSpPr/>
      </dsp:nvSpPr>
      <dsp:spPr>
        <a:xfrm>
          <a:off x="3622" y="2923467"/>
          <a:ext cx="699684" cy="69968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3074" name="Picture 3" descr="E:\设计素材\shadow.png"/>
          <p:cNvPicPr>
            <a:picLocks noChangeAspect="1"/>
          </p:cNvPicPr>
          <p:nvPr/>
        </p:nvPicPr>
        <p:blipFill>
          <a:blip r:embed="rId2"/>
          <a:stretch>
            <a:fillRect/>
          </a:stretch>
        </p:blipFill>
        <p:spPr>
          <a:xfrm>
            <a:off x="549275" y="5291138"/>
            <a:ext cx="5759450" cy="374650"/>
          </a:xfrm>
          <a:prstGeom prst="rect">
            <a:avLst/>
          </a:prstGeom>
          <a:noFill/>
          <a:ln w="9525">
            <a:noFill/>
          </a:ln>
        </p:spPr>
      </p:pic>
      <p:sp>
        <p:nvSpPr>
          <p:cNvPr id="3075" name="页眉占位符 1"/>
          <p:cNvSpPr>
            <a:spLocks noGrp="1"/>
          </p:cNvSpPr>
          <p:nvPr>
            <p:ph type="hdr" sz="quarter"/>
          </p:nvPr>
        </p:nvSpPr>
        <p:spPr>
          <a:xfrm>
            <a:off x="1987550" y="114300"/>
            <a:ext cx="4321175" cy="231775"/>
          </a:xfrm>
          <a:prstGeom prst="rect">
            <a:avLst/>
          </a:prstGeom>
          <a:noFill/>
          <a:ln w="9525">
            <a:noFill/>
          </a:ln>
        </p:spPr>
        <p:txBody>
          <a:bodyPr vert="horz"/>
          <a:lstStyle/>
          <a:p>
            <a:pPr lvl="0" algn="l"/>
            <a:r>
              <a:rPr lang="zh-CN" altLang="en-US" sz="1200" dirty="0">
                <a:ea typeface="宋体" panose="02010600030101010101" pitchFamily="2" charset="-122"/>
              </a:rPr>
              <a:t>此处添加页眉信息</a:t>
            </a:r>
            <a:endParaRPr lang="zh-CN" altLang="en-US" dirty="0">
              <a:ea typeface="宋体" panose="02010600030101010101" pitchFamily="2" charset="-122"/>
            </a:endParaRPr>
          </a:p>
        </p:txBody>
      </p:sp>
      <p:sp>
        <p:nvSpPr>
          <p:cNvPr id="3076" name="日期占位符 2"/>
          <p:cNvSpPr>
            <a:spLocks noGrp="1"/>
          </p:cNvSpPr>
          <p:nvPr>
            <p:ph type="dt" idx="1"/>
          </p:nvPr>
        </p:nvSpPr>
        <p:spPr>
          <a:xfrm>
            <a:off x="1987550" y="346075"/>
            <a:ext cx="4321175" cy="233363"/>
          </a:xfrm>
          <a:prstGeom prst="rect">
            <a:avLst/>
          </a:prstGeom>
          <a:noFill/>
          <a:ln w="9525">
            <a:noFill/>
          </a:ln>
        </p:spPr>
        <p:txBody>
          <a:bodyPr vert="horz"/>
          <a:lstStyle/>
          <a:p>
            <a:pPr lvl="0" algn="l"/>
            <a:fld id="{BB962C8B-B14F-4D97-AF65-F5344CB8AC3E}" type="datetime1">
              <a:rPr lang="zh-CN" altLang="en-US" dirty="0">
                <a:ea typeface="宋体" panose="02010600030101010101" pitchFamily="2" charset="-122"/>
              </a:rPr>
              <a:t>2017-12-25</a:t>
            </a:fld>
            <a:endParaRPr lang="zh-CN" altLang="en-US" sz="1200" dirty="0">
              <a:ea typeface="宋体" panose="02010600030101010101" pitchFamily="2" charset="-122"/>
            </a:endParaRPr>
          </a:p>
        </p:txBody>
      </p:sp>
      <p:sp>
        <p:nvSpPr>
          <p:cNvPr id="3077" name="幻灯片图像占位符 3"/>
          <p:cNvSpPr>
            <a:spLocks noGrp="1" noRot="1" noChangeAspect="1"/>
          </p:cNvSpPr>
          <p:nvPr>
            <p:ph type="sldImg" idx="2"/>
          </p:nvPr>
        </p:nvSpPr>
        <p:spPr>
          <a:xfrm>
            <a:off x="552450" y="971550"/>
            <a:ext cx="5756275" cy="4316413"/>
          </a:xfrm>
          <a:prstGeom prst="rect">
            <a:avLst/>
          </a:prstGeom>
          <a:noFill/>
          <a:ln w="12700">
            <a:noFill/>
          </a:ln>
        </p:spPr>
      </p:sp>
      <p:sp>
        <p:nvSpPr>
          <p:cNvPr id="3078" name="备注占位符 4"/>
          <p:cNvSpPr>
            <a:spLocks noGrp="1" noRot="1" noChangeAspect="1"/>
          </p:cNvSpPr>
          <p:nvPr/>
        </p:nvSpPr>
        <p:spPr>
          <a:xfrm>
            <a:off x="549275" y="5507038"/>
            <a:ext cx="5759450" cy="2878137"/>
          </a:xfrm>
          <a:prstGeom prst="rect">
            <a:avLst/>
          </a:prstGeom>
          <a:noFill/>
          <a:ln w="12700">
            <a:noFill/>
          </a:ln>
        </p:spPr>
        <p:txBody>
          <a:bodyPr vert="horz" anchor="ct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9" name="页脚占位符 5"/>
          <p:cNvSpPr>
            <a:spLocks noGrp="1"/>
          </p:cNvSpPr>
          <p:nvPr>
            <p:ph type="ftr" sz="quarter" idx="4"/>
          </p:nvPr>
        </p:nvSpPr>
        <p:spPr>
          <a:xfrm>
            <a:off x="549275" y="8747125"/>
            <a:ext cx="2970213" cy="288925"/>
          </a:xfrm>
          <a:prstGeom prst="rect">
            <a:avLst/>
          </a:prstGeom>
          <a:noFill/>
          <a:ln w="9525">
            <a:noFill/>
          </a:ln>
        </p:spPr>
        <p:txBody>
          <a:bodyPr vert="horz" anchor="b"/>
          <a:lstStyle/>
          <a:p>
            <a:pPr lvl="0" algn="l"/>
            <a:r>
              <a:rPr lang="zh-CN" altLang="en-US" sz="1200" dirty="0">
                <a:ea typeface="宋体" panose="02010600030101010101" pitchFamily="2" charset="-122"/>
              </a:rPr>
              <a:t>此处添加页脚信息</a:t>
            </a:r>
            <a:endParaRPr lang="zh-CN" altLang="en-US" dirty="0">
              <a:ea typeface="宋体" panose="02010600030101010101" pitchFamily="2" charset="-122"/>
            </a:endParaRPr>
          </a:p>
        </p:txBody>
      </p:sp>
      <p:sp>
        <p:nvSpPr>
          <p:cNvPr id="3080" name="灯片编号占位符 6"/>
          <p:cNvSpPr>
            <a:spLocks noGrp="1"/>
          </p:cNvSpPr>
          <p:nvPr>
            <p:ph type="sldNum" sz="quarter" idx="5"/>
          </p:nvPr>
        </p:nvSpPr>
        <p:spPr>
          <a:xfrm>
            <a:off x="3884613" y="8748713"/>
            <a:ext cx="2424112" cy="287337"/>
          </a:xfrm>
          <a:prstGeom prst="rect">
            <a:avLst/>
          </a:prstGeom>
          <a:noFill/>
          <a:ln w="9525">
            <a:noFill/>
          </a:ln>
        </p:spPr>
        <p:txBody>
          <a:bodyPr vert="horz" anchor="b"/>
          <a:lstStyle/>
          <a:p>
            <a:pPr lvl="0" algn="r"/>
            <a:r>
              <a:rPr lang="zh-CN" altLang="en-US" sz="1200" dirty="0">
                <a:ea typeface="宋体" panose="02010600030101010101" pitchFamily="2" charset="-122"/>
              </a:rPr>
              <a:t>第 </a:t>
            </a:r>
            <a:fld id="{9A0DB2DC-4C9A-4742-B13C-FB6460FD3503}" type="slidenum">
              <a:rPr lang="zh-CN" altLang="en-US" sz="1200" dirty="0">
                <a:ea typeface="宋体" panose="02010600030101010101" pitchFamily="2" charset="-122"/>
              </a:rPr>
              <a:t>‹#›</a:t>
            </a:fld>
            <a:r>
              <a:rPr lang="zh-CN" altLang="en-US" sz="1200" dirty="0">
                <a:ea typeface="宋体" panose="02010600030101010101" pitchFamily="2" charset="-122"/>
              </a:rPr>
              <a:t> 页</a:t>
            </a:r>
          </a:p>
        </p:txBody>
      </p:sp>
      <p:sp>
        <p:nvSpPr>
          <p:cNvPr id="3081" name="直接连接符 7"/>
          <p:cNvSpPr/>
          <p:nvPr/>
        </p:nvSpPr>
        <p:spPr>
          <a:xfrm>
            <a:off x="0" y="723900"/>
            <a:ext cx="6858000" cy="0"/>
          </a:xfrm>
          <a:prstGeom prst="line">
            <a:avLst/>
          </a:prstGeom>
          <a:ln w="9525" cap="flat" cmpd="sng">
            <a:solidFill>
              <a:srgbClr val="4B4B4B"/>
            </a:solidFill>
            <a:prstDash val="solid"/>
            <a:bevel/>
            <a:headEnd type="none" w="med" len="med"/>
            <a:tailEnd type="none" w="med" len="med"/>
          </a:ln>
        </p:spPr>
      </p:sp>
      <p:sp>
        <p:nvSpPr>
          <p:cNvPr id="3082" name="矩形 8"/>
          <p:cNvSpPr/>
          <p:nvPr/>
        </p:nvSpPr>
        <p:spPr>
          <a:xfrm>
            <a:off x="549275" y="114300"/>
            <a:ext cx="1368425" cy="465138"/>
          </a:xfrm>
          <a:prstGeom prst="rect">
            <a:avLst/>
          </a:prstGeom>
          <a:solidFill>
            <a:schemeClr val="bg1"/>
          </a:solidFill>
          <a:ln w="9525" cap="flat" cmpd="sng">
            <a:solidFill>
              <a:srgbClr val="BFBFBF"/>
            </a:solidFill>
            <a:prstDash val="dash"/>
            <a:bevel/>
            <a:headEnd type="none" w="med" len="med"/>
            <a:tailEnd type="none" w="med" len="med"/>
          </a:ln>
        </p:spPr>
        <p:txBody>
          <a:bodyPr anchor="ctr"/>
          <a:lstStyle/>
          <a:p>
            <a:pPr lvl="0" algn="ctr">
              <a:lnSpc>
                <a:spcPct val="100000"/>
              </a:lnSpc>
            </a:pPr>
            <a:r>
              <a:rPr lang="en-US" altLang="x-none" b="1" dirty="0">
                <a:solidFill>
                  <a:srgbClr val="4B4B4B"/>
                </a:solidFill>
                <a:ea typeface="宋体" panose="02010600030101010101" pitchFamily="2" charset="-122"/>
              </a:rPr>
              <a:t>LOGO</a:t>
            </a:r>
            <a:endParaRPr lang="zh-CN" altLang="en-US" b="1" dirty="0">
              <a:solidFill>
                <a:srgbClr val="4B4B4B"/>
              </a:solidFill>
              <a:ea typeface="宋体" panose="02010600030101010101" pitchFamily="2" charset="-122"/>
            </a:endParaRPr>
          </a:p>
        </p:txBody>
      </p:sp>
      <p:sp>
        <p:nvSpPr>
          <p:cNvPr id="3083" name="直接连接符 9"/>
          <p:cNvSpPr/>
          <p:nvPr/>
        </p:nvSpPr>
        <p:spPr>
          <a:xfrm>
            <a:off x="0" y="8675688"/>
            <a:ext cx="6858000" cy="1587"/>
          </a:xfrm>
          <a:prstGeom prst="line">
            <a:avLst/>
          </a:prstGeom>
          <a:ln w="9525" cap="flat" cmpd="sng">
            <a:solidFill>
              <a:srgbClr val="4B4B4B"/>
            </a:solidFill>
            <a:prstDash val="solid"/>
            <a:bevel/>
            <a:headEnd type="none" w="med" len="med"/>
            <a:tailEnd type="none" w="med" len="med"/>
          </a:ln>
        </p:spPr>
      </p:sp>
    </p:spTree>
    <p:extLst>
      <p:ext uri="{BB962C8B-B14F-4D97-AF65-F5344CB8AC3E}">
        <p14:creationId xmlns:p14="http://schemas.microsoft.com/office/powerpoint/2010/main" val="2150207778"/>
      </p:ext>
    </p:extLst>
  </p:cSld>
  <p:clrMap bg1="lt1" tx1="dk1" bg2="lt2" tx2="dk2" accent1="accent1" accent2="accent2" accent3="accent3" accent4="accent4" accent5="accent5" accent6="accent6" hlink="hlink" folHlink="folHlink"/>
  <p:hf dt="0"/>
  <p:notesStyle>
    <a:lvl1pPr lvl="0" defTabSz="0" fontAlgn="base">
      <a:defRPr sz="1200" kern="1200"/>
    </a:lvl1pPr>
    <a:lvl2pPr marL="0" lvl="1" indent="0" defTabSz="0" fontAlgn="base">
      <a:defRPr sz="1200" kern="1200"/>
    </a:lvl2pPr>
    <a:lvl3pPr marL="0" lvl="2" indent="0" defTabSz="0" fontAlgn="base">
      <a:defRPr sz="1200" kern="1200"/>
    </a:lvl3pPr>
    <a:lvl4pPr marL="0" lvl="3" indent="0" defTabSz="0" fontAlgn="base">
      <a:defRPr sz="1200" kern="1200"/>
    </a:lvl4pPr>
    <a:lvl5pPr marL="0" lvl="4" indent="0" defTabSz="0" fontAlgn="base">
      <a:defRPr sz="1200" kern="1200"/>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5" name="页脚占位符 4"/>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5" name="页脚占位符 4"/>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5" name="页脚占位符 4"/>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95288" y="1196975"/>
            <a:ext cx="4093178" cy="51117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5535" y="1196975"/>
            <a:ext cx="4093178" cy="51117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6" name="页脚占位符 5"/>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8" name="页脚占位符 7"/>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4" name="页脚占位符 3"/>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3" name="页脚占位符 2"/>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6" name="页脚占位符 5"/>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6" name="页脚占位符 5"/>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5" name="页脚占位符 4"/>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0357" y="260350"/>
            <a:ext cx="2088356" cy="60483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95288" y="260350"/>
            <a:ext cx="6144005" cy="60483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t>2017-12-25</a:t>
            </a:fld>
            <a:endParaRPr lang="zh-CN" altLang="en-US" dirty="0"/>
          </a:p>
        </p:txBody>
      </p:sp>
      <p:sp>
        <p:nvSpPr>
          <p:cNvPr id="5" name="页脚占位符 4"/>
          <p:cNvSpPr>
            <a:spLocks noGrp="1"/>
          </p:cNvSpPr>
          <p:nvPr>
            <p:ph type="ftr" sz="quarter" idx="11"/>
          </p:nvPr>
        </p:nvSpPr>
        <p:spPr/>
        <p:txBody>
          <a:bodyPr/>
          <a:lstStyle/>
          <a:p>
            <a:pPr lvl="0"/>
            <a:r>
              <a:rPr lang="zh-CN" altLang="en-US" dirty="0"/>
              <a:t>此处添加公司信息</a:t>
            </a:r>
            <a:endParaRPr lang="zh-CN" altLang="en-US" sz="1800" dirty="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Picture Placeholder 13"/>
          <p:cNvSpPr>
            <a:spLocks noGrp="1"/>
          </p:cNvSpPr>
          <p:nvPr>
            <p:ph type="pic" sz="quarter" idx="10" hasCustomPrompt="1"/>
          </p:nvPr>
        </p:nvSpPr>
        <p:spPr>
          <a:xfrm>
            <a:off x="245898" y="252000"/>
            <a:ext cx="8646102" cy="4572012"/>
          </a:xfrm>
          <a:solidFill>
            <a:schemeClr val="bg2">
              <a:lumMod val="90000"/>
            </a:schemeClr>
          </a:solidFill>
          <a:ln>
            <a:noFill/>
          </a:ln>
        </p:spPr>
        <p:txBody>
          <a:bodyPr>
            <a:normAutofit/>
          </a:bodyPr>
          <a:lstStyle>
            <a:lvl1pPr marL="0" indent="0">
              <a:buFontTx/>
              <a:buNone/>
              <a:defRPr sz="1600"/>
            </a:lvl1pPr>
          </a:lstStyle>
          <a:p>
            <a:r>
              <a:rPr lang="en-US" dirty="0" smtClean="0"/>
              <a:t>Insert picture</a:t>
            </a:r>
            <a:endParaRPr lang="en-US" dirty="0"/>
          </a:p>
        </p:txBody>
      </p:sp>
      <p:sp>
        <p:nvSpPr>
          <p:cNvPr id="2" name="Title 1"/>
          <p:cNvSpPr>
            <a:spLocks noGrp="1"/>
          </p:cNvSpPr>
          <p:nvPr>
            <p:ph type="ctrTitle"/>
          </p:nvPr>
        </p:nvSpPr>
        <p:spPr>
          <a:xfrm>
            <a:off x="500621" y="4944156"/>
            <a:ext cx="7772400" cy="985358"/>
          </a:xfrm>
        </p:spPr>
        <p:txBody>
          <a:bodyPr anchor="t">
            <a:normAutofit/>
          </a:bodyPr>
          <a:lstStyle>
            <a:lvl1pPr algn="l">
              <a:defRPr sz="3200" b="0" i="0">
                <a:latin typeface="Gotham-Bold"/>
                <a:cs typeface="Gotham-Bold"/>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500621" y="5929514"/>
            <a:ext cx="6400800" cy="411137"/>
          </a:xfrm>
        </p:spPr>
        <p:txBody>
          <a:bodyPr>
            <a:noAutofit/>
          </a:bodyPr>
          <a:lstStyle>
            <a:lvl1pPr marL="0" indent="0" algn="l">
              <a:buNone/>
              <a:defRPr sz="2800" b="0" i="0">
                <a:solidFill>
                  <a:schemeClr val="tx1"/>
                </a:solidFill>
                <a:latin typeface="Gotham-Medium"/>
                <a:cs typeface="Gotham-Medium"/>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10" name="Picture 9" descr="130330_Midea_logo-01.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5205" y="0"/>
            <a:ext cx="2014795" cy="1008922"/>
          </a:xfrm>
          <a:prstGeom prst="rect">
            <a:avLst/>
          </a:prstGeom>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9" name="Title 1"/>
          <p:cNvSpPr>
            <a:spLocks noGrp="1"/>
          </p:cNvSpPr>
          <p:nvPr>
            <p:ph type="ctrTitle"/>
          </p:nvPr>
        </p:nvSpPr>
        <p:spPr>
          <a:xfrm>
            <a:off x="500621" y="1601248"/>
            <a:ext cx="7772400" cy="702346"/>
          </a:xfrm>
        </p:spPr>
        <p:txBody>
          <a:bodyPr anchor="t">
            <a:normAutofit/>
          </a:bodyPr>
          <a:lstStyle>
            <a:lvl1pPr algn="l">
              <a:defRPr sz="3200" b="0" i="0">
                <a:latin typeface="Gotham-Bold"/>
                <a:cs typeface="Gotham-Bold"/>
              </a:defRPr>
            </a:lvl1pPr>
          </a:lstStyle>
          <a:p>
            <a:r>
              <a:rPr lang="en-US" dirty="0" smtClean="0"/>
              <a:t>Click to edit Master title style</a:t>
            </a:r>
            <a:endParaRPr lang="en-US" dirty="0"/>
          </a:p>
        </p:txBody>
      </p:sp>
      <p:sp>
        <p:nvSpPr>
          <p:cNvPr id="10" name="Subtitle 2"/>
          <p:cNvSpPr>
            <a:spLocks noGrp="1"/>
          </p:cNvSpPr>
          <p:nvPr>
            <p:ph type="subTitle" idx="1"/>
          </p:nvPr>
        </p:nvSpPr>
        <p:spPr>
          <a:xfrm>
            <a:off x="500621" y="2311574"/>
            <a:ext cx="6400800" cy="411137"/>
          </a:xfrm>
        </p:spPr>
        <p:txBody>
          <a:bodyPr>
            <a:noAutofit/>
          </a:bodyPr>
          <a:lstStyle>
            <a:lvl1pPr marL="0" indent="0" algn="l">
              <a:buNone/>
              <a:defRPr sz="2800" b="0" i="0">
                <a:solidFill>
                  <a:schemeClr val="tx1"/>
                </a:solidFill>
                <a:latin typeface="Gotham-Medium"/>
                <a:cs typeface="Gotham-Medium"/>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1" name="Slide Number Placeholder 5"/>
          <p:cNvSpPr>
            <a:spLocks noGrp="1"/>
          </p:cNvSpPr>
          <p:nvPr>
            <p:ph type="sldNum" sz="quarter" idx="12"/>
          </p:nvPr>
        </p:nvSpPr>
        <p:spPr>
          <a:xfrm>
            <a:off x="8305985" y="6186897"/>
            <a:ext cx="402934" cy="365125"/>
          </a:xfrm>
        </p:spPr>
        <p:txBody>
          <a:bodyPr anchor="t"/>
          <a:lstStyle>
            <a:lvl1pPr>
              <a:defRPr b="0" i="0">
                <a:solidFill>
                  <a:schemeClr val="tx1"/>
                </a:solidFill>
                <a:latin typeface="Gotham-Bold"/>
                <a:cs typeface="Gotham-Bold"/>
              </a:defRPr>
            </a:lvl1pPr>
          </a:lstStyle>
          <a:p>
            <a:fld id="{9380A3BF-C42B-5B4A-8FD1-FDF44958D935}" type="slidenum">
              <a:rPr lang="en-US" smtClean="0"/>
              <a:t>‹#›</a:t>
            </a:fld>
            <a:endParaRPr lang="en-US" dirty="0"/>
          </a:p>
        </p:txBody>
      </p:sp>
      <p:pic>
        <p:nvPicPr>
          <p:cNvPr id="14" name="Picture 13" descr="130330_Midea_logo-01.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5205" y="0"/>
            <a:ext cx="2014795" cy="1008922"/>
          </a:xfrm>
          <a:prstGeom prst="rect">
            <a:avLst/>
          </a:prstGeom>
        </p:spPr>
      </p:pic>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a:p>
        </p:txBody>
      </p:sp>
      <p:sp>
        <p:nvSpPr>
          <p:cNvPr id="5" name="页脚占位符 4"/>
          <p:cNvSpPr>
            <a:spLocks noGrp="1"/>
          </p:cNvSpPr>
          <p:nvPr>
            <p:ph type="ftr" sz="quarter" idx="11"/>
          </p:nvPr>
        </p:nvSpPr>
        <p:spPr/>
        <p:txBody>
          <a:bodyPr/>
          <a:lstStyle/>
          <a:p>
            <a:pPr lvl="0"/>
            <a:endParaRPr lang="zh-CN"/>
          </a:p>
        </p:txBody>
      </p:sp>
      <p:sp>
        <p:nvSpPr>
          <p:cNvPr id="6" name="灯片编号占位符 5"/>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p>
        </p:txBody>
      </p:sp>
      <p:sp>
        <p:nvSpPr>
          <p:cNvPr id="5" name="页脚占位符 4"/>
          <p:cNvSpPr>
            <a:spLocks noGrp="1"/>
          </p:cNvSpPr>
          <p:nvPr>
            <p:ph type="ftr" sz="quarter" idx="11"/>
          </p:nvPr>
        </p:nvSpPr>
        <p:spPr/>
        <p:txBody>
          <a:bodyPr/>
          <a:lstStyle/>
          <a:p>
            <a:pPr lvl="0"/>
            <a:endParaRPr lang="zh-CN"/>
          </a:p>
        </p:txBody>
      </p:sp>
      <p:sp>
        <p:nvSpPr>
          <p:cNvPr id="6" name="灯片编号占位符 5"/>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lvl="0"/>
            <a:endParaRPr lang="zh-CN" altLang="en-US"/>
          </a:p>
        </p:txBody>
      </p:sp>
      <p:sp>
        <p:nvSpPr>
          <p:cNvPr id="5" name="页脚占位符 4"/>
          <p:cNvSpPr>
            <a:spLocks noGrp="1"/>
          </p:cNvSpPr>
          <p:nvPr>
            <p:ph type="ftr" sz="quarter" idx="11"/>
          </p:nvPr>
        </p:nvSpPr>
        <p:spPr/>
        <p:txBody>
          <a:bodyPr/>
          <a:lstStyle/>
          <a:p>
            <a:pPr lvl="0"/>
            <a:endParaRPr lang="zh-CN"/>
          </a:p>
        </p:txBody>
      </p:sp>
      <p:sp>
        <p:nvSpPr>
          <p:cNvPr id="6" name="灯片编号占位符 5"/>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8788" y="1598613"/>
            <a:ext cx="4030948" cy="45275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4265" y="1598613"/>
            <a:ext cx="4030948" cy="45275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p>
        </p:txBody>
      </p:sp>
      <p:sp>
        <p:nvSpPr>
          <p:cNvPr id="6" name="页脚占位符 5"/>
          <p:cNvSpPr>
            <a:spLocks noGrp="1"/>
          </p:cNvSpPr>
          <p:nvPr>
            <p:ph type="ftr" sz="quarter" idx="11"/>
          </p:nvPr>
        </p:nvSpPr>
        <p:spPr/>
        <p:txBody>
          <a:bodyPr/>
          <a:lstStyle/>
          <a:p>
            <a:pPr lvl="0"/>
            <a:endParaRPr lang="zh-CN"/>
          </a:p>
        </p:txBody>
      </p:sp>
      <p:sp>
        <p:nvSpPr>
          <p:cNvPr id="7" name="灯片编号占位符 6"/>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p>
        </p:txBody>
      </p:sp>
      <p:sp>
        <p:nvSpPr>
          <p:cNvPr id="8" name="页脚占位符 7"/>
          <p:cNvSpPr>
            <a:spLocks noGrp="1"/>
          </p:cNvSpPr>
          <p:nvPr>
            <p:ph type="ftr" sz="quarter" idx="11"/>
          </p:nvPr>
        </p:nvSpPr>
        <p:spPr/>
        <p:txBody>
          <a:bodyPr/>
          <a:lstStyle/>
          <a:p>
            <a:pPr lvl="0"/>
            <a:endParaRPr lang="zh-CN"/>
          </a:p>
        </p:txBody>
      </p:sp>
      <p:sp>
        <p:nvSpPr>
          <p:cNvPr id="9" name="灯片编号占位符 8"/>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p>
        </p:txBody>
      </p:sp>
      <p:sp>
        <p:nvSpPr>
          <p:cNvPr id="4" name="页脚占位符 3"/>
          <p:cNvSpPr>
            <a:spLocks noGrp="1"/>
          </p:cNvSpPr>
          <p:nvPr>
            <p:ph type="ftr" sz="quarter" idx="11"/>
          </p:nvPr>
        </p:nvSpPr>
        <p:spPr/>
        <p:txBody>
          <a:bodyPr/>
          <a:lstStyle/>
          <a:p>
            <a:pPr lvl="0"/>
            <a:endParaRPr lang="zh-CN"/>
          </a:p>
        </p:txBody>
      </p:sp>
      <p:sp>
        <p:nvSpPr>
          <p:cNvPr id="5" name="灯片编号占位符 4"/>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p>
        </p:txBody>
      </p:sp>
      <p:sp>
        <p:nvSpPr>
          <p:cNvPr id="3" name="页脚占位符 2"/>
          <p:cNvSpPr>
            <a:spLocks noGrp="1"/>
          </p:cNvSpPr>
          <p:nvPr>
            <p:ph type="ftr" sz="quarter" idx="11"/>
          </p:nvPr>
        </p:nvSpPr>
        <p:spPr/>
        <p:txBody>
          <a:bodyPr/>
          <a:lstStyle/>
          <a:p>
            <a:pPr lvl="0"/>
            <a:endParaRPr lang="zh-CN"/>
          </a:p>
        </p:txBody>
      </p:sp>
      <p:sp>
        <p:nvSpPr>
          <p:cNvPr id="4" name="灯片编号占位符 3"/>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a:endParaRPr lang="zh-CN" altLang="en-US"/>
          </a:p>
        </p:txBody>
      </p:sp>
      <p:sp>
        <p:nvSpPr>
          <p:cNvPr id="6" name="页脚占位符 5"/>
          <p:cNvSpPr>
            <a:spLocks noGrp="1"/>
          </p:cNvSpPr>
          <p:nvPr>
            <p:ph type="ftr" sz="quarter" idx="11"/>
          </p:nvPr>
        </p:nvSpPr>
        <p:spPr/>
        <p:txBody>
          <a:bodyPr/>
          <a:lstStyle/>
          <a:p>
            <a:pPr lvl="0"/>
            <a:endParaRPr lang="zh-CN"/>
          </a:p>
        </p:txBody>
      </p:sp>
      <p:sp>
        <p:nvSpPr>
          <p:cNvPr id="7" name="灯片编号占位符 6"/>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a:endParaRPr lang="zh-CN" altLang="en-US"/>
          </a:p>
        </p:txBody>
      </p:sp>
      <p:sp>
        <p:nvSpPr>
          <p:cNvPr id="6" name="页脚占位符 5"/>
          <p:cNvSpPr>
            <a:spLocks noGrp="1"/>
          </p:cNvSpPr>
          <p:nvPr>
            <p:ph type="ftr" sz="quarter" idx="11"/>
          </p:nvPr>
        </p:nvSpPr>
        <p:spPr/>
        <p:txBody>
          <a:bodyPr/>
          <a:lstStyle/>
          <a:p>
            <a:pPr lvl="0"/>
            <a:endParaRPr lang="zh-CN"/>
          </a:p>
        </p:txBody>
      </p:sp>
      <p:sp>
        <p:nvSpPr>
          <p:cNvPr id="7" name="灯片编号占位符 6"/>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p>
        </p:txBody>
      </p:sp>
      <p:sp>
        <p:nvSpPr>
          <p:cNvPr id="5" name="页脚占位符 4"/>
          <p:cNvSpPr>
            <a:spLocks noGrp="1"/>
          </p:cNvSpPr>
          <p:nvPr>
            <p:ph type="ftr" sz="quarter" idx="11"/>
          </p:nvPr>
        </p:nvSpPr>
        <p:spPr/>
        <p:txBody>
          <a:bodyPr/>
          <a:lstStyle/>
          <a:p>
            <a:pPr lvl="0"/>
            <a:endParaRPr lang="zh-CN"/>
          </a:p>
        </p:txBody>
      </p:sp>
      <p:sp>
        <p:nvSpPr>
          <p:cNvPr id="6" name="灯片编号占位符 5"/>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8607" y="274638"/>
            <a:ext cx="2056606"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8788" y="274638"/>
            <a:ext cx="6050595"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p>
        </p:txBody>
      </p:sp>
      <p:sp>
        <p:nvSpPr>
          <p:cNvPr id="5" name="页脚占位符 4"/>
          <p:cNvSpPr>
            <a:spLocks noGrp="1"/>
          </p:cNvSpPr>
          <p:nvPr>
            <p:ph type="ftr" sz="quarter" idx="11"/>
          </p:nvPr>
        </p:nvSpPr>
        <p:spPr/>
        <p:txBody>
          <a:bodyPr/>
          <a:lstStyle/>
          <a:p>
            <a:pPr lvl="0"/>
            <a:endParaRPr lang="zh-CN"/>
          </a:p>
        </p:txBody>
      </p:sp>
      <p:sp>
        <p:nvSpPr>
          <p:cNvPr id="6" name="灯片编号占位符 5"/>
          <p:cNvSpPr>
            <a:spLocks noGrp="1"/>
          </p:cNvSpPr>
          <p:nvPr>
            <p:ph type="sldNum" sz="quarter" idx="12"/>
          </p:nvPr>
        </p:nvSpPr>
        <p:spPr/>
        <p:txBody>
          <a:bodyPr/>
          <a:lstStyle/>
          <a:p>
            <a:pPr lvl="0"/>
            <a:fld id="{9A0DB2DC-4C9A-4742-B13C-FB6460FD3503}"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D:\SLIDEtoME\TP模板\新建文件夹 (3)\bg8.jpg"/>
          <p:cNvPicPr>
            <a:picLocks noChangeAspect="1"/>
          </p:cNvPicPr>
          <p:nvPr/>
        </p:nvPicPr>
        <p:blipFill>
          <a:blip r:embed="rId15" cstate="print"/>
          <a:stretch>
            <a:fillRect/>
          </a:stretch>
        </p:blipFill>
        <p:spPr>
          <a:xfrm>
            <a:off x="-3175" y="-1587"/>
            <a:ext cx="9147175" cy="6859587"/>
          </a:xfrm>
          <a:prstGeom prst="rect">
            <a:avLst/>
          </a:prstGeom>
          <a:noFill/>
          <a:ln w="9525">
            <a:noFill/>
          </a:ln>
        </p:spPr>
      </p:pic>
      <p:sp>
        <p:nvSpPr>
          <p:cNvPr id="1027" name="标题占位符 1"/>
          <p:cNvSpPr>
            <a:spLocks noGrp="1"/>
          </p:cNvSpPr>
          <p:nvPr>
            <p:ph type="title"/>
          </p:nvPr>
        </p:nvSpPr>
        <p:spPr>
          <a:xfrm>
            <a:off x="395288" y="260350"/>
            <a:ext cx="8353425" cy="720725"/>
          </a:xfrm>
          <a:prstGeom prst="rect">
            <a:avLst/>
          </a:prstGeom>
          <a:noFill/>
          <a:ln w="9525">
            <a:noFill/>
          </a:ln>
        </p:spPr>
        <p:txBody>
          <a:bodyPr vert="horz" anchor="ctr">
            <a:normAutofit/>
          </a:bodyPr>
          <a:lstStyle/>
          <a:p>
            <a:pPr lvl="0"/>
            <a:r>
              <a:rPr lang="zh-CN" altLang="en-US"/>
              <a:t>单击此处编辑母版标题样式</a:t>
            </a:r>
          </a:p>
        </p:txBody>
      </p:sp>
      <p:sp>
        <p:nvSpPr>
          <p:cNvPr id="1028" name="文本占位符 2"/>
          <p:cNvSpPr>
            <a:spLocks noGrp="1"/>
          </p:cNvSpPr>
          <p:nvPr>
            <p:ph type="body" idx="1"/>
          </p:nvPr>
        </p:nvSpPr>
        <p:spPr>
          <a:xfrm>
            <a:off x="395288" y="1196975"/>
            <a:ext cx="8353425" cy="5111750"/>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日期占位符 3"/>
          <p:cNvSpPr>
            <a:spLocks noGrp="1"/>
          </p:cNvSpPr>
          <p:nvPr>
            <p:ph type="dt" sz="half" idx="2"/>
          </p:nvPr>
        </p:nvSpPr>
        <p:spPr>
          <a:xfrm>
            <a:off x="395288" y="6453188"/>
            <a:ext cx="2133600" cy="268287"/>
          </a:xfrm>
          <a:prstGeom prst="rect">
            <a:avLst/>
          </a:prstGeom>
          <a:noFill/>
          <a:ln w="9525">
            <a:noFill/>
          </a:ln>
        </p:spPr>
        <p:txBody>
          <a:bodyPr vert="horz" anchor="ctr"/>
          <a:lstStyle>
            <a:lvl1pPr algn="l">
              <a:defRPr sz="1200">
                <a:solidFill>
                  <a:srgbClr val="4B4B4B"/>
                </a:solidFill>
                <a:ea typeface="宋体" panose="02010600030101010101" pitchFamily="2" charset="-122"/>
              </a:defRPr>
            </a:lvl1pPr>
          </a:lstStyle>
          <a:p>
            <a:pPr lvl="0"/>
            <a:fld id="{BB962C8B-B14F-4D97-AF65-F5344CB8AC3E}" type="datetime1">
              <a:rPr lang="zh-CN" altLang="en-US" dirty="0"/>
              <a:t>2017-12-25</a:t>
            </a:fld>
            <a:endParaRPr lang="zh-CN" altLang="en-US" dirty="0"/>
          </a:p>
        </p:txBody>
      </p:sp>
      <p:sp>
        <p:nvSpPr>
          <p:cNvPr id="1030" name="页脚占位符 4"/>
          <p:cNvSpPr>
            <a:spLocks noGrp="1"/>
          </p:cNvSpPr>
          <p:nvPr>
            <p:ph type="ftr" sz="quarter" idx="3"/>
          </p:nvPr>
        </p:nvSpPr>
        <p:spPr>
          <a:xfrm>
            <a:off x="3124200" y="6453188"/>
            <a:ext cx="2895600" cy="268287"/>
          </a:xfrm>
          <a:prstGeom prst="rect">
            <a:avLst/>
          </a:prstGeom>
          <a:noFill/>
          <a:ln w="9525">
            <a:noFill/>
          </a:ln>
        </p:spPr>
        <p:txBody>
          <a:bodyPr vert="horz" anchor="ctr"/>
          <a:lstStyle>
            <a:lvl1pPr algn="ctr">
              <a:defRPr sz="1200">
                <a:solidFill>
                  <a:srgbClr val="4B4B4B"/>
                </a:solidFill>
                <a:ea typeface="宋体" panose="02010600030101010101" pitchFamily="2" charset="-122"/>
              </a:defRPr>
            </a:lvl1pPr>
          </a:lstStyle>
          <a:p>
            <a:pPr lvl="0"/>
            <a:r>
              <a:rPr lang="zh-CN" altLang="en-US" dirty="0"/>
              <a:t>此处添加公司信息</a:t>
            </a:r>
            <a:endParaRPr lang="zh-CN" altLang="en-US" sz="1800" dirty="0">
              <a:ea typeface="宋体" panose="02010600030101010101" pitchFamily="2" charset="-122"/>
            </a:endParaRPr>
          </a:p>
        </p:txBody>
      </p:sp>
      <p:sp>
        <p:nvSpPr>
          <p:cNvPr id="1031" name="灯片编号占位符 5"/>
          <p:cNvSpPr>
            <a:spLocks noGrp="1"/>
          </p:cNvSpPr>
          <p:nvPr>
            <p:ph type="sldNum" sz="quarter" idx="4"/>
          </p:nvPr>
        </p:nvSpPr>
        <p:spPr>
          <a:xfrm>
            <a:off x="6615113" y="6453188"/>
            <a:ext cx="2133600" cy="268287"/>
          </a:xfrm>
          <a:prstGeom prst="rect">
            <a:avLst/>
          </a:prstGeom>
          <a:noFill/>
          <a:ln w="9525">
            <a:noFill/>
          </a:ln>
        </p:spPr>
        <p:txBody>
          <a:bodyPr vert="horz" anchor="ctr"/>
          <a:lstStyle>
            <a:lvl1pPr algn="r">
              <a:defRPr sz="1200">
                <a:solidFill>
                  <a:srgbClr val="4B4B4B"/>
                </a:solidFill>
                <a:ea typeface="宋体" panose="02010600030101010101" pitchFamily="2" charset="-122"/>
              </a:defRPr>
            </a:lvl1pPr>
          </a:lstStyle>
          <a:p>
            <a:pPr lvl="0"/>
            <a:fld id="{9A0DB2DC-4C9A-4742-B13C-FB6460FD3503}" type="slidenum">
              <a:rPr lang="zh-CN" altLang="en-US" dirty="0"/>
              <a:t>‹#›</a:t>
            </a:fld>
            <a:endParaRPr lang="zh-CN" altLang="en-US" dirty="0"/>
          </a:p>
        </p:txBody>
      </p:sp>
      <p:sp>
        <p:nvSpPr>
          <p:cNvPr id="1032" name="矩形 14"/>
          <p:cNvSpPr/>
          <p:nvPr/>
        </p:nvSpPr>
        <p:spPr>
          <a:xfrm>
            <a:off x="7380288" y="334963"/>
            <a:ext cx="1368425" cy="504825"/>
          </a:xfrm>
          <a:prstGeom prst="rect">
            <a:avLst/>
          </a:prstGeom>
          <a:solidFill>
            <a:srgbClr val="F8F8F8"/>
          </a:solidFill>
          <a:ln w="9525" cap="flat" cmpd="sng">
            <a:solidFill>
              <a:srgbClr val="DDDDDD"/>
            </a:solidFill>
            <a:prstDash val="dash"/>
            <a:bevel/>
            <a:headEnd type="none" w="med" len="med"/>
            <a:tailEnd type="none" w="med" len="med"/>
          </a:ln>
        </p:spPr>
        <p:txBody>
          <a:bodyPr anchor="ctr"/>
          <a:lstStyle/>
          <a:p>
            <a:pPr lvl="0" algn="ctr">
              <a:lnSpc>
                <a:spcPct val="100000"/>
              </a:lnSpc>
            </a:pPr>
            <a:r>
              <a:rPr lang="en-US" altLang="x-none" sz="1800" b="1" dirty="0">
                <a:solidFill>
                  <a:srgbClr val="4D4D4D"/>
                </a:solidFill>
                <a:latin typeface="Arial" panose="020B0604020202020204" pitchFamily="34" charset="0"/>
                <a:ea typeface="Arial" panose="020B0604020202020204" pitchFamily="34" charset="0"/>
                <a:sym typeface="Arial" panose="020B0604020202020204" pitchFamily="34" charset="0"/>
              </a:rPr>
              <a:t>LOGO</a:t>
            </a:r>
            <a:endParaRPr lang="zh-CN" altLang="en-US" sz="1800" b="1" dirty="0">
              <a:solidFill>
                <a:srgbClr val="4D4D4D"/>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marL="914400" lvl="0" indent="-914400" algn="l" eaLnBrk="1" latinLnBrk="0" hangingPunct="1">
        <a:lnSpc>
          <a:spcPct val="100000"/>
        </a:lnSpc>
        <a:spcBef>
          <a:spcPct val="0"/>
        </a:spcBef>
        <a:buClr>
          <a:srgbClr val="000000"/>
        </a:buClr>
        <a:buNone/>
        <a:defRPr sz="3200" b="0" kern="1200">
          <a:solidFill>
            <a:schemeClr val="tx1"/>
          </a:solidFill>
          <a:latin typeface="+mj-lt"/>
          <a:ea typeface="+mj-ea"/>
          <a:cs typeface="+mj-cs"/>
          <a:sym typeface="Arial Black" panose="020B0A04020102020204" charset="0"/>
        </a:defRPr>
      </a:lvl1pPr>
    </p:titleStyle>
    <p:bodyStyle>
      <a:lvl1pPr marL="342900" lvl="0" indent="-342900" algn="l" defTabSz="914400" eaLnBrk="1" fontAlgn="base" latinLnBrk="0" hangingPunct="1">
        <a:lnSpc>
          <a:spcPct val="100000"/>
        </a:lnSpc>
        <a:spcBef>
          <a:spcPct val="0"/>
        </a:spcBef>
        <a:spcAft>
          <a:spcPts val="400"/>
        </a:spcAft>
        <a:buSzPct val="70000"/>
        <a:buFont typeface="Wingdings" panose="05000000000000000000" pitchFamily="2" charset="2"/>
        <a:buChar char="l"/>
        <a:defRPr sz="2400" b="1" kern="1200">
          <a:solidFill>
            <a:schemeClr val="tx1"/>
          </a:solidFill>
          <a:latin typeface="+mn-lt"/>
          <a:ea typeface="+mn-ea"/>
          <a:cs typeface="+mn-cs"/>
          <a:sym typeface="Arial" panose="020B0604020202020204" pitchFamily="34" charset="0"/>
        </a:defRPr>
      </a:lvl1pPr>
      <a:lvl2pPr marL="742950" lvl="1" indent="-285750" algn="l" defTabSz="914400" eaLnBrk="1" fontAlgn="ctr" latinLnBrk="0" hangingPunct="1">
        <a:lnSpc>
          <a:spcPct val="100000"/>
        </a:lnSpc>
        <a:spcBef>
          <a:spcPct val="0"/>
        </a:spcBef>
        <a:spcAft>
          <a:spcPts val="400"/>
        </a:spcAft>
        <a:buSzPct val="70000"/>
        <a:buFont typeface="Wingdings" panose="05000000000000000000" pitchFamily="2" charset="2"/>
        <a:buChar char="l"/>
        <a:defRPr sz="2000" b="1" kern="1200">
          <a:solidFill>
            <a:schemeClr val="tx1"/>
          </a:solidFill>
          <a:latin typeface="+mn-lt"/>
          <a:ea typeface="+mn-ea"/>
          <a:cs typeface="+mn-cs"/>
          <a:sym typeface="Arial" panose="020B0604020202020204" pitchFamily="34" charset="0"/>
        </a:defRPr>
      </a:lvl2pPr>
      <a:lvl3pPr marL="1143000" lvl="2"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800" b="1" kern="1200">
          <a:solidFill>
            <a:schemeClr val="tx1"/>
          </a:solidFill>
          <a:latin typeface="+mn-lt"/>
          <a:ea typeface="+mn-ea"/>
          <a:cs typeface="+mn-cs"/>
          <a:sym typeface="Arial" panose="020B0604020202020204" pitchFamily="34" charset="0"/>
        </a:defRPr>
      </a:lvl3pPr>
      <a:lvl4pPr marL="1600200" lvl="3"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4pPr>
      <a:lvl5pPr marL="2057400" lvl="4"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5pPr>
      <a:lvl6pPr marL="2514600" lvl="5"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6pPr>
      <a:lvl7pPr marL="2971800" lvl="6"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7pPr>
      <a:lvl8pPr marL="3429000" lvl="7"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8pPr>
      <a:lvl9pPr marL="3886200" lvl="8" indent="-228600" algn="l" defTabSz="914400" eaLnBrk="1" fontAlgn="ctr" latinLnBrk="0" hangingPunct="1">
        <a:lnSpc>
          <a:spcPct val="100000"/>
        </a:lnSpc>
        <a:spcBef>
          <a:spcPct val="0"/>
        </a:spcBef>
        <a:spcAft>
          <a:spcPts val="400"/>
        </a:spcAft>
        <a:buSzPct val="70000"/>
        <a:buFont typeface="Wingdings" panose="05000000000000000000" pitchFamily="2" charset="2"/>
        <a:buChar char="l"/>
        <a:defRPr sz="1600" b="1" kern="1200">
          <a:solidFill>
            <a:schemeClr val="tx1"/>
          </a:solidFill>
          <a:latin typeface="+mn-lt"/>
          <a:ea typeface="+mn-ea"/>
          <a:cs typeface="+mn-cs"/>
          <a:sym typeface="Arial" panose="020B0604020202020204" pitchFamily="3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标题 2049"/>
          <p:cNvSpPr>
            <a:spLocks noGrp="1"/>
          </p:cNvSpPr>
          <p:nvPr>
            <p:ph type="title"/>
          </p:nvPr>
        </p:nvSpPr>
        <p:spPr>
          <a:xfrm>
            <a:off x="458788" y="274638"/>
            <a:ext cx="8226425" cy="1143000"/>
          </a:xfrm>
          <a:prstGeom prst="rect">
            <a:avLst/>
          </a:prstGeom>
          <a:noFill/>
          <a:ln w="9525">
            <a:noFill/>
          </a:ln>
        </p:spPr>
        <p:txBody>
          <a:bodyPr lIns="89544" tIns="44772" rIns="89544" bIns="44772" anchor="ctr"/>
          <a:lstStyle/>
          <a:p>
            <a:pPr lvl="0"/>
            <a:r>
              <a:rPr lang="zh-CN" altLang="en-US"/>
              <a:t>单击此处编辑母版标题样式</a:t>
            </a:r>
          </a:p>
        </p:txBody>
      </p:sp>
      <p:sp>
        <p:nvSpPr>
          <p:cNvPr id="2051" name="文本占位符 2050"/>
          <p:cNvSpPr>
            <a:spLocks noGrp="1"/>
          </p:cNvSpPr>
          <p:nvPr>
            <p:ph type="body" idx="1"/>
          </p:nvPr>
        </p:nvSpPr>
        <p:spPr>
          <a:xfrm>
            <a:off x="458788" y="1598613"/>
            <a:ext cx="8226425" cy="4527550"/>
          </a:xfrm>
          <a:prstGeom prst="rect">
            <a:avLst/>
          </a:prstGeom>
          <a:noFill/>
          <a:ln w="9525">
            <a:noFill/>
          </a:ln>
        </p:spPr>
        <p:txBody>
          <a:bodyPr lIns="89544" tIns="44772" rIns="89544" bIns="44772"/>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2051"/>
          <p:cNvSpPr>
            <a:spLocks noGrp="1"/>
          </p:cNvSpPr>
          <p:nvPr>
            <p:ph type="dt" sz="half" idx="2"/>
          </p:nvPr>
        </p:nvSpPr>
        <p:spPr>
          <a:xfrm>
            <a:off x="458788" y="6245225"/>
            <a:ext cx="2130425" cy="476250"/>
          </a:xfrm>
          <a:prstGeom prst="rect">
            <a:avLst/>
          </a:prstGeom>
          <a:noFill/>
          <a:ln w="9525">
            <a:noFill/>
          </a:ln>
        </p:spPr>
        <p:txBody>
          <a:bodyPr lIns="89544" tIns="44772" rIns="89544" bIns="44772"/>
          <a:lstStyle>
            <a:lvl1pPr>
              <a:defRPr sz="1300">
                <a:ea typeface="宋体" panose="02010600030101010101" pitchFamily="2" charset="-122"/>
              </a:defRPr>
            </a:lvl1pPr>
          </a:lstStyle>
          <a:p>
            <a:pPr lvl="0"/>
            <a:endParaRPr lang="zh-CN" altLang="en-US"/>
          </a:p>
        </p:txBody>
      </p:sp>
      <p:sp>
        <p:nvSpPr>
          <p:cNvPr id="2053" name="页脚占位符 2052"/>
          <p:cNvSpPr>
            <a:spLocks noGrp="1"/>
          </p:cNvSpPr>
          <p:nvPr>
            <p:ph type="ftr" sz="quarter" idx="3"/>
          </p:nvPr>
        </p:nvSpPr>
        <p:spPr>
          <a:xfrm>
            <a:off x="3122613" y="6245225"/>
            <a:ext cx="2898775" cy="476250"/>
          </a:xfrm>
          <a:prstGeom prst="rect">
            <a:avLst/>
          </a:prstGeom>
          <a:noFill/>
          <a:ln w="9525">
            <a:noFill/>
          </a:ln>
        </p:spPr>
        <p:txBody>
          <a:bodyPr lIns="89544" tIns="44772" rIns="89544" bIns="44772"/>
          <a:lstStyle>
            <a:lvl1pPr algn="ctr">
              <a:defRPr sz="1300">
                <a:ea typeface="宋体" panose="02010600030101010101" pitchFamily="2" charset="-122"/>
              </a:defRPr>
            </a:lvl1pPr>
          </a:lstStyle>
          <a:p>
            <a:pPr lvl="0"/>
            <a:endParaRPr lang="zh-CN"/>
          </a:p>
        </p:txBody>
      </p:sp>
      <p:sp>
        <p:nvSpPr>
          <p:cNvPr id="2054" name="灯片编号占位符 2053"/>
          <p:cNvSpPr>
            <a:spLocks noGrp="1"/>
          </p:cNvSpPr>
          <p:nvPr>
            <p:ph type="sldNum" sz="quarter" idx="4"/>
          </p:nvPr>
        </p:nvSpPr>
        <p:spPr>
          <a:xfrm>
            <a:off x="6554788" y="6245225"/>
            <a:ext cx="2130425" cy="476250"/>
          </a:xfrm>
          <a:prstGeom prst="rect">
            <a:avLst/>
          </a:prstGeom>
          <a:noFill/>
          <a:ln w="9525">
            <a:noFill/>
          </a:ln>
        </p:spPr>
        <p:txBody>
          <a:bodyPr lIns="89544" tIns="44772" rIns="89544" bIns="44772"/>
          <a:lstStyle>
            <a:lvl1pPr algn="r">
              <a:defRPr sz="1300">
                <a:ea typeface="宋体" panose="02010600030101010101" pitchFamily="2" charset="-122"/>
              </a:defRPr>
            </a:lvl1pPr>
          </a:lstStyle>
          <a:p>
            <a:pPr lvl="0"/>
            <a:fld id="{9A0DB2DC-4C9A-4742-B13C-FB6460FD3503}" type="slidenum">
              <a:rPr lang="en-US" altLang="zh-CN"/>
              <a:t>‹#›</a:t>
            </a:fld>
            <a:endParaRPr lang="zh-C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marL="0" lvl="0" indent="0" algn="ctr" defTabSz="895350" eaLnBrk="1" fontAlgn="base" latinLnBrk="0" hangingPunct="1">
        <a:lnSpc>
          <a:spcPct val="100000"/>
        </a:lnSpc>
        <a:spcBef>
          <a:spcPct val="0"/>
        </a:spcBef>
        <a:spcAft>
          <a:spcPct val="0"/>
        </a:spcAft>
        <a:buNone/>
        <a:defRPr sz="4300" b="0" i="0" u="none" kern="1200" baseline="0">
          <a:solidFill>
            <a:schemeClr val="tx2"/>
          </a:solidFill>
          <a:latin typeface="+mj-lt"/>
          <a:ea typeface="+mj-ea"/>
          <a:cs typeface="+mj-cs"/>
        </a:defRPr>
      </a:lvl1pPr>
    </p:titleStyle>
    <p:bodyStyle>
      <a:lvl1pPr marL="336550" lvl="0" indent="-336550" algn="l" defTabSz="895350" eaLnBrk="1" fontAlgn="base" latinLnBrk="0" hangingPunct="1">
        <a:lnSpc>
          <a:spcPct val="100000"/>
        </a:lnSpc>
        <a:spcBef>
          <a:spcPct val="20000"/>
        </a:spcBef>
        <a:spcAft>
          <a:spcPct val="0"/>
        </a:spcAft>
        <a:buChar char="•"/>
        <a:defRPr sz="3100" b="0" i="0" u="none" kern="1200" baseline="0">
          <a:solidFill>
            <a:schemeClr val="tx1"/>
          </a:solidFill>
          <a:latin typeface="+mn-lt"/>
          <a:ea typeface="+mn-ea"/>
          <a:cs typeface="+mn-cs"/>
        </a:defRPr>
      </a:lvl1pPr>
      <a:lvl2pPr marL="727075" lvl="1" indent="-279400" algn="l" defTabSz="895350" eaLnBrk="1" fontAlgn="base" latinLnBrk="0" hangingPunct="1">
        <a:lnSpc>
          <a:spcPct val="100000"/>
        </a:lnSpc>
        <a:spcBef>
          <a:spcPct val="20000"/>
        </a:spcBef>
        <a:spcAft>
          <a:spcPct val="0"/>
        </a:spcAft>
        <a:buChar char="–"/>
        <a:defRPr sz="2700" b="0" i="0" u="none" kern="1200" baseline="0">
          <a:solidFill>
            <a:schemeClr val="tx1"/>
          </a:solidFill>
          <a:latin typeface="+mn-lt"/>
          <a:ea typeface="+mn-ea"/>
          <a:cs typeface="+mn-cs"/>
        </a:defRPr>
      </a:lvl2pPr>
      <a:lvl3pPr marL="1119505" lvl="2" indent="-224155" algn="l" defTabSz="895350" eaLnBrk="1" fontAlgn="base" latinLnBrk="0" hangingPunct="1">
        <a:lnSpc>
          <a:spcPct val="100000"/>
        </a:lnSpc>
        <a:spcBef>
          <a:spcPct val="20000"/>
        </a:spcBef>
        <a:spcAft>
          <a:spcPct val="0"/>
        </a:spcAft>
        <a:buChar char="•"/>
        <a:defRPr sz="2300" b="0" i="0" u="none" kern="1200" baseline="0">
          <a:solidFill>
            <a:schemeClr val="tx1"/>
          </a:solidFill>
          <a:latin typeface="+mn-lt"/>
          <a:ea typeface="+mn-ea"/>
          <a:cs typeface="+mn-cs"/>
        </a:defRPr>
      </a:lvl3pPr>
      <a:lvl4pPr marL="1567180" lvl="3" indent="-224155"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4pPr>
      <a:lvl5pPr marL="2014855" lvl="4" indent="-224155"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5pPr>
      <a:lvl6pPr marL="2514600" lvl="5" indent="-228600"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6pPr>
      <a:lvl7pPr marL="2971800" lvl="6" indent="-228600"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7pPr>
      <a:lvl8pPr marL="3429000" lvl="7" indent="-228600"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8pPr>
      <a:lvl9pPr marL="3886200" lvl="8" indent="-228600" algn="l" defTabSz="895350" eaLnBrk="1" fontAlgn="base" latinLnBrk="0" hangingPunct="1">
        <a:lnSpc>
          <a:spcPct val="100000"/>
        </a:lnSpc>
        <a:spcBef>
          <a:spcPct val="20000"/>
        </a:spcBef>
        <a:spcAft>
          <a:spcPct val="0"/>
        </a:spcAft>
        <a:buChar char="»"/>
        <a:defRPr sz="19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4098" name="Picture 2" descr="D:\SLIDEtoME\TP模板\新建文件夹 (3)\bg8.jpg"/>
          <p:cNvPicPr>
            <a:picLocks noChangeAspect="1"/>
          </p:cNvPicPr>
          <p:nvPr/>
        </p:nvPicPr>
        <p:blipFill>
          <a:blip r:embed="rId2" cstate="print"/>
          <a:stretch>
            <a:fillRect/>
          </a:stretch>
        </p:blipFill>
        <p:spPr>
          <a:xfrm>
            <a:off x="0" y="0"/>
            <a:ext cx="9147175" cy="6859587"/>
          </a:xfrm>
          <a:prstGeom prst="rect">
            <a:avLst/>
          </a:prstGeom>
          <a:ln>
            <a:noFill/>
          </a:ln>
          <a:effectLst>
            <a:outerShdw blurRad="190500" algn="tl" rotWithShape="0">
              <a:srgbClr val="000000">
                <a:alpha val="70000"/>
              </a:srgbClr>
            </a:outerShdw>
          </a:effectLst>
        </p:spPr>
      </p:pic>
      <p:sp>
        <p:nvSpPr>
          <p:cNvPr id="4100" name="标题 6"/>
          <p:cNvSpPr>
            <a:spLocks noGrp="1"/>
          </p:cNvSpPr>
          <p:nvPr>
            <p:ph type="ctrTitle"/>
          </p:nvPr>
        </p:nvSpPr>
        <p:spPr>
          <a:xfrm>
            <a:off x="396874" y="2105102"/>
            <a:ext cx="8353425" cy="792162"/>
          </a:xfrm>
        </p:spPr>
        <p:txBody>
          <a:bodyPr vert="horz" anchor="ctr">
            <a:normAutofit/>
            <a:scene3d>
              <a:camera prst="orthographicFront"/>
              <a:lightRig rig="threePt" dir="t"/>
            </a:scene3d>
          </a:bodyPr>
          <a:lstStyle/>
          <a:p>
            <a:pPr>
              <a:buNone/>
            </a:pPr>
            <a:r>
              <a:rPr lang="zh-CN" altLang="en-US" sz="4000" b="1" kern="1200" dirty="0" smtClean="0">
                <a:solidFill>
                  <a:schemeClr val="tx1"/>
                </a:solidFill>
                <a:effectLst>
                  <a:outerShdw blurRad="38100" dist="19050" dir="2700000" algn="tl" rotWithShape="0">
                    <a:schemeClr val="dk1">
                      <a:alpha val="40000"/>
                    </a:schemeClr>
                  </a:outerShdw>
                </a:effectLst>
                <a:latin typeface="Arial Black" panose="020B0A04020102020204" charset="0"/>
                <a:ea typeface="微软雅黑" panose="020B0503020204020204" charset="-122"/>
                <a:sym typeface="Arial Black" panose="020B0A04020102020204" charset="0"/>
              </a:rPr>
              <a:t>限流技术</a:t>
            </a:r>
            <a:r>
              <a:rPr lang="zh-CN" altLang="zh-CN" sz="4000" b="1" kern="1200" dirty="0" smtClean="0">
                <a:solidFill>
                  <a:schemeClr val="tx1"/>
                </a:solidFill>
                <a:effectLst>
                  <a:outerShdw blurRad="38100" dist="19050" dir="2700000" algn="tl" rotWithShape="0">
                    <a:schemeClr val="dk1">
                      <a:alpha val="40000"/>
                    </a:schemeClr>
                  </a:outerShdw>
                </a:effectLst>
                <a:latin typeface="Arial Black" panose="020B0A04020102020204" charset="0"/>
                <a:ea typeface="微软雅黑" panose="020B0503020204020204" charset="-122"/>
                <a:sym typeface="Arial Black" panose="020B0A04020102020204" charset="0"/>
              </a:rPr>
              <a:t>分享</a:t>
            </a:r>
            <a:endParaRPr lang="zh-CN" altLang="zh-CN" sz="4000" b="1" kern="1200" dirty="0">
              <a:solidFill>
                <a:schemeClr val="tx1"/>
              </a:solidFill>
              <a:effectLst>
                <a:outerShdw blurRad="38100" dist="19050" dir="2700000" algn="tl" rotWithShape="0">
                  <a:schemeClr val="dk1">
                    <a:alpha val="40000"/>
                  </a:schemeClr>
                </a:outerShdw>
              </a:effectLst>
              <a:latin typeface="Arial Black" panose="020B0A04020102020204" charset="0"/>
              <a:ea typeface="微软雅黑" panose="020B0503020204020204" charset="-122"/>
              <a:sym typeface="Arial Black" panose="020B0A04020102020204" charset="0"/>
            </a:endParaRPr>
          </a:p>
        </p:txBody>
      </p:sp>
      <p:pic>
        <p:nvPicPr>
          <p:cNvPr id="4"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2" name="TextBox 1"/>
          <p:cNvSpPr txBox="1"/>
          <p:nvPr/>
        </p:nvSpPr>
        <p:spPr>
          <a:xfrm>
            <a:off x="5340328" y="4197328"/>
            <a:ext cx="3143160" cy="369332"/>
          </a:xfrm>
          <a:prstGeom prst="rect">
            <a:avLst/>
          </a:prstGeom>
          <a:noFill/>
        </p:spPr>
        <p:txBody>
          <a:bodyPr wrap="square" rtlCol="0">
            <a:spAutoFit/>
          </a:bodyPr>
          <a:lstStyle/>
          <a:p>
            <a:r>
              <a:rPr lang="zh-CN" altLang="en-US" b="1" dirty="0" smtClean="0"/>
              <a:t>韩朋  </a:t>
            </a:r>
            <a:r>
              <a:rPr lang="en-US" altLang="zh-CN" b="1" dirty="0" smtClean="0"/>
              <a:t>2017-12-22</a:t>
            </a:r>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503238" y="409575"/>
            <a:ext cx="6443662" cy="1233488"/>
          </a:xfrm>
        </p:spPr>
        <p:txBody>
          <a:bodyPr/>
          <a:lstStyle/>
          <a:p>
            <a:pPr eaLnBrk="1" hangingPunct="1"/>
            <a:r>
              <a:rPr lang="zh-CN" altLang="en-US" smtClean="0"/>
              <a:t>目录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283944153"/>
              </p:ext>
            </p:extLst>
          </p:nvPr>
        </p:nvGraphicFramePr>
        <p:xfrm>
          <a:off x="503238" y="1708150"/>
          <a:ext cx="8143875" cy="438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0C913308-F349-4B6D-A68A-DD1791B4A57B}" type="slidenum">
              <a:rPr lang="zh-CN" altLang="en-US" smtClean="0"/>
              <a:t>2</a:t>
            </a:fld>
            <a:endParaRPr lang="zh-CN" altLang="en-US"/>
          </a:p>
        </p:txBody>
      </p:sp>
    </p:spTree>
    <p:extLst>
      <p:ext uri="{BB962C8B-B14F-4D97-AF65-F5344CB8AC3E}">
        <p14:creationId xmlns:p14="http://schemas.microsoft.com/office/powerpoint/2010/main" val="1866277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3</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16209" y="1728958"/>
            <a:ext cx="6984800" cy="3970318"/>
          </a:xfrm>
          <a:prstGeom prst="rect">
            <a:avLst/>
          </a:prstGeom>
          <a:noFill/>
        </p:spPr>
        <p:txBody>
          <a:bodyPr wrap="square" rtlCol="0">
            <a:spAutoFit/>
          </a:bodyPr>
          <a:lstStyle/>
          <a:p>
            <a:pPr marL="342900" indent="-342900">
              <a:buAutoNum type="arabicPlain"/>
            </a:pPr>
            <a:r>
              <a:rPr lang="zh-CN" altLang="en-US" dirty="0" smtClean="0"/>
              <a:t>我们的工资代付随着集团事业部人数的增加，开始的时候对于大量的代付订单的请求，一度导致工行前置压力太大，签名或者请求响应速度很慢，甚至也有部分</a:t>
            </a:r>
            <a:r>
              <a:rPr lang="en-US" altLang="zh-CN" dirty="0" smtClean="0"/>
              <a:t>NC</a:t>
            </a:r>
            <a:r>
              <a:rPr lang="zh-CN" altLang="en-US" dirty="0" smtClean="0"/>
              <a:t>前置直接挂掉。</a:t>
            </a:r>
            <a:endParaRPr lang="en-US" altLang="zh-CN" dirty="0" smtClean="0"/>
          </a:p>
          <a:p>
            <a:pPr marL="342900" indent="-342900">
              <a:buAutoNum type="arabicPlain"/>
            </a:pPr>
            <a:endParaRPr lang="en-US" altLang="zh-CN" dirty="0"/>
          </a:p>
          <a:p>
            <a:r>
              <a:rPr lang="en-US" altLang="zh-CN" dirty="0" smtClean="0"/>
              <a:t>      </a:t>
            </a:r>
            <a:r>
              <a:rPr lang="zh-CN" altLang="en-US" dirty="0" smtClean="0"/>
              <a:t>影响：代付虽说是后台的请求，但是也对渠道造成了压力，但是</a:t>
            </a:r>
            <a:r>
              <a:rPr lang="en-US" altLang="zh-CN" dirty="0" smtClean="0"/>
              <a:t>   	</a:t>
            </a:r>
            <a:r>
              <a:rPr lang="zh-CN" altLang="en-US" dirty="0" smtClean="0"/>
              <a:t>最后还是可以通过后续补单来完成。用户感知较小。</a:t>
            </a:r>
            <a:endParaRPr lang="en-US" altLang="zh-CN" dirty="0" smtClean="0"/>
          </a:p>
          <a:p>
            <a:endParaRPr lang="en-US" altLang="zh-CN" dirty="0" smtClean="0"/>
          </a:p>
          <a:p>
            <a:pPr marL="342900" indent="-342900">
              <a:buAutoNum type="arabicPlain" startAt="2"/>
            </a:pPr>
            <a:r>
              <a:rPr lang="zh-CN" altLang="en-US" dirty="0" smtClean="0"/>
              <a:t>随着</a:t>
            </a:r>
            <a:r>
              <a:rPr lang="en-US" altLang="zh-CN" dirty="0" smtClean="0"/>
              <a:t>U</a:t>
            </a:r>
            <a:r>
              <a:rPr lang="zh-CN" altLang="en-US" dirty="0" smtClean="0"/>
              <a:t>净的交易量的快速增长，目前我们接入的第三方的承载能</a:t>
            </a:r>
            <a:r>
              <a:rPr lang="en-US" altLang="zh-CN" dirty="0"/>
              <a:t> </a:t>
            </a:r>
            <a:r>
              <a:rPr lang="en-US" altLang="zh-CN" dirty="0" smtClean="0"/>
              <a:t>  </a:t>
            </a:r>
            <a:r>
              <a:rPr lang="zh-CN" altLang="en-US" dirty="0" smtClean="0"/>
              <a:t>力有限，在某一时刻交易量请求暴增，对方会选择拒绝掉该笔的请求。</a:t>
            </a:r>
            <a:endParaRPr lang="en-US" altLang="zh-CN" dirty="0" smtClean="0"/>
          </a:p>
          <a:p>
            <a:pPr lvl="1"/>
            <a:endParaRPr lang="en-US" altLang="zh-CN" dirty="0"/>
          </a:p>
          <a:p>
            <a:pPr lvl="1"/>
            <a:r>
              <a:rPr lang="zh-CN" altLang="en-US" dirty="0" smtClean="0"/>
              <a:t>影响：像这种直接面对普通用户而言，如果多次请求不成，直</a:t>
            </a:r>
            <a:r>
              <a:rPr lang="en-US" altLang="zh-CN" dirty="0" smtClean="0"/>
              <a:t>	</a:t>
            </a:r>
            <a:r>
              <a:rPr lang="zh-CN" altLang="en-US" dirty="0" smtClean="0"/>
              <a:t>接抛弃或者投诉，进而造成用户的流失。用户反应很大。</a:t>
            </a:r>
            <a:endParaRPr lang="en-US" altLang="zh-CN" dirty="0" smtClean="0"/>
          </a:p>
          <a:p>
            <a:pPr marL="342900" indent="-342900">
              <a:buAutoNum type="arabicPlain"/>
            </a:pPr>
            <a:endParaRPr lang="en-US" altLang="zh-CN" dirty="0" smtClean="0"/>
          </a:p>
        </p:txBody>
      </p:sp>
      <p:sp>
        <p:nvSpPr>
          <p:cNvPr id="12" name="AutoShape 7"/>
          <p:cNvSpPr>
            <a:spLocks noChangeArrowheads="1"/>
          </p:cNvSpPr>
          <p:nvPr/>
        </p:nvSpPr>
        <p:spPr bwMode="auto">
          <a:xfrm>
            <a:off x="381120" y="387130"/>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问题</a:t>
            </a:r>
            <a:r>
              <a:rPr lang="en-US" altLang="zh-CN" sz="3000" dirty="0" smtClean="0">
                <a:latin typeface="华文新魏" panose="02010800040101010101" charset="-122"/>
                <a:ea typeface="华文新魏" panose="02010800040101010101" charset="-122"/>
              </a:rPr>
              <a:t>:</a:t>
            </a:r>
            <a:endParaRPr lang="zh-CN" altLang="en-US" sz="3000" dirty="0">
              <a:latin typeface="华文新魏" panose="02010800040101010101" charset="-122"/>
              <a:ea typeface="华文新魏" panose="02010800040101010101" charset="-122"/>
            </a:endParaRPr>
          </a:p>
        </p:txBody>
      </p:sp>
    </p:spTree>
    <p:extLst>
      <p:ext uri="{BB962C8B-B14F-4D97-AF65-F5344CB8AC3E}">
        <p14:creationId xmlns:p14="http://schemas.microsoft.com/office/powerpoint/2010/main" val="27653129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4</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520816" y="430133"/>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引入：</a:t>
            </a:r>
            <a:endParaRPr lang="zh-CN" altLang="en-US" sz="3000" dirty="0">
              <a:latin typeface="华文新魏" panose="02010800040101010101" charset="-122"/>
              <a:ea typeface="华文新魏" panose="02010800040101010101" charset="-122"/>
            </a:endParaRPr>
          </a:p>
        </p:txBody>
      </p:sp>
      <p:sp>
        <p:nvSpPr>
          <p:cNvPr id="7" name="文本框 5"/>
          <p:cNvSpPr txBox="1"/>
          <p:nvPr/>
        </p:nvSpPr>
        <p:spPr>
          <a:xfrm>
            <a:off x="628983" y="1461518"/>
            <a:ext cx="8057515" cy="4524315"/>
          </a:xfrm>
          <a:prstGeom prst="rect">
            <a:avLst/>
          </a:prstGeom>
          <a:noFill/>
        </p:spPr>
        <p:txBody>
          <a:bodyPr wrap="square" rtlCol="0">
            <a:spAutoFit/>
          </a:bodyPr>
          <a:lstStyle/>
          <a:p>
            <a:pPr>
              <a:buClr>
                <a:srgbClr val="0070C0"/>
              </a:buClr>
            </a:pPr>
            <a:r>
              <a:rPr lang="en-US" altLang="zh-CN" dirty="0"/>
              <a:t> </a:t>
            </a:r>
            <a:r>
              <a:rPr lang="en-US" altLang="zh-CN" dirty="0" smtClean="0"/>
              <a:t>      </a:t>
            </a:r>
            <a:r>
              <a:rPr lang="zh-CN" altLang="en-US" dirty="0" smtClean="0"/>
              <a:t>在</a:t>
            </a:r>
            <a:r>
              <a:rPr lang="zh-CN" altLang="en-US" dirty="0"/>
              <a:t>大数据量高并发访问时，经常会出现服务或接口面对暴涨的请求而不可用的情况，甚至引发连锁反映导致整个系统崩溃。此时你需要使用的技术手段之一就是限流，当请求达到一定的并发数或速率，就进行等待、排队、降级、拒绝服务等</a:t>
            </a:r>
            <a:r>
              <a:rPr lang="zh-CN" altLang="en-US" dirty="0" smtClean="0"/>
              <a:t>。</a:t>
            </a:r>
            <a:endParaRPr lang="en-US" altLang="zh-CN" dirty="0"/>
          </a:p>
          <a:p>
            <a:pPr>
              <a:buClr>
                <a:srgbClr val="0070C0"/>
              </a:buClr>
            </a:pPr>
            <a:r>
              <a:rPr lang="en-US" altLang="zh-CN" dirty="0" smtClean="0"/>
              <a:t>	</a:t>
            </a:r>
          </a:p>
          <a:p>
            <a:pPr>
              <a:buClr>
                <a:srgbClr val="0070C0"/>
              </a:buClr>
            </a:pPr>
            <a:endParaRPr lang="en-US" altLang="zh-CN" dirty="0" smtClean="0"/>
          </a:p>
          <a:p>
            <a:pPr>
              <a:buClr>
                <a:srgbClr val="0070C0"/>
              </a:buClr>
            </a:pPr>
            <a:r>
              <a:rPr lang="en-US" altLang="zh-CN" dirty="0"/>
              <a:t> </a:t>
            </a:r>
            <a:r>
              <a:rPr lang="en-US" altLang="zh-CN" dirty="0" smtClean="0"/>
              <a:t>     </a:t>
            </a:r>
            <a:r>
              <a:rPr lang="zh-CN" altLang="en-US" dirty="0" smtClean="0"/>
              <a:t>所以，一般的公司在大流量</a:t>
            </a:r>
            <a:r>
              <a:rPr lang="zh-CN" altLang="en-US" dirty="0"/>
              <a:t>系统</a:t>
            </a:r>
            <a:r>
              <a:rPr lang="zh-CN" altLang="en-US" dirty="0" smtClean="0"/>
              <a:t>的时候，一般会采取三大利器：</a:t>
            </a:r>
            <a:r>
              <a:rPr lang="zh-CN" altLang="en-US" b="1" dirty="0" smtClean="0">
                <a:solidFill>
                  <a:srgbClr val="FF0000"/>
                </a:solidFill>
              </a:rPr>
              <a:t>缓存，降级（服务）与限流</a:t>
            </a:r>
            <a:r>
              <a:rPr lang="zh-CN" altLang="en-US" dirty="0" smtClean="0"/>
              <a:t>来解决性能问题，在</a:t>
            </a:r>
            <a:r>
              <a:rPr lang="zh-CN" altLang="en-US" dirty="0"/>
              <a:t>高请求和并发的情况下可以进行订单</a:t>
            </a:r>
            <a:r>
              <a:rPr lang="zh-CN" altLang="en-US" dirty="0" smtClean="0"/>
              <a:t>拒绝</a:t>
            </a:r>
            <a:r>
              <a:rPr lang="en-US" altLang="zh-CN" dirty="0" smtClean="0"/>
              <a:t>,</a:t>
            </a:r>
            <a:r>
              <a:rPr lang="zh-CN" altLang="en-US" dirty="0" smtClean="0"/>
              <a:t>不管是进来还是出去。都可以选择限流，以保证系统稳定。</a:t>
            </a:r>
            <a:endParaRPr lang="en-US" altLang="zh-CN" dirty="0"/>
          </a:p>
          <a:p>
            <a:pPr>
              <a:buClr>
                <a:srgbClr val="0070C0"/>
              </a:buClr>
            </a:pPr>
            <a:endParaRPr lang="en-US" altLang="zh-CN" dirty="0" smtClean="0"/>
          </a:p>
          <a:p>
            <a:pPr>
              <a:buClr>
                <a:srgbClr val="0070C0"/>
              </a:buClr>
            </a:pPr>
            <a:endParaRPr lang="en-US" altLang="zh-CN" dirty="0"/>
          </a:p>
          <a:p>
            <a:r>
              <a:rPr lang="zh-CN" altLang="en-US" b="1" dirty="0" smtClean="0"/>
              <a:t>限</a:t>
            </a:r>
            <a:r>
              <a:rPr lang="zh-CN" altLang="en-US" b="1" dirty="0"/>
              <a:t>流</a:t>
            </a:r>
            <a:r>
              <a:rPr lang="zh-CN" altLang="en-US" b="1" dirty="0" smtClean="0"/>
              <a:t>算法：</a:t>
            </a:r>
            <a:endParaRPr lang="zh-CN" altLang="en-US" b="1" dirty="0"/>
          </a:p>
          <a:p>
            <a:r>
              <a:rPr lang="zh-CN" altLang="en-US" b="1" dirty="0">
                <a:solidFill>
                  <a:srgbClr val="FF0000"/>
                </a:solidFill>
              </a:rPr>
              <a:t>计数器</a:t>
            </a:r>
            <a:r>
              <a:rPr lang="zh-CN" altLang="en-US" b="1" dirty="0" smtClean="0">
                <a:solidFill>
                  <a:srgbClr val="FF0000"/>
                </a:solidFill>
              </a:rPr>
              <a:t>算法</a:t>
            </a:r>
            <a:r>
              <a:rPr lang="zh-CN" altLang="en-US" b="1" dirty="0">
                <a:solidFill>
                  <a:srgbClr val="FF0000"/>
                </a:solidFill>
              </a:rPr>
              <a:t>、</a:t>
            </a:r>
            <a:r>
              <a:rPr lang="zh-CN" altLang="en-US" b="1" dirty="0" smtClean="0">
                <a:solidFill>
                  <a:srgbClr val="FF0000"/>
                </a:solidFill>
              </a:rPr>
              <a:t>漏</a:t>
            </a:r>
            <a:r>
              <a:rPr lang="zh-CN" altLang="en-US" b="1" dirty="0">
                <a:solidFill>
                  <a:srgbClr val="FF0000"/>
                </a:solidFill>
              </a:rPr>
              <a:t>桶</a:t>
            </a:r>
            <a:r>
              <a:rPr lang="en-US" altLang="zh-CN" b="1" dirty="0">
                <a:solidFill>
                  <a:srgbClr val="FF0000"/>
                </a:solidFill>
              </a:rPr>
              <a:t>(leaky bucket</a:t>
            </a:r>
            <a:r>
              <a:rPr lang="en-US" altLang="zh-CN" b="1" dirty="0" smtClean="0">
                <a:solidFill>
                  <a:srgbClr val="FF0000"/>
                </a:solidFill>
              </a:rPr>
              <a:t>)</a:t>
            </a:r>
            <a:r>
              <a:rPr lang="zh-CN" altLang="en-US" b="1" dirty="0" smtClean="0">
                <a:solidFill>
                  <a:srgbClr val="FF0000"/>
                </a:solidFill>
              </a:rPr>
              <a:t> 和令牌</a:t>
            </a:r>
            <a:r>
              <a:rPr lang="zh-CN" altLang="en-US" b="1" dirty="0">
                <a:solidFill>
                  <a:srgbClr val="FF0000"/>
                </a:solidFill>
              </a:rPr>
              <a:t>桶</a:t>
            </a:r>
            <a:r>
              <a:rPr lang="en-US" altLang="zh-CN" b="1" dirty="0">
                <a:solidFill>
                  <a:srgbClr val="FF0000"/>
                </a:solidFill>
              </a:rPr>
              <a:t>(Token Bucket)</a:t>
            </a:r>
            <a:r>
              <a:rPr lang="zh-CN" altLang="en-US" b="1" dirty="0" smtClean="0">
                <a:solidFill>
                  <a:srgbClr val="FF0000"/>
                </a:solidFill>
              </a:rPr>
              <a:t>和是</a:t>
            </a:r>
            <a:r>
              <a:rPr lang="zh-CN" altLang="en-US" b="1" dirty="0">
                <a:solidFill>
                  <a:srgbClr val="FF0000"/>
                </a:solidFill>
              </a:rPr>
              <a:t>最常用的三种限流的</a:t>
            </a:r>
            <a:r>
              <a:rPr lang="zh-CN" altLang="en-US" b="1" dirty="0" smtClean="0">
                <a:solidFill>
                  <a:srgbClr val="FF0000"/>
                </a:solidFill>
              </a:rPr>
              <a:t>算法。</a:t>
            </a:r>
            <a:endParaRPr lang="zh-CN" altLang="en-US" b="1" dirty="0">
              <a:solidFill>
                <a:srgbClr val="FF0000"/>
              </a:solidFill>
            </a:endParaRPr>
          </a:p>
          <a:p>
            <a:pPr>
              <a:buClr>
                <a:srgbClr val="0070C0"/>
              </a:buClr>
            </a:pPr>
            <a:endParaRPr lang="en-US" altLang="zh-CN" dirty="0" smtClean="0"/>
          </a:p>
          <a:p>
            <a:pPr>
              <a:buClr>
                <a:srgbClr val="0070C0"/>
              </a:buClr>
            </a:pPr>
            <a:endParaRPr lang="en-US" altLang="zh-CN" dirty="0"/>
          </a:p>
        </p:txBody>
      </p:sp>
    </p:spTree>
    <p:extLst>
      <p:ext uri="{BB962C8B-B14F-4D97-AF65-F5344CB8AC3E}">
        <p14:creationId xmlns:p14="http://schemas.microsoft.com/office/powerpoint/2010/main" val="32426258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5</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endParaRPr lang="zh-CN" altLang="en-US" sz="3000" dirty="0">
              <a:latin typeface="华文新魏" panose="02010800040101010101" charset="-122"/>
              <a:ea typeface="华文新魏" panose="02010800040101010101" charset="-122"/>
            </a:endParaRPr>
          </a:p>
        </p:txBody>
      </p:sp>
      <p:graphicFrame>
        <p:nvGraphicFramePr>
          <p:cNvPr id="6" name="图示 5"/>
          <p:cNvGraphicFramePr/>
          <p:nvPr>
            <p:extLst>
              <p:ext uri="{D42A27DB-BD31-4B8C-83A1-F6EECF244321}">
                <p14:modId xmlns:p14="http://schemas.microsoft.com/office/powerpoint/2010/main" val="2193405957"/>
              </p:ext>
            </p:extLst>
          </p:nvPr>
        </p:nvGraphicFramePr>
        <p:xfrm>
          <a:off x="1524000" y="1397000"/>
          <a:ext cx="6096000" cy="3638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圆角矩形 6"/>
          <p:cNvSpPr/>
          <p:nvPr/>
        </p:nvSpPr>
        <p:spPr>
          <a:xfrm>
            <a:off x="2439038" y="5297044"/>
            <a:ext cx="4330576" cy="5832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eaLnBrk="0" hangingPunct="0">
              <a:lnSpc>
                <a:spcPct val="130000"/>
              </a:lnSpc>
              <a:spcBef>
                <a:spcPct val="20000"/>
              </a:spcBef>
              <a:buClr>
                <a:srgbClr val="0099EF"/>
              </a:buClr>
            </a:pPr>
            <a:r>
              <a:rPr lang="en-US" altLang="zh-CN" dirty="0" smtClean="0">
                <a:latin typeface="华文新魏" panose="02010800040101010101" charset="-122"/>
                <a:ea typeface="华文新魏" panose="02010800040101010101" charset="-122"/>
              </a:rPr>
              <a:t>Guava</a:t>
            </a:r>
            <a:endParaRPr lang="zh-CN" altLang="en-US" dirty="0">
              <a:latin typeface="华文新魏" panose="02010800040101010101" charset="-122"/>
              <a:ea typeface="华文新魏" panose="02010800040101010101" charset="-122"/>
            </a:endParaRPr>
          </a:p>
        </p:txBody>
      </p:sp>
      <p:cxnSp>
        <p:nvCxnSpPr>
          <p:cNvPr id="16" name="肘形连接符 15"/>
          <p:cNvCxnSpPr/>
          <p:nvPr/>
        </p:nvCxnSpPr>
        <p:spPr>
          <a:xfrm rot="16200000" flipH="1">
            <a:off x="1916477" y="5036414"/>
            <a:ext cx="523860" cy="521261"/>
          </a:xfrm>
          <a:prstGeom prst="bentConnector2">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819988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6</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限流算法：计数器算法</a:t>
            </a:r>
            <a:endParaRPr lang="zh-CN" altLang="en-US" sz="3000" dirty="0">
              <a:latin typeface="华文新魏" panose="02010800040101010101" charset="-122"/>
              <a:ea typeface="华文新魏" panose="02010800040101010101" charset="-122"/>
            </a:endParaRPr>
          </a:p>
        </p:txBody>
      </p:sp>
      <p:sp>
        <p:nvSpPr>
          <p:cNvPr id="4" name="矩形 3"/>
          <p:cNvSpPr/>
          <p:nvPr/>
        </p:nvSpPr>
        <p:spPr>
          <a:xfrm>
            <a:off x="649294" y="1169977"/>
            <a:ext cx="7622103" cy="1323439"/>
          </a:xfrm>
          <a:prstGeom prst="rect">
            <a:avLst/>
          </a:prstGeom>
        </p:spPr>
        <p:txBody>
          <a:bodyPr wrap="square">
            <a:spAutoFit/>
          </a:bodyPr>
          <a:lstStyle/>
          <a:p>
            <a:r>
              <a:rPr lang="zh-CN" altLang="en-US" sz="1600" dirty="0"/>
              <a:t>计数器是最简单粗暴的算法。比如某个服务最多只能每秒钟处理</a:t>
            </a:r>
            <a:r>
              <a:rPr lang="en-US" altLang="zh-CN" sz="1600" dirty="0"/>
              <a:t>100</a:t>
            </a:r>
            <a:r>
              <a:rPr lang="zh-CN" altLang="en-US" sz="1600" dirty="0"/>
              <a:t>个请求。我们可以设置一个</a:t>
            </a:r>
            <a:r>
              <a:rPr lang="en-US" altLang="zh-CN" sz="1600" dirty="0"/>
              <a:t>1</a:t>
            </a:r>
            <a:r>
              <a:rPr lang="zh-CN" altLang="en-US" sz="1600" dirty="0"/>
              <a:t>秒钟的滑动窗口，窗口中有</a:t>
            </a:r>
            <a:r>
              <a:rPr lang="en-US" altLang="zh-CN" sz="1600" dirty="0"/>
              <a:t>10</a:t>
            </a:r>
            <a:r>
              <a:rPr lang="zh-CN" altLang="en-US" sz="1600" dirty="0"/>
              <a:t>个格子，每个格子</a:t>
            </a:r>
            <a:r>
              <a:rPr lang="en-US" altLang="zh-CN" sz="1600" dirty="0"/>
              <a:t>100</a:t>
            </a:r>
            <a:r>
              <a:rPr lang="zh-CN" altLang="en-US" sz="1600" dirty="0"/>
              <a:t>毫秒，每</a:t>
            </a:r>
            <a:r>
              <a:rPr lang="en-US" altLang="zh-CN" sz="1600" dirty="0"/>
              <a:t>100</a:t>
            </a:r>
            <a:r>
              <a:rPr lang="zh-CN" altLang="en-US" sz="1600" dirty="0"/>
              <a:t>毫秒移动一次，每次移动都需要记录当前服务请求的次数。内存中需要保存</a:t>
            </a:r>
            <a:r>
              <a:rPr lang="en-US" altLang="zh-CN" sz="1600" dirty="0"/>
              <a:t>10</a:t>
            </a:r>
            <a:r>
              <a:rPr lang="zh-CN" altLang="en-US" sz="1600" dirty="0"/>
              <a:t>次的次数。可以用数据结构</a:t>
            </a:r>
            <a:r>
              <a:rPr lang="en-US" altLang="zh-CN" sz="1600" dirty="0" err="1"/>
              <a:t>LinkedList</a:t>
            </a:r>
            <a:r>
              <a:rPr lang="zh-CN" altLang="en-US" sz="1600" dirty="0"/>
              <a:t>来实现。格子每次移动的时候判断一次，当前访问次数和</a:t>
            </a:r>
            <a:r>
              <a:rPr lang="en-US" altLang="zh-CN" sz="1600" dirty="0" err="1"/>
              <a:t>LinkedList</a:t>
            </a:r>
            <a:r>
              <a:rPr lang="zh-CN" altLang="en-US" sz="1600" dirty="0"/>
              <a:t>中最后一个相差是否超过</a:t>
            </a:r>
            <a:r>
              <a:rPr lang="en-US" altLang="zh-CN" sz="1600" dirty="0"/>
              <a:t>100</a:t>
            </a:r>
            <a:r>
              <a:rPr lang="zh-CN" altLang="en-US" sz="1600" dirty="0"/>
              <a:t>，如果超过就需要限流了</a:t>
            </a:r>
          </a:p>
        </p:txBody>
      </p:sp>
      <p:sp>
        <p:nvSpPr>
          <p:cNvPr id="2" name="右箭头 1"/>
          <p:cNvSpPr/>
          <p:nvPr/>
        </p:nvSpPr>
        <p:spPr>
          <a:xfrm>
            <a:off x="896983" y="4965656"/>
            <a:ext cx="7374414" cy="1396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下箭头 5"/>
          <p:cNvSpPr/>
          <p:nvPr/>
        </p:nvSpPr>
        <p:spPr>
          <a:xfrm>
            <a:off x="1469518" y="3761983"/>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6967670" y="3751008"/>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下箭头 10"/>
          <p:cNvSpPr/>
          <p:nvPr/>
        </p:nvSpPr>
        <p:spPr>
          <a:xfrm>
            <a:off x="4013216" y="3708392"/>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1219296" y="5149155"/>
            <a:ext cx="768328" cy="369332"/>
          </a:xfrm>
          <a:prstGeom prst="rect">
            <a:avLst/>
          </a:prstGeom>
          <a:noFill/>
        </p:spPr>
        <p:txBody>
          <a:bodyPr wrap="square" rtlCol="0">
            <a:spAutoFit/>
          </a:bodyPr>
          <a:lstStyle/>
          <a:p>
            <a:r>
              <a:rPr lang="en-US" altLang="zh-CN" dirty="0" smtClean="0"/>
              <a:t>0:00</a:t>
            </a:r>
            <a:endParaRPr lang="zh-CN" altLang="en-US" dirty="0"/>
          </a:p>
        </p:txBody>
      </p:sp>
      <p:sp>
        <p:nvSpPr>
          <p:cNvPr id="13" name="TextBox 12"/>
          <p:cNvSpPr txBox="1"/>
          <p:nvPr/>
        </p:nvSpPr>
        <p:spPr>
          <a:xfrm>
            <a:off x="3815862" y="5149155"/>
            <a:ext cx="768328" cy="369332"/>
          </a:xfrm>
          <a:prstGeom prst="rect">
            <a:avLst/>
          </a:prstGeom>
          <a:noFill/>
        </p:spPr>
        <p:txBody>
          <a:bodyPr wrap="square" rtlCol="0">
            <a:spAutoFit/>
          </a:bodyPr>
          <a:lstStyle/>
          <a:p>
            <a:r>
              <a:rPr lang="en-US" altLang="zh-CN" dirty="0" smtClean="0"/>
              <a:t>1:00</a:t>
            </a:r>
            <a:endParaRPr lang="zh-CN" altLang="en-US" dirty="0"/>
          </a:p>
        </p:txBody>
      </p:sp>
      <p:sp>
        <p:nvSpPr>
          <p:cNvPr id="14" name="TextBox 13"/>
          <p:cNvSpPr txBox="1"/>
          <p:nvPr/>
        </p:nvSpPr>
        <p:spPr>
          <a:xfrm>
            <a:off x="6653354" y="5149155"/>
            <a:ext cx="768328" cy="369332"/>
          </a:xfrm>
          <a:prstGeom prst="rect">
            <a:avLst/>
          </a:prstGeom>
          <a:noFill/>
        </p:spPr>
        <p:txBody>
          <a:bodyPr wrap="square" rtlCol="0">
            <a:spAutoFit/>
          </a:bodyPr>
          <a:lstStyle/>
          <a:p>
            <a:r>
              <a:rPr lang="en-US" altLang="zh-CN" dirty="0" smtClean="0"/>
              <a:t>2:00</a:t>
            </a:r>
            <a:endParaRPr lang="zh-CN" altLang="en-US" dirty="0"/>
          </a:p>
        </p:txBody>
      </p:sp>
      <p:cxnSp>
        <p:nvCxnSpPr>
          <p:cNvPr id="15" name="直接箭头连接符 14"/>
          <p:cNvCxnSpPr/>
          <p:nvPr/>
        </p:nvCxnSpPr>
        <p:spPr>
          <a:xfrm>
            <a:off x="1609214" y="4425539"/>
            <a:ext cx="2404002"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200026" y="4414564"/>
            <a:ext cx="2837492"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253819" y="4135172"/>
            <a:ext cx="1187416" cy="369332"/>
          </a:xfrm>
          <a:prstGeom prst="rect">
            <a:avLst/>
          </a:prstGeom>
          <a:noFill/>
        </p:spPr>
        <p:txBody>
          <a:bodyPr wrap="square" rtlCol="0">
            <a:spAutoFit/>
          </a:bodyPr>
          <a:lstStyle/>
          <a:p>
            <a:r>
              <a:rPr lang="en-US" altLang="zh-CN" dirty="0" smtClean="0"/>
              <a:t>1,2….100</a:t>
            </a:r>
            <a:endParaRPr lang="zh-CN" altLang="en-US" dirty="0"/>
          </a:p>
        </p:txBody>
      </p:sp>
      <p:sp>
        <p:nvSpPr>
          <p:cNvPr id="20" name="TextBox 19"/>
          <p:cNvSpPr txBox="1"/>
          <p:nvPr/>
        </p:nvSpPr>
        <p:spPr>
          <a:xfrm>
            <a:off x="5025064" y="4135172"/>
            <a:ext cx="1187416" cy="369332"/>
          </a:xfrm>
          <a:prstGeom prst="rect">
            <a:avLst/>
          </a:prstGeom>
          <a:noFill/>
        </p:spPr>
        <p:txBody>
          <a:bodyPr wrap="square" rtlCol="0">
            <a:spAutoFit/>
          </a:bodyPr>
          <a:lstStyle/>
          <a:p>
            <a:r>
              <a:rPr lang="en-US" altLang="zh-CN" dirty="0" smtClean="0"/>
              <a:t>1,2….100</a:t>
            </a:r>
            <a:endParaRPr lang="zh-CN" altLang="en-US" dirty="0"/>
          </a:p>
        </p:txBody>
      </p:sp>
    </p:spTree>
    <p:extLst>
      <p:ext uri="{BB962C8B-B14F-4D97-AF65-F5344CB8AC3E}">
        <p14:creationId xmlns:p14="http://schemas.microsoft.com/office/powerpoint/2010/main" val="41879190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7</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限流算法：计数器程序</a:t>
            </a:r>
            <a:endParaRPr lang="zh-CN" altLang="en-US" sz="3000" dirty="0">
              <a:latin typeface="华文新魏" panose="02010800040101010101" charset="-122"/>
              <a:ea typeface="华文新魏" panose="02010800040101010101" charset="-122"/>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9144" y="980982"/>
            <a:ext cx="5839509" cy="5776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382" y="1335788"/>
            <a:ext cx="7643813" cy="506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249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500" fill="hold"/>
                                        <p:tgtEl>
                                          <p:spTgt spid="2051"/>
                                        </p:tgtEl>
                                        <p:attrNameLst>
                                          <p:attrName>ppt_x</p:attrName>
                                        </p:attrNameLst>
                                      </p:cBhvr>
                                      <p:tavLst>
                                        <p:tav tm="0">
                                          <p:val>
                                            <p:strVal val="#ppt_x"/>
                                          </p:val>
                                        </p:tav>
                                        <p:tav tm="100000">
                                          <p:val>
                                            <p:strVal val="#ppt_x"/>
                                          </p:val>
                                        </p:tav>
                                      </p:tavLst>
                                    </p:anim>
                                    <p:anim calcmode="lin" valueType="num">
                                      <p:cBhvr additive="base">
                                        <p:cTn id="8"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8</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限流算法：滑动窗口算法</a:t>
            </a:r>
            <a:endParaRPr lang="zh-CN" altLang="en-US" sz="3000" dirty="0">
              <a:latin typeface="华文新魏" panose="02010800040101010101" charset="-122"/>
              <a:ea typeface="华文新魏" panose="02010800040101010101" charset="-122"/>
            </a:endParaRPr>
          </a:p>
        </p:txBody>
      </p:sp>
      <p:sp>
        <p:nvSpPr>
          <p:cNvPr id="2" name="右箭头 1"/>
          <p:cNvSpPr/>
          <p:nvPr/>
        </p:nvSpPr>
        <p:spPr>
          <a:xfrm>
            <a:off x="961077" y="2387361"/>
            <a:ext cx="7374414" cy="1396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下箭头 5"/>
          <p:cNvSpPr/>
          <p:nvPr/>
        </p:nvSpPr>
        <p:spPr>
          <a:xfrm>
            <a:off x="1533612" y="1183688"/>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7031764" y="1172713"/>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下箭头 10"/>
          <p:cNvSpPr/>
          <p:nvPr/>
        </p:nvSpPr>
        <p:spPr>
          <a:xfrm>
            <a:off x="4077310" y="1130097"/>
            <a:ext cx="139696" cy="132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1283390" y="2570860"/>
            <a:ext cx="768328" cy="369332"/>
          </a:xfrm>
          <a:prstGeom prst="rect">
            <a:avLst/>
          </a:prstGeom>
          <a:noFill/>
        </p:spPr>
        <p:txBody>
          <a:bodyPr wrap="square" rtlCol="0">
            <a:spAutoFit/>
          </a:bodyPr>
          <a:lstStyle/>
          <a:p>
            <a:r>
              <a:rPr lang="en-US" altLang="zh-CN" dirty="0" smtClean="0"/>
              <a:t>0:00</a:t>
            </a:r>
            <a:endParaRPr lang="zh-CN" altLang="en-US" dirty="0"/>
          </a:p>
        </p:txBody>
      </p:sp>
      <p:sp>
        <p:nvSpPr>
          <p:cNvPr id="13" name="TextBox 12"/>
          <p:cNvSpPr txBox="1"/>
          <p:nvPr/>
        </p:nvSpPr>
        <p:spPr>
          <a:xfrm>
            <a:off x="3879956" y="2570860"/>
            <a:ext cx="768328" cy="369332"/>
          </a:xfrm>
          <a:prstGeom prst="rect">
            <a:avLst/>
          </a:prstGeom>
          <a:noFill/>
        </p:spPr>
        <p:txBody>
          <a:bodyPr wrap="square" rtlCol="0">
            <a:spAutoFit/>
          </a:bodyPr>
          <a:lstStyle/>
          <a:p>
            <a:r>
              <a:rPr lang="en-US" altLang="zh-CN" dirty="0" smtClean="0"/>
              <a:t>1:00</a:t>
            </a:r>
            <a:endParaRPr lang="zh-CN" altLang="en-US" dirty="0"/>
          </a:p>
        </p:txBody>
      </p:sp>
      <p:sp>
        <p:nvSpPr>
          <p:cNvPr id="14" name="TextBox 13"/>
          <p:cNvSpPr txBox="1"/>
          <p:nvPr/>
        </p:nvSpPr>
        <p:spPr>
          <a:xfrm>
            <a:off x="6717448" y="2570860"/>
            <a:ext cx="768328" cy="369332"/>
          </a:xfrm>
          <a:prstGeom prst="rect">
            <a:avLst/>
          </a:prstGeom>
          <a:noFill/>
        </p:spPr>
        <p:txBody>
          <a:bodyPr wrap="square" rtlCol="0">
            <a:spAutoFit/>
          </a:bodyPr>
          <a:lstStyle/>
          <a:p>
            <a:r>
              <a:rPr lang="en-US" altLang="zh-CN" dirty="0" smtClean="0"/>
              <a:t>2:00</a:t>
            </a:r>
            <a:endParaRPr lang="zh-CN" altLang="en-US" dirty="0"/>
          </a:p>
        </p:txBody>
      </p:sp>
      <p:cxnSp>
        <p:nvCxnSpPr>
          <p:cNvPr id="15" name="直接箭头连接符 14"/>
          <p:cNvCxnSpPr/>
          <p:nvPr/>
        </p:nvCxnSpPr>
        <p:spPr>
          <a:xfrm>
            <a:off x="1673308" y="1847244"/>
            <a:ext cx="2404002"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264120" y="1836269"/>
            <a:ext cx="2837492"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317913" y="1556877"/>
            <a:ext cx="1187416" cy="369332"/>
          </a:xfrm>
          <a:prstGeom prst="rect">
            <a:avLst/>
          </a:prstGeom>
          <a:noFill/>
        </p:spPr>
        <p:txBody>
          <a:bodyPr wrap="square" rtlCol="0">
            <a:spAutoFit/>
          </a:bodyPr>
          <a:lstStyle/>
          <a:p>
            <a:r>
              <a:rPr lang="en-US" altLang="zh-CN" dirty="0" smtClean="0"/>
              <a:t>1,2….100</a:t>
            </a:r>
            <a:endParaRPr lang="zh-CN" altLang="en-US" dirty="0"/>
          </a:p>
        </p:txBody>
      </p:sp>
      <p:sp>
        <p:nvSpPr>
          <p:cNvPr id="20" name="TextBox 19"/>
          <p:cNvSpPr txBox="1"/>
          <p:nvPr/>
        </p:nvSpPr>
        <p:spPr>
          <a:xfrm>
            <a:off x="5089158" y="1556877"/>
            <a:ext cx="1187416" cy="369332"/>
          </a:xfrm>
          <a:prstGeom prst="rect">
            <a:avLst/>
          </a:prstGeom>
          <a:noFill/>
        </p:spPr>
        <p:txBody>
          <a:bodyPr wrap="square" rtlCol="0">
            <a:spAutoFit/>
          </a:bodyPr>
          <a:lstStyle/>
          <a:p>
            <a:r>
              <a:rPr lang="en-US" altLang="zh-CN" dirty="0" smtClean="0"/>
              <a:t>1,2….100</a:t>
            </a:r>
            <a:endParaRPr lang="zh-CN" altLang="en-US" dirty="0"/>
          </a:p>
        </p:txBody>
      </p:sp>
      <p:cxnSp>
        <p:nvCxnSpPr>
          <p:cNvPr id="16" name="直接箭头连接符 15"/>
          <p:cNvCxnSpPr/>
          <p:nvPr/>
        </p:nvCxnSpPr>
        <p:spPr>
          <a:xfrm flipV="1">
            <a:off x="3879956" y="2427021"/>
            <a:ext cx="0" cy="458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4380313" y="2481369"/>
            <a:ext cx="0" cy="458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94128" y="2940192"/>
            <a:ext cx="622878" cy="369332"/>
          </a:xfrm>
          <a:prstGeom prst="rect">
            <a:avLst/>
          </a:prstGeom>
          <a:noFill/>
        </p:spPr>
        <p:txBody>
          <a:bodyPr wrap="square" rtlCol="0">
            <a:spAutoFit/>
          </a:bodyPr>
          <a:lstStyle/>
          <a:p>
            <a:r>
              <a:rPr lang="en-US" altLang="zh-CN" dirty="0" smtClean="0"/>
              <a:t>100</a:t>
            </a:r>
            <a:endParaRPr lang="zh-CN" altLang="en-US" dirty="0"/>
          </a:p>
        </p:txBody>
      </p:sp>
      <p:sp>
        <p:nvSpPr>
          <p:cNvPr id="22" name="TextBox 21"/>
          <p:cNvSpPr txBox="1"/>
          <p:nvPr/>
        </p:nvSpPr>
        <p:spPr>
          <a:xfrm>
            <a:off x="4147158" y="2969623"/>
            <a:ext cx="622878" cy="369332"/>
          </a:xfrm>
          <a:prstGeom prst="rect">
            <a:avLst/>
          </a:prstGeom>
          <a:noFill/>
        </p:spPr>
        <p:txBody>
          <a:bodyPr wrap="square" rtlCol="0">
            <a:spAutoFit/>
          </a:bodyPr>
          <a:lstStyle/>
          <a:p>
            <a:r>
              <a:rPr lang="en-US" altLang="zh-CN" dirty="0" smtClean="0"/>
              <a:t>100</a:t>
            </a:r>
            <a:endParaRPr lang="zh-CN" altLang="en-US" dirty="0"/>
          </a:p>
        </p:txBody>
      </p:sp>
      <p:pic>
        <p:nvPicPr>
          <p:cNvPr id="23" name="Picture 2"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063" y="3338955"/>
            <a:ext cx="7239067" cy="3411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9412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9</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r>
              <a:rPr lang="zh-CN" altLang="en-US" sz="3000" dirty="0">
                <a:latin typeface="华文新魏" panose="02010800040101010101" charset="-122"/>
                <a:ea typeface="华文新魏" panose="02010800040101010101" charset="-122"/>
              </a:rPr>
              <a:t>漏桶算法</a:t>
            </a:r>
          </a:p>
        </p:txBody>
      </p:sp>
      <p:sp>
        <p:nvSpPr>
          <p:cNvPr id="4" name="文本框 3"/>
          <p:cNvSpPr txBox="1"/>
          <p:nvPr/>
        </p:nvSpPr>
        <p:spPr>
          <a:xfrm>
            <a:off x="4851392" y="1682800"/>
            <a:ext cx="3632096" cy="3785652"/>
          </a:xfrm>
          <a:prstGeom prst="rect">
            <a:avLst/>
          </a:prstGeom>
          <a:noFill/>
        </p:spPr>
        <p:txBody>
          <a:bodyPr wrap="square" rtlCol="0">
            <a:spAutoFit/>
          </a:bodyPr>
          <a:lstStyle/>
          <a:p>
            <a:r>
              <a:rPr lang="zh-CN" altLang="en-US" sz="2000" b="1" dirty="0"/>
              <a:t>主要目的是控制数据注入到网络的速率，平滑网络上的突发流量，数据可以以任意速度流入到漏桶中。漏桶算法提供了一种机制，通过它，突发流量可以被整形以便为网络提供一个稳定的流量。 漏桶可以看作是一个带有常量服务时间的单服务器队列，如果漏桶为空，则不需要流出水滴，如果漏桶（包缓存）溢出，那么水滴会被溢出丢弃</a:t>
            </a:r>
          </a:p>
        </p:txBody>
      </p:sp>
      <p:sp>
        <p:nvSpPr>
          <p:cNvPr id="6" name="椭圆 5"/>
          <p:cNvSpPr/>
          <p:nvPr/>
        </p:nvSpPr>
        <p:spPr>
          <a:xfrm>
            <a:off x="1747599" y="1570732"/>
            <a:ext cx="398195" cy="3492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椭圆 12"/>
          <p:cNvSpPr/>
          <p:nvPr/>
        </p:nvSpPr>
        <p:spPr>
          <a:xfrm>
            <a:off x="1432775" y="3864457"/>
            <a:ext cx="398195" cy="3492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椭圆 13"/>
          <p:cNvSpPr/>
          <p:nvPr/>
        </p:nvSpPr>
        <p:spPr>
          <a:xfrm>
            <a:off x="1736033" y="2045151"/>
            <a:ext cx="398195" cy="3492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5" name="椭圆 14"/>
          <p:cNvSpPr/>
          <p:nvPr/>
        </p:nvSpPr>
        <p:spPr>
          <a:xfrm>
            <a:off x="1493590" y="3927460"/>
            <a:ext cx="398195" cy="3492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 name="椭圆 15"/>
          <p:cNvSpPr/>
          <p:nvPr/>
        </p:nvSpPr>
        <p:spPr>
          <a:xfrm>
            <a:off x="1736032" y="2496030"/>
            <a:ext cx="398195" cy="3492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 name="流程图: 手动操作 6"/>
          <p:cNvSpPr/>
          <p:nvPr/>
        </p:nvSpPr>
        <p:spPr>
          <a:xfrm>
            <a:off x="985305" y="3206619"/>
            <a:ext cx="2138361" cy="1606504"/>
          </a:xfrm>
          <a:prstGeom prst="flowChartManualOperati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 name="椭圆 16"/>
          <p:cNvSpPr/>
          <p:nvPr/>
        </p:nvSpPr>
        <p:spPr>
          <a:xfrm>
            <a:off x="1744992" y="5777683"/>
            <a:ext cx="488936" cy="3492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762482" y="5121063"/>
            <a:ext cx="488936" cy="3492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p:nvPr/>
        </p:nvCxnSpPr>
        <p:spPr>
          <a:xfrm>
            <a:off x="2469270" y="1502164"/>
            <a:ext cx="0" cy="1435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2469270" y="5035504"/>
            <a:ext cx="0" cy="1417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1401707" y="3425020"/>
            <a:ext cx="398195" cy="3492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4" name="椭圆 23"/>
          <p:cNvSpPr/>
          <p:nvPr/>
        </p:nvSpPr>
        <p:spPr>
          <a:xfrm>
            <a:off x="2262686" y="3401006"/>
            <a:ext cx="398195" cy="3492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5" name="椭圆 24"/>
          <p:cNvSpPr/>
          <p:nvPr/>
        </p:nvSpPr>
        <p:spPr>
          <a:xfrm>
            <a:off x="1807851" y="3734614"/>
            <a:ext cx="398195" cy="3492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6" name="文本框 25"/>
          <p:cNvSpPr txBox="1"/>
          <p:nvPr/>
        </p:nvSpPr>
        <p:spPr>
          <a:xfrm>
            <a:off x="2469270" y="1919972"/>
            <a:ext cx="1194706" cy="646331"/>
          </a:xfrm>
          <a:prstGeom prst="rect">
            <a:avLst/>
          </a:prstGeom>
          <a:noFill/>
        </p:spPr>
        <p:txBody>
          <a:bodyPr wrap="square" rtlCol="0">
            <a:spAutoFit/>
          </a:bodyPr>
          <a:lstStyle/>
          <a:p>
            <a:r>
              <a:rPr lang="zh-CN" altLang="en-US" dirty="0" smtClean="0"/>
              <a:t>非恒定速率滴入</a:t>
            </a:r>
            <a:endParaRPr lang="zh-CN" altLang="en-US" dirty="0"/>
          </a:p>
        </p:txBody>
      </p:sp>
      <p:sp>
        <p:nvSpPr>
          <p:cNvPr id="27" name="文本框 26"/>
          <p:cNvSpPr txBox="1"/>
          <p:nvPr/>
        </p:nvSpPr>
        <p:spPr>
          <a:xfrm>
            <a:off x="1440325" y="4174051"/>
            <a:ext cx="1239910" cy="584775"/>
          </a:xfrm>
          <a:prstGeom prst="rect">
            <a:avLst/>
          </a:prstGeom>
          <a:noFill/>
        </p:spPr>
        <p:txBody>
          <a:bodyPr wrap="square" rtlCol="0">
            <a:spAutoFit/>
          </a:bodyPr>
          <a:lstStyle/>
          <a:p>
            <a:r>
              <a:rPr lang="zh-CN" altLang="en-US" sz="1600" dirty="0" smtClean="0">
                <a:solidFill>
                  <a:srgbClr val="0070C0"/>
                </a:solidFill>
              </a:rPr>
              <a:t>溢出的水直接丢弃</a:t>
            </a:r>
            <a:endParaRPr lang="zh-CN" altLang="en-US" sz="1600" dirty="0">
              <a:solidFill>
                <a:srgbClr val="0070C0"/>
              </a:solidFill>
            </a:endParaRPr>
          </a:p>
        </p:txBody>
      </p:sp>
      <p:sp>
        <p:nvSpPr>
          <p:cNvPr id="28" name="文本框 27"/>
          <p:cNvSpPr txBox="1"/>
          <p:nvPr/>
        </p:nvSpPr>
        <p:spPr>
          <a:xfrm>
            <a:off x="3123666" y="3575626"/>
            <a:ext cx="1217557" cy="1200329"/>
          </a:xfrm>
          <a:prstGeom prst="rect">
            <a:avLst/>
          </a:prstGeom>
          <a:noFill/>
        </p:spPr>
        <p:txBody>
          <a:bodyPr wrap="square" rtlCol="0">
            <a:spAutoFit/>
          </a:bodyPr>
          <a:lstStyle/>
          <a:p>
            <a:r>
              <a:rPr lang="zh-CN" altLang="en-US" dirty="0" smtClean="0"/>
              <a:t>如果水流异常的话，表明流量异常</a:t>
            </a:r>
            <a:endParaRPr lang="zh-CN" altLang="en-US" dirty="0"/>
          </a:p>
        </p:txBody>
      </p:sp>
      <p:sp>
        <p:nvSpPr>
          <p:cNvPr id="29" name="文本框 28"/>
          <p:cNvSpPr txBox="1"/>
          <p:nvPr/>
        </p:nvSpPr>
        <p:spPr>
          <a:xfrm>
            <a:off x="2660881" y="5295683"/>
            <a:ext cx="1071563" cy="923330"/>
          </a:xfrm>
          <a:prstGeom prst="rect">
            <a:avLst/>
          </a:prstGeom>
          <a:noFill/>
        </p:spPr>
        <p:txBody>
          <a:bodyPr wrap="square" rtlCol="0">
            <a:spAutoFit/>
          </a:bodyPr>
          <a:lstStyle/>
          <a:p>
            <a:r>
              <a:rPr lang="zh-CN" altLang="en-US" dirty="0" smtClean="0"/>
              <a:t>以恒定速度流出</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10</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r>
              <a:rPr lang="zh-CN" altLang="en-US" sz="3000" dirty="0">
                <a:latin typeface="华文新魏" panose="02010800040101010101" charset="-122"/>
                <a:ea typeface="华文新魏" panose="02010800040101010101" charset="-122"/>
              </a:rPr>
              <a:t>漏</a:t>
            </a:r>
            <a:r>
              <a:rPr lang="zh-CN" altLang="en-US" sz="3000" dirty="0" smtClean="0">
                <a:latin typeface="华文新魏" panose="02010800040101010101" charset="-122"/>
                <a:ea typeface="华文新魏" panose="02010800040101010101" charset="-122"/>
              </a:rPr>
              <a:t>桶</a:t>
            </a:r>
            <a:r>
              <a:rPr lang="zh-CN" altLang="en-US" sz="3000" dirty="0">
                <a:latin typeface="华文新魏" panose="02010800040101010101" charset="-122"/>
                <a:ea typeface="华文新魏" panose="02010800040101010101" charset="-122"/>
              </a:rPr>
              <a:t>程序</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4411" y="1765213"/>
            <a:ext cx="4999037" cy="397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120" y="1473256"/>
            <a:ext cx="4495800" cy="477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3216" y="2171736"/>
            <a:ext cx="1401763"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15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fade">
                                      <p:cBhvr>
                                        <p:cTn id="12" dur="500"/>
                                        <p:tgtEl>
                                          <p:spTgt spid="51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animEffect transition="in" filter="fade">
                                      <p:cBhvr>
                                        <p:cTn id="1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11</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89433" y="2189224"/>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r>
              <a:rPr lang="zh-CN" altLang="en-US" sz="3000" dirty="0">
                <a:latin typeface="华文新魏" panose="02010800040101010101" charset="-122"/>
                <a:ea typeface="华文新魏" panose="02010800040101010101" charset="-122"/>
              </a:rPr>
              <a:t>令牌桶</a:t>
            </a:r>
            <a:r>
              <a:rPr lang="zh-CN" altLang="en-US" sz="3000" dirty="0" smtClean="0">
                <a:latin typeface="华文新魏" panose="02010800040101010101" charset="-122"/>
                <a:ea typeface="华文新魏" panose="02010800040101010101" charset="-122"/>
              </a:rPr>
              <a:t>算法</a:t>
            </a:r>
            <a:endParaRPr lang="zh-CN" altLang="en-US" sz="3000" dirty="0">
              <a:latin typeface="华文新魏" panose="02010800040101010101" charset="-122"/>
              <a:ea typeface="华文新魏" panose="02010800040101010101" charset="-122"/>
            </a:endParaRPr>
          </a:p>
        </p:txBody>
      </p:sp>
      <p:sp>
        <p:nvSpPr>
          <p:cNvPr id="9" name="文本框 5"/>
          <p:cNvSpPr txBox="1"/>
          <p:nvPr/>
        </p:nvSpPr>
        <p:spPr>
          <a:xfrm>
            <a:off x="341958" y="1112012"/>
            <a:ext cx="8406755" cy="923330"/>
          </a:xfrm>
          <a:prstGeom prst="rect">
            <a:avLst/>
          </a:prstGeom>
          <a:noFill/>
        </p:spPr>
        <p:txBody>
          <a:bodyPr wrap="square" rtlCol="0">
            <a:spAutoFit/>
          </a:bodyPr>
          <a:lstStyle/>
          <a:p>
            <a:pPr>
              <a:buClr>
                <a:srgbClr val="0070C0"/>
              </a:buClr>
            </a:pPr>
            <a:r>
              <a:rPr lang="zh-CN" altLang="en-US" dirty="0"/>
              <a:t>以一个恒定的速度往桶里放入令牌，而如果请求需要被处理，则需要先从桶里获取一个令牌，当桶里没有令牌可取时，则拒绝服务。 当桶满时，新添加的令牌被丢弃或拒绝</a:t>
            </a:r>
            <a:endParaRPr lang="en-US" altLang="zh-CN" dirty="0" smtClean="0">
              <a:latin typeface="宋体" panose="02010600030101010101" pitchFamily="2" charset="-122"/>
              <a:ea typeface="宋体" panose="02010600030101010101" pitchFamily="2" charset="-122"/>
            </a:endParaRPr>
          </a:p>
        </p:txBody>
      </p:sp>
      <p:sp>
        <p:nvSpPr>
          <p:cNvPr id="2" name="圆角矩形 1"/>
          <p:cNvSpPr/>
          <p:nvPr/>
        </p:nvSpPr>
        <p:spPr>
          <a:xfrm>
            <a:off x="660512" y="2302647"/>
            <a:ext cx="1656975" cy="65651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按照固定速率生成令牌</a:t>
            </a:r>
            <a:endParaRPr lang="zh-CN" altLang="en-US" dirty="0">
              <a:solidFill>
                <a:srgbClr val="0070C0"/>
              </a:solidFill>
            </a:endParaRPr>
          </a:p>
        </p:txBody>
      </p:sp>
      <p:sp>
        <p:nvSpPr>
          <p:cNvPr id="6" name="菱形 5"/>
          <p:cNvSpPr/>
          <p:nvPr/>
        </p:nvSpPr>
        <p:spPr>
          <a:xfrm>
            <a:off x="3175040" y="2302647"/>
            <a:ext cx="1676352" cy="656510"/>
          </a:xfrm>
          <a:prstGeom prst="diamon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400" dirty="0" smtClean="0">
                <a:solidFill>
                  <a:srgbClr val="0070C0"/>
                </a:solidFill>
              </a:rPr>
              <a:t>桶是否满了</a:t>
            </a:r>
            <a:endParaRPr lang="zh-CN" altLang="en-US" sz="1400" dirty="0">
              <a:solidFill>
                <a:srgbClr val="0070C0"/>
              </a:solidFill>
            </a:endParaRPr>
          </a:p>
        </p:txBody>
      </p:sp>
      <p:cxnSp>
        <p:nvCxnSpPr>
          <p:cNvPr id="10" name="直接箭头连接符 9"/>
          <p:cNvCxnSpPr>
            <a:endCxn id="6" idx="1"/>
          </p:cNvCxnSpPr>
          <p:nvPr/>
        </p:nvCxnSpPr>
        <p:spPr>
          <a:xfrm>
            <a:off x="2317487" y="2630902"/>
            <a:ext cx="8575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178504" y="2337375"/>
            <a:ext cx="1573257" cy="58705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丢弃</a:t>
            </a:r>
            <a:endParaRPr lang="zh-CN" altLang="en-US" dirty="0">
              <a:solidFill>
                <a:srgbClr val="0070C0"/>
              </a:solidFill>
            </a:endParaRPr>
          </a:p>
        </p:txBody>
      </p:sp>
      <p:cxnSp>
        <p:nvCxnSpPr>
          <p:cNvPr id="15" name="直接箭头连接符 14"/>
          <p:cNvCxnSpPr>
            <a:stCxn id="6" idx="3"/>
          </p:cNvCxnSpPr>
          <p:nvPr/>
        </p:nvCxnSpPr>
        <p:spPr>
          <a:xfrm>
            <a:off x="4851392" y="2630902"/>
            <a:ext cx="13271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4991088" y="2302647"/>
            <a:ext cx="838176" cy="369332"/>
          </a:xfrm>
          <a:prstGeom prst="rect">
            <a:avLst/>
          </a:prstGeom>
          <a:noFill/>
        </p:spPr>
        <p:txBody>
          <a:bodyPr wrap="square" rtlCol="0">
            <a:spAutoFit/>
          </a:bodyPr>
          <a:lstStyle/>
          <a:p>
            <a:r>
              <a:rPr lang="en-US" altLang="zh-CN" dirty="0" smtClean="0"/>
              <a:t>Y</a:t>
            </a:r>
            <a:endParaRPr lang="zh-CN" altLang="en-US" dirty="0"/>
          </a:p>
        </p:txBody>
      </p:sp>
      <p:sp>
        <p:nvSpPr>
          <p:cNvPr id="17" name="梯形 16"/>
          <p:cNvSpPr/>
          <p:nvPr/>
        </p:nvSpPr>
        <p:spPr>
          <a:xfrm>
            <a:off x="3244888" y="3334670"/>
            <a:ext cx="1536656" cy="1117568"/>
          </a:xfrm>
          <a:prstGeom prst="trapezoi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8" name="流程图: 联系 17"/>
          <p:cNvSpPr/>
          <p:nvPr/>
        </p:nvSpPr>
        <p:spPr>
          <a:xfrm>
            <a:off x="3626260" y="3407506"/>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联系 18"/>
          <p:cNvSpPr/>
          <p:nvPr/>
        </p:nvSpPr>
        <p:spPr>
          <a:xfrm>
            <a:off x="4083064" y="3390912"/>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流程图: 联系 19"/>
          <p:cNvSpPr/>
          <p:nvPr/>
        </p:nvSpPr>
        <p:spPr>
          <a:xfrm>
            <a:off x="3460808" y="3705052"/>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联系 20"/>
          <p:cNvSpPr/>
          <p:nvPr/>
        </p:nvSpPr>
        <p:spPr>
          <a:xfrm>
            <a:off x="3873520" y="3722922"/>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流程图: 联系 21"/>
          <p:cNvSpPr/>
          <p:nvPr/>
        </p:nvSpPr>
        <p:spPr>
          <a:xfrm>
            <a:off x="4260476" y="3753758"/>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流程图: 联系 22"/>
          <p:cNvSpPr/>
          <p:nvPr/>
        </p:nvSpPr>
        <p:spPr>
          <a:xfrm>
            <a:off x="3486564" y="4071527"/>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联系 23"/>
          <p:cNvSpPr/>
          <p:nvPr/>
        </p:nvSpPr>
        <p:spPr>
          <a:xfrm>
            <a:off x="3895986" y="4078203"/>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流程图: 联系 24"/>
          <p:cNvSpPr/>
          <p:nvPr/>
        </p:nvSpPr>
        <p:spPr>
          <a:xfrm>
            <a:off x="4305408" y="4074865"/>
            <a:ext cx="279392" cy="27939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p:cNvCxnSpPr>
            <a:stCxn id="6" idx="2"/>
            <a:endCxn id="17" idx="0"/>
          </p:cNvCxnSpPr>
          <p:nvPr/>
        </p:nvCxnSpPr>
        <p:spPr>
          <a:xfrm>
            <a:off x="4013216" y="2959157"/>
            <a:ext cx="0" cy="375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035682" y="2959157"/>
            <a:ext cx="409422" cy="369332"/>
          </a:xfrm>
          <a:prstGeom prst="rect">
            <a:avLst/>
          </a:prstGeom>
          <a:noFill/>
        </p:spPr>
        <p:txBody>
          <a:bodyPr wrap="square" rtlCol="0">
            <a:spAutoFit/>
          </a:bodyPr>
          <a:lstStyle/>
          <a:p>
            <a:r>
              <a:rPr lang="en-US" altLang="zh-CN" dirty="0" smtClean="0"/>
              <a:t>N</a:t>
            </a:r>
            <a:endParaRPr lang="zh-CN" altLang="en-US" dirty="0"/>
          </a:p>
        </p:txBody>
      </p:sp>
      <p:sp>
        <p:nvSpPr>
          <p:cNvPr id="29" name="菱形 28"/>
          <p:cNvSpPr/>
          <p:nvPr/>
        </p:nvSpPr>
        <p:spPr>
          <a:xfrm>
            <a:off x="3105192" y="4850531"/>
            <a:ext cx="1816048" cy="838176"/>
          </a:xfrm>
          <a:prstGeom prst="diamon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是否有令牌</a:t>
            </a:r>
            <a:endParaRPr lang="zh-CN" altLang="en-US" dirty="0">
              <a:solidFill>
                <a:srgbClr val="0070C0"/>
              </a:solidFill>
            </a:endParaRPr>
          </a:p>
        </p:txBody>
      </p:sp>
      <p:sp>
        <p:nvSpPr>
          <p:cNvPr id="30" name="矩形 29"/>
          <p:cNvSpPr/>
          <p:nvPr/>
        </p:nvSpPr>
        <p:spPr>
          <a:xfrm>
            <a:off x="3087730" y="6156264"/>
            <a:ext cx="1850972" cy="4287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可以访问</a:t>
            </a:r>
            <a:endParaRPr lang="zh-CN" altLang="en-US" dirty="0">
              <a:solidFill>
                <a:srgbClr val="0070C0"/>
              </a:solidFill>
            </a:endParaRPr>
          </a:p>
        </p:txBody>
      </p:sp>
      <p:sp>
        <p:nvSpPr>
          <p:cNvPr id="32" name="矩形 31"/>
          <p:cNvSpPr/>
          <p:nvPr/>
        </p:nvSpPr>
        <p:spPr>
          <a:xfrm>
            <a:off x="6190786" y="4943016"/>
            <a:ext cx="1587127" cy="6395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限流</a:t>
            </a:r>
            <a:endParaRPr lang="zh-CN" altLang="en-US" dirty="0">
              <a:solidFill>
                <a:srgbClr val="0070C0"/>
              </a:solidFill>
            </a:endParaRPr>
          </a:p>
        </p:txBody>
      </p:sp>
      <p:sp>
        <p:nvSpPr>
          <p:cNvPr id="34" name="圆角矩形 33"/>
          <p:cNvSpPr/>
          <p:nvPr/>
        </p:nvSpPr>
        <p:spPr>
          <a:xfrm>
            <a:off x="590664" y="4927699"/>
            <a:ext cx="1656975" cy="65651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solidFill>
                  <a:srgbClr val="0070C0"/>
                </a:solidFill>
              </a:rPr>
              <a:t>请求令牌</a:t>
            </a:r>
            <a:endParaRPr lang="zh-CN" altLang="en-US" dirty="0">
              <a:solidFill>
                <a:srgbClr val="0070C0"/>
              </a:solidFill>
            </a:endParaRPr>
          </a:p>
        </p:txBody>
      </p:sp>
      <p:cxnSp>
        <p:nvCxnSpPr>
          <p:cNvPr id="36" name="直接箭头连接符 35"/>
          <p:cNvCxnSpPr>
            <a:stCxn id="34" idx="3"/>
            <a:endCxn id="29" idx="1"/>
          </p:cNvCxnSpPr>
          <p:nvPr/>
        </p:nvCxnSpPr>
        <p:spPr>
          <a:xfrm>
            <a:off x="2247639" y="5255954"/>
            <a:ext cx="857553" cy="13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7" idx="2"/>
            <a:endCxn id="29" idx="0"/>
          </p:cNvCxnSpPr>
          <p:nvPr/>
        </p:nvCxnSpPr>
        <p:spPr>
          <a:xfrm>
            <a:off x="4013216" y="4452238"/>
            <a:ext cx="0" cy="398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9" idx="3"/>
            <a:endCxn id="32" idx="1"/>
          </p:cNvCxnSpPr>
          <p:nvPr/>
        </p:nvCxnSpPr>
        <p:spPr>
          <a:xfrm flipV="1">
            <a:off x="4921240" y="5262786"/>
            <a:ext cx="1269546" cy="6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9" idx="2"/>
            <a:endCxn id="30" idx="0"/>
          </p:cNvCxnSpPr>
          <p:nvPr/>
        </p:nvCxnSpPr>
        <p:spPr>
          <a:xfrm>
            <a:off x="4013216" y="5688707"/>
            <a:ext cx="0" cy="467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4026016" y="5717822"/>
            <a:ext cx="838176" cy="369332"/>
          </a:xfrm>
          <a:prstGeom prst="rect">
            <a:avLst/>
          </a:prstGeom>
          <a:noFill/>
        </p:spPr>
        <p:txBody>
          <a:bodyPr wrap="square" rtlCol="0">
            <a:spAutoFit/>
          </a:bodyPr>
          <a:lstStyle/>
          <a:p>
            <a:r>
              <a:rPr lang="en-US" altLang="zh-CN" dirty="0" smtClean="0"/>
              <a:t>Y</a:t>
            </a:r>
            <a:endParaRPr lang="zh-CN" altLang="en-US" dirty="0"/>
          </a:p>
        </p:txBody>
      </p:sp>
      <p:sp>
        <p:nvSpPr>
          <p:cNvPr id="51" name="文本框 50"/>
          <p:cNvSpPr txBox="1"/>
          <p:nvPr/>
        </p:nvSpPr>
        <p:spPr>
          <a:xfrm>
            <a:off x="5000754" y="4918423"/>
            <a:ext cx="409422" cy="369332"/>
          </a:xfrm>
          <a:prstGeom prst="rect">
            <a:avLst/>
          </a:prstGeom>
          <a:noFill/>
        </p:spPr>
        <p:txBody>
          <a:bodyPr wrap="square" rtlCol="0">
            <a:spAutoFit/>
          </a:bodyPr>
          <a:lstStyle/>
          <a:p>
            <a:r>
              <a:rPr lang="en-US" altLang="zh-CN" dirty="0" smtClean="0"/>
              <a:t>N</a:t>
            </a:r>
            <a:endParaRPr lang="zh-CN" altLang="en-US" dirty="0"/>
          </a:p>
        </p:txBody>
      </p:sp>
    </p:spTree>
    <p:extLst>
      <p:ext uri="{BB962C8B-B14F-4D97-AF65-F5344CB8AC3E}">
        <p14:creationId xmlns:p14="http://schemas.microsoft.com/office/powerpoint/2010/main" val="28689974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12</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r>
              <a:rPr lang="zh-CN" altLang="en-US" sz="3000" dirty="0">
                <a:latin typeface="华文新魏" panose="02010800040101010101" charset="-122"/>
                <a:ea typeface="华文新魏" panose="02010800040101010101" charset="-122"/>
              </a:rPr>
              <a:t>令牌</a:t>
            </a:r>
            <a:r>
              <a:rPr lang="zh-CN" altLang="en-US" sz="3000" dirty="0" smtClean="0">
                <a:latin typeface="华文新魏" panose="02010800040101010101" charset="-122"/>
                <a:ea typeface="华文新魏" panose="02010800040101010101" charset="-122"/>
              </a:rPr>
              <a:t>桶算法程序</a:t>
            </a:r>
            <a:endParaRPr lang="zh-CN" altLang="en-US" sz="3000" dirty="0">
              <a:latin typeface="华文新魏" panose="02010800040101010101" charset="-122"/>
              <a:ea typeface="华文新魏" panose="02010800040101010101" charset="-122"/>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664" y="1193864"/>
            <a:ext cx="4968875" cy="5168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7343" y="980982"/>
            <a:ext cx="7018337" cy="59826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108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animEffect transition="in" filter="fade">
                                      <p:cBhvr>
                                        <p:cTn id="11"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13</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590664" y="1225689"/>
            <a:ext cx="7753128" cy="5078313"/>
          </a:xfrm>
          <a:prstGeom prst="rect">
            <a:avLst/>
          </a:prstGeom>
          <a:noFill/>
        </p:spPr>
        <p:txBody>
          <a:bodyPr wrap="square" rtlCol="0">
            <a:spAutoFit/>
          </a:bodyPr>
          <a:lstStyle/>
          <a:p>
            <a:r>
              <a:rPr lang="en-US" altLang="zh-CN" b="1" dirty="0" smtClean="0"/>
              <a:t>1</a:t>
            </a:r>
            <a:r>
              <a:rPr lang="zh-CN" altLang="en-US" b="1" dirty="0" smtClean="0"/>
              <a:t>：令牌</a:t>
            </a:r>
            <a:r>
              <a:rPr lang="zh-CN" altLang="en-US" b="1" dirty="0"/>
              <a:t>桶是按照固定速率往桶中添加令牌，请求是否被处理需要看桶中令牌是否足够，当令牌数减为零时则拒绝新的</a:t>
            </a:r>
            <a:r>
              <a:rPr lang="zh-CN" altLang="en-US" b="1" dirty="0" smtClean="0"/>
              <a:t>请求</a:t>
            </a:r>
            <a:endParaRPr lang="en-US" altLang="zh-CN" b="1" dirty="0"/>
          </a:p>
          <a:p>
            <a:endParaRPr lang="en-US" altLang="zh-CN" b="1" dirty="0"/>
          </a:p>
          <a:p>
            <a:r>
              <a:rPr lang="en-US" altLang="zh-CN" b="1" dirty="0" smtClean="0"/>
              <a:t>2</a:t>
            </a:r>
            <a:r>
              <a:rPr lang="zh-CN" altLang="en-US" b="1" dirty="0" smtClean="0"/>
              <a:t>：漏桶则是按照常量固定速率流出请求，流入请求速率任意，当流入的请求数累积到漏桶容量时，则新流入的请求被拒绝；</a:t>
            </a:r>
          </a:p>
          <a:p>
            <a:endParaRPr lang="en-US" altLang="zh-CN" b="1" dirty="0" smtClean="0"/>
          </a:p>
          <a:p>
            <a:r>
              <a:rPr lang="en-US" altLang="zh-CN" b="1" dirty="0" smtClean="0"/>
              <a:t>3</a:t>
            </a:r>
            <a:r>
              <a:rPr lang="zh-CN" altLang="en-US" b="1" dirty="0" smtClean="0"/>
              <a:t>：令牌</a:t>
            </a:r>
            <a:r>
              <a:rPr lang="zh-CN" altLang="en-US" b="1" dirty="0"/>
              <a:t>桶限制的是平均流入速率（允许突发请求，只要有令牌就可以处理，支持一次拿</a:t>
            </a:r>
            <a:r>
              <a:rPr lang="en-US" altLang="zh-CN" b="1" dirty="0"/>
              <a:t>3</a:t>
            </a:r>
            <a:r>
              <a:rPr lang="zh-CN" altLang="en-US" b="1" dirty="0"/>
              <a:t>个令牌，</a:t>
            </a:r>
            <a:r>
              <a:rPr lang="en-US" altLang="zh-CN" b="1" dirty="0"/>
              <a:t>4</a:t>
            </a:r>
            <a:r>
              <a:rPr lang="zh-CN" altLang="en-US" b="1" dirty="0"/>
              <a:t>个令牌），并允许一定程度突发</a:t>
            </a:r>
            <a:r>
              <a:rPr lang="zh-CN" altLang="en-US" b="1" dirty="0" smtClean="0"/>
              <a:t>流量</a:t>
            </a:r>
            <a:endParaRPr lang="en-US" altLang="zh-CN" b="1" dirty="0"/>
          </a:p>
          <a:p>
            <a:endParaRPr lang="en-US" altLang="zh-CN" b="1" dirty="0"/>
          </a:p>
          <a:p>
            <a:r>
              <a:rPr lang="en-US" altLang="zh-CN" b="1" dirty="0" smtClean="0"/>
              <a:t>4</a:t>
            </a:r>
            <a:r>
              <a:rPr lang="zh-CN" altLang="en-US" b="1" dirty="0" smtClean="0"/>
              <a:t>：漏</a:t>
            </a:r>
            <a:r>
              <a:rPr lang="zh-CN" altLang="en-US" b="1" dirty="0"/>
              <a:t>桶限制的是常量流出速率（即流出速率是一个固定常量值，比如都是</a:t>
            </a:r>
            <a:r>
              <a:rPr lang="en-US" altLang="zh-CN" b="1" dirty="0"/>
              <a:t>1</a:t>
            </a:r>
            <a:r>
              <a:rPr lang="zh-CN" altLang="en-US" b="1" dirty="0"/>
              <a:t>的速率流出，而不能一次是</a:t>
            </a:r>
            <a:r>
              <a:rPr lang="en-US" altLang="zh-CN" b="1" dirty="0"/>
              <a:t>1</a:t>
            </a:r>
            <a:r>
              <a:rPr lang="zh-CN" altLang="en-US" b="1" dirty="0"/>
              <a:t>，下次又是</a:t>
            </a:r>
            <a:r>
              <a:rPr lang="en-US" altLang="zh-CN" b="1" dirty="0"/>
              <a:t>2</a:t>
            </a:r>
            <a:r>
              <a:rPr lang="zh-CN" altLang="en-US" b="1" dirty="0"/>
              <a:t>），从而</a:t>
            </a:r>
            <a:r>
              <a:rPr lang="zh-CN" altLang="en-US" b="1" dirty="0" smtClean="0"/>
              <a:t>平滑</a:t>
            </a:r>
            <a:endParaRPr lang="en-US" altLang="zh-CN" b="1" dirty="0" smtClean="0"/>
          </a:p>
          <a:p>
            <a:r>
              <a:rPr lang="zh-CN" altLang="en-US" b="1" dirty="0" smtClean="0"/>
              <a:t>突发</a:t>
            </a:r>
            <a:r>
              <a:rPr lang="zh-CN" altLang="en-US" b="1" dirty="0"/>
              <a:t>流入速率；</a:t>
            </a:r>
          </a:p>
          <a:p>
            <a:endParaRPr lang="en-US" altLang="zh-CN" b="1" dirty="0" smtClean="0"/>
          </a:p>
          <a:p>
            <a:r>
              <a:rPr lang="en-US" altLang="zh-CN" b="1" dirty="0" smtClean="0"/>
              <a:t>5</a:t>
            </a:r>
            <a:r>
              <a:rPr lang="zh-CN" altLang="en-US" b="1" dirty="0" smtClean="0"/>
              <a:t>：令牌</a:t>
            </a:r>
            <a:r>
              <a:rPr lang="zh-CN" altLang="en-US" b="1" dirty="0"/>
              <a:t>桶允许一定程度的突发，而漏桶主要目的是平滑流入</a:t>
            </a:r>
            <a:r>
              <a:rPr lang="zh-CN" altLang="en-US" b="1" dirty="0" smtClean="0"/>
              <a:t>速率</a:t>
            </a:r>
            <a:endParaRPr lang="en-US" altLang="zh-CN" b="1" dirty="0"/>
          </a:p>
          <a:p>
            <a:endParaRPr lang="en-US" altLang="zh-CN" b="1" dirty="0"/>
          </a:p>
          <a:p>
            <a:endParaRPr lang="zh-CN" altLang="en-US" dirty="0"/>
          </a:p>
          <a:p>
            <a:pPr marL="342900" indent="-342900">
              <a:buAutoNum type="arabicPlain"/>
            </a:pPr>
            <a:endParaRPr lang="en-US" altLang="zh-CN" dirty="0"/>
          </a:p>
          <a:p>
            <a:pPr marL="342900" indent="-342900">
              <a:buAutoNum type="arabicPlain"/>
            </a:pPr>
            <a:endParaRPr lang="zh-CN" altLang="en-US" dirty="0"/>
          </a:p>
        </p:txBody>
      </p:sp>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限流算法：两桶算法区别</a:t>
            </a:r>
            <a:endParaRPr lang="zh-CN" altLang="en-US" sz="3000" dirty="0">
              <a:latin typeface="华文新魏" panose="02010800040101010101" charset="-122"/>
              <a:ea typeface="华文新魏" panose="02010800040101010101" charset="-122"/>
            </a:endParaRPr>
          </a:p>
        </p:txBody>
      </p:sp>
    </p:spTree>
    <p:extLst>
      <p:ext uri="{BB962C8B-B14F-4D97-AF65-F5344CB8AC3E}">
        <p14:creationId xmlns:p14="http://schemas.microsoft.com/office/powerpoint/2010/main" val="33616998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14</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5" name="文本框 4"/>
          <p:cNvSpPr txBox="1"/>
          <p:nvPr/>
        </p:nvSpPr>
        <p:spPr>
          <a:xfrm>
            <a:off x="896983" y="2603863"/>
            <a:ext cx="6888480" cy="365760"/>
          </a:xfrm>
          <a:prstGeom prst="rect">
            <a:avLst/>
          </a:prstGeom>
          <a:noFill/>
        </p:spPr>
        <p:txBody>
          <a:bodyPr wrap="square" rtlCol="0">
            <a:spAutoFit/>
          </a:bodyPr>
          <a:lstStyle/>
          <a:p>
            <a:pPr marL="342900" indent="-342900">
              <a:buAutoNum type="arabicPlain"/>
            </a:pPr>
            <a:endParaRPr lang="zh-CN" altLang="en-US" dirty="0"/>
          </a:p>
        </p:txBody>
      </p:sp>
      <p:sp>
        <p:nvSpPr>
          <p:cNvPr id="12" name="AutoShape 7"/>
          <p:cNvSpPr>
            <a:spLocks noChangeArrowheads="1"/>
          </p:cNvSpPr>
          <p:nvPr/>
        </p:nvSpPr>
        <p:spPr bwMode="auto">
          <a:xfrm>
            <a:off x="101728" y="69704"/>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限流算法：</a:t>
            </a:r>
            <a:r>
              <a:rPr lang="en-US" altLang="zh-CN" sz="3000" dirty="0" smtClean="0">
                <a:latin typeface="华文新魏" panose="02010800040101010101" charset="-122"/>
                <a:ea typeface="华文新魏" panose="02010800040101010101" charset="-122"/>
              </a:rPr>
              <a:t>GUAVA</a:t>
            </a:r>
            <a:endParaRPr lang="zh-CN" altLang="en-US" sz="3000" dirty="0">
              <a:latin typeface="华文新魏" panose="02010800040101010101" charset="-122"/>
              <a:ea typeface="华文新魏" panose="02010800040101010101"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068" y="1628258"/>
            <a:ext cx="7797800" cy="536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40" y="1628258"/>
            <a:ext cx="7208837" cy="5419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754012" y="910406"/>
            <a:ext cx="6917417" cy="646331"/>
          </a:xfrm>
          <a:prstGeom prst="rect">
            <a:avLst/>
          </a:prstGeom>
        </p:spPr>
        <p:txBody>
          <a:bodyPr wrap="square">
            <a:spAutoFit/>
          </a:bodyPr>
          <a:lstStyle/>
          <a:p>
            <a:r>
              <a:rPr lang="en-US" altLang="zh-CN" dirty="0"/>
              <a:t>google</a:t>
            </a:r>
            <a:r>
              <a:rPr lang="zh-CN" altLang="en-US" dirty="0"/>
              <a:t>开源工具包</a:t>
            </a:r>
            <a:r>
              <a:rPr lang="en-US" altLang="zh-CN" dirty="0"/>
              <a:t>guava</a:t>
            </a:r>
            <a:r>
              <a:rPr lang="zh-CN" altLang="en-US" dirty="0"/>
              <a:t>提供了限流工具类</a:t>
            </a:r>
            <a:r>
              <a:rPr lang="en-US" altLang="zh-CN" dirty="0" err="1"/>
              <a:t>RateLimiter</a:t>
            </a:r>
            <a:r>
              <a:rPr lang="zh-CN" altLang="en-US" dirty="0"/>
              <a:t>，该类基于“令牌桶算法”，非常方便使用</a:t>
            </a:r>
          </a:p>
        </p:txBody>
      </p:sp>
    </p:spTree>
    <p:extLst>
      <p:ext uri="{BB962C8B-B14F-4D97-AF65-F5344CB8AC3E}">
        <p14:creationId xmlns:p14="http://schemas.microsoft.com/office/powerpoint/2010/main" val="14850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15</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charset="-122"/>
                <a:ea typeface="华文新魏" panose="02010800040101010101" charset="-122"/>
              </a:rPr>
              <a:t>平滑</a:t>
            </a:r>
            <a:r>
              <a:rPr lang="zh-CN" altLang="en-US" sz="3000" dirty="0">
                <a:latin typeface="华文新魏" panose="02010800040101010101" charset="-122"/>
                <a:ea typeface="华文新魏" panose="02010800040101010101" charset="-122"/>
              </a:rPr>
              <a:t>突发</a:t>
            </a:r>
            <a:r>
              <a:rPr lang="zh-CN" altLang="en-US" sz="3000" dirty="0" smtClean="0">
                <a:latin typeface="华文新魏" panose="02010800040101010101" charset="-122"/>
                <a:ea typeface="华文新魏" panose="02010800040101010101" charset="-122"/>
              </a:rPr>
              <a:t>限流</a:t>
            </a:r>
            <a:r>
              <a:rPr lang="en-US" altLang="zh-CN" sz="3000" dirty="0" smtClean="0">
                <a:latin typeface="华文新魏" panose="02010800040101010101" charset="-122"/>
                <a:ea typeface="华文新魏" panose="02010800040101010101" charset="-122"/>
              </a:rPr>
              <a:t>(</a:t>
            </a:r>
            <a:r>
              <a:rPr lang="en-US" altLang="zh-CN" sz="3000" dirty="0" err="1" smtClean="0">
                <a:latin typeface="华文新魏" panose="02010800040101010101" charset="-122"/>
                <a:ea typeface="华文新魏" panose="02010800040101010101" charset="-122"/>
              </a:rPr>
              <a:t>SmoothBursty</a:t>
            </a:r>
            <a:r>
              <a:rPr lang="en-US" altLang="zh-CN" sz="3000" dirty="0" smtClean="0">
                <a:latin typeface="华文新魏" panose="02010800040101010101" charset="-122"/>
                <a:ea typeface="华文新魏" panose="02010800040101010101" charset="-122"/>
              </a:rPr>
              <a:t>)</a:t>
            </a:r>
            <a:endParaRPr lang="zh-CN" altLang="en-US" sz="3000" dirty="0">
              <a:latin typeface="华文新魏" panose="02010800040101010101" charset="-122"/>
              <a:ea typeface="华文新魏" panose="02010800040101010101" charset="-122"/>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458" y="1854055"/>
            <a:ext cx="5059363" cy="493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9568" y="2451128"/>
            <a:ext cx="2560637"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520392" y="980982"/>
            <a:ext cx="7992197" cy="646331"/>
          </a:xfrm>
          <a:prstGeom prst="rect">
            <a:avLst/>
          </a:prstGeom>
        </p:spPr>
        <p:txBody>
          <a:bodyPr wrap="square">
            <a:spAutoFit/>
          </a:bodyPr>
          <a:lstStyle/>
          <a:p>
            <a:r>
              <a:rPr lang="en-US" altLang="zh-CN" dirty="0" smtClean="0"/>
              <a:t>public </a:t>
            </a:r>
            <a:r>
              <a:rPr lang="en-US" altLang="zh-CN" dirty="0"/>
              <a:t>static </a:t>
            </a:r>
            <a:r>
              <a:rPr lang="en-US" altLang="zh-CN" dirty="0" err="1"/>
              <a:t>RateLimiter</a:t>
            </a:r>
            <a:r>
              <a:rPr lang="en-US" altLang="zh-CN" dirty="0"/>
              <a:t> create(double </a:t>
            </a:r>
            <a:r>
              <a:rPr lang="en-US" altLang="zh-CN" dirty="0" err="1"/>
              <a:t>permitsPerSecond</a:t>
            </a:r>
            <a:r>
              <a:rPr lang="en-US" altLang="zh-CN" dirty="0"/>
              <a:t>) </a:t>
            </a:r>
            <a:r>
              <a:rPr lang="zh-CN" altLang="en-US" dirty="0"/>
              <a:t>用于创建</a:t>
            </a:r>
            <a:r>
              <a:rPr lang="en-US" altLang="zh-CN" dirty="0" err="1"/>
              <a:t>SmoothBursty</a:t>
            </a:r>
            <a:r>
              <a:rPr lang="zh-CN" altLang="en-US" dirty="0"/>
              <a:t>类型的</a:t>
            </a:r>
            <a:r>
              <a:rPr lang="en-US" altLang="zh-CN" dirty="0" err="1"/>
              <a:t>RateLimiter</a:t>
            </a:r>
            <a:endParaRPr lang="zh-CN" altLang="en-US" dirty="0"/>
          </a:p>
        </p:txBody>
      </p:sp>
    </p:spTree>
    <p:extLst>
      <p:ext uri="{BB962C8B-B14F-4D97-AF65-F5344CB8AC3E}">
        <p14:creationId xmlns:p14="http://schemas.microsoft.com/office/powerpoint/2010/main" val="216797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additive="base">
                                        <p:cTn id="7" dur="500" fill="hold"/>
                                        <p:tgtEl>
                                          <p:spTgt spid="3075"/>
                                        </p:tgtEl>
                                        <p:attrNameLst>
                                          <p:attrName>ppt_x</p:attrName>
                                        </p:attrNameLst>
                                      </p:cBhvr>
                                      <p:tavLst>
                                        <p:tav tm="0">
                                          <p:val>
                                            <p:strVal val="0-#ppt_w/2"/>
                                          </p:val>
                                        </p:tav>
                                        <p:tav tm="100000">
                                          <p:val>
                                            <p:strVal val="#ppt_x"/>
                                          </p:val>
                                        </p:tav>
                                      </p:tavLst>
                                    </p:anim>
                                    <p:anim calcmode="lin" valueType="num">
                                      <p:cBhvr additive="base">
                                        <p:cTn id="8" dur="500" fill="hold"/>
                                        <p:tgtEl>
                                          <p:spTgt spid="30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16</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a:latin typeface="华文新魏" panose="02010800040101010101" pitchFamily="2" charset="-122"/>
                <a:ea typeface="华文新魏" panose="02010800040101010101" pitchFamily="2" charset="-122"/>
              </a:rPr>
              <a:t>平滑预热限流</a:t>
            </a:r>
            <a:r>
              <a:rPr lang="en-US" altLang="zh-CN" sz="3000" dirty="0">
                <a:latin typeface="华文新魏" panose="02010800040101010101" pitchFamily="2" charset="-122"/>
                <a:ea typeface="华文新魏" panose="02010800040101010101" pitchFamily="2" charset="-122"/>
              </a:rPr>
              <a:t>(</a:t>
            </a:r>
            <a:r>
              <a:rPr lang="en-US" altLang="zh-CN" sz="3000" dirty="0" err="1">
                <a:latin typeface="华文新魏" panose="02010800040101010101" pitchFamily="2" charset="-122"/>
                <a:ea typeface="华文新魏" panose="02010800040101010101" pitchFamily="2" charset="-122"/>
              </a:rPr>
              <a:t>SmoothWarmingUp</a:t>
            </a:r>
            <a:r>
              <a:rPr lang="en-US" altLang="zh-CN" sz="3000" dirty="0">
                <a:latin typeface="华文新魏" panose="02010800040101010101" pitchFamily="2" charset="-122"/>
                <a:ea typeface="华文新魏" panose="02010800040101010101" pitchFamily="2" charset="-122"/>
              </a:rPr>
              <a:t>)</a:t>
            </a:r>
            <a:endParaRPr lang="zh-CN" altLang="en-US" sz="3000" dirty="0">
              <a:latin typeface="华文新魏" panose="02010800040101010101" pitchFamily="2" charset="-122"/>
              <a:ea typeface="华文新魏" panose="02010800040101010101" pitchFamily="2" charset="-122"/>
            </a:endParaRPr>
          </a:p>
        </p:txBody>
      </p:sp>
      <p:sp>
        <p:nvSpPr>
          <p:cNvPr id="2" name="矩形 1"/>
          <p:cNvSpPr/>
          <p:nvPr/>
        </p:nvSpPr>
        <p:spPr>
          <a:xfrm>
            <a:off x="790188" y="1193864"/>
            <a:ext cx="7124496" cy="4832092"/>
          </a:xfrm>
          <a:prstGeom prst="rect">
            <a:avLst/>
          </a:prstGeom>
        </p:spPr>
        <p:txBody>
          <a:bodyPr wrap="square">
            <a:spAutoFit/>
          </a:bodyPr>
          <a:lstStyle/>
          <a:p>
            <a:r>
              <a:rPr lang="en-US" altLang="zh-CN" sz="2200" dirty="0" err="1"/>
              <a:t>SmoothBursty</a:t>
            </a:r>
            <a:r>
              <a:rPr lang="zh-CN" altLang="en-US" sz="2200" dirty="0"/>
              <a:t>通过平均速率和最后一次新增令牌的时间计算出下次新增令牌的时间的，另外需要一个桶暂存一段时间内没有使用的令牌（即可以突发的令牌数）。另外</a:t>
            </a:r>
            <a:r>
              <a:rPr lang="en-US" altLang="zh-CN" sz="2200" dirty="0" err="1"/>
              <a:t>RateLimiter</a:t>
            </a:r>
            <a:r>
              <a:rPr lang="zh-CN" altLang="en-US" sz="2200" dirty="0"/>
              <a:t>还提供了</a:t>
            </a:r>
            <a:r>
              <a:rPr lang="en-US" altLang="zh-CN" sz="2200" dirty="0" err="1"/>
              <a:t>tryAcquire</a:t>
            </a:r>
            <a:r>
              <a:rPr lang="zh-CN" altLang="en-US" sz="2200" dirty="0"/>
              <a:t>方法来进行无阻塞或可超时的令牌消费。</a:t>
            </a:r>
          </a:p>
          <a:p>
            <a:r>
              <a:rPr lang="zh-CN" altLang="en-US" sz="2200" dirty="0"/>
              <a:t> </a:t>
            </a:r>
          </a:p>
          <a:p>
            <a:r>
              <a:rPr lang="zh-CN" altLang="en-US" sz="2200" b="1" dirty="0"/>
              <a:t>因为</a:t>
            </a:r>
            <a:r>
              <a:rPr lang="en-US" altLang="zh-CN" sz="2200" b="1" dirty="0" err="1"/>
              <a:t>SmoothBursty</a:t>
            </a:r>
            <a:r>
              <a:rPr lang="zh-CN" altLang="en-US" sz="2200" b="1" dirty="0"/>
              <a:t>允许一定程度的突发，会有人担心如果允许这种突发，假设突然间来了很大的流量，那么系统很可能扛不住这种突发。因此需要一种平滑速率的限流工具，从而系统冷启动后慢慢的趋于平均固定速率（即刚开始速率小一些，然后慢慢趋于我们设置的固定速率）。</a:t>
            </a:r>
            <a:r>
              <a:rPr lang="en-US" altLang="zh-CN" sz="2200" b="1" dirty="0"/>
              <a:t>Guava</a:t>
            </a:r>
            <a:r>
              <a:rPr lang="zh-CN" altLang="en-US" sz="2200" b="1" dirty="0"/>
              <a:t>也提供了</a:t>
            </a:r>
            <a:r>
              <a:rPr lang="en-US" altLang="zh-CN" sz="2200" b="1" dirty="0" err="1"/>
              <a:t>SmoothWarmingUp</a:t>
            </a:r>
            <a:r>
              <a:rPr lang="zh-CN" altLang="en-US" sz="2200" b="1" dirty="0"/>
              <a:t>来实现这种需求，其可以认为是漏桶算法，但是在某些特殊场景又不太一样。</a:t>
            </a:r>
          </a:p>
        </p:txBody>
      </p:sp>
    </p:spTree>
    <p:extLst>
      <p:ext uri="{BB962C8B-B14F-4D97-AF65-F5344CB8AC3E}">
        <p14:creationId xmlns:p14="http://schemas.microsoft.com/office/powerpoint/2010/main" val="40949708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17</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a:latin typeface="华文新魏" panose="02010800040101010101" pitchFamily="2" charset="-122"/>
                <a:ea typeface="华文新魏" panose="02010800040101010101" pitchFamily="2" charset="-122"/>
              </a:rPr>
              <a:t>平滑预热限流</a:t>
            </a:r>
            <a:r>
              <a:rPr lang="en-US" altLang="zh-CN" sz="3000" dirty="0">
                <a:latin typeface="华文新魏" panose="02010800040101010101" pitchFamily="2" charset="-122"/>
                <a:ea typeface="华文新魏" panose="02010800040101010101" pitchFamily="2" charset="-122"/>
              </a:rPr>
              <a:t>(</a:t>
            </a:r>
            <a:r>
              <a:rPr lang="en-US" altLang="zh-CN" sz="3000" dirty="0" err="1">
                <a:latin typeface="华文新魏" panose="02010800040101010101" pitchFamily="2" charset="-122"/>
                <a:ea typeface="华文新魏" panose="02010800040101010101" pitchFamily="2" charset="-122"/>
              </a:rPr>
              <a:t>SmoothWarmingUp</a:t>
            </a:r>
            <a:r>
              <a:rPr lang="en-US" altLang="zh-CN" sz="3000" dirty="0">
                <a:latin typeface="华文新魏" panose="02010800040101010101" pitchFamily="2" charset="-122"/>
                <a:ea typeface="华文新魏" panose="02010800040101010101" pitchFamily="2" charset="-122"/>
              </a:rPr>
              <a:t>)</a:t>
            </a:r>
            <a:endParaRPr lang="zh-CN" altLang="en-US" sz="3000" dirty="0">
              <a:latin typeface="华文新魏" panose="02010800040101010101" pitchFamily="2" charset="-122"/>
              <a:ea typeface="华文新魏" panose="02010800040101010101" pitchFamily="2" charset="-122"/>
            </a:endParaRPr>
          </a:p>
        </p:txBody>
      </p:sp>
      <p:sp>
        <p:nvSpPr>
          <p:cNvPr id="2" name="矩形 1"/>
          <p:cNvSpPr/>
          <p:nvPr/>
        </p:nvSpPr>
        <p:spPr>
          <a:xfrm>
            <a:off x="520816" y="1102538"/>
            <a:ext cx="7822976" cy="646331"/>
          </a:xfrm>
          <a:prstGeom prst="rect">
            <a:avLst/>
          </a:prstGeom>
        </p:spPr>
        <p:txBody>
          <a:bodyPr wrap="square">
            <a:spAutoFit/>
          </a:bodyPr>
          <a:lstStyle/>
          <a:p>
            <a:r>
              <a:rPr lang="en-US" altLang="zh-CN" dirty="0"/>
              <a:t>public static </a:t>
            </a:r>
            <a:r>
              <a:rPr lang="en-US" altLang="zh-CN" dirty="0" err="1"/>
              <a:t>RateLimiter</a:t>
            </a:r>
            <a:r>
              <a:rPr lang="en-US" altLang="zh-CN" dirty="0"/>
              <a:t> create(double </a:t>
            </a:r>
            <a:r>
              <a:rPr lang="en-US" altLang="zh-CN" dirty="0" err="1"/>
              <a:t>permitsPerSecond</a:t>
            </a:r>
            <a:r>
              <a:rPr lang="en-US" altLang="zh-CN" dirty="0"/>
              <a:t>, long </a:t>
            </a:r>
            <a:r>
              <a:rPr lang="en-US" altLang="zh-CN" dirty="0" err="1"/>
              <a:t>warmupPeriod</a:t>
            </a:r>
            <a:r>
              <a:rPr lang="en-US" altLang="zh-CN" dirty="0"/>
              <a:t>, </a:t>
            </a:r>
            <a:r>
              <a:rPr lang="en-US" altLang="zh-CN" dirty="0" err="1"/>
              <a:t>TimeUnit</a:t>
            </a:r>
            <a:r>
              <a:rPr lang="en-US" altLang="zh-CN" dirty="0"/>
              <a:t> unit) </a:t>
            </a:r>
            <a:r>
              <a:rPr lang="zh-CN" altLang="en-US" dirty="0"/>
              <a:t>用于创建</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752" y="1962192"/>
            <a:ext cx="6416675" cy="4046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73693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18</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pitchFamily="2" charset="-122"/>
                <a:ea typeface="华文新魏" panose="02010800040101010101" pitchFamily="2" charset="-122"/>
              </a:rPr>
              <a:t>应用级别限流</a:t>
            </a:r>
            <a:endParaRPr lang="zh-CN" altLang="en-US" sz="3000" dirty="0">
              <a:latin typeface="华文新魏" panose="02010800040101010101" pitchFamily="2" charset="-122"/>
              <a:ea typeface="华文新魏" panose="02010800040101010101" pitchFamily="2" charset="-122"/>
            </a:endParaRPr>
          </a:p>
        </p:txBody>
      </p:sp>
      <p:sp>
        <p:nvSpPr>
          <p:cNvPr id="4" name="矩形 3"/>
          <p:cNvSpPr/>
          <p:nvPr/>
        </p:nvSpPr>
        <p:spPr>
          <a:xfrm>
            <a:off x="660512" y="1124016"/>
            <a:ext cx="7334040" cy="4616648"/>
          </a:xfrm>
          <a:prstGeom prst="rect">
            <a:avLst/>
          </a:prstGeom>
        </p:spPr>
        <p:txBody>
          <a:bodyPr wrap="square">
            <a:spAutoFit/>
          </a:bodyPr>
          <a:lstStyle/>
          <a:p>
            <a:pPr marL="285750" indent="-285750">
              <a:buFont typeface="Wingdings" panose="05000000000000000000" pitchFamily="2" charset="2"/>
              <a:buChar char="Ø"/>
            </a:pPr>
            <a:r>
              <a:rPr lang="en-US" altLang="zh-CN" dirty="0" smtClean="0">
                <a:solidFill>
                  <a:srgbClr val="333333"/>
                </a:solidFill>
                <a:latin typeface="微软雅黑" panose="020B0503020204020204" pitchFamily="34" charset="-122"/>
                <a:ea typeface="微软雅黑" panose="020B0503020204020204" pitchFamily="34" charset="-122"/>
              </a:rPr>
              <a:t>1:</a:t>
            </a:r>
            <a:r>
              <a:rPr lang="zh-CN" altLang="en-US" sz="2400" b="1" dirty="0"/>
              <a:t>限流总并发</a:t>
            </a:r>
            <a:r>
              <a:rPr lang="en-US" altLang="zh-CN" sz="2400" b="1" dirty="0"/>
              <a:t>/</a:t>
            </a:r>
            <a:r>
              <a:rPr lang="zh-CN" altLang="en-US" sz="2400" b="1" dirty="0"/>
              <a:t>连接</a:t>
            </a:r>
            <a:r>
              <a:rPr lang="en-US" altLang="zh-CN" sz="2400" b="1" dirty="0"/>
              <a:t>/</a:t>
            </a:r>
            <a:r>
              <a:rPr lang="zh-CN" altLang="en-US" sz="2400" b="1" dirty="0"/>
              <a:t>请求</a:t>
            </a:r>
            <a:r>
              <a:rPr lang="zh-CN" altLang="en-US" sz="2400" b="1" dirty="0" smtClean="0"/>
              <a:t>数</a:t>
            </a:r>
            <a:endParaRPr lang="en-US" altLang="zh-CN" sz="2400" b="1" dirty="0" smtClean="0"/>
          </a:p>
          <a:p>
            <a:r>
              <a:rPr lang="en-US" altLang="zh-CN" dirty="0" smtClean="0"/>
              <a:t> </a:t>
            </a:r>
            <a:r>
              <a:rPr lang="en-US" altLang="zh-CN" dirty="0" err="1" smtClean="0"/>
              <a:t>es</a:t>
            </a:r>
            <a:r>
              <a:rPr lang="en-US" altLang="zh-CN" dirty="0" smtClean="0"/>
              <a:t>:</a:t>
            </a:r>
            <a:r>
              <a:rPr lang="zh-CN" altLang="en-US" b="1" dirty="0"/>
              <a:t>对于一个应用系统来说一定会有极限并发</a:t>
            </a:r>
            <a:r>
              <a:rPr lang="en-US" altLang="zh-CN" b="1" dirty="0"/>
              <a:t>/</a:t>
            </a:r>
            <a:r>
              <a:rPr lang="zh-CN" altLang="en-US" b="1" dirty="0"/>
              <a:t>请求数，即总有一个</a:t>
            </a:r>
            <a:r>
              <a:rPr lang="en-US" altLang="zh-CN" b="1" dirty="0"/>
              <a:t>TPS/QPS</a:t>
            </a:r>
            <a:r>
              <a:rPr lang="zh-CN" altLang="en-US" b="1" dirty="0"/>
              <a:t>阀值，如果超了阀值则系统就会不响应用户请求或响应的非常慢，因此我们最好进行过载保护，防止大量请求涌入击垮</a:t>
            </a:r>
            <a:r>
              <a:rPr lang="zh-CN" altLang="en-US" b="1" dirty="0" smtClean="0"/>
              <a:t>系统</a:t>
            </a:r>
            <a:endParaRPr lang="en-US" altLang="zh-CN" b="1" dirty="0" smtClean="0"/>
          </a:p>
          <a:p>
            <a:endParaRPr lang="en-US" altLang="zh-CN" dirty="0"/>
          </a:p>
          <a:p>
            <a:pPr marL="285750" indent="-285750">
              <a:buFont typeface="Wingdings" panose="05000000000000000000" pitchFamily="2" charset="2"/>
              <a:buChar char="Ø"/>
            </a:pPr>
            <a:r>
              <a:rPr lang="en-US" altLang="zh-CN" dirty="0" smtClean="0"/>
              <a:t>2:</a:t>
            </a:r>
            <a:r>
              <a:rPr lang="zh-CN" altLang="en-US" sz="2400" b="1" dirty="0" smtClean="0"/>
              <a:t>限</a:t>
            </a:r>
            <a:r>
              <a:rPr lang="zh-CN" altLang="en-US" sz="2400" b="1" dirty="0"/>
              <a:t>流总资源</a:t>
            </a:r>
            <a:r>
              <a:rPr lang="zh-CN" altLang="en-US" sz="2400" b="1" dirty="0" smtClean="0"/>
              <a:t>数</a:t>
            </a:r>
            <a:endParaRPr lang="en-US" altLang="zh-CN" sz="2400" b="1" dirty="0" smtClean="0"/>
          </a:p>
          <a:p>
            <a:r>
              <a:rPr lang="en-US" altLang="zh-CN" dirty="0" err="1" smtClean="0"/>
              <a:t>es</a:t>
            </a:r>
            <a:r>
              <a:rPr lang="zh-CN" altLang="en-US" dirty="0" smtClean="0"/>
              <a:t>：</a:t>
            </a:r>
            <a:r>
              <a:rPr lang="zh-CN" altLang="en-US" b="1" dirty="0"/>
              <a:t>如果有的资源是稀缺资源（如数据库连接、线程），而且可能有多个系统都会去使用它，那么需要限制应用；可以使用池化技术来限制总资源数：连接池、线程池。比如分配给每个应用的数据库连接是</a:t>
            </a:r>
            <a:r>
              <a:rPr lang="en-US" altLang="zh-CN" b="1" dirty="0"/>
              <a:t>100</a:t>
            </a:r>
            <a:r>
              <a:rPr lang="zh-CN" altLang="en-US" b="1" dirty="0"/>
              <a:t>，那么本应用最多可以使用</a:t>
            </a:r>
            <a:r>
              <a:rPr lang="en-US" altLang="zh-CN" b="1" dirty="0"/>
              <a:t>100</a:t>
            </a:r>
            <a:r>
              <a:rPr lang="zh-CN" altLang="en-US" b="1" dirty="0"/>
              <a:t>个资源，超出了可以等待或者抛异常</a:t>
            </a:r>
            <a:r>
              <a:rPr lang="zh-CN" altLang="en-US" b="1" dirty="0" smtClean="0"/>
              <a:t>。</a:t>
            </a:r>
            <a:endParaRPr lang="en-US" altLang="zh-CN" b="1" dirty="0" smtClean="0"/>
          </a:p>
          <a:p>
            <a:endParaRPr lang="en-US" altLang="zh-CN" b="1" dirty="0"/>
          </a:p>
          <a:p>
            <a:pPr marL="285750" indent="-285750">
              <a:buFont typeface="Wingdings" panose="05000000000000000000" pitchFamily="2" charset="2"/>
              <a:buChar char="Ø"/>
            </a:pPr>
            <a:r>
              <a:rPr lang="en-US" altLang="zh-CN" b="1" dirty="0" smtClean="0"/>
              <a:t>3:</a:t>
            </a:r>
            <a:r>
              <a:rPr lang="zh-CN" altLang="en-US" sz="2400" b="1" dirty="0"/>
              <a:t>限流某个接口的总并发</a:t>
            </a:r>
            <a:r>
              <a:rPr lang="en-US" altLang="zh-CN" sz="2400" b="1" dirty="0"/>
              <a:t>/</a:t>
            </a:r>
            <a:r>
              <a:rPr lang="zh-CN" altLang="en-US" sz="2400" b="1" dirty="0"/>
              <a:t>请求</a:t>
            </a:r>
            <a:r>
              <a:rPr lang="zh-CN" altLang="en-US" sz="2400" b="1" dirty="0" smtClean="0"/>
              <a:t>数</a:t>
            </a:r>
            <a:endParaRPr lang="en-US" altLang="zh-CN" sz="2400" b="1" dirty="0" smtClean="0"/>
          </a:p>
          <a:p>
            <a:r>
              <a:rPr lang="en-US" altLang="zh-CN" sz="2400" b="1" dirty="0" err="1"/>
              <a:t>e</a:t>
            </a:r>
            <a:r>
              <a:rPr lang="en-US" altLang="zh-CN" sz="2400" b="1" dirty="0" err="1" smtClean="0"/>
              <a:t>s</a:t>
            </a:r>
            <a:r>
              <a:rPr lang="zh-CN" altLang="en-US" sz="2400" b="1" dirty="0" smtClean="0"/>
              <a:t>：</a:t>
            </a:r>
            <a:r>
              <a:rPr lang="zh-CN" altLang="en-US" b="1" dirty="0" smtClean="0"/>
              <a:t>如果</a:t>
            </a:r>
            <a:r>
              <a:rPr lang="zh-CN" altLang="en-US" b="1" dirty="0"/>
              <a:t>接口可能会有突发访问情况，但又担心访问量太大造成崩溃，如抢购业务；这个时候就需要限制这个接口的总并发</a:t>
            </a:r>
            <a:r>
              <a:rPr lang="en-US" altLang="zh-CN" b="1" dirty="0"/>
              <a:t>/</a:t>
            </a:r>
            <a:r>
              <a:rPr lang="zh-CN" altLang="en-US" b="1" dirty="0"/>
              <a:t>请求数总请求数了；因为粒度比较细，可以为每个接口都设置相应的阀值</a:t>
            </a:r>
          </a:p>
        </p:txBody>
      </p:sp>
    </p:spTree>
    <p:extLst>
      <p:ext uri="{BB962C8B-B14F-4D97-AF65-F5344CB8AC3E}">
        <p14:creationId xmlns:p14="http://schemas.microsoft.com/office/powerpoint/2010/main" val="25498813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19</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pitchFamily="2" charset="-122"/>
                <a:ea typeface="华文新魏" panose="02010800040101010101" pitchFamily="2" charset="-122"/>
              </a:rPr>
              <a:t>应用级别限流</a:t>
            </a:r>
            <a:endParaRPr lang="zh-CN" altLang="en-US" sz="3000" dirty="0">
              <a:latin typeface="华文新魏" panose="02010800040101010101" pitchFamily="2" charset="-122"/>
              <a:ea typeface="华文新魏" panose="02010800040101010101" pitchFamily="2" charset="-122"/>
            </a:endParaRPr>
          </a:p>
        </p:txBody>
      </p:sp>
      <p:sp>
        <p:nvSpPr>
          <p:cNvPr id="2" name="TextBox 1"/>
          <p:cNvSpPr txBox="1"/>
          <p:nvPr/>
        </p:nvSpPr>
        <p:spPr>
          <a:xfrm>
            <a:off x="800208" y="1288590"/>
            <a:ext cx="6565712" cy="3600986"/>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800" b="1" dirty="0"/>
              <a:t>4:</a:t>
            </a:r>
            <a:r>
              <a:rPr lang="zh-CN" altLang="en-US" sz="2800" b="1" dirty="0"/>
              <a:t>限流某个接口的时间窗请求</a:t>
            </a:r>
            <a:r>
              <a:rPr lang="zh-CN" altLang="en-US" sz="2800" b="1" dirty="0" smtClean="0"/>
              <a:t>数</a:t>
            </a:r>
            <a:endParaRPr lang="en-US" altLang="zh-CN" sz="2800" b="1" dirty="0" smtClean="0"/>
          </a:p>
          <a:p>
            <a:r>
              <a:rPr lang="en-US" altLang="zh-CN" dirty="0" err="1"/>
              <a:t>e</a:t>
            </a:r>
            <a:r>
              <a:rPr lang="en-US" altLang="zh-CN" dirty="0" err="1" smtClean="0"/>
              <a:t>s</a:t>
            </a:r>
            <a:r>
              <a:rPr lang="en-US" altLang="zh-CN" dirty="0" smtClean="0"/>
              <a:t>:</a:t>
            </a:r>
            <a:r>
              <a:rPr lang="zh-CN" altLang="en-US" b="1" dirty="0"/>
              <a:t>即一个时间窗口内的请求数，如想限制某个接口</a:t>
            </a:r>
            <a:r>
              <a:rPr lang="en-US" altLang="zh-CN" b="1" dirty="0"/>
              <a:t>/</a:t>
            </a:r>
            <a:r>
              <a:rPr lang="zh-CN" altLang="en-US" b="1" dirty="0"/>
              <a:t>服务每秒</a:t>
            </a:r>
            <a:r>
              <a:rPr lang="en-US" altLang="zh-CN" b="1" dirty="0"/>
              <a:t>/</a:t>
            </a:r>
            <a:r>
              <a:rPr lang="zh-CN" altLang="en-US" b="1" dirty="0"/>
              <a:t>每分钟</a:t>
            </a:r>
            <a:r>
              <a:rPr lang="en-US" altLang="zh-CN" b="1" dirty="0"/>
              <a:t>/</a:t>
            </a:r>
            <a:r>
              <a:rPr lang="zh-CN" altLang="en-US" b="1" dirty="0"/>
              <a:t>每天的请求数</a:t>
            </a:r>
            <a:r>
              <a:rPr lang="en-US" altLang="zh-CN" b="1" dirty="0"/>
              <a:t>/</a:t>
            </a:r>
            <a:r>
              <a:rPr lang="zh-CN" altLang="en-US" b="1" dirty="0"/>
              <a:t>调用量。如一些基础服务会被很多其他系统调用，比如商品详情页服务会调用基础商品服务调用，但是怕因为更新量比较大将基础服务打挂，这时我们要对每秒</a:t>
            </a:r>
            <a:r>
              <a:rPr lang="en-US" altLang="zh-CN" b="1" dirty="0"/>
              <a:t>/</a:t>
            </a:r>
            <a:r>
              <a:rPr lang="zh-CN" altLang="en-US" b="1" dirty="0"/>
              <a:t>每分钟的调用量进行</a:t>
            </a:r>
            <a:r>
              <a:rPr lang="zh-CN" altLang="en-US" b="1" dirty="0" smtClean="0"/>
              <a:t>限速</a:t>
            </a:r>
            <a:endParaRPr lang="en-US" altLang="zh-CN" b="1" dirty="0" smtClean="0"/>
          </a:p>
          <a:p>
            <a:endParaRPr lang="en-US" altLang="zh-CN" b="1" dirty="0"/>
          </a:p>
          <a:p>
            <a:pPr marL="285750" indent="-285750">
              <a:buFont typeface="Wingdings" panose="05000000000000000000" pitchFamily="2" charset="2"/>
              <a:buChar char="Ø"/>
            </a:pPr>
            <a:r>
              <a:rPr lang="en-US" altLang="zh-CN" sz="2800" b="1" dirty="0" smtClean="0"/>
              <a:t>5:</a:t>
            </a:r>
            <a:r>
              <a:rPr lang="zh-CN" altLang="en-US" sz="2800" b="1" dirty="0"/>
              <a:t>平滑限流某个接口的请求</a:t>
            </a:r>
            <a:r>
              <a:rPr lang="zh-CN" altLang="en-US" sz="2800" b="1" dirty="0" smtClean="0"/>
              <a:t>数</a:t>
            </a:r>
            <a:endParaRPr lang="en-US" altLang="zh-CN" sz="2800" b="1" dirty="0" smtClean="0"/>
          </a:p>
          <a:p>
            <a:r>
              <a:rPr lang="en-US" altLang="zh-CN" sz="2800" b="1" dirty="0" err="1"/>
              <a:t>e</a:t>
            </a:r>
            <a:r>
              <a:rPr lang="en-US" altLang="zh-CN" sz="2800" b="1" dirty="0" err="1" smtClean="0"/>
              <a:t>s</a:t>
            </a:r>
            <a:r>
              <a:rPr lang="en-US" altLang="zh-CN" sz="2800" b="1" dirty="0" smtClean="0"/>
              <a:t>: </a:t>
            </a:r>
            <a:r>
              <a:rPr lang="zh-CN" altLang="en-US" b="1" dirty="0" smtClean="0"/>
              <a:t>使用</a:t>
            </a:r>
            <a:r>
              <a:rPr lang="en-US" altLang="zh-CN" b="1" dirty="0" smtClean="0"/>
              <a:t>guava</a:t>
            </a:r>
            <a:r>
              <a:rPr lang="zh-CN" altLang="en-US" b="1" dirty="0"/>
              <a:t>平滑突发限</a:t>
            </a:r>
            <a:r>
              <a:rPr lang="zh-CN" altLang="en-US" b="1" dirty="0" smtClean="0"/>
              <a:t>流和</a:t>
            </a:r>
            <a:r>
              <a:rPr lang="zh-CN" altLang="en-US" b="1" dirty="0"/>
              <a:t>平滑预热限</a:t>
            </a:r>
            <a:r>
              <a:rPr lang="zh-CN" altLang="en-US" b="1" dirty="0" smtClean="0"/>
              <a:t>流实现，</a:t>
            </a:r>
            <a:r>
              <a:rPr lang="zh-CN" altLang="en-US" b="1" dirty="0"/>
              <a:t>平滑了速率</a:t>
            </a:r>
            <a:endParaRPr lang="en-US" altLang="zh-CN" b="1" dirty="0"/>
          </a:p>
          <a:p>
            <a:pPr marL="285750" indent="-285750">
              <a:buFont typeface="Wingdings" panose="05000000000000000000" pitchFamily="2" charset="2"/>
              <a:buChar char="Ø"/>
            </a:pPr>
            <a:endParaRPr lang="zh-CN" altLang="en-US" b="1" dirty="0"/>
          </a:p>
        </p:txBody>
      </p:sp>
    </p:spTree>
    <p:extLst>
      <p:ext uri="{BB962C8B-B14F-4D97-AF65-F5344CB8AC3E}">
        <p14:creationId xmlns:p14="http://schemas.microsoft.com/office/powerpoint/2010/main" val="25498813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20</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pitchFamily="2" charset="-122"/>
                <a:ea typeface="华文新魏" panose="02010800040101010101" pitchFamily="2" charset="-122"/>
              </a:rPr>
              <a:t>分布式限流</a:t>
            </a:r>
            <a:endParaRPr lang="zh-CN" altLang="en-US" sz="3000" dirty="0">
              <a:latin typeface="华文新魏" panose="02010800040101010101" pitchFamily="2" charset="-122"/>
              <a:ea typeface="华文新魏" panose="02010800040101010101" pitchFamily="2" charset="-122"/>
            </a:endParaRPr>
          </a:p>
        </p:txBody>
      </p:sp>
      <p:sp>
        <p:nvSpPr>
          <p:cNvPr id="4" name="矩形 3"/>
          <p:cNvSpPr/>
          <p:nvPr/>
        </p:nvSpPr>
        <p:spPr>
          <a:xfrm>
            <a:off x="660512" y="1124016"/>
            <a:ext cx="7334040" cy="5170646"/>
          </a:xfrm>
          <a:prstGeom prst="rect">
            <a:avLst/>
          </a:prstGeom>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 </a:t>
            </a:r>
            <a:r>
              <a:rPr lang="en-US" altLang="zh-CN" dirty="0" smtClean="0">
                <a:solidFill>
                  <a:srgbClr val="333333"/>
                </a:solidFill>
                <a:latin typeface="微软雅黑" panose="020B0503020204020204" pitchFamily="34" charset="-122"/>
                <a:ea typeface="微软雅黑" panose="020B0503020204020204" pitchFamily="34" charset="-122"/>
              </a:rPr>
              <a:t>      </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en-US" dirty="0">
                <a:solidFill>
                  <a:srgbClr val="333333"/>
                </a:solidFill>
                <a:latin typeface="微软雅黑" panose="020B0503020204020204" pitchFamily="34" charset="-122"/>
                <a:ea typeface="微软雅黑" panose="020B0503020204020204" pitchFamily="34" charset="-122"/>
              </a:rPr>
              <a:t>分布式限流最关键的是要将限流服务做成</a:t>
            </a:r>
            <a:r>
              <a:rPr lang="zh-CN" altLang="en-US" dirty="0" smtClean="0">
                <a:solidFill>
                  <a:srgbClr val="333333"/>
                </a:solidFill>
                <a:latin typeface="微软雅黑" panose="020B0503020204020204" pitchFamily="34" charset="-122"/>
                <a:ea typeface="微软雅黑" panose="020B0503020204020204" pitchFamily="34" charset="-122"/>
              </a:rPr>
              <a:t>原子化</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smtClean="0">
              <a:solidFill>
                <a:srgbClr val="333333"/>
              </a:solidFill>
              <a:latin typeface="微软雅黑" panose="020B0503020204020204" pitchFamily="34" charset="-122"/>
              <a:ea typeface="微软雅黑" panose="020B0503020204020204" pitchFamily="34" charset="-122"/>
            </a:endParaRPr>
          </a:p>
          <a:p>
            <a:r>
              <a:rPr lang="zh-CN" altLang="en-US" dirty="0" smtClean="0">
                <a:solidFill>
                  <a:srgbClr val="333333"/>
                </a:solidFill>
                <a:latin typeface="微软雅黑" panose="020B0503020204020204" pitchFamily="34" charset="-122"/>
                <a:ea typeface="微软雅黑" panose="020B0503020204020204" pitchFamily="34" charset="-122"/>
              </a:rPr>
              <a:t>       使用</a:t>
            </a:r>
            <a:r>
              <a:rPr lang="en-US" altLang="zh-CN" dirty="0" err="1">
                <a:solidFill>
                  <a:srgbClr val="333333"/>
                </a:solidFill>
                <a:latin typeface="微软雅黑" panose="020B0503020204020204" pitchFamily="34" charset="-122"/>
                <a:ea typeface="微软雅黑" panose="020B0503020204020204" pitchFamily="34" charset="-122"/>
              </a:rPr>
              <a:t>redis</a:t>
            </a:r>
            <a:r>
              <a:rPr lang="zh-CN" altLang="en-US" dirty="0">
                <a:solidFill>
                  <a:srgbClr val="333333"/>
                </a:solidFill>
                <a:latin typeface="微软雅黑" panose="020B0503020204020204" pitchFamily="34" charset="-122"/>
                <a:ea typeface="微软雅黑" panose="020B0503020204020204" pitchFamily="34" charset="-122"/>
              </a:rPr>
              <a:t>进行限流，其很好地解决了分布式环境下多实例所导致的并发问题。因为使用</a:t>
            </a:r>
            <a:r>
              <a:rPr lang="en-US" altLang="zh-CN" dirty="0" err="1">
                <a:solidFill>
                  <a:srgbClr val="333333"/>
                </a:solidFill>
                <a:latin typeface="微软雅黑" panose="020B0503020204020204" pitchFamily="34" charset="-122"/>
                <a:ea typeface="微软雅黑" panose="020B0503020204020204" pitchFamily="34" charset="-122"/>
              </a:rPr>
              <a:t>redis</a:t>
            </a:r>
            <a:r>
              <a:rPr lang="zh-CN" altLang="en-US" dirty="0">
                <a:solidFill>
                  <a:srgbClr val="333333"/>
                </a:solidFill>
                <a:latin typeface="微软雅黑" panose="020B0503020204020204" pitchFamily="34" charset="-122"/>
                <a:ea typeface="微软雅黑" panose="020B0503020204020204" pitchFamily="34" charset="-122"/>
              </a:rPr>
              <a:t>设置的计时器和计数器均是全局唯一的，不管多少个节点，它们使用的都是同样的计时器和计数器，因此可以做到非常精准的流控。</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en-US" dirty="0" smtClean="0">
                <a:solidFill>
                  <a:srgbClr val="333333"/>
                </a:solidFill>
                <a:latin typeface="微软雅黑" panose="020B0503020204020204" pitchFamily="34" charset="-122"/>
                <a:ea typeface="微软雅黑" panose="020B0503020204020204" pitchFamily="34" charset="-122"/>
              </a:rPr>
              <a:t>使用</a:t>
            </a:r>
            <a:r>
              <a:rPr lang="en-US" altLang="zh-CN" dirty="0" err="1" smtClean="0">
                <a:solidFill>
                  <a:srgbClr val="333333"/>
                </a:solidFill>
                <a:latin typeface="微软雅黑" panose="020B0503020204020204" pitchFamily="34" charset="-122"/>
                <a:ea typeface="微软雅黑" panose="020B0503020204020204" pitchFamily="34" charset="-122"/>
              </a:rPr>
              <a:t>Redis+lua</a:t>
            </a:r>
            <a:r>
              <a:rPr lang="zh-CN" altLang="en-US" dirty="0" smtClean="0">
                <a:solidFill>
                  <a:srgbClr val="333333"/>
                </a:solidFill>
                <a:latin typeface="微软雅黑" panose="020B0503020204020204" pitchFamily="34" charset="-122"/>
                <a:ea typeface="微软雅黑" panose="020B0503020204020204" pitchFamily="34" charset="-122"/>
              </a:rPr>
              <a:t>的方式，两者结合使用是原子操作。</a:t>
            </a:r>
            <a:r>
              <a:rPr lang="zh-CN" altLang="en-US" dirty="0"/>
              <a:t>在实现方面，算法使用的是</a:t>
            </a:r>
            <a:r>
              <a:rPr lang="zh-CN" altLang="en-US" b="1" dirty="0"/>
              <a:t>令牌桶</a:t>
            </a:r>
            <a:r>
              <a:rPr lang="zh-CN" altLang="en-US" dirty="0"/>
              <a:t>算法来，访问 </a:t>
            </a:r>
            <a:r>
              <a:rPr lang="en-US" altLang="zh-CN" dirty="0" err="1"/>
              <a:t>Redis</a:t>
            </a:r>
            <a:r>
              <a:rPr lang="en-US" altLang="zh-CN" dirty="0"/>
              <a:t> </a:t>
            </a:r>
            <a:r>
              <a:rPr lang="zh-CN" altLang="en-US" dirty="0"/>
              <a:t>使用 </a:t>
            </a:r>
            <a:r>
              <a:rPr lang="en-US" altLang="zh-CN" dirty="0" err="1"/>
              <a:t>lua</a:t>
            </a:r>
            <a:r>
              <a:rPr lang="en-US" altLang="zh-CN" dirty="0"/>
              <a:t> </a:t>
            </a:r>
            <a:r>
              <a:rPr lang="zh-CN" altLang="en-US" dirty="0"/>
              <a:t>脚本</a:t>
            </a:r>
            <a:endParaRPr lang="en-US" altLang="zh-CN" dirty="0" smtClean="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smtClean="0">
              <a:solidFill>
                <a:srgbClr val="333333"/>
              </a:solidFill>
              <a:latin typeface="微软雅黑" panose="020B0503020204020204" pitchFamily="34" charset="-122"/>
              <a:ea typeface="微软雅黑" panose="020B0503020204020204" pitchFamily="34" charset="-122"/>
            </a:endParaRPr>
          </a:p>
          <a:p>
            <a:r>
              <a:rPr lang="zh-CN" altLang="en-US" sz="2400" b="1" dirty="0" smtClean="0">
                <a:solidFill>
                  <a:srgbClr val="333333"/>
                </a:solidFill>
                <a:latin typeface="华文新魏" panose="02010800040101010101" pitchFamily="2" charset="-122"/>
                <a:ea typeface="华文新魏" panose="02010800040101010101" pitchFamily="2" charset="-122"/>
              </a:rPr>
              <a:t>不足之处：</a:t>
            </a:r>
            <a:r>
              <a:rPr lang="zh-CN" altLang="en-US" sz="2400" b="1" dirty="0">
                <a:latin typeface="华文新魏" panose="02010800040101010101" pitchFamily="2" charset="-122"/>
                <a:ea typeface="华文新魏" panose="02010800040101010101" pitchFamily="2" charset="-122"/>
              </a:rPr>
              <a:t>因为</a:t>
            </a:r>
            <a:r>
              <a:rPr lang="en-US" altLang="zh-CN" sz="2400" b="1" dirty="0" err="1">
                <a:latin typeface="华文新魏" panose="02010800040101010101" pitchFamily="2" charset="-122"/>
                <a:ea typeface="华文新魏" panose="02010800040101010101" pitchFamily="2" charset="-122"/>
              </a:rPr>
              <a:t>Redis</a:t>
            </a:r>
            <a:r>
              <a:rPr lang="zh-CN" altLang="en-US" sz="2400" b="1" dirty="0">
                <a:latin typeface="华文新魏" panose="02010800040101010101" pitchFamily="2" charset="-122"/>
                <a:ea typeface="华文新魏" panose="02010800040101010101" pitchFamily="2" charset="-122"/>
              </a:rPr>
              <a:t>的限制（</a:t>
            </a:r>
            <a:r>
              <a:rPr lang="en-US" altLang="zh-CN" sz="2400" b="1" dirty="0" err="1">
                <a:latin typeface="华文新魏" panose="02010800040101010101" pitchFamily="2" charset="-122"/>
                <a:ea typeface="华文新魏" panose="02010800040101010101" pitchFamily="2" charset="-122"/>
              </a:rPr>
              <a:t>Lua</a:t>
            </a:r>
            <a:r>
              <a:rPr lang="zh-CN" altLang="en-US" sz="2400" b="1" dirty="0">
                <a:latin typeface="华文新魏" panose="02010800040101010101" pitchFamily="2" charset="-122"/>
                <a:ea typeface="华文新魏" panose="02010800040101010101" pitchFamily="2" charset="-122"/>
              </a:rPr>
              <a:t>中有写操作不能使用带随机性质的读操作，如</a:t>
            </a:r>
            <a:r>
              <a:rPr lang="en-US" altLang="zh-CN" sz="2400" b="1" dirty="0">
                <a:latin typeface="华文新魏" panose="02010800040101010101" pitchFamily="2" charset="-122"/>
                <a:ea typeface="华文新魏" panose="02010800040101010101" pitchFamily="2" charset="-122"/>
              </a:rPr>
              <a:t>TIME</a:t>
            </a:r>
            <a:r>
              <a:rPr lang="zh-CN" altLang="en-US" sz="2400" b="1" dirty="0">
                <a:latin typeface="华文新魏" panose="02010800040101010101" pitchFamily="2" charset="-122"/>
                <a:ea typeface="华文新魏" panose="02010800040101010101" pitchFamily="2" charset="-122"/>
              </a:rPr>
              <a:t>）不能在</a:t>
            </a:r>
            <a:r>
              <a:rPr lang="en-US" altLang="zh-CN" sz="2400" b="1" dirty="0" err="1">
                <a:latin typeface="华文新魏" panose="02010800040101010101" pitchFamily="2" charset="-122"/>
                <a:ea typeface="华文新魏" panose="02010800040101010101" pitchFamily="2" charset="-122"/>
              </a:rPr>
              <a:t>Redis</a:t>
            </a:r>
            <a:r>
              <a:rPr lang="en-US" altLang="zh-CN" sz="2400" b="1" dirty="0">
                <a:latin typeface="华文新魏" panose="02010800040101010101" pitchFamily="2" charset="-122"/>
                <a:ea typeface="华文新魏" panose="02010800040101010101" pitchFamily="2" charset="-122"/>
              </a:rPr>
              <a:t> </a:t>
            </a:r>
            <a:r>
              <a:rPr lang="en-US" altLang="zh-CN" sz="2400" b="1" dirty="0" err="1">
                <a:latin typeface="华文新魏" panose="02010800040101010101" pitchFamily="2" charset="-122"/>
                <a:ea typeface="华文新魏" panose="02010800040101010101" pitchFamily="2" charset="-122"/>
              </a:rPr>
              <a:t>Lua</a:t>
            </a:r>
            <a:r>
              <a:rPr lang="zh-CN" altLang="en-US" sz="2400" b="1" dirty="0">
                <a:latin typeface="华文新魏" panose="02010800040101010101" pitchFamily="2" charset="-122"/>
                <a:ea typeface="华文新魏" panose="02010800040101010101" pitchFamily="2" charset="-122"/>
              </a:rPr>
              <a:t>中使用</a:t>
            </a:r>
            <a:r>
              <a:rPr lang="en-US" altLang="zh-CN" sz="2400" b="1" dirty="0">
                <a:latin typeface="华文新魏" panose="02010800040101010101" pitchFamily="2" charset="-122"/>
                <a:ea typeface="华文新魏" panose="02010800040101010101" pitchFamily="2" charset="-122"/>
              </a:rPr>
              <a:t>TIME</a:t>
            </a:r>
            <a:r>
              <a:rPr lang="zh-CN" altLang="en-US" sz="2400" b="1" dirty="0">
                <a:latin typeface="华文新魏" panose="02010800040101010101" pitchFamily="2" charset="-122"/>
                <a:ea typeface="华文新魏" panose="02010800040101010101" pitchFamily="2" charset="-122"/>
              </a:rPr>
              <a:t>获取时间戳，因此只好从应用获取然后传入，在某些极端情况下（机器时钟不准的情况下）</a:t>
            </a:r>
            <a:endParaRPr lang="en-US" altLang="zh-CN" sz="2400" b="1" dirty="0">
              <a:solidFill>
                <a:srgbClr val="333333"/>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8779912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21</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pitchFamily="2" charset="-122"/>
                <a:ea typeface="华文新魏" panose="02010800040101010101" pitchFamily="2" charset="-122"/>
              </a:rPr>
              <a:t>分布式限流</a:t>
            </a:r>
            <a:endParaRPr lang="zh-CN" altLang="en-US" sz="3000" dirty="0">
              <a:latin typeface="华文新魏" panose="02010800040101010101" pitchFamily="2" charset="-122"/>
              <a:ea typeface="华文新魏" panose="02010800040101010101" pitchFamily="2"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500" y="1193864"/>
            <a:ext cx="7575550" cy="3344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00" y="1962191"/>
            <a:ext cx="7461250" cy="4656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113" y="2311432"/>
            <a:ext cx="1798637"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89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fade">
                                      <p:cBhvr>
                                        <p:cTn id="12" dur="1000"/>
                                        <p:tgtEl>
                                          <p:spTgt spid="1027"/>
                                        </p:tgtEl>
                                      </p:cBhvr>
                                    </p:animEffect>
                                    <p:anim calcmode="lin" valueType="num">
                                      <p:cBhvr>
                                        <p:cTn id="13" dur="1000" fill="hold"/>
                                        <p:tgtEl>
                                          <p:spTgt spid="1027"/>
                                        </p:tgtEl>
                                        <p:attrNameLst>
                                          <p:attrName>ppt_x</p:attrName>
                                        </p:attrNameLst>
                                      </p:cBhvr>
                                      <p:tavLst>
                                        <p:tav tm="0">
                                          <p:val>
                                            <p:strVal val="#ppt_x"/>
                                          </p:val>
                                        </p:tav>
                                        <p:tav tm="100000">
                                          <p:val>
                                            <p:strVal val="#ppt_x"/>
                                          </p:val>
                                        </p:tav>
                                      </p:tavLst>
                                    </p:anim>
                                    <p:anim calcmode="lin" valueType="num">
                                      <p:cBhvr>
                                        <p:cTn id="14"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22</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r>
              <a:rPr lang="en-US" altLang="zh-CN" sz="3200" dirty="0" err="1" smtClean="0"/>
              <a:t>Hystrix</a:t>
            </a:r>
            <a:r>
              <a:rPr lang="en-US" altLang="zh-CN" sz="3200" dirty="0" smtClean="0"/>
              <a:t>-</a:t>
            </a:r>
            <a:r>
              <a:rPr lang="zh-CN" altLang="en-US" sz="3200" dirty="0"/>
              <a:t>资源隔离</a:t>
            </a:r>
            <a:endParaRPr lang="en-US" altLang="zh-CN" sz="3200" dirty="0"/>
          </a:p>
        </p:txBody>
      </p:sp>
      <p:sp>
        <p:nvSpPr>
          <p:cNvPr id="2" name="矩形 1"/>
          <p:cNvSpPr/>
          <p:nvPr/>
        </p:nvSpPr>
        <p:spPr>
          <a:xfrm>
            <a:off x="660512" y="1054168"/>
            <a:ext cx="7340471" cy="646331"/>
          </a:xfrm>
          <a:prstGeom prst="rect">
            <a:avLst/>
          </a:prstGeom>
        </p:spPr>
        <p:txBody>
          <a:bodyPr wrap="none">
            <a:spAutoFit/>
          </a:bodyPr>
          <a:lstStyle/>
          <a:p>
            <a:r>
              <a:rPr lang="zh-CN" altLang="en-US" dirty="0"/>
              <a:t>为什么需要</a:t>
            </a:r>
            <a:r>
              <a:rPr lang="en-US" altLang="zh-CN" dirty="0" err="1" smtClean="0"/>
              <a:t>Hystrix</a:t>
            </a:r>
            <a:r>
              <a:rPr lang="zh-CN" altLang="en-US" dirty="0" smtClean="0"/>
              <a:t>，</a:t>
            </a:r>
            <a:r>
              <a:rPr lang="zh-CN" altLang="en-US" dirty="0"/>
              <a:t>在大中型分布式系统中，通常系统很多依赖</a:t>
            </a:r>
            <a:r>
              <a:rPr lang="en-US" altLang="zh-CN" dirty="0"/>
              <a:t>(</a:t>
            </a:r>
            <a:r>
              <a:rPr lang="en-US" altLang="zh-CN" dirty="0" smtClean="0"/>
              <a:t>HTTP</a:t>
            </a:r>
          </a:p>
          <a:p>
            <a:r>
              <a:rPr lang="en-US" altLang="zh-CN" dirty="0" smtClean="0"/>
              <a:t>,</a:t>
            </a:r>
            <a:r>
              <a:rPr lang="en-US" altLang="zh-CN" dirty="0" err="1" smtClean="0"/>
              <a:t>Netty,Dubbo</a:t>
            </a:r>
            <a:r>
              <a:rPr lang="zh-CN" altLang="en-US" dirty="0"/>
              <a:t>等</a:t>
            </a:r>
            <a:r>
              <a:rPr lang="en-US" altLang="zh-CN" dirty="0"/>
              <a:t>)</a:t>
            </a:r>
          </a:p>
        </p:txBody>
      </p:sp>
      <p:pic>
        <p:nvPicPr>
          <p:cNvPr id="2050" name="Picture 2" descr="http://dl2.iteye.com/upload/attachment/0103/1037/887e7862-578a-3616-a15c-1ef1cb62f3c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96" y="1855638"/>
            <a:ext cx="6565712" cy="4985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9816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23</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r>
              <a:rPr lang="en-US" altLang="zh-CN" sz="3200" dirty="0" err="1" smtClean="0"/>
              <a:t>Hystrix</a:t>
            </a:r>
            <a:r>
              <a:rPr lang="en-US" altLang="zh-CN" sz="3200" dirty="0" smtClean="0"/>
              <a:t>-</a:t>
            </a:r>
            <a:r>
              <a:rPr lang="zh-CN" altLang="en-US" sz="3200" dirty="0"/>
              <a:t>资源隔离</a:t>
            </a:r>
            <a:endParaRPr lang="en-US" altLang="zh-CN" sz="3200" dirty="0"/>
          </a:p>
        </p:txBody>
      </p:sp>
      <p:sp>
        <p:nvSpPr>
          <p:cNvPr id="2" name="矩形 1"/>
          <p:cNvSpPr/>
          <p:nvPr/>
        </p:nvSpPr>
        <p:spPr>
          <a:xfrm>
            <a:off x="660512" y="1054168"/>
            <a:ext cx="7930376" cy="646331"/>
          </a:xfrm>
          <a:prstGeom prst="rect">
            <a:avLst/>
          </a:prstGeom>
        </p:spPr>
        <p:txBody>
          <a:bodyPr wrap="none">
            <a:spAutoFit/>
          </a:bodyPr>
          <a:lstStyle/>
          <a:p>
            <a:r>
              <a:rPr lang="zh-CN" altLang="en-US" dirty="0"/>
              <a:t>在高并发访问下</a:t>
            </a:r>
            <a:r>
              <a:rPr lang="en-US" altLang="zh-CN" dirty="0"/>
              <a:t>,</a:t>
            </a:r>
            <a:r>
              <a:rPr lang="zh-CN" altLang="en-US" dirty="0"/>
              <a:t>这些依赖的稳定性与否对系统的影响非常大</a:t>
            </a:r>
            <a:r>
              <a:rPr lang="en-US" altLang="zh-CN" dirty="0"/>
              <a:t>,</a:t>
            </a:r>
            <a:r>
              <a:rPr lang="zh-CN" altLang="en-US" dirty="0"/>
              <a:t>但是依赖有</a:t>
            </a:r>
            <a:r>
              <a:rPr lang="zh-CN" altLang="en-US" dirty="0" smtClean="0"/>
              <a:t>很多</a:t>
            </a:r>
            <a:endParaRPr lang="en-US" altLang="zh-CN" dirty="0" smtClean="0"/>
          </a:p>
          <a:p>
            <a:r>
              <a:rPr lang="zh-CN" altLang="en-US" dirty="0" smtClean="0"/>
              <a:t>不可</a:t>
            </a:r>
            <a:r>
              <a:rPr lang="zh-CN" altLang="en-US" dirty="0"/>
              <a:t>控问题</a:t>
            </a:r>
            <a:r>
              <a:rPr lang="en-US" altLang="zh-CN" dirty="0"/>
              <a:t>:</a:t>
            </a:r>
            <a:r>
              <a:rPr lang="zh-CN" altLang="en-US" dirty="0"/>
              <a:t>如网络连接缓慢，资源繁忙，暂时不可用，服务脱机等</a:t>
            </a:r>
            <a:r>
              <a:rPr lang="en-US" altLang="zh-CN" dirty="0"/>
              <a:t>.</a:t>
            </a:r>
          </a:p>
        </p:txBody>
      </p:sp>
      <p:pic>
        <p:nvPicPr>
          <p:cNvPr id="3074" name="Picture 2" descr="http://dl2.iteye.com/upload/attachment/0103/1039/3bd6d0be-9ce5-35c2-bbd9-3493671b45d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9144" y="1677022"/>
            <a:ext cx="6096000" cy="518097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dl2.iteye.com/upload/attachment/0103/1041/22f20da1-4096-314c-8c9f-5728251c46a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700" y="1720121"/>
            <a:ext cx="6096000" cy="5137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07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24</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r>
              <a:rPr lang="en-US" altLang="zh-CN" sz="3200" dirty="0" err="1" smtClean="0"/>
              <a:t>Hystrix</a:t>
            </a:r>
            <a:r>
              <a:rPr lang="en-US" altLang="zh-CN" sz="3200" dirty="0" smtClean="0"/>
              <a:t>-</a:t>
            </a:r>
            <a:r>
              <a:rPr lang="zh-CN" altLang="en-US" sz="3200" dirty="0"/>
              <a:t>资源隔离</a:t>
            </a:r>
            <a:endParaRPr lang="en-US" altLang="zh-CN" sz="3200" dirty="0"/>
          </a:p>
        </p:txBody>
      </p:sp>
      <p:sp>
        <p:nvSpPr>
          <p:cNvPr id="2" name="矩形 1"/>
          <p:cNvSpPr/>
          <p:nvPr/>
        </p:nvSpPr>
        <p:spPr>
          <a:xfrm>
            <a:off x="660512" y="1054168"/>
            <a:ext cx="8494633" cy="646331"/>
          </a:xfrm>
          <a:prstGeom prst="rect">
            <a:avLst/>
          </a:prstGeom>
        </p:spPr>
        <p:txBody>
          <a:bodyPr wrap="none">
            <a:spAutoFit/>
          </a:bodyPr>
          <a:lstStyle/>
          <a:p>
            <a:r>
              <a:rPr lang="zh-CN" altLang="en-US" dirty="0"/>
              <a:t>在复杂的分布式架构的应用程序有很多的依赖，都会不可避免地在某些时候失败</a:t>
            </a:r>
            <a:r>
              <a:rPr lang="zh-CN" altLang="en-US" dirty="0" smtClean="0"/>
              <a:t>。</a:t>
            </a:r>
            <a:endParaRPr lang="en-US" altLang="zh-CN" dirty="0" smtClean="0"/>
          </a:p>
          <a:p>
            <a:r>
              <a:rPr lang="zh-CN" altLang="en-US" dirty="0" smtClean="0"/>
              <a:t>高</a:t>
            </a:r>
            <a:r>
              <a:rPr lang="zh-CN" altLang="en-US" dirty="0"/>
              <a:t>并发的依赖失败时如果没有隔离措施，当前应用服务就有被拖垮的风险</a:t>
            </a:r>
            <a:endParaRPr lang="en-US" altLang="zh-CN"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448" y="1700500"/>
            <a:ext cx="6495864" cy="4663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9625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25</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356168" cy="576223"/>
          </a:xfrm>
          <a:prstGeom prst="roundRect">
            <a:avLst>
              <a:gd name="adj" fmla="val 0"/>
            </a:avLst>
          </a:prstGeom>
          <a:noFill/>
          <a:ln w="3175">
            <a:solidFill>
              <a:srgbClr val="C0C0C0"/>
            </a:solidFill>
            <a:round/>
          </a:ln>
        </p:spPr>
        <p:txBody>
          <a:bodyPr anchor="ctr"/>
          <a:lstStyle/>
          <a:p>
            <a:r>
              <a:rPr lang="en-US" altLang="zh-CN" sz="3200" dirty="0" err="1" smtClean="0"/>
              <a:t>Hystrix</a:t>
            </a:r>
            <a:r>
              <a:rPr lang="en-US" altLang="zh-CN" sz="3200" dirty="0" smtClean="0"/>
              <a:t>-</a:t>
            </a:r>
            <a:r>
              <a:rPr lang="zh-CN" altLang="en-US" sz="3200" dirty="0"/>
              <a:t>熔断器模式</a:t>
            </a:r>
          </a:p>
        </p:txBody>
      </p:sp>
      <p:pic>
        <p:nvPicPr>
          <p:cNvPr id="5122" name="Picture 2" descr="https://segmentfault.com/img/bVzia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675" y="1035423"/>
            <a:ext cx="6049053" cy="239077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730360" y="3568696"/>
            <a:ext cx="7753128" cy="2862322"/>
          </a:xfrm>
          <a:prstGeom prst="rect">
            <a:avLst/>
          </a:prstGeom>
        </p:spPr>
        <p:txBody>
          <a:bodyPr wrap="square">
            <a:spAutoFit/>
          </a:bodyPr>
          <a:lstStyle/>
          <a:p>
            <a:r>
              <a:rPr lang="zh-CN" altLang="en-US" b="1" dirty="0">
                <a:solidFill>
                  <a:srgbClr val="FF0000"/>
                </a:solidFill>
              </a:rPr>
              <a:t>服务的健康状况 </a:t>
            </a:r>
            <a:r>
              <a:rPr lang="en-US" altLang="zh-CN" b="1" dirty="0">
                <a:solidFill>
                  <a:srgbClr val="FF0000"/>
                </a:solidFill>
              </a:rPr>
              <a:t>= </a:t>
            </a:r>
            <a:r>
              <a:rPr lang="zh-CN" altLang="en-US" b="1" dirty="0">
                <a:solidFill>
                  <a:srgbClr val="FF0000"/>
                </a:solidFill>
              </a:rPr>
              <a:t>请求失败数 </a:t>
            </a:r>
            <a:r>
              <a:rPr lang="en-US" altLang="zh-CN" b="1" dirty="0">
                <a:solidFill>
                  <a:srgbClr val="FF0000"/>
                </a:solidFill>
              </a:rPr>
              <a:t>/ </a:t>
            </a:r>
            <a:r>
              <a:rPr lang="zh-CN" altLang="en-US" b="1" dirty="0">
                <a:solidFill>
                  <a:srgbClr val="FF0000"/>
                </a:solidFill>
              </a:rPr>
              <a:t>请求总数</a:t>
            </a:r>
            <a:r>
              <a:rPr lang="en-US" altLang="zh-CN" b="1" dirty="0">
                <a:solidFill>
                  <a:srgbClr val="FF0000"/>
                </a:solidFill>
              </a:rPr>
              <a:t>. </a:t>
            </a:r>
            <a:br>
              <a:rPr lang="en-US" altLang="zh-CN" b="1" dirty="0">
                <a:solidFill>
                  <a:srgbClr val="FF0000"/>
                </a:solidFill>
              </a:rPr>
            </a:br>
            <a:r>
              <a:rPr lang="zh-CN" altLang="en-US" b="1" dirty="0">
                <a:solidFill>
                  <a:srgbClr val="FF0000"/>
                </a:solidFill>
              </a:rPr>
              <a:t>熔断器开关由关闭到打开的状态转换是通过当前服务健康状况和设定阈值比较决定的</a:t>
            </a:r>
            <a:r>
              <a:rPr lang="en-US" altLang="zh-CN" b="1" dirty="0">
                <a:solidFill>
                  <a:srgbClr val="FF0000"/>
                </a:solidFill>
              </a:rPr>
              <a:t>.</a:t>
            </a:r>
          </a:p>
          <a:p>
            <a:r>
              <a:rPr lang="en-US" altLang="zh-CN" b="1" dirty="0" smtClean="0">
                <a:solidFill>
                  <a:srgbClr val="FF0000"/>
                </a:solidFill>
              </a:rPr>
              <a:t>1</a:t>
            </a:r>
            <a:r>
              <a:rPr lang="zh-CN" altLang="en-US" b="1" dirty="0" smtClean="0">
                <a:solidFill>
                  <a:srgbClr val="FF0000"/>
                </a:solidFill>
              </a:rPr>
              <a:t>：当</a:t>
            </a:r>
            <a:r>
              <a:rPr lang="zh-CN" altLang="en-US" b="1" dirty="0">
                <a:solidFill>
                  <a:srgbClr val="FF0000"/>
                </a:solidFill>
              </a:rPr>
              <a:t>熔断器开关关闭时</a:t>
            </a:r>
            <a:r>
              <a:rPr lang="en-US" altLang="zh-CN" b="1" dirty="0">
                <a:solidFill>
                  <a:srgbClr val="FF0000"/>
                </a:solidFill>
              </a:rPr>
              <a:t>, </a:t>
            </a:r>
            <a:r>
              <a:rPr lang="zh-CN" altLang="en-US" b="1" dirty="0">
                <a:solidFill>
                  <a:srgbClr val="FF0000"/>
                </a:solidFill>
              </a:rPr>
              <a:t>请求被允许通过熔断器</a:t>
            </a:r>
            <a:r>
              <a:rPr lang="en-US" altLang="zh-CN" b="1" dirty="0">
                <a:solidFill>
                  <a:srgbClr val="FF0000"/>
                </a:solidFill>
              </a:rPr>
              <a:t>. </a:t>
            </a:r>
            <a:r>
              <a:rPr lang="zh-CN" altLang="en-US" b="1" dirty="0">
                <a:solidFill>
                  <a:srgbClr val="FF0000"/>
                </a:solidFill>
              </a:rPr>
              <a:t>如果当前健康状况高于设定阈值</a:t>
            </a:r>
            <a:r>
              <a:rPr lang="en-US" altLang="zh-CN" b="1" dirty="0">
                <a:solidFill>
                  <a:srgbClr val="FF0000"/>
                </a:solidFill>
              </a:rPr>
              <a:t>, </a:t>
            </a:r>
            <a:r>
              <a:rPr lang="zh-CN" altLang="en-US" b="1" dirty="0">
                <a:solidFill>
                  <a:srgbClr val="FF0000"/>
                </a:solidFill>
              </a:rPr>
              <a:t>开关继续保持关闭</a:t>
            </a:r>
            <a:r>
              <a:rPr lang="en-US" altLang="zh-CN" b="1" dirty="0">
                <a:solidFill>
                  <a:srgbClr val="FF0000"/>
                </a:solidFill>
              </a:rPr>
              <a:t>. </a:t>
            </a:r>
            <a:r>
              <a:rPr lang="zh-CN" altLang="en-US" b="1" dirty="0">
                <a:solidFill>
                  <a:srgbClr val="FF0000"/>
                </a:solidFill>
              </a:rPr>
              <a:t>如果当前健康状况低于设定阈值</a:t>
            </a:r>
            <a:r>
              <a:rPr lang="en-US" altLang="zh-CN" b="1" dirty="0">
                <a:solidFill>
                  <a:srgbClr val="FF0000"/>
                </a:solidFill>
              </a:rPr>
              <a:t>, </a:t>
            </a:r>
            <a:r>
              <a:rPr lang="zh-CN" altLang="en-US" b="1" dirty="0">
                <a:solidFill>
                  <a:srgbClr val="FF0000"/>
                </a:solidFill>
              </a:rPr>
              <a:t>开关则切换为打开状态</a:t>
            </a:r>
            <a:r>
              <a:rPr lang="en-US" altLang="zh-CN" b="1" dirty="0">
                <a:solidFill>
                  <a:srgbClr val="FF0000"/>
                </a:solidFill>
              </a:rPr>
              <a:t>.</a:t>
            </a:r>
          </a:p>
          <a:p>
            <a:r>
              <a:rPr lang="en-US" altLang="zh-CN" b="1" dirty="0" smtClean="0">
                <a:solidFill>
                  <a:srgbClr val="FF0000"/>
                </a:solidFill>
              </a:rPr>
              <a:t>2</a:t>
            </a:r>
            <a:r>
              <a:rPr lang="zh-CN" altLang="en-US" b="1" dirty="0" smtClean="0">
                <a:solidFill>
                  <a:srgbClr val="FF0000"/>
                </a:solidFill>
              </a:rPr>
              <a:t>：当</a:t>
            </a:r>
            <a:r>
              <a:rPr lang="zh-CN" altLang="en-US" b="1" dirty="0">
                <a:solidFill>
                  <a:srgbClr val="FF0000"/>
                </a:solidFill>
              </a:rPr>
              <a:t>熔断器开关打开时</a:t>
            </a:r>
            <a:r>
              <a:rPr lang="en-US" altLang="zh-CN" b="1" dirty="0">
                <a:solidFill>
                  <a:srgbClr val="FF0000"/>
                </a:solidFill>
              </a:rPr>
              <a:t>, </a:t>
            </a:r>
            <a:r>
              <a:rPr lang="zh-CN" altLang="en-US" b="1" dirty="0">
                <a:solidFill>
                  <a:srgbClr val="FF0000"/>
                </a:solidFill>
              </a:rPr>
              <a:t>请求被禁止通过</a:t>
            </a:r>
            <a:r>
              <a:rPr lang="en-US" altLang="zh-CN" b="1" dirty="0">
                <a:solidFill>
                  <a:srgbClr val="FF0000"/>
                </a:solidFill>
              </a:rPr>
              <a:t>.</a:t>
            </a:r>
          </a:p>
          <a:p>
            <a:r>
              <a:rPr lang="en-US" altLang="zh-CN" b="1" dirty="0" smtClean="0">
                <a:solidFill>
                  <a:srgbClr val="FF0000"/>
                </a:solidFill>
              </a:rPr>
              <a:t>3</a:t>
            </a:r>
            <a:r>
              <a:rPr lang="zh-CN" altLang="en-US" b="1" dirty="0" smtClean="0">
                <a:solidFill>
                  <a:srgbClr val="FF0000"/>
                </a:solidFill>
              </a:rPr>
              <a:t>：当</a:t>
            </a:r>
            <a:r>
              <a:rPr lang="zh-CN" altLang="en-US" b="1" dirty="0">
                <a:solidFill>
                  <a:srgbClr val="FF0000"/>
                </a:solidFill>
              </a:rPr>
              <a:t>熔断器开关处于打开状态</a:t>
            </a:r>
            <a:r>
              <a:rPr lang="en-US" altLang="zh-CN" b="1" dirty="0">
                <a:solidFill>
                  <a:srgbClr val="FF0000"/>
                </a:solidFill>
              </a:rPr>
              <a:t>, </a:t>
            </a:r>
            <a:r>
              <a:rPr lang="zh-CN" altLang="en-US" b="1" dirty="0">
                <a:solidFill>
                  <a:srgbClr val="FF0000"/>
                </a:solidFill>
              </a:rPr>
              <a:t>经过一段时间后</a:t>
            </a:r>
            <a:r>
              <a:rPr lang="en-US" altLang="zh-CN" b="1" dirty="0">
                <a:solidFill>
                  <a:srgbClr val="FF0000"/>
                </a:solidFill>
              </a:rPr>
              <a:t>, </a:t>
            </a:r>
            <a:r>
              <a:rPr lang="zh-CN" altLang="en-US" b="1" dirty="0">
                <a:solidFill>
                  <a:srgbClr val="FF0000"/>
                </a:solidFill>
              </a:rPr>
              <a:t>熔断器会自动进入半开状态</a:t>
            </a:r>
            <a:r>
              <a:rPr lang="en-US" altLang="zh-CN" b="1" dirty="0">
                <a:solidFill>
                  <a:srgbClr val="FF0000"/>
                </a:solidFill>
              </a:rPr>
              <a:t>, </a:t>
            </a:r>
            <a:r>
              <a:rPr lang="zh-CN" altLang="en-US" b="1" dirty="0">
                <a:solidFill>
                  <a:srgbClr val="FF0000"/>
                </a:solidFill>
              </a:rPr>
              <a:t>这时熔断器只允许一个请求通过</a:t>
            </a:r>
            <a:r>
              <a:rPr lang="en-US" altLang="zh-CN" b="1" dirty="0">
                <a:solidFill>
                  <a:srgbClr val="FF0000"/>
                </a:solidFill>
              </a:rPr>
              <a:t>. </a:t>
            </a:r>
            <a:r>
              <a:rPr lang="zh-CN" altLang="en-US" b="1" dirty="0">
                <a:solidFill>
                  <a:srgbClr val="FF0000"/>
                </a:solidFill>
              </a:rPr>
              <a:t>当该请求调用成功时</a:t>
            </a:r>
            <a:r>
              <a:rPr lang="en-US" altLang="zh-CN" b="1" dirty="0">
                <a:solidFill>
                  <a:srgbClr val="FF0000"/>
                </a:solidFill>
              </a:rPr>
              <a:t>, </a:t>
            </a:r>
            <a:r>
              <a:rPr lang="zh-CN" altLang="en-US" b="1" dirty="0">
                <a:solidFill>
                  <a:srgbClr val="FF0000"/>
                </a:solidFill>
              </a:rPr>
              <a:t>熔断器恢复到关闭状态</a:t>
            </a:r>
            <a:r>
              <a:rPr lang="en-US" altLang="zh-CN" b="1" dirty="0">
                <a:solidFill>
                  <a:srgbClr val="FF0000"/>
                </a:solidFill>
              </a:rPr>
              <a:t>. </a:t>
            </a:r>
            <a:r>
              <a:rPr lang="zh-CN" altLang="en-US" b="1" dirty="0">
                <a:solidFill>
                  <a:srgbClr val="FF0000"/>
                </a:solidFill>
              </a:rPr>
              <a:t>若该请求失败</a:t>
            </a:r>
            <a:r>
              <a:rPr lang="en-US" altLang="zh-CN" b="1" dirty="0">
                <a:solidFill>
                  <a:srgbClr val="FF0000"/>
                </a:solidFill>
              </a:rPr>
              <a:t>, </a:t>
            </a:r>
            <a:r>
              <a:rPr lang="zh-CN" altLang="en-US" b="1" dirty="0">
                <a:solidFill>
                  <a:srgbClr val="FF0000"/>
                </a:solidFill>
              </a:rPr>
              <a:t>熔断器继续保持打开状态</a:t>
            </a:r>
            <a:r>
              <a:rPr lang="en-US" altLang="zh-CN" b="1" dirty="0">
                <a:solidFill>
                  <a:srgbClr val="FF0000"/>
                </a:solidFill>
              </a:rPr>
              <a:t>, </a:t>
            </a:r>
            <a:r>
              <a:rPr lang="zh-CN" altLang="en-US" b="1" dirty="0">
                <a:solidFill>
                  <a:srgbClr val="FF0000"/>
                </a:solidFill>
              </a:rPr>
              <a:t>接下来的请求被禁止通过</a:t>
            </a:r>
            <a:r>
              <a:rPr lang="en-US" altLang="zh-CN" b="1" dirty="0">
                <a:solidFill>
                  <a:srgbClr val="FF0000"/>
                </a:solidFill>
              </a:rPr>
              <a:t>.</a:t>
            </a:r>
          </a:p>
        </p:txBody>
      </p:sp>
    </p:spTree>
    <p:extLst>
      <p:ext uri="{BB962C8B-B14F-4D97-AF65-F5344CB8AC3E}">
        <p14:creationId xmlns:p14="http://schemas.microsoft.com/office/powerpoint/2010/main" val="28503669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26</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775256"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smtClean="0">
                <a:latin typeface="华文新魏" panose="02010800040101010101" pitchFamily="2" charset="-122"/>
                <a:ea typeface="华文新魏" panose="02010800040101010101" pitchFamily="2" charset="-122"/>
              </a:rPr>
              <a:t>网关的限流想法</a:t>
            </a:r>
            <a:endParaRPr lang="zh-CN" altLang="en-US" sz="3000" dirty="0">
              <a:latin typeface="华文新魏" panose="02010800040101010101" pitchFamily="2" charset="-122"/>
              <a:ea typeface="华文新魏" panose="02010800040101010101" pitchFamily="2" charset="-122"/>
            </a:endParaRPr>
          </a:p>
        </p:txBody>
      </p:sp>
      <p:sp>
        <p:nvSpPr>
          <p:cNvPr id="2" name="矩形 1"/>
          <p:cNvSpPr/>
          <p:nvPr/>
        </p:nvSpPr>
        <p:spPr>
          <a:xfrm>
            <a:off x="1478520" y="1606258"/>
            <a:ext cx="3474850" cy="42674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400" b="1" dirty="0">
              <a:solidFill>
                <a:schemeClr val="tx1"/>
              </a:solidFill>
            </a:endParaRPr>
          </a:p>
        </p:txBody>
      </p:sp>
      <p:sp>
        <p:nvSpPr>
          <p:cNvPr id="5" name="TextBox 4"/>
          <p:cNvSpPr txBox="1"/>
          <p:nvPr/>
        </p:nvSpPr>
        <p:spPr>
          <a:xfrm>
            <a:off x="323553" y="2985034"/>
            <a:ext cx="1068448" cy="369332"/>
          </a:xfrm>
          <a:prstGeom prst="rect">
            <a:avLst/>
          </a:prstGeom>
          <a:noFill/>
        </p:spPr>
        <p:txBody>
          <a:bodyPr wrap="square" rtlCol="0">
            <a:spAutoFit/>
          </a:bodyPr>
          <a:lstStyle/>
          <a:p>
            <a:r>
              <a:rPr lang="en-US" altLang="zh-CN" dirty="0" smtClean="0"/>
              <a:t>Request</a:t>
            </a:r>
            <a:endParaRPr lang="zh-CN" altLang="en-US" dirty="0"/>
          </a:p>
        </p:txBody>
      </p:sp>
      <p:sp>
        <p:nvSpPr>
          <p:cNvPr id="6" name="右箭头 5"/>
          <p:cNvSpPr/>
          <p:nvPr/>
        </p:nvSpPr>
        <p:spPr>
          <a:xfrm>
            <a:off x="241425" y="3354366"/>
            <a:ext cx="1232704" cy="189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307921" y="1173015"/>
            <a:ext cx="1816048" cy="369332"/>
          </a:xfrm>
          <a:prstGeom prst="rect">
            <a:avLst/>
          </a:prstGeom>
          <a:noFill/>
        </p:spPr>
        <p:txBody>
          <a:bodyPr wrap="square" rtlCol="0">
            <a:spAutoFit/>
          </a:bodyPr>
          <a:lstStyle/>
          <a:p>
            <a:pPr algn="ctr"/>
            <a:r>
              <a:rPr lang="zh-CN" altLang="en-US" b="1" dirty="0"/>
              <a:t>网关</a:t>
            </a:r>
          </a:p>
        </p:txBody>
      </p:sp>
      <p:sp>
        <p:nvSpPr>
          <p:cNvPr id="11" name="圆角矩形 10"/>
          <p:cNvSpPr/>
          <p:nvPr/>
        </p:nvSpPr>
        <p:spPr>
          <a:xfrm>
            <a:off x="1745238" y="2032040"/>
            <a:ext cx="1470707" cy="363209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3" name="TextBox 12"/>
          <p:cNvSpPr txBox="1"/>
          <p:nvPr/>
        </p:nvSpPr>
        <p:spPr>
          <a:xfrm>
            <a:off x="1720753" y="1662708"/>
            <a:ext cx="1671477" cy="369332"/>
          </a:xfrm>
          <a:prstGeom prst="rect">
            <a:avLst/>
          </a:prstGeom>
          <a:noFill/>
        </p:spPr>
        <p:txBody>
          <a:bodyPr wrap="square" rtlCol="0">
            <a:spAutoFit/>
          </a:bodyPr>
          <a:lstStyle/>
          <a:p>
            <a:r>
              <a:rPr lang="zh-CN" altLang="en-US" dirty="0" smtClean="0"/>
              <a:t>网关防御校验</a:t>
            </a:r>
            <a:endParaRPr lang="zh-CN" altLang="en-US" dirty="0"/>
          </a:p>
        </p:txBody>
      </p:sp>
      <p:sp>
        <p:nvSpPr>
          <p:cNvPr id="15" name="圆角矩形 14"/>
          <p:cNvSpPr/>
          <p:nvPr/>
        </p:nvSpPr>
        <p:spPr>
          <a:xfrm>
            <a:off x="1840746" y="2241584"/>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solidFill>
                  <a:srgbClr val="00B0F0"/>
                </a:solidFill>
              </a:rPr>
              <a:t>降级配置</a:t>
            </a:r>
            <a:endParaRPr lang="zh-CN" altLang="en-US" dirty="0">
              <a:solidFill>
                <a:srgbClr val="00B0F0"/>
              </a:solidFill>
            </a:endParaRPr>
          </a:p>
        </p:txBody>
      </p:sp>
      <p:sp>
        <p:nvSpPr>
          <p:cNvPr id="18" name="圆角矩形 17"/>
          <p:cNvSpPr/>
          <p:nvPr/>
        </p:nvSpPr>
        <p:spPr>
          <a:xfrm>
            <a:off x="1847571" y="3123754"/>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solidFill>
                  <a:srgbClr val="00B0F0"/>
                </a:solidFill>
              </a:rPr>
              <a:t>流量</a:t>
            </a:r>
            <a:r>
              <a:rPr lang="zh-CN" altLang="en-US" dirty="0" smtClean="0">
                <a:solidFill>
                  <a:srgbClr val="00B0F0"/>
                </a:solidFill>
              </a:rPr>
              <a:t>配置</a:t>
            </a:r>
            <a:endParaRPr lang="zh-CN" altLang="en-US" dirty="0">
              <a:solidFill>
                <a:srgbClr val="00B0F0"/>
              </a:solidFill>
            </a:endParaRPr>
          </a:p>
        </p:txBody>
      </p:sp>
      <p:cxnSp>
        <p:nvCxnSpPr>
          <p:cNvPr id="20" name="直接箭头连接符 19"/>
          <p:cNvCxnSpPr>
            <a:stCxn id="15" idx="2"/>
            <a:endCxn id="18" idx="0"/>
          </p:cNvCxnSpPr>
          <p:nvPr/>
        </p:nvCxnSpPr>
        <p:spPr>
          <a:xfrm>
            <a:off x="2473766" y="2730520"/>
            <a:ext cx="6825" cy="393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2480590" y="3612690"/>
            <a:ext cx="1" cy="3052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流程图: 准备 22"/>
          <p:cNvSpPr/>
          <p:nvPr/>
        </p:nvSpPr>
        <p:spPr>
          <a:xfrm>
            <a:off x="1847571" y="3917936"/>
            <a:ext cx="1259214" cy="1466808"/>
          </a:xfrm>
          <a:prstGeom prst="flowChartPreparatio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TextBox 23"/>
          <p:cNvSpPr txBox="1"/>
          <p:nvPr/>
        </p:nvSpPr>
        <p:spPr>
          <a:xfrm>
            <a:off x="1949906" y="3987784"/>
            <a:ext cx="1047720" cy="338554"/>
          </a:xfrm>
          <a:prstGeom prst="rect">
            <a:avLst/>
          </a:prstGeom>
          <a:noFill/>
        </p:spPr>
        <p:txBody>
          <a:bodyPr wrap="square" rtlCol="0">
            <a:spAutoFit/>
          </a:bodyPr>
          <a:lstStyle/>
          <a:p>
            <a:r>
              <a:rPr lang="zh-CN" altLang="en-US" sz="1600" dirty="0" smtClean="0"/>
              <a:t>校验时间</a:t>
            </a:r>
            <a:endParaRPr lang="zh-CN" altLang="en-US" sz="1600" dirty="0"/>
          </a:p>
        </p:txBody>
      </p:sp>
      <p:sp>
        <p:nvSpPr>
          <p:cNvPr id="25" name="TextBox 24"/>
          <p:cNvSpPr txBox="1"/>
          <p:nvPr/>
        </p:nvSpPr>
        <p:spPr>
          <a:xfrm>
            <a:off x="1956731" y="4258640"/>
            <a:ext cx="1047720" cy="338554"/>
          </a:xfrm>
          <a:prstGeom prst="rect">
            <a:avLst/>
          </a:prstGeom>
          <a:noFill/>
        </p:spPr>
        <p:txBody>
          <a:bodyPr wrap="square" rtlCol="0">
            <a:spAutoFit/>
          </a:bodyPr>
          <a:lstStyle/>
          <a:p>
            <a:r>
              <a:rPr lang="zh-CN" altLang="en-US" sz="1600" dirty="0" smtClean="0"/>
              <a:t>校验方法</a:t>
            </a:r>
            <a:endParaRPr lang="zh-CN" altLang="en-US" sz="1600" dirty="0"/>
          </a:p>
        </p:txBody>
      </p:sp>
      <p:sp>
        <p:nvSpPr>
          <p:cNvPr id="26" name="TextBox 25"/>
          <p:cNvSpPr txBox="1"/>
          <p:nvPr/>
        </p:nvSpPr>
        <p:spPr>
          <a:xfrm>
            <a:off x="1990811" y="4570671"/>
            <a:ext cx="1047720" cy="584775"/>
          </a:xfrm>
          <a:prstGeom prst="rect">
            <a:avLst/>
          </a:prstGeom>
          <a:noFill/>
        </p:spPr>
        <p:txBody>
          <a:bodyPr wrap="square" rtlCol="0">
            <a:spAutoFit/>
          </a:bodyPr>
          <a:lstStyle/>
          <a:p>
            <a:r>
              <a:rPr lang="zh-CN" altLang="en-US" sz="1600" dirty="0" smtClean="0"/>
              <a:t>校验签名</a:t>
            </a:r>
            <a:endParaRPr lang="en-US" altLang="zh-CN" sz="1600" dirty="0" smtClean="0"/>
          </a:p>
          <a:p>
            <a:r>
              <a:rPr lang="en-US" altLang="zh-CN" sz="1600" dirty="0" smtClean="0"/>
              <a:t>…….</a:t>
            </a:r>
            <a:endParaRPr lang="zh-CN" altLang="en-US" sz="1600" dirty="0"/>
          </a:p>
        </p:txBody>
      </p:sp>
      <p:sp>
        <p:nvSpPr>
          <p:cNvPr id="27" name="流程图: 准备 26"/>
          <p:cNvSpPr/>
          <p:nvPr/>
        </p:nvSpPr>
        <p:spPr>
          <a:xfrm>
            <a:off x="3245590" y="6311702"/>
            <a:ext cx="2724072" cy="488936"/>
          </a:xfrm>
          <a:prstGeom prst="flowChartPreparati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统一</a:t>
            </a:r>
            <a:r>
              <a:rPr lang="zh-CN" altLang="en-US" dirty="0" smtClean="0"/>
              <a:t>配置中心</a:t>
            </a:r>
            <a:endParaRPr lang="zh-CN" altLang="en-US" dirty="0"/>
          </a:p>
        </p:txBody>
      </p:sp>
      <p:cxnSp>
        <p:nvCxnSpPr>
          <p:cNvPr id="29" name="直接箭头连接符 28"/>
          <p:cNvCxnSpPr>
            <a:stCxn id="27" idx="0"/>
          </p:cNvCxnSpPr>
          <p:nvPr/>
        </p:nvCxnSpPr>
        <p:spPr>
          <a:xfrm flipH="1" flipV="1">
            <a:off x="2999718" y="5672651"/>
            <a:ext cx="1607908" cy="639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圆角矩形 29"/>
          <p:cNvSpPr/>
          <p:nvPr/>
        </p:nvSpPr>
        <p:spPr>
          <a:xfrm>
            <a:off x="3359505" y="2041710"/>
            <a:ext cx="1470707" cy="363209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2" name="TextBox 31"/>
          <p:cNvSpPr txBox="1"/>
          <p:nvPr/>
        </p:nvSpPr>
        <p:spPr>
          <a:xfrm>
            <a:off x="3288230" y="1662708"/>
            <a:ext cx="1671477" cy="369332"/>
          </a:xfrm>
          <a:prstGeom prst="rect">
            <a:avLst/>
          </a:prstGeom>
          <a:noFill/>
        </p:spPr>
        <p:txBody>
          <a:bodyPr wrap="square" rtlCol="0">
            <a:spAutoFit/>
          </a:bodyPr>
          <a:lstStyle/>
          <a:p>
            <a:r>
              <a:rPr lang="zh-CN" altLang="en-US" dirty="0" smtClean="0"/>
              <a:t>网关接入分发</a:t>
            </a:r>
            <a:endParaRPr lang="zh-CN" altLang="en-US" dirty="0"/>
          </a:p>
        </p:txBody>
      </p:sp>
      <p:sp>
        <p:nvSpPr>
          <p:cNvPr id="33" name="圆角矩形 32"/>
          <p:cNvSpPr/>
          <p:nvPr/>
        </p:nvSpPr>
        <p:spPr>
          <a:xfrm>
            <a:off x="3490948" y="2241584"/>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solidFill>
                  <a:srgbClr val="00B0F0"/>
                </a:solidFill>
              </a:rPr>
              <a:t>风</a:t>
            </a:r>
            <a:r>
              <a:rPr lang="zh-CN" altLang="en-US" dirty="0" smtClean="0">
                <a:solidFill>
                  <a:srgbClr val="00B0F0"/>
                </a:solidFill>
              </a:rPr>
              <a:t>控校验</a:t>
            </a:r>
            <a:endParaRPr lang="zh-CN" altLang="en-US" dirty="0">
              <a:solidFill>
                <a:srgbClr val="00B0F0"/>
              </a:solidFill>
            </a:endParaRPr>
          </a:p>
        </p:txBody>
      </p:sp>
      <p:sp>
        <p:nvSpPr>
          <p:cNvPr id="34" name="圆角矩形 33"/>
          <p:cNvSpPr/>
          <p:nvPr/>
        </p:nvSpPr>
        <p:spPr>
          <a:xfrm>
            <a:off x="3461838" y="3368822"/>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solidFill>
                  <a:srgbClr val="00B0F0"/>
                </a:solidFill>
              </a:rPr>
              <a:t>路由选择</a:t>
            </a:r>
            <a:endParaRPr lang="zh-CN" altLang="en-US" dirty="0">
              <a:solidFill>
                <a:srgbClr val="00B0F0"/>
              </a:solidFill>
            </a:endParaRPr>
          </a:p>
        </p:txBody>
      </p:sp>
      <p:sp>
        <p:nvSpPr>
          <p:cNvPr id="35" name="圆角矩形 34"/>
          <p:cNvSpPr/>
          <p:nvPr/>
        </p:nvSpPr>
        <p:spPr>
          <a:xfrm>
            <a:off x="3490947" y="4597194"/>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solidFill>
                  <a:srgbClr val="00B0F0"/>
                </a:solidFill>
              </a:rPr>
              <a:t>接口调用</a:t>
            </a:r>
            <a:endParaRPr lang="zh-CN" altLang="en-US" dirty="0">
              <a:solidFill>
                <a:srgbClr val="00B0F0"/>
              </a:solidFill>
            </a:endParaRPr>
          </a:p>
        </p:txBody>
      </p:sp>
      <p:sp>
        <p:nvSpPr>
          <p:cNvPr id="36" name="圆角矩形 35"/>
          <p:cNvSpPr/>
          <p:nvPr/>
        </p:nvSpPr>
        <p:spPr>
          <a:xfrm>
            <a:off x="5411580" y="1631603"/>
            <a:ext cx="2932212" cy="417223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zh-CN" altLang="en-US" dirty="0"/>
          </a:p>
        </p:txBody>
      </p:sp>
      <p:sp>
        <p:nvSpPr>
          <p:cNvPr id="37" name="TextBox 36"/>
          <p:cNvSpPr txBox="1"/>
          <p:nvPr/>
        </p:nvSpPr>
        <p:spPr>
          <a:xfrm>
            <a:off x="6005288" y="1146664"/>
            <a:ext cx="1396960" cy="461665"/>
          </a:xfrm>
          <a:prstGeom prst="rect">
            <a:avLst/>
          </a:prstGeom>
          <a:noFill/>
        </p:spPr>
        <p:txBody>
          <a:bodyPr wrap="square" rtlCol="0">
            <a:spAutoFit/>
          </a:bodyPr>
          <a:lstStyle/>
          <a:p>
            <a:r>
              <a:rPr lang="zh-CN" altLang="en-US" sz="2400" b="1" dirty="0" smtClean="0"/>
              <a:t>渠道</a:t>
            </a:r>
            <a:endParaRPr lang="zh-CN" altLang="en-US" sz="2400" b="1" dirty="0"/>
          </a:p>
        </p:txBody>
      </p:sp>
      <p:sp>
        <p:nvSpPr>
          <p:cNvPr id="38" name="右箭头 37"/>
          <p:cNvSpPr/>
          <p:nvPr/>
        </p:nvSpPr>
        <p:spPr>
          <a:xfrm>
            <a:off x="5054498" y="3331505"/>
            <a:ext cx="273055" cy="563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5549872" y="2041710"/>
            <a:ext cx="1327112" cy="363209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9" name="圆角矩形 38"/>
          <p:cNvSpPr/>
          <p:nvPr/>
        </p:nvSpPr>
        <p:spPr>
          <a:xfrm>
            <a:off x="5528723" y="2393984"/>
            <a:ext cx="1266039" cy="4889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solidFill>
                  <a:srgbClr val="00B0F0"/>
                </a:solidFill>
              </a:rPr>
              <a:t>限流</a:t>
            </a:r>
            <a:r>
              <a:rPr lang="zh-CN" altLang="en-US" dirty="0" smtClean="0">
                <a:solidFill>
                  <a:srgbClr val="00B0F0"/>
                </a:solidFill>
              </a:rPr>
              <a:t>配置</a:t>
            </a:r>
            <a:endParaRPr lang="zh-CN" altLang="en-US" dirty="0">
              <a:solidFill>
                <a:srgbClr val="00B0F0"/>
              </a:solidFill>
            </a:endParaRPr>
          </a:p>
        </p:txBody>
      </p:sp>
      <p:cxnSp>
        <p:nvCxnSpPr>
          <p:cNvPr id="40" name="直接箭头连接符 39"/>
          <p:cNvCxnSpPr/>
          <p:nvPr/>
        </p:nvCxnSpPr>
        <p:spPr>
          <a:xfrm>
            <a:off x="6154917" y="2927137"/>
            <a:ext cx="6825" cy="393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流程图: 准备 3"/>
          <p:cNvSpPr/>
          <p:nvPr/>
        </p:nvSpPr>
        <p:spPr>
          <a:xfrm>
            <a:off x="5549872" y="3400972"/>
            <a:ext cx="1327111" cy="1754474"/>
          </a:xfrm>
          <a:prstGeom prst="flowChartPreparatio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TextBox 8"/>
          <p:cNvSpPr txBox="1"/>
          <p:nvPr/>
        </p:nvSpPr>
        <p:spPr>
          <a:xfrm>
            <a:off x="5647818" y="3580647"/>
            <a:ext cx="1055950" cy="338554"/>
          </a:xfrm>
          <a:prstGeom prst="rect">
            <a:avLst/>
          </a:prstGeom>
          <a:noFill/>
        </p:spPr>
        <p:txBody>
          <a:bodyPr wrap="square" rtlCol="0">
            <a:spAutoFit/>
          </a:bodyPr>
          <a:lstStyle/>
          <a:p>
            <a:r>
              <a:rPr lang="zh-CN" altLang="en-US" sz="1600" dirty="0" smtClean="0"/>
              <a:t>银行类型</a:t>
            </a:r>
            <a:endParaRPr lang="zh-CN" altLang="en-US" sz="1600" dirty="0"/>
          </a:p>
        </p:txBody>
      </p:sp>
      <p:sp>
        <p:nvSpPr>
          <p:cNvPr id="41" name="TextBox 40"/>
          <p:cNvSpPr txBox="1"/>
          <p:nvPr/>
        </p:nvSpPr>
        <p:spPr>
          <a:xfrm>
            <a:off x="5647818" y="3961961"/>
            <a:ext cx="1055950" cy="338554"/>
          </a:xfrm>
          <a:prstGeom prst="rect">
            <a:avLst/>
          </a:prstGeom>
          <a:noFill/>
        </p:spPr>
        <p:txBody>
          <a:bodyPr wrap="square" rtlCol="0">
            <a:spAutoFit/>
          </a:bodyPr>
          <a:lstStyle/>
          <a:p>
            <a:r>
              <a:rPr lang="zh-CN" altLang="en-US" sz="1600" dirty="0" smtClean="0"/>
              <a:t>接口方法</a:t>
            </a:r>
            <a:endParaRPr lang="zh-CN" altLang="en-US" sz="1600" dirty="0"/>
          </a:p>
        </p:txBody>
      </p:sp>
      <p:sp>
        <p:nvSpPr>
          <p:cNvPr id="10" name="TextBox 9"/>
          <p:cNvSpPr txBox="1"/>
          <p:nvPr/>
        </p:nvSpPr>
        <p:spPr>
          <a:xfrm>
            <a:off x="5703617" y="4299752"/>
            <a:ext cx="944352" cy="646331"/>
          </a:xfrm>
          <a:prstGeom prst="rect">
            <a:avLst/>
          </a:prstGeom>
          <a:noFill/>
        </p:spPr>
        <p:txBody>
          <a:bodyPr wrap="square" rtlCol="0">
            <a:spAutoFit/>
          </a:bodyPr>
          <a:lstStyle/>
          <a:p>
            <a:r>
              <a:rPr lang="zh-CN" altLang="en-US" dirty="0" smtClean="0"/>
              <a:t> 次数 </a:t>
            </a:r>
            <a:endParaRPr lang="en-US" altLang="zh-CN" dirty="0" smtClean="0"/>
          </a:p>
          <a:p>
            <a:r>
              <a:rPr lang="en-US" altLang="zh-CN" dirty="0"/>
              <a:t> </a:t>
            </a:r>
            <a:r>
              <a:rPr lang="zh-CN" altLang="en-US" dirty="0" smtClean="0"/>
              <a:t>超时</a:t>
            </a:r>
            <a:endParaRPr lang="en-US" altLang="zh-CN" dirty="0" smtClean="0"/>
          </a:p>
        </p:txBody>
      </p:sp>
      <p:cxnSp>
        <p:nvCxnSpPr>
          <p:cNvPr id="16" name="直接箭头连接符 15"/>
          <p:cNvCxnSpPr>
            <a:stCxn id="27" idx="0"/>
          </p:cNvCxnSpPr>
          <p:nvPr/>
        </p:nvCxnSpPr>
        <p:spPr>
          <a:xfrm flipV="1">
            <a:off x="4607626" y="5673806"/>
            <a:ext cx="1291486" cy="6378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流程图: 准备 16"/>
          <p:cNvSpPr/>
          <p:nvPr/>
        </p:nvSpPr>
        <p:spPr>
          <a:xfrm>
            <a:off x="7079650" y="2239609"/>
            <a:ext cx="1189217" cy="396868"/>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中行</a:t>
            </a:r>
            <a:endParaRPr lang="zh-CN" altLang="en-US" dirty="0"/>
          </a:p>
        </p:txBody>
      </p:sp>
      <p:sp>
        <p:nvSpPr>
          <p:cNvPr id="42" name="流程图: 准备 41"/>
          <p:cNvSpPr/>
          <p:nvPr/>
        </p:nvSpPr>
        <p:spPr>
          <a:xfrm>
            <a:off x="7081002" y="3004104"/>
            <a:ext cx="1189217" cy="396868"/>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农行</a:t>
            </a:r>
            <a:endParaRPr lang="zh-CN" altLang="en-US" dirty="0"/>
          </a:p>
        </p:txBody>
      </p:sp>
      <p:sp>
        <p:nvSpPr>
          <p:cNvPr id="43" name="流程图: 准备 42"/>
          <p:cNvSpPr/>
          <p:nvPr/>
        </p:nvSpPr>
        <p:spPr>
          <a:xfrm>
            <a:off x="7126403" y="3848088"/>
            <a:ext cx="1189217" cy="396868"/>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工行</a:t>
            </a:r>
            <a:endParaRPr lang="zh-CN" altLang="en-US" dirty="0"/>
          </a:p>
        </p:txBody>
      </p:sp>
      <p:sp>
        <p:nvSpPr>
          <p:cNvPr id="44" name="流程图: 准备 43"/>
          <p:cNvSpPr/>
          <p:nvPr/>
        </p:nvSpPr>
        <p:spPr>
          <a:xfrm>
            <a:off x="7105257" y="4747649"/>
            <a:ext cx="1189217" cy="396868"/>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建行</a:t>
            </a:r>
            <a:endParaRPr lang="zh-CN" altLang="en-US" dirty="0"/>
          </a:p>
        </p:txBody>
      </p:sp>
      <p:sp>
        <p:nvSpPr>
          <p:cNvPr id="19" name="TextBox 18"/>
          <p:cNvSpPr txBox="1"/>
          <p:nvPr/>
        </p:nvSpPr>
        <p:spPr>
          <a:xfrm>
            <a:off x="5899112" y="4863058"/>
            <a:ext cx="748857" cy="646331"/>
          </a:xfrm>
          <a:prstGeom prst="rect">
            <a:avLst/>
          </a:prstGeom>
          <a:noFill/>
        </p:spPr>
        <p:txBody>
          <a:bodyPr wrap="square" rtlCol="0">
            <a:spAutoFit/>
          </a:bodyPr>
          <a:lstStyle/>
          <a:p>
            <a:r>
              <a:rPr lang="en-US" altLang="zh-CN" dirty="0"/>
              <a:t>…….</a:t>
            </a:r>
            <a:endParaRPr lang="zh-CN" altLang="en-US" dirty="0"/>
          </a:p>
          <a:p>
            <a:endParaRPr lang="zh-CN" altLang="en-US" dirty="0"/>
          </a:p>
        </p:txBody>
      </p:sp>
    </p:spTree>
    <p:extLst>
      <p:ext uri="{BB962C8B-B14F-4D97-AF65-F5344CB8AC3E}">
        <p14:creationId xmlns:p14="http://schemas.microsoft.com/office/powerpoint/2010/main" val="6284199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lvl="0"/>
            <a:fld id="{9A0DB2DC-4C9A-4742-B13C-FB6460FD3503}" type="slidenum">
              <a:rPr lang="zh-CN" altLang="en-US" dirty="0"/>
              <a:t>27</a:t>
            </a:fld>
            <a:endParaRPr lang="zh-CN" altLang="en-US" dirty="0"/>
          </a:p>
        </p:txBody>
      </p:sp>
      <p:pic>
        <p:nvPicPr>
          <p:cNvPr id="8" name="Picture 7" descr="130330_Midea_logo-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8653" y="-27940"/>
            <a:ext cx="2014795" cy="1008922"/>
          </a:xfrm>
          <a:prstGeom prst="rect">
            <a:avLst/>
          </a:prstGeom>
        </p:spPr>
      </p:pic>
      <p:sp>
        <p:nvSpPr>
          <p:cNvPr id="12" name="AutoShape 7"/>
          <p:cNvSpPr>
            <a:spLocks noChangeArrowheads="1"/>
          </p:cNvSpPr>
          <p:nvPr/>
        </p:nvSpPr>
        <p:spPr bwMode="auto">
          <a:xfrm>
            <a:off x="101728" y="128705"/>
            <a:ext cx="6635560" cy="576223"/>
          </a:xfrm>
          <a:prstGeom prst="roundRect">
            <a:avLst>
              <a:gd name="adj" fmla="val 0"/>
            </a:avLst>
          </a:prstGeom>
          <a:noFill/>
          <a:ln w="3175">
            <a:solidFill>
              <a:srgbClr val="C0C0C0"/>
            </a:solidFill>
            <a:round/>
          </a:ln>
        </p:spPr>
        <p:txBody>
          <a:bodyPr anchor="ctr"/>
          <a:lstStyle/>
          <a:p>
            <a:pPr marL="342900" indent="-342900" eaLnBrk="0" hangingPunct="0">
              <a:lnSpc>
                <a:spcPct val="130000"/>
              </a:lnSpc>
              <a:spcBef>
                <a:spcPct val="20000"/>
              </a:spcBef>
              <a:buClr>
                <a:srgbClr val="0099EF"/>
              </a:buClr>
            </a:pPr>
            <a:r>
              <a:rPr lang="zh-CN" altLang="en-US" sz="3000" dirty="0">
                <a:latin typeface="华文新魏" panose="02010800040101010101" pitchFamily="2" charset="-122"/>
                <a:ea typeface="华文新魏" panose="02010800040101010101" pitchFamily="2" charset="-122"/>
              </a:rPr>
              <a:t>网关的限流想法</a:t>
            </a:r>
            <a:r>
              <a:rPr lang="en-US" altLang="zh-CN" sz="3000" dirty="0">
                <a:latin typeface="华文新魏" panose="02010800040101010101" pitchFamily="2" charset="-122"/>
                <a:ea typeface="华文新魏" panose="02010800040101010101" pitchFamily="2" charset="-122"/>
              </a:rPr>
              <a:t>—</a:t>
            </a:r>
            <a:r>
              <a:rPr lang="zh-CN" altLang="en-US" sz="3000" dirty="0">
                <a:latin typeface="华文新魏" panose="02010800040101010101" pitchFamily="2" charset="-122"/>
                <a:ea typeface="华文新魏" panose="02010800040101010101" pitchFamily="2" charset="-122"/>
              </a:rPr>
              <a:t>快速</a:t>
            </a:r>
            <a:r>
              <a:rPr lang="zh-CN" altLang="en-US" sz="3000" dirty="0" smtClean="0">
                <a:latin typeface="华文新魏" panose="02010800040101010101" pitchFamily="2" charset="-122"/>
                <a:ea typeface="华文新魏" panose="02010800040101010101" pitchFamily="2" charset="-122"/>
              </a:rPr>
              <a:t>失败</a:t>
            </a:r>
            <a:endParaRPr lang="zh-CN" altLang="en-US" sz="3000" dirty="0">
              <a:latin typeface="华文新魏" panose="02010800040101010101" pitchFamily="2" charset="-122"/>
              <a:ea typeface="华文新魏" panose="02010800040101010101" pitchFamily="2" charset="-122"/>
            </a:endParaRPr>
          </a:p>
        </p:txBody>
      </p:sp>
      <p:sp>
        <p:nvSpPr>
          <p:cNvPr id="2" name="圆角矩形 1"/>
          <p:cNvSpPr/>
          <p:nvPr/>
        </p:nvSpPr>
        <p:spPr>
          <a:xfrm>
            <a:off x="2197168" y="1612952"/>
            <a:ext cx="2095440" cy="335270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TextBox 3"/>
          <p:cNvSpPr txBox="1"/>
          <p:nvPr/>
        </p:nvSpPr>
        <p:spPr>
          <a:xfrm>
            <a:off x="2860724" y="1204393"/>
            <a:ext cx="1431884" cy="369332"/>
          </a:xfrm>
          <a:prstGeom prst="rect">
            <a:avLst/>
          </a:prstGeom>
          <a:noFill/>
        </p:spPr>
        <p:txBody>
          <a:bodyPr wrap="square" rtlCol="0">
            <a:spAutoFit/>
          </a:bodyPr>
          <a:lstStyle/>
          <a:p>
            <a:r>
              <a:rPr lang="zh-CN" altLang="en-US" b="1" dirty="0" smtClean="0"/>
              <a:t>网关</a:t>
            </a:r>
            <a:endParaRPr lang="zh-CN" altLang="en-US" b="1" dirty="0"/>
          </a:p>
        </p:txBody>
      </p:sp>
      <p:sp>
        <p:nvSpPr>
          <p:cNvPr id="7" name="圆角矩形 6"/>
          <p:cNvSpPr/>
          <p:nvPr/>
        </p:nvSpPr>
        <p:spPr>
          <a:xfrm>
            <a:off x="5759416" y="1592274"/>
            <a:ext cx="1304665" cy="283947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TextBox 8"/>
          <p:cNvSpPr txBox="1"/>
          <p:nvPr/>
        </p:nvSpPr>
        <p:spPr>
          <a:xfrm>
            <a:off x="5899112" y="1190289"/>
            <a:ext cx="1431884" cy="369332"/>
          </a:xfrm>
          <a:prstGeom prst="rect">
            <a:avLst/>
          </a:prstGeom>
          <a:noFill/>
        </p:spPr>
        <p:txBody>
          <a:bodyPr wrap="square" rtlCol="0">
            <a:spAutoFit/>
          </a:bodyPr>
          <a:lstStyle/>
          <a:p>
            <a:r>
              <a:rPr lang="zh-CN" altLang="en-US" b="1" dirty="0" smtClean="0"/>
              <a:t>银行核心</a:t>
            </a:r>
            <a:endParaRPr lang="zh-CN" altLang="en-US" b="1" dirty="0"/>
          </a:p>
        </p:txBody>
      </p:sp>
      <p:sp>
        <p:nvSpPr>
          <p:cNvPr id="5" name="右箭头 4"/>
          <p:cNvSpPr/>
          <p:nvPr/>
        </p:nvSpPr>
        <p:spPr>
          <a:xfrm>
            <a:off x="381120" y="2590824"/>
            <a:ext cx="1816048" cy="2095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67206" y="2221492"/>
            <a:ext cx="1043876" cy="369332"/>
          </a:xfrm>
          <a:prstGeom prst="rect">
            <a:avLst/>
          </a:prstGeom>
        </p:spPr>
        <p:txBody>
          <a:bodyPr wrap="none">
            <a:spAutoFit/>
          </a:bodyPr>
          <a:lstStyle/>
          <a:p>
            <a:r>
              <a:rPr lang="en-US" altLang="zh-CN" dirty="0"/>
              <a:t>Request</a:t>
            </a:r>
            <a:endParaRPr lang="zh-CN" altLang="en-US" dirty="0"/>
          </a:p>
        </p:txBody>
      </p:sp>
      <p:sp>
        <p:nvSpPr>
          <p:cNvPr id="13" name="左箭头 12"/>
          <p:cNvSpPr/>
          <p:nvPr/>
        </p:nvSpPr>
        <p:spPr>
          <a:xfrm>
            <a:off x="450968" y="3645637"/>
            <a:ext cx="2409756" cy="27939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712609" y="3323668"/>
            <a:ext cx="1709354" cy="923330"/>
          </a:xfrm>
          <a:prstGeom prst="rect">
            <a:avLst/>
          </a:prstGeom>
          <a:noFill/>
        </p:spPr>
        <p:txBody>
          <a:bodyPr wrap="square" rtlCol="0">
            <a:spAutoFit/>
          </a:bodyPr>
          <a:lstStyle/>
          <a:p>
            <a:r>
              <a:rPr lang="zh-CN" altLang="en-US" dirty="0" smtClean="0"/>
              <a:t>大于阈值，</a:t>
            </a:r>
            <a:endParaRPr lang="en-US" altLang="zh-CN" dirty="0" smtClean="0"/>
          </a:p>
          <a:p>
            <a:endParaRPr lang="en-US" altLang="zh-CN" dirty="0"/>
          </a:p>
          <a:p>
            <a:r>
              <a:rPr lang="en-US" altLang="zh-CN" dirty="0" smtClean="0"/>
              <a:t>Mock</a:t>
            </a:r>
            <a:r>
              <a:rPr lang="zh-CN" altLang="en-US" dirty="0" smtClean="0"/>
              <a:t>状态</a:t>
            </a:r>
            <a:endParaRPr lang="zh-CN" altLang="en-US" dirty="0"/>
          </a:p>
        </p:txBody>
      </p:sp>
      <p:sp>
        <p:nvSpPr>
          <p:cNvPr id="17" name="右箭头 16"/>
          <p:cNvSpPr/>
          <p:nvPr/>
        </p:nvSpPr>
        <p:spPr>
          <a:xfrm>
            <a:off x="3559204" y="2695596"/>
            <a:ext cx="2200212" cy="104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磁盘 17"/>
          <p:cNvSpPr/>
          <p:nvPr/>
        </p:nvSpPr>
        <p:spPr>
          <a:xfrm>
            <a:off x="7854856" y="1879905"/>
            <a:ext cx="977872" cy="1840926"/>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右箭头 19"/>
          <p:cNvSpPr/>
          <p:nvPr/>
        </p:nvSpPr>
        <p:spPr>
          <a:xfrm>
            <a:off x="7064080" y="2747982"/>
            <a:ext cx="790775" cy="3214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2197168" y="5448333"/>
            <a:ext cx="2095440" cy="1187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补单</a:t>
            </a:r>
            <a:r>
              <a:rPr lang="en-US" altLang="zh-CN" dirty="0" smtClean="0"/>
              <a:t>job</a:t>
            </a:r>
            <a:endParaRPr lang="zh-CN" altLang="en-US" dirty="0"/>
          </a:p>
        </p:txBody>
      </p:sp>
      <p:cxnSp>
        <p:nvCxnSpPr>
          <p:cNvPr id="26" name="曲线连接符 25"/>
          <p:cNvCxnSpPr>
            <a:stCxn id="21" idx="3"/>
            <a:endCxn id="7" idx="2"/>
          </p:cNvCxnSpPr>
          <p:nvPr/>
        </p:nvCxnSpPr>
        <p:spPr>
          <a:xfrm flipV="1">
            <a:off x="4292608" y="4431750"/>
            <a:ext cx="2119141" cy="1610291"/>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2755952" y="2406158"/>
            <a:ext cx="803252" cy="20255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阈值</a:t>
            </a:r>
            <a:endParaRPr lang="zh-CN" altLang="en-US" dirty="0"/>
          </a:p>
        </p:txBody>
      </p:sp>
    </p:spTree>
    <p:extLst>
      <p:ext uri="{BB962C8B-B14F-4D97-AF65-F5344CB8AC3E}">
        <p14:creationId xmlns:p14="http://schemas.microsoft.com/office/powerpoint/2010/main" val="17939519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2" name="Picture 2" descr="D:\SLIDEtoME\TP模板\新建文件夹 (3)\bg8.jpg"/>
          <p:cNvPicPr>
            <a:picLocks noChangeAspect="1"/>
          </p:cNvPicPr>
          <p:nvPr/>
        </p:nvPicPr>
        <p:blipFill>
          <a:blip r:embed="rId2" cstate="print"/>
          <a:stretch>
            <a:fillRect/>
          </a:stretch>
        </p:blipFill>
        <p:spPr>
          <a:xfrm>
            <a:off x="-1270" y="-952"/>
            <a:ext cx="9147175" cy="6859587"/>
          </a:xfrm>
          <a:prstGeom prst="rect">
            <a:avLst/>
          </a:prstGeom>
          <a:noFill/>
          <a:ln w="9525">
            <a:noFill/>
          </a:ln>
        </p:spPr>
      </p:pic>
      <p:sp>
        <p:nvSpPr>
          <p:cNvPr id="15364" name="标题 6"/>
          <p:cNvSpPr>
            <a:spLocks noGrp="1"/>
          </p:cNvSpPr>
          <p:nvPr>
            <p:ph type="ctrTitle"/>
          </p:nvPr>
        </p:nvSpPr>
        <p:spPr>
          <a:xfrm>
            <a:off x="2895648" y="2566990"/>
            <a:ext cx="2863768" cy="792162"/>
          </a:xfrm>
        </p:spPr>
        <p:txBody>
          <a:bodyPr vert="horz" anchor="ctr">
            <a:normAutofit/>
          </a:bodyPr>
          <a:lstStyle/>
          <a:p>
            <a:pPr>
              <a:buNone/>
            </a:pPr>
            <a:r>
              <a:rPr lang="zh-CN" altLang="en-US" sz="3200" b="1" kern="1200" dirty="0" smtClean="0">
                <a:latin typeface="Arial Black" panose="020B0A04020102020204" charset="0"/>
                <a:ea typeface="微软雅黑" panose="020B0503020204020204" charset="-122"/>
                <a:sym typeface="Arial Black" panose="020B0A04020102020204" charset="0"/>
              </a:rPr>
              <a:t>感谢</a:t>
            </a:r>
            <a:r>
              <a:rPr lang="zh-CN" altLang="en-US" sz="3200" b="1" kern="1200" dirty="0">
                <a:latin typeface="Arial Black" panose="020B0A04020102020204" charset="0"/>
                <a:ea typeface="微软雅黑" panose="020B0503020204020204" charset="-122"/>
                <a:sym typeface="Arial Black" panose="020B0A04020102020204" charset="0"/>
              </a:rPr>
              <a:t>观映</a:t>
            </a:r>
            <a:endParaRPr lang="zh-CN" altLang="en-US" sz="3200" kern="1200" dirty="0">
              <a:latin typeface="Arial Black" panose="020B0A04020102020204" charset="0"/>
              <a:ea typeface="微软雅黑" panose="020B0503020204020204" charset="-122"/>
              <a:sym typeface="Arial Black" panose="020B0A04020102020204" charset="0"/>
            </a:endParaRPr>
          </a:p>
        </p:txBody>
      </p:sp>
      <p:sp>
        <p:nvSpPr>
          <p:cNvPr id="15365" name="副标题 7"/>
          <p:cNvSpPr>
            <a:spLocks noGrp="1"/>
          </p:cNvSpPr>
          <p:nvPr>
            <p:ph type="subTitle" idx="1"/>
          </p:nvPr>
        </p:nvSpPr>
        <p:spPr>
          <a:xfrm>
            <a:off x="3803672" y="3429000"/>
            <a:ext cx="2863768" cy="504825"/>
          </a:xfrm>
        </p:spPr>
        <p:txBody>
          <a:bodyPr vert="horz">
            <a:normAutofit/>
          </a:bodyPr>
          <a:lstStyle/>
          <a:p>
            <a:pPr defTabSz="914400">
              <a:buSzPct val="70000"/>
              <a:buFont typeface="Wingdings" panose="05000000000000000000" pitchFamily="2" charset="2"/>
              <a:buNone/>
            </a:pPr>
            <a:r>
              <a:rPr lang="zh-CN" altLang="en-US" sz="2400" b="0" kern="1200" dirty="0">
                <a:latin typeface="Arial" panose="020B0604020202020204" pitchFamily="34" charset="0"/>
                <a:ea typeface="微软雅黑" panose="020B0503020204020204" charset="-122"/>
                <a:sym typeface="Arial" panose="020B0604020202020204" pitchFamily="34" charset="0"/>
              </a:rPr>
              <a:t>美</a:t>
            </a:r>
            <a:r>
              <a:rPr lang="zh-CN" altLang="en-US" sz="2400" b="0" kern="1200" dirty="0" smtClean="0">
                <a:latin typeface="Arial" panose="020B0604020202020204" pitchFamily="34" charset="0"/>
                <a:ea typeface="微软雅黑" panose="020B0503020204020204" charset="-122"/>
                <a:sym typeface="Arial" panose="020B0604020202020204" pitchFamily="34" charset="0"/>
              </a:rPr>
              <a:t>的支付</a:t>
            </a:r>
            <a:endParaRPr lang="zh-CN" altLang="en-US" sz="2400" b="0" kern="1200" dirty="0">
              <a:latin typeface="Arial" panose="020B0604020202020204" pitchFamily="34" charset="0"/>
              <a:ea typeface="微软雅黑" panose="020B0503020204020204" charset="-122"/>
              <a:sym typeface="Arial" panose="020B0604020202020204" pitchFamily="34" charset="0"/>
            </a:endParaRPr>
          </a:p>
        </p:txBody>
      </p:sp>
      <p:pic>
        <p:nvPicPr>
          <p:cNvPr id="8" name="Picture 7" descr="130330_Midea_logo-01.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9205" y="0"/>
            <a:ext cx="2014795" cy="100892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素材夹_0087">
  <a:themeElements>
    <a:clrScheme name="">
      <a:dk1>
        <a:srgbClr val="111111"/>
      </a:dk1>
      <a:lt1>
        <a:srgbClr val="FFFFFF"/>
      </a:lt1>
      <a:dk2>
        <a:srgbClr val="777777"/>
      </a:dk2>
      <a:lt2>
        <a:srgbClr val="B2B2B2"/>
      </a:lt2>
      <a:accent1>
        <a:srgbClr val="777777"/>
      </a:accent1>
      <a:accent2>
        <a:srgbClr val="B2B2B2"/>
      </a:accent2>
      <a:accent3>
        <a:srgbClr val="FFFFFF"/>
      </a:accent3>
      <a:accent4>
        <a:srgbClr val="0D0D0D"/>
      </a:accent4>
      <a:accent5>
        <a:srgbClr val="BEBEBE"/>
      </a:accent5>
      <a:accent6>
        <a:srgbClr val="9F9F9F"/>
      </a:accent6>
      <a:hlink>
        <a:srgbClr val="373737"/>
      </a:hlink>
      <a:folHlink>
        <a:srgbClr val="6E6E6E"/>
      </a:folHlink>
    </a:clrScheme>
    <a:fontScheme name="">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111111"/>
      </a:dk1>
      <a:lt1>
        <a:srgbClr val="FFFFFF"/>
      </a:lt1>
      <a:dk2>
        <a:srgbClr val="777777"/>
      </a:dk2>
      <a:lt2>
        <a:srgbClr val="B2B2B2"/>
      </a:lt2>
      <a:accent1>
        <a:srgbClr val="777777"/>
      </a:accent1>
      <a:accent2>
        <a:srgbClr val="B2B2B2"/>
      </a:accent2>
      <a:accent3>
        <a:srgbClr val="FFFFFF"/>
      </a:accent3>
      <a:accent4>
        <a:srgbClr val="0D0D0D"/>
      </a:accent4>
      <a:accent5>
        <a:srgbClr val="BEBEBE"/>
      </a:accent5>
      <a:accent6>
        <a:srgbClr val="9F9F9F"/>
      </a:accent6>
      <a:hlink>
        <a:srgbClr val="373737"/>
      </a:hlink>
      <a:folHlink>
        <a:srgbClr val="6E6E6E"/>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7767</TotalTime>
  <Words>1639</Words>
  <Application>Microsoft Office PowerPoint</Application>
  <PresentationFormat>全屏显示(4:3)</PresentationFormat>
  <Paragraphs>193</Paragraphs>
  <Slides>28</Slides>
  <Notes>0</Notes>
  <HiddenSlides>0</HiddenSlides>
  <MMClips>0</MMClips>
  <ScaleCrop>false</ScaleCrop>
  <HeadingPairs>
    <vt:vector size="4" baseType="variant">
      <vt:variant>
        <vt:lpstr>主题</vt:lpstr>
      </vt:variant>
      <vt:variant>
        <vt:i4>2</vt:i4>
      </vt:variant>
      <vt:variant>
        <vt:lpstr>幻灯片标题</vt:lpstr>
      </vt:variant>
      <vt:variant>
        <vt:i4>28</vt:i4>
      </vt:variant>
    </vt:vector>
  </HeadingPairs>
  <TitlesOfParts>
    <vt:vector size="30" baseType="lpstr">
      <vt:lpstr>PPT素材夹_0087</vt:lpstr>
      <vt:lpstr>默认设计模板_2</vt:lpstr>
      <vt:lpstr>限流技术分享</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感谢观映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点击此处添加幻灯主标题</dc:title>
  <dc:subject>TP-金融保险</dc:subject>
  <dc:creator>lenovo</dc:creator>
  <cp:keywords>XS-普屏 4：3;SC-淡灰色;BG-浅色;DH-静态;XJ-二级</cp:keywords>
  <dc:description>我爱PPT中文网</dc:description>
  <cp:lastModifiedBy>韩朋</cp:lastModifiedBy>
  <cp:revision>634</cp:revision>
  <dcterms:created xsi:type="dcterms:W3CDTF">2013-02-27T18:42:00Z</dcterms:created>
  <dcterms:modified xsi:type="dcterms:W3CDTF">2017-12-25T01:40:54Z</dcterms:modified>
  <cp:category>UDi-主题模板</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2052-10.1.0.5975</vt:lpwstr>
  </property>
</Properties>
</file>
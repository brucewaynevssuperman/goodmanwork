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4"/>
  </p:notesMasterIdLst>
  <p:handoutMasterIdLst>
    <p:handoutMasterId r:id="rId45"/>
  </p:handoutMasterIdLst>
  <p:sldIdLst>
    <p:sldId id="269" r:id="rId2"/>
    <p:sldId id="313" r:id="rId3"/>
    <p:sldId id="323" r:id="rId4"/>
    <p:sldId id="445" r:id="rId5"/>
    <p:sldId id="446" r:id="rId6"/>
    <p:sldId id="447" r:id="rId7"/>
    <p:sldId id="448" r:id="rId8"/>
    <p:sldId id="420" r:id="rId9"/>
    <p:sldId id="417" r:id="rId10"/>
    <p:sldId id="418" r:id="rId11"/>
    <p:sldId id="419" r:id="rId12"/>
    <p:sldId id="422" r:id="rId13"/>
    <p:sldId id="424" r:id="rId14"/>
    <p:sldId id="426" r:id="rId15"/>
    <p:sldId id="428" r:id="rId16"/>
    <p:sldId id="429" r:id="rId17"/>
    <p:sldId id="427" r:id="rId18"/>
    <p:sldId id="430" r:id="rId19"/>
    <p:sldId id="432" r:id="rId20"/>
    <p:sldId id="433" r:id="rId21"/>
    <p:sldId id="434" r:id="rId22"/>
    <p:sldId id="435" r:id="rId23"/>
    <p:sldId id="436" r:id="rId24"/>
    <p:sldId id="437" r:id="rId25"/>
    <p:sldId id="438" r:id="rId26"/>
    <p:sldId id="440" r:id="rId27"/>
    <p:sldId id="441" r:id="rId28"/>
    <p:sldId id="439" r:id="rId29"/>
    <p:sldId id="442" r:id="rId30"/>
    <p:sldId id="443" r:id="rId31"/>
    <p:sldId id="444" r:id="rId32"/>
    <p:sldId id="449" r:id="rId33"/>
    <p:sldId id="451" r:id="rId34"/>
    <p:sldId id="453" r:id="rId35"/>
    <p:sldId id="450" r:id="rId36"/>
    <p:sldId id="452" r:id="rId37"/>
    <p:sldId id="455" r:id="rId38"/>
    <p:sldId id="458" r:id="rId39"/>
    <p:sldId id="457" r:id="rId40"/>
    <p:sldId id="460" r:id="rId41"/>
    <p:sldId id="461" r:id="rId42"/>
    <p:sldId id="407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2727"/>
    <a:srgbClr val="EFEEED"/>
    <a:srgbClr val="B2B3B2"/>
    <a:srgbClr val="8D8E8D"/>
    <a:srgbClr val="505150"/>
    <a:srgbClr val="636463"/>
    <a:srgbClr val="776F72"/>
    <a:srgbClr val="5A5B5E"/>
    <a:srgbClr val="313134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82" autoAdjust="0"/>
    <p:restoredTop sz="99875" autoAdjust="0"/>
  </p:normalViewPr>
  <p:slideViewPr>
    <p:cSldViewPr snapToGrid="0" snapToObjects="1">
      <p:cViewPr>
        <p:scale>
          <a:sx n="123" d="100"/>
          <a:sy n="123" d="100"/>
        </p:scale>
        <p:origin x="-1410" y="42"/>
      </p:cViewPr>
      <p:guideLst>
        <p:guide orient="horz" pos="2138"/>
        <p:guide pos="282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C2537A-C1FE-C441-8F08-6472DE8A6393}" type="datetimeFigureOut">
              <a:rPr lang="en-US" smtClean="0"/>
              <a:t>7/9/2019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A01E0-2117-0C43-8963-D44ACC7C4A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7568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9629A-8024-8740-A789-6BCBA6C29169}" type="datetimeFigureOut">
              <a:rPr lang="en-US" smtClean="0"/>
              <a:t>7/9/2019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EE6A7F-2053-5042-BD59-FF4F3EF99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7453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0" hasCustomPrompt="1"/>
          </p:nvPr>
        </p:nvSpPr>
        <p:spPr>
          <a:xfrm>
            <a:off x="245898" y="252000"/>
            <a:ext cx="8646102" cy="4572012"/>
          </a:xfrm>
          <a:solidFill>
            <a:schemeClr val="bg2">
              <a:lumMod val="9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</a:lstStyle>
          <a:p>
            <a:r>
              <a:rPr lang="en-US" dirty="0" smtClean="0"/>
              <a:t>Insert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0621" y="4944156"/>
            <a:ext cx="7772400" cy="98535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b="1" i="0" dirty="0">
                <a:latin typeface="方正兰亭中粗黑_GBK" pitchFamily="2" charset="-122"/>
                <a:ea typeface="方正兰亭中粗黑_GBK" pitchFamily="2" charset="-122"/>
                <a:cs typeface="方正兰亭中粗黑_GBK" pitchFamily="2" charset="-122"/>
              </a:defRPr>
            </a:lvl1pPr>
          </a:lstStyle>
          <a:p>
            <a:pPr lvl="0" algn="l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21" y="5929514"/>
            <a:ext cx="6400800" cy="411137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0" i="0" dirty="0">
                <a:latin typeface="方正兰亭黑_GBK" pitchFamily="2" charset="-122"/>
                <a:ea typeface="方正兰亭黑_GBK" pitchFamily="2" charset="-122"/>
                <a:cs typeface="方正兰亭黑_GBK" pitchFamily="2" charset="-122"/>
              </a:defRPr>
            </a:lvl1pPr>
          </a:lstStyle>
          <a:p>
            <a:pPr marL="0" lvl="0" indent="0">
              <a:buNone/>
            </a:pPr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758" y="0"/>
            <a:ext cx="2005689" cy="10089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titled-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32" y="3006192"/>
            <a:ext cx="8641368" cy="35998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500621" y="1601248"/>
            <a:ext cx="7772400" cy="702346"/>
          </a:xfrm>
        </p:spPr>
        <p:txBody>
          <a:bodyPr anchor="t">
            <a:normAutofit/>
          </a:bodyPr>
          <a:lstStyle>
            <a:lvl1pPr algn="l">
              <a:defRPr sz="3200" b="1" i="0">
                <a:latin typeface="方正兰亭中粗黑_GBK" pitchFamily="2" charset="-122"/>
                <a:ea typeface="方正兰亭中粗黑_GBK" pitchFamily="2" charset="-122"/>
                <a:cs typeface="方正兰亭中粗黑_GBK" pitchFamily="2" charset="-122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500621" y="2311574"/>
            <a:ext cx="6400800" cy="411137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0" i="0" dirty="0">
                <a:latin typeface="方正兰亭黑_GBK" pitchFamily="2" charset="-122"/>
                <a:ea typeface="方正兰亭黑_GBK" pitchFamily="2" charset="-122"/>
                <a:cs typeface="方正兰亭黑_GBK" pitchFamily="2" charset="-122"/>
              </a:defRPr>
            </a:lvl1pPr>
          </a:lstStyle>
          <a:p>
            <a:pPr marL="0" lvl="0" indent="0">
              <a:buNone/>
            </a:pPr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985" y="6186897"/>
            <a:ext cx="402934" cy="365125"/>
          </a:xfrm>
        </p:spPr>
        <p:txBody>
          <a:bodyPr anchor="t"/>
          <a:lstStyle>
            <a:lvl1pPr>
              <a:defRPr b="0" i="0">
                <a:solidFill>
                  <a:schemeClr val="tx1"/>
                </a:solidFill>
                <a:latin typeface="Gotham-Bold"/>
                <a:cs typeface="Gotham-Bold"/>
              </a:defRPr>
            </a:lvl1pPr>
          </a:lstStyle>
          <a:p>
            <a:fld id="{9380A3BF-C42B-5B4A-8FD1-FDF44958D93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758" y="0"/>
            <a:ext cx="2005689" cy="100892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Untitled-4.png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30"/>
          <a:stretch>
            <a:fillRect/>
          </a:stretch>
        </p:blipFill>
        <p:spPr>
          <a:xfrm>
            <a:off x="250632" y="1752460"/>
            <a:ext cx="8641368" cy="485353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758" y="0"/>
            <a:ext cx="2005689" cy="1008922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500621" y="1902465"/>
            <a:ext cx="7772400" cy="7023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b="1" i="0" dirty="0">
                <a:latin typeface="方正兰亭中粗黑_GBK" pitchFamily="2" charset="-122"/>
                <a:ea typeface="方正兰亭中粗黑_GBK" pitchFamily="2" charset="-122"/>
                <a:cs typeface="方正兰亭中粗黑_GBK" pitchFamily="2" charset="-122"/>
              </a:defRPr>
            </a:lvl1pPr>
          </a:lstStyle>
          <a:p>
            <a:pPr lvl="0" algn="l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Subtitle 2"/>
          <p:cNvSpPr>
            <a:spLocks noGrp="1"/>
          </p:cNvSpPr>
          <p:nvPr>
            <p:ph type="subTitle" idx="1"/>
          </p:nvPr>
        </p:nvSpPr>
        <p:spPr>
          <a:xfrm>
            <a:off x="500621" y="2612791"/>
            <a:ext cx="6400800" cy="411137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0" i="0" dirty="0">
                <a:latin typeface="方正兰亭黑_GBK" pitchFamily="2" charset="-122"/>
                <a:ea typeface="方正兰亭黑_GBK" pitchFamily="2" charset="-122"/>
                <a:cs typeface="方正兰亭黑_GBK" pitchFamily="2" charset="-122"/>
              </a:defRPr>
            </a:lvl1pPr>
          </a:lstStyle>
          <a:p>
            <a:pPr marL="0" lvl="0" indent="0">
              <a:buNone/>
            </a:pPr>
            <a:r>
              <a:rPr lang="en-US" dirty="0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254" y="0"/>
            <a:ext cx="1433492" cy="721090"/>
          </a:xfrm>
          <a:prstGeom prst="rect">
            <a:avLst/>
          </a:prstGeom>
        </p:spPr>
      </p:pic>
      <p:pic>
        <p:nvPicPr>
          <p:cNvPr id="4" name="Picture 3" descr="Untitled-3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41" y="6353008"/>
            <a:ext cx="8641368" cy="2529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885" y="410316"/>
            <a:ext cx="6443498" cy="123204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b="1" i="0" dirty="0">
                <a:latin typeface="方正兰亭中粗黑_GBK" pitchFamily="2" charset="-122"/>
                <a:ea typeface="方正兰亭中粗黑_GBK" pitchFamily="2" charset="-122"/>
                <a:cs typeface="方正兰亭中粗黑_GBK" pitchFamily="2" charset="-122"/>
              </a:defRPr>
            </a:lvl1pPr>
          </a:lstStyle>
          <a:p>
            <a:pPr lvl="0" algn="l"/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884" y="1708504"/>
            <a:ext cx="8143589" cy="4385466"/>
          </a:xfrm>
        </p:spPr>
        <p:txBody>
          <a:bodyPr lIns="0"/>
          <a:lstStyle>
            <a:lvl1pPr>
              <a:buClr>
                <a:schemeClr val="tx1"/>
              </a:buClr>
              <a:defRPr sz="1600" b="0" i="0">
                <a:solidFill>
                  <a:schemeClr val="tx2"/>
                </a:solidFill>
                <a:latin typeface="Gotham-Book"/>
                <a:cs typeface="Gotham-Book"/>
              </a:defRPr>
            </a:lvl1pPr>
            <a:lvl2pPr>
              <a:buClr>
                <a:schemeClr val="tx1"/>
              </a:buClr>
              <a:defRPr sz="1400" b="0" i="0">
                <a:solidFill>
                  <a:schemeClr val="tx2"/>
                </a:solidFill>
                <a:latin typeface="Gotham-Book"/>
                <a:cs typeface="Gotham-Book"/>
              </a:defRPr>
            </a:lvl2pPr>
            <a:lvl3pPr>
              <a:buClr>
                <a:schemeClr val="tx1"/>
              </a:buClr>
              <a:defRPr sz="1200" b="0" i="0">
                <a:solidFill>
                  <a:schemeClr val="tx2"/>
                </a:solidFill>
                <a:latin typeface="Gotham-Book"/>
                <a:cs typeface="Gotham-Book"/>
              </a:defRPr>
            </a:lvl3pPr>
            <a:lvl4pPr>
              <a:buClr>
                <a:schemeClr val="tx1"/>
              </a:buClr>
              <a:defRPr sz="1000" b="0" i="0">
                <a:solidFill>
                  <a:schemeClr val="tx2"/>
                </a:solidFill>
                <a:latin typeface="Gotham-Book"/>
                <a:cs typeface="Gotham-Book"/>
              </a:defRPr>
            </a:lvl4pPr>
            <a:lvl5pPr>
              <a:buClr>
                <a:schemeClr val="tx1"/>
              </a:buClr>
              <a:defRPr sz="900" b="0" i="0">
                <a:solidFill>
                  <a:schemeClr val="tx2"/>
                </a:solidFill>
                <a:latin typeface="Gotham-Book"/>
                <a:cs typeface="Gotham-Book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3" hasCustomPrompt="1"/>
          </p:nvPr>
        </p:nvSpPr>
        <p:spPr>
          <a:xfrm>
            <a:off x="255841" y="246683"/>
            <a:ext cx="8641368" cy="5853334"/>
          </a:xfrm>
          <a:solidFill>
            <a:schemeClr val="bg2">
              <a:lumMod val="9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</a:lstStyle>
          <a:p>
            <a:r>
              <a:rPr lang="en-US" dirty="0" smtClean="0"/>
              <a:t>Insert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938252"/>
            <a:ext cx="8229600" cy="79609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b="1" i="0" dirty="0">
                <a:latin typeface="方正兰亭中粗黑_GBK" pitchFamily="2" charset="-122"/>
                <a:ea typeface="方正兰亭中粗黑_GBK" pitchFamily="2" charset="-122"/>
                <a:cs typeface="方正兰亭中粗黑_GBK" pitchFamily="2" charset="-122"/>
              </a:defRPr>
            </a:lvl1pPr>
          </a:lstStyle>
          <a:p>
            <a:pPr lvl="0" algn="l"/>
            <a:r>
              <a:rPr lang="en-US" dirty="0" smtClean="0"/>
              <a:t>Click to edit Master title style</a:t>
            </a:r>
            <a:endParaRPr lang="en-US" dirty="0"/>
          </a:p>
        </p:txBody>
      </p:sp>
      <p:pic>
        <p:nvPicPr>
          <p:cNvPr id="7" name="Picture 6" descr="Untitled-3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841" y="6353008"/>
            <a:ext cx="8641368" cy="2529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01 / 01 / 2013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</a:t>
            </a:r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80A3BF-C42B-5B4A-8FD1-FDF44958D93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01 / 01 / 2013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Department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80A3BF-C42B-5B4A-8FD1-FDF44958D935}" type="slidenum">
              <a:rPr lang="en-US" smtClean="0"/>
              <a:t>‹#›</a:t>
            </a:fld>
            <a:endParaRPr lang="en-US"/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396875" y="6946006"/>
            <a:ext cx="7053930" cy="125184"/>
            <a:chOff x="396875" y="6946006"/>
            <a:chExt cx="7053930" cy="125184"/>
          </a:xfrm>
        </p:grpSpPr>
        <p:sp>
          <p:nvSpPr>
            <p:cNvPr id="8" name="Rectangle 10"/>
            <p:cNvSpPr>
              <a:spLocks noChangeArrowheads="1"/>
            </p:cNvSpPr>
            <p:nvPr userDrawn="1"/>
          </p:nvSpPr>
          <p:spPr bwMode="auto">
            <a:xfrm>
              <a:off x="777875" y="6946006"/>
              <a:ext cx="304800" cy="11906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90</a:t>
              </a: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20</a:t>
              </a: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0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 userDrawn="1"/>
          </p:nvSpPr>
          <p:spPr bwMode="auto">
            <a:xfrm>
              <a:off x="1158875" y="6946006"/>
              <a:ext cx="304800" cy="11906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0</a:t>
              </a: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0</a:t>
              </a: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0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12"/>
            <p:cNvSpPr>
              <a:spLocks noChangeArrowheads="1"/>
            </p:cNvSpPr>
            <p:nvPr userDrawn="1"/>
          </p:nvSpPr>
          <p:spPr bwMode="auto">
            <a:xfrm>
              <a:off x="2300780" y="6946006"/>
              <a:ext cx="304800" cy="119062"/>
            </a:xfrm>
            <a:prstGeom prst="rect">
              <a:avLst/>
            </a:prstGeom>
            <a:solidFill>
              <a:srgbClr val="272727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90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1" name="Rectangle 13"/>
            <p:cNvSpPr>
              <a:spLocks noChangeArrowheads="1"/>
            </p:cNvSpPr>
            <p:nvPr userDrawn="1"/>
          </p:nvSpPr>
          <p:spPr bwMode="auto">
            <a:xfrm>
              <a:off x="2681780" y="6946006"/>
              <a:ext cx="304800" cy="119062"/>
            </a:xfrm>
            <a:prstGeom prst="rect">
              <a:avLst/>
            </a:prstGeom>
            <a:solidFill>
              <a:srgbClr val="505150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70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2" name="Rectangle 14"/>
            <p:cNvSpPr>
              <a:spLocks noChangeArrowheads="1"/>
            </p:cNvSpPr>
            <p:nvPr userDrawn="1"/>
          </p:nvSpPr>
          <p:spPr bwMode="auto">
            <a:xfrm>
              <a:off x="3062780" y="6946006"/>
              <a:ext cx="304800" cy="119062"/>
            </a:xfrm>
            <a:prstGeom prst="rect">
              <a:avLst/>
            </a:prstGeom>
            <a:solidFill>
              <a:srgbClr val="636463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60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3" name="Rectangle 15"/>
            <p:cNvSpPr>
              <a:spLocks noChangeArrowheads="1"/>
            </p:cNvSpPr>
            <p:nvPr userDrawn="1"/>
          </p:nvSpPr>
          <p:spPr bwMode="auto">
            <a:xfrm>
              <a:off x="3443780" y="6946006"/>
              <a:ext cx="304800" cy="119062"/>
            </a:xfrm>
            <a:prstGeom prst="rect">
              <a:avLst/>
            </a:prstGeom>
            <a:solidFill>
              <a:srgbClr val="8D8E8D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40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4" name="Rectangle 27"/>
            <p:cNvSpPr>
              <a:spLocks noChangeArrowheads="1"/>
            </p:cNvSpPr>
            <p:nvPr userDrawn="1"/>
          </p:nvSpPr>
          <p:spPr bwMode="auto">
            <a:xfrm>
              <a:off x="396875" y="6963468"/>
              <a:ext cx="269304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700" b="0" i="0" dirty="0" smtClean="0">
                  <a:solidFill>
                    <a:schemeClr val="bg1"/>
                  </a:solidFill>
                  <a:latin typeface="华文黑体"/>
                  <a:ea typeface="华文黑体"/>
                  <a:cs typeface="华文黑体"/>
                </a:rPr>
                <a:t>主色：</a:t>
              </a:r>
              <a:endParaRPr lang="en-US" sz="700" b="0" i="0" dirty="0">
                <a:solidFill>
                  <a:schemeClr val="bg1"/>
                </a:solidFill>
                <a:latin typeface="华文黑体"/>
                <a:ea typeface="华文黑体"/>
                <a:cs typeface="华文黑体"/>
              </a:endParaRPr>
            </a:p>
          </p:txBody>
        </p:sp>
        <p:sp>
          <p:nvSpPr>
            <p:cNvPr id="15" name="Rectangle 14"/>
            <p:cNvSpPr>
              <a:spLocks noChangeArrowheads="1"/>
            </p:cNvSpPr>
            <p:nvPr userDrawn="1"/>
          </p:nvSpPr>
          <p:spPr bwMode="auto">
            <a:xfrm>
              <a:off x="1814826" y="6963468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700" b="0" i="0" dirty="0" smtClean="0">
                  <a:solidFill>
                    <a:schemeClr val="bg1"/>
                  </a:solidFill>
                  <a:latin typeface="华文黑体"/>
                  <a:ea typeface="华文黑体"/>
                  <a:cs typeface="华文黑体"/>
                </a:rPr>
                <a:t>辅助色：</a:t>
              </a:r>
              <a:endParaRPr lang="en-US" sz="700" b="0" i="0" dirty="0">
                <a:solidFill>
                  <a:schemeClr val="bg1"/>
                </a:solidFill>
                <a:latin typeface="华文黑体"/>
                <a:ea typeface="华文黑体"/>
                <a:cs typeface="华文黑体"/>
              </a:endParaRPr>
            </a:p>
          </p:txBody>
        </p:sp>
        <p:sp>
          <p:nvSpPr>
            <p:cNvPr id="16" name="Rectangle 15"/>
            <p:cNvSpPr>
              <a:spLocks noChangeArrowheads="1"/>
            </p:cNvSpPr>
            <p:nvPr userDrawn="1"/>
          </p:nvSpPr>
          <p:spPr bwMode="auto">
            <a:xfrm>
              <a:off x="3826320" y="6946006"/>
              <a:ext cx="304800" cy="119062"/>
            </a:xfrm>
            <a:prstGeom prst="rect">
              <a:avLst/>
            </a:prstGeom>
            <a:solidFill>
              <a:srgbClr val="B2B3B2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25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7" name="Rectangle 15"/>
            <p:cNvSpPr>
              <a:spLocks noChangeArrowheads="1"/>
            </p:cNvSpPr>
            <p:nvPr userDrawn="1"/>
          </p:nvSpPr>
          <p:spPr bwMode="auto">
            <a:xfrm>
              <a:off x="4213961" y="6946006"/>
              <a:ext cx="304800" cy="119062"/>
            </a:xfrm>
            <a:prstGeom prst="rect">
              <a:avLst/>
            </a:prstGeom>
            <a:solidFill>
              <a:srgbClr val="EFEEED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5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8" name="Rectangle 12"/>
            <p:cNvSpPr>
              <a:spLocks noChangeArrowheads="1"/>
            </p:cNvSpPr>
            <p:nvPr userDrawn="1"/>
          </p:nvSpPr>
          <p:spPr bwMode="auto">
            <a:xfrm>
              <a:off x="5430951" y="6946006"/>
              <a:ext cx="304800" cy="119062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30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100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0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19" name="Rectangle 18"/>
            <p:cNvSpPr>
              <a:spLocks noChangeArrowheads="1"/>
            </p:cNvSpPr>
            <p:nvPr userDrawn="1"/>
          </p:nvSpPr>
          <p:spPr bwMode="auto">
            <a:xfrm>
              <a:off x="5026605" y="6963468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700" b="0" i="0" dirty="0" smtClean="0">
                  <a:solidFill>
                    <a:schemeClr val="bg1"/>
                  </a:solidFill>
                  <a:latin typeface="华文黑体"/>
                  <a:ea typeface="华文黑体"/>
                  <a:cs typeface="华文黑体"/>
                </a:rPr>
                <a:t>温暖橙：</a:t>
              </a:r>
              <a:endParaRPr lang="en-US" sz="700" b="0" i="0" dirty="0">
                <a:solidFill>
                  <a:schemeClr val="bg1"/>
                </a:solidFill>
                <a:latin typeface="华文黑体"/>
                <a:ea typeface="华文黑体"/>
                <a:cs typeface="华文黑体"/>
              </a:endParaRPr>
            </a:p>
          </p:txBody>
        </p:sp>
        <p:sp>
          <p:nvSpPr>
            <p:cNvPr id="20" name="Rectangle 12"/>
            <p:cNvSpPr>
              <a:spLocks noChangeArrowheads="1"/>
            </p:cNvSpPr>
            <p:nvPr userDrawn="1"/>
          </p:nvSpPr>
          <p:spPr bwMode="auto">
            <a:xfrm>
              <a:off x="6288257" y="6946006"/>
              <a:ext cx="304800" cy="119062"/>
            </a:xfrm>
            <a:prstGeom prst="rect">
              <a:avLst/>
            </a:prstGeom>
            <a:solidFill>
              <a:schemeClr val="accent3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30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100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0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1" name="Rectangle 20"/>
            <p:cNvSpPr>
              <a:spLocks noChangeArrowheads="1"/>
            </p:cNvSpPr>
            <p:nvPr userDrawn="1"/>
          </p:nvSpPr>
          <p:spPr bwMode="auto">
            <a:xfrm>
              <a:off x="5883912" y="6963468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700" b="0" i="0" dirty="0" smtClean="0">
                  <a:solidFill>
                    <a:schemeClr val="bg1"/>
                  </a:solidFill>
                  <a:latin typeface="华文黑体"/>
                  <a:ea typeface="华文黑体"/>
                  <a:cs typeface="华文黑体"/>
                </a:rPr>
                <a:t>健康绿：</a:t>
              </a:r>
              <a:endParaRPr lang="en-US" sz="700" b="0" i="0" dirty="0">
                <a:solidFill>
                  <a:schemeClr val="bg1"/>
                </a:solidFill>
                <a:latin typeface="华文黑体"/>
                <a:ea typeface="华文黑体"/>
                <a:cs typeface="华文黑体"/>
              </a:endParaRPr>
            </a:p>
          </p:txBody>
        </p:sp>
        <p:sp>
          <p:nvSpPr>
            <p:cNvPr id="22" name="Rectangle 12"/>
            <p:cNvSpPr>
              <a:spLocks noChangeArrowheads="1"/>
            </p:cNvSpPr>
            <p:nvPr userDrawn="1"/>
          </p:nvSpPr>
          <p:spPr bwMode="auto">
            <a:xfrm>
              <a:off x="7146005" y="6946006"/>
              <a:ext cx="304800" cy="119062"/>
            </a:xfrm>
            <a:prstGeom prst="rect">
              <a:avLst/>
            </a:prstGeom>
            <a:solidFill>
              <a:schemeClr val="accent4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lIns="0" tIns="0" rIns="0" bIns="0"/>
            <a:lstStyle/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pPr>
                <a:lnSpc>
                  <a:spcPct val="85000"/>
                </a:lnSpc>
              </a:pPr>
              <a:endParaRPr lang="en-US" sz="600" dirty="0">
                <a:solidFill>
                  <a:schemeClr val="bg1"/>
                </a:solidFill>
              </a:endParaRP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C  70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M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Y  0</a:t>
              </a:r>
            </a:p>
            <a:p>
              <a:r>
                <a:rPr lang="en-US" sz="600" dirty="0" smtClean="0">
                  <a:solidFill>
                    <a:schemeClr val="bg1"/>
                  </a:solidFill>
                </a:rPr>
                <a:t>K  0</a:t>
              </a:r>
              <a:endParaRPr lang="en-US" sz="600" dirty="0">
                <a:solidFill>
                  <a:schemeClr val="bg1"/>
                </a:solidFill>
              </a:endParaRPr>
            </a:p>
          </p:txBody>
        </p:sp>
        <p:sp>
          <p:nvSpPr>
            <p:cNvPr id="23" name="Rectangle 22"/>
            <p:cNvSpPr>
              <a:spLocks noChangeArrowheads="1"/>
            </p:cNvSpPr>
            <p:nvPr userDrawn="1"/>
          </p:nvSpPr>
          <p:spPr bwMode="auto">
            <a:xfrm>
              <a:off x="6735705" y="6963468"/>
              <a:ext cx="359073" cy="1077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zh-CN" altLang="en-US" sz="700" b="0" i="0" dirty="0" smtClean="0">
                  <a:solidFill>
                    <a:schemeClr val="bg1"/>
                  </a:solidFill>
                  <a:latin typeface="华文黑体"/>
                  <a:ea typeface="华文黑体"/>
                  <a:cs typeface="华文黑体"/>
                </a:rPr>
                <a:t>科技蓝：</a:t>
              </a:r>
              <a:endParaRPr lang="en-US" sz="700" b="0" i="0" dirty="0">
                <a:solidFill>
                  <a:schemeClr val="bg1"/>
                </a:solidFill>
                <a:latin typeface="华文黑体"/>
                <a:ea typeface="华文黑体"/>
                <a:cs typeface="华文黑体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7" Type="http://schemas.openxmlformats.org/officeDocument/2006/relationships/image" Target="../media/image5.emf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1.bin"/><Relationship Id="rId5" Type="http://schemas.openxmlformats.org/officeDocument/2006/relationships/slideLayout" Target="../slideLayouts/slideLayout4.xml"/><Relationship Id="rId4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016" y="0"/>
            <a:ext cx="2005689" cy="100892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071370" y="2148205"/>
            <a:ext cx="4888230" cy="74358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altLang="zh-CN" sz="4000" b="1" spc="300" dirty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Maven</a:t>
            </a:r>
            <a:r>
              <a:rPr lang="zh-CN" altLang="en-US" sz="4000" b="1" spc="300" dirty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入门</a:t>
            </a:r>
            <a:endParaRPr lang="zh-CN" altLang="zh-CN" sz="4000" b="1" cap="none" spc="300" dirty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00140" y="3913505"/>
            <a:ext cx="1519555" cy="518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latin typeface="宋体" charset="0"/>
                <a:ea typeface="宋体" charset="0"/>
              </a:rPr>
              <a:t>杨  洲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对象 9" hidden="1"/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0" y="0"/>
          <a:ext cx="158750" cy="15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8" name="think-cell Slide" r:id="rId6" imgW="12700" imgH="12700" progId="TCLayout.ActiveDocument.1">
                  <p:embed/>
                </p:oleObj>
              </mc:Choice>
              <mc:Fallback>
                <p:oleObj name="think-cell Slide" r:id="rId6" imgW="12700" imgH="12700" progId="TCLayout.ActiveDocument.1">
                  <p:embed/>
                  <p:pic>
                    <p:nvPicPr>
                      <p:cNvPr id="0" name="图片 7924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158750" cy="158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 hidden="1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58750" cy="15875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16200000" scaled="0"/>
            <a:tileRect/>
          </a:gradFill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40000" dist="23000" dir="5400000" rotWithShape="0">
                    <a:srgbClr val="000000">
                      <a:alpha val="35000"/>
                    </a:srgbClr>
                  </a:outerShdw>
                </a:effectLst>
              </a14:hiddenEffects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>
              <a:latin typeface="Arial"/>
              <a:ea typeface="黑体"/>
              <a:sym typeface="Arial"/>
            </a:endParaRP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 bwMode="gray">
          <a:xfrm>
            <a:off x="1025525" y="981710"/>
            <a:ext cx="6931660" cy="452431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l"/>
            <a:r>
              <a:rPr lang="zh-CN" altLang="en-US" sz="3200" b="1" spc="50" dirty="0">
                <a:ln w="11430"/>
                <a:solidFill>
                  <a:schemeClr val="tx1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目录：</a:t>
            </a:r>
          </a:p>
          <a:p>
            <a:pPr algn="l"/>
            <a:endParaRPr lang="zh-CN" altLang="en-US" sz="3200" b="1" spc="50" dirty="0">
              <a:ln w="11430"/>
              <a:solidFill>
                <a:schemeClr val="tx1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3200" b="1" spc="50" dirty="0">
                <a:ln w="11430"/>
                <a:solidFill>
                  <a:schemeClr val="tx1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一、</a:t>
            </a:r>
            <a:r>
              <a:rPr lang="en-US" altLang="zh-CN" sz="3200" b="1" spc="50" dirty="0">
                <a:ln w="11430"/>
                <a:solidFill>
                  <a:schemeClr val="tx1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Maven</a:t>
            </a:r>
            <a:r>
              <a:rPr lang="zh-CN" altLang="en-US" sz="3200" b="1" spc="50" dirty="0">
                <a:ln w="11430"/>
                <a:solidFill>
                  <a:schemeClr val="tx1"/>
                </a:soli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简介</a:t>
            </a:r>
          </a:p>
          <a:p>
            <a:pPr algn="l"/>
            <a:endParaRPr lang="zh-CN" altLang="en-US" sz="3200" b="1" spc="50" dirty="0">
              <a:ln w="11430"/>
              <a:solidFill>
                <a:schemeClr val="tx1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algn="l"/>
            <a:r>
              <a:rPr lang="zh-CN" altLang="en-US" sz="3200" b="1" spc="50" dirty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+mn-ea"/>
              </a:rPr>
              <a:t>二、</a:t>
            </a:r>
            <a:r>
              <a:rPr lang="en-US" altLang="zh-CN" sz="3200" b="1" spc="50" dirty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+mn-ea"/>
              </a:rPr>
              <a:t>Maven</a:t>
            </a:r>
            <a:r>
              <a:rPr lang="zh-CN" altLang="zh-CN" sz="3200" b="1" spc="50" dirty="0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+mn-ea"/>
              </a:rPr>
              <a:t>实</a:t>
            </a:r>
            <a:r>
              <a:rPr lang="zh-CN" altLang="en-US" sz="3200" b="1" spc="50" dirty="0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+mn-ea"/>
              </a:rPr>
              <a:t>用</a:t>
            </a:r>
            <a:endParaRPr lang="en-US" altLang="zh-CN" sz="3200" b="1" spc="50" dirty="0" smtClean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+mn-ea"/>
            </a:endParaRPr>
          </a:p>
          <a:p>
            <a:pPr algn="l"/>
            <a:endParaRPr lang="en-US" altLang="zh-CN" sz="3200" b="1" spc="50" dirty="0" smtClean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+mn-ea"/>
            </a:endParaRPr>
          </a:p>
          <a:p>
            <a:r>
              <a:rPr lang="zh-CN" altLang="en-US" sz="3200" b="1" spc="50" dirty="0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+mn-ea"/>
              </a:rPr>
              <a:t>三、</a:t>
            </a:r>
            <a:r>
              <a:rPr lang="en-US" altLang="zh-CN" sz="3200" b="1" spc="50" dirty="0" smtClean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+mn-ea"/>
              </a:rPr>
              <a:t>Maven</a:t>
            </a:r>
            <a:r>
              <a:rPr lang="zh-CN" altLang="en-US" sz="3200" b="1" spc="50" dirty="0">
                <a:ln w="11430"/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  <a:sym typeface="+mn-ea"/>
              </a:rPr>
              <a:t>仓库</a:t>
            </a:r>
          </a:p>
          <a:p>
            <a:pPr algn="l"/>
            <a:endParaRPr lang="zh-CN" altLang="en-US" sz="3200" b="1" spc="50" dirty="0">
              <a:ln w="11430"/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+mn-ea"/>
            </a:endParaRPr>
          </a:p>
          <a:p>
            <a:pPr algn="l"/>
            <a:endParaRPr lang="zh-CN" altLang="zh-CN" sz="3200" b="1" spc="50" dirty="0">
              <a:ln w="11430"/>
              <a:solidFill>
                <a:schemeClr val="tx1"/>
              </a:soli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D6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D6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一、</a:t>
            </a:r>
            <a:r>
              <a:rPr altLang="zh-CN" dirty="0"/>
              <a:t>Maven</a:t>
            </a:r>
            <a:r>
              <a:rPr lang="zh-CN" altLang="en-US" dirty="0"/>
              <a:t>简介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02945" y="1104265"/>
            <a:ext cx="8023860" cy="4846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dirty="0">
                <a:latin typeface="宋体" charset="0"/>
                <a:ea typeface="宋体" charset="0"/>
              </a:rPr>
              <a:t>	</a:t>
            </a:r>
            <a:r>
              <a:rPr lang="zh-CN" altLang="en-US" sz="2000" dirty="0">
                <a:latin typeface="宋体" charset="0"/>
                <a:ea typeface="宋体" charset="0"/>
              </a:rPr>
              <a:t>Maven是一个项目管理工具，它包含了一个项目对象模型 </a:t>
            </a:r>
            <a:r>
              <a:rPr lang="en-US" altLang="zh-CN" sz="2000" dirty="0">
                <a:latin typeface="宋体" charset="0"/>
                <a:ea typeface="宋体" charset="0"/>
              </a:rPr>
              <a:t>POM</a:t>
            </a:r>
            <a:r>
              <a:rPr lang="zh-CN" altLang="en-US" sz="2000" dirty="0">
                <a:latin typeface="宋体" charset="0"/>
                <a:ea typeface="宋体" charset="0"/>
              </a:rPr>
              <a:t>(Project Object Model)，一组标准集合，一个项目生命周期(Project Lifecycle)，一个依赖管理系统(Dependency Management System)，和用来运行定义在生命周期阶段(phase)中插件(plugin)目标(goal)的逻辑。当使用Maven的时候，用一个明确定义的项目对象模型</a:t>
            </a:r>
            <a:r>
              <a:rPr lang="en-US" altLang="zh-CN" sz="2000" dirty="0">
                <a:latin typeface="宋体" charset="0"/>
                <a:ea typeface="宋体" charset="0"/>
              </a:rPr>
              <a:t>(POM)</a:t>
            </a:r>
            <a:r>
              <a:rPr lang="zh-CN" altLang="en-US" sz="2000" dirty="0">
                <a:latin typeface="宋体" charset="0"/>
                <a:ea typeface="宋体" charset="0"/>
              </a:rPr>
              <a:t>来描述项目，然后Maven可以应用横切的逻辑，这些逻辑来自一组共享的（或者自定义的）插件。</a:t>
            </a:r>
          </a:p>
          <a:p>
            <a:endParaRPr lang="zh-CN" altLang="en-US" sz="2000" dirty="0">
              <a:latin typeface="宋体" charset="0"/>
              <a:ea typeface="宋体" charset="0"/>
            </a:endParaRPr>
          </a:p>
          <a:p>
            <a:r>
              <a:rPr lang="en-US" altLang="zh-CN" sz="2000" dirty="0">
                <a:latin typeface="宋体" charset="0"/>
                <a:ea typeface="宋体" charset="0"/>
              </a:rPr>
              <a:t>	</a:t>
            </a:r>
            <a:r>
              <a:rPr lang="zh-CN" altLang="en-US" sz="2000" dirty="0">
                <a:latin typeface="宋体" charset="0"/>
                <a:ea typeface="宋体" charset="0"/>
              </a:rPr>
              <a:t>总之，Maven是可以帮助我们把源代码构建成可发布的</a:t>
            </a:r>
            <a:r>
              <a:rPr lang="zh-CN" altLang="en-US" sz="2000" dirty="0">
                <a:latin typeface="宋体" charset="0"/>
                <a:ea typeface="宋体" charset="0"/>
                <a:sym typeface="+mn-ea"/>
              </a:rPr>
              <a:t>一个</a:t>
            </a:r>
            <a:r>
              <a:rPr lang="zh-CN" altLang="en-US" sz="2000" dirty="0">
                <a:latin typeface="宋体" charset="0"/>
                <a:ea typeface="宋体" charset="0"/>
              </a:rPr>
              <a:t>构件工具。Maven有一个生命周期，当你运行mvn install的时候被调用。这条命令告诉 Maven 执行一系列的有序的步骤，直到到达你指定的生命周期。遍历生命周期旅途中的一个影响就是Maven运行了许多默认的插件目标，这些目标完成了像编译和创建一个JAR文件这样的工作。</a:t>
            </a:r>
          </a:p>
          <a:p>
            <a:endParaRPr lang="zh-CN" altLang="en-US" sz="2400" dirty="0">
              <a:latin typeface="宋体" charset="0"/>
              <a:ea typeface="宋体" charset="0"/>
            </a:endParaRPr>
          </a:p>
          <a:p>
            <a:endParaRPr lang="zh-CN" altLang="en-US" sz="2400" dirty="0">
              <a:latin typeface="宋体" charset="0"/>
              <a:ea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一、</a:t>
            </a:r>
            <a:r>
              <a:rPr altLang="zh-CN" dirty="0"/>
              <a:t>Maven</a:t>
            </a:r>
            <a:r>
              <a:rPr lang="zh-CN" altLang="en-US" dirty="0"/>
              <a:t>简介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00075" y="864870"/>
            <a:ext cx="8023860" cy="11277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>
                <a:latin typeface="宋体" charset="0"/>
                <a:ea typeface="宋体" charset="0"/>
              </a:rPr>
              <a:t>Maven</a:t>
            </a:r>
            <a:r>
              <a:rPr lang="zh-CN" altLang="en-US" sz="2400" b="1">
                <a:latin typeface="宋体" charset="0"/>
                <a:ea typeface="宋体" charset="0"/>
                <a:sym typeface="+mn-ea"/>
              </a:rPr>
              <a:t>生命周期</a:t>
            </a:r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:</a:t>
            </a:r>
            <a:endParaRPr lang="zh-CN" altLang="en-US" sz="2000" b="1">
              <a:latin typeface="宋体" charset="0"/>
              <a:ea typeface="宋体" charset="0"/>
              <a:sym typeface="+mn-ea"/>
            </a:endParaRPr>
          </a:p>
          <a:p>
            <a:r>
              <a:rPr lang="en-US" altLang="zh-CN" sz="2000">
                <a:latin typeface="宋体" charset="0"/>
                <a:ea typeface="宋体" charset="0"/>
              </a:rPr>
              <a:t>	</a:t>
            </a:r>
            <a:r>
              <a:rPr lang="zh-CN" altLang="en-US" sz="2000">
                <a:latin typeface="宋体" charset="0"/>
                <a:ea typeface="宋体" charset="0"/>
              </a:rPr>
              <a:t>Maven的生命周期是为了对所有的构建过程进行了抽象，便于统一。</a:t>
            </a:r>
          </a:p>
          <a:p>
            <a:endParaRPr lang="zh-CN" altLang="en-US" sz="2400">
              <a:latin typeface="宋体" charset="0"/>
              <a:ea typeface="宋体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0725" y="2297430"/>
            <a:ext cx="7771765" cy="16154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b="1"/>
              <a:t>清理的生命周期</a:t>
            </a:r>
            <a:r>
              <a:rPr lang="en-US" altLang="zh-CN" sz="2000" b="1"/>
              <a:t>(</a:t>
            </a:r>
            <a:r>
              <a:rPr lang="zh-CN" altLang="en-US" sz="2000" b="1"/>
              <a:t>clean)</a:t>
            </a:r>
            <a:r>
              <a:rPr lang="en-US" altLang="zh-CN" sz="2000" b="1"/>
              <a:t>:</a:t>
            </a:r>
          </a:p>
          <a:p>
            <a:r>
              <a:rPr lang="zh-CN" altLang="en-US" sz="2000">
                <a:latin typeface="宋体" charset="0"/>
                <a:ea typeface="宋体" charset="0"/>
              </a:rPr>
              <a:t>此生命周期旨在给工程做清理工作，它主要包含以下阶段：</a:t>
            </a:r>
          </a:p>
          <a:p>
            <a:r>
              <a:rPr lang="zh-CN" altLang="en-US" sz="2000">
                <a:latin typeface="宋体" charset="0"/>
                <a:ea typeface="宋体" charset="0"/>
              </a:rPr>
              <a:t>pre-clean </a:t>
            </a:r>
            <a:r>
              <a:rPr lang="en-US" altLang="zh-CN" sz="2000">
                <a:latin typeface="宋体" charset="0"/>
                <a:ea typeface="宋体" charset="0"/>
              </a:rPr>
              <a:t>-</a:t>
            </a:r>
            <a:r>
              <a:rPr lang="zh-CN" altLang="en-US" sz="2000">
                <a:latin typeface="宋体" charset="0"/>
                <a:ea typeface="宋体" charset="0"/>
              </a:rPr>
              <a:t> 执行项目清理前所需要的工作。</a:t>
            </a:r>
          </a:p>
          <a:p>
            <a:r>
              <a:rPr lang="zh-CN" altLang="en-US" sz="2000">
                <a:latin typeface="宋体" charset="0"/>
                <a:ea typeface="宋体" charset="0"/>
              </a:rPr>
              <a:t>clean </a:t>
            </a:r>
            <a:r>
              <a:rPr lang="en-US" altLang="zh-CN" sz="2000">
                <a:latin typeface="宋体" charset="0"/>
                <a:ea typeface="宋体" charset="0"/>
              </a:rPr>
              <a:t>-</a:t>
            </a:r>
            <a:r>
              <a:rPr lang="zh-CN" altLang="en-US" sz="2000">
                <a:latin typeface="宋体" charset="0"/>
                <a:ea typeface="宋体" charset="0"/>
              </a:rPr>
              <a:t> 清理上一次build项目生成的文件。</a:t>
            </a:r>
          </a:p>
          <a:p>
            <a:r>
              <a:rPr lang="zh-CN" altLang="en-US" sz="2000">
                <a:latin typeface="宋体" charset="0"/>
                <a:ea typeface="宋体" charset="0"/>
              </a:rPr>
              <a:t>post-clean </a:t>
            </a:r>
            <a:r>
              <a:rPr lang="en-US" altLang="zh-CN" sz="2000">
                <a:latin typeface="宋体" charset="0"/>
                <a:ea typeface="宋体" charset="0"/>
              </a:rPr>
              <a:t>-</a:t>
            </a:r>
            <a:r>
              <a:rPr lang="zh-CN" altLang="en-US" sz="2000">
                <a:latin typeface="宋体" charset="0"/>
                <a:ea typeface="宋体" charset="0"/>
              </a:rPr>
              <a:t> 执行完成项目清理所需的工作。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一、</a:t>
            </a:r>
            <a:r>
              <a:rPr altLang="zh-CN" dirty="0"/>
              <a:t>Maven</a:t>
            </a:r>
            <a:r>
              <a:rPr lang="zh-CN" altLang="en-US" dirty="0"/>
              <a:t>简介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00075" y="864870"/>
            <a:ext cx="8023860" cy="56997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latin typeface="宋体" charset="0"/>
                <a:ea typeface="宋体" charset="0"/>
                <a:sym typeface="+mn-ea"/>
              </a:rPr>
              <a:t>Maven生命周期</a:t>
            </a:r>
            <a:r>
              <a:rPr lang="en-US" altLang="zh-CN" sz="2400" b="1" dirty="0">
                <a:latin typeface="宋体" charset="0"/>
                <a:ea typeface="宋体" charset="0"/>
                <a:sym typeface="+mn-ea"/>
              </a:rPr>
              <a:t>:</a:t>
            </a:r>
            <a:endParaRPr lang="zh-CN" altLang="en-US" sz="2400" b="1" dirty="0">
              <a:latin typeface="宋体" charset="0"/>
              <a:ea typeface="宋体" charset="0"/>
              <a:sym typeface="+mn-ea"/>
            </a:endParaRPr>
          </a:p>
          <a:p>
            <a:endParaRPr lang="zh-CN" altLang="en-US" sz="2000" b="1" dirty="0">
              <a:sym typeface="+mn-ea"/>
            </a:endParaRPr>
          </a:p>
          <a:p>
            <a:r>
              <a:rPr lang="zh-CN" altLang="en-US" sz="2000" b="1" dirty="0">
                <a:sym typeface="+mn-ea"/>
              </a:rPr>
              <a:t>默认的生命周期</a:t>
            </a:r>
            <a:r>
              <a:rPr lang="en-US" altLang="zh-CN" sz="2000" b="1" dirty="0">
                <a:sym typeface="+mn-ea"/>
              </a:rPr>
              <a:t>(default</a:t>
            </a:r>
            <a:r>
              <a:rPr lang="zh-CN" altLang="en-US" sz="2000" b="1" dirty="0">
                <a:sym typeface="+mn-ea"/>
              </a:rPr>
              <a:t>)</a:t>
            </a:r>
            <a:r>
              <a:rPr lang="en-US" altLang="zh-CN" sz="2000" b="1" dirty="0">
                <a:sym typeface="+mn-ea"/>
              </a:rPr>
              <a:t>:</a:t>
            </a:r>
            <a:endParaRPr lang="en-US" altLang="zh-CN" sz="2000" b="1" dirty="0"/>
          </a:p>
          <a:p>
            <a:r>
              <a:rPr lang="zh-CN" altLang="en-US" sz="2000" dirty="0">
                <a:latin typeface="宋体" charset="0"/>
                <a:ea typeface="宋体" charset="0"/>
                <a:sym typeface="+mn-ea"/>
              </a:rPr>
              <a:t>validate - 验证项目是否正确且所有必要的信息都可用。</a:t>
            </a:r>
          </a:p>
          <a:p>
            <a:r>
              <a:rPr lang="zh-CN" altLang="en-US" sz="2000" dirty="0">
                <a:latin typeface="宋体" charset="0"/>
                <a:ea typeface="宋体" charset="0"/>
                <a:sym typeface="+mn-ea"/>
              </a:rPr>
              <a:t>initialize - 初始化构建工作，如：设置参数，创建目录等。</a:t>
            </a:r>
          </a:p>
          <a:p>
            <a:r>
              <a:rPr lang="zh-CN" altLang="en-US" sz="2000" dirty="0">
                <a:latin typeface="宋体" charset="0"/>
                <a:ea typeface="宋体" charset="0"/>
                <a:sym typeface="+mn-ea"/>
              </a:rPr>
              <a:t>generate-sources - 为包含在编译范围内的代码生成源代码.</a:t>
            </a:r>
          </a:p>
          <a:p>
            <a:r>
              <a:rPr lang="zh-CN" altLang="en-US" sz="2000" dirty="0">
                <a:latin typeface="宋体" charset="0"/>
                <a:ea typeface="宋体" charset="0"/>
                <a:sym typeface="+mn-ea"/>
              </a:rPr>
              <a:t>process-sources - 处理源代码, 如过滤值.</a:t>
            </a:r>
          </a:p>
          <a:p>
            <a:r>
              <a:rPr lang="zh-CN" altLang="en-US" sz="2000" dirty="0">
                <a:latin typeface="宋体" charset="0"/>
                <a:ea typeface="宋体" charset="0"/>
                <a:sym typeface="+mn-ea"/>
              </a:rPr>
              <a:t>generate-resources -</a:t>
            </a:r>
          </a:p>
          <a:p>
            <a:r>
              <a:rPr lang="zh-CN" altLang="en-US" sz="2000" dirty="0">
                <a:latin typeface="宋体" charset="0"/>
                <a:ea typeface="宋体" charset="0"/>
                <a:sym typeface="+mn-ea"/>
              </a:rPr>
              <a:t>process-resources - 复制并处理资源文件，至目标目录，准备打包。</a:t>
            </a:r>
          </a:p>
          <a:p>
            <a:r>
              <a:rPr lang="zh-CN" altLang="en-US" sz="2000" dirty="0">
                <a:latin typeface="宋体" charset="0"/>
                <a:ea typeface="宋体" charset="0"/>
                <a:sym typeface="+mn-ea"/>
              </a:rPr>
              <a:t>compile - 编译项目中的源代码.</a:t>
            </a:r>
          </a:p>
          <a:p>
            <a:r>
              <a:rPr lang="zh-CN" altLang="en-US" sz="2000" dirty="0">
                <a:latin typeface="宋体" charset="0"/>
                <a:ea typeface="宋体" charset="0"/>
                <a:sym typeface="+mn-ea"/>
              </a:rPr>
              <a:t>process-classes - 为编译生成的文件做后期工作, 例如做Java类的字节码增强.</a:t>
            </a:r>
          </a:p>
          <a:p>
            <a:r>
              <a:rPr lang="zh-CN" altLang="en-US" sz="2000" dirty="0">
                <a:latin typeface="宋体" charset="0"/>
                <a:ea typeface="宋体" charset="0"/>
                <a:sym typeface="+mn-ea"/>
              </a:rPr>
              <a:t>generate-test-sources - 为编译内容生成测试源代码.</a:t>
            </a:r>
          </a:p>
          <a:p>
            <a:r>
              <a:rPr lang="zh-CN" altLang="en-US" sz="2000" dirty="0">
                <a:latin typeface="宋体" charset="0"/>
                <a:ea typeface="宋体" charset="0"/>
                <a:sym typeface="+mn-ea"/>
              </a:rPr>
              <a:t>process-test-sources - 处理测试源代码。</a:t>
            </a:r>
          </a:p>
          <a:p>
            <a:r>
              <a:rPr lang="zh-CN" altLang="en-US" sz="2000" dirty="0">
                <a:latin typeface="宋体" charset="0"/>
                <a:ea typeface="宋体" charset="0"/>
                <a:sym typeface="+mn-ea"/>
              </a:rPr>
              <a:t>generate-test-resources -</a:t>
            </a:r>
          </a:p>
          <a:p>
            <a:r>
              <a:rPr lang="zh-CN" altLang="en-US" sz="2000" dirty="0">
                <a:latin typeface="宋体" charset="0"/>
                <a:ea typeface="宋体" charset="0"/>
                <a:sym typeface="+mn-ea"/>
              </a:rPr>
              <a:t>process-test-resources - 复制并处理资源文件，至目标测试目录。</a:t>
            </a:r>
          </a:p>
          <a:p>
            <a:endParaRPr lang="zh-CN" altLang="en-US" sz="2000" dirty="0">
              <a:latin typeface="宋体" charset="0"/>
              <a:ea typeface="宋体" charset="0"/>
            </a:endParaRPr>
          </a:p>
          <a:p>
            <a:endParaRPr lang="zh-CN" altLang="en-US" sz="2400" dirty="0">
              <a:latin typeface="宋体" charset="0"/>
              <a:ea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一、</a:t>
            </a:r>
            <a:r>
              <a:rPr altLang="zh-CN" dirty="0"/>
              <a:t>Maven</a:t>
            </a:r>
            <a:r>
              <a:rPr lang="zh-CN" altLang="en-US" dirty="0"/>
              <a:t>简介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00075" y="864870"/>
            <a:ext cx="8023860" cy="60045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latin typeface="宋体" charset="0"/>
                <a:ea typeface="宋体" charset="0"/>
                <a:sym typeface="+mn-ea"/>
              </a:rPr>
              <a:t>Maven生命周期</a:t>
            </a:r>
            <a:r>
              <a:rPr lang="en-US" altLang="zh-CN" sz="2400" b="1" dirty="0">
                <a:latin typeface="宋体" charset="0"/>
                <a:ea typeface="宋体" charset="0"/>
                <a:sym typeface="+mn-ea"/>
              </a:rPr>
              <a:t>:</a:t>
            </a:r>
            <a:endParaRPr lang="zh-CN" altLang="en-US" sz="2400" b="1" dirty="0">
              <a:sym typeface="+mn-ea"/>
            </a:endParaRPr>
          </a:p>
          <a:p>
            <a:endParaRPr lang="zh-CN" altLang="en-US" sz="2000" b="1" dirty="0">
              <a:sym typeface="+mn-ea"/>
            </a:endParaRPr>
          </a:p>
          <a:p>
            <a:r>
              <a:rPr lang="zh-CN" altLang="en-US" sz="2000" b="1" dirty="0">
                <a:sym typeface="+mn-ea"/>
              </a:rPr>
              <a:t>默认的生命周期</a:t>
            </a:r>
            <a:r>
              <a:rPr lang="en-US" altLang="zh-CN" sz="2000" b="1" dirty="0">
                <a:sym typeface="+mn-ea"/>
              </a:rPr>
              <a:t>(default</a:t>
            </a:r>
            <a:r>
              <a:rPr lang="zh-CN" altLang="en-US" sz="2000" b="1" dirty="0">
                <a:sym typeface="+mn-ea"/>
              </a:rPr>
              <a:t>)</a:t>
            </a:r>
            <a:r>
              <a:rPr lang="en-US" altLang="zh-CN" sz="2000" b="1" dirty="0">
                <a:sym typeface="+mn-ea"/>
              </a:rPr>
              <a:t>:</a:t>
            </a:r>
            <a:endParaRPr lang="en-US" altLang="zh-CN" sz="2000" b="1" dirty="0"/>
          </a:p>
          <a:p>
            <a:r>
              <a:rPr lang="zh-CN" altLang="en-US" sz="2000" dirty="0">
                <a:latin typeface="宋体" charset="0"/>
                <a:ea typeface="宋体" charset="0"/>
                <a:sym typeface="+mn-ea"/>
              </a:rPr>
              <a:t>test-compile - 将需测试源代码编译到路径。一般来说，是编译/src/test/java目录下的java文件至目标输出的测试classpath目录中。</a:t>
            </a:r>
          </a:p>
          <a:p>
            <a:r>
              <a:rPr lang="zh-CN" altLang="en-US" sz="2000" dirty="0">
                <a:latin typeface="宋体" charset="0"/>
                <a:ea typeface="宋体" charset="0"/>
                <a:sym typeface="+mn-ea"/>
              </a:rPr>
              <a:t>process-test-classes -</a:t>
            </a:r>
          </a:p>
          <a:p>
            <a:r>
              <a:rPr lang="zh-CN" altLang="en-US" sz="2000" dirty="0">
                <a:latin typeface="宋体" charset="0"/>
                <a:ea typeface="宋体" charset="0"/>
                <a:sym typeface="+mn-ea"/>
              </a:rPr>
              <a:t>test - 使用合适的单元测试框架运行测试。这些测试代码不会被打包或部署。</a:t>
            </a:r>
          </a:p>
          <a:p>
            <a:r>
              <a:rPr lang="zh-CN" altLang="en-US" sz="2000" dirty="0">
                <a:latin typeface="宋体" charset="0"/>
                <a:ea typeface="宋体" charset="0"/>
                <a:sym typeface="+mn-ea"/>
              </a:rPr>
              <a:t>prepare-package -</a:t>
            </a:r>
          </a:p>
          <a:p>
            <a:r>
              <a:rPr lang="zh-CN" altLang="en-US" sz="2000" dirty="0">
                <a:latin typeface="宋体" charset="0"/>
                <a:ea typeface="宋体" charset="0"/>
                <a:sym typeface="+mn-ea"/>
              </a:rPr>
              <a:t>package - 接受编译好的代码，打包成可发布的格式，如 JAR 。</a:t>
            </a:r>
          </a:p>
          <a:p>
            <a:r>
              <a:rPr lang="zh-CN" altLang="en-US" sz="2000" dirty="0">
                <a:latin typeface="宋体" charset="0"/>
                <a:ea typeface="宋体" charset="0"/>
                <a:sym typeface="+mn-ea"/>
              </a:rPr>
              <a:t>pre-integration-test -</a:t>
            </a:r>
          </a:p>
          <a:p>
            <a:r>
              <a:rPr lang="zh-CN" altLang="en-US" sz="2000" dirty="0">
                <a:latin typeface="宋体" charset="0"/>
                <a:ea typeface="宋体" charset="0"/>
                <a:sym typeface="+mn-ea"/>
              </a:rPr>
              <a:t>integration-test - 按需求将发布包部署到运行环境。</a:t>
            </a:r>
          </a:p>
          <a:p>
            <a:r>
              <a:rPr lang="zh-CN" altLang="en-US" sz="2000" dirty="0">
                <a:latin typeface="宋体" charset="0"/>
                <a:ea typeface="宋体" charset="0"/>
                <a:sym typeface="+mn-ea"/>
              </a:rPr>
              <a:t>post-integration-test -</a:t>
            </a:r>
          </a:p>
          <a:p>
            <a:r>
              <a:rPr lang="zh-CN" altLang="en-US" sz="2000" dirty="0">
                <a:latin typeface="宋体" charset="0"/>
                <a:ea typeface="宋体" charset="0"/>
                <a:sym typeface="+mn-ea"/>
              </a:rPr>
              <a:t>verify -</a:t>
            </a:r>
          </a:p>
          <a:p>
            <a:r>
              <a:rPr lang="zh-CN" altLang="en-US" sz="2000" dirty="0">
                <a:latin typeface="宋体" charset="0"/>
                <a:ea typeface="宋体" charset="0"/>
                <a:sym typeface="+mn-ea"/>
              </a:rPr>
              <a:t>install -将包安装到本地仓库，给其他本地引用提供依赖。</a:t>
            </a:r>
          </a:p>
          <a:p>
            <a:r>
              <a:rPr lang="zh-CN" altLang="en-US" sz="2000" dirty="0">
                <a:latin typeface="宋体" charset="0"/>
                <a:ea typeface="宋体" charset="0"/>
                <a:sym typeface="+mn-ea"/>
              </a:rPr>
              <a:t>deploy -完成集成和发布工作，将最终包复制到远程仓库以便分享给其他开发人员。</a:t>
            </a:r>
          </a:p>
          <a:p>
            <a:endParaRPr lang="zh-CN" altLang="en-US" sz="2000" dirty="0">
              <a:latin typeface="宋体" charset="0"/>
              <a:ea typeface="宋体" charset="0"/>
            </a:endParaRPr>
          </a:p>
          <a:p>
            <a:endParaRPr lang="zh-CN" altLang="en-US" sz="2400" dirty="0">
              <a:latin typeface="宋体" charset="0"/>
              <a:ea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一、</a:t>
            </a:r>
            <a:r>
              <a:rPr altLang="zh-CN" dirty="0"/>
              <a:t>Maven</a:t>
            </a:r>
            <a:r>
              <a:rPr lang="zh-CN" altLang="en-US" dirty="0"/>
              <a:t>简介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600075" y="864870"/>
            <a:ext cx="8023860" cy="32613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b="1" dirty="0">
                <a:latin typeface="宋体" charset="0"/>
                <a:ea typeface="宋体" charset="0"/>
                <a:sym typeface="+mn-ea"/>
              </a:rPr>
              <a:t>Maven生命周期</a:t>
            </a:r>
            <a:r>
              <a:rPr lang="en-US" altLang="zh-CN" sz="2400" b="1" dirty="0">
                <a:latin typeface="宋体" charset="0"/>
                <a:ea typeface="宋体" charset="0"/>
                <a:sym typeface="+mn-ea"/>
              </a:rPr>
              <a:t>:</a:t>
            </a:r>
            <a:endParaRPr lang="zh-CN" altLang="en-US" sz="2400" b="1" dirty="0">
              <a:sym typeface="+mn-ea"/>
            </a:endParaRPr>
          </a:p>
          <a:p>
            <a:endParaRPr lang="zh-CN" altLang="en-US" sz="2000" b="1" dirty="0">
              <a:sym typeface="+mn-ea"/>
            </a:endParaRPr>
          </a:p>
          <a:p>
            <a:r>
              <a:rPr lang="zh-CN" altLang="en-US" sz="2000" b="1" dirty="0">
                <a:sym typeface="+mn-ea"/>
              </a:rPr>
              <a:t>站点的生命周期</a:t>
            </a:r>
            <a:r>
              <a:rPr lang="en-US" altLang="zh-CN" sz="2000" b="1" dirty="0">
                <a:sym typeface="+mn-ea"/>
              </a:rPr>
              <a:t>(site</a:t>
            </a:r>
            <a:r>
              <a:rPr lang="zh-CN" altLang="en-US" sz="2000" b="1" dirty="0">
                <a:sym typeface="+mn-ea"/>
              </a:rPr>
              <a:t>)</a:t>
            </a:r>
            <a:r>
              <a:rPr lang="en-US" altLang="zh-CN" sz="2000" b="1" dirty="0">
                <a:sym typeface="+mn-ea"/>
              </a:rPr>
              <a:t>:</a:t>
            </a:r>
          </a:p>
          <a:p>
            <a:r>
              <a:rPr lang="en-US" altLang="zh-CN" sz="2000" dirty="0">
                <a:latin typeface="宋体" charset="0"/>
                <a:ea typeface="宋体" charset="0"/>
                <a:sym typeface="+mn-ea"/>
              </a:rPr>
              <a:t>Maven</a:t>
            </a:r>
            <a:r>
              <a:rPr lang="zh-CN" altLang="en-US" sz="2000" dirty="0">
                <a:latin typeface="宋体" charset="0"/>
                <a:ea typeface="宋体" charset="0"/>
                <a:sym typeface="+mn-ea"/>
              </a:rPr>
              <a:t>的网站插件通常用于创建新的文档、创建报告、部署网站等，它主要包含以下阶段：</a:t>
            </a:r>
            <a:endParaRPr lang="zh-CN" altLang="en-US" sz="2000" dirty="0">
              <a:latin typeface="宋体" charset="0"/>
              <a:ea typeface="宋体" charset="0"/>
            </a:endParaRPr>
          </a:p>
          <a:p>
            <a:r>
              <a:rPr lang="zh-CN" altLang="en-US" sz="2000" dirty="0">
                <a:latin typeface="宋体" charset="0"/>
                <a:ea typeface="宋体" charset="0"/>
              </a:rPr>
              <a:t>pre-site - 执行一些生成项目站点前的准备工作。</a:t>
            </a:r>
          </a:p>
          <a:p>
            <a:r>
              <a:rPr lang="zh-CN" altLang="en-US" sz="2000" dirty="0">
                <a:latin typeface="宋体" charset="0"/>
                <a:ea typeface="宋体" charset="0"/>
              </a:rPr>
              <a:t>site - 生成项目站点的文档。</a:t>
            </a:r>
          </a:p>
          <a:p>
            <a:r>
              <a:rPr lang="zh-CN" altLang="en-US" sz="2000" dirty="0">
                <a:latin typeface="宋体" charset="0"/>
                <a:ea typeface="宋体" charset="0"/>
              </a:rPr>
              <a:t>post-site - 执行需完成站点生成的工作，如站点部署的准备工作。</a:t>
            </a:r>
          </a:p>
          <a:p>
            <a:r>
              <a:rPr lang="zh-CN" altLang="en-US" sz="2000" dirty="0">
                <a:latin typeface="宋体" charset="0"/>
                <a:ea typeface="宋体" charset="0"/>
              </a:rPr>
              <a:t>site-deploy - 向制定的web服务器部署站点生成文件</a:t>
            </a:r>
          </a:p>
          <a:p>
            <a:endParaRPr lang="zh-CN" altLang="en-US" sz="2400" dirty="0">
              <a:latin typeface="宋体" charset="0"/>
              <a:ea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二、</a:t>
            </a:r>
            <a:r>
              <a:rPr altLang="zh-CN" dirty="0"/>
              <a:t>Maven</a:t>
            </a:r>
            <a:r>
              <a:rPr lang="zh-CN" altLang="en-US" dirty="0"/>
              <a:t>实用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1428750"/>
            <a:ext cx="8023860" cy="39319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>
                <a:latin typeface="宋体" charset="0"/>
                <a:ea typeface="宋体" charset="0"/>
              </a:rPr>
              <a:t>2.1 Maven</a:t>
            </a:r>
            <a:r>
              <a:rPr lang="zh-CN" altLang="en-US" sz="2800" b="1">
                <a:latin typeface="宋体" charset="0"/>
                <a:ea typeface="宋体" charset="0"/>
              </a:rPr>
              <a:t>安装及配置</a:t>
            </a:r>
          </a:p>
          <a:p>
            <a:endParaRPr lang="zh-CN" altLang="en-US" sz="2800" b="1">
              <a:latin typeface="宋体" charset="0"/>
              <a:ea typeface="宋体" charset="0"/>
            </a:endParaRPr>
          </a:p>
          <a:p>
            <a:r>
              <a:rPr lang="en-US" altLang="zh-CN" sz="2800" b="1">
                <a:latin typeface="宋体" charset="0"/>
                <a:ea typeface="宋体" charset="0"/>
                <a:sym typeface="+mn-ea"/>
              </a:rPr>
              <a:t>2.2 </a:t>
            </a:r>
            <a:r>
              <a:rPr lang="zh-CN" altLang="en-US" sz="2800" b="1">
                <a:latin typeface="宋体" charset="0"/>
                <a:ea typeface="宋体" charset="0"/>
                <a:sym typeface="+mn-ea"/>
              </a:rPr>
              <a:t>集成</a:t>
            </a:r>
            <a:r>
              <a:rPr lang="en-US" altLang="zh-CN" sz="2800" b="1">
                <a:latin typeface="宋体" charset="0"/>
                <a:ea typeface="宋体" charset="0"/>
                <a:sym typeface="+mn-ea"/>
              </a:rPr>
              <a:t>Eclipse</a:t>
            </a:r>
            <a:r>
              <a:rPr lang="zh-CN" altLang="en-US" sz="2800" b="1">
                <a:latin typeface="宋体" charset="0"/>
                <a:ea typeface="宋体" charset="0"/>
                <a:sym typeface="+mn-ea"/>
              </a:rPr>
              <a:t>配置</a:t>
            </a:r>
            <a:endParaRPr lang="zh-CN" altLang="en-US" sz="2800" b="1">
              <a:latin typeface="宋体" charset="0"/>
              <a:ea typeface="宋体" charset="0"/>
            </a:endParaRPr>
          </a:p>
          <a:p>
            <a:endParaRPr lang="en-US" altLang="zh-CN" sz="2800" b="1">
              <a:latin typeface="宋体" charset="0"/>
              <a:ea typeface="宋体" charset="0"/>
            </a:endParaRPr>
          </a:p>
          <a:p>
            <a:r>
              <a:rPr lang="en-US" altLang="zh-CN" sz="2800" b="1">
                <a:latin typeface="宋体" charset="0"/>
                <a:ea typeface="宋体" charset="0"/>
                <a:sym typeface="+mn-ea"/>
              </a:rPr>
              <a:t>2.3 Maven</a:t>
            </a:r>
            <a:r>
              <a:rPr lang="zh-CN" altLang="en-US" sz="2800" b="1">
                <a:latin typeface="宋体" charset="0"/>
                <a:ea typeface="宋体" charset="0"/>
                <a:sym typeface="+mn-ea"/>
              </a:rPr>
              <a:t>工程创建</a:t>
            </a:r>
          </a:p>
          <a:p>
            <a:endParaRPr lang="zh-CN" altLang="en-US" sz="2800" b="1">
              <a:latin typeface="宋体" charset="0"/>
              <a:ea typeface="宋体" charset="0"/>
              <a:sym typeface="+mn-ea"/>
            </a:endParaRPr>
          </a:p>
          <a:p>
            <a:r>
              <a:rPr lang="en-US" altLang="zh-CN" sz="2800" b="1">
                <a:latin typeface="宋体" charset="0"/>
                <a:ea typeface="宋体" charset="0"/>
                <a:sym typeface="+mn-ea"/>
              </a:rPr>
              <a:t>2.4 Maven</a:t>
            </a:r>
            <a:r>
              <a:rPr lang="zh-CN" altLang="en-US" sz="2800" b="1">
                <a:latin typeface="宋体" charset="0"/>
                <a:ea typeface="宋体" charset="0"/>
                <a:sym typeface="+mn-ea"/>
              </a:rPr>
              <a:t>工程打包</a:t>
            </a:r>
          </a:p>
          <a:p>
            <a:endParaRPr lang="zh-CN" altLang="en-US" sz="2800" b="1">
              <a:latin typeface="宋体" charset="0"/>
              <a:ea typeface="宋体" charset="0"/>
              <a:sym typeface="+mn-ea"/>
            </a:endParaRPr>
          </a:p>
          <a:p>
            <a:r>
              <a:rPr lang="en-US" altLang="zh-CN" sz="2800" b="1">
                <a:latin typeface="宋体" charset="0"/>
                <a:ea typeface="宋体" charset="0"/>
                <a:sym typeface="+mn-ea"/>
              </a:rPr>
              <a:t>2.5 Maven</a:t>
            </a:r>
            <a:r>
              <a:rPr lang="zh-CN" altLang="en-US" sz="2800" b="1">
                <a:latin typeface="宋体" charset="0"/>
                <a:ea typeface="宋体" charset="0"/>
                <a:sym typeface="+mn-ea"/>
              </a:rPr>
              <a:t>常用命令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二、</a:t>
            </a:r>
            <a:r>
              <a:rPr altLang="zh-CN" dirty="0"/>
              <a:t>Maven</a:t>
            </a:r>
            <a:r>
              <a:rPr lang="zh-CN" altLang="en-US" dirty="0"/>
              <a:t>实用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1017270"/>
            <a:ext cx="8023860" cy="10972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2.1 Maven</a:t>
            </a:r>
            <a:r>
              <a:rPr lang="zh-CN" altLang="en-US" sz="2400" b="1">
                <a:latin typeface="宋体" charset="0"/>
                <a:ea typeface="宋体" charset="0"/>
                <a:sym typeface="+mn-ea"/>
              </a:rPr>
              <a:t>安装及配置：</a:t>
            </a:r>
            <a:endParaRPr lang="en-US" altLang="zh-CN" sz="2400" b="1">
              <a:latin typeface="宋体" charset="0"/>
              <a:ea typeface="宋体" charset="0"/>
            </a:endParaRPr>
          </a:p>
          <a:p>
            <a:r>
              <a:rPr lang="en-US" altLang="zh-CN" sz="2400">
                <a:latin typeface="宋体" charset="0"/>
                <a:ea typeface="宋体" charset="0"/>
              </a:rPr>
              <a:t>	</a:t>
            </a:r>
            <a:r>
              <a:rPr lang="en-US" altLang="zh-CN">
                <a:latin typeface="宋体" charset="0"/>
                <a:ea typeface="宋体" charset="0"/>
              </a:rPr>
              <a:t>1.</a:t>
            </a:r>
            <a:r>
              <a:rPr lang="zh-CN" altLang="en-US">
                <a:latin typeface="宋体" charset="0"/>
                <a:ea typeface="宋体" charset="0"/>
              </a:rPr>
              <a:t>从apache官网下载</a:t>
            </a:r>
            <a:r>
              <a:rPr lang="en-US" altLang="zh-CN">
                <a:latin typeface="宋体" charset="0"/>
                <a:ea typeface="宋体" charset="0"/>
              </a:rPr>
              <a:t>maven</a:t>
            </a:r>
            <a:r>
              <a:rPr lang="zh-CN" altLang="en-US">
                <a:latin typeface="宋体" charset="0"/>
                <a:ea typeface="宋体" charset="0"/>
              </a:rPr>
              <a:t>最新版本并解压后，修改conf目录下的settings.xml文件，修改本地仓库、私服仓库地址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配置。</a:t>
            </a:r>
            <a:endParaRPr lang="zh-CN" altLang="en-US">
              <a:latin typeface="宋体" charset="0"/>
              <a:ea typeface="宋体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25" y="2205990"/>
            <a:ext cx="7580630" cy="41560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二、</a:t>
            </a:r>
            <a:r>
              <a:rPr altLang="zh-CN" dirty="0"/>
              <a:t>Maven</a:t>
            </a:r>
            <a:r>
              <a:rPr lang="zh-CN" altLang="en-US" dirty="0"/>
              <a:t>实用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1017270"/>
            <a:ext cx="8023860" cy="10972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2.1 Maven</a:t>
            </a:r>
            <a:r>
              <a:rPr lang="zh-CN" altLang="en-US" sz="2400" b="1">
                <a:latin typeface="宋体" charset="0"/>
                <a:ea typeface="宋体" charset="0"/>
                <a:sym typeface="+mn-ea"/>
              </a:rPr>
              <a:t>安装及配置：</a:t>
            </a:r>
            <a:endParaRPr lang="en-US" altLang="zh-CN" sz="2400" b="1">
              <a:latin typeface="宋体" charset="0"/>
              <a:ea typeface="宋体" charset="0"/>
            </a:endParaRPr>
          </a:p>
          <a:p>
            <a:r>
              <a:rPr lang="en-US" altLang="zh-CN" sz="2400">
                <a:latin typeface="宋体" charset="0"/>
                <a:ea typeface="宋体" charset="0"/>
              </a:rPr>
              <a:t>	</a:t>
            </a:r>
            <a:r>
              <a:rPr lang="en-US" altLang="zh-CN">
                <a:latin typeface="宋体" charset="0"/>
                <a:ea typeface="宋体" charset="0"/>
              </a:rPr>
              <a:t>2.</a:t>
            </a:r>
            <a:r>
              <a:rPr lang="zh-CN" altLang="en-US">
                <a:latin typeface="宋体" charset="0"/>
                <a:ea typeface="宋体" charset="0"/>
              </a:rPr>
              <a:t>配置环境变量，新建环境变量MAVEN_HOME，并在PATH里加入maven的bin的路径。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400" y="3922395"/>
            <a:ext cx="5488305" cy="19551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00" y="2138045"/>
            <a:ext cx="5532755" cy="1521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二、</a:t>
            </a:r>
            <a:r>
              <a:rPr altLang="zh-CN" dirty="0"/>
              <a:t>Maven</a:t>
            </a:r>
            <a:r>
              <a:rPr lang="zh-CN" altLang="en-US" dirty="0"/>
              <a:t>实用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1017270"/>
            <a:ext cx="8023860" cy="1371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2.1 Maven</a:t>
            </a:r>
            <a:r>
              <a:rPr lang="zh-CN" altLang="en-US" sz="2400" b="1">
                <a:latin typeface="宋体" charset="0"/>
                <a:ea typeface="宋体" charset="0"/>
                <a:sym typeface="+mn-ea"/>
              </a:rPr>
              <a:t>安装及配置：</a:t>
            </a:r>
            <a:endParaRPr lang="en-US" altLang="zh-CN" sz="2400" b="1">
              <a:latin typeface="宋体" charset="0"/>
              <a:ea typeface="宋体" charset="0"/>
            </a:endParaRPr>
          </a:p>
          <a:p>
            <a:r>
              <a:rPr lang="en-US" altLang="zh-CN" sz="2400">
                <a:latin typeface="宋体" charset="0"/>
                <a:ea typeface="宋体" charset="0"/>
              </a:rPr>
              <a:t>	</a:t>
            </a:r>
            <a:r>
              <a:rPr lang="en-US" altLang="zh-CN">
                <a:latin typeface="宋体" charset="0"/>
                <a:ea typeface="宋体" charset="0"/>
              </a:rPr>
              <a:t>3.配置</a:t>
            </a:r>
            <a:r>
              <a:rPr lang="zh-CN" altLang="en-US">
                <a:latin typeface="宋体" charset="0"/>
                <a:ea typeface="宋体" charset="0"/>
              </a:rPr>
              <a:t>完成</a:t>
            </a:r>
            <a:r>
              <a:rPr lang="en-US" altLang="zh-CN">
                <a:latin typeface="宋体" charset="0"/>
                <a:ea typeface="宋体" charset="0"/>
              </a:rPr>
              <a:t>后，在Windows命令提示符下，输入mvn -v测试一下，显示如</a:t>
            </a:r>
            <a:r>
              <a:rPr lang="zh-CN" altLang="en-US">
                <a:latin typeface="宋体" charset="0"/>
                <a:ea typeface="宋体" charset="0"/>
              </a:rPr>
              <a:t>下</a:t>
            </a:r>
            <a:r>
              <a:rPr lang="en-US" altLang="zh-CN">
                <a:latin typeface="宋体" charset="0"/>
                <a:ea typeface="宋体" charset="0"/>
              </a:rPr>
              <a:t>图</a:t>
            </a:r>
            <a:r>
              <a:rPr lang="zh-CN" altLang="en-US">
                <a:latin typeface="宋体" charset="0"/>
                <a:ea typeface="宋体" charset="0"/>
              </a:rPr>
              <a:t>则安装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成功</a:t>
            </a:r>
            <a:r>
              <a:rPr lang="zh-CN" altLang="en-US">
                <a:latin typeface="宋体" charset="0"/>
                <a:ea typeface="宋体" charset="0"/>
              </a:rPr>
              <a:t>。需要注意Maven依赖Java运行环境，使用Maven之前需要先配置Java的运行环境。</a:t>
            </a:r>
          </a:p>
        </p:txBody>
      </p:sp>
      <p:pic>
        <p:nvPicPr>
          <p:cNvPr id="5" name="图片 4" descr="F(CH{~JQ(U4]~S4HK3P9H%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25" y="2592070"/>
            <a:ext cx="7221220" cy="29279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二、</a:t>
            </a:r>
            <a:r>
              <a:rPr altLang="zh-CN" dirty="0"/>
              <a:t>Maven</a:t>
            </a:r>
            <a:r>
              <a:rPr lang="zh-CN" altLang="en-US" dirty="0"/>
              <a:t>实用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922655"/>
            <a:ext cx="8023860" cy="10972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2.2 </a:t>
            </a:r>
            <a:r>
              <a:rPr lang="zh-CN" altLang="en-US" sz="2400" b="1">
                <a:latin typeface="宋体" charset="0"/>
                <a:ea typeface="宋体" charset="0"/>
                <a:sym typeface="+mn-ea"/>
              </a:rPr>
              <a:t>集成</a:t>
            </a:r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eclipse</a:t>
            </a:r>
            <a:r>
              <a:rPr lang="zh-CN" altLang="en-US" sz="2400" b="1">
                <a:latin typeface="宋体" charset="0"/>
                <a:ea typeface="宋体" charset="0"/>
                <a:sym typeface="+mn-ea"/>
              </a:rPr>
              <a:t>的配置：</a:t>
            </a:r>
            <a:endParaRPr lang="en-US" altLang="zh-CN" sz="2400" b="1">
              <a:latin typeface="宋体" charset="0"/>
              <a:ea typeface="宋体" charset="0"/>
            </a:endParaRPr>
          </a:p>
          <a:p>
            <a:r>
              <a:rPr lang="en-US" altLang="zh-CN" sz="2400">
                <a:latin typeface="宋体" charset="0"/>
                <a:ea typeface="宋体" charset="0"/>
              </a:rPr>
              <a:t>	</a:t>
            </a:r>
            <a:r>
              <a:rPr lang="zh-CN" altLang="en-US">
                <a:latin typeface="宋体" charset="0"/>
                <a:ea typeface="宋体" charset="0"/>
              </a:rPr>
              <a:t>进入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eclipse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的</a:t>
            </a:r>
            <a:r>
              <a:rPr lang="en-US" altLang="zh-CN">
                <a:latin typeface="宋体" charset="0"/>
                <a:ea typeface="宋体" charset="0"/>
              </a:rPr>
              <a:t>windows-&gt;Preferences-&gt;Maven-&gt;User Settings,</a:t>
            </a:r>
            <a:r>
              <a:rPr lang="zh-CN" altLang="en-US">
                <a:latin typeface="宋体" charset="0"/>
                <a:ea typeface="宋体" charset="0"/>
              </a:rPr>
              <a:t>选择本地安装</a:t>
            </a:r>
            <a:r>
              <a:rPr lang="en-US" altLang="zh-CN">
                <a:latin typeface="宋体" charset="0"/>
                <a:ea typeface="宋体" charset="0"/>
              </a:rPr>
              <a:t>maven</a:t>
            </a:r>
            <a:r>
              <a:rPr lang="zh-CN" altLang="en-US">
                <a:latin typeface="宋体" charset="0"/>
                <a:ea typeface="宋体" charset="0"/>
              </a:rPr>
              <a:t>的</a:t>
            </a:r>
            <a:r>
              <a:rPr lang="en-US" altLang="zh-CN">
                <a:latin typeface="宋体" charset="0"/>
                <a:ea typeface="宋体" charset="0"/>
              </a:rPr>
              <a:t>conf</a:t>
            </a:r>
            <a:r>
              <a:rPr lang="zh-CN" altLang="en-US">
                <a:latin typeface="宋体" charset="0"/>
                <a:ea typeface="宋体" charset="0"/>
              </a:rPr>
              <a:t>目录下的</a:t>
            </a:r>
            <a:r>
              <a:rPr lang="en-US" altLang="zh-CN">
                <a:latin typeface="宋体" charset="0"/>
                <a:ea typeface="宋体" charset="0"/>
              </a:rPr>
              <a:t>settings.xml</a:t>
            </a:r>
            <a:r>
              <a:rPr lang="zh-CN" altLang="en-US">
                <a:latin typeface="宋体" charset="0"/>
                <a:ea typeface="宋体" charset="0"/>
              </a:rPr>
              <a:t>文件并应用即可。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" y="2016760"/>
            <a:ext cx="7764780" cy="43173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二、</a:t>
            </a:r>
            <a:r>
              <a:rPr altLang="zh-CN" dirty="0"/>
              <a:t>Maven</a:t>
            </a:r>
            <a:r>
              <a:rPr lang="zh-CN" altLang="en-US" dirty="0"/>
              <a:t>实用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922655"/>
            <a:ext cx="8023860" cy="10972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2.3 Maven</a:t>
            </a:r>
            <a:r>
              <a:rPr lang="zh-CN" altLang="en-US" sz="2400" b="1">
                <a:latin typeface="宋体" charset="0"/>
                <a:ea typeface="宋体" charset="0"/>
                <a:sym typeface="+mn-ea"/>
              </a:rPr>
              <a:t>工程创建</a:t>
            </a:r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:</a:t>
            </a:r>
          </a:p>
          <a:p>
            <a:r>
              <a:rPr lang="en-US" altLang="zh-CN" sz="2400">
                <a:latin typeface="宋体" charset="0"/>
                <a:ea typeface="宋体" charset="0"/>
              </a:rPr>
              <a:t>	</a:t>
            </a:r>
            <a:r>
              <a:rPr lang="en-US" altLang="zh-CN">
                <a:latin typeface="宋体" charset="0"/>
                <a:ea typeface="宋体" charset="0"/>
              </a:rPr>
              <a:t>1.</a:t>
            </a:r>
            <a:r>
              <a:rPr lang="zh-CN" altLang="en-US">
                <a:latin typeface="宋体" charset="0"/>
                <a:ea typeface="宋体" charset="0"/>
              </a:rPr>
              <a:t>创建</a:t>
            </a:r>
            <a:r>
              <a:rPr lang="en-US" altLang="zh-CN">
                <a:latin typeface="宋体" charset="0"/>
                <a:ea typeface="宋体" charset="0"/>
              </a:rPr>
              <a:t>Maven</a:t>
            </a:r>
            <a:r>
              <a:rPr lang="zh-CN" altLang="en-US">
                <a:latin typeface="宋体" charset="0"/>
                <a:ea typeface="宋体" charset="0"/>
              </a:rPr>
              <a:t>项目</a:t>
            </a:r>
            <a:r>
              <a:rPr lang="en-US" altLang="zh-CN">
                <a:latin typeface="宋体" charset="0"/>
                <a:ea typeface="宋体" charset="0"/>
              </a:rPr>
              <a:t>,</a:t>
            </a:r>
            <a:r>
              <a:rPr lang="zh-CN" altLang="en-US">
                <a:latin typeface="宋体" charset="0"/>
                <a:ea typeface="宋体" charset="0"/>
              </a:rPr>
              <a:t>进入</a:t>
            </a:r>
            <a:r>
              <a:rPr lang="en-US" altLang="zh-CN">
                <a:latin typeface="宋体" charset="0"/>
                <a:ea typeface="宋体" charset="0"/>
              </a:rPr>
              <a:t>Eclipse</a:t>
            </a:r>
            <a:r>
              <a:rPr lang="zh-CN" altLang="en-US">
                <a:latin typeface="宋体" charset="0"/>
                <a:ea typeface="宋体" charset="0"/>
              </a:rPr>
              <a:t>的</a:t>
            </a:r>
            <a:r>
              <a:rPr lang="en-US" altLang="zh-CN">
                <a:latin typeface="宋体" charset="0"/>
                <a:ea typeface="宋体" charset="0"/>
              </a:rPr>
              <a:t>File-&gt;New-&gt;Project,</a:t>
            </a:r>
            <a:r>
              <a:rPr lang="zh-CN" altLang="en-US">
                <a:latin typeface="宋体" charset="0"/>
                <a:ea typeface="宋体" charset="0"/>
              </a:rPr>
              <a:t>输入</a:t>
            </a:r>
            <a:r>
              <a:rPr lang="en-US" altLang="zh-CN">
                <a:latin typeface="宋体" charset="0"/>
                <a:ea typeface="宋体" charset="0"/>
              </a:rPr>
              <a:t>maven</a:t>
            </a:r>
            <a:r>
              <a:rPr lang="zh-CN" altLang="en-US">
                <a:latin typeface="宋体" charset="0"/>
                <a:ea typeface="宋体" charset="0"/>
              </a:rPr>
              <a:t>，选择</a:t>
            </a:r>
            <a:r>
              <a:rPr lang="en-US" altLang="zh-CN">
                <a:latin typeface="宋体" charset="0"/>
                <a:ea typeface="宋体" charset="0"/>
              </a:rPr>
              <a:t>Maven Project</a:t>
            </a:r>
            <a:r>
              <a:rPr lang="zh-CN" altLang="en-US">
                <a:latin typeface="宋体" charset="0"/>
                <a:ea typeface="宋体" charset="0"/>
              </a:rPr>
              <a:t>，点击</a:t>
            </a:r>
            <a:r>
              <a:rPr lang="en-US" altLang="zh-CN">
                <a:latin typeface="宋体" charset="0"/>
                <a:ea typeface="宋体" charset="0"/>
              </a:rPr>
              <a:t>Next</a:t>
            </a:r>
            <a:r>
              <a:rPr lang="zh-CN" altLang="en-US">
                <a:latin typeface="宋体" charset="0"/>
                <a:ea typeface="宋体" charset="0"/>
              </a:rPr>
              <a:t>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845" y="2020570"/>
            <a:ext cx="8206740" cy="43935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二、</a:t>
            </a:r>
            <a:r>
              <a:rPr altLang="zh-CN" dirty="0"/>
              <a:t>Maven</a:t>
            </a:r>
            <a:r>
              <a:rPr lang="zh-CN" altLang="en-US" dirty="0"/>
              <a:t>实用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922655"/>
            <a:ext cx="8023860" cy="1371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2.3 Maven</a:t>
            </a:r>
            <a:r>
              <a:rPr lang="zh-CN" altLang="en-US" sz="2400" b="1">
                <a:latin typeface="宋体" charset="0"/>
                <a:ea typeface="宋体" charset="0"/>
                <a:sym typeface="+mn-ea"/>
              </a:rPr>
              <a:t>工程创建</a:t>
            </a:r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:</a:t>
            </a:r>
          </a:p>
          <a:p>
            <a:r>
              <a:rPr lang="en-US" altLang="zh-CN" sz="2400">
                <a:latin typeface="宋体" charset="0"/>
                <a:ea typeface="宋体" charset="0"/>
              </a:rPr>
              <a:t>	</a:t>
            </a:r>
            <a:r>
              <a:rPr lang="en-US" altLang="zh-CN">
                <a:latin typeface="宋体" charset="0"/>
                <a:ea typeface="宋体" charset="0"/>
              </a:rPr>
              <a:t>2.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创建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Maven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项目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,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进入页面后</a:t>
            </a:r>
            <a:r>
              <a:rPr lang="zh-CN" altLang="en-US">
                <a:latin typeface="宋体" charset="0"/>
                <a:ea typeface="宋体" charset="0"/>
              </a:rPr>
              <a:t>勾选</a:t>
            </a:r>
            <a:r>
              <a:rPr lang="en-US" altLang="zh-CN">
                <a:latin typeface="宋体" charset="0"/>
                <a:ea typeface="宋体" charset="0"/>
              </a:rPr>
              <a:t>Create a simple project</a:t>
            </a:r>
            <a:r>
              <a:rPr lang="zh-CN" altLang="en-US">
                <a:latin typeface="宋体" charset="0"/>
                <a:ea typeface="宋体" charset="0"/>
              </a:rPr>
              <a:t>并点击</a:t>
            </a:r>
            <a:r>
              <a:rPr lang="en-US" altLang="zh-CN">
                <a:latin typeface="宋体" charset="0"/>
                <a:ea typeface="宋体" charset="0"/>
              </a:rPr>
              <a:t>Next</a:t>
            </a:r>
            <a:r>
              <a:rPr lang="zh-CN" altLang="en-US">
                <a:latin typeface="宋体" charset="0"/>
                <a:ea typeface="宋体" charset="0"/>
              </a:rPr>
              <a:t>，填写</a:t>
            </a:r>
            <a:r>
              <a:rPr lang="en-US" altLang="zh-CN">
                <a:latin typeface="宋体" charset="0"/>
                <a:ea typeface="宋体" charset="0"/>
              </a:rPr>
              <a:t>Group Id</a:t>
            </a:r>
            <a:r>
              <a:rPr lang="zh-CN" altLang="en-US">
                <a:latin typeface="宋体" charset="0"/>
                <a:ea typeface="宋体" charset="0"/>
              </a:rPr>
              <a:t>、</a:t>
            </a:r>
            <a:r>
              <a:rPr lang="en-US" altLang="zh-CN">
                <a:latin typeface="宋体" charset="0"/>
                <a:ea typeface="宋体" charset="0"/>
              </a:rPr>
              <a:t>Artifact Id</a:t>
            </a:r>
            <a:r>
              <a:rPr lang="zh-CN" altLang="en-US">
                <a:latin typeface="宋体" charset="0"/>
                <a:ea typeface="宋体" charset="0"/>
              </a:rPr>
              <a:t>、</a:t>
            </a:r>
            <a:r>
              <a:rPr lang="en-US" altLang="zh-CN">
                <a:latin typeface="宋体" charset="0"/>
                <a:ea typeface="宋体" charset="0"/>
              </a:rPr>
              <a:t>Name</a:t>
            </a:r>
            <a:r>
              <a:rPr lang="zh-CN" altLang="en-US">
                <a:latin typeface="宋体" charset="0"/>
                <a:ea typeface="宋体" charset="0"/>
              </a:rPr>
              <a:t>、</a:t>
            </a:r>
            <a:r>
              <a:rPr lang="en-US" altLang="zh-CN">
                <a:latin typeface="宋体" charset="0"/>
                <a:ea typeface="宋体" charset="0"/>
              </a:rPr>
              <a:t>Descriptions</a:t>
            </a:r>
            <a:r>
              <a:rPr lang="zh-CN" altLang="en-US">
                <a:latin typeface="宋体" charset="0"/>
                <a:ea typeface="宋体" charset="0"/>
              </a:rPr>
              <a:t>，</a:t>
            </a:r>
            <a:r>
              <a:rPr lang="en-US" altLang="zh-CN">
                <a:latin typeface="宋体" charset="0"/>
                <a:ea typeface="宋体" charset="0"/>
              </a:rPr>
              <a:t>Packaging</a:t>
            </a:r>
            <a:r>
              <a:rPr lang="zh-CN" altLang="en-US">
                <a:latin typeface="宋体" charset="0"/>
                <a:ea typeface="宋体" charset="0"/>
              </a:rPr>
              <a:t>选择</a:t>
            </a:r>
            <a:r>
              <a:rPr lang="en-US" altLang="zh-CN">
                <a:latin typeface="宋体" charset="0"/>
                <a:ea typeface="宋体" charset="0"/>
              </a:rPr>
              <a:t>pom</a:t>
            </a:r>
            <a:r>
              <a:rPr lang="zh-CN" altLang="en-US">
                <a:latin typeface="宋体" charset="0"/>
                <a:ea typeface="宋体" charset="0"/>
              </a:rPr>
              <a:t>，点击</a:t>
            </a:r>
            <a:r>
              <a:rPr lang="en-US" altLang="zh-CN">
                <a:latin typeface="宋体" charset="0"/>
                <a:ea typeface="宋体" charset="0"/>
              </a:rPr>
              <a:t>Finish</a:t>
            </a:r>
            <a:r>
              <a:rPr lang="zh-CN" altLang="en-US">
                <a:latin typeface="宋体" charset="0"/>
                <a:ea typeface="宋体" charset="0"/>
              </a:rPr>
              <a:t>完成创建。</a:t>
            </a:r>
          </a:p>
        </p:txBody>
      </p:sp>
      <p:pic>
        <p:nvPicPr>
          <p:cNvPr id="3" name="图片 2" descr="V4}][W%}7QHY6GC~`(IH6)Q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" y="2272030"/>
            <a:ext cx="8216900" cy="41033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二、</a:t>
            </a:r>
            <a:r>
              <a:rPr altLang="zh-CN" dirty="0"/>
              <a:t>Maven</a:t>
            </a:r>
            <a:r>
              <a:rPr lang="zh-CN" altLang="en-US" dirty="0"/>
              <a:t>实用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922655"/>
            <a:ext cx="8023860" cy="1371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2.3 Maven</a:t>
            </a:r>
            <a:r>
              <a:rPr lang="zh-CN" altLang="en-US" sz="2400" b="1">
                <a:latin typeface="宋体" charset="0"/>
                <a:ea typeface="宋体" charset="0"/>
                <a:sym typeface="+mn-ea"/>
              </a:rPr>
              <a:t>工程创建</a:t>
            </a:r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:</a:t>
            </a:r>
          </a:p>
          <a:p>
            <a:r>
              <a:rPr lang="en-US" altLang="zh-CN" sz="2400">
                <a:latin typeface="宋体" charset="0"/>
                <a:ea typeface="宋体" charset="0"/>
              </a:rPr>
              <a:t>	</a:t>
            </a:r>
            <a:r>
              <a:rPr lang="en-US" altLang="zh-CN">
                <a:latin typeface="宋体" charset="0"/>
                <a:ea typeface="宋体" charset="0"/>
              </a:rPr>
              <a:t>3.</a:t>
            </a:r>
            <a:r>
              <a:rPr lang="zh-CN" altLang="en-US">
                <a:latin typeface="宋体" charset="0"/>
                <a:ea typeface="宋体" charset="0"/>
              </a:rPr>
              <a:t>创建</a:t>
            </a:r>
            <a:r>
              <a:rPr lang="en-US" altLang="zh-CN">
                <a:latin typeface="宋体" charset="0"/>
                <a:ea typeface="宋体" charset="0"/>
              </a:rPr>
              <a:t>Maven</a:t>
            </a:r>
            <a:r>
              <a:rPr lang="zh-CN" altLang="en-US">
                <a:latin typeface="宋体" charset="0"/>
                <a:ea typeface="宋体" charset="0"/>
              </a:rPr>
              <a:t>模块</a:t>
            </a:r>
            <a:r>
              <a:rPr lang="en-US" altLang="zh-CN">
                <a:latin typeface="宋体" charset="0"/>
                <a:ea typeface="宋体" charset="0"/>
              </a:rPr>
              <a:t>,</a:t>
            </a:r>
            <a:r>
              <a:rPr lang="zh-CN" altLang="en-US">
                <a:latin typeface="宋体" charset="0"/>
                <a:ea typeface="宋体" charset="0"/>
              </a:rPr>
              <a:t>点击刚创建的</a:t>
            </a:r>
            <a:r>
              <a:rPr lang="en-US" altLang="zh-CN">
                <a:latin typeface="宋体" charset="0"/>
                <a:ea typeface="宋体" charset="0"/>
              </a:rPr>
              <a:t>test-proj</a:t>
            </a:r>
            <a:r>
              <a:rPr lang="zh-CN" altLang="en-US">
                <a:latin typeface="宋体" charset="0"/>
                <a:ea typeface="宋体" charset="0"/>
              </a:rPr>
              <a:t>鼠标右击，进入</a:t>
            </a:r>
            <a:r>
              <a:rPr lang="en-US" altLang="zh-CN">
                <a:latin typeface="宋体" charset="0"/>
                <a:ea typeface="宋体" charset="0"/>
              </a:rPr>
              <a:t>New-&gt;Project,</a:t>
            </a:r>
            <a:r>
              <a:rPr lang="zh-CN" altLang="en-US">
                <a:latin typeface="宋体" charset="0"/>
                <a:ea typeface="宋体" charset="0"/>
              </a:rPr>
              <a:t>输入</a:t>
            </a:r>
            <a:r>
              <a:rPr lang="en-US" altLang="zh-CN">
                <a:latin typeface="宋体" charset="0"/>
                <a:ea typeface="宋体" charset="0"/>
              </a:rPr>
              <a:t>maven</a:t>
            </a:r>
            <a:r>
              <a:rPr lang="zh-CN" altLang="en-US">
                <a:latin typeface="宋体" charset="0"/>
                <a:ea typeface="宋体" charset="0"/>
              </a:rPr>
              <a:t>，选择</a:t>
            </a:r>
            <a:r>
              <a:rPr lang="en-US" altLang="zh-CN">
                <a:latin typeface="宋体" charset="0"/>
                <a:ea typeface="宋体" charset="0"/>
              </a:rPr>
              <a:t>Maven Module</a:t>
            </a:r>
            <a:r>
              <a:rPr lang="zh-CN" altLang="en-US">
                <a:latin typeface="宋体" charset="0"/>
                <a:ea typeface="宋体" charset="0"/>
              </a:rPr>
              <a:t>，点击</a:t>
            </a:r>
            <a:r>
              <a:rPr lang="en-US" altLang="zh-CN">
                <a:latin typeface="宋体" charset="0"/>
                <a:ea typeface="宋体" charset="0"/>
              </a:rPr>
              <a:t>Next</a:t>
            </a:r>
            <a:r>
              <a:rPr lang="zh-CN" altLang="en-US">
                <a:latin typeface="宋体" charset="0"/>
                <a:ea typeface="宋体" charset="0"/>
              </a:rPr>
              <a:t>。进入页面后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勾选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Create a simple project,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输入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Model Name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后点击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Next</a:t>
            </a:r>
            <a:r>
              <a:rPr lang="zh-CN" altLang="en-US">
                <a:latin typeface="宋体" charset="0"/>
                <a:ea typeface="宋体" charset="0"/>
              </a:rPr>
              <a:t>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25" y="2294255"/>
            <a:ext cx="7591425" cy="37738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二、</a:t>
            </a:r>
            <a:r>
              <a:rPr altLang="zh-CN" dirty="0"/>
              <a:t>Maven</a:t>
            </a:r>
            <a:r>
              <a:rPr lang="zh-CN" altLang="en-US" dirty="0"/>
              <a:t>实用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922655"/>
            <a:ext cx="8023860" cy="10972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2.3 Maven</a:t>
            </a:r>
            <a:r>
              <a:rPr lang="zh-CN" altLang="en-US" sz="2400" b="1">
                <a:latin typeface="宋体" charset="0"/>
                <a:ea typeface="宋体" charset="0"/>
                <a:sym typeface="+mn-ea"/>
              </a:rPr>
              <a:t>工程创建</a:t>
            </a:r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:</a:t>
            </a:r>
          </a:p>
          <a:p>
            <a:r>
              <a:rPr lang="en-US" altLang="zh-CN" sz="2400">
                <a:latin typeface="宋体" charset="0"/>
                <a:ea typeface="宋体" charset="0"/>
              </a:rPr>
              <a:t>	</a:t>
            </a:r>
            <a:r>
              <a:rPr lang="en-US" altLang="zh-CN">
                <a:latin typeface="宋体" charset="0"/>
                <a:ea typeface="宋体" charset="0"/>
              </a:rPr>
              <a:t>4.</a:t>
            </a:r>
            <a:r>
              <a:rPr lang="zh-CN" altLang="en-US">
                <a:latin typeface="宋体" charset="0"/>
                <a:ea typeface="宋体" charset="0"/>
              </a:rPr>
              <a:t>创建</a:t>
            </a:r>
            <a:r>
              <a:rPr lang="en-US" altLang="zh-CN">
                <a:latin typeface="宋体" charset="0"/>
                <a:ea typeface="宋体" charset="0"/>
              </a:rPr>
              <a:t>Maven</a:t>
            </a:r>
            <a:r>
              <a:rPr lang="zh-CN" altLang="en-US">
                <a:latin typeface="宋体" charset="0"/>
                <a:ea typeface="宋体" charset="0"/>
              </a:rPr>
              <a:t>模块</a:t>
            </a:r>
            <a:r>
              <a:rPr lang="en-US" altLang="zh-CN">
                <a:latin typeface="宋体" charset="0"/>
                <a:ea typeface="宋体" charset="0"/>
              </a:rPr>
              <a:t>,</a:t>
            </a:r>
            <a:r>
              <a:rPr lang="zh-CN" altLang="en-US">
                <a:latin typeface="宋体" charset="0"/>
                <a:ea typeface="宋体" charset="0"/>
              </a:rPr>
              <a:t>输入</a:t>
            </a:r>
            <a:r>
              <a:rPr lang="en-US" altLang="zh-CN">
                <a:latin typeface="宋体" charset="0"/>
                <a:ea typeface="宋体" charset="0"/>
              </a:rPr>
              <a:t>Group Id</a:t>
            </a:r>
            <a:r>
              <a:rPr lang="zh-CN" altLang="en-US">
                <a:latin typeface="宋体" charset="0"/>
                <a:ea typeface="宋体" charset="0"/>
              </a:rPr>
              <a:t>、</a:t>
            </a:r>
            <a:r>
              <a:rPr lang="en-US" altLang="zh-CN">
                <a:latin typeface="宋体" charset="0"/>
                <a:ea typeface="宋体" charset="0"/>
              </a:rPr>
              <a:t>Name</a:t>
            </a:r>
            <a:r>
              <a:rPr lang="zh-CN" altLang="en-US">
                <a:latin typeface="宋体" charset="0"/>
                <a:ea typeface="宋体" charset="0"/>
              </a:rPr>
              <a:t>、</a:t>
            </a:r>
            <a:r>
              <a:rPr lang="en-US" altLang="zh-CN">
                <a:latin typeface="宋体" charset="0"/>
                <a:ea typeface="宋体" charset="0"/>
              </a:rPr>
              <a:t>Description,Packaging</a:t>
            </a:r>
            <a:r>
              <a:rPr lang="zh-CN" altLang="en-US">
                <a:latin typeface="宋体" charset="0"/>
                <a:ea typeface="宋体" charset="0"/>
              </a:rPr>
              <a:t>选择</a:t>
            </a:r>
            <a:r>
              <a:rPr lang="en-US" altLang="zh-CN">
                <a:latin typeface="宋体" charset="0"/>
                <a:ea typeface="宋体" charset="0"/>
              </a:rPr>
              <a:t>jar</a:t>
            </a:r>
            <a:r>
              <a:rPr lang="zh-CN" altLang="en-US">
                <a:latin typeface="宋体" charset="0"/>
                <a:ea typeface="宋体" charset="0"/>
              </a:rPr>
              <a:t>，点击</a:t>
            </a:r>
            <a:r>
              <a:rPr lang="en-US" altLang="zh-CN">
                <a:latin typeface="宋体" charset="0"/>
                <a:ea typeface="宋体" charset="0"/>
              </a:rPr>
              <a:t>Finish</a:t>
            </a:r>
            <a:r>
              <a:rPr lang="zh-CN" altLang="en-US">
                <a:latin typeface="宋体" charset="0"/>
                <a:ea typeface="宋体" charset="0"/>
              </a:rPr>
              <a:t>完成创建。</a:t>
            </a:r>
          </a:p>
        </p:txBody>
      </p:sp>
      <p:pic>
        <p:nvPicPr>
          <p:cNvPr id="3" name="图片 2" descr="ET%9YZ}00]G5RBEC0P)5B$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2089785"/>
            <a:ext cx="7797165" cy="41973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二、</a:t>
            </a:r>
            <a:r>
              <a:rPr altLang="zh-CN" dirty="0"/>
              <a:t>Maven</a:t>
            </a:r>
            <a:r>
              <a:rPr lang="zh-CN" altLang="en-US" dirty="0"/>
              <a:t>实用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922655"/>
            <a:ext cx="8023860" cy="8229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2.3 Maven</a:t>
            </a:r>
            <a:r>
              <a:rPr lang="zh-CN" altLang="en-US" sz="2400" b="1">
                <a:latin typeface="宋体" charset="0"/>
                <a:ea typeface="宋体" charset="0"/>
                <a:sym typeface="+mn-ea"/>
              </a:rPr>
              <a:t>工程创建</a:t>
            </a:r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:</a:t>
            </a:r>
          </a:p>
          <a:p>
            <a:r>
              <a:rPr lang="en-US" altLang="zh-CN" sz="2400">
                <a:latin typeface="宋体" charset="0"/>
                <a:ea typeface="宋体" charset="0"/>
              </a:rPr>
              <a:t>	</a:t>
            </a:r>
            <a:r>
              <a:rPr lang="en-US" altLang="zh-CN">
                <a:latin typeface="宋体" charset="0"/>
                <a:ea typeface="宋体" charset="0"/>
              </a:rPr>
              <a:t>5.</a:t>
            </a:r>
            <a:r>
              <a:rPr lang="zh-CN" altLang="en-US">
                <a:latin typeface="宋体" charset="0"/>
                <a:ea typeface="宋体" charset="0"/>
              </a:rPr>
              <a:t>修改</a:t>
            </a:r>
            <a:r>
              <a:rPr lang="en-US" altLang="zh-CN">
                <a:latin typeface="宋体" charset="0"/>
                <a:ea typeface="宋体" charset="0"/>
              </a:rPr>
              <a:t>Maven</a:t>
            </a:r>
            <a:r>
              <a:rPr lang="zh-CN" altLang="en-US">
                <a:latin typeface="宋体" charset="0"/>
                <a:ea typeface="宋体" charset="0"/>
              </a:rPr>
              <a:t>项目</a:t>
            </a:r>
            <a:r>
              <a:rPr lang="en-US" altLang="zh-CN">
                <a:latin typeface="宋体" charset="0"/>
                <a:ea typeface="宋体" charset="0"/>
              </a:rPr>
              <a:t>POM.xml</a:t>
            </a:r>
            <a:r>
              <a:rPr lang="zh-CN" altLang="en-US">
                <a:latin typeface="宋体" charset="0"/>
                <a:ea typeface="宋体" charset="0"/>
              </a:rPr>
              <a:t>文件，添加项目包含的模块，配置</a:t>
            </a:r>
            <a:r>
              <a:rPr lang="en-US" altLang="zh-CN">
                <a:latin typeface="宋体" charset="0"/>
                <a:ea typeface="宋体" charset="0"/>
              </a:rPr>
              <a:t>mvn</a:t>
            </a:r>
            <a:r>
              <a:rPr lang="zh-CN" altLang="en-US">
                <a:latin typeface="宋体" charset="0"/>
                <a:ea typeface="宋体" charset="0"/>
              </a:rPr>
              <a:t>私服。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725" y="1745615"/>
            <a:ext cx="8251190" cy="39681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7641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二、</a:t>
            </a:r>
            <a:r>
              <a:rPr altLang="zh-CN" dirty="0"/>
              <a:t>Maven</a:t>
            </a:r>
            <a:r>
              <a:rPr lang="zh-CN" altLang="en-US" dirty="0"/>
              <a:t>实用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922655"/>
            <a:ext cx="8023860" cy="8229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2.3 Maven</a:t>
            </a:r>
            <a:r>
              <a:rPr lang="zh-CN" altLang="en-US" sz="2400" b="1">
                <a:latin typeface="宋体" charset="0"/>
                <a:ea typeface="宋体" charset="0"/>
                <a:sym typeface="+mn-ea"/>
              </a:rPr>
              <a:t>工程创建</a:t>
            </a:r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:</a:t>
            </a:r>
          </a:p>
          <a:p>
            <a:r>
              <a:rPr lang="en-US" altLang="zh-CN" sz="2400">
                <a:latin typeface="宋体" charset="0"/>
                <a:ea typeface="宋体" charset="0"/>
              </a:rPr>
              <a:t>	</a:t>
            </a:r>
            <a:r>
              <a:rPr lang="en-US" altLang="zh-CN">
                <a:latin typeface="宋体" charset="0"/>
                <a:ea typeface="宋体" charset="0"/>
              </a:rPr>
              <a:t>6.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修改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Maven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项目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POM.xml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文件，配置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mvn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私服、依赖管理。</a:t>
            </a:r>
            <a:endParaRPr lang="zh-CN" altLang="en-US">
              <a:latin typeface="宋体" charset="0"/>
              <a:ea typeface="宋体" charset="0"/>
            </a:endParaRPr>
          </a:p>
        </p:txBody>
      </p:sp>
      <p:pic>
        <p:nvPicPr>
          <p:cNvPr id="3" name="图片 2" descr="@@Q6TT){E[QC{U{9RZ{V${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920" y="1764665"/>
            <a:ext cx="7686675" cy="45294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7641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二、</a:t>
            </a:r>
            <a:r>
              <a:rPr altLang="zh-CN" dirty="0"/>
              <a:t>Maven</a:t>
            </a:r>
            <a:r>
              <a:rPr lang="zh-CN" altLang="en-US" dirty="0"/>
              <a:t>实用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922655"/>
            <a:ext cx="8023860" cy="8229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2.3 Maven</a:t>
            </a:r>
            <a:r>
              <a:rPr lang="zh-CN" altLang="en-US" sz="2400" b="1">
                <a:latin typeface="宋体" charset="0"/>
                <a:ea typeface="宋体" charset="0"/>
                <a:sym typeface="+mn-ea"/>
              </a:rPr>
              <a:t>工程创建</a:t>
            </a:r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:</a:t>
            </a:r>
          </a:p>
          <a:p>
            <a:r>
              <a:rPr lang="en-US" altLang="zh-CN" sz="2400">
                <a:latin typeface="宋体" charset="0"/>
                <a:ea typeface="宋体" charset="0"/>
              </a:rPr>
              <a:t>	</a:t>
            </a:r>
            <a:r>
              <a:rPr lang="en-US" altLang="zh-CN">
                <a:latin typeface="宋体" charset="0"/>
                <a:ea typeface="宋体" charset="0"/>
              </a:rPr>
              <a:t>7.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修改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Maven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项目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POM.xml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文件，依赖管理、插件配置。</a:t>
            </a:r>
            <a:endParaRPr lang="zh-CN" altLang="en-US">
              <a:latin typeface="宋体" charset="0"/>
              <a:ea typeface="宋体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" y="1745615"/>
            <a:ext cx="8246745" cy="46145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7641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二、</a:t>
            </a:r>
            <a:r>
              <a:rPr altLang="zh-CN" dirty="0"/>
              <a:t>Maven</a:t>
            </a:r>
            <a:r>
              <a:rPr lang="zh-CN" altLang="en-US" dirty="0"/>
              <a:t>实用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922655"/>
            <a:ext cx="8023860" cy="8229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2.3 Maven</a:t>
            </a:r>
            <a:r>
              <a:rPr lang="zh-CN" altLang="en-US" sz="2400" b="1">
                <a:latin typeface="宋体" charset="0"/>
                <a:ea typeface="宋体" charset="0"/>
                <a:sym typeface="+mn-ea"/>
              </a:rPr>
              <a:t>工程创建</a:t>
            </a:r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:</a:t>
            </a:r>
          </a:p>
          <a:p>
            <a:r>
              <a:rPr lang="en-US" altLang="zh-CN" sz="2400">
                <a:latin typeface="宋体" charset="0"/>
                <a:ea typeface="宋体" charset="0"/>
              </a:rPr>
              <a:t>	</a:t>
            </a:r>
            <a:r>
              <a:rPr lang="en-US" altLang="zh-CN">
                <a:latin typeface="宋体" charset="0"/>
                <a:ea typeface="宋体" charset="0"/>
              </a:rPr>
              <a:t>8.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修改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Maven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项目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POM.xml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文件，编译插件、源码插件、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test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插件。</a:t>
            </a:r>
            <a:endParaRPr lang="zh-CN" altLang="en-US">
              <a:latin typeface="宋体" charset="0"/>
              <a:ea typeface="宋体" charset="0"/>
            </a:endParaRPr>
          </a:p>
        </p:txBody>
      </p:sp>
      <p:pic>
        <p:nvPicPr>
          <p:cNvPr id="3" name="图片 2" descr="HPYD9A]K(YC4X}S8~E7W~I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885" y="1746885"/>
            <a:ext cx="7793990" cy="46177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7641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二、</a:t>
            </a:r>
            <a:r>
              <a:rPr altLang="zh-CN" dirty="0"/>
              <a:t>Maven</a:t>
            </a:r>
            <a:r>
              <a:rPr lang="zh-CN" altLang="en-US" dirty="0"/>
              <a:t>实用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922655"/>
            <a:ext cx="8023860" cy="8229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2.3 Maven</a:t>
            </a:r>
            <a:r>
              <a:rPr lang="zh-CN" altLang="en-US" sz="2400" b="1">
                <a:latin typeface="宋体" charset="0"/>
                <a:ea typeface="宋体" charset="0"/>
                <a:sym typeface="+mn-ea"/>
              </a:rPr>
              <a:t>工程创建</a:t>
            </a:r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:</a:t>
            </a:r>
          </a:p>
          <a:p>
            <a:r>
              <a:rPr lang="en-US" altLang="zh-CN" sz="2400">
                <a:latin typeface="宋体" charset="0"/>
                <a:ea typeface="宋体" charset="0"/>
              </a:rPr>
              <a:t>	</a:t>
            </a:r>
            <a:r>
              <a:rPr lang="en-US" altLang="zh-CN">
                <a:latin typeface="宋体" charset="0"/>
                <a:ea typeface="宋体" charset="0"/>
              </a:rPr>
              <a:t>9.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修改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Maven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项目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POM.xml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文件，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war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、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jar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插件等。</a:t>
            </a:r>
            <a:endParaRPr lang="zh-CN" altLang="en-US">
              <a:latin typeface="宋体" charset="0"/>
              <a:ea typeface="宋体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930" y="1729105"/>
            <a:ext cx="8428355" cy="46412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7641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二、</a:t>
            </a:r>
            <a:r>
              <a:rPr altLang="zh-CN" dirty="0"/>
              <a:t>Maven</a:t>
            </a:r>
            <a:r>
              <a:rPr lang="zh-CN" altLang="en-US" dirty="0"/>
              <a:t>实用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922655"/>
            <a:ext cx="8023860" cy="8229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2.3 Maven</a:t>
            </a:r>
            <a:r>
              <a:rPr lang="zh-CN" altLang="en-US" sz="2400" b="1">
                <a:latin typeface="宋体" charset="0"/>
                <a:ea typeface="宋体" charset="0"/>
                <a:sym typeface="+mn-ea"/>
              </a:rPr>
              <a:t>工程创建</a:t>
            </a:r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:</a:t>
            </a:r>
          </a:p>
          <a:p>
            <a:r>
              <a:rPr lang="en-US" altLang="zh-CN" sz="2400">
                <a:latin typeface="宋体" charset="0"/>
                <a:ea typeface="宋体" charset="0"/>
              </a:rPr>
              <a:t>	</a:t>
            </a:r>
            <a:r>
              <a:rPr lang="en-US" altLang="zh-CN">
                <a:latin typeface="宋体" charset="0"/>
                <a:ea typeface="宋体" charset="0"/>
              </a:rPr>
              <a:t>10.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修改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Maven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项目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POM.xml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文件，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clean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、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install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、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enforcer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插件。</a:t>
            </a:r>
            <a:endParaRPr lang="zh-CN" altLang="en-US">
              <a:latin typeface="宋体" charset="0"/>
              <a:ea typeface="宋体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710" y="1741805"/>
            <a:ext cx="8023860" cy="45504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7641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二、</a:t>
            </a:r>
            <a:r>
              <a:rPr altLang="zh-CN" dirty="0"/>
              <a:t>Maven</a:t>
            </a:r>
            <a:r>
              <a:rPr lang="zh-CN" altLang="en-US" dirty="0"/>
              <a:t>实用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922655"/>
            <a:ext cx="8023860" cy="8229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2.3 Maven</a:t>
            </a:r>
            <a:r>
              <a:rPr lang="zh-CN" altLang="en-US" sz="2400" b="1">
                <a:latin typeface="宋体" charset="0"/>
                <a:ea typeface="宋体" charset="0"/>
                <a:sym typeface="+mn-ea"/>
              </a:rPr>
              <a:t>工程创建</a:t>
            </a:r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:</a:t>
            </a:r>
          </a:p>
          <a:p>
            <a:r>
              <a:rPr lang="en-US" altLang="zh-CN" sz="2400">
                <a:latin typeface="宋体" charset="0"/>
                <a:ea typeface="宋体" charset="0"/>
              </a:rPr>
              <a:t>	</a:t>
            </a:r>
            <a:r>
              <a:rPr lang="en-US" altLang="zh-CN">
                <a:latin typeface="宋体" charset="0"/>
                <a:ea typeface="宋体" charset="0"/>
              </a:rPr>
              <a:t>11.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修改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Maven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项目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POM.xml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文件，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assembly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、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dependency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、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ant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插件等。</a:t>
            </a:r>
            <a:endParaRPr lang="zh-CN" altLang="en-US">
              <a:latin typeface="宋体" charset="0"/>
              <a:ea typeface="宋体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935" y="1793875"/>
            <a:ext cx="8037830" cy="45142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7641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二、</a:t>
            </a:r>
            <a:r>
              <a:rPr altLang="zh-CN" dirty="0"/>
              <a:t>Maven</a:t>
            </a:r>
            <a:r>
              <a:rPr lang="zh-CN" altLang="en-US" dirty="0"/>
              <a:t>实用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953770"/>
            <a:ext cx="8023860" cy="8229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2.3 Maven</a:t>
            </a:r>
            <a:r>
              <a:rPr lang="zh-CN" altLang="en-US" sz="2400" b="1">
                <a:latin typeface="宋体" charset="0"/>
                <a:ea typeface="宋体" charset="0"/>
                <a:sym typeface="+mn-ea"/>
              </a:rPr>
              <a:t>工程创建</a:t>
            </a:r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:</a:t>
            </a:r>
          </a:p>
          <a:p>
            <a:r>
              <a:rPr lang="en-US" altLang="zh-CN" sz="2400">
                <a:latin typeface="宋体" charset="0"/>
                <a:ea typeface="宋体" charset="0"/>
              </a:rPr>
              <a:t>	</a:t>
            </a:r>
            <a:r>
              <a:rPr lang="en-US" altLang="zh-CN">
                <a:latin typeface="宋体" charset="0"/>
                <a:ea typeface="宋体" charset="0"/>
              </a:rPr>
              <a:t>12.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修改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Maven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模块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POM.xml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文件，模块用到的依赖。</a:t>
            </a:r>
            <a:endParaRPr lang="zh-CN" altLang="en-US">
              <a:latin typeface="宋体" charset="0"/>
              <a:ea typeface="宋体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780" y="1776730"/>
            <a:ext cx="8510905" cy="45631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7641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二、</a:t>
            </a:r>
            <a:r>
              <a:rPr altLang="zh-CN" dirty="0"/>
              <a:t>Maven</a:t>
            </a:r>
            <a:r>
              <a:rPr lang="zh-CN" altLang="en-US" dirty="0"/>
              <a:t>实用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953770"/>
            <a:ext cx="8023860" cy="10972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2.3 Maven</a:t>
            </a:r>
            <a:r>
              <a:rPr lang="zh-CN" altLang="en-US" sz="2400" b="1">
                <a:latin typeface="宋体" charset="0"/>
                <a:ea typeface="宋体" charset="0"/>
                <a:sym typeface="+mn-ea"/>
              </a:rPr>
              <a:t>工程创建</a:t>
            </a:r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:</a:t>
            </a:r>
          </a:p>
          <a:p>
            <a:r>
              <a:rPr lang="en-US" altLang="zh-CN" sz="2400">
                <a:latin typeface="宋体" charset="0"/>
                <a:ea typeface="宋体" charset="0"/>
              </a:rPr>
              <a:t>	</a:t>
            </a:r>
            <a:r>
              <a:rPr lang="en-US" altLang="zh-CN">
                <a:latin typeface="宋体" charset="0"/>
                <a:ea typeface="宋体" charset="0"/>
              </a:rPr>
              <a:t>13.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修改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Maven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模块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POM.xml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文件，构建所需的装配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(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assembly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)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、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jar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打包插件。</a:t>
            </a:r>
            <a:endParaRPr lang="zh-CN" altLang="en-US">
              <a:latin typeface="宋体" charset="0"/>
              <a:ea typeface="宋体" charset="0"/>
            </a:endParaRPr>
          </a:p>
        </p:txBody>
      </p:sp>
      <p:pic>
        <p:nvPicPr>
          <p:cNvPr id="4" name="图片 3" descr="R82YZXL}X$XW074A6(3PDPH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35" y="2068195"/>
            <a:ext cx="8247380" cy="43033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7641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二、</a:t>
            </a:r>
            <a:r>
              <a:rPr altLang="zh-CN" dirty="0"/>
              <a:t>Maven</a:t>
            </a:r>
            <a:r>
              <a:rPr lang="zh-CN" altLang="en-US" dirty="0"/>
              <a:t>实用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953770"/>
            <a:ext cx="8023860" cy="10972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2.4 Maven</a:t>
            </a:r>
            <a:r>
              <a:rPr lang="zh-CN" altLang="en-US" sz="2400" b="1">
                <a:latin typeface="宋体" charset="0"/>
                <a:ea typeface="宋体" charset="0"/>
                <a:sym typeface="+mn-ea"/>
              </a:rPr>
              <a:t>工程打包</a:t>
            </a:r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:</a:t>
            </a:r>
          </a:p>
          <a:p>
            <a:r>
              <a:rPr lang="en-US" altLang="zh-CN" sz="2400">
                <a:latin typeface="宋体" charset="0"/>
                <a:ea typeface="宋体" charset="0"/>
              </a:rPr>
              <a:t>	</a:t>
            </a:r>
            <a:r>
              <a:rPr lang="en-US" altLang="zh-CN">
                <a:latin typeface="宋体" charset="0"/>
                <a:ea typeface="宋体" charset="0"/>
              </a:rPr>
              <a:t>1.</a:t>
            </a:r>
            <a:r>
              <a:rPr lang="zh-CN" altLang="en-US">
                <a:latin typeface="宋体" charset="0"/>
                <a:ea typeface="宋体" charset="0"/>
              </a:rPr>
              <a:t>在子模块的</a:t>
            </a:r>
            <a:r>
              <a:rPr lang="en-US" altLang="zh-CN">
                <a:latin typeface="宋体" charset="0"/>
                <a:ea typeface="宋体" charset="0"/>
              </a:rPr>
              <a:t>src/main</a:t>
            </a:r>
            <a:r>
              <a:rPr lang="zh-CN" altLang="en-US">
                <a:latin typeface="宋体" charset="0"/>
                <a:ea typeface="宋体" charset="0"/>
              </a:rPr>
              <a:t>下添加装配所需文件夹，包含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assembly</a:t>
            </a:r>
            <a:r>
              <a:rPr lang="en-US" altLang="zh-CN">
                <a:latin typeface="宋体" charset="0"/>
                <a:ea typeface="宋体" charset="0"/>
              </a:rPr>
              <a:t>.xml</a:t>
            </a:r>
            <a:r>
              <a:rPr lang="zh-CN" altLang="en-US">
                <a:latin typeface="宋体" charset="0"/>
                <a:ea typeface="宋体" charset="0"/>
              </a:rPr>
              <a:t>、启动停止等</a:t>
            </a:r>
            <a:r>
              <a:rPr lang="en-US" altLang="zh-CN">
                <a:latin typeface="宋体" charset="0"/>
                <a:ea typeface="宋体" charset="0"/>
              </a:rPr>
              <a:t>shell</a:t>
            </a:r>
            <a:r>
              <a:rPr lang="zh-CN" altLang="en-US">
                <a:latin typeface="宋体" charset="0"/>
                <a:ea typeface="宋体" charset="0"/>
              </a:rPr>
              <a:t>脚本。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260" y="2134235"/>
            <a:ext cx="8285480" cy="41884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7641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二、</a:t>
            </a:r>
            <a:r>
              <a:rPr altLang="zh-CN" dirty="0"/>
              <a:t>Maven</a:t>
            </a:r>
            <a:r>
              <a:rPr lang="zh-CN" altLang="en-US" dirty="0"/>
              <a:t>实用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953770"/>
            <a:ext cx="8023860" cy="10972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2.4 Maven</a:t>
            </a:r>
            <a:r>
              <a:rPr lang="zh-CN" altLang="en-US" sz="2400" b="1">
                <a:latin typeface="宋体" charset="0"/>
                <a:ea typeface="宋体" charset="0"/>
                <a:sym typeface="+mn-ea"/>
              </a:rPr>
              <a:t>工程打包</a:t>
            </a:r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:</a:t>
            </a:r>
          </a:p>
          <a:p>
            <a:r>
              <a:rPr lang="en-US" altLang="zh-CN" sz="2400">
                <a:latin typeface="宋体" charset="0"/>
                <a:ea typeface="宋体" charset="0"/>
              </a:rPr>
              <a:t>	</a:t>
            </a:r>
            <a:r>
              <a:rPr lang="en-US" altLang="zh-CN">
                <a:latin typeface="宋体" charset="0"/>
                <a:ea typeface="宋体" charset="0"/>
              </a:rPr>
              <a:t>2.</a:t>
            </a:r>
            <a:r>
              <a:rPr lang="zh-CN" altLang="en-US">
                <a:latin typeface="宋体" charset="0"/>
                <a:ea typeface="宋体" charset="0"/>
              </a:rPr>
              <a:t>添加的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assembly</a:t>
            </a:r>
            <a:r>
              <a:rPr lang="en-US" altLang="zh-CN">
                <a:latin typeface="宋体" charset="0"/>
                <a:ea typeface="宋体" charset="0"/>
              </a:rPr>
              <a:t>.xml</a:t>
            </a:r>
            <a:r>
              <a:rPr lang="zh-CN" altLang="en-US">
                <a:latin typeface="宋体" charset="0"/>
                <a:ea typeface="宋体" charset="0"/>
              </a:rPr>
              <a:t>文件，配置需要打包的</a:t>
            </a:r>
            <a:r>
              <a:rPr lang="en-US" altLang="zh-CN">
                <a:latin typeface="宋体" charset="0"/>
                <a:ea typeface="宋体" charset="0"/>
              </a:rPr>
              <a:t>bin</a:t>
            </a:r>
            <a:r>
              <a:rPr lang="zh-CN" altLang="en-US">
                <a:latin typeface="宋体" charset="0"/>
                <a:ea typeface="宋体" charset="0"/>
              </a:rPr>
              <a:t>、conf、</a:t>
            </a:r>
            <a:r>
              <a:rPr lang="en-US" altLang="zh-CN">
                <a:latin typeface="宋体" charset="0"/>
                <a:ea typeface="宋体" charset="0"/>
              </a:rPr>
              <a:t>logs</a:t>
            </a:r>
            <a:r>
              <a:rPr lang="zh-CN" altLang="en-US">
                <a:latin typeface="宋体" charset="0"/>
                <a:ea typeface="宋体" charset="0"/>
              </a:rPr>
              <a:t>、</a:t>
            </a:r>
            <a:r>
              <a:rPr lang="en-US" altLang="zh-CN">
                <a:latin typeface="宋体" charset="0"/>
                <a:ea typeface="宋体" charset="0"/>
              </a:rPr>
              <a:t>lib</a:t>
            </a:r>
            <a:r>
              <a:rPr lang="zh-CN" altLang="en-US">
                <a:latin typeface="宋体" charset="0"/>
                <a:ea typeface="宋体" charset="0"/>
              </a:rPr>
              <a:t>、</a:t>
            </a:r>
            <a:r>
              <a:rPr lang="en-US" altLang="zh-CN">
                <a:latin typeface="宋体" charset="0"/>
                <a:ea typeface="宋体" charset="0"/>
              </a:rPr>
              <a:t>pay1paylib</a:t>
            </a:r>
            <a:r>
              <a:rPr lang="zh-CN" altLang="en-US">
                <a:latin typeface="宋体" charset="0"/>
                <a:ea typeface="宋体" charset="0"/>
              </a:rPr>
              <a:t>包。</a:t>
            </a:r>
          </a:p>
        </p:txBody>
      </p:sp>
      <p:pic>
        <p:nvPicPr>
          <p:cNvPr id="4" name="图片 3" descr="5ZR_6R8@``42`T{`(S56`[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50" y="2094230"/>
            <a:ext cx="8590280" cy="41929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7641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二、</a:t>
            </a:r>
            <a:r>
              <a:rPr altLang="zh-CN" dirty="0"/>
              <a:t>Maven</a:t>
            </a:r>
            <a:r>
              <a:rPr lang="zh-CN" altLang="en-US" dirty="0"/>
              <a:t>实用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953770"/>
            <a:ext cx="8023860" cy="10972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2.4 Maven</a:t>
            </a:r>
            <a:r>
              <a:rPr lang="zh-CN" altLang="en-US" sz="2400" b="1">
                <a:latin typeface="宋体" charset="0"/>
                <a:ea typeface="宋体" charset="0"/>
                <a:sym typeface="+mn-ea"/>
              </a:rPr>
              <a:t>工程打包</a:t>
            </a:r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:</a:t>
            </a:r>
          </a:p>
          <a:p>
            <a:r>
              <a:rPr lang="en-US" altLang="zh-CN" sz="2400">
                <a:latin typeface="宋体" charset="0"/>
                <a:ea typeface="宋体" charset="0"/>
              </a:rPr>
              <a:t>	</a:t>
            </a:r>
            <a:r>
              <a:rPr lang="en-US" altLang="zh-CN">
                <a:latin typeface="宋体" charset="0"/>
                <a:ea typeface="宋体" charset="0"/>
              </a:rPr>
              <a:t>3.</a:t>
            </a:r>
            <a:r>
              <a:rPr lang="en-US" altLang="zh-CN">
                <a:latin typeface="宋体" charset="0"/>
                <a:ea typeface="宋体" charset="0"/>
                <a:sym typeface="+mn-ea"/>
              </a:rPr>
              <a:t>在Windows命令提示符</a:t>
            </a:r>
            <a:r>
              <a:rPr lang="zh-CN" altLang="en-US">
                <a:latin typeface="宋体" charset="0"/>
                <a:ea typeface="宋体" charset="0"/>
                <a:sym typeface="+mn-ea"/>
              </a:rPr>
              <a:t>进入</a:t>
            </a:r>
            <a:r>
              <a:rPr lang="zh-CN" altLang="en-US">
                <a:latin typeface="宋体" charset="0"/>
                <a:ea typeface="宋体" charset="0"/>
              </a:rPr>
              <a:t>到当前工程目录</a:t>
            </a:r>
            <a:r>
              <a:rPr lang="en-US" altLang="zh-CN">
                <a:latin typeface="宋体" charset="0"/>
                <a:ea typeface="宋体" charset="0"/>
              </a:rPr>
              <a:t>,</a:t>
            </a:r>
            <a:r>
              <a:rPr lang="zh-CN" altLang="en-US">
                <a:latin typeface="宋体" charset="0"/>
                <a:ea typeface="宋体" charset="0"/>
              </a:rPr>
              <a:t>输入</a:t>
            </a:r>
            <a:r>
              <a:rPr lang="en-US" altLang="zh-CN">
                <a:latin typeface="宋体" charset="0"/>
                <a:ea typeface="宋体" charset="0"/>
              </a:rPr>
              <a:t>mvn clean package -Dmaven.test.skip.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845" y="2143760"/>
            <a:ext cx="8085455" cy="41135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7641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二、</a:t>
            </a:r>
            <a:r>
              <a:rPr altLang="zh-CN" dirty="0"/>
              <a:t>Maven</a:t>
            </a:r>
            <a:r>
              <a:rPr lang="zh-CN" altLang="en-US" dirty="0"/>
              <a:t>实用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953770"/>
            <a:ext cx="8023860" cy="8229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2.4 Maven</a:t>
            </a:r>
            <a:r>
              <a:rPr lang="zh-CN" altLang="en-US" sz="2400" b="1">
                <a:latin typeface="宋体" charset="0"/>
                <a:ea typeface="宋体" charset="0"/>
                <a:sym typeface="+mn-ea"/>
              </a:rPr>
              <a:t>工程打包</a:t>
            </a:r>
            <a:r>
              <a:rPr lang="en-US" altLang="zh-CN" sz="2400" b="1">
                <a:latin typeface="宋体" charset="0"/>
                <a:ea typeface="宋体" charset="0"/>
                <a:sym typeface="+mn-ea"/>
              </a:rPr>
              <a:t>:</a:t>
            </a:r>
          </a:p>
          <a:p>
            <a:r>
              <a:rPr lang="en-US" altLang="zh-CN" sz="2400">
                <a:latin typeface="宋体" charset="0"/>
                <a:ea typeface="宋体" charset="0"/>
              </a:rPr>
              <a:t>	</a:t>
            </a:r>
            <a:r>
              <a:rPr lang="en-US" altLang="zh-CN">
                <a:latin typeface="宋体" charset="0"/>
                <a:ea typeface="宋体" charset="0"/>
              </a:rPr>
              <a:t>4.</a:t>
            </a:r>
            <a:r>
              <a:rPr lang="zh-CN" altLang="en-US">
                <a:latin typeface="宋体" charset="0"/>
                <a:ea typeface="宋体" charset="0"/>
              </a:rPr>
              <a:t>进入子模块下的target目录，解压</a:t>
            </a:r>
            <a:r>
              <a:rPr lang="en-US" altLang="zh-CN">
                <a:latin typeface="宋体" charset="0"/>
                <a:ea typeface="宋体" charset="0"/>
              </a:rPr>
              <a:t>xxx-bin.tar.gz</a:t>
            </a:r>
            <a:r>
              <a:rPr lang="zh-CN" altLang="en-US">
                <a:latin typeface="宋体" charset="0"/>
                <a:ea typeface="宋体" charset="0"/>
              </a:rPr>
              <a:t>包如下图。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80" y="1797050"/>
            <a:ext cx="8320405" cy="44462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7641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二、</a:t>
            </a:r>
            <a:r>
              <a:rPr altLang="zh-CN" dirty="0"/>
              <a:t>Maven</a:t>
            </a:r>
            <a:r>
              <a:rPr lang="zh-CN" altLang="en-US" dirty="0"/>
              <a:t>实用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953770"/>
            <a:ext cx="8023860" cy="8229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 dirty="0">
                <a:latin typeface="宋体" charset="0"/>
                <a:ea typeface="宋体" charset="0"/>
                <a:sym typeface="+mn-ea"/>
              </a:rPr>
              <a:t>2.4 Maven</a:t>
            </a:r>
            <a:r>
              <a:rPr lang="zh-CN" altLang="en-US" sz="2400" b="1" dirty="0">
                <a:latin typeface="宋体" charset="0"/>
                <a:ea typeface="宋体" charset="0"/>
                <a:sym typeface="+mn-ea"/>
              </a:rPr>
              <a:t>工程打包</a:t>
            </a:r>
            <a:r>
              <a:rPr lang="en-US" altLang="zh-CN" sz="2400" b="1" dirty="0">
                <a:latin typeface="宋体" charset="0"/>
                <a:ea typeface="宋体" charset="0"/>
                <a:sym typeface="+mn-ea"/>
              </a:rPr>
              <a:t>:</a:t>
            </a:r>
          </a:p>
          <a:p>
            <a:r>
              <a:rPr lang="en-US" altLang="zh-CN" sz="2400" dirty="0">
                <a:latin typeface="宋体" charset="0"/>
                <a:ea typeface="宋体" charset="0"/>
              </a:rPr>
              <a:t>	</a:t>
            </a:r>
            <a:r>
              <a:rPr lang="en-US" altLang="zh-CN" dirty="0">
                <a:latin typeface="宋体" charset="0"/>
                <a:ea typeface="宋体" charset="0"/>
              </a:rPr>
              <a:t>5.</a:t>
            </a:r>
            <a:r>
              <a:rPr lang="zh-CN" altLang="en-US" dirty="0">
                <a:latin typeface="宋体" charset="0"/>
                <a:ea typeface="宋体" charset="0"/>
              </a:rPr>
              <a:t>进入打包的</a:t>
            </a:r>
            <a:r>
              <a:rPr lang="en-US" altLang="zh-CN" dirty="0">
                <a:latin typeface="宋体" charset="0"/>
                <a:ea typeface="宋体" charset="0"/>
              </a:rPr>
              <a:t>lib</a:t>
            </a:r>
            <a:r>
              <a:rPr lang="zh-CN" altLang="en-US" dirty="0">
                <a:latin typeface="宋体" charset="0"/>
                <a:ea typeface="宋体" charset="0"/>
              </a:rPr>
              <a:t>包下，这是依赖到的基础</a:t>
            </a:r>
            <a:r>
              <a:rPr lang="en-US" altLang="zh-CN" dirty="0">
                <a:latin typeface="宋体" charset="0"/>
                <a:ea typeface="宋体" charset="0"/>
              </a:rPr>
              <a:t>jar</a:t>
            </a:r>
            <a:r>
              <a:rPr lang="zh-CN" altLang="en-US" dirty="0">
                <a:latin typeface="宋体" charset="0"/>
                <a:ea typeface="宋体" charset="0"/>
              </a:rPr>
              <a:t>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855" y="1776730"/>
            <a:ext cx="7979410" cy="4483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109411"/>
            <a:ext cx="7772400" cy="1143000"/>
          </a:xfrm>
        </p:spPr>
        <p:txBody>
          <a:bodyPr/>
          <a:lstStyle/>
          <a:p>
            <a:pPr algn="l"/>
            <a:r>
              <a:rPr lang="zh-CN" altLang="en-US" dirty="0"/>
              <a:t>二、</a:t>
            </a:r>
            <a:r>
              <a:rPr altLang="zh-CN" dirty="0"/>
              <a:t>Maven</a:t>
            </a:r>
            <a:r>
              <a:rPr lang="zh-CN" altLang="en-US" dirty="0"/>
              <a:t>实用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733246"/>
            <a:ext cx="8023860" cy="569386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400" b="1" dirty="0">
                <a:latin typeface="宋体" charset="0"/>
                <a:ea typeface="宋体" charset="0"/>
                <a:sym typeface="+mn-ea"/>
              </a:rPr>
              <a:t>2.5 Maven</a:t>
            </a:r>
            <a:r>
              <a:rPr lang="zh-CN" altLang="en-US" sz="2400" b="1" dirty="0">
                <a:latin typeface="宋体" charset="0"/>
                <a:ea typeface="宋体" charset="0"/>
                <a:sym typeface="+mn-ea"/>
              </a:rPr>
              <a:t>常用命令</a:t>
            </a:r>
            <a:r>
              <a:rPr lang="en-US" altLang="zh-CN" sz="2400" b="1" dirty="0">
                <a:latin typeface="宋体" charset="0"/>
                <a:ea typeface="宋体" charset="0"/>
                <a:sym typeface="+mn-ea"/>
              </a:rPr>
              <a:t>:</a:t>
            </a:r>
          </a:p>
          <a:p>
            <a:r>
              <a:rPr lang="en-US" altLang="zh-CN" dirty="0" err="1">
                <a:latin typeface="宋体" charset="0"/>
                <a:ea typeface="宋体" charset="0"/>
              </a:rPr>
              <a:t>mvn</a:t>
            </a:r>
            <a:r>
              <a:rPr lang="en-US" altLang="zh-CN" dirty="0">
                <a:latin typeface="宋体" charset="0"/>
                <a:ea typeface="宋体" charset="0"/>
              </a:rPr>
              <a:t> </a:t>
            </a:r>
            <a:r>
              <a:rPr lang="en-US" altLang="zh-CN" dirty="0" err="1">
                <a:latin typeface="宋体" charset="0"/>
                <a:ea typeface="宋体" charset="0"/>
              </a:rPr>
              <a:t>eclipse:eclipse</a:t>
            </a:r>
            <a:r>
              <a:rPr lang="en-US" altLang="zh-CN" dirty="0">
                <a:latin typeface="宋体" charset="0"/>
                <a:ea typeface="宋体" charset="0"/>
              </a:rPr>
              <a:t> -U </a:t>
            </a:r>
            <a:r>
              <a:rPr lang="zh-CN" altLang="en-US" dirty="0">
                <a:latin typeface="宋体" charset="0"/>
                <a:ea typeface="宋体" charset="0"/>
              </a:rPr>
              <a:t>生成eclipse项目文件</a:t>
            </a:r>
          </a:p>
          <a:p>
            <a:r>
              <a:rPr lang="en-US" altLang="zh-CN" dirty="0" err="1">
                <a:latin typeface="宋体" charset="0"/>
                <a:ea typeface="宋体" charset="0"/>
              </a:rPr>
              <a:t>mvn</a:t>
            </a:r>
            <a:r>
              <a:rPr lang="en-US" altLang="zh-CN" dirty="0">
                <a:latin typeface="宋体" charset="0"/>
                <a:ea typeface="宋体" charset="0"/>
              </a:rPr>
              <a:t> </a:t>
            </a:r>
            <a:r>
              <a:rPr lang="en-US" altLang="zh-CN" dirty="0" err="1">
                <a:latin typeface="宋体" charset="0"/>
                <a:ea typeface="宋体" charset="0"/>
              </a:rPr>
              <a:t>eclipse:clean</a:t>
            </a:r>
            <a:r>
              <a:rPr lang="en-US" altLang="zh-CN" dirty="0">
                <a:latin typeface="宋体" charset="0"/>
                <a:ea typeface="宋体" charset="0"/>
              </a:rPr>
              <a:t> </a:t>
            </a:r>
            <a:r>
              <a:rPr lang="zh-CN" altLang="en-US" dirty="0">
                <a:latin typeface="宋体" charset="0"/>
                <a:ea typeface="宋体" charset="0"/>
              </a:rPr>
              <a:t>清理</a:t>
            </a:r>
            <a:r>
              <a:rPr lang="en-US" altLang="zh-CN" dirty="0">
                <a:latin typeface="宋体" charset="0"/>
                <a:ea typeface="宋体" charset="0"/>
              </a:rPr>
              <a:t>eclipse</a:t>
            </a:r>
            <a:r>
              <a:rPr lang="zh-CN" altLang="en-US" dirty="0">
                <a:latin typeface="宋体" charset="0"/>
                <a:ea typeface="宋体" charset="0"/>
              </a:rPr>
              <a:t>项目文件</a:t>
            </a:r>
          </a:p>
          <a:p>
            <a:r>
              <a:rPr lang="en-US" altLang="zh-CN" dirty="0" err="1">
                <a:latin typeface="宋体" charset="0"/>
                <a:ea typeface="宋体" charset="0"/>
              </a:rPr>
              <a:t>mvn</a:t>
            </a:r>
            <a:r>
              <a:rPr lang="en-US" altLang="zh-CN" dirty="0">
                <a:latin typeface="宋体" charset="0"/>
                <a:ea typeface="宋体" charset="0"/>
              </a:rPr>
              <a:t> clean package -</a:t>
            </a:r>
            <a:r>
              <a:rPr lang="en-US" altLang="zh-CN" dirty="0" err="1">
                <a:latin typeface="宋体" charset="0"/>
                <a:ea typeface="宋体" charset="0"/>
              </a:rPr>
              <a:t>Dmaven.test.skip</a:t>
            </a:r>
            <a:r>
              <a:rPr lang="en-US" altLang="zh-CN" dirty="0">
                <a:latin typeface="宋体" charset="0"/>
                <a:ea typeface="宋体" charset="0"/>
              </a:rPr>
              <a:t> </a:t>
            </a:r>
            <a:r>
              <a:rPr dirty="0" err="1">
                <a:latin typeface="宋体" charset="0"/>
                <a:ea typeface="宋体" charset="0"/>
              </a:rPr>
              <a:t>清除以前的包后重新打包，跳过测试类</a:t>
            </a:r>
            <a:endParaRPr dirty="0">
              <a:latin typeface="宋体" charset="0"/>
              <a:ea typeface="宋体" charset="0"/>
            </a:endParaRPr>
          </a:p>
          <a:p>
            <a:r>
              <a:rPr lang="en-US" altLang="zh-CN" dirty="0" err="1">
                <a:latin typeface="宋体" charset="0"/>
                <a:ea typeface="宋体" charset="0"/>
              </a:rPr>
              <a:t>mvn</a:t>
            </a:r>
            <a:r>
              <a:rPr lang="en-US" altLang="zh-CN" dirty="0">
                <a:latin typeface="宋体" charset="0"/>
                <a:ea typeface="宋体" charset="0"/>
              </a:rPr>
              <a:t> deploy -</a:t>
            </a:r>
            <a:r>
              <a:rPr lang="en-US" altLang="zh-CN" dirty="0" err="1">
                <a:latin typeface="宋体" charset="0"/>
                <a:ea typeface="宋体" charset="0"/>
              </a:rPr>
              <a:t>Dmaven.test.skip</a:t>
            </a:r>
            <a:r>
              <a:rPr lang="en-US" altLang="zh-CN" dirty="0">
                <a:latin typeface="宋体" charset="0"/>
                <a:ea typeface="宋体" charset="0"/>
              </a:rPr>
              <a:t> </a:t>
            </a:r>
            <a:r>
              <a:rPr lang="zh-CN" altLang="en-US" dirty="0">
                <a:latin typeface="宋体" charset="0"/>
                <a:ea typeface="宋体" charset="0"/>
              </a:rPr>
              <a:t>部署到私服仓库</a:t>
            </a:r>
            <a:r>
              <a:rPr lang="en-US" altLang="zh-CN" dirty="0">
                <a:latin typeface="宋体" charset="0"/>
                <a:ea typeface="宋体" charset="0"/>
              </a:rPr>
              <a:t>,</a:t>
            </a:r>
            <a:r>
              <a:rPr lang="zh-CN" altLang="en-US" dirty="0">
                <a:latin typeface="宋体" charset="0"/>
                <a:ea typeface="宋体" charset="0"/>
              </a:rPr>
              <a:t>跳过测试类</a:t>
            </a:r>
          </a:p>
          <a:p>
            <a:endParaRPr lang="zh-CN" altLang="en-US" sz="2400" dirty="0">
              <a:latin typeface="宋体" charset="0"/>
              <a:ea typeface="宋体" charset="0"/>
            </a:endParaRPr>
          </a:p>
          <a:p>
            <a:r>
              <a:rPr lang="zh-CN" altLang="en-US" sz="2400" b="1" dirty="0">
                <a:latin typeface="宋体" charset="0"/>
                <a:ea typeface="宋体" charset="0"/>
              </a:rPr>
              <a:t>其它常用命令</a:t>
            </a:r>
            <a:r>
              <a:rPr lang="en-US" altLang="zh-CN" sz="2400" b="1" dirty="0">
                <a:latin typeface="宋体" charset="0"/>
                <a:ea typeface="宋体" charset="0"/>
              </a:rPr>
              <a:t>:</a:t>
            </a:r>
          </a:p>
          <a:p>
            <a:r>
              <a:rPr lang="en-US" altLang="zh-CN" dirty="0" err="1">
                <a:latin typeface="宋体" charset="0"/>
                <a:ea typeface="宋体" charset="0"/>
              </a:rPr>
              <a:t>mvn</a:t>
            </a:r>
            <a:r>
              <a:rPr lang="en-US" altLang="zh-CN" dirty="0">
                <a:latin typeface="宋体" charset="0"/>
                <a:ea typeface="宋体" charset="0"/>
              </a:rPr>
              <a:t> </a:t>
            </a:r>
            <a:r>
              <a:rPr lang="en-US" altLang="zh-CN" dirty="0" err="1">
                <a:latin typeface="宋体" charset="0"/>
                <a:ea typeface="宋体" charset="0"/>
              </a:rPr>
              <a:t>archetype：create</a:t>
            </a:r>
            <a:r>
              <a:rPr lang="en-US" altLang="zh-CN" dirty="0">
                <a:latin typeface="宋体" charset="0"/>
                <a:ea typeface="宋体" charset="0"/>
              </a:rPr>
              <a:t> </a:t>
            </a:r>
            <a:r>
              <a:rPr lang="en-US" altLang="zh-CN" dirty="0" err="1">
                <a:latin typeface="宋体" charset="0"/>
                <a:ea typeface="宋体" charset="0"/>
              </a:rPr>
              <a:t>创建Maven项目</a:t>
            </a:r>
            <a:endParaRPr lang="en-US" altLang="zh-CN" dirty="0">
              <a:latin typeface="宋体" charset="0"/>
              <a:ea typeface="宋体" charset="0"/>
            </a:endParaRPr>
          </a:p>
          <a:p>
            <a:r>
              <a:rPr lang="en-US" altLang="zh-CN" dirty="0" err="1">
                <a:latin typeface="宋体" charset="0"/>
                <a:ea typeface="宋体" charset="0"/>
              </a:rPr>
              <a:t>mvn</a:t>
            </a:r>
            <a:r>
              <a:rPr lang="en-US" altLang="zh-CN" dirty="0">
                <a:latin typeface="宋体" charset="0"/>
                <a:ea typeface="宋体" charset="0"/>
              </a:rPr>
              <a:t> compile </a:t>
            </a:r>
            <a:r>
              <a:rPr lang="en-US" altLang="zh-CN" dirty="0" err="1">
                <a:latin typeface="宋体" charset="0"/>
                <a:ea typeface="宋体" charset="0"/>
              </a:rPr>
              <a:t>编译源代码</a:t>
            </a:r>
            <a:endParaRPr lang="en-US" altLang="zh-CN" dirty="0">
              <a:latin typeface="宋体" charset="0"/>
              <a:ea typeface="宋体" charset="0"/>
            </a:endParaRPr>
          </a:p>
          <a:p>
            <a:r>
              <a:rPr lang="en-US" altLang="zh-CN" dirty="0" err="1">
                <a:latin typeface="宋体" charset="0"/>
                <a:ea typeface="宋体" charset="0"/>
              </a:rPr>
              <a:t>mvn</a:t>
            </a:r>
            <a:r>
              <a:rPr lang="en-US" altLang="zh-CN" dirty="0">
                <a:latin typeface="宋体" charset="0"/>
                <a:ea typeface="宋体" charset="0"/>
              </a:rPr>
              <a:t> test-compile </a:t>
            </a:r>
            <a:r>
              <a:rPr lang="en-US" altLang="zh-CN" dirty="0" err="1">
                <a:latin typeface="宋体" charset="0"/>
                <a:ea typeface="宋体" charset="0"/>
              </a:rPr>
              <a:t>编译测试源代码</a:t>
            </a:r>
            <a:endParaRPr lang="en-US" altLang="zh-CN" dirty="0">
              <a:latin typeface="宋体" charset="0"/>
              <a:ea typeface="宋体" charset="0"/>
            </a:endParaRPr>
          </a:p>
          <a:p>
            <a:r>
              <a:rPr lang="en-US" altLang="zh-CN" dirty="0" err="1">
                <a:latin typeface="宋体" charset="0"/>
                <a:ea typeface="宋体" charset="0"/>
              </a:rPr>
              <a:t>mvn</a:t>
            </a:r>
            <a:r>
              <a:rPr lang="en-US" altLang="zh-CN" dirty="0">
                <a:latin typeface="宋体" charset="0"/>
                <a:ea typeface="宋体" charset="0"/>
              </a:rPr>
              <a:t> test </a:t>
            </a:r>
            <a:r>
              <a:rPr lang="en-US" altLang="zh-CN" dirty="0" err="1">
                <a:latin typeface="宋体" charset="0"/>
                <a:ea typeface="宋体" charset="0"/>
              </a:rPr>
              <a:t>运行应用程序中的单元测试</a:t>
            </a:r>
            <a:endParaRPr lang="en-US" altLang="zh-CN" dirty="0">
              <a:latin typeface="宋体" charset="0"/>
              <a:ea typeface="宋体" charset="0"/>
            </a:endParaRPr>
          </a:p>
          <a:p>
            <a:r>
              <a:rPr lang="en-US" altLang="zh-CN" dirty="0" err="1">
                <a:latin typeface="宋体" charset="0"/>
                <a:ea typeface="宋体" charset="0"/>
              </a:rPr>
              <a:t>mvn</a:t>
            </a:r>
            <a:r>
              <a:rPr lang="en-US" altLang="zh-CN" dirty="0">
                <a:latin typeface="宋体" charset="0"/>
                <a:ea typeface="宋体" charset="0"/>
              </a:rPr>
              <a:t> site </a:t>
            </a:r>
            <a:r>
              <a:rPr lang="en-US" altLang="zh-CN" dirty="0" err="1">
                <a:latin typeface="宋体" charset="0"/>
                <a:ea typeface="宋体" charset="0"/>
              </a:rPr>
              <a:t>生成项目相关信息的网站</a:t>
            </a:r>
            <a:endParaRPr lang="en-US" altLang="zh-CN" dirty="0">
              <a:latin typeface="宋体" charset="0"/>
              <a:ea typeface="宋体" charset="0"/>
            </a:endParaRPr>
          </a:p>
          <a:p>
            <a:r>
              <a:rPr lang="en-US" altLang="zh-CN" dirty="0" err="1">
                <a:latin typeface="宋体" charset="0"/>
                <a:ea typeface="宋体" charset="0"/>
              </a:rPr>
              <a:t>mvn</a:t>
            </a:r>
            <a:r>
              <a:rPr lang="en-US" altLang="zh-CN" dirty="0">
                <a:latin typeface="宋体" charset="0"/>
                <a:ea typeface="宋体" charset="0"/>
              </a:rPr>
              <a:t> install </a:t>
            </a:r>
            <a:r>
              <a:rPr lang="en-US" altLang="zh-CN" dirty="0" err="1">
                <a:latin typeface="宋体" charset="0"/>
                <a:ea typeface="宋体" charset="0"/>
              </a:rPr>
              <a:t>在本地Repository中安装jar</a:t>
            </a:r>
            <a:endParaRPr lang="en-US" altLang="zh-CN" dirty="0">
              <a:latin typeface="宋体" charset="0"/>
              <a:ea typeface="宋体" charset="0"/>
            </a:endParaRPr>
          </a:p>
          <a:p>
            <a:r>
              <a:rPr lang="en-US" altLang="zh-CN" dirty="0" err="1">
                <a:latin typeface="宋体" charset="0"/>
                <a:ea typeface="宋体" charset="0"/>
              </a:rPr>
              <a:t>mvnjetty:run</a:t>
            </a:r>
            <a:r>
              <a:rPr lang="en-US" altLang="zh-CN" dirty="0">
                <a:latin typeface="宋体" charset="0"/>
                <a:ea typeface="宋体" charset="0"/>
              </a:rPr>
              <a:t> </a:t>
            </a:r>
            <a:r>
              <a:rPr lang="en-US" altLang="zh-CN" dirty="0" err="1">
                <a:latin typeface="宋体" charset="0"/>
                <a:ea typeface="宋体" charset="0"/>
              </a:rPr>
              <a:t>启动jetty服务</a:t>
            </a:r>
            <a:endParaRPr lang="en-US" altLang="zh-CN" dirty="0">
              <a:latin typeface="宋体" charset="0"/>
              <a:ea typeface="宋体" charset="0"/>
            </a:endParaRPr>
          </a:p>
          <a:p>
            <a:r>
              <a:rPr lang="en-US" altLang="zh-CN" dirty="0" err="1">
                <a:latin typeface="宋体" charset="0"/>
                <a:ea typeface="宋体" charset="0"/>
              </a:rPr>
              <a:t>mvntomcat:run</a:t>
            </a:r>
            <a:r>
              <a:rPr lang="en-US" altLang="zh-CN" dirty="0">
                <a:latin typeface="宋体" charset="0"/>
                <a:ea typeface="宋体" charset="0"/>
              </a:rPr>
              <a:t> </a:t>
            </a:r>
            <a:r>
              <a:rPr lang="en-US" altLang="zh-CN" dirty="0" err="1">
                <a:latin typeface="宋体" charset="0"/>
                <a:ea typeface="宋体" charset="0"/>
              </a:rPr>
              <a:t>启动tomcat服务</a:t>
            </a:r>
            <a:endParaRPr lang="en-US" altLang="zh-CN" dirty="0">
              <a:latin typeface="宋体" charset="0"/>
              <a:ea typeface="宋体" charset="0"/>
            </a:endParaRPr>
          </a:p>
          <a:p>
            <a:r>
              <a:rPr lang="en-US" altLang="zh-CN" dirty="0" err="1" smtClean="0">
                <a:latin typeface="宋体" charset="0"/>
                <a:ea typeface="宋体" charset="0"/>
              </a:rPr>
              <a:t>mvn</a:t>
            </a:r>
            <a:r>
              <a:rPr lang="en-US" altLang="zh-CN" dirty="0" smtClean="0">
                <a:latin typeface="宋体" charset="0"/>
                <a:ea typeface="宋体" charset="0"/>
              </a:rPr>
              <a:t> </a:t>
            </a:r>
            <a:r>
              <a:rPr lang="en-US" altLang="zh-CN" dirty="0" err="1" smtClean="0">
                <a:latin typeface="宋体" charset="0"/>
                <a:ea typeface="宋体" charset="0"/>
              </a:rPr>
              <a:t>dependency:tree</a:t>
            </a:r>
            <a:r>
              <a:rPr lang="en-US" altLang="zh-CN" dirty="0">
                <a:latin typeface="宋体" charset="0"/>
                <a:ea typeface="宋体" charset="0"/>
              </a:rPr>
              <a:t> </a:t>
            </a:r>
            <a:r>
              <a:rPr lang="zh-CN" altLang="en-US" dirty="0" smtClean="0">
                <a:latin typeface="宋体" charset="0"/>
                <a:ea typeface="宋体" charset="0"/>
              </a:rPr>
              <a:t>查看</a:t>
            </a:r>
            <a:r>
              <a:rPr lang="en-US" altLang="zh-CN" dirty="0" smtClean="0">
                <a:latin typeface="宋体" charset="0"/>
                <a:ea typeface="宋体" charset="0"/>
              </a:rPr>
              <a:t>maven</a:t>
            </a:r>
            <a:r>
              <a:rPr lang="zh-CN" altLang="en-US" dirty="0" smtClean="0">
                <a:latin typeface="宋体" charset="0"/>
                <a:ea typeface="宋体" charset="0"/>
              </a:rPr>
              <a:t>依赖树</a:t>
            </a:r>
            <a:endParaRPr lang="en-US" altLang="zh-CN" dirty="0">
              <a:latin typeface="宋体" charset="0"/>
              <a:ea typeface="宋体" charset="0"/>
            </a:endParaRPr>
          </a:p>
          <a:p>
            <a:endParaRPr lang="en-US" altLang="zh-CN" sz="2000" dirty="0">
              <a:latin typeface="宋体" charset="0"/>
              <a:ea typeface="宋体" charset="0"/>
            </a:endParaRPr>
          </a:p>
          <a:p>
            <a:endParaRPr lang="en-US" altLang="zh-CN" sz="2000" dirty="0">
              <a:latin typeface="宋体" charset="0"/>
              <a:ea typeface="宋体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三、</a:t>
            </a:r>
            <a:r>
              <a:rPr altLang="zh-CN" dirty="0" smtClean="0"/>
              <a:t>Maven</a:t>
            </a:r>
            <a:r>
              <a:rPr lang="zh-CN" altLang="en-US" dirty="0"/>
              <a:t>仓库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1428750"/>
            <a:ext cx="8023860" cy="224676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 smtClean="0">
                <a:latin typeface="宋体" charset="0"/>
                <a:ea typeface="宋体" charset="0"/>
              </a:rPr>
              <a:t>3.1 Maven</a:t>
            </a:r>
            <a:r>
              <a:rPr lang="zh-CN" altLang="en-US" sz="2800" b="1" dirty="0">
                <a:latin typeface="宋体" charset="0"/>
                <a:ea typeface="宋体" charset="0"/>
              </a:rPr>
              <a:t>本地</a:t>
            </a:r>
            <a:r>
              <a:rPr lang="zh-CN" altLang="en-US" sz="2800" b="1" dirty="0" smtClean="0">
                <a:latin typeface="宋体" charset="0"/>
                <a:ea typeface="宋体" charset="0"/>
              </a:rPr>
              <a:t>仓库</a:t>
            </a:r>
            <a:endParaRPr lang="en-US" altLang="zh-CN" sz="2800" b="1" dirty="0" smtClean="0">
              <a:latin typeface="宋体" charset="0"/>
              <a:ea typeface="宋体" charset="0"/>
            </a:endParaRPr>
          </a:p>
          <a:p>
            <a:endParaRPr lang="zh-CN" altLang="en-US" sz="2800" b="1" dirty="0">
              <a:latin typeface="宋体" charset="0"/>
              <a:ea typeface="宋体" charset="0"/>
            </a:endParaRPr>
          </a:p>
          <a:p>
            <a:r>
              <a:rPr lang="en-US" altLang="zh-CN" sz="2800" b="1" dirty="0">
                <a:latin typeface="宋体" charset="0"/>
                <a:ea typeface="宋体" charset="0"/>
                <a:sym typeface="+mn-ea"/>
              </a:rPr>
              <a:t>3.2 </a:t>
            </a:r>
            <a:r>
              <a:rPr lang="en-US" altLang="zh-CN" sz="2800" b="1" dirty="0" smtClean="0">
                <a:latin typeface="宋体" charset="0"/>
                <a:ea typeface="宋体" charset="0"/>
                <a:sym typeface="+mn-ea"/>
              </a:rPr>
              <a:t>Maven</a:t>
            </a:r>
            <a:r>
              <a:rPr lang="zh-CN" altLang="en-US" sz="2800" b="1" dirty="0" smtClean="0">
                <a:latin typeface="宋体" charset="0"/>
                <a:ea typeface="宋体" charset="0"/>
                <a:sym typeface="+mn-ea"/>
              </a:rPr>
              <a:t>中央仓库</a:t>
            </a:r>
            <a:endParaRPr lang="en-US" altLang="zh-CN" sz="2800" b="1" dirty="0" smtClean="0">
              <a:latin typeface="宋体" charset="0"/>
              <a:ea typeface="宋体" charset="0"/>
              <a:sym typeface="+mn-ea"/>
            </a:endParaRPr>
          </a:p>
          <a:p>
            <a:endParaRPr lang="en-US" altLang="zh-CN" sz="2800" b="1" dirty="0">
              <a:latin typeface="宋体" charset="0"/>
              <a:ea typeface="宋体" charset="0"/>
              <a:sym typeface="+mn-ea"/>
            </a:endParaRPr>
          </a:p>
          <a:p>
            <a:r>
              <a:rPr lang="en-US" altLang="zh-CN" sz="2800" b="1" dirty="0" smtClean="0">
                <a:latin typeface="宋体" charset="0"/>
                <a:ea typeface="宋体" charset="0"/>
                <a:sym typeface="+mn-ea"/>
              </a:rPr>
              <a:t>3.3 Maven</a:t>
            </a:r>
            <a:r>
              <a:rPr lang="zh-CN" altLang="en-US" sz="2800" b="1" dirty="0">
                <a:latin typeface="宋体" charset="0"/>
                <a:ea typeface="宋体" charset="0"/>
                <a:sym typeface="+mn-ea"/>
              </a:rPr>
              <a:t>私服</a:t>
            </a:r>
            <a:r>
              <a:rPr lang="zh-CN" altLang="en-US" sz="2800" b="1" dirty="0" smtClean="0">
                <a:latin typeface="宋体" charset="0"/>
                <a:ea typeface="宋体" charset="0"/>
                <a:sym typeface="+mn-ea"/>
              </a:rPr>
              <a:t>仓库</a:t>
            </a:r>
            <a:endParaRPr lang="en-US" altLang="zh-CN" sz="2800" b="1" dirty="0">
              <a:latin typeface="宋体" charset="0"/>
              <a:ea typeface="宋体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0609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三、</a:t>
            </a:r>
            <a:r>
              <a:rPr altLang="zh-CN" dirty="0" smtClean="0"/>
              <a:t>Maven</a:t>
            </a:r>
            <a:r>
              <a:rPr lang="zh-CN" altLang="en-US" dirty="0"/>
              <a:t>仓库</a:t>
            </a:r>
          </a:p>
        </p:txBody>
      </p:sp>
      <p:sp>
        <p:nvSpPr>
          <p:cNvPr id="4" name="AutoShape 2" descr="frev://D:/Users/YANGZH~1/AppData/Local/Temp/C843DA1246FB53B9E22670884616C09F-mx-image.jpeg"/>
          <p:cNvSpPr>
            <a:spLocks noChangeAspect="1" noChangeArrowheads="1"/>
          </p:cNvSpPr>
          <p:nvPr/>
        </p:nvSpPr>
        <p:spPr bwMode="auto">
          <a:xfrm>
            <a:off x="155575" y="-3284538"/>
            <a:ext cx="6848475" cy="684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AutoShape 6" descr="frev://D:/Users/YANGZH~1/AppData/Local/Temp/C843DA1246FB53B9E22670884616C09F-mx-image.jpeg"/>
          <p:cNvSpPr>
            <a:spLocks noChangeAspect="1" noChangeArrowheads="1"/>
          </p:cNvSpPr>
          <p:nvPr/>
        </p:nvSpPr>
        <p:spPr bwMode="auto">
          <a:xfrm>
            <a:off x="460375" y="-2979738"/>
            <a:ext cx="6848475" cy="684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79708" y="910282"/>
            <a:ext cx="7973969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	</a:t>
            </a:r>
            <a:r>
              <a:rPr lang="zh-CN" altLang="en-US" sz="1600" dirty="0" smtClean="0"/>
              <a:t>在</a:t>
            </a:r>
            <a:r>
              <a:rPr lang="en-US" altLang="zh-CN" sz="1600" dirty="0"/>
              <a:t>Maven</a:t>
            </a:r>
            <a:r>
              <a:rPr lang="zh-CN" altLang="en-US" sz="1600" dirty="0"/>
              <a:t>中，任何一个依赖、插件或者项目构建的输出，都可以称之为构件</a:t>
            </a:r>
            <a:r>
              <a:rPr lang="zh-CN" altLang="en-US" sz="1600" dirty="0" smtClean="0"/>
              <a:t>。</a:t>
            </a:r>
            <a:r>
              <a:rPr lang="en-US" altLang="zh-CN" sz="1600" dirty="0" smtClean="0"/>
              <a:t>Maven</a:t>
            </a:r>
            <a:r>
              <a:rPr lang="zh-CN" altLang="en-US" sz="1600" dirty="0"/>
              <a:t>在某个统一的位置存储所有项目的共享的构件，这个统一的位置，我们就称之为</a:t>
            </a:r>
            <a:r>
              <a:rPr lang="zh-CN" altLang="en-US" sz="1600" dirty="0" smtClean="0"/>
              <a:t>仓库，仓库</a:t>
            </a:r>
            <a:r>
              <a:rPr lang="zh-CN" altLang="en-US" sz="1600" dirty="0"/>
              <a:t>就是存放依赖和插件的</a:t>
            </a:r>
            <a:r>
              <a:rPr lang="zh-CN" altLang="en-US" sz="1600" dirty="0" smtClean="0"/>
              <a:t>地方。</a:t>
            </a:r>
            <a:endParaRPr lang="zh-CN" altLang="en-US" sz="1600" dirty="0"/>
          </a:p>
          <a:p>
            <a:r>
              <a:rPr lang="en-US" altLang="zh-CN" sz="1600" dirty="0" smtClean="0"/>
              <a:t>	</a:t>
            </a:r>
            <a:r>
              <a:rPr lang="zh-CN" altLang="en-US" sz="1600" dirty="0"/>
              <a:t>任何的构件都有唯一的坐标，</a:t>
            </a:r>
            <a:r>
              <a:rPr lang="en-US" altLang="zh-CN" sz="1600" dirty="0"/>
              <a:t>Maven</a:t>
            </a:r>
            <a:r>
              <a:rPr lang="zh-CN" altLang="en-US" sz="1600" dirty="0"/>
              <a:t>根据这个坐标定义了构件在仓库中的唯一存储路径。</a:t>
            </a:r>
            <a:r>
              <a:rPr lang="en-US" altLang="zh-CN" sz="1600" dirty="0" err="1"/>
              <a:t>GroupID</a:t>
            </a:r>
            <a:r>
              <a:rPr lang="zh-CN" altLang="en-US" sz="1600" dirty="0"/>
              <a:t>是项目组织唯一的标识符，实际对应</a:t>
            </a:r>
            <a:r>
              <a:rPr lang="en-US" altLang="zh-CN" sz="1600" dirty="0"/>
              <a:t>JAVA</a:t>
            </a:r>
            <a:r>
              <a:rPr lang="zh-CN" altLang="en-US" sz="1600" dirty="0"/>
              <a:t>的包的</a:t>
            </a:r>
            <a:r>
              <a:rPr lang="zh-CN" altLang="en-US" sz="1600" dirty="0" smtClean="0"/>
              <a:t>结构，</a:t>
            </a:r>
            <a:r>
              <a:rPr lang="en-US" altLang="zh-CN" sz="1600" dirty="0" err="1"/>
              <a:t>ArtifactID</a:t>
            </a:r>
            <a:r>
              <a:rPr lang="zh-CN" altLang="en-US" sz="1600" dirty="0"/>
              <a:t>就是项目的唯一的标识符，实际对应项目的</a:t>
            </a:r>
            <a:r>
              <a:rPr lang="zh-CN" altLang="en-US" sz="1600" dirty="0" smtClean="0"/>
              <a:t>名称。</a:t>
            </a:r>
            <a:endParaRPr lang="en-US" altLang="zh-CN" sz="1600" dirty="0"/>
          </a:p>
          <a:p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5350896" y="2200971"/>
            <a:ext cx="3611105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400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Maven</a:t>
            </a:r>
            <a:r>
              <a:rPr lang="zh-CN" altLang="en-US" sz="1400" b="1" dirty="0">
                <a:latin typeface="宋体" panose="02010600030101010101" pitchFamily="2" charset="-122"/>
                <a:ea typeface="宋体" panose="02010600030101010101" pitchFamily="2" charset="-122"/>
              </a:rPr>
              <a:t>在仓库中的存储路径：</a:t>
            </a: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基于</a:t>
            </a:r>
            <a:r>
              <a:rPr lang="en-US" altLang="zh-CN" sz="14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groupId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1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路径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，将句点分隔符转成路径分隔符，就是将  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"."  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转换成 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"/" ; example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： 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org.testng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 ---&gt;org/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testng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基于</a:t>
            </a:r>
            <a:r>
              <a:rPr lang="en-US" altLang="zh-CN" sz="14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artifactId</a:t>
            </a:r>
            <a:r>
              <a:rPr lang="zh-CN" altLang="en-US" sz="1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的路径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，将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artifactId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连接到后面：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org/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testng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testng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1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version</a:t>
            </a:r>
            <a:r>
              <a:rPr lang="zh-CN" altLang="en-US" sz="1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的路径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，将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version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连接到后面：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org/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testng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testng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/5.8</a:t>
            </a: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artifactId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于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version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以分隔符连字号连接到后面：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org/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testng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testng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/5.8/tesng-5.8</a:t>
            </a: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判断如果构件有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classifier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，就要</a:t>
            </a:r>
            <a:r>
              <a:rPr lang="zh-CN" altLang="en-US" sz="1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在第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项后增加分隔符连字号再加上</a:t>
            </a:r>
            <a:r>
              <a:rPr lang="en-US" altLang="zh-CN" sz="1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classifier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org/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testng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testng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/5.8/tesng-5.8-jdk5</a:t>
            </a:r>
          </a:p>
          <a:p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检查构件的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extension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，如果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extension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存在，则加上句点分隔符和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extension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，而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extension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是由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packing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决定的，</a:t>
            </a:r>
            <a:r>
              <a:rPr lang="en-US" altLang="zh-CN" sz="1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org/</a:t>
            </a:r>
            <a:r>
              <a:rPr lang="en-US" altLang="zh-CN" sz="14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testng</a:t>
            </a:r>
            <a:r>
              <a:rPr lang="en-US" altLang="zh-CN" sz="1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4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testng</a:t>
            </a:r>
            <a:r>
              <a:rPr lang="en-US" altLang="zh-CN" sz="14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/5.8/tesng-5.8-jdk5.jar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604" y="2471980"/>
            <a:ext cx="4750231" cy="1045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978" y="3563938"/>
            <a:ext cx="4990455" cy="2712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1480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三、</a:t>
            </a:r>
            <a:r>
              <a:rPr altLang="zh-CN" dirty="0" smtClean="0"/>
              <a:t>Maven</a:t>
            </a:r>
            <a:r>
              <a:rPr lang="zh-CN" altLang="en-US" dirty="0"/>
              <a:t>仓库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1080039"/>
            <a:ext cx="8023860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 smtClean="0">
                <a:latin typeface="宋体" charset="0"/>
                <a:ea typeface="宋体" charset="0"/>
              </a:rPr>
              <a:t>3.1 Maven</a:t>
            </a:r>
            <a:r>
              <a:rPr lang="zh-CN" altLang="en-US" sz="2800" b="1" dirty="0">
                <a:latin typeface="宋体" charset="0"/>
                <a:ea typeface="宋体" charset="0"/>
              </a:rPr>
              <a:t>本地</a:t>
            </a:r>
            <a:r>
              <a:rPr lang="zh-CN" altLang="en-US" sz="2800" b="1" dirty="0" smtClean="0">
                <a:latin typeface="宋体" charset="0"/>
                <a:ea typeface="宋体" charset="0"/>
              </a:rPr>
              <a:t>仓库</a:t>
            </a:r>
            <a:endParaRPr lang="en-US" altLang="zh-CN" sz="2800" b="1" dirty="0" smtClean="0">
              <a:latin typeface="宋体" charset="0"/>
              <a:ea typeface="宋体" charset="0"/>
            </a:endParaRPr>
          </a:p>
          <a:p>
            <a:endParaRPr lang="zh-CN" altLang="en-US" sz="2800" b="1" dirty="0">
              <a:latin typeface="宋体" charset="0"/>
              <a:ea typeface="宋体" charset="0"/>
            </a:endParaRPr>
          </a:p>
        </p:txBody>
      </p:sp>
      <p:sp>
        <p:nvSpPr>
          <p:cNvPr id="4" name="AutoShape 2" descr="frev://D:/Users/YANGZH~1/AppData/Local/Temp/C843DA1246FB53B9E22670884616C09F-mx-image.jpeg"/>
          <p:cNvSpPr>
            <a:spLocks noChangeAspect="1" noChangeArrowheads="1"/>
          </p:cNvSpPr>
          <p:nvPr/>
        </p:nvSpPr>
        <p:spPr bwMode="auto">
          <a:xfrm>
            <a:off x="155575" y="-3284538"/>
            <a:ext cx="6848475" cy="684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frev://D:/Users/YANGZH~1/AppData/Local/Temp/C843DA1246FB53B9E22670884616C09F-mx-image.jpeg"/>
          <p:cNvSpPr>
            <a:spLocks noChangeAspect="1" noChangeArrowheads="1"/>
          </p:cNvSpPr>
          <p:nvPr/>
        </p:nvSpPr>
        <p:spPr bwMode="auto">
          <a:xfrm>
            <a:off x="307975" y="-3132138"/>
            <a:ext cx="6848475" cy="684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AutoShape 6" descr="frev://D:/Users/YANGZH~1/AppData/Local/Temp/C843DA1246FB53B9E22670884616C09F-mx-image.jpeg"/>
          <p:cNvSpPr>
            <a:spLocks noChangeAspect="1" noChangeArrowheads="1"/>
          </p:cNvSpPr>
          <p:nvPr/>
        </p:nvSpPr>
        <p:spPr bwMode="auto">
          <a:xfrm>
            <a:off x="460375" y="-2979738"/>
            <a:ext cx="6848475" cy="684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720762" y="1710980"/>
            <a:ext cx="780213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/>
              <a:t>	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Maven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在本地存储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构件的仓库，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Maven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仓库的默认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位置是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用户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的目录下的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m2/repository/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的仓库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目录，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第一次执行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maven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命令的时候才被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创建。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20725" y="2599906"/>
            <a:ext cx="766382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	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本地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仓库地址可在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conf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/settings.xml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中修改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，引入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元素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localRepository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231" y="3255956"/>
            <a:ext cx="8206354" cy="29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84139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三、</a:t>
            </a:r>
            <a:r>
              <a:rPr altLang="zh-CN" dirty="0" smtClean="0"/>
              <a:t>Maven</a:t>
            </a:r>
            <a:r>
              <a:rPr lang="zh-CN" altLang="en-US" dirty="0"/>
              <a:t>仓库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1080039"/>
            <a:ext cx="8023860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 smtClean="0">
                <a:latin typeface="宋体" charset="0"/>
                <a:ea typeface="宋体" charset="0"/>
              </a:rPr>
              <a:t>3.2 Maven</a:t>
            </a:r>
            <a:r>
              <a:rPr lang="zh-CN" altLang="en-US" sz="2800" b="1" dirty="0" smtClean="0">
                <a:latin typeface="宋体" charset="0"/>
                <a:ea typeface="宋体" charset="0"/>
              </a:rPr>
              <a:t>中央仓库</a:t>
            </a:r>
            <a:endParaRPr lang="en-US" altLang="zh-CN" sz="2800" b="1" dirty="0" smtClean="0">
              <a:latin typeface="宋体" charset="0"/>
              <a:ea typeface="宋体" charset="0"/>
            </a:endParaRPr>
          </a:p>
          <a:p>
            <a:endParaRPr lang="zh-CN" altLang="en-US" sz="2800" b="1" dirty="0">
              <a:latin typeface="宋体" charset="0"/>
              <a:ea typeface="宋体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20762" y="1710980"/>
            <a:ext cx="8148384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	Maven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中央仓库是默认的远程仓库，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地址是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https://mvnrepository.com 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Maven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中央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仓库包含了绝大多数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流行的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开源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Java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构件，以及源码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、作者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信息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SCM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、信息、许可证信息等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。一般来说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，简单的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Java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项目依赖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构件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都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可以在这里下载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得到。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20762" y="3613471"/>
            <a:ext cx="7772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为何要搭建私服仓库呢？</a:t>
            </a:r>
            <a:endParaRPr lang="en-US" altLang="zh-CN" b="1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 smtClean="0"/>
              <a:t>	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Maven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服务器位于美国，由于出国带宽和众多因素，在国内直接使用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Maven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的体验并不好。同时，国内还有很多公司的程序员开发机器无法直接连接互联网，鉴于这种情况，在公司区域网架设一部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Maven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私服能大大提高开发效率。</a:t>
            </a:r>
          </a:p>
        </p:txBody>
      </p:sp>
    </p:spTree>
    <p:extLst>
      <p:ext uri="{BB962C8B-B14F-4D97-AF65-F5344CB8AC3E}">
        <p14:creationId xmlns:p14="http://schemas.microsoft.com/office/powerpoint/2010/main" val="903490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三、</a:t>
            </a:r>
            <a:r>
              <a:rPr altLang="zh-CN" dirty="0" smtClean="0"/>
              <a:t>Maven</a:t>
            </a:r>
            <a:r>
              <a:rPr lang="zh-CN" altLang="en-US" dirty="0"/>
              <a:t>仓库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1080039"/>
            <a:ext cx="8023860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 smtClean="0">
                <a:latin typeface="宋体" charset="0"/>
                <a:ea typeface="宋体" charset="0"/>
              </a:rPr>
              <a:t>3.3 Maven</a:t>
            </a:r>
            <a:r>
              <a:rPr lang="zh-CN" altLang="en-US" sz="2800" b="1" dirty="0" smtClean="0">
                <a:latin typeface="宋体" charset="0"/>
                <a:ea typeface="宋体" charset="0"/>
              </a:rPr>
              <a:t>私服仓库</a:t>
            </a:r>
            <a:endParaRPr lang="en-US" altLang="zh-CN" sz="2800" b="1" dirty="0" smtClean="0">
              <a:latin typeface="宋体" charset="0"/>
              <a:ea typeface="宋体" charset="0"/>
            </a:endParaRPr>
          </a:p>
          <a:p>
            <a:endParaRPr lang="zh-CN" altLang="en-US" sz="2800" b="1" dirty="0">
              <a:latin typeface="宋体" charset="0"/>
              <a:ea typeface="宋体" charset="0"/>
            </a:endParaRPr>
          </a:p>
        </p:txBody>
      </p:sp>
      <p:sp>
        <p:nvSpPr>
          <p:cNvPr id="4" name="AutoShape 2" descr="frev://D:/Users/YANGZH~1/AppData/Local/Temp/C843DA1246FB53B9E22670884616C09F-mx-image.jpeg"/>
          <p:cNvSpPr>
            <a:spLocks noChangeAspect="1" noChangeArrowheads="1"/>
          </p:cNvSpPr>
          <p:nvPr/>
        </p:nvSpPr>
        <p:spPr bwMode="auto">
          <a:xfrm>
            <a:off x="155575" y="-3284538"/>
            <a:ext cx="6848475" cy="684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frev://D:/Users/YANGZH~1/AppData/Local/Temp/C843DA1246FB53B9E22670884616C09F-mx-image.jpeg"/>
          <p:cNvSpPr>
            <a:spLocks noChangeAspect="1" noChangeArrowheads="1"/>
          </p:cNvSpPr>
          <p:nvPr/>
        </p:nvSpPr>
        <p:spPr bwMode="auto">
          <a:xfrm>
            <a:off x="307975" y="-3132138"/>
            <a:ext cx="6848475" cy="684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AutoShape 6" descr="frev://D:/Users/YANGZH~1/AppData/Local/Temp/C843DA1246FB53B9E22670884616C09F-mx-image.jpeg"/>
          <p:cNvSpPr>
            <a:spLocks noChangeAspect="1" noChangeArrowheads="1"/>
          </p:cNvSpPr>
          <p:nvPr/>
        </p:nvSpPr>
        <p:spPr bwMode="auto">
          <a:xfrm>
            <a:off x="460375" y="-2979738"/>
            <a:ext cx="6848475" cy="684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460375" y="1796494"/>
            <a:ext cx="775690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私服仓库是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一种特殊的远程仓库，它是架设在局域网内的仓库服务，私服代理广域网上的远程仓库，供局域网内的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Maven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用户使用。当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Maven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需要下载构件的时候，它从私服请求，如果私服上不存在该构件，则从外部的远程仓库下载，缓存在私服上之后，再为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Maven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的下载请求提供服务。我们还可以把一些无法从外部仓库下载到的构件上传到私服上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60375" y="3382708"/>
            <a:ext cx="784671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	Maven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私服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的特性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</a:p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	1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节省自己的外网带宽：减少重复请求造成的外网带宽消耗</a:t>
            </a:r>
          </a:p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	2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加速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Maven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构件：如果项目配置了很多外部远程仓库的时候，构建速度就会大大降低</a:t>
            </a:r>
          </a:p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	3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部署第三方构件：有些构件无法从外部仓库获得的时候，我们可以把这些构件部署到内部仓库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私服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中，供内部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maven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项目使用</a:t>
            </a:r>
          </a:p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	4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提高稳定性，增强控制：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Internet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不稳定的时候，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maven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构建也会变的不稳定，一些私服软件还提供了其他的功能</a:t>
            </a:r>
          </a:p>
          <a:p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	5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降低中央仓库的负荷：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maven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中央仓库被请求的数量是巨大的，配置私服也可以大大降低中央仓库的压力</a:t>
            </a:r>
          </a:p>
        </p:txBody>
      </p:sp>
    </p:spTree>
    <p:extLst>
      <p:ext uri="{BB962C8B-B14F-4D97-AF65-F5344CB8AC3E}">
        <p14:creationId xmlns:p14="http://schemas.microsoft.com/office/powerpoint/2010/main" val="2561442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三、</a:t>
            </a:r>
            <a:r>
              <a:rPr altLang="zh-CN" dirty="0" smtClean="0"/>
              <a:t>Maven</a:t>
            </a:r>
            <a:r>
              <a:rPr lang="zh-CN" altLang="en-US" dirty="0"/>
              <a:t>仓库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1080039"/>
            <a:ext cx="8023860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 smtClean="0">
                <a:latin typeface="宋体" charset="0"/>
                <a:ea typeface="宋体" charset="0"/>
              </a:rPr>
              <a:t>3.3 Maven</a:t>
            </a:r>
            <a:r>
              <a:rPr lang="zh-CN" altLang="en-US" sz="2800" b="1" dirty="0" smtClean="0">
                <a:latin typeface="宋体" charset="0"/>
                <a:ea typeface="宋体" charset="0"/>
              </a:rPr>
              <a:t>私服仓库</a:t>
            </a:r>
            <a:endParaRPr lang="en-US" altLang="zh-CN" sz="2800" b="1" dirty="0" smtClean="0">
              <a:latin typeface="宋体" charset="0"/>
              <a:ea typeface="宋体" charset="0"/>
            </a:endParaRPr>
          </a:p>
          <a:p>
            <a:endParaRPr lang="zh-CN" altLang="en-US" sz="2800" b="1" dirty="0">
              <a:latin typeface="宋体" charset="0"/>
              <a:ea typeface="宋体" charset="0"/>
            </a:endParaRPr>
          </a:p>
        </p:txBody>
      </p:sp>
      <p:sp>
        <p:nvSpPr>
          <p:cNvPr id="4" name="AutoShape 2" descr="frev://D:/Users/YANGZH~1/AppData/Local/Temp/C843DA1246FB53B9E22670884616C09F-mx-image.jpeg"/>
          <p:cNvSpPr>
            <a:spLocks noChangeAspect="1" noChangeArrowheads="1"/>
          </p:cNvSpPr>
          <p:nvPr/>
        </p:nvSpPr>
        <p:spPr bwMode="auto">
          <a:xfrm>
            <a:off x="155575" y="-3284538"/>
            <a:ext cx="6848475" cy="684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frev://D:/Users/YANGZH~1/AppData/Local/Temp/C843DA1246FB53B9E22670884616C09F-mx-image.jpeg"/>
          <p:cNvSpPr>
            <a:spLocks noChangeAspect="1" noChangeArrowheads="1"/>
          </p:cNvSpPr>
          <p:nvPr/>
        </p:nvSpPr>
        <p:spPr bwMode="auto">
          <a:xfrm>
            <a:off x="307975" y="-3132138"/>
            <a:ext cx="6848475" cy="684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AutoShape 6" descr="frev://D:/Users/YANGZH~1/AppData/Local/Temp/C843DA1246FB53B9E22670884616C09F-mx-image.jpeg"/>
          <p:cNvSpPr>
            <a:spLocks noChangeAspect="1" noChangeArrowheads="1"/>
          </p:cNvSpPr>
          <p:nvPr/>
        </p:nvSpPr>
        <p:spPr bwMode="auto">
          <a:xfrm>
            <a:off x="460375" y="-2979738"/>
            <a:ext cx="6848475" cy="684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67386" y="1739885"/>
            <a:ext cx="78467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当前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主流的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maven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私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服有：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Apache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Archiva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JFrog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Artifactory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Sonatype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dirty="0" smtClean="0">
                <a:latin typeface="宋体" panose="02010600030101010101" pitchFamily="2" charset="-122"/>
                <a:ea typeface="宋体" panose="02010600030101010101" pitchFamily="2" charset="-122"/>
              </a:rPr>
              <a:t>Nexus</a:t>
            </a:r>
            <a:r>
              <a:rPr lang="zh-CN" altLang="en-US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67386" y="2748388"/>
            <a:ext cx="66848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配置远程仓库：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可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项目的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pom.xml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中，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配置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repositories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元素。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762" y="3197225"/>
            <a:ext cx="6713537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5943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三、</a:t>
            </a:r>
            <a:r>
              <a:rPr altLang="zh-CN" dirty="0" smtClean="0"/>
              <a:t>Maven</a:t>
            </a:r>
            <a:r>
              <a:rPr lang="zh-CN" altLang="en-US" dirty="0"/>
              <a:t>仓库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1080039"/>
            <a:ext cx="8023860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 smtClean="0">
                <a:latin typeface="宋体" charset="0"/>
                <a:ea typeface="宋体" charset="0"/>
              </a:rPr>
              <a:t>3.3 Maven</a:t>
            </a:r>
            <a:r>
              <a:rPr lang="zh-CN" altLang="en-US" sz="2800" b="1" dirty="0" smtClean="0">
                <a:latin typeface="宋体" charset="0"/>
                <a:ea typeface="宋体" charset="0"/>
              </a:rPr>
              <a:t>私服仓库</a:t>
            </a:r>
            <a:endParaRPr lang="en-US" altLang="zh-CN" sz="2800" b="1" dirty="0" smtClean="0">
              <a:latin typeface="宋体" charset="0"/>
              <a:ea typeface="宋体" charset="0"/>
            </a:endParaRPr>
          </a:p>
          <a:p>
            <a:endParaRPr lang="zh-CN" altLang="en-US" sz="2800" b="1" dirty="0">
              <a:latin typeface="宋体" charset="0"/>
              <a:ea typeface="宋体" charset="0"/>
            </a:endParaRPr>
          </a:p>
        </p:txBody>
      </p:sp>
      <p:sp>
        <p:nvSpPr>
          <p:cNvPr id="4" name="AutoShape 2" descr="frev://D:/Users/YANGZH~1/AppData/Local/Temp/C843DA1246FB53B9E22670884616C09F-mx-image.jpeg"/>
          <p:cNvSpPr>
            <a:spLocks noChangeAspect="1" noChangeArrowheads="1"/>
          </p:cNvSpPr>
          <p:nvPr/>
        </p:nvSpPr>
        <p:spPr bwMode="auto">
          <a:xfrm>
            <a:off x="155575" y="-3284538"/>
            <a:ext cx="6848475" cy="684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frev://D:/Users/YANGZH~1/AppData/Local/Temp/C843DA1246FB53B9E22670884616C09F-mx-image.jpeg"/>
          <p:cNvSpPr>
            <a:spLocks noChangeAspect="1" noChangeArrowheads="1"/>
          </p:cNvSpPr>
          <p:nvPr/>
        </p:nvSpPr>
        <p:spPr bwMode="auto">
          <a:xfrm>
            <a:off x="307975" y="-3132138"/>
            <a:ext cx="6848475" cy="684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AutoShape 6" descr="frev://D:/Users/YANGZH~1/AppData/Local/Temp/C843DA1246FB53B9E22670884616C09F-mx-image.jpeg"/>
          <p:cNvSpPr>
            <a:spLocks noChangeAspect="1" noChangeArrowheads="1"/>
          </p:cNvSpPr>
          <p:nvPr/>
        </p:nvSpPr>
        <p:spPr bwMode="auto">
          <a:xfrm>
            <a:off x="460375" y="-2979738"/>
            <a:ext cx="6848475" cy="684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67386" y="2108562"/>
            <a:ext cx="78467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7975" y="1718569"/>
            <a:ext cx="8084264" cy="16004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远程仓库认证：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大部分公共的远程仓库无须认证就可以直接访问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，但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我们在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平时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开发中往往会架设自己的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Maven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远程仓库，出于安全方面的考虑，我们需要提供认证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信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息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才能访问这样的远程仓库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可在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conf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/settings.xml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中修改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配置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servers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元素及其子元素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server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其中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server</a:t>
            </a:r>
          </a:p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元素的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id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必须与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pom.xml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中需要认证的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repository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元素的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id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完全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一致，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正是这个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id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将认证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信息与仓库配置联系在了一起。</a:t>
            </a:r>
          </a:p>
        </p:txBody>
      </p:sp>
      <p:sp>
        <p:nvSpPr>
          <p:cNvPr id="3" name="矩形 2"/>
          <p:cNvSpPr/>
          <p:nvPr/>
        </p:nvSpPr>
        <p:spPr>
          <a:xfrm>
            <a:off x="405835" y="5591328"/>
            <a:ext cx="801749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386" y="3594402"/>
            <a:ext cx="4731556" cy="237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903455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三、</a:t>
            </a:r>
            <a:r>
              <a:rPr altLang="zh-CN" dirty="0" smtClean="0"/>
              <a:t>Maven</a:t>
            </a:r>
            <a:r>
              <a:rPr lang="zh-CN" altLang="en-US" dirty="0"/>
              <a:t>仓库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1080039"/>
            <a:ext cx="8023860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 smtClean="0">
                <a:latin typeface="宋体" charset="0"/>
                <a:ea typeface="宋体" charset="0"/>
              </a:rPr>
              <a:t>3.3 Maven</a:t>
            </a:r>
            <a:r>
              <a:rPr lang="zh-CN" altLang="en-US" sz="2800" b="1" dirty="0" smtClean="0">
                <a:latin typeface="宋体" charset="0"/>
                <a:ea typeface="宋体" charset="0"/>
              </a:rPr>
              <a:t>私服仓库</a:t>
            </a:r>
            <a:endParaRPr lang="en-US" altLang="zh-CN" sz="2800" b="1" dirty="0" smtClean="0">
              <a:latin typeface="宋体" charset="0"/>
              <a:ea typeface="宋体" charset="0"/>
            </a:endParaRPr>
          </a:p>
          <a:p>
            <a:endParaRPr lang="zh-CN" altLang="en-US" sz="2800" b="1" dirty="0">
              <a:latin typeface="宋体" charset="0"/>
              <a:ea typeface="宋体" charset="0"/>
            </a:endParaRPr>
          </a:p>
        </p:txBody>
      </p:sp>
      <p:sp>
        <p:nvSpPr>
          <p:cNvPr id="4" name="AutoShape 2" descr="frev://D:/Users/YANGZH~1/AppData/Local/Temp/C843DA1246FB53B9E22670884616C09F-mx-image.jpeg"/>
          <p:cNvSpPr>
            <a:spLocks noChangeAspect="1" noChangeArrowheads="1"/>
          </p:cNvSpPr>
          <p:nvPr/>
        </p:nvSpPr>
        <p:spPr bwMode="auto">
          <a:xfrm>
            <a:off x="155575" y="-3284538"/>
            <a:ext cx="6848475" cy="684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frev://D:/Users/YANGZH~1/AppData/Local/Temp/C843DA1246FB53B9E22670884616C09F-mx-image.jpeg"/>
          <p:cNvSpPr>
            <a:spLocks noChangeAspect="1" noChangeArrowheads="1"/>
          </p:cNvSpPr>
          <p:nvPr/>
        </p:nvSpPr>
        <p:spPr bwMode="auto">
          <a:xfrm>
            <a:off x="307975" y="-3132138"/>
            <a:ext cx="6848475" cy="684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AutoShape 6" descr="frev://D:/Users/YANGZH~1/AppData/Local/Temp/C843DA1246FB53B9E22670884616C09F-mx-image.jpeg"/>
          <p:cNvSpPr>
            <a:spLocks noChangeAspect="1" noChangeArrowheads="1"/>
          </p:cNvSpPr>
          <p:nvPr/>
        </p:nvSpPr>
        <p:spPr bwMode="auto">
          <a:xfrm>
            <a:off x="460375" y="-2979738"/>
            <a:ext cx="6848475" cy="684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67386" y="2108562"/>
            <a:ext cx="78467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7975" y="1664326"/>
            <a:ext cx="7382149" cy="86177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部署构建至远程仓库：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Maven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除了能对项目进行编译、测试、打包之外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还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能将项目生成的构件部署到远程仓库中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。可在项目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pom.xml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文件中，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配置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distributionManagement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元素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67386" y="5026240"/>
            <a:ext cx="8017494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distributionManagement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包含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repository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snapshotRepository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子元素，前者表示发布版本（稳定版本）构件的仓库，后者表示快照版本（开发测试版本）的仓库。</a:t>
            </a: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2840038"/>
            <a:ext cx="6963313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49685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720762" y="285736"/>
            <a:ext cx="7772400" cy="1143000"/>
          </a:xfrm>
        </p:spPr>
        <p:txBody>
          <a:bodyPr/>
          <a:lstStyle/>
          <a:p>
            <a:pPr algn="l"/>
            <a:r>
              <a:rPr lang="zh-CN" altLang="en-US" dirty="0" smtClean="0"/>
              <a:t>三、</a:t>
            </a:r>
            <a:r>
              <a:rPr altLang="zh-CN" dirty="0" smtClean="0"/>
              <a:t>Maven</a:t>
            </a:r>
            <a:r>
              <a:rPr lang="zh-CN" altLang="en-US" dirty="0"/>
              <a:t>仓库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20725" y="963804"/>
            <a:ext cx="8023860" cy="9541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2800" b="1" dirty="0" smtClean="0">
                <a:latin typeface="宋体" charset="0"/>
                <a:ea typeface="宋体" charset="0"/>
              </a:rPr>
              <a:t>3.3 Maven</a:t>
            </a:r>
            <a:r>
              <a:rPr lang="zh-CN" altLang="en-US" sz="2800" b="1" dirty="0" smtClean="0">
                <a:latin typeface="宋体" charset="0"/>
                <a:ea typeface="宋体" charset="0"/>
              </a:rPr>
              <a:t>私服仓库</a:t>
            </a:r>
            <a:endParaRPr lang="en-US" altLang="zh-CN" sz="2800" b="1" dirty="0" smtClean="0">
              <a:latin typeface="宋体" charset="0"/>
              <a:ea typeface="宋体" charset="0"/>
            </a:endParaRPr>
          </a:p>
          <a:p>
            <a:endParaRPr lang="zh-CN" altLang="en-US" sz="2800" b="1" dirty="0">
              <a:latin typeface="宋体" charset="0"/>
              <a:ea typeface="宋体" charset="0"/>
            </a:endParaRPr>
          </a:p>
        </p:txBody>
      </p:sp>
      <p:sp>
        <p:nvSpPr>
          <p:cNvPr id="4" name="AutoShape 2" descr="frev://D:/Users/YANGZH~1/AppData/Local/Temp/C843DA1246FB53B9E22670884616C09F-mx-image.jpeg"/>
          <p:cNvSpPr>
            <a:spLocks noChangeAspect="1" noChangeArrowheads="1"/>
          </p:cNvSpPr>
          <p:nvPr/>
        </p:nvSpPr>
        <p:spPr bwMode="auto">
          <a:xfrm>
            <a:off x="155575" y="-3284538"/>
            <a:ext cx="6848475" cy="684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frev://D:/Users/YANGZH~1/AppData/Local/Temp/C843DA1246FB53B9E22670884616C09F-mx-image.jpeg"/>
          <p:cNvSpPr>
            <a:spLocks noChangeAspect="1" noChangeArrowheads="1"/>
          </p:cNvSpPr>
          <p:nvPr/>
        </p:nvSpPr>
        <p:spPr bwMode="auto">
          <a:xfrm>
            <a:off x="307975" y="-3132138"/>
            <a:ext cx="6848475" cy="684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AutoShape 6" descr="frev://D:/Users/YANGZH~1/AppData/Local/Temp/C843DA1246FB53B9E22670884616C09F-mx-image.jpeg"/>
          <p:cNvSpPr>
            <a:spLocks noChangeAspect="1" noChangeArrowheads="1"/>
          </p:cNvSpPr>
          <p:nvPr/>
        </p:nvSpPr>
        <p:spPr bwMode="auto">
          <a:xfrm>
            <a:off x="460375" y="-2979738"/>
            <a:ext cx="6848475" cy="684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67386" y="2108562"/>
            <a:ext cx="78467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307975" y="1493848"/>
            <a:ext cx="8305479" cy="110799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配置远程仓库的镜像：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镜像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的一个更为常见的用法是结合私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服。由于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私服可以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代理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任何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外部的公共仓库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包括中央仓库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，因此，对于组织内部的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Maven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用户来说，使用一个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私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服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地址就等于使用了所有需要的外部仓库，这可以将配置集中到私服，从而简化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Maven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本身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配置。在这种情况下，任何需要的构件都可以从私服获得，私服就是所有仓库的镜像。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386" y="2691302"/>
            <a:ext cx="8451150" cy="25083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9"/>
          <p:cNvSpPr/>
          <p:nvPr/>
        </p:nvSpPr>
        <p:spPr>
          <a:xfrm>
            <a:off x="367386" y="5376340"/>
            <a:ext cx="803269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	&lt;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mirrorOf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的值为星号，表示该配置是所有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Maven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仓库的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镜像。需要注意，由于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镜像仓库完全屏蔽了被镜像仓库，当镜像仓库不稳定或者停止服务的时候，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Maven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仍将无法访问被镜像仓库，因而将无法下载构件。</a:t>
            </a:r>
          </a:p>
        </p:txBody>
      </p:sp>
    </p:spTree>
    <p:extLst>
      <p:ext uri="{BB962C8B-B14F-4D97-AF65-F5344CB8AC3E}">
        <p14:creationId xmlns:p14="http://schemas.microsoft.com/office/powerpoint/2010/main" val="1785451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13980" y="345731"/>
            <a:ext cx="8023860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 b="1" dirty="0" smtClean="0">
                <a:latin typeface="宋体" charset="0"/>
                <a:ea typeface="宋体" charset="0"/>
              </a:rPr>
              <a:t>注意事项：</a:t>
            </a:r>
            <a:endParaRPr lang="zh-CN" altLang="en-US" sz="2800" b="1" dirty="0">
              <a:latin typeface="宋体" charset="0"/>
              <a:ea typeface="宋体" charset="0"/>
            </a:endParaRPr>
          </a:p>
        </p:txBody>
      </p:sp>
      <p:sp>
        <p:nvSpPr>
          <p:cNvPr id="4" name="AutoShape 2" descr="frev://D:/Users/YANGZH~1/AppData/Local/Temp/C843DA1246FB53B9E22670884616C09F-mx-image.jpeg"/>
          <p:cNvSpPr>
            <a:spLocks noChangeAspect="1" noChangeArrowheads="1"/>
          </p:cNvSpPr>
          <p:nvPr/>
        </p:nvSpPr>
        <p:spPr bwMode="auto">
          <a:xfrm>
            <a:off x="155575" y="-3284538"/>
            <a:ext cx="6848475" cy="684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" name="AutoShape 4" descr="frev://D:/Users/YANGZH~1/AppData/Local/Temp/C843DA1246FB53B9E22670884616C09F-mx-image.jpeg"/>
          <p:cNvSpPr>
            <a:spLocks noChangeAspect="1" noChangeArrowheads="1"/>
          </p:cNvSpPr>
          <p:nvPr/>
        </p:nvSpPr>
        <p:spPr bwMode="auto">
          <a:xfrm>
            <a:off x="336981" y="-3132138"/>
            <a:ext cx="6848475" cy="684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7" name="AutoShape 6" descr="frev://D:/Users/YANGZH~1/AppData/Local/Temp/C843DA1246FB53B9E22670884616C09F-mx-image.jpeg"/>
          <p:cNvSpPr>
            <a:spLocks noChangeAspect="1" noChangeArrowheads="1"/>
          </p:cNvSpPr>
          <p:nvPr/>
        </p:nvSpPr>
        <p:spPr bwMode="auto">
          <a:xfrm>
            <a:off x="460375" y="-2979738"/>
            <a:ext cx="6848475" cy="684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67386" y="2108562"/>
            <a:ext cx="78467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7236" y="1101725"/>
            <a:ext cx="8237349" cy="49244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宋体" charset="0"/>
                <a:ea typeface="宋体" charset="0"/>
              </a:rPr>
              <a:t>1</a:t>
            </a:r>
            <a:r>
              <a:rPr lang="zh-CN" altLang="en-US" dirty="0">
                <a:latin typeface="宋体" charset="0"/>
                <a:ea typeface="宋体" charset="0"/>
              </a:rPr>
              <a:t>、确认依赖的是最新版本。</a:t>
            </a:r>
            <a:r>
              <a:rPr lang="en-US" altLang="zh-CN" dirty="0">
                <a:latin typeface="宋体" charset="0"/>
                <a:ea typeface="宋体" charset="0"/>
              </a:rPr>
              <a:t>SNAPSHOT</a:t>
            </a:r>
            <a:r>
              <a:rPr lang="zh-CN" altLang="en-US" dirty="0">
                <a:latin typeface="宋体" charset="0"/>
                <a:ea typeface="宋体" charset="0"/>
              </a:rPr>
              <a:t>可多次</a:t>
            </a:r>
            <a:r>
              <a:rPr lang="en-US" altLang="zh-CN" dirty="0">
                <a:latin typeface="宋体" charset="0"/>
                <a:ea typeface="宋体" charset="0"/>
              </a:rPr>
              <a:t>deploy</a:t>
            </a:r>
            <a:r>
              <a:rPr lang="zh-CN" altLang="en-US" dirty="0">
                <a:latin typeface="宋体" charset="0"/>
                <a:ea typeface="宋体" charset="0"/>
              </a:rPr>
              <a:t>，</a:t>
            </a:r>
            <a:r>
              <a:rPr lang="en-US" altLang="zh-CN" dirty="0">
                <a:latin typeface="宋体" charset="0"/>
                <a:ea typeface="宋体" charset="0"/>
              </a:rPr>
              <a:t>RELEASE</a:t>
            </a:r>
            <a:r>
              <a:rPr lang="zh-CN" altLang="en-US" dirty="0">
                <a:latin typeface="宋体" charset="0"/>
                <a:ea typeface="宋体" charset="0"/>
              </a:rPr>
              <a:t>只能</a:t>
            </a:r>
            <a:r>
              <a:rPr lang="en-US" altLang="zh-CN" dirty="0">
                <a:latin typeface="宋体" charset="0"/>
                <a:ea typeface="宋体" charset="0"/>
              </a:rPr>
              <a:t>deploy</a:t>
            </a:r>
            <a:r>
              <a:rPr lang="zh-CN" altLang="en-US" dirty="0">
                <a:latin typeface="宋体" charset="0"/>
                <a:ea typeface="宋体" charset="0"/>
              </a:rPr>
              <a:t>一次</a:t>
            </a:r>
            <a:endParaRPr lang="en-US" altLang="zh-CN" dirty="0">
              <a:latin typeface="宋体" charset="0"/>
              <a:ea typeface="宋体" charset="0"/>
            </a:endParaRPr>
          </a:p>
          <a:p>
            <a:endParaRPr lang="zh-CN" altLang="en-US" dirty="0">
              <a:latin typeface="宋体" charset="0"/>
              <a:ea typeface="宋体" charset="0"/>
            </a:endParaRPr>
          </a:p>
          <a:p>
            <a:r>
              <a:rPr lang="en-US" altLang="zh-CN" dirty="0">
                <a:latin typeface="宋体" charset="0"/>
                <a:ea typeface="宋体" charset="0"/>
              </a:rPr>
              <a:t>2</a:t>
            </a:r>
            <a:r>
              <a:rPr lang="zh-CN" altLang="en-US" dirty="0">
                <a:latin typeface="宋体" charset="0"/>
                <a:ea typeface="宋体" charset="0"/>
              </a:rPr>
              <a:t>、防止重复依赖</a:t>
            </a:r>
            <a:endParaRPr lang="en-US" altLang="zh-CN" dirty="0">
              <a:latin typeface="宋体" charset="0"/>
              <a:ea typeface="宋体" charset="0"/>
            </a:endParaRPr>
          </a:p>
          <a:p>
            <a:endParaRPr lang="en-US" altLang="zh-CN" dirty="0">
              <a:latin typeface="宋体" charset="0"/>
              <a:ea typeface="宋体" charset="0"/>
            </a:endParaRPr>
          </a:p>
          <a:p>
            <a:r>
              <a:rPr lang="en-US" altLang="zh-CN" dirty="0">
                <a:latin typeface="宋体" charset="0"/>
                <a:ea typeface="宋体" charset="0"/>
              </a:rPr>
              <a:t>3</a:t>
            </a:r>
            <a:r>
              <a:rPr lang="zh-CN" altLang="en-US" dirty="0">
                <a:latin typeface="宋体" charset="0"/>
                <a:ea typeface="宋体" charset="0"/>
              </a:rPr>
              <a:t>、防止循环依赖，应避免系统间的循环依赖 </a:t>
            </a:r>
            <a:endParaRPr lang="en-US" altLang="zh-CN" dirty="0">
              <a:latin typeface="宋体" charset="0"/>
              <a:ea typeface="宋体" charset="0"/>
            </a:endParaRPr>
          </a:p>
          <a:p>
            <a:endParaRPr lang="en-US" altLang="zh-CN" dirty="0">
              <a:latin typeface="宋体" charset="0"/>
              <a:ea typeface="宋体" charset="0"/>
            </a:endParaRPr>
          </a:p>
          <a:p>
            <a:r>
              <a:rPr lang="en-US" altLang="zh-CN" dirty="0">
                <a:latin typeface="宋体" charset="0"/>
                <a:ea typeface="宋体" charset="0"/>
              </a:rPr>
              <a:t>4</a:t>
            </a:r>
            <a:r>
              <a:rPr lang="zh-CN" altLang="en-US" dirty="0">
                <a:latin typeface="宋体" charset="0"/>
                <a:ea typeface="宋体" charset="0"/>
              </a:rPr>
              <a:t>、升级依赖版本，特别是公共服务的，需要注意依赖的服务是否支持向前兼容</a:t>
            </a:r>
            <a:endParaRPr lang="en-US" altLang="zh-CN" dirty="0">
              <a:latin typeface="宋体" charset="0"/>
              <a:ea typeface="宋体" charset="0"/>
            </a:endParaRPr>
          </a:p>
          <a:p>
            <a:endParaRPr lang="zh-CN" altLang="en-US" dirty="0">
              <a:latin typeface="宋体" charset="0"/>
              <a:ea typeface="宋体" charset="0"/>
            </a:endParaRPr>
          </a:p>
          <a:p>
            <a:r>
              <a:rPr lang="en-US" altLang="zh-CN" dirty="0">
                <a:latin typeface="宋体" charset="0"/>
                <a:ea typeface="宋体" charset="0"/>
              </a:rPr>
              <a:t>5</a:t>
            </a:r>
            <a:r>
              <a:rPr lang="zh-CN" altLang="en-US" dirty="0">
                <a:latin typeface="宋体" charset="0"/>
                <a:ea typeface="宋体" charset="0"/>
              </a:rPr>
              <a:t>、注意依赖的</a:t>
            </a:r>
            <a:r>
              <a:rPr lang="en-US" altLang="zh-CN" dirty="0">
                <a:latin typeface="宋体" charset="0"/>
                <a:ea typeface="宋体" charset="0"/>
              </a:rPr>
              <a:t>scope</a:t>
            </a:r>
            <a:r>
              <a:rPr lang="zh-CN" altLang="en-US" dirty="0">
                <a:latin typeface="宋体" charset="0"/>
                <a:ea typeface="宋体" charset="0"/>
              </a:rPr>
              <a:t>，</a:t>
            </a:r>
            <a:r>
              <a:rPr lang="en-US" altLang="zh-CN" dirty="0" err="1">
                <a:latin typeface="宋体" charset="0"/>
                <a:ea typeface="宋体" charset="0"/>
              </a:rPr>
              <a:t>junit</a:t>
            </a:r>
            <a:r>
              <a:rPr lang="zh-CN" altLang="en-US" dirty="0">
                <a:latin typeface="宋体" charset="0"/>
                <a:ea typeface="宋体" charset="0"/>
              </a:rPr>
              <a:t>等单元测试工具需要增加</a:t>
            </a:r>
            <a:r>
              <a:rPr lang="en-US" altLang="zh-CN" dirty="0">
                <a:latin typeface="宋体" charset="0"/>
                <a:ea typeface="宋体" charset="0"/>
              </a:rPr>
              <a:t>scope test</a:t>
            </a:r>
            <a:r>
              <a:rPr lang="zh-CN" altLang="en-US" dirty="0">
                <a:latin typeface="宋体" charset="0"/>
                <a:ea typeface="宋体" charset="0"/>
              </a:rPr>
              <a:t>，如：</a:t>
            </a:r>
            <a:endParaRPr lang="en-US" altLang="zh-CN" dirty="0">
              <a:latin typeface="宋体" charset="0"/>
              <a:ea typeface="宋体" charset="0"/>
            </a:endParaRPr>
          </a:p>
          <a:p>
            <a:pPr lvl="1"/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&lt;dependency&gt;</a:t>
            </a:r>
          </a:p>
          <a:p>
            <a:pPr lvl="1"/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	&lt;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groupId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400" u="sng" dirty="0" err="1">
                <a:latin typeface="宋体" panose="02010600030101010101" pitchFamily="2" charset="-122"/>
                <a:ea typeface="宋体" panose="02010600030101010101" pitchFamily="2" charset="-122"/>
              </a:rPr>
              <a:t>junit</a:t>
            </a:r>
            <a:r>
              <a:rPr lang="en-US" altLang="zh-CN" sz="1400" u="sng" dirty="0">
                <a:latin typeface="宋体" panose="02010600030101010101" pitchFamily="2" charset="-122"/>
                <a:ea typeface="宋体" panose="02010600030101010101" pitchFamily="2" charset="-122"/>
              </a:rPr>
              <a:t>&lt;/</a:t>
            </a:r>
            <a:r>
              <a:rPr lang="en-US" altLang="zh-CN" sz="1400" u="sng" dirty="0" err="1">
                <a:latin typeface="宋体" panose="02010600030101010101" pitchFamily="2" charset="-122"/>
                <a:ea typeface="宋体" panose="02010600030101010101" pitchFamily="2" charset="-122"/>
              </a:rPr>
              <a:t>groupId</a:t>
            </a:r>
            <a:r>
              <a:rPr lang="en-US" altLang="zh-CN" sz="1400" u="sng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lvl="1"/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	&lt;</a:t>
            </a:r>
            <a:r>
              <a:rPr lang="en-US" altLang="zh-CN" sz="1400" dirty="0" err="1">
                <a:latin typeface="宋体" panose="02010600030101010101" pitchFamily="2" charset="-122"/>
                <a:ea typeface="宋体" panose="02010600030101010101" pitchFamily="2" charset="-122"/>
              </a:rPr>
              <a:t>artifactId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  <a:r>
              <a:rPr lang="en-US" altLang="zh-CN" sz="1400" u="sng" dirty="0" err="1">
                <a:latin typeface="宋体" panose="02010600030101010101" pitchFamily="2" charset="-122"/>
                <a:ea typeface="宋体" panose="02010600030101010101" pitchFamily="2" charset="-122"/>
              </a:rPr>
              <a:t>junit</a:t>
            </a:r>
            <a:r>
              <a:rPr lang="en-US" altLang="zh-CN" sz="1400" u="sng" dirty="0">
                <a:latin typeface="宋体" panose="02010600030101010101" pitchFamily="2" charset="-122"/>
                <a:ea typeface="宋体" panose="02010600030101010101" pitchFamily="2" charset="-122"/>
              </a:rPr>
              <a:t>&lt;/</a:t>
            </a:r>
            <a:r>
              <a:rPr lang="en-US" altLang="zh-CN" sz="1400" u="sng" dirty="0" err="1">
                <a:latin typeface="宋体" panose="02010600030101010101" pitchFamily="2" charset="-122"/>
                <a:ea typeface="宋体" panose="02010600030101010101" pitchFamily="2" charset="-122"/>
              </a:rPr>
              <a:t>artifactId</a:t>
            </a:r>
            <a:r>
              <a:rPr lang="en-US" altLang="zh-CN" sz="1400" u="sng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lvl="1"/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	&lt;version&gt;4.11&lt;/version&gt;</a:t>
            </a:r>
          </a:p>
          <a:p>
            <a:pPr lvl="1"/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	&lt;scope&gt;test&lt;/scope&gt;</a:t>
            </a:r>
          </a:p>
          <a:p>
            <a:pPr lvl="1"/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&lt;/dependency&gt;</a:t>
            </a:r>
          </a:p>
          <a:p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宋体" charset="0"/>
                <a:ea typeface="宋体" charset="0"/>
              </a:rPr>
              <a:t>6</a:t>
            </a:r>
            <a:r>
              <a:rPr lang="zh-CN" altLang="en-US" dirty="0">
                <a:latin typeface="宋体" charset="0"/>
                <a:ea typeface="宋体" charset="0"/>
              </a:rPr>
              <a:t>、</a:t>
            </a:r>
            <a:r>
              <a:rPr lang="en-US" altLang="zh-CN" dirty="0">
                <a:latin typeface="宋体" charset="0"/>
                <a:ea typeface="宋体" charset="0"/>
              </a:rPr>
              <a:t>deploy</a:t>
            </a:r>
            <a:r>
              <a:rPr lang="zh-CN" altLang="en-US" dirty="0">
                <a:latin typeface="宋体" charset="0"/>
                <a:ea typeface="宋体" charset="0"/>
              </a:rPr>
              <a:t>应使用</a:t>
            </a:r>
            <a:r>
              <a:rPr lang="en-US" altLang="zh-CN" dirty="0">
                <a:latin typeface="宋体" charset="0"/>
                <a:ea typeface="宋体" charset="0"/>
              </a:rPr>
              <a:t>JDK1.7</a:t>
            </a:r>
            <a:r>
              <a:rPr lang="zh-CN" altLang="en-US" dirty="0">
                <a:latin typeface="宋体" charset="0"/>
                <a:ea typeface="宋体" charset="0"/>
              </a:rPr>
              <a:t>，如果使用</a:t>
            </a:r>
            <a:r>
              <a:rPr lang="en-US" altLang="zh-CN" dirty="0">
                <a:latin typeface="宋体" charset="0"/>
                <a:ea typeface="宋体" charset="0"/>
              </a:rPr>
              <a:t>JDK1.8</a:t>
            </a:r>
            <a:r>
              <a:rPr lang="zh-CN" altLang="en-US" dirty="0">
                <a:latin typeface="宋体" charset="0"/>
                <a:ea typeface="宋体" charset="0"/>
              </a:rPr>
              <a:t>，会导致其它应用无法下载</a:t>
            </a:r>
            <a:endParaRPr lang="en-US" altLang="zh-CN" dirty="0">
              <a:latin typeface="宋体" charset="0"/>
              <a:ea typeface="宋体" charset="0"/>
            </a:endParaRPr>
          </a:p>
          <a:p>
            <a:endParaRPr lang="en-US" altLang="zh-CN" dirty="0">
              <a:latin typeface="宋体" charset="0"/>
              <a:ea typeface="宋体" charset="0"/>
            </a:endParaRPr>
          </a:p>
          <a:p>
            <a:r>
              <a:rPr lang="en-US" altLang="zh-CN" dirty="0">
                <a:latin typeface="宋体" charset="0"/>
                <a:ea typeface="宋体" charset="0"/>
              </a:rPr>
              <a:t>7</a:t>
            </a:r>
            <a:r>
              <a:rPr lang="zh-CN" altLang="en-US" dirty="0">
                <a:latin typeface="宋体" charset="0"/>
                <a:ea typeface="宋体" charset="0"/>
              </a:rPr>
              <a:t>、</a:t>
            </a:r>
            <a:r>
              <a:rPr lang="zh-CN" altLang="zh-CN" dirty="0">
                <a:latin typeface="宋体" charset="0"/>
                <a:ea typeface="宋体" charset="0"/>
              </a:rPr>
              <a:t>上线之前，程序版本及所有的</a:t>
            </a:r>
            <a:r>
              <a:rPr lang="en-US" altLang="zh-CN" dirty="0" err="1">
                <a:latin typeface="宋体" charset="0"/>
                <a:ea typeface="宋体" charset="0"/>
              </a:rPr>
              <a:t>pom</a:t>
            </a:r>
            <a:r>
              <a:rPr lang="zh-CN" altLang="zh-CN" dirty="0">
                <a:latin typeface="宋体" charset="0"/>
                <a:ea typeface="宋体" charset="0"/>
              </a:rPr>
              <a:t>里面的依赖要改为</a:t>
            </a:r>
            <a:r>
              <a:rPr lang="en-US" altLang="zh-CN" dirty="0">
                <a:latin typeface="宋体" charset="0"/>
                <a:ea typeface="宋体" charset="0"/>
              </a:rPr>
              <a:t>RELEASE</a:t>
            </a:r>
            <a:r>
              <a:rPr lang="zh-CN" altLang="zh-CN" dirty="0">
                <a:latin typeface="宋体" charset="0"/>
                <a:ea typeface="宋体" charset="0"/>
              </a:rPr>
              <a:t>版本</a:t>
            </a:r>
            <a:endParaRPr lang="en-US" altLang="zh-CN" dirty="0">
              <a:latin typeface="宋体" charset="0"/>
              <a:ea typeface="宋体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610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2500306"/>
            <a:ext cx="9144000" cy="1357322"/>
          </a:xfrm>
        </p:spPr>
        <p:txBody>
          <a:bodyPr/>
          <a:lstStyle/>
          <a:p>
            <a:pPr algn="ctr"/>
            <a:r>
              <a:rPr lang="en-US" altLang="zh-CN" dirty="0" smtClean="0">
                <a:solidFill>
                  <a:srgbClr val="C00000"/>
                </a:solidFill>
                <a:latin typeface="微软雅黑" pitchFamily="34" charset="-122"/>
                <a:ea typeface="微软雅黑" pitchFamily="34" charset="-122"/>
              </a:rPr>
              <a:t>Thank you!</a:t>
            </a:r>
            <a:endParaRPr lang="zh-CN" altLang="en-US" dirty="0">
              <a:solidFill>
                <a:srgbClr val="C0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sxK3DYwUEmJFmCBD_g80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9JGY0cqWUuGVCspJlvvVg"/>
</p:tagLst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ysClr val="window" lastClr="FFFFFF"/>
      </a:lt1>
      <a:dk2>
        <a:srgbClr val="272727"/>
      </a:dk2>
      <a:lt2>
        <a:srgbClr val="F8F8F8"/>
      </a:lt2>
      <a:accent1>
        <a:srgbClr val="007AB8"/>
      </a:accent1>
      <a:accent2>
        <a:srgbClr val="EEA420"/>
      </a:accent2>
      <a:accent3>
        <a:srgbClr val="ABCB2A"/>
      </a:accent3>
      <a:accent4>
        <a:srgbClr val="12A9D9"/>
      </a:accent4>
      <a:accent5>
        <a:srgbClr val="505150"/>
      </a:accent5>
      <a:accent6>
        <a:srgbClr val="636463"/>
      </a:accent6>
      <a:hlink>
        <a:srgbClr val="8D8E8D"/>
      </a:hlink>
      <a:folHlink>
        <a:srgbClr val="B2B3B2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1016</Words>
  <Application>Microsoft Office PowerPoint</Application>
  <PresentationFormat>全屏显示(4:3)</PresentationFormat>
  <Paragraphs>245</Paragraphs>
  <Slides>42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4" baseType="lpstr">
      <vt:lpstr>Office Theme</vt:lpstr>
      <vt:lpstr>think-cell Slide</vt:lpstr>
      <vt:lpstr>PowerPoint 演示文稿</vt:lpstr>
      <vt:lpstr>PowerPoint 演示文稿</vt:lpstr>
      <vt:lpstr>一、Maven简介</vt:lpstr>
      <vt:lpstr>一、Maven简介</vt:lpstr>
      <vt:lpstr>一、Maven简介</vt:lpstr>
      <vt:lpstr>一、Maven简介</vt:lpstr>
      <vt:lpstr>一、Maven简介</vt:lpstr>
      <vt:lpstr>二、Maven实用</vt:lpstr>
      <vt:lpstr>二、Maven实用</vt:lpstr>
      <vt:lpstr>二、Maven实用</vt:lpstr>
      <vt:lpstr>二、Maven实用</vt:lpstr>
      <vt:lpstr>二、Maven实用</vt:lpstr>
      <vt:lpstr>二、Maven实用</vt:lpstr>
      <vt:lpstr>二、Maven实用</vt:lpstr>
      <vt:lpstr>二、Maven实用</vt:lpstr>
      <vt:lpstr>二、Maven实用</vt:lpstr>
      <vt:lpstr>二、Maven实用</vt:lpstr>
      <vt:lpstr>二、Maven实用</vt:lpstr>
      <vt:lpstr>二、Maven实用</vt:lpstr>
      <vt:lpstr>二、Maven实用</vt:lpstr>
      <vt:lpstr>二、Maven实用</vt:lpstr>
      <vt:lpstr>二、Maven实用</vt:lpstr>
      <vt:lpstr>二、Maven实用</vt:lpstr>
      <vt:lpstr>二、Maven实用</vt:lpstr>
      <vt:lpstr>二、Maven实用</vt:lpstr>
      <vt:lpstr>二、Maven实用</vt:lpstr>
      <vt:lpstr>二、Maven实用</vt:lpstr>
      <vt:lpstr>二、Maven实用</vt:lpstr>
      <vt:lpstr>二、Maven实用</vt:lpstr>
      <vt:lpstr>二、Maven实用</vt:lpstr>
      <vt:lpstr>二、Maven实用</vt:lpstr>
      <vt:lpstr>三、Maven仓库</vt:lpstr>
      <vt:lpstr>三、Maven仓库</vt:lpstr>
      <vt:lpstr>三、Maven仓库</vt:lpstr>
      <vt:lpstr>三、Maven仓库</vt:lpstr>
      <vt:lpstr>三、Maven仓库</vt:lpstr>
      <vt:lpstr>三、Maven仓库</vt:lpstr>
      <vt:lpstr>三、Maven仓库</vt:lpstr>
      <vt:lpstr>三、Maven仓库</vt:lpstr>
      <vt:lpstr>三、Maven仓库</vt:lpstr>
      <vt:lpstr>PowerPoint 演示文稿</vt:lpstr>
      <vt:lpstr>Thank you!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Gee Hwee Lim</dc:creator>
  <cp:lastModifiedBy>杨洲</cp:lastModifiedBy>
  <cp:revision>975</cp:revision>
  <dcterms:created xsi:type="dcterms:W3CDTF">2013-04-17T08:02:00Z</dcterms:created>
  <dcterms:modified xsi:type="dcterms:W3CDTF">2019-07-09T10:34:36Z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2052-10.1.0.5740</vt:lpwstr>
  </property>
</Properties>
</file>
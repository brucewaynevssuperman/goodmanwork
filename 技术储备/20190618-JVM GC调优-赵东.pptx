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97" r:id="rId2"/>
    <p:sldId id="418" r:id="rId3"/>
    <p:sldId id="443" r:id="rId4"/>
    <p:sldId id="444" r:id="rId5"/>
    <p:sldId id="445" r:id="rId6"/>
    <p:sldId id="446" r:id="rId7"/>
    <p:sldId id="456" r:id="rId8"/>
    <p:sldId id="447" r:id="rId9"/>
    <p:sldId id="448" r:id="rId10"/>
    <p:sldId id="457" r:id="rId11"/>
    <p:sldId id="449" r:id="rId12"/>
    <p:sldId id="450" r:id="rId13"/>
    <p:sldId id="451" r:id="rId14"/>
    <p:sldId id="452" r:id="rId15"/>
    <p:sldId id="453" r:id="rId16"/>
    <p:sldId id="464" r:id="rId17"/>
    <p:sldId id="454" r:id="rId18"/>
    <p:sldId id="458" r:id="rId19"/>
    <p:sldId id="459" r:id="rId20"/>
    <p:sldId id="460" r:id="rId21"/>
    <p:sldId id="461" r:id="rId22"/>
    <p:sldId id="402" r:id="rId23"/>
  </p:sldIdLst>
  <p:sldSz cx="9144000" cy="5145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95CF"/>
    <a:srgbClr val="1E76BD"/>
    <a:srgbClr val="00A0E9"/>
    <a:srgbClr val="313A46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9" autoAdjust="0"/>
    <p:restoredTop sz="85029" autoAdjust="0"/>
  </p:normalViewPr>
  <p:slideViewPr>
    <p:cSldViewPr>
      <p:cViewPr>
        <p:scale>
          <a:sx n="120" d="100"/>
          <a:sy n="120" d="100"/>
        </p:scale>
        <p:origin x="-1374" y="-240"/>
      </p:cViewPr>
      <p:guideLst>
        <p:guide orient="horz" pos="162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48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F8513-A743-4602-9E9F-CEEE9A802B5E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1102C-FAD4-459D-8C7A-106E6431C5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819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 smtClean="0">
                <a:effectLst/>
              </a:rPr>
              <a:t>java.lang.Class</a:t>
            </a:r>
            <a:r>
              <a:rPr lang="en-US" altLang="zh-CN" sz="1200" dirty="0" smtClean="0">
                <a:effectLst/>
              </a:rPr>
              <a:t>(</a:t>
            </a:r>
            <a:r>
              <a:rPr lang="zh-CN" altLang="en-US" sz="1200" dirty="0" smtClean="0">
                <a:effectLst/>
              </a:rPr>
              <a:t>供</a:t>
            </a:r>
            <a:r>
              <a:rPr lang="en-US" altLang="zh-CN" sz="1200" dirty="0" smtClean="0">
                <a:effectLst/>
              </a:rPr>
              <a:t>Java</a:t>
            </a:r>
            <a:r>
              <a:rPr lang="zh-CN" altLang="en-US" sz="1200" dirty="0" smtClean="0">
                <a:effectLst/>
              </a:rPr>
              <a:t>程序调用</a:t>
            </a:r>
            <a:r>
              <a:rPr lang="en-US" altLang="zh-CN" sz="1200" dirty="0" smtClean="0">
                <a:effectLst/>
              </a:rPr>
              <a:t>) &lt;</a:t>
            </a:r>
            <a:r>
              <a:rPr lang="en-US" altLang="zh-CN" sz="1200" dirty="0" smtClean="0">
                <a:effectLst/>
                <a:sym typeface="Wingdings" panose="05000000000000000000" pitchFamily="2" charset="2"/>
              </a:rPr>
              <a:t>= </a:t>
            </a:r>
            <a:r>
              <a:rPr lang="zh-CN" altLang="en-US" sz="1200" dirty="0" smtClean="0">
                <a:effectLst/>
                <a:sym typeface="Wingdings" panose="05000000000000000000" pitchFamily="2" charset="2"/>
              </a:rPr>
              <a:t>桥梁</a:t>
            </a:r>
            <a:r>
              <a:rPr lang="zh-CN" altLang="en-US" sz="1200" baseline="0" dirty="0" smtClean="0">
                <a:effectLst/>
                <a:sym typeface="Wingdings" panose="05000000000000000000" pitchFamily="2" charset="2"/>
              </a:rPr>
              <a:t> </a:t>
            </a:r>
            <a:r>
              <a:rPr lang="en-US" altLang="zh-CN" sz="1200" baseline="0" dirty="0" smtClean="0">
                <a:effectLst/>
                <a:sym typeface="Wingdings" panose="05000000000000000000" pitchFamily="2" charset="2"/>
              </a:rPr>
              <a:t>=&gt; </a:t>
            </a:r>
            <a:r>
              <a:rPr lang="en-US" altLang="zh-CN" sz="1200" baseline="0" dirty="0" err="1" smtClean="0">
                <a:effectLst/>
                <a:sym typeface="Wingdings" panose="05000000000000000000" pitchFamily="2" charset="2"/>
              </a:rPr>
              <a:t>instanceClass</a:t>
            </a:r>
            <a:r>
              <a:rPr lang="zh-CN" altLang="en-US" sz="1200" baseline="0" dirty="0" smtClean="0">
                <a:effectLst/>
                <a:sym typeface="Wingdings" panose="05000000000000000000" pitchFamily="2" charset="2"/>
              </a:rPr>
              <a:t>（供</a:t>
            </a:r>
            <a:r>
              <a:rPr lang="en-US" altLang="zh-CN" sz="1200" baseline="0" dirty="0" smtClean="0">
                <a:effectLst/>
                <a:sym typeface="Wingdings" panose="05000000000000000000" pitchFamily="2" charset="2"/>
              </a:rPr>
              <a:t>JVM</a:t>
            </a:r>
            <a:r>
              <a:rPr lang="zh-CN" altLang="en-US" sz="1200" baseline="0" dirty="0" smtClean="0">
                <a:effectLst/>
                <a:sym typeface="Wingdings" panose="05000000000000000000" pitchFamily="2" charset="2"/>
              </a:rPr>
              <a:t>内部访问）</a:t>
            </a: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1102C-FAD4-459D-8C7A-106E6431C5A1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70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232284"/>
            <a:ext cx="39556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467576" y="232284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 algn="dist"/>
            <a:r>
              <a:rPr lang="zh-CN" altLang="zh-CN" sz="16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年度工作概述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431540" y="556320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232284"/>
            <a:ext cx="395570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467576" y="232284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 algn="dist"/>
            <a:r>
              <a:rPr lang="zh-CN" altLang="zh-CN" sz="1600" b="0" kern="12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工作完成情况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431540" y="556320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232284"/>
            <a:ext cx="39556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467576" y="232284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lvl="0" algn="dist"/>
            <a:r>
              <a:rPr lang="zh-CN" altLang="zh-CN" sz="1600" b="0" kern="12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成功项目展示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431540" y="556320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232284"/>
            <a:ext cx="39556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467576" y="232284"/>
            <a:ext cx="1836172" cy="31547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/>
            <a:r>
              <a:rPr lang="zh-CN" altLang="zh-CN" sz="1600" b="0" kern="12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明年工作计划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431540" y="556320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42"/>
            <a:ext cx="2057400" cy="43899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42"/>
            <a:ext cx="6019800" cy="43899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94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253" y="196280"/>
            <a:ext cx="144024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2" tIns="34286" rIns="68572" bIns="34286" rtlCol="0" anchor="ctr"/>
          <a:lstStyle/>
          <a:p>
            <a:pPr algn="ctr" defTabSz="685658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3" name="文本框 37"/>
          <p:cNvSpPr txBox="1"/>
          <p:nvPr userDrawn="1"/>
        </p:nvSpPr>
        <p:spPr>
          <a:xfrm>
            <a:off x="216273" y="196280"/>
            <a:ext cx="2189971" cy="315475"/>
          </a:xfrm>
          <a:prstGeom prst="rect">
            <a:avLst/>
          </a:prstGeom>
          <a:noFill/>
        </p:spPr>
        <p:txBody>
          <a:bodyPr wrap="none" lIns="68572" tIns="34286" rIns="68572" bIns="34286" rtlCol="0">
            <a:spAutoFit/>
          </a:bodyPr>
          <a:lstStyle/>
          <a:p>
            <a:pPr defTabSz="685658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4" name="文本框 38"/>
          <p:cNvSpPr txBox="1"/>
          <p:nvPr userDrawn="1"/>
        </p:nvSpPr>
        <p:spPr>
          <a:xfrm>
            <a:off x="265225" y="520317"/>
            <a:ext cx="2038917" cy="207753"/>
          </a:xfrm>
          <a:prstGeom prst="rect">
            <a:avLst/>
          </a:prstGeom>
          <a:noFill/>
        </p:spPr>
        <p:txBody>
          <a:bodyPr wrap="square" lIns="68572" tIns="34286" rIns="68572" bIns="34286" rtlCol="0">
            <a:spAutoFit/>
          </a:bodyPr>
          <a:lstStyle/>
          <a:p>
            <a:pPr algn="dist" defTabSz="685658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58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45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8735"/>
            <a:ext cx="2133600" cy="2739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8735"/>
            <a:ext cx="2895600" cy="2739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86119" y="4788104"/>
            <a:ext cx="410853" cy="273929"/>
          </a:xfrm>
          <a:prstGeom prst="rect">
            <a:avLst/>
          </a:prstGeom>
        </p:spPr>
        <p:txBody>
          <a:bodyPr/>
          <a:lstStyle/>
          <a:p>
            <a:fld id="{ECB62A96-75BD-4D1B-A9DE-49026C62D5F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53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pPr/>
              <a:t>18/06/2019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629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D4E0-26D5-45A0-88C8-42D882EC83E6}" type="datetimeFigureOut">
              <a:rPr lang="zh-CN" altLang="en-US" smtClean="0"/>
              <a:t>2019-6-18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3A18-43B1-46E0-BD29-54B47A049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80309" y="1352967"/>
            <a:ext cx="3520266" cy="2716155"/>
          </a:xfrm>
          <a:custGeom>
            <a:avLst/>
            <a:gdLst>
              <a:gd name="connsiteX0" fmla="*/ 1338111 w 8898844"/>
              <a:gd name="connsiteY0" fmla="*/ 0 h 6864021"/>
              <a:gd name="connsiteX1" fmla="*/ 1659844 w 8898844"/>
              <a:gd name="connsiteY1" fmla="*/ 323013 h 6864021"/>
              <a:gd name="connsiteX2" fmla="*/ 1780494 w 8898844"/>
              <a:gd name="connsiteY2" fmla="*/ 282636 h 6864021"/>
              <a:gd name="connsiteX3" fmla="*/ 1941361 w 8898844"/>
              <a:gd name="connsiteY3" fmla="*/ 282636 h 6864021"/>
              <a:gd name="connsiteX4" fmla="*/ 1941361 w 8898844"/>
              <a:gd name="connsiteY4" fmla="*/ 242260 h 6864021"/>
              <a:gd name="connsiteX5" fmla="*/ 2182661 w 8898844"/>
              <a:gd name="connsiteY5" fmla="*/ 565272 h 6864021"/>
              <a:gd name="connsiteX6" fmla="*/ 2464178 w 8898844"/>
              <a:gd name="connsiteY6" fmla="*/ 686402 h 6864021"/>
              <a:gd name="connsiteX7" fmla="*/ 2423961 w 8898844"/>
              <a:gd name="connsiteY7" fmla="*/ 484519 h 6864021"/>
              <a:gd name="connsiteX8" fmla="*/ 2665261 w 8898844"/>
              <a:gd name="connsiteY8" fmla="*/ 686402 h 6864021"/>
              <a:gd name="connsiteX9" fmla="*/ 2986995 w 8898844"/>
              <a:gd name="connsiteY9" fmla="*/ 767155 h 6864021"/>
              <a:gd name="connsiteX10" fmla="*/ 3107644 w 8898844"/>
              <a:gd name="connsiteY10" fmla="*/ 969038 h 6864021"/>
              <a:gd name="connsiteX11" fmla="*/ 3268512 w 8898844"/>
              <a:gd name="connsiteY11" fmla="*/ 847909 h 6864021"/>
              <a:gd name="connsiteX12" fmla="*/ 3308727 w 8898844"/>
              <a:gd name="connsiteY12" fmla="*/ 888285 h 6864021"/>
              <a:gd name="connsiteX13" fmla="*/ 3147861 w 8898844"/>
              <a:gd name="connsiteY13" fmla="*/ 1009415 h 6864021"/>
              <a:gd name="connsiteX14" fmla="*/ 3550027 w 8898844"/>
              <a:gd name="connsiteY14" fmla="*/ 1170921 h 6864021"/>
              <a:gd name="connsiteX15" fmla="*/ 3630461 w 8898844"/>
              <a:gd name="connsiteY15" fmla="*/ 969038 h 6864021"/>
              <a:gd name="connsiteX16" fmla="*/ 3831544 w 8898844"/>
              <a:gd name="connsiteY16" fmla="*/ 1009415 h 6864021"/>
              <a:gd name="connsiteX17" fmla="*/ 3992411 w 8898844"/>
              <a:gd name="connsiteY17" fmla="*/ 1090168 h 6864021"/>
              <a:gd name="connsiteX18" fmla="*/ 4635878 w 8898844"/>
              <a:gd name="connsiteY18" fmla="*/ 1372804 h 6864021"/>
              <a:gd name="connsiteX19" fmla="*/ 4796744 w 8898844"/>
              <a:gd name="connsiteY19" fmla="*/ 1413181 h 6864021"/>
              <a:gd name="connsiteX20" fmla="*/ 4957610 w 8898844"/>
              <a:gd name="connsiteY20" fmla="*/ 1493934 h 6864021"/>
              <a:gd name="connsiteX21" fmla="*/ 5239128 w 8898844"/>
              <a:gd name="connsiteY21" fmla="*/ 1413181 h 6864021"/>
              <a:gd name="connsiteX22" fmla="*/ 5399994 w 8898844"/>
              <a:gd name="connsiteY22" fmla="*/ 1493934 h 6864021"/>
              <a:gd name="connsiteX23" fmla="*/ 5399994 w 8898844"/>
              <a:gd name="connsiteY23" fmla="*/ 1332428 h 6864021"/>
              <a:gd name="connsiteX24" fmla="*/ 6123894 w 8898844"/>
              <a:gd name="connsiteY24" fmla="*/ 1413181 h 6864021"/>
              <a:gd name="connsiteX25" fmla="*/ 6204328 w 8898844"/>
              <a:gd name="connsiteY25" fmla="*/ 1574687 h 6864021"/>
              <a:gd name="connsiteX26" fmla="*/ 6324978 w 8898844"/>
              <a:gd name="connsiteY26" fmla="*/ 1574687 h 6864021"/>
              <a:gd name="connsiteX27" fmla="*/ 6485844 w 8898844"/>
              <a:gd name="connsiteY27" fmla="*/ 1453558 h 6864021"/>
              <a:gd name="connsiteX28" fmla="*/ 6928228 w 8898844"/>
              <a:gd name="connsiteY28" fmla="*/ 1170921 h 6864021"/>
              <a:gd name="connsiteX29" fmla="*/ 6968444 w 8898844"/>
              <a:gd name="connsiteY29" fmla="*/ 1130545 h 6864021"/>
              <a:gd name="connsiteX30" fmla="*/ 7008660 w 8898844"/>
              <a:gd name="connsiteY30" fmla="*/ 1211298 h 6864021"/>
              <a:gd name="connsiteX31" fmla="*/ 7209744 w 8898844"/>
              <a:gd name="connsiteY31" fmla="*/ 969038 h 6864021"/>
              <a:gd name="connsiteX32" fmla="*/ 7290178 w 8898844"/>
              <a:gd name="connsiteY32" fmla="*/ 1049792 h 6864021"/>
              <a:gd name="connsiteX33" fmla="*/ 7611910 w 8898844"/>
              <a:gd name="connsiteY33" fmla="*/ 565272 h 6864021"/>
              <a:gd name="connsiteX34" fmla="*/ 7571694 w 8898844"/>
              <a:gd name="connsiteY34" fmla="*/ 524896 h 6864021"/>
              <a:gd name="connsiteX35" fmla="*/ 7491260 w 8898844"/>
              <a:gd name="connsiteY35" fmla="*/ 686402 h 6864021"/>
              <a:gd name="connsiteX36" fmla="*/ 7451044 w 8898844"/>
              <a:gd name="connsiteY36" fmla="*/ 646026 h 6864021"/>
              <a:gd name="connsiteX37" fmla="*/ 7491260 w 8898844"/>
              <a:gd name="connsiteY37" fmla="*/ 403766 h 6864021"/>
              <a:gd name="connsiteX38" fmla="*/ 7611910 w 8898844"/>
              <a:gd name="connsiteY38" fmla="*/ 323013 h 6864021"/>
              <a:gd name="connsiteX39" fmla="*/ 7692344 w 8898844"/>
              <a:gd name="connsiteY39" fmla="*/ 524896 h 6864021"/>
              <a:gd name="connsiteX40" fmla="*/ 7812994 w 8898844"/>
              <a:gd name="connsiteY40" fmla="*/ 282636 h 6864021"/>
              <a:gd name="connsiteX41" fmla="*/ 7853210 w 8898844"/>
              <a:gd name="connsiteY41" fmla="*/ 605649 h 6864021"/>
              <a:gd name="connsiteX42" fmla="*/ 8054294 w 8898844"/>
              <a:gd name="connsiteY42" fmla="*/ 444143 h 6864021"/>
              <a:gd name="connsiteX43" fmla="*/ 8295594 w 8898844"/>
              <a:gd name="connsiteY43" fmla="*/ 888285 h 6864021"/>
              <a:gd name="connsiteX44" fmla="*/ 8577111 w 8898844"/>
              <a:gd name="connsiteY44" fmla="*/ 767155 h 6864021"/>
              <a:gd name="connsiteX45" fmla="*/ 8577111 w 8898844"/>
              <a:gd name="connsiteY45" fmla="*/ 888285 h 6864021"/>
              <a:gd name="connsiteX46" fmla="*/ 8858627 w 8898844"/>
              <a:gd name="connsiteY46" fmla="*/ 1009415 h 6864021"/>
              <a:gd name="connsiteX47" fmla="*/ 8898844 w 8898844"/>
              <a:gd name="connsiteY47" fmla="*/ 1170921 h 6864021"/>
              <a:gd name="connsiteX48" fmla="*/ 8898844 w 8898844"/>
              <a:gd name="connsiteY48" fmla="*/ 1211298 h 6864021"/>
              <a:gd name="connsiteX49" fmla="*/ 8737977 w 8898844"/>
              <a:gd name="connsiteY49" fmla="*/ 1655441 h 6864021"/>
              <a:gd name="connsiteX50" fmla="*/ 8536894 w 8898844"/>
              <a:gd name="connsiteY50" fmla="*/ 1816947 h 6864021"/>
              <a:gd name="connsiteX51" fmla="*/ 8335810 w 8898844"/>
              <a:gd name="connsiteY51" fmla="*/ 2059207 h 6864021"/>
              <a:gd name="connsiteX52" fmla="*/ 8255378 w 8898844"/>
              <a:gd name="connsiteY52" fmla="*/ 2139960 h 6864021"/>
              <a:gd name="connsiteX53" fmla="*/ 8456461 w 8898844"/>
              <a:gd name="connsiteY53" fmla="*/ 2664855 h 6864021"/>
              <a:gd name="connsiteX54" fmla="*/ 8456461 w 8898844"/>
              <a:gd name="connsiteY54" fmla="*/ 2907115 h 6864021"/>
              <a:gd name="connsiteX55" fmla="*/ 8054294 w 8898844"/>
              <a:gd name="connsiteY55" fmla="*/ 3512764 h 6864021"/>
              <a:gd name="connsiteX56" fmla="*/ 8134728 w 8898844"/>
              <a:gd name="connsiteY56" fmla="*/ 3512764 h 6864021"/>
              <a:gd name="connsiteX57" fmla="*/ 8416244 w 8898844"/>
              <a:gd name="connsiteY57" fmla="*/ 3189751 h 6864021"/>
              <a:gd name="connsiteX58" fmla="*/ 8416244 w 8898844"/>
              <a:gd name="connsiteY58" fmla="*/ 3391634 h 6864021"/>
              <a:gd name="connsiteX59" fmla="*/ 8496677 w 8898844"/>
              <a:gd name="connsiteY59" fmla="*/ 3674270 h 6864021"/>
              <a:gd name="connsiteX60" fmla="*/ 8215160 w 8898844"/>
              <a:gd name="connsiteY60" fmla="*/ 4360673 h 6864021"/>
              <a:gd name="connsiteX61" fmla="*/ 7933644 w 8898844"/>
              <a:gd name="connsiteY61" fmla="*/ 4845192 h 6864021"/>
              <a:gd name="connsiteX62" fmla="*/ 7812994 w 8898844"/>
              <a:gd name="connsiteY62" fmla="*/ 4925945 h 6864021"/>
              <a:gd name="connsiteX63" fmla="*/ 7692344 w 8898844"/>
              <a:gd name="connsiteY63" fmla="*/ 5127828 h 6864021"/>
              <a:gd name="connsiteX64" fmla="*/ 7491260 w 8898844"/>
              <a:gd name="connsiteY64" fmla="*/ 5329711 h 6864021"/>
              <a:gd name="connsiteX65" fmla="*/ 7491260 w 8898844"/>
              <a:gd name="connsiteY65" fmla="*/ 5450841 h 6864021"/>
              <a:gd name="connsiteX66" fmla="*/ 6968444 w 8898844"/>
              <a:gd name="connsiteY66" fmla="*/ 6096866 h 6864021"/>
              <a:gd name="connsiteX67" fmla="*/ 6767360 w 8898844"/>
              <a:gd name="connsiteY67" fmla="*/ 6258373 h 6864021"/>
              <a:gd name="connsiteX68" fmla="*/ 6767360 w 8898844"/>
              <a:gd name="connsiteY68" fmla="*/ 6217996 h 6864021"/>
              <a:gd name="connsiteX69" fmla="*/ 6888010 w 8898844"/>
              <a:gd name="connsiteY69" fmla="*/ 6016113 h 6864021"/>
              <a:gd name="connsiteX70" fmla="*/ 6284760 w 8898844"/>
              <a:gd name="connsiteY70" fmla="*/ 6339126 h 6864021"/>
              <a:gd name="connsiteX71" fmla="*/ 6003244 w 8898844"/>
              <a:gd name="connsiteY71" fmla="*/ 6379502 h 6864021"/>
              <a:gd name="connsiteX72" fmla="*/ 4836960 w 8898844"/>
              <a:gd name="connsiteY72" fmla="*/ 6702515 h 6864021"/>
              <a:gd name="connsiteX73" fmla="*/ 2986995 w 8898844"/>
              <a:gd name="connsiteY73" fmla="*/ 6823645 h 6864021"/>
              <a:gd name="connsiteX74" fmla="*/ 1338111 w 8898844"/>
              <a:gd name="connsiteY74" fmla="*/ 6217996 h 6864021"/>
              <a:gd name="connsiteX75" fmla="*/ 815294 w 8898844"/>
              <a:gd name="connsiteY75" fmla="*/ 5773854 h 6864021"/>
              <a:gd name="connsiteX76" fmla="*/ 654428 w 8898844"/>
              <a:gd name="connsiteY76" fmla="*/ 5693100 h 6864021"/>
              <a:gd name="connsiteX77" fmla="*/ 372911 w 8898844"/>
              <a:gd name="connsiteY77" fmla="*/ 5491217 h 6864021"/>
              <a:gd name="connsiteX78" fmla="*/ 372911 w 8898844"/>
              <a:gd name="connsiteY78" fmla="*/ 5450841 h 6864021"/>
              <a:gd name="connsiteX79" fmla="*/ 51178 w 8898844"/>
              <a:gd name="connsiteY79" fmla="*/ 4966322 h 6864021"/>
              <a:gd name="connsiteX80" fmla="*/ 91394 w 8898844"/>
              <a:gd name="connsiteY80" fmla="*/ 4925945 h 6864021"/>
              <a:gd name="connsiteX81" fmla="*/ 493561 w 8898844"/>
              <a:gd name="connsiteY81" fmla="*/ 5208581 h 6864021"/>
              <a:gd name="connsiteX82" fmla="*/ 1016378 w 8898844"/>
              <a:gd name="connsiteY82" fmla="*/ 5450841 h 6864021"/>
              <a:gd name="connsiteX83" fmla="*/ 1257678 w 8898844"/>
              <a:gd name="connsiteY83" fmla="*/ 5410464 h 6864021"/>
              <a:gd name="connsiteX84" fmla="*/ 4394578 w 8898844"/>
              <a:gd name="connsiteY84" fmla="*/ 6016113 h 6864021"/>
              <a:gd name="connsiteX85" fmla="*/ 4113061 w 8898844"/>
              <a:gd name="connsiteY85" fmla="*/ 6016113 h 6864021"/>
              <a:gd name="connsiteX86" fmla="*/ 1458761 w 8898844"/>
              <a:gd name="connsiteY86" fmla="*/ 5329711 h 6864021"/>
              <a:gd name="connsiteX87" fmla="*/ 1137028 w 8898844"/>
              <a:gd name="connsiteY87" fmla="*/ 5127828 h 6864021"/>
              <a:gd name="connsiteX88" fmla="*/ 533778 w 8898844"/>
              <a:gd name="connsiteY88" fmla="*/ 4643309 h 6864021"/>
              <a:gd name="connsiteX89" fmla="*/ 453344 w 8898844"/>
              <a:gd name="connsiteY89" fmla="*/ 4481802 h 6864021"/>
              <a:gd name="connsiteX90" fmla="*/ 252261 w 8898844"/>
              <a:gd name="connsiteY90" fmla="*/ 4118413 h 6864021"/>
              <a:gd name="connsiteX91" fmla="*/ 10961 w 8898844"/>
              <a:gd name="connsiteY91" fmla="*/ 3755024 h 6864021"/>
              <a:gd name="connsiteX92" fmla="*/ 91394 w 8898844"/>
              <a:gd name="connsiteY92" fmla="*/ 3512764 h 6864021"/>
              <a:gd name="connsiteX93" fmla="*/ 171828 w 8898844"/>
              <a:gd name="connsiteY93" fmla="*/ 3432011 h 6864021"/>
              <a:gd name="connsiteX94" fmla="*/ 413128 w 8898844"/>
              <a:gd name="connsiteY94" fmla="*/ 3674270 h 6864021"/>
              <a:gd name="connsiteX95" fmla="*/ 453344 w 8898844"/>
              <a:gd name="connsiteY95" fmla="*/ 3472387 h 6864021"/>
              <a:gd name="connsiteX96" fmla="*/ 493561 w 8898844"/>
              <a:gd name="connsiteY96" fmla="*/ 3674270 h 6864021"/>
              <a:gd name="connsiteX97" fmla="*/ 895728 w 8898844"/>
              <a:gd name="connsiteY97" fmla="*/ 3674270 h 6864021"/>
              <a:gd name="connsiteX98" fmla="*/ 533778 w 8898844"/>
              <a:gd name="connsiteY98" fmla="*/ 3028245 h 6864021"/>
              <a:gd name="connsiteX99" fmla="*/ 815294 w 8898844"/>
              <a:gd name="connsiteY99" fmla="*/ 3230128 h 6864021"/>
              <a:gd name="connsiteX100" fmla="*/ 895728 w 8898844"/>
              <a:gd name="connsiteY100" fmla="*/ 3149375 h 6864021"/>
              <a:gd name="connsiteX101" fmla="*/ 453344 w 8898844"/>
              <a:gd name="connsiteY101" fmla="*/ 2705232 h 6864021"/>
              <a:gd name="connsiteX102" fmla="*/ 493561 w 8898844"/>
              <a:gd name="connsiteY102" fmla="*/ 2664855 h 6864021"/>
              <a:gd name="connsiteX103" fmla="*/ 614211 w 8898844"/>
              <a:gd name="connsiteY103" fmla="*/ 2785986 h 6864021"/>
              <a:gd name="connsiteX104" fmla="*/ 815294 w 8898844"/>
              <a:gd name="connsiteY104" fmla="*/ 2866739 h 6864021"/>
              <a:gd name="connsiteX105" fmla="*/ 1177244 w 8898844"/>
              <a:gd name="connsiteY105" fmla="*/ 3028245 h 6864021"/>
              <a:gd name="connsiteX106" fmla="*/ 1619628 w 8898844"/>
              <a:gd name="connsiteY106" fmla="*/ 3108998 h 6864021"/>
              <a:gd name="connsiteX107" fmla="*/ 1659844 w 8898844"/>
              <a:gd name="connsiteY107" fmla="*/ 3028245 h 6864021"/>
              <a:gd name="connsiteX108" fmla="*/ 2062011 w 8898844"/>
              <a:gd name="connsiteY108" fmla="*/ 3149375 h 6864021"/>
              <a:gd name="connsiteX109" fmla="*/ 2464178 w 8898844"/>
              <a:gd name="connsiteY109" fmla="*/ 3310881 h 6864021"/>
              <a:gd name="connsiteX110" fmla="*/ 2062011 w 8898844"/>
              <a:gd name="connsiteY110" fmla="*/ 3149375 h 6864021"/>
              <a:gd name="connsiteX111" fmla="*/ 2062011 w 8898844"/>
              <a:gd name="connsiteY111" fmla="*/ 3028245 h 6864021"/>
              <a:gd name="connsiteX112" fmla="*/ 1820711 w 8898844"/>
              <a:gd name="connsiteY112" fmla="*/ 2745609 h 6864021"/>
              <a:gd name="connsiteX113" fmla="*/ 1740278 w 8898844"/>
              <a:gd name="connsiteY113" fmla="*/ 2907115 h 6864021"/>
              <a:gd name="connsiteX114" fmla="*/ 1619628 w 8898844"/>
              <a:gd name="connsiteY114" fmla="*/ 2705232 h 6864021"/>
              <a:gd name="connsiteX115" fmla="*/ 1137028 w 8898844"/>
              <a:gd name="connsiteY115" fmla="*/ 2301466 h 6864021"/>
              <a:gd name="connsiteX116" fmla="*/ 935944 w 8898844"/>
              <a:gd name="connsiteY116" fmla="*/ 2139960 h 6864021"/>
              <a:gd name="connsiteX117" fmla="*/ 654428 w 8898844"/>
              <a:gd name="connsiteY117" fmla="*/ 1816947 h 6864021"/>
              <a:gd name="connsiteX118" fmla="*/ 533778 w 8898844"/>
              <a:gd name="connsiteY118" fmla="*/ 1372804 h 6864021"/>
              <a:gd name="connsiteX119" fmla="*/ 815294 w 8898844"/>
              <a:gd name="connsiteY119" fmla="*/ 1413181 h 6864021"/>
              <a:gd name="connsiteX120" fmla="*/ 614211 w 8898844"/>
              <a:gd name="connsiteY120" fmla="*/ 524896 h 6864021"/>
              <a:gd name="connsiteX121" fmla="*/ 935944 w 8898844"/>
              <a:gd name="connsiteY121" fmla="*/ 726779 h 6864021"/>
              <a:gd name="connsiteX122" fmla="*/ 1137028 w 8898844"/>
              <a:gd name="connsiteY122" fmla="*/ 646026 h 6864021"/>
              <a:gd name="connsiteX123" fmla="*/ 1177244 w 8898844"/>
              <a:gd name="connsiteY123" fmla="*/ 807532 h 6864021"/>
              <a:gd name="connsiteX124" fmla="*/ 1297894 w 8898844"/>
              <a:gd name="connsiteY124" fmla="*/ 524896 h 6864021"/>
              <a:gd name="connsiteX125" fmla="*/ 1539194 w 8898844"/>
              <a:gd name="connsiteY125" fmla="*/ 969038 h 6864021"/>
              <a:gd name="connsiteX126" fmla="*/ 1775624 w 8898844"/>
              <a:gd name="connsiteY126" fmla="*/ 1113117 h 6864021"/>
              <a:gd name="connsiteX127" fmla="*/ 1808171 w 8898844"/>
              <a:gd name="connsiteY127" fmla="*/ 1096551 h 6864021"/>
              <a:gd name="connsiteX128" fmla="*/ 1820711 w 8898844"/>
              <a:gd name="connsiteY128" fmla="*/ 1130545 h 6864021"/>
              <a:gd name="connsiteX129" fmla="*/ 1821120 w 8898844"/>
              <a:gd name="connsiteY129" fmla="*/ 1129164 h 6864021"/>
              <a:gd name="connsiteX130" fmla="*/ 1821339 w 8898844"/>
              <a:gd name="connsiteY130" fmla="*/ 1150102 h 6864021"/>
              <a:gd name="connsiteX131" fmla="*/ 1860928 w 8898844"/>
              <a:gd name="connsiteY131" fmla="*/ 1292051 h 6864021"/>
              <a:gd name="connsiteX132" fmla="*/ 2182661 w 8898844"/>
              <a:gd name="connsiteY132" fmla="*/ 1655441 h 6864021"/>
              <a:gd name="connsiteX133" fmla="*/ 2383744 w 8898844"/>
              <a:gd name="connsiteY133" fmla="*/ 1615064 h 6864021"/>
              <a:gd name="connsiteX134" fmla="*/ 1981578 w 8898844"/>
              <a:gd name="connsiteY134" fmla="*/ 1049792 h 6864021"/>
              <a:gd name="connsiteX135" fmla="*/ 1860928 w 8898844"/>
              <a:gd name="connsiteY135" fmla="*/ 1292051 h 6864021"/>
              <a:gd name="connsiteX136" fmla="*/ 1901144 w 8898844"/>
              <a:gd name="connsiteY136" fmla="*/ 1090168 h 6864021"/>
              <a:gd name="connsiteX137" fmla="*/ 1827623 w 8898844"/>
              <a:gd name="connsiteY137" fmla="*/ 1107202 h 6864021"/>
              <a:gd name="connsiteX138" fmla="*/ 1821120 w 8898844"/>
              <a:gd name="connsiteY138" fmla="*/ 1129164 h 6864021"/>
              <a:gd name="connsiteX139" fmla="*/ 1820711 w 8898844"/>
              <a:gd name="connsiteY139" fmla="*/ 1090168 h 6864021"/>
              <a:gd name="connsiteX140" fmla="*/ 1808171 w 8898844"/>
              <a:gd name="connsiteY140" fmla="*/ 1096551 h 6864021"/>
              <a:gd name="connsiteX141" fmla="*/ 1797147 w 8898844"/>
              <a:gd name="connsiteY141" fmla="*/ 1066668 h 6864021"/>
              <a:gd name="connsiteX142" fmla="*/ 1579411 w 8898844"/>
              <a:gd name="connsiteY142" fmla="*/ 646026 h 6864021"/>
              <a:gd name="connsiteX143" fmla="*/ 1539194 w 8898844"/>
              <a:gd name="connsiteY143" fmla="*/ 686402 h 6864021"/>
              <a:gd name="connsiteX144" fmla="*/ 1458761 w 8898844"/>
              <a:gd name="connsiteY144" fmla="*/ 444143 h 6864021"/>
              <a:gd name="connsiteX145" fmla="*/ 1297894 w 8898844"/>
              <a:gd name="connsiteY145" fmla="*/ 121130 h 6864021"/>
              <a:gd name="connsiteX146" fmla="*/ 1338111 w 8898844"/>
              <a:gd name="connsiteY146" fmla="*/ 0 h 686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8898844" h="6864021">
                <a:moveTo>
                  <a:pt x="1338111" y="0"/>
                </a:moveTo>
                <a:cubicBezTo>
                  <a:pt x="1458761" y="121130"/>
                  <a:pt x="1539194" y="242260"/>
                  <a:pt x="1659844" y="323013"/>
                </a:cubicBezTo>
                <a:cubicBezTo>
                  <a:pt x="1700061" y="323013"/>
                  <a:pt x="1740278" y="282636"/>
                  <a:pt x="1780494" y="282636"/>
                </a:cubicBezTo>
                <a:cubicBezTo>
                  <a:pt x="1820711" y="242260"/>
                  <a:pt x="1901144" y="282636"/>
                  <a:pt x="1941361" y="282636"/>
                </a:cubicBezTo>
                <a:cubicBezTo>
                  <a:pt x="1941361" y="282636"/>
                  <a:pt x="1941361" y="242260"/>
                  <a:pt x="1941361" y="242260"/>
                </a:cubicBezTo>
                <a:cubicBezTo>
                  <a:pt x="2021794" y="363390"/>
                  <a:pt x="2102227" y="484519"/>
                  <a:pt x="2182661" y="565272"/>
                </a:cubicBezTo>
                <a:cubicBezTo>
                  <a:pt x="2263094" y="605649"/>
                  <a:pt x="2383744" y="646026"/>
                  <a:pt x="2464178" y="686402"/>
                </a:cubicBezTo>
                <a:cubicBezTo>
                  <a:pt x="2464178" y="646026"/>
                  <a:pt x="2423961" y="605649"/>
                  <a:pt x="2423961" y="484519"/>
                </a:cubicBezTo>
                <a:cubicBezTo>
                  <a:pt x="2504394" y="605649"/>
                  <a:pt x="2584827" y="686402"/>
                  <a:pt x="2665261" y="686402"/>
                </a:cubicBezTo>
                <a:cubicBezTo>
                  <a:pt x="2785911" y="686402"/>
                  <a:pt x="2866344" y="726779"/>
                  <a:pt x="2986995" y="767155"/>
                </a:cubicBezTo>
                <a:cubicBezTo>
                  <a:pt x="3107644" y="807532"/>
                  <a:pt x="3147861" y="807532"/>
                  <a:pt x="3107644" y="969038"/>
                </a:cubicBezTo>
                <a:cubicBezTo>
                  <a:pt x="3188078" y="928662"/>
                  <a:pt x="3228295" y="888285"/>
                  <a:pt x="3268512" y="847909"/>
                </a:cubicBezTo>
                <a:cubicBezTo>
                  <a:pt x="3268512" y="847909"/>
                  <a:pt x="3268512" y="847909"/>
                  <a:pt x="3308727" y="888285"/>
                </a:cubicBezTo>
                <a:cubicBezTo>
                  <a:pt x="3228295" y="928662"/>
                  <a:pt x="3188078" y="969038"/>
                  <a:pt x="3147861" y="1009415"/>
                </a:cubicBezTo>
                <a:cubicBezTo>
                  <a:pt x="3268512" y="1049792"/>
                  <a:pt x="3389161" y="1130545"/>
                  <a:pt x="3550027" y="1170921"/>
                </a:cubicBezTo>
                <a:cubicBezTo>
                  <a:pt x="3590244" y="1130545"/>
                  <a:pt x="3630461" y="1009415"/>
                  <a:pt x="3630461" y="969038"/>
                </a:cubicBezTo>
                <a:cubicBezTo>
                  <a:pt x="3710894" y="969038"/>
                  <a:pt x="3791327" y="969038"/>
                  <a:pt x="3831544" y="1009415"/>
                </a:cubicBezTo>
                <a:cubicBezTo>
                  <a:pt x="3871761" y="1009415"/>
                  <a:pt x="3952194" y="1049792"/>
                  <a:pt x="3992411" y="1090168"/>
                </a:cubicBezTo>
                <a:cubicBezTo>
                  <a:pt x="4153277" y="1332428"/>
                  <a:pt x="4394578" y="1332428"/>
                  <a:pt x="4635878" y="1372804"/>
                </a:cubicBezTo>
                <a:cubicBezTo>
                  <a:pt x="4676094" y="1413181"/>
                  <a:pt x="4716310" y="1413181"/>
                  <a:pt x="4796744" y="1413181"/>
                </a:cubicBezTo>
                <a:cubicBezTo>
                  <a:pt x="4836960" y="1453558"/>
                  <a:pt x="4917394" y="1493934"/>
                  <a:pt x="4957610" y="1493934"/>
                </a:cubicBezTo>
                <a:cubicBezTo>
                  <a:pt x="5078260" y="1493934"/>
                  <a:pt x="5158694" y="1453558"/>
                  <a:pt x="5239128" y="1413181"/>
                </a:cubicBezTo>
                <a:cubicBezTo>
                  <a:pt x="5279344" y="1413181"/>
                  <a:pt x="5359778" y="1453558"/>
                  <a:pt x="5399994" y="1493934"/>
                </a:cubicBezTo>
                <a:cubicBezTo>
                  <a:pt x="5399994" y="1453558"/>
                  <a:pt x="5399994" y="1413181"/>
                  <a:pt x="5399994" y="1332428"/>
                </a:cubicBezTo>
                <a:cubicBezTo>
                  <a:pt x="5601078" y="1695817"/>
                  <a:pt x="5882594" y="1453558"/>
                  <a:pt x="6123894" y="1413181"/>
                </a:cubicBezTo>
                <a:cubicBezTo>
                  <a:pt x="6123894" y="1493934"/>
                  <a:pt x="6164110" y="1534311"/>
                  <a:pt x="6204328" y="1574687"/>
                </a:cubicBezTo>
                <a:cubicBezTo>
                  <a:pt x="6204328" y="1574687"/>
                  <a:pt x="6284760" y="1574687"/>
                  <a:pt x="6324978" y="1574687"/>
                </a:cubicBezTo>
                <a:cubicBezTo>
                  <a:pt x="6405410" y="1534311"/>
                  <a:pt x="6445628" y="1493934"/>
                  <a:pt x="6485844" y="1453558"/>
                </a:cubicBezTo>
                <a:cubicBezTo>
                  <a:pt x="6646710" y="1372804"/>
                  <a:pt x="6847794" y="1372804"/>
                  <a:pt x="6928228" y="1170921"/>
                </a:cubicBezTo>
                <a:cubicBezTo>
                  <a:pt x="6928228" y="1130545"/>
                  <a:pt x="6928228" y="1130545"/>
                  <a:pt x="6968444" y="1130545"/>
                </a:cubicBezTo>
                <a:cubicBezTo>
                  <a:pt x="6968444" y="1170921"/>
                  <a:pt x="7008660" y="1211298"/>
                  <a:pt x="7008660" y="1211298"/>
                </a:cubicBezTo>
                <a:cubicBezTo>
                  <a:pt x="7089094" y="1130545"/>
                  <a:pt x="7169528" y="1049792"/>
                  <a:pt x="7209744" y="969038"/>
                </a:cubicBezTo>
                <a:cubicBezTo>
                  <a:pt x="7249960" y="969038"/>
                  <a:pt x="7249960" y="1009415"/>
                  <a:pt x="7290178" y="1049792"/>
                </a:cubicBezTo>
                <a:cubicBezTo>
                  <a:pt x="7370610" y="888285"/>
                  <a:pt x="7571694" y="767155"/>
                  <a:pt x="7611910" y="565272"/>
                </a:cubicBezTo>
                <a:cubicBezTo>
                  <a:pt x="7571694" y="565272"/>
                  <a:pt x="7571694" y="524896"/>
                  <a:pt x="7571694" y="524896"/>
                </a:cubicBezTo>
                <a:cubicBezTo>
                  <a:pt x="7531478" y="565272"/>
                  <a:pt x="7491260" y="605649"/>
                  <a:pt x="7491260" y="686402"/>
                </a:cubicBezTo>
                <a:cubicBezTo>
                  <a:pt x="7451044" y="686402"/>
                  <a:pt x="7451044" y="686402"/>
                  <a:pt x="7451044" y="646026"/>
                </a:cubicBezTo>
                <a:cubicBezTo>
                  <a:pt x="7491260" y="565272"/>
                  <a:pt x="7491260" y="484519"/>
                  <a:pt x="7491260" y="403766"/>
                </a:cubicBezTo>
                <a:cubicBezTo>
                  <a:pt x="7531478" y="363390"/>
                  <a:pt x="7571694" y="363390"/>
                  <a:pt x="7611910" y="323013"/>
                </a:cubicBezTo>
                <a:cubicBezTo>
                  <a:pt x="7652128" y="403766"/>
                  <a:pt x="7692344" y="444143"/>
                  <a:pt x="7692344" y="524896"/>
                </a:cubicBezTo>
                <a:cubicBezTo>
                  <a:pt x="7732560" y="484519"/>
                  <a:pt x="7772778" y="403766"/>
                  <a:pt x="7812994" y="282636"/>
                </a:cubicBezTo>
                <a:cubicBezTo>
                  <a:pt x="7853210" y="403766"/>
                  <a:pt x="7853210" y="484519"/>
                  <a:pt x="7853210" y="605649"/>
                </a:cubicBezTo>
                <a:cubicBezTo>
                  <a:pt x="7933644" y="565272"/>
                  <a:pt x="7973860" y="524896"/>
                  <a:pt x="8054294" y="444143"/>
                </a:cubicBezTo>
                <a:cubicBezTo>
                  <a:pt x="8134728" y="605649"/>
                  <a:pt x="8215160" y="726779"/>
                  <a:pt x="8295594" y="888285"/>
                </a:cubicBezTo>
                <a:cubicBezTo>
                  <a:pt x="8376027" y="847909"/>
                  <a:pt x="8456461" y="807532"/>
                  <a:pt x="8577111" y="767155"/>
                </a:cubicBezTo>
                <a:cubicBezTo>
                  <a:pt x="8577111" y="807532"/>
                  <a:pt x="8577111" y="807532"/>
                  <a:pt x="8577111" y="888285"/>
                </a:cubicBezTo>
                <a:cubicBezTo>
                  <a:pt x="8737977" y="767155"/>
                  <a:pt x="8778194" y="888285"/>
                  <a:pt x="8858627" y="1009415"/>
                </a:cubicBezTo>
                <a:cubicBezTo>
                  <a:pt x="8858627" y="1049792"/>
                  <a:pt x="8898844" y="1130545"/>
                  <a:pt x="8898844" y="1170921"/>
                </a:cubicBezTo>
                <a:cubicBezTo>
                  <a:pt x="8898844" y="1211298"/>
                  <a:pt x="8898844" y="1211298"/>
                  <a:pt x="8898844" y="1211298"/>
                </a:cubicBezTo>
                <a:cubicBezTo>
                  <a:pt x="8858627" y="1372804"/>
                  <a:pt x="8818411" y="1534311"/>
                  <a:pt x="8737977" y="1655441"/>
                </a:cubicBezTo>
                <a:cubicBezTo>
                  <a:pt x="8697761" y="1736194"/>
                  <a:pt x="8617327" y="1776571"/>
                  <a:pt x="8536894" y="1816947"/>
                </a:cubicBezTo>
                <a:cubicBezTo>
                  <a:pt x="8496677" y="1897700"/>
                  <a:pt x="8416244" y="1978453"/>
                  <a:pt x="8335810" y="2059207"/>
                </a:cubicBezTo>
                <a:cubicBezTo>
                  <a:pt x="8295594" y="2099583"/>
                  <a:pt x="8255378" y="2099583"/>
                  <a:pt x="8255378" y="2139960"/>
                </a:cubicBezTo>
                <a:cubicBezTo>
                  <a:pt x="8215160" y="2382219"/>
                  <a:pt x="8416244" y="2462973"/>
                  <a:pt x="8456461" y="2664855"/>
                </a:cubicBezTo>
                <a:cubicBezTo>
                  <a:pt x="8496677" y="2745609"/>
                  <a:pt x="8536894" y="2826362"/>
                  <a:pt x="8456461" y="2907115"/>
                </a:cubicBezTo>
                <a:cubicBezTo>
                  <a:pt x="8295594" y="3108998"/>
                  <a:pt x="8215160" y="3310881"/>
                  <a:pt x="8054294" y="3512764"/>
                </a:cubicBezTo>
                <a:cubicBezTo>
                  <a:pt x="8094510" y="3512764"/>
                  <a:pt x="8094510" y="3512764"/>
                  <a:pt x="8134728" y="3512764"/>
                </a:cubicBezTo>
                <a:cubicBezTo>
                  <a:pt x="8215160" y="3432011"/>
                  <a:pt x="8295594" y="3310881"/>
                  <a:pt x="8416244" y="3189751"/>
                </a:cubicBezTo>
                <a:cubicBezTo>
                  <a:pt x="8416244" y="3310881"/>
                  <a:pt x="8416244" y="3351258"/>
                  <a:pt x="8416244" y="3391634"/>
                </a:cubicBezTo>
                <a:cubicBezTo>
                  <a:pt x="8577111" y="3472387"/>
                  <a:pt x="8536894" y="3593517"/>
                  <a:pt x="8496677" y="3674270"/>
                </a:cubicBezTo>
                <a:cubicBezTo>
                  <a:pt x="8416244" y="3916530"/>
                  <a:pt x="8335810" y="4118413"/>
                  <a:pt x="8215160" y="4360673"/>
                </a:cubicBezTo>
                <a:cubicBezTo>
                  <a:pt x="8134728" y="4522179"/>
                  <a:pt x="7933644" y="4643309"/>
                  <a:pt x="7933644" y="4845192"/>
                </a:cubicBezTo>
                <a:cubicBezTo>
                  <a:pt x="7933644" y="4885568"/>
                  <a:pt x="7853210" y="4885568"/>
                  <a:pt x="7812994" y="4925945"/>
                </a:cubicBezTo>
                <a:cubicBezTo>
                  <a:pt x="7772778" y="5006698"/>
                  <a:pt x="7732560" y="5127828"/>
                  <a:pt x="7692344" y="5127828"/>
                </a:cubicBezTo>
                <a:cubicBezTo>
                  <a:pt x="7531478" y="5087451"/>
                  <a:pt x="7531478" y="5248958"/>
                  <a:pt x="7491260" y="5329711"/>
                </a:cubicBezTo>
                <a:cubicBezTo>
                  <a:pt x="7491260" y="5370088"/>
                  <a:pt x="7491260" y="5410464"/>
                  <a:pt x="7491260" y="5450841"/>
                </a:cubicBezTo>
                <a:cubicBezTo>
                  <a:pt x="7290178" y="5652724"/>
                  <a:pt x="7129310" y="5894983"/>
                  <a:pt x="6968444" y="6096866"/>
                </a:cubicBezTo>
                <a:cubicBezTo>
                  <a:pt x="6928228" y="6177620"/>
                  <a:pt x="6847794" y="6217996"/>
                  <a:pt x="6767360" y="6258373"/>
                </a:cubicBezTo>
                <a:cubicBezTo>
                  <a:pt x="6767360" y="6258373"/>
                  <a:pt x="6767360" y="6258373"/>
                  <a:pt x="6767360" y="6217996"/>
                </a:cubicBezTo>
                <a:cubicBezTo>
                  <a:pt x="6807578" y="6177620"/>
                  <a:pt x="6847794" y="6096866"/>
                  <a:pt x="6888010" y="6016113"/>
                </a:cubicBezTo>
                <a:cubicBezTo>
                  <a:pt x="6686928" y="6137243"/>
                  <a:pt x="6485844" y="6258373"/>
                  <a:pt x="6284760" y="6339126"/>
                </a:cubicBezTo>
                <a:cubicBezTo>
                  <a:pt x="6204328" y="6379502"/>
                  <a:pt x="6083678" y="6339126"/>
                  <a:pt x="6003244" y="6379502"/>
                </a:cubicBezTo>
                <a:cubicBezTo>
                  <a:pt x="5601078" y="6500632"/>
                  <a:pt x="5239128" y="6621762"/>
                  <a:pt x="4836960" y="6702515"/>
                </a:cubicBezTo>
                <a:cubicBezTo>
                  <a:pt x="4233710" y="6864022"/>
                  <a:pt x="3630461" y="6904398"/>
                  <a:pt x="2986995" y="6823645"/>
                </a:cubicBezTo>
                <a:cubicBezTo>
                  <a:pt x="2383744" y="6783268"/>
                  <a:pt x="1860928" y="6541009"/>
                  <a:pt x="1338111" y="6217996"/>
                </a:cubicBezTo>
                <a:cubicBezTo>
                  <a:pt x="1177244" y="6096866"/>
                  <a:pt x="895728" y="6016113"/>
                  <a:pt x="815294" y="5773854"/>
                </a:cubicBezTo>
                <a:cubicBezTo>
                  <a:pt x="815294" y="5733477"/>
                  <a:pt x="694644" y="5733477"/>
                  <a:pt x="654428" y="5693100"/>
                </a:cubicBezTo>
                <a:cubicBezTo>
                  <a:pt x="573994" y="5652724"/>
                  <a:pt x="453344" y="5571971"/>
                  <a:pt x="372911" y="5491217"/>
                </a:cubicBezTo>
                <a:cubicBezTo>
                  <a:pt x="372911" y="5491217"/>
                  <a:pt x="413128" y="5450841"/>
                  <a:pt x="372911" y="5450841"/>
                </a:cubicBezTo>
                <a:cubicBezTo>
                  <a:pt x="252261" y="5289334"/>
                  <a:pt x="171828" y="5127828"/>
                  <a:pt x="51178" y="4966322"/>
                </a:cubicBezTo>
                <a:cubicBezTo>
                  <a:pt x="91394" y="4966322"/>
                  <a:pt x="91394" y="4966322"/>
                  <a:pt x="91394" y="4925945"/>
                </a:cubicBezTo>
                <a:cubicBezTo>
                  <a:pt x="252261" y="5047075"/>
                  <a:pt x="372911" y="5127828"/>
                  <a:pt x="493561" y="5208581"/>
                </a:cubicBezTo>
                <a:cubicBezTo>
                  <a:pt x="694644" y="5248958"/>
                  <a:pt x="855511" y="5329711"/>
                  <a:pt x="1016378" y="5450841"/>
                </a:cubicBezTo>
                <a:cubicBezTo>
                  <a:pt x="1056594" y="5450841"/>
                  <a:pt x="1137028" y="5410464"/>
                  <a:pt x="1257678" y="5410464"/>
                </a:cubicBezTo>
                <a:cubicBezTo>
                  <a:pt x="2343527" y="6137243"/>
                  <a:pt x="3710894" y="6298749"/>
                  <a:pt x="4394578" y="6016113"/>
                </a:cubicBezTo>
                <a:cubicBezTo>
                  <a:pt x="4314144" y="6016113"/>
                  <a:pt x="4193494" y="6016113"/>
                  <a:pt x="4113061" y="6016113"/>
                </a:cubicBezTo>
                <a:cubicBezTo>
                  <a:pt x="3147861" y="6056490"/>
                  <a:pt x="2263094" y="5894983"/>
                  <a:pt x="1458761" y="5329711"/>
                </a:cubicBezTo>
                <a:cubicBezTo>
                  <a:pt x="1378328" y="5248958"/>
                  <a:pt x="1257678" y="5208581"/>
                  <a:pt x="1137028" y="5127828"/>
                </a:cubicBezTo>
                <a:cubicBezTo>
                  <a:pt x="935944" y="4966322"/>
                  <a:pt x="734861" y="4804815"/>
                  <a:pt x="533778" y="4643309"/>
                </a:cubicBezTo>
                <a:cubicBezTo>
                  <a:pt x="493561" y="4643309"/>
                  <a:pt x="493561" y="4562556"/>
                  <a:pt x="453344" y="4481802"/>
                </a:cubicBezTo>
                <a:cubicBezTo>
                  <a:pt x="413128" y="4360673"/>
                  <a:pt x="372911" y="4199166"/>
                  <a:pt x="252261" y="4118413"/>
                </a:cubicBezTo>
                <a:cubicBezTo>
                  <a:pt x="131611" y="3997283"/>
                  <a:pt x="51178" y="3876153"/>
                  <a:pt x="10961" y="3755024"/>
                </a:cubicBezTo>
                <a:cubicBezTo>
                  <a:pt x="-29255" y="3674270"/>
                  <a:pt x="51178" y="3593517"/>
                  <a:pt x="91394" y="3512764"/>
                </a:cubicBezTo>
                <a:cubicBezTo>
                  <a:pt x="91394" y="3472387"/>
                  <a:pt x="131611" y="3472387"/>
                  <a:pt x="171828" y="3432011"/>
                </a:cubicBezTo>
                <a:cubicBezTo>
                  <a:pt x="252261" y="3512764"/>
                  <a:pt x="332694" y="3593517"/>
                  <a:pt x="413128" y="3674270"/>
                </a:cubicBezTo>
                <a:cubicBezTo>
                  <a:pt x="413128" y="3593517"/>
                  <a:pt x="453344" y="3553141"/>
                  <a:pt x="453344" y="3472387"/>
                </a:cubicBezTo>
                <a:cubicBezTo>
                  <a:pt x="493561" y="3553141"/>
                  <a:pt x="493561" y="3593517"/>
                  <a:pt x="493561" y="3674270"/>
                </a:cubicBezTo>
                <a:cubicBezTo>
                  <a:pt x="614211" y="3674270"/>
                  <a:pt x="734861" y="3674270"/>
                  <a:pt x="895728" y="3674270"/>
                </a:cubicBezTo>
                <a:cubicBezTo>
                  <a:pt x="453344" y="3149375"/>
                  <a:pt x="453344" y="3149375"/>
                  <a:pt x="533778" y="3028245"/>
                </a:cubicBezTo>
                <a:cubicBezTo>
                  <a:pt x="654428" y="3108998"/>
                  <a:pt x="734861" y="3149375"/>
                  <a:pt x="815294" y="3230128"/>
                </a:cubicBezTo>
                <a:cubicBezTo>
                  <a:pt x="855511" y="3189751"/>
                  <a:pt x="855511" y="3189751"/>
                  <a:pt x="895728" y="3149375"/>
                </a:cubicBezTo>
                <a:cubicBezTo>
                  <a:pt x="734861" y="2987869"/>
                  <a:pt x="614211" y="2866739"/>
                  <a:pt x="453344" y="2705232"/>
                </a:cubicBezTo>
                <a:cubicBezTo>
                  <a:pt x="493561" y="2705232"/>
                  <a:pt x="493561" y="2664855"/>
                  <a:pt x="493561" y="2664855"/>
                </a:cubicBezTo>
                <a:cubicBezTo>
                  <a:pt x="533778" y="2705232"/>
                  <a:pt x="573994" y="2745609"/>
                  <a:pt x="614211" y="2785986"/>
                </a:cubicBezTo>
                <a:cubicBezTo>
                  <a:pt x="694644" y="2785986"/>
                  <a:pt x="734861" y="2826362"/>
                  <a:pt x="815294" y="2866739"/>
                </a:cubicBezTo>
                <a:cubicBezTo>
                  <a:pt x="935944" y="2907115"/>
                  <a:pt x="1096811" y="2907115"/>
                  <a:pt x="1177244" y="3028245"/>
                </a:cubicBezTo>
                <a:cubicBezTo>
                  <a:pt x="1338111" y="3189751"/>
                  <a:pt x="1498978" y="3028245"/>
                  <a:pt x="1619628" y="3108998"/>
                </a:cubicBezTo>
                <a:cubicBezTo>
                  <a:pt x="1659844" y="3108998"/>
                  <a:pt x="1659844" y="3068622"/>
                  <a:pt x="1659844" y="3028245"/>
                </a:cubicBezTo>
                <a:cubicBezTo>
                  <a:pt x="1740278" y="3270504"/>
                  <a:pt x="1860928" y="3310881"/>
                  <a:pt x="2062011" y="3149375"/>
                </a:cubicBezTo>
                <a:cubicBezTo>
                  <a:pt x="2102227" y="3391634"/>
                  <a:pt x="2102227" y="3391634"/>
                  <a:pt x="2464178" y="3310881"/>
                </a:cubicBezTo>
                <a:cubicBezTo>
                  <a:pt x="2303311" y="3230128"/>
                  <a:pt x="2263094" y="3068622"/>
                  <a:pt x="2062011" y="3149375"/>
                </a:cubicBezTo>
                <a:cubicBezTo>
                  <a:pt x="2062011" y="3108998"/>
                  <a:pt x="2062011" y="3028245"/>
                  <a:pt x="2062011" y="3028245"/>
                </a:cubicBezTo>
                <a:cubicBezTo>
                  <a:pt x="1901144" y="3028245"/>
                  <a:pt x="1901144" y="2907115"/>
                  <a:pt x="1820711" y="2745609"/>
                </a:cubicBezTo>
                <a:cubicBezTo>
                  <a:pt x="1780494" y="2826362"/>
                  <a:pt x="1780494" y="2866739"/>
                  <a:pt x="1740278" y="2907115"/>
                </a:cubicBezTo>
                <a:cubicBezTo>
                  <a:pt x="1700061" y="2826362"/>
                  <a:pt x="1700061" y="2745609"/>
                  <a:pt x="1619628" y="2705232"/>
                </a:cubicBezTo>
                <a:cubicBezTo>
                  <a:pt x="1458761" y="2584102"/>
                  <a:pt x="1297894" y="2422596"/>
                  <a:pt x="1137028" y="2301466"/>
                </a:cubicBezTo>
                <a:cubicBezTo>
                  <a:pt x="1056594" y="2261090"/>
                  <a:pt x="976161" y="2220713"/>
                  <a:pt x="935944" y="2139960"/>
                </a:cubicBezTo>
                <a:cubicBezTo>
                  <a:pt x="855511" y="2018830"/>
                  <a:pt x="694644" y="2018830"/>
                  <a:pt x="654428" y="1816947"/>
                </a:cubicBezTo>
                <a:cubicBezTo>
                  <a:pt x="614211" y="1695817"/>
                  <a:pt x="573994" y="1534311"/>
                  <a:pt x="533778" y="1372804"/>
                </a:cubicBezTo>
                <a:cubicBezTo>
                  <a:pt x="654428" y="1413181"/>
                  <a:pt x="734861" y="1413181"/>
                  <a:pt x="815294" y="1413181"/>
                </a:cubicBezTo>
                <a:cubicBezTo>
                  <a:pt x="734861" y="1090168"/>
                  <a:pt x="694644" y="807532"/>
                  <a:pt x="614211" y="524896"/>
                </a:cubicBezTo>
                <a:cubicBezTo>
                  <a:pt x="815294" y="444143"/>
                  <a:pt x="855511" y="646026"/>
                  <a:pt x="935944" y="726779"/>
                </a:cubicBezTo>
                <a:cubicBezTo>
                  <a:pt x="1016378" y="726779"/>
                  <a:pt x="1056594" y="686402"/>
                  <a:pt x="1137028" y="646026"/>
                </a:cubicBezTo>
                <a:cubicBezTo>
                  <a:pt x="1137028" y="686402"/>
                  <a:pt x="1137028" y="726779"/>
                  <a:pt x="1177244" y="807532"/>
                </a:cubicBezTo>
                <a:cubicBezTo>
                  <a:pt x="1217461" y="686402"/>
                  <a:pt x="1257678" y="605649"/>
                  <a:pt x="1297894" y="524896"/>
                </a:cubicBezTo>
                <a:cubicBezTo>
                  <a:pt x="1378328" y="686402"/>
                  <a:pt x="1458761" y="847909"/>
                  <a:pt x="1539194" y="969038"/>
                </a:cubicBezTo>
                <a:cubicBezTo>
                  <a:pt x="1574384" y="1075027"/>
                  <a:pt x="1671155" y="1150102"/>
                  <a:pt x="1775624" y="1113117"/>
                </a:cubicBezTo>
                <a:lnTo>
                  <a:pt x="1808171" y="1096551"/>
                </a:lnTo>
                <a:lnTo>
                  <a:pt x="1820711" y="1130545"/>
                </a:lnTo>
                <a:lnTo>
                  <a:pt x="1821120" y="1129164"/>
                </a:lnTo>
                <a:lnTo>
                  <a:pt x="1821339" y="1150102"/>
                </a:lnTo>
                <a:cubicBezTo>
                  <a:pt x="1823225" y="1208774"/>
                  <a:pt x="1830765" y="1261769"/>
                  <a:pt x="1860928" y="1292051"/>
                </a:cubicBezTo>
                <a:cubicBezTo>
                  <a:pt x="1941361" y="1413181"/>
                  <a:pt x="2062011" y="1534311"/>
                  <a:pt x="2182661" y="1655441"/>
                </a:cubicBezTo>
                <a:cubicBezTo>
                  <a:pt x="2222877" y="1695817"/>
                  <a:pt x="2383744" y="1776571"/>
                  <a:pt x="2383744" y="1615064"/>
                </a:cubicBezTo>
                <a:cubicBezTo>
                  <a:pt x="2222877" y="1413181"/>
                  <a:pt x="1981578" y="1372804"/>
                  <a:pt x="1981578" y="1049792"/>
                </a:cubicBezTo>
                <a:cubicBezTo>
                  <a:pt x="1941361" y="1130545"/>
                  <a:pt x="1901144" y="1211298"/>
                  <a:pt x="1860928" y="1292051"/>
                </a:cubicBezTo>
                <a:cubicBezTo>
                  <a:pt x="1860928" y="1170921"/>
                  <a:pt x="1860928" y="1130545"/>
                  <a:pt x="1901144" y="1090168"/>
                </a:cubicBezTo>
                <a:cubicBezTo>
                  <a:pt x="1870982" y="1090168"/>
                  <a:pt x="1840819" y="1090168"/>
                  <a:pt x="1827623" y="1107202"/>
                </a:cubicBezTo>
                <a:lnTo>
                  <a:pt x="1821120" y="1129164"/>
                </a:lnTo>
                <a:lnTo>
                  <a:pt x="1820711" y="1090168"/>
                </a:lnTo>
                <a:lnTo>
                  <a:pt x="1808171" y="1096551"/>
                </a:lnTo>
                <a:lnTo>
                  <a:pt x="1797147" y="1066668"/>
                </a:lnTo>
                <a:cubicBezTo>
                  <a:pt x="1755359" y="910997"/>
                  <a:pt x="1790549" y="716685"/>
                  <a:pt x="1579411" y="646026"/>
                </a:cubicBezTo>
                <a:cubicBezTo>
                  <a:pt x="1579411" y="646026"/>
                  <a:pt x="1539194" y="686402"/>
                  <a:pt x="1539194" y="686402"/>
                </a:cubicBezTo>
                <a:cubicBezTo>
                  <a:pt x="1539194" y="605649"/>
                  <a:pt x="1498978" y="524896"/>
                  <a:pt x="1458761" y="444143"/>
                </a:cubicBezTo>
                <a:cubicBezTo>
                  <a:pt x="1418544" y="323013"/>
                  <a:pt x="1338111" y="242260"/>
                  <a:pt x="1297894" y="121130"/>
                </a:cubicBezTo>
                <a:cubicBezTo>
                  <a:pt x="1297894" y="121130"/>
                  <a:pt x="1297894" y="40377"/>
                  <a:pt x="13381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20DD7-6358-4E35-981D-64C57D7D925A}" type="datetimeFigureOut">
              <a:rPr lang="zh-CN" altLang="en-US" smtClean="0"/>
              <a:pPr/>
              <a:t>2019-6-18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67DBE-345A-4DFC-A5AF-A1AA18485CC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2" r:id="rId8"/>
    <p:sldLayoutId id="2147483663" r:id="rId9"/>
    <p:sldLayoutId id="2147483664" r:id="rId10"/>
    <p:sldLayoutId id="2147483665" r:id="rId11"/>
    <p:sldLayoutId id="2147483656" r:id="rId12"/>
    <p:sldLayoutId id="2147483657" r:id="rId13"/>
    <p:sldLayoutId id="2147483658" r:id="rId14"/>
    <p:sldLayoutId id="2147483659" r:id="rId15"/>
    <p:sldLayoutId id="2147483666" r:id="rId16"/>
    <p:sldLayoutId id="2147483667" r:id="rId17"/>
    <p:sldLayoutId id="2147483669" r:id="rId18"/>
    <p:sldLayoutId id="2147483670" r:id="rId19"/>
    <p:sldLayoutId id="2147483671" r:id="rId20"/>
    <p:sldLayoutId id="2147483672" r:id="rId21"/>
  </p:sldLayoutIdLst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://gceasy.i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59">
            <a:extLst>
              <a:ext uri="{FF2B5EF4-FFF2-40B4-BE49-F238E27FC236}">
                <a16:creationId xmlns:a16="http://schemas.microsoft.com/office/drawing/2014/main" xmlns="" id="{7DFA17FA-3D29-4B64-81C0-362F78C55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52" y="1492424"/>
            <a:ext cx="52205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JVM GC </a:t>
            </a:r>
            <a:r>
              <a:rPr lang="zh-CN" altLang="en-US" sz="28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调优入门</a:t>
            </a:r>
            <a:endParaRPr lang="en-US" altLang="zh-CN" sz="4000" cap="all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" name="原创设计师QQ598969553                 _15">
            <a:extLst>
              <a:ext uri="{FF2B5EF4-FFF2-40B4-BE49-F238E27FC236}">
                <a16:creationId xmlns:a16="http://schemas.microsoft.com/office/drawing/2014/main" xmlns="" id="{9574D58F-4B08-455D-8754-10C9A2C0E3AF}"/>
              </a:ext>
            </a:extLst>
          </p:cNvPr>
          <p:cNvSpPr/>
          <p:nvPr/>
        </p:nvSpPr>
        <p:spPr>
          <a:xfrm>
            <a:off x="744252" y="3707645"/>
            <a:ext cx="2978540" cy="25248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主讲人：赵东          日期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原创设计师QQ598969553                 _16">
            <a:extLst>
              <a:ext uri="{FF2B5EF4-FFF2-40B4-BE49-F238E27FC236}">
                <a16:creationId xmlns:a16="http://schemas.microsoft.com/office/drawing/2014/main" xmlns="" id="{478BBA3F-5FCF-49AA-B269-04B731FA75DF}"/>
              </a:ext>
            </a:extLst>
          </p:cNvPr>
          <p:cNvSpPr txBox="1"/>
          <p:nvPr/>
        </p:nvSpPr>
        <p:spPr>
          <a:xfrm>
            <a:off x="744252" y="736340"/>
            <a:ext cx="2844316" cy="392415"/>
          </a:xfrm>
          <a:prstGeom prst="rect">
            <a:avLst/>
          </a:prstGeom>
          <a:noFill/>
          <a:effectLst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美的集团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金融中心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2716560"/>
            <a:ext cx="388843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GC tuning is a Dark Art</a:t>
            </a: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！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9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/>
              <a:t>目录</a:t>
            </a:r>
            <a:endParaRPr lang="zh-CN" altLang="en-US" sz="3200" dirty="0"/>
          </a:p>
        </p:txBody>
      </p:sp>
      <p:sp>
        <p:nvSpPr>
          <p:cNvPr id="3" name="燕尾形 2"/>
          <p:cNvSpPr/>
          <p:nvPr/>
        </p:nvSpPr>
        <p:spPr>
          <a:xfrm>
            <a:off x="521664" y="736340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986" y="1145425"/>
            <a:ext cx="6377563" cy="373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91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61048"/>
            <a:ext cx="60960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202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类的生命周期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6360" y="1683065"/>
            <a:ext cx="10081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加载</a:t>
            </a:r>
          </a:p>
        </p:txBody>
      </p:sp>
      <p:sp>
        <p:nvSpPr>
          <p:cNvPr id="8" name="矩形 7"/>
          <p:cNvSpPr/>
          <p:nvPr/>
        </p:nvSpPr>
        <p:spPr>
          <a:xfrm>
            <a:off x="2231740" y="1683065"/>
            <a:ext cx="10081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验证</a:t>
            </a:r>
          </a:p>
        </p:txBody>
      </p:sp>
      <p:sp>
        <p:nvSpPr>
          <p:cNvPr id="9" name="矩形 8"/>
          <p:cNvSpPr/>
          <p:nvPr/>
        </p:nvSpPr>
        <p:spPr>
          <a:xfrm>
            <a:off x="3887924" y="1672444"/>
            <a:ext cx="10081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准备</a:t>
            </a:r>
          </a:p>
        </p:txBody>
      </p:sp>
      <p:sp>
        <p:nvSpPr>
          <p:cNvPr id="10" name="矩形 9"/>
          <p:cNvSpPr/>
          <p:nvPr/>
        </p:nvSpPr>
        <p:spPr>
          <a:xfrm>
            <a:off x="5652120" y="1672444"/>
            <a:ext cx="10081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解析</a:t>
            </a:r>
          </a:p>
        </p:txBody>
      </p:sp>
      <p:sp>
        <p:nvSpPr>
          <p:cNvPr id="13" name="矩形 12"/>
          <p:cNvSpPr/>
          <p:nvPr/>
        </p:nvSpPr>
        <p:spPr>
          <a:xfrm>
            <a:off x="5655325" y="2572544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初始化</a:t>
            </a:r>
            <a:r>
              <a:rPr lang="en-US" altLang="zh-CN" dirty="0" err="1" smtClean="0"/>
              <a:t>cinit</a:t>
            </a:r>
            <a:r>
              <a:rPr lang="en-US" altLang="zh-CN" dirty="0" smtClean="0"/>
              <a:t>()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655325" y="3544652"/>
            <a:ext cx="10081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使用</a:t>
            </a:r>
          </a:p>
        </p:txBody>
      </p:sp>
      <p:sp>
        <p:nvSpPr>
          <p:cNvPr id="15" name="矩形 14"/>
          <p:cNvSpPr/>
          <p:nvPr/>
        </p:nvSpPr>
        <p:spPr>
          <a:xfrm>
            <a:off x="5655325" y="4395232"/>
            <a:ext cx="10081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卸载</a:t>
            </a:r>
            <a:endParaRPr lang="en-US" altLang="zh-CN" dirty="0" smtClean="0"/>
          </a:p>
        </p:txBody>
      </p:sp>
      <p:sp>
        <p:nvSpPr>
          <p:cNvPr id="6" name="右箭头 5"/>
          <p:cNvSpPr/>
          <p:nvPr/>
        </p:nvSpPr>
        <p:spPr>
          <a:xfrm>
            <a:off x="1763688" y="1899089"/>
            <a:ext cx="36004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311860" y="1888468"/>
            <a:ext cx="50405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4968044" y="1888468"/>
            <a:ext cx="54006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6156176" y="2176500"/>
            <a:ext cx="108012" cy="3960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6156176" y="3112604"/>
            <a:ext cx="82767" cy="3960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6134136" y="4035192"/>
            <a:ext cx="104807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云形标注 21"/>
          <p:cNvSpPr/>
          <p:nvPr/>
        </p:nvSpPr>
        <p:spPr>
          <a:xfrm>
            <a:off x="6958555" y="2442091"/>
            <a:ext cx="1933923" cy="1116124"/>
          </a:xfrm>
          <a:prstGeom prst="cloudCallout">
            <a:avLst>
              <a:gd name="adj1" fmla="val -57935"/>
              <a:gd name="adj2" fmla="val 71334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在堆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栈区创建</a:t>
            </a:r>
            <a:r>
              <a:rPr lang="en-US" altLang="zh-CN" dirty="0" smtClean="0">
                <a:solidFill>
                  <a:schemeClr val="tx1"/>
                </a:solidFill>
              </a:rPr>
              <a:t>Java</a:t>
            </a:r>
            <a:r>
              <a:rPr lang="zh-CN" altLang="en-US" dirty="0" smtClean="0">
                <a:solidFill>
                  <a:schemeClr val="tx1"/>
                </a:solidFill>
              </a:rPr>
              <a:t>实际对象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1664" y="3256620"/>
            <a:ext cx="33009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字节码文件解析过程：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常量池解析；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类字段解析（数据结构）；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方法解析（算法）。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943708" y="1384412"/>
            <a:ext cx="5014847" cy="1057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标注 27"/>
          <p:cNvSpPr/>
          <p:nvPr/>
        </p:nvSpPr>
        <p:spPr>
          <a:xfrm>
            <a:off x="4535996" y="817929"/>
            <a:ext cx="817240" cy="495047"/>
          </a:xfrm>
          <a:prstGeom prst="wedgeRectCallou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链接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6362" y="4504114"/>
            <a:ext cx="4721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语言</a:t>
            </a:r>
            <a:r>
              <a:rPr lang="zh-CN" altLang="en-US" dirty="0" smtClean="0"/>
              <a:t>的精髓：</a:t>
            </a:r>
            <a:r>
              <a:rPr lang="zh-CN" altLang="en-US" dirty="0" smtClean="0">
                <a:solidFill>
                  <a:srgbClr val="FF0000"/>
                </a:solidFill>
              </a:rPr>
              <a:t>所有的</a:t>
            </a:r>
            <a:r>
              <a:rPr lang="zh-CN" altLang="en-US" dirty="0" smtClean="0">
                <a:solidFill>
                  <a:srgbClr val="FF0000"/>
                </a:solidFill>
              </a:rPr>
              <a:t>数据结构和</a:t>
            </a:r>
            <a:r>
              <a:rPr lang="zh-CN" altLang="en-US" dirty="0" smtClean="0">
                <a:solidFill>
                  <a:srgbClr val="FF0000"/>
                </a:solidFill>
              </a:rPr>
              <a:t>算法都封装在类型之中。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线形标注 2 30"/>
          <p:cNvSpPr/>
          <p:nvPr/>
        </p:nvSpPr>
        <p:spPr>
          <a:xfrm>
            <a:off x="7367456" y="991809"/>
            <a:ext cx="1620180" cy="1367580"/>
          </a:xfrm>
          <a:prstGeom prst="borderCallout2">
            <a:avLst>
              <a:gd name="adj1" fmla="val 51309"/>
              <a:gd name="adj2" fmla="val -1462"/>
              <a:gd name="adj3" fmla="val 108288"/>
              <a:gd name="adj4" fmla="val -18630"/>
              <a:gd name="adj5" fmla="val 112500"/>
              <a:gd name="adj6" fmla="val -4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初始化</a:t>
            </a:r>
            <a:r>
              <a:rPr lang="en-US" altLang="zh-CN" dirty="0" smtClean="0">
                <a:solidFill>
                  <a:srgbClr val="FF0000"/>
                </a:solidFill>
              </a:rPr>
              <a:t>static</a:t>
            </a:r>
            <a:r>
              <a:rPr lang="zh-CN" altLang="en-US" dirty="0" smtClean="0">
                <a:solidFill>
                  <a:srgbClr val="FF0000"/>
                </a:solidFill>
              </a:rPr>
              <a:t>修饰的变量或者代码块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664" y="2591983"/>
            <a:ext cx="4829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加载：将字节码文件加载到机器内存，构建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类原型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类模板对象（快照</a:t>
            </a:r>
            <a:r>
              <a:rPr lang="en-US" altLang="zh-CN" dirty="0" err="1" smtClean="0"/>
              <a:t>kclassOop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  <p:sp>
        <p:nvSpPr>
          <p:cNvPr id="34" name="线形标注 1 33"/>
          <p:cNvSpPr/>
          <p:nvPr/>
        </p:nvSpPr>
        <p:spPr>
          <a:xfrm>
            <a:off x="7468316" y="4035192"/>
            <a:ext cx="1290441" cy="761101"/>
          </a:xfrm>
          <a:prstGeom prst="borderCallout1">
            <a:avLst>
              <a:gd name="adj1" fmla="val 49899"/>
              <a:gd name="adj2" fmla="val -3116"/>
              <a:gd name="adj3" fmla="val 63688"/>
              <a:gd name="adj4" fmla="val -610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GC</a:t>
            </a:r>
            <a:r>
              <a:rPr lang="zh-CN" altLang="en-US" dirty="0" smtClean="0">
                <a:solidFill>
                  <a:schemeClr val="tx1"/>
                </a:solidFill>
              </a:rPr>
              <a:t>清除无用对象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61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四种引用状态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664" y="1420416"/>
            <a:ext cx="84788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强</a:t>
            </a:r>
            <a:r>
              <a:rPr lang="zh-CN" altLang="en-US" dirty="0" smtClean="0">
                <a:solidFill>
                  <a:srgbClr val="FF0000"/>
                </a:solidFill>
              </a:rPr>
              <a:t>引用</a:t>
            </a:r>
            <a:r>
              <a:rPr lang="zh-CN" altLang="en-US" dirty="0" smtClean="0"/>
              <a:t>：如</a:t>
            </a:r>
            <a:r>
              <a:rPr lang="en-US" altLang="zh-CN" dirty="0" smtClean="0"/>
              <a:t>Object </a:t>
            </a:r>
            <a:r>
              <a:rPr lang="en-US" altLang="zh-CN" dirty="0"/>
              <a:t>o = new Object();</a:t>
            </a:r>
            <a:r>
              <a:rPr lang="zh-CN" altLang="en-US" dirty="0"/>
              <a:t>当内存不足是，</a:t>
            </a:r>
            <a:r>
              <a:rPr lang="en-US" altLang="zh-CN" dirty="0" err="1"/>
              <a:t>gc</a:t>
            </a:r>
            <a:r>
              <a:rPr lang="zh-CN" altLang="en-US" dirty="0"/>
              <a:t>宁愿抛出</a:t>
            </a:r>
            <a:r>
              <a:rPr lang="en-US" altLang="zh-CN" dirty="0" err="1"/>
              <a:t>outofmemory</a:t>
            </a:r>
            <a:r>
              <a:rPr lang="zh-CN" altLang="en-US" dirty="0"/>
              <a:t>异常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也</a:t>
            </a:r>
            <a:r>
              <a:rPr lang="zh-CN" altLang="en-US" dirty="0"/>
              <a:t>不随意回收它。 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软</a:t>
            </a:r>
            <a:r>
              <a:rPr lang="zh-CN" altLang="en-US" dirty="0" smtClean="0">
                <a:solidFill>
                  <a:srgbClr val="FF0000"/>
                </a:solidFill>
              </a:rPr>
              <a:t>引用</a:t>
            </a:r>
            <a:r>
              <a:rPr lang="zh-CN" altLang="en-US" dirty="0" smtClean="0"/>
              <a:t>：如</a:t>
            </a:r>
            <a:r>
              <a:rPr lang="en-US" altLang="zh-CN" dirty="0" err="1" smtClean="0"/>
              <a:t>SoftReference</a:t>
            </a:r>
            <a:r>
              <a:rPr lang="en-US" altLang="zh-CN" dirty="0" smtClean="0"/>
              <a:t>&lt;String</a:t>
            </a:r>
            <a:r>
              <a:rPr lang="en-US" altLang="zh-CN" dirty="0"/>
              <a:t>&gt; </a:t>
            </a:r>
            <a:r>
              <a:rPr lang="en-US" altLang="zh-CN" dirty="0" err="1"/>
              <a:t>softReference</a:t>
            </a:r>
            <a:r>
              <a:rPr lang="en-US" altLang="zh-CN" dirty="0"/>
              <a:t> = new </a:t>
            </a:r>
            <a:r>
              <a:rPr lang="en-US" altLang="zh-CN" dirty="0" err="1"/>
              <a:t>SoftReference</a:t>
            </a:r>
            <a:r>
              <a:rPr lang="en-US" altLang="zh-CN" dirty="0"/>
              <a:t>&lt;String&gt;("</a:t>
            </a:r>
            <a:r>
              <a:rPr lang="en-US" altLang="zh-CN" dirty="0" err="1"/>
              <a:t>abc</a:t>
            </a:r>
            <a:r>
              <a:rPr lang="en-US" altLang="zh-CN" dirty="0" smtClean="0"/>
              <a:t>");</a:t>
            </a:r>
          </a:p>
          <a:p>
            <a:r>
              <a:rPr lang="zh-CN" altLang="en-US" dirty="0" smtClean="0"/>
              <a:t>内存</a:t>
            </a:r>
            <a:r>
              <a:rPr lang="zh-CN" altLang="en-US" dirty="0"/>
              <a:t>足够，不会回收；内存不足，必会回收。 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弱</a:t>
            </a:r>
            <a:r>
              <a:rPr lang="zh-CN" altLang="en-US" dirty="0" smtClean="0">
                <a:solidFill>
                  <a:srgbClr val="FF0000"/>
                </a:solidFill>
              </a:rPr>
              <a:t>引用</a:t>
            </a:r>
            <a:r>
              <a:rPr lang="zh-CN" altLang="en-US" dirty="0" smtClean="0"/>
              <a:t>：如</a:t>
            </a:r>
            <a:r>
              <a:rPr lang="en-US" altLang="zh-CN" dirty="0" err="1" smtClean="0"/>
              <a:t>WeakReference</a:t>
            </a:r>
            <a:r>
              <a:rPr lang="en-US" altLang="zh-CN" dirty="0" smtClean="0"/>
              <a:t>&lt;String</a:t>
            </a:r>
            <a:r>
              <a:rPr lang="en-US" altLang="zh-CN" dirty="0"/>
              <a:t>&gt; </a:t>
            </a:r>
            <a:r>
              <a:rPr lang="en-US" altLang="zh-CN" dirty="0" err="1"/>
              <a:t>weakReference</a:t>
            </a:r>
            <a:r>
              <a:rPr lang="en-US" altLang="zh-CN" dirty="0"/>
              <a:t> = new </a:t>
            </a:r>
            <a:r>
              <a:rPr lang="en-US" altLang="zh-CN" dirty="0" err="1"/>
              <a:t>WeakReference</a:t>
            </a:r>
            <a:r>
              <a:rPr lang="en-US" altLang="zh-CN" dirty="0"/>
              <a:t>&lt;String&gt;("</a:t>
            </a:r>
            <a:r>
              <a:rPr lang="en-US" altLang="zh-CN" dirty="0" err="1"/>
              <a:t>abc</a:t>
            </a:r>
            <a:r>
              <a:rPr lang="en-US" altLang="zh-CN" dirty="0" smtClean="0"/>
              <a:t>")</a:t>
            </a:r>
          </a:p>
          <a:p>
            <a:r>
              <a:rPr lang="en-US" altLang="zh-CN" dirty="0" err="1" smtClean="0"/>
              <a:t>gc</a:t>
            </a:r>
            <a:r>
              <a:rPr lang="zh-CN" altLang="en-US" dirty="0"/>
              <a:t>一旦发现，必会回收。 如：</a:t>
            </a:r>
            <a:r>
              <a:rPr lang="en-US" altLang="zh-CN" dirty="0" err="1"/>
              <a:t>WeakHashMap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虚</a:t>
            </a:r>
            <a:r>
              <a:rPr lang="zh-CN" altLang="en-US" dirty="0" smtClean="0">
                <a:solidFill>
                  <a:srgbClr val="FF0000"/>
                </a:solidFill>
              </a:rPr>
              <a:t>引用</a:t>
            </a:r>
            <a:r>
              <a:rPr lang="zh-CN" altLang="en-US" dirty="0" smtClean="0"/>
              <a:t>：形同虚设</a:t>
            </a:r>
            <a:r>
              <a:rPr lang="zh-CN" altLang="en-US" dirty="0"/>
              <a:t>，主要跟踪</a:t>
            </a:r>
            <a:r>
              <a:rPr lang="en-US" altLang="zh-CN" dirty="0" err="1"/>
              <a:t>gc</a:t>
            </a:r>
            <a:r>
              <a:rPr lang="zh-CN" altLang="en-US" dirty="0"/>
              <a:t>回收对象的活动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061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2246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800" dirty="0" smtClean="0"/>
              <a:t>JVM</a:t>
            </a:r>
            <a:r>
              <a:rPr lang="zh-CN" altLang="en-US" sz="2800" dirty="0" smtClean="0"/>
              <a:t>体系架构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694162"/>
            <a:ext cx="5226943" cy="421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1664" y="1528428"/>
            <a:ext cx="1838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GC</a:t>
            </a:r>
            <a:r>
              <a:rPr lang="zh-CN" altLang="en-US" dirty="0" smtClean="0"/>
              <a:t>的作用区域：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方法</a:t>
            </a:r>
            <a:r>
              <a:rPr lang="zh-CN" altLang="en-US" dirty="0" smtClean="0"/>
              <a:t>区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堆​​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89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2246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800" dirty="0" smtClean="0"/>
              <a:t>JVM</a:t>
            </a:r>
            <a:r>
              <a:rPr lang="zh-CN" altLang="en-US" sz="2800" dirty="0" smtClean="0"/>
              <a:t>体系架构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7264" y="3004592"/>
            <a:ext cx="50106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、堆</a:t>
            </a:r>
            <a:r>
              <a:rPr lang="zh-CN" altLang="en-US" dirty="0"/>
              <a:t>内存大小</a:t>
            </a:r>
          </a:p>
          <a:p>
            <a:r>
              <a:rPr lang="en-US" altLang="zh-CN" dirty="0"/>
              <a:t>-</a:t>
            </a:r>
            <a:r>
              <a:rPr lang="en-US" altLang="zh-CN" dirty="0" err="1" smtClean="0"/>
              <a:t>Xms</a:t>
            </a:r>
            <a:r>
              <a:rPr lang="en-US" altLang="zh-CN" dirty="0" smtClean="0"/>
              <a:t>(-</a:t>
            </a:r>
            <a:r>
              <a:rPr lang="en-US" altLang="zh-CN" dirty="0" err="1" smtClean="0"/>
              <a:t>XX:InitialHeapSize</a:t>
            </a:r>
            <a:r>
              <a:rPr lang="en-US" altLang="zh-CN" dirty="0" smtClean="0"/>
              <a:t>) –</a:t>
            </a:r>
            <a:r>
              <a:rPr lang="en-US" altLang="zh-CN" dirty="0" err="1" smtClean="0"/>
              <a:t>Xmx</a:t>
            </a:r>
            <a:r>
              <a:rPr lang="en-US" altLang="zh-CN" dirty="0" smtClean="0"/>
              <a:t>(-</a:t>
            </a:r>
            <a:r>
              <a:rPr lang="en-US" altLang="zh-CN" dirty="0" err="1" smtClean="0"/>
              <a:t>XX:MaxHeapSize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设置成</a:t>
            </a:r>
            <a:r>
              <a:rPr lang="en-US" altLang="zh-CN" dirty="0" smtClean="0"/>
              <a:t>1:1</a:t>
            </a:r>
            <a:r>
              <a:rPr lang="zh-CN" altLang="en-US" dirty="0" smtClean="0"/>
              <a:t>；避免</a:t>
            </a:r>
            <a:r>
              <a:rPr lang="en-US" altLang="zh-CN" dirty="0" err="1" smtClean="0"/>
              <a:t>gc</a:t>
            </a:r>
            <a:r>
              <a:rPr lang="zh-CN" altLang="en-US" dirty="0" smtClean="0"/>
              <a:t>调整堆大小带来的压力。</a:t>
            </a:r>
            <a:endParaRPr lang="en-US" altLang="zh-CN" dirty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、新生代</a:t>
            </a:r>
            <a:r>
              <a:rPr lang="zh-CN" altLang="en-US" dirty="0"/>
              <a:t>空间大小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-</a:t>
            </a:r>
            <a:r>
              <a:rPr lang="en-US" altLang="zh-CN" dirty="0" err="1"/>
              <a:t>XX:NewRatio</a:t>
            </a:r>
            <a:r>
              <a:rPr lang="en-US" altLang="zh-CN" dirty="0"/>
              <a:t> </a:t>
            </a:r>
            <a:r>
              <a:rPr lang="zh-CN" altLang="en-US" dirty="0"/>
              <a:t>新生代和老年代的内存比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-</a:t>
            </a:r>
            <a:r>
              <a:rPr lang="en-US" altLang="zh-CN" dirty="0" err="1"/>
              <a:t>XX:NewSize</a:t>
            </a:r>
            <a:r>
              <a:rPr lang="en-US" altLang="zh-CN" dirty="0"/>
              <a:t> </a:t>
            </a:r>
            <a:r>
              <a:rPr lang="zh-CN" altLang="en-US" dirty="0"/>
              <a:t>新生代内存大小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-</a:t>
            </a:r>
            <a:r>
              <a:rPr lang="en-US" altLang="zh-CN" dirty="0" err="1"/>
              <a:t>XX:SurvivorRatio</a:t>
            </a:r>
            <a:r>
              <a:rPr lang="en-US" altLang="zh-CN" dirty="0"/>
              <a:t> Eden</a:t>
            </a:r>
            <a:r>
              <a:rPr lang="zh-CN" altLang="en-US" dirty="0"/>
              <a:t>区和</a:t>
            </a:r>
            <a:r>
              <a:rPr lang="en-US" altLang="zh-CN" dirty="0"/>
              <a:t>Survivor</a:t>
            </a:r>
            <a:r>
              <a:rPr lang="zh-CN" altLang="en-US" dirty="0"/>
              <a:t>区的内存比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860" y="839324"/>
            <a:ext cx="5518409" cy="229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977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800" dirty="0" smtClean="0"/>
              <a:t>GC</a:t>
            </a:r>
            <a:r>
              <a:rPr lang="zh-CN" altLang="en-US" sz="2800" dirty="0" smtClean="0"/>
              <a:t>算法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500" y="1348408"/>
            <a:ext cx="56028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、引用计数</a:t>
            </a:r>
            <a:r>
              <a:rPr lang="zh-CN" altLang="en-US" dirty="0" smtClean="0">
                <a:solidFill>
                  <a:srgbClr val="FF0000"/>
                </a:solidFill>
              </a:rPr>
              <a:t>法（</a:t>
            </a:r>
            <a:r>
              <a:rPr lang="en-US" altLang="zh-CN" dirty="0" smtClean="0">
                <a:solidFill>
                  <a:srgbClr val="FF0000"/>
                </a:solidFill>
              </a:rPr>
              <a:t>JVM</a:t>
            </a:r>
            <a:r>
              <a:rPr lang="zh-CN" altLang="en-US" dirty="0" smtClean="0">
                <a:solidFill>
                  <a:srgbClr val="FF0000"/>
                </a:solidFill>
              </a:rPr>
              <a:t>未采用）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sz="1600" dirty="0" smtClean="0"/>
              <a:t>缺点：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每次对对象赋值时，都需要维护引用计数器，消耗资源；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较难处理循环引用问题。 </a:t>
            </a:r>
            <a:endParaRPr lang="zh-CN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786" y="563395"/>
            <a:ext cx="4381558" cy="1523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9512" y="3076600"/>
            <a:ext cx="273504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、跟踪（</a:t>
            </a:r>
            <a:r>
              <a:rPr lang="en-US" altLang="zh-CN" dirty="0" smtClean="0">
                <a:solidFill>
                  <a:srgbClr val="FF0000"/>
                </a:solidFill>
              </a:rPr>
              <a:t>tracing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标记</a:t>
            </a:r>
            <a:r>
              <a:rPr lang="en-US" altLang="zh-CN" sz="1400" dirty="0"/>
              <a:t>-</a:t>
            </a:r>
            <a:r>
              <a:rPr lang="zh-CN" altLang="en-US" sz="1400" dirty="0"/>
              <a:t>清除（</a:t>
            </a:r>
            <a:r>
              <a:rPr lang="en-US" altLang="zh-CN" sz="1400" dirty="0"/>
              <a:t>Mark-Sweep</a:t>
            </a:r>
            <a:r>
              <a:rPr lang="zh-CN" altLang="en-US" sz="1400" dirty="0"/>
              <a:t>） </a:t>
            </a:r>
            <a:endParaRPr lang="en-US" altLang="zh-CN" sz="1400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复制（</a:t>
            </a:r>
            <a:r>
              <a:rPr lang="en-US" altLang="zh-CN" sz="1400" dirty="0"/>
              <a:t>Copying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标记</a:t>
            </a:r>
            <a:r>
              <a:rPr lang="en-US" altLang="zh-CN" sz="1400" dirty="0"/>
              <a:t>-</a:t>
            </a:r>
            <a:r>
              <a:rPr lang="zh-CN" altLang="en-US" sz="1400" dirty="0"/>
              <a:t>整理（</a:t>
            </a:r>
            <a:r>
              <a:rPr lang="en-US" altLang="zh-CN" sz="1400" dirty="0"/>
              <a:t>Mark-Compact</a:t>
            </a:r>
            <a:r>
              <a:rPr lang="zh-CN" altLang="en-US" sz="1400" dirty="0"/>
              <a:t>） </a:t>
            </a:r>
            <a:endParaRPr lang="en-US" altLang="zh-CN" sz="1400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分代收集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454" y="2731956"/>
            <a:ext cx="4150221" cy="2099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59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678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800" dirty="0" smtClean="0"/>
              <a:t>GC</a:t>
            </a:r>
            <a:r>
              <a:rPr lang="zh-CN" altLang="en-US" sz="2800" dirty="0" smtClean="0"/>
              <a:t>回收器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64" y="514114"/>
            <a:ext cx="3785977" cy="43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292083" y="66775"/>
            <a:ext cx="49448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Serial </a:t>
            </a:r>
            <a:r>
              <a:rPr lang="en-US" altLang="zh-CN" dirty="0">
                <a:solidFill>
                  <a:srgbClr val="FF0000"/>
                </a:solidFill>
              </a:rPr>
              <a:t>GC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UseSerialGC</a:t>
            </a:r>
            <a:endParaRPr lang="en-US" altLang="zh-CN" dirty="0"/>
          </a:p>
          <a:p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Parallel </a:t>
            </a:r>
            <a:r>
              <a:rPr lang="en-US" altLang="zh-CN" dirty="0">
                <a:solidFill>
                  <a:srgbClr val="FF0000"/>
                </a:solidFill>
              </a:rPr>
              <a:t>GC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UseParallelGC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</a:t>
            </a:r>
            <a:r>
              <a:rPr lang="en-US" altLang="zh-CN" dirty="0" err="1"/>
              <a:t>XX:ParallelGCThreads</a:t>
            </a:r>
            <a:r>
              <a:rPr lang="en-US" altLang="zh-CN" dirty="0"/>
              <a:t>=value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Parallel </a:t>
            </a:r>
            <a:r>
              <a:rPr lang="en-US" altLang="zh-CN" dirty="0">
                <a:solidFill>
                  <a:srgbClr val="FF0000"/>
                </a:solidFill>
              </a:rPr>
              <a:t>Compacting GC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UseParallelOldGC</a:t>
            </a:r>
            <a:endParaRPr lang="en-US" altLang="zh-CN" dirty="0"/>
          </a:p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CMS </a:t>
            </a:r>
            <a:r>
              <a:rPr lang="en-US" altLang="zh-CN" dirty="0">
                <a:solidFill>
                  <a:srgbClr val="FF0000"/>
                </a:solidFill>
              </a:rPr>
              <a:t>GC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UseConcMarkSweepGC</a:t>
            </a:r>
            <a:r>
              <a:rPr lang="en-US" altLang="zh-CN" dirty="0"/>
              <a:t>​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UseParNewGC</a:t>
            </a:r>
            <a:r>
              <a:rPr lang="en-US" altLang="zh-CN" dirty="0"/>
              <a:t>​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CMSParallelRemarkEnabled</a:t>
            </a:r>
            <a:endParaRPr lang="en-US" altLang="zh-CN" dirty="0"/>
          </a:p>
          <a:p>
            <a:r>
              <a:rPr lang="en-US" altLang="zh-CN" dirty="0"/>
              <a:t>​-</a:t>
            </a:r>
            <a:r>
              <a:rPr lang="en-US" altLang="zh-CN" dirty="0" err="1"/>
              <a:t>XX:CMSInitiatingOccupancyFraction</a:t>
            </a:r>
            <a:r>
              <a:rPr lang="en-US" altLang="zh-CN" dirty="0"/>
              <a:t>=value​</a:t>
            </a:r>
          </a:p>
          <a:p>
            <a:r>
              <a:rPr lang="en-US" altLang="zh-CN" dirty="0"/>
              <a:t>-XX:+</a:t>
            </a:r>
            <a:r>
              <a:rPr lang="en-US" altLang="zh-CN" dirty="0" err="1"/>
              <a:t>UseCMSInitiatingOccupancyOnly</a:t>
            </a:r>
            <a:endParaRPr lang="en-US" altLang="zh-CN" dirty="0"/>
          </a:p>
          <a:p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G1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-XX:+</a:t>
            </a:r>
            <a:r>
              <a:rPr lang="en-US" altLang="zh-CN" dirty="0" err="1"/>
              <a:t>UnlockExperimentalVMOptions</a:t>
            </a:r>
            <a:r>
              <a:rPr lang="en-US" altLang="zh-CN" dirty="0"/>
              <a:t>​ -XX:+UseG1GC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ZGC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-XX:+</a:t>
            </a:r>
            <a:r>
              <a:rPr lang="en-US" altLang="zh-CN" dirty="0" err="1"/>
              <a:t>UnlockExperimentalVMOptions</a:t>
            </a:r>
            <a:r>
              <a:rPr lang="en-US" altLang="zh-CN" dirty="0"/>
              <a:t> -XX:+</a:t>
            </a:r>
            <a:r>
              <a:rPr lang="en-US" altLang="zh-CN" dirty="0" err="1"/>
              <a:t>UseZGC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83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678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800" dirty="0" smtClean="0"/>
              <a:t>GC</a:t>
            </a:r>
            <a:r>
              <a:rPr lang="zh-CN" altLang="en-US" sz="2800" dirty="0" smtClean="0"/>
              <a:t>回收器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24" y="1276400"/>
            <a:ext cx="5210175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798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调优的目的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664" y="1511217"/>
            <a:ext cx="45095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、将</a:t>
            </a:r>
            <a:r>
              <a:rPr lang="zh-CN" altLang="en-US" dirty="0"/>
              <a:t>转移到老年代的对象数量降到最少 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、减少</a:t>
            </a:r>
            <a:r>
              <a:rPr lang="en-US" altLang="zh-CN" dirty="0"/>
              <a:t>Full GC</a:t>
            </a:r>
            <a:r>
              <a:rPr lang="zh-CN" altLang="en-US" dirty="0"/>
              <a:t>的执行时间 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26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781175"/>
            <a:ext cx="50482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26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日志输出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664" y="1168388"/>
            <a:ext cx="71826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 smtClean="0"/>
              <a:t>-</a:t>
            </a:r>
            <a:r>
              <a:rPr lang="en-US" altLang="zh-CN" dirty="0"/>
              <a:t>XX:+</a:t>
            </a:r>
            <a:r>
              <a:rPr lang="en-US" altLang="zh-CN" dirty="0" err="1"/>
              <a:t>PrintGCDetails</a:t>
            </a:r>
            <a:r>
              <a:rPr lang="en-US" altLang="zh-CN" dirty="0"/>
              <a:t>   // </a:t>
            </a:r>
            <a:r>
              <a:rPr lang="zh-CN" altLang="en-US" dirty="0"/>
              <a:t>输出</a:t>
            </a:r>
            <a:r>
              <a:rPr lang="en-US" altLang="zh-CN" dirty="0"/>
              <a:t>GC</a:t>
            </a:r>
            <a:r>
              <a:rPr lang="zh-CN" altLang="en-US" dirty="0"/>
              <a:t>的详细日志             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 smtClean="0"/>
              <a:t>-</a:t>
            </a:r>
            <a:r>
              <a:rPr lang="en-US" altLang="zh-CN" dirty="0"/>
              <a:t>XX:+</a:t>
            </a:r>
            <a:r>
              <a:rPr lang="en-US" altLang="zh-CN" dirty="0" err="1"/>
              <a:t>PrintGCDateStamps</a:t>
            </a:r>
            <a:r>
              <a:rPr lang="en-US" altLang="zh-CN" dirty="0"/>
              <a:t> // </a:t>
            </a:r>
            <a:r>
              <a:rPr lang="zh-CN" altLang="en-US" dirty="0"/>
              <a:t>输出</a:t>
            </a:r>
            <a:r>
              <a:rPr lang="en-US" altLang="zh-CN" dirty="0"/>
              <a:t>GC</a:t>
            </a:r>
            <a:r>
              <a:rPr lang="zh-CN" altLang="en-US" dirty="0"/>
              <a:t>的时间戳（以日期的形式） 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dirty="0" smtClean="0"/>
              <a:t>-</a:t>
            </a:r>
            <a:r>
              <a:rPr lang="en-US" altLang="zh-CN" dirty="0" err="1"/>
              <a:t>Xloggc:gc.log</a:t>
            </a:r>
            <a:r>
              <a:rPr lang="en-US" altLang="zh-CN" dirty="0"/>
              <a:t>  // </a:t>
            </a:r>
            <a:r>
              <a:rPr lang="zh-CN" altLang="en-US" dirty="0"/>
              <a:t>输出</a:t>
            </a:r>
            <a:r>
              <a:rPr lang="en-US" altLang="zh-CN" dirty="0"/>
              <a:t>GC</a:t>
            </a:r>
            <a:r>
              <a:rPr lang="zh-CN" altLang="en-US" dirty="0"/>
              <a:t>的详细</a:t>
            </a:r>
            <a:r>
              <a:rPr lang="zh-CN" altLang="en-US" dirty="0" smtClean="0"/>
              <a:t>日志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43298" y="3040596"/>
            <a:ext cx="30104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// </a:t>
            </a:r>
            <a:r>
              <a:rPr lang="zh-CN" altLang="en-US" dirty="0" smtClean="0"/>
              <a:t>输出</a:t>
            </a:r>
            <a:r>
              <a:rPr lang="en-US" altLang="zh-CN" dirty="0" err="1" smtClean="0"/>
              <a:t>fgc</a:t>
            </a:r>
            <a:r>
              <a:rPr lang="zh-CN" altLang="en-US" dirty="0" smtClean="0"/>
              <a:t>前后的日志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-</a:t>
            </a:r>
            <a:r>
              <a:rPr lang="en-US" altLang="zh-CN" dirty="0"/>
              <a:t>XX:+</a:t>
            </a:r>
            <a:r>
              <a:rPr lang="en-US" altLang="zh-CN" dirty="0" err="1"/>
              <a:t>HeapDumpBeforeFullGC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-</a:t>
            </a:r>
            <a:r>
              <a:rPr lang="en-US" altLang="zh-CN" dirty="0"/>
              <a:t>XX:+</a:t>
            </a:r>
            <a:r>
              <a:rPr lang="en-US" altLang="zh-CN" dirty="0" err="1"/>
              <a:t>HeapDumpAfterFullGC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-</a:t>
            </a:r>
            <a:r>
              <a:rPr lang="en-US" altLang="zh-CN" dirty="0" err="1" smtClean="0"/>
              <a:t>XX:HeapDumpPath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fgc.dump</a:t>
            </a:r>
            <a:r>
              <a:rPr lang="en-US" altLang="zh-CN" dirty="0" smtClean="0"/>
              <a:t>​​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26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常用工具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5596" y="1205493"/>
            <a:ext cx="58326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、命令行分析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/>
              <a:t>j</a:t>
            </a:r>
            <a:r>
              <a:rPr lang="en-US" altLang="zh-CN" dirty="0" err="1" smtClean="0"/>
              <a:t>stack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/>
              <a:t>j</a:t>
            </a:r>
            <a:r>
              <a:rPr lang="en-US" altLang="zh-CN" dirty="0" err="1" smtClean="0"/>
              <a:t>map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 smtClean="0"/>
              <a:t>jstat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、可视化</a:t>
            </a:r>
            <a:r>
              <a:rPr lang="zh-CN" altLang="en-US" dirty="0"/>
              <a:t>分析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/>
              <a:t>j</a:t>
            </a:r>
            <a:r>
              <a:rPr lang="en-US" altLang="zh-CN" dirty="0" err="1" smtClean="0"/>
              <a:t>console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 smtClean="0"/>
              <a:t>VisualVM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 smtClean="0"/>
              <a:t>Jprofiler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 smtClean="0"/>
              <a:t>、静态日志分析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smtClean="0"/>
              <a:t>MAT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/>
              <a:t>GChisto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GC </a:t>
            </a:r>
            <a:r>
              <a:rPr lang="en-US" altLang="zh-CN" dirty="0" smtClean="0"/>
              <a:t>Easy</a:t>
            </a:r>
            <a:r>
              <a:rPr lang="zh-CN" altLang="en-US" dirty="0" smtClean="0"/>
              <a:t>（</a:t>
            </a:r>
            <a:r>
              <a:rPr lang="en-US" altLang="zh-CN" u="sng" dirty="0" smtClean="0">
                <a:hlinkClick r:id="rId4"/>
              </a:rPr>
              <a:t>http</a:t>
            </a:r>
            <a:r>
              <a:rPr lang="en-US" altLang="zh-CN" u="sng" dirty="0">
                <a:hlinkClick r:id="rId4"/>
              </a:rPr>
              <a:t>://</a:t>
            </a:r>
            <a:r>
              <a:rPr lang="en-US" altLang="zh-CN" u="sng" dirty="0" smtClean="0">
                <a:hlinkClick r:id="rId4"/>
              </a:rPr>
              <a:t>gceasy.io</a:t>
            </a:r>
            <a:r>
              <a:rPr lang="zh-CN" altLang="en-US" u="sng" dirty="0" smtClean="0"/>
              <a:t>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/>
              <a:t>gcviewer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981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/>
              <a:t>调优</a:t>
            </a:r>
            <a:r>
              <a:rPr lang="zh-CN" altLang="en-US" sz="2800" dirty="0" smtClean="0"/>
              <a:t>流程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664" y="1528428"/>
            <a:ext cx="45464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监控</a:t>
            </a:r>
            <a:r>
              <a:rPr lang="en-US" altLang="zh-CN" dirty="0"/>
              <a:t>GC</a:t>
            </a:r>
            <a:r>
              <a:rPr lang="zh-CN" altLang="en-US" dirty="0"/>
              <a:t>状态 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分析</a:t>
            </a:r>
            <a:r>
              <a:rPr lang="zh-CN" altLang="en-US" dirty="0"/>
              <a:t>监控结果后，决定是否进行</a:t>
            </a:r>
            <a:r>
              <a:rPr lang="en-US" altLang="zh-CN" dirty="0"/>
              <a:t>GC</a:t>
            </a:r>
            <a:r>
              <a:rPr lang="zh-CN" altLang="en-US" dirty="0"/>
              <a:t>优化 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调整</a:t>
            </a:r>
            <a:r>
              <a:rPr lang="en-US" altLang="zh-CN" dirty="0"/>
              <a:t>GC</a:t>
            </a:r>
            <a:r>
              <a:rPr lang="zh-CN" altLang="en-US" dirty="0"/>
              <a:t>类型</a:t>
            </a:r>
            <a:r>
              <a:rPr lang="en-US" altLang="zh-CN" dirty="0"/>
              <a:t>/</a:t>
            </a:r>
            <a:r>
              <a:rPr lang="zh-CN" altLang="en-US" dirty="0"/>
              <a:t>内存</a:t>
            </a:r>
            <a:r>
              <a:rPr lang="zh-CN" altLang="en-US" dirty="0" smtClean="0"/>
              <a:t>空间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分析</a:t>
            </a:r>
            <a:r>
              <a:rPr lang="zh-CN" altLang="en-US" dirty="0"/>
              <a:t>结果 </a:t>
            </a:r>
          </a:p>
        </p:txBody>
      </p:sp>
    </p:spTree>
    <p:extLst>
      <p:ext uri="{BB962C8B-B14F-4D97-AF65-F5344CB8AC3E}">
        <p14:creationId xmlns:p14="http://schemas.microsoft.com/office/powerpoint/2010/main" val="42539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常见异常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664" y="1528428"/>
            <a:ext cx="52848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/>
              <a:t>OutOfMemoryError:java</a:t>
            </a:r>
            <a:r>
              <a:rPr lang="en-US" altLang="zh-CN" dirty="0"/>
              <a:t> heap </a:t>
            </a:r>
            <a:r>
              <a:rPr lang="en-US" altLang="zh-CN" dirty="0" smtClean="0"/>
              <a:t>space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/>
              <a:t>OutOfMemoryError</a:t>
            </a:r>
            <a:r>
              <a:rPr lang="en-US" altLang="zh-CN" dirty="0"/>
              <a:t>: </a:t>
            </a:r>
            <a:r>
              <a:rPr lang="en-US" altLang="zh-CN" dirty="0" err="1"/>
              <a:t>PermGen</a:t>
            </a:r>
            <a:r>
              <a:rPr lang="en-US" altLang="zh-CN" dirty="0"/>
              <a:t> </a:t>
            </a:r>
            <a:r>
              <a:rPr lang="en-US" altLang="zh-CN" dirty="0" smtClean="0"/>
              <a:t>space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/>
              <a:t>OutOfMemoryError:unable</a:t>
            </a:r>
            <a:r>
              <a:rPr lang="en-US" altLang="zh-CN" dirty="0"/>
              <a:t> to create native </a:t>
            </a:r>
            <a:r>
              <a:rPr lang="en-US" altLang="zh-CN" dirty="0" smtClean="0"/>
              <a:t>thread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/>
              <a:t>StackOverflowError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725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3506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案例分析</a:t>
            </a:r>
            <a:r>
              <a:rPr lang="en-US" altLang="zh-CN" sz="2800" dirty="0" smtClean="0"/>
              <a:t>-Tomcat</a:t>
            </a:r>
            <a:r>
              <a:rPr lang="zh-CN" altLang="en-US" sz="2800" dirty="0" smtClean="0"/>
              <a:t>调优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40396"/>
            <a:ext cx="76415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、内存优化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根据服务器的实际情况配置相关参数（位于</a:t>
            </a:r>
            <a:r>
              <a:rPr lang="en-US" altLang="zh-CN" dirty="0"/>
              <a:t>bin/catalina.bat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r>
              <a:rPr lang="zh-CN" altLang="en-US" dirty="0" smtClean="0"/>
              <a:t>如：</a:t>
            </a:r>
            <a:r>
              <a:rPr lang="en-US" altLang="zh-CN" dirty="0"/>
              <a:t>set "JAVA_OPTS=%JAVA_OPTS% -server -Xms64m -Xmx64m -</a:t>
            </a:r>
            <a:r>
              <a:rPr lang="en-US" altLang="zh-CN" dirty="0" err="1"/>
              <a:t>Xloggc:gc.log</a:t>
            </a:r>
            <a:r>
              <a:rPr lang="en-US" altLang="zh-CN" dirty="0"/>
              <a:t>"</a:t>
            </a:r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52564"/>
            <a:ext cx="8532948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017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3506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案例分析</a:t>
            </a:r>
            <a:r>
              <a:rPr lang="en-US" altLang="zh-CN" sz="2800" dirty="0" smtClean="0"/>
              <a:t>-Tomcat</a:t>
            </a:r>
            <a:r>
              <a:rPr lang="zh-CN" altLang="en-US" sz="2800" dirty="0" smtClean="0"/>
              <a:t>调优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664" y="1456420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ab</a:t>
            </a:r>
            <a:r>
              <a:rPr lang="zh-CN" altLang="en-US" dirty="0" smtClean="0"/>
              <a:t>工具进行性能测试。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64" y="1960476"/>
            <a:ext cx="59626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52278"/>
            <a:ext cx="7210405" cy="466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79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3506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案例分析</a:t>
            </a:r>
            <a:r>
              <a:rPr lang="en-US" altLang="zh-CN" sz="2800" dirty="0" smtClean="0"/>
              <a:t>-Tomcat</a:t>
            </a:r>
            <a:r>
              <a:rPr lang="zh-CN" altLang="en-US" sz="2800" dirty="0" smtClean="0"/>
              <a:t>调优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3298" y="1384412"/>
            <a:ext cx="30727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、线程优化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配置文件位于 </a:t>
            </a:r>
            <a:r>
              <a:rPr lang="en-US" altLang="zh-CN" dirty="0" err="1"/>
              <a:t>conf</a:t>
            </a:r>
            <a:r>
              <a:rPr lang="en-US" altLang="zh-CN" dirty="0"/>
              <a:t>/server.xml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3" y="2536540"/>
            <a:ext cx="6939416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84" y="335357"/>
            <a:ext cx="6782240" cy="4533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64" y="477742"/>
            <a:ext cx="8071339" cy="424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686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3506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 smtClean="0"/>
              <a:t>案例分析</a:t>
            </a:r>
            <a:r>
              <a:rPr lang="en-US" altLang="zh-CN" sz="2800" dirty="0" smtClean="0"/>
              <a:t>-Tomcat</a:t>
            </a:r>
            <a:r>
              <a:rPr lang="zh-CN" altLang="en-US" sz="2800" dirty="0" smtClean="0"/>
              <a:t>调优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3298" y="1456420"/>
            <a:ext cx="21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、静态</a:t>
            </a:r>
            <a:r>
              <a:rPr lang="en-US" altLang="zh-CN" dirty="0" smtClean="0"/>
              <a:t>GC</a:t>
            </a:r>
            <a:r>
              <a:rPr lang="zh-CN" altLang="en-US" dirty="0" smtClean="0"/>
              <a:t>日志分析</a:t>
            </a:r>
            <a:endParaRPr lang="en-US" altLang="zh-CN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64" y="2068488"/>
            <a:ext cx="54578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17521"/>
            <a:ext cx="8712219" cy="4292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59" y="495219"/>
            <a:ext cx="8192398" cy="439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686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7584" y="55632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800" dirty="0"/>
              <a:t>总结</a:t>
            </a:r>
            <a:endParaRPr lang="zh-CN" altLang="en-US" sz="2800" dirty="0"/>
          </a:p>
        </p:txBody>
      </p:sp>
      <p:sp>
        <p:nvSpPr>
          <p:cNvPr id="3" name="燕尾形 2"/>
          <p:cNvSpPr/>
          <p:nvPr/>
        </p:nvSpPr>
        <p:spPr>
          <a:xfrm>
            <a:off x="521664" y="700336"/>
            <a:ext cx="243268" cy="276207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4932" y="1420416"/>
            <a:ext cx="828784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切记，具体环境具体分析！</a:t>
            </a:r>
            <a:endParaRPr lang="en-US" altLang="zh-CN" dirty="0" smtClean="0"/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1</a:t>
            </a:r>
            <a:r>
              <a:rPr lang="zh-CN" altLang="en-US" dirty="0" smtClean="0"/>
              <a:t>、优化代码、算法及设计模式。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、自下而上的查找分析问题，从操作系统的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、内存、</a:t>
            </a:r>
            <a:r>
              <a:rPr lang="en-US" altLang="zh-CN" dirty="0" smtClean="0"/>
              <a:t>IO</a:t>
            </a:r>
            <a:r>
              <a:rPr lang="zh-CN" altLang="en-US" dirty="0" smtClean="0"/>
              <a:t>、网络使用率出发，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通过命令分析异常日志；再到具体的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应用进程，再深入到</a:t>
            </a:r>
            <a:r>
              <a:rPr lang="en-US" altLang="zh-CN" dirty="0" smtClean="0"/>
              <a:t>JVM</a:t>
            </a:r>
            <a:r>
              <a:rPr lang="zh-CN" altLang="en-US" dirty="0" smtClean="0"/>
              <a:t>层面，查看</a:t>
            </a:r>
            <a:r>
              <a:rPr lang="en-US" altLang="zh-CN" dirty="0" smtClean="0"/>
              <a:t>GC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/>
              <a:t>频率、内存分配及异常日志。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3</a:t>
            </a:r>
            <a:r>
              <a:rPr lang="zh-CN" altLang="en-US" dirty="0" smtClean="0"/>
              <a:t>、注意数据的移动（互联网架构的本质）！！！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686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    _16">
            <a:extLst>
              <a:ext uri="{FF2B5EF4-FFF2-40B4-BE49-F238E27FC236}">
                <a16:creationId xmlns:a16="http://schemas.microsoft.com/office/drawing/2014/main" xmlns="" id="{B7414C7D-9768-4326-BC62-D3CF9053F9F5}"/>
              </a:ext>
            </a:extLst>
          </p:cNvPr>
          <p:cNvSpPr txBox="1"/>
          <p:nvPr/>
        </p:nvSpPr>
        <p:spPr>
          <a:xfrm>
            <a:off x="467544" y="2711307"/>
            <a:ext cx="4848222" cy="395108"/>
          </a:xfrm>
          <a:prstGeom prst="rect">
            <a:avLst/>
          </a:prstGeom>
          <a:noFill/>
          <a:effectLst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Q&amp;A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原创设计师QQ598969553                 _15">
            <a:extLst>
              <a:ext uri="{FF2B5EF4-FFF2-40B4-BE49-F238E27FC236}">
                <a16:creationId xmlns:a16="http://schemas.microsoft.com/office/drawing/2014/main" xmlns="" id="{9574D58F-4B08-455D-8754-10C9A2C0E3AF}"/>
              </a:ext>
            </a:extLst>
          </p:cNvPr>
          <p:cNvSpPr/>
          <p:nvPr/>
        </p:nvSpPr>
        <p:spPr>
          <a:xfrm>
            <a:off x="467544" y="3472644"/>
            <a:ext cx="2978540" cy="25248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赵东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日期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1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1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原创设计师QQ598969553                 _16">
            <a:extLst>
              <a:ext uri="{FF2B5EF4-FFF2-40B4-BE49-F238E27FC236}">
                <a16:creationId xmlns:a16="http://schemas.microsoft.com/office/drawing/2014/main" xmlns="" id="{478BBA3F-5FCF-49AA-B269-04B731FA75DF}"/>
              </a:ext>
            </a:extLst>
          </p:cNvPr>
          <p:cNvSpPr txBox="1"/>
          <p:nvPr/>
        </p:nvSpPr>
        <p:spPr>
          <a:xfrm>
            <a:off x="467544" y="670044"/>
            <a:ext cx="2844316" cy="354328"/>
          </a:xfrm>
          <a:prstGeom prst="rect">
            <a:avLst/>
          </a:prstGeom>
          <a:noFill/>
          <a:effectLst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美的集团 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金融中心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259">
            <a:extLst>
              <a:ext uri="{FF2B5EF4-FFF2-40B4-BE49-F238E27FC236}">
                <a16:creationId xmlns:a16="http://schemas.microsoft.com/office/drawing/2014/main" xmlns="" id="{7DFA17FA-3D29-4B64-81C0-362F78C55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672444"/>
            <a:ext cx="716479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4000" cap="all" dirty="0" smtClean="0">
                <a:solidFill>
                  <a:schemeClr val="accent1"/>
                </a:solidFill>
                <a:cs typeface="Arial" panose="020B0604020202020204" pitchFamily="34" charset="0"/>
              </a:rPr>
              <a:t>谢谢</a:t>
            </a:r>
            <a:r>
              <a:rPr lang="en-US" altLang="zh-CN" sz="4000" cap="all" dirty="0" smtClean="0">
                <a:solidFill>
                  <a:schemeClr val="accent1"/>
                </a:solidFill>
                <a:cs typeface="Arial" panose="020B0604020202020204" pitchFamily="34" charset="0"/>
              </a:rPr>
              <a:t>~~~</a:t>
            </a:r>
            <a:endParaRPr lang="en-US" altLang="zh-CN" sz="4000" cap="all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86551" y="0"/>
            <a:ext cx="1172206" cy="51411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90"/>
          <a:stretch/>
        </p:blipFill>
        <p:spPr>
          <a:xfrm>
            <a:off x="7596336" y="196280"/>
            <a:ext cx="1162421" cy="32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9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自定义 6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1E76BD"/>
      </a:accent1>
      <a:accent2>
        <a:srgbClr val="2395CF"/>
      </a:accent2>
      <a:accent3>
        <a:srgbClr val="1E76BD"/>
      </a:accent3>
      <a:accent4>
        <a:srgbClr val="2395CF"/>
      </a:accent4>
      <a:accent5>
        <a:srgbClr val="1E76BD"/>
      </a:accent5>
      <a:accent6>
        <a:srgbClr val="2395CF"/>
      </a:accent6>
      <a:hlink>
        <a:srgbClr val="AD1F1F"/>
      </a:hlink>
      <a:folHlink>
        <a:srgbClr val="FFC42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3777</TotalTime>
  <Words>763</Words>
  <Application>Microsoft Office PowerPoint</Application>
  <PresentationFormat>自定义</PresentationFormat>
  <Paragraphs>158</Paragraphs>
  <Slides>22</Slides>
  <Notes>19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赵东</cp:lastModifiedBy>
  <cp:revision>389</cp:revision>
  <dcterms:created xsi:type="dcterms:W3CDTF">2017-06-17T13:16:52Z</dcterms:created>
  <dcterms:modified xsi:type="dcterms:W3CDTF">2019-06-18T08:34:58Z</dcterms:modified>
</cp:coreProperties>
</file>
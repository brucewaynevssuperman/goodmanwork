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3"/>
  </p:notesMasterIdLst>
  <p:sldIdLst>
    <p:sldId id="257" r:id="rId2"/>
    <p:sldId id="279" r:id="rId3"/>
    <p:sldId id="259" r:id="rId4"/>
    <p:sldId id="305" r:id="rId5"/>
    <p:sldId id="306" r:id="rId6"/>
    <p:sldId id="258" r:id="rId7"/>
    <p:sldId id="270" r:id="rId8"/>
    <p:sldId id="277" r:id="rId9"/>
    <p:sldId id="297" r:id="rId10"/>
    <p:sldId id="261" r:id="rId11"/>
    <p:sldId id="266" r:id="rId12"/>
    <p:sldId id="267" r:id="rId13"/>
    <p:sldId id="262" r:id="rId14"/>
    <p:sldId id="304" r:id="rId15"/>
    <p:sldId id="295" r:id="rId16"/>
    <p:sldId id="293" r:id="rId17"/>
    <p:sldId id="294" r:id="rId18"/>
    <p:sldId id="290" r:id="rId19"/>
    <p:sldId id="296" r:id="rId20"/>
    <p:sldId id="291" r:id="rId21"/>
    <p:sldId id="280" r:id="rId22"/>
    <p:sldId id="263" r:id="rId23"/>
    <p:sldId id="281" r:id="rId24"/>
    <p:sldId id="282" r:id="rId25"/>
    <p:sldId id="283" r:id="rId26"/>
    <p:sldId id="292" r:id="rId27"/>
    <p:sldId id="301" r:id="rId28"/>
    <p:sldId id="302" r:id="rId29"/>
    <p:sldId id="300" r:id="rId30"/>
    <p:sldId id="303" r:id="rId31"/>
    <p:sldId id="265" r:id="rId32"/>
  </p:sldIdLst>
  <p:sldSz cx="9144000" cy="5143500" type="screen16x9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9592" autoAdjust="0"/>
  </p:normalViewPr>
  <p:slideViewPr>
    <p:cSldViewPr>
      <p:cViewPr>
        <p:scale>
          <a:sx n="100" d="100"/>
          <a:sy n="100" d="100"/>
        </p:scale>
        <p:origin x="-504" y="-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42.wmf"/><Relationship Id="rId1" Type="http://schemas.openxmlformats.org/officeDocument/2006/relationships/image" Target="../media/image41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EA0961-6C76-4CC7-842B-6100ADB6029B}" type="datetimeFigureOut">
              <a:rPr lang="zh-CN" altLang="en-US" smtClean="0"/>
              <a:t>2018-1-2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9F1742-3546-4E4B-A723-1F6BFABF79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93431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baike.baidu.com/item/%E8%B7%AF%E7%94%B1%E5%8D%8F%E8%AE%AE" TargetMode="External"/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946772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382636" rtl="0" eaLnBrk="1" fontAlgn="auto" latinLnBrk="0" hangingPunct="1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946772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382636" rtl="0" eaLnBrk="1" fontAlgn="auto" latinLnBrk="0" hangingPunct="1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400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OpenDCP</a:t>
            </a:r>
            <a:endParaRPr lang="en-US" altLang="zh-CN" sz="1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indent="0" algn="l" defTabSz="382636" rtl="0" eaLnBrk="1" fontAlgn="auto" latinLnBrk="0" hangingPunct="1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来总：新浪微博副总裁王高飞</a:t>
            </a:r>
            <a:endParaRPr lang="en-US" altLang="zh-CN" sz="1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indent="0" algn="l" defTabSz="382636" rtl="0" eaLnBrk="1" fontAlgn="auto" latinLnBrk="0" hangingPunct="1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946772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382636" rtl="0" eaLnBrk="1" fontAlgn="auto" latinLnBrk="0" hangingPunct="1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http://mp.weixin.qq.com/s/mQPXdpnxR8cdjCerGxCfcA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946772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382636" rtl="0" eaLnBrk="1" fontAlgn="auto" latinLnBrk="0" hangingPunct="1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946772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382636" rtl="0" eaLnBrk="1" fontAlgn="auto" latinLnBrk="0" hangingPunct="1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946772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382636" rtl="0" eaLnBrk="1" fontAlgn="auto" latinLnBrk="0" hangingPunct="1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9467728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382636" rtl="0" eaLnBrk="1" fontAlgn="auto" latinLnBrk="0" hangingPunct="1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9467728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382636" rtl="0" eaLnBrk="1" fontAlgn="auto" latinLnBrk="0" hangingPunct="1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基于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DNS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实现、基于重定向实现、基于</a:t>
            </a:r>
            <a:r>
              <a:rPr lang="zh-CN" altLang="en-US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路由协议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实现。</a:t>
            </a:r>
            <a:endParaRPr lang="en-US" altLang="zh-CN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382636" rtl="0" eaLnBrk="1" fontAlgn="auto" latinLnBrk="0" hangingPunct="1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382636" rtl="0" eaLnBrk="1" fontAlgn="auto" latinLnBrk="0" hangingPunct="1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所有有多个站点的系统，最常见的是在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CDN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系统中作为核心的流量调度系统。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CND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是任播技术（</a:t>
            </a:r>
            <a:r>
              <a:rPr lang="en-US" altLang="zh-CN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anycast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）的一种实现，以就近原则进行负载分流。</a:t>
            </a:r>
            <a:endParaRPr lang="en-US" altLang="zh-CN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382636" rtl="0" eaLnBrk="1" fontAlgn="auto" latinLnBrk="0" hangingPunct="1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382636" rtl="0" eaLnBrk="1" fontAlgn="auto" latinLnBrk="0" hangingPunct="1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WEB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代理如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squid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、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WEB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缓存如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varnish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非重点。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9467728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382636" rtl="0" eaLnBrk="1" fontAlgn="auto" latinLnBrk="0" hangingPunct="1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三个部分组成：</a:t>
            </a:r>
            <a:endParaRPr lang="en-US" altLang="zh-CN" sz="1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indent="0" algn="l" defTabSz="382636" rtl="0" eaLnBrk="1" fontAlgn="auto" latinLnBrk="0" hangingPunct="1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Load Balancer</a:t>
            </a:r>
          </a:p>
          <a:p>
            <a:pPr marL="0" marR="0" indent="0" algn="l" defTabSz="382636" rtl="0" eaLnBrk="1" fontAlgn="auto" latinLnBrk="0" hangingPunct="1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Server Array</a:t>
            </a:r>
          </a:p>
          <a:p>
            <a:pPr marL="0" marR="0" indent="0" algn="l" defTabSz="382636" rtl="0" eaLnBrk="1" fontAlgn="auto" latinLnBrk="0" hangingPunct="1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Shared Storage</a:t>
            </a:r>
          </a:p>
        </p:txBody>
      </p:sp>
    </p:spTree>
    <p:extLst>
      <p:ext uri="{BB962C8B-B14F-4D97-AF65-F5344CB8AC3E}">
        <p14:creationId xmlns:p14="http://schemas.microsoft.com/office/powerpoint/2010/main" val="279467728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382636" rtl="0" eaLnBrk="1" fontAlgn="auto" latinLnBrk="0" hangingPunct="1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From &lt;Complete NGINX Cookbook&gt;</a:t>
            </a:r>
          </a:p>
          <a:p>
            <a:pPr marL="0" marR="0" indent="0" algn="l" defTabSz="382636" rtl="0" eaLnBrk="1" fontAlgn="auto" latinLnBrk="0" hangingPunct="1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indent="0" algn="l" defTabSz="382636" rtl="0" eaLnBrk="1" fontAlgn="auto" latinLnBrk="0" hangingPunct="1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Round </a:t>
            </a:r>
            <a:r>
              <a:rPr lang="en-US" altLang="zh-CN" sz="1400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robin:default</a:t>
            </a:r>
            <a:endParaRPr lang="en-US" altLang="zh-CN" sz="1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indent="0" algn="l" defTabSz="382636" rtl="0" eaLnBrk="1" fontAlgn="auto" latinLnBrk="0" hangingPunct="1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Least </a:t>
            </a:r>
            <a:r>
              <a:rPr lang="en-US" altLang="zh-CN" sz="1400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connections:least_conn</a:t>
            </a:r>
            <a:endParaRPr lang="en-US" altLang="zh-CN" sz="1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indent="0" algn="l" defTabSz="382636" rtl="0" eaLnBrk="1" fontAlgn="auto" latinLnBrk="0" hangingPunct="1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Least </a:t>
            </a:r>
            <a:r>
              <a:rPr lang="en-US" altLang="zh-CN" sz="1400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time:least_time</a:t>
            </a:r>
            <a:endParaRPr lang="en-US" altLang="zh-CN" sz="1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indent="0" algn="l" defTabSz="382636" rtl="0" eaLnBrk="1" fontAlgn="auto" latinLnBrk="0" hangingPunct="1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Generic </a:t>
            </a:r>
            <a:r>
              <a:rPr lang="en-US" altLang="zh-CN" sz="1400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hash:hash</a:t>
            </a:r>
            <a:endParaRPr lang="en-US" altLang="zh-CN" sz="1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indent="0" algn="l" defTabSz="382636" rtl="0" eaLnBrk="1" fontAlgn="auto" latinLnBrk="0" hangingPunct="1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IP </a:t>
            </a:r>
            <a:r>
              <a:rPr lang="en-US" altLang="zh-CN" sz="1400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hash:ip_hash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9467728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382636" rtl="0" eaLnBrk="1" fontAlgn="auto" latinLnBrk="0" hangingPunct="1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9467728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9F1742-3546-4E4B-A723-1F6BFABF791D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313181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382636" rtl="0" eaLnBrk="1" fontAlgn="auto" latinLnBrk="0" hangingPunct="1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9467728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382636" rtl="0" eaLnBrk="1" fontAlgn="auto" latinLnBrk="0" hangingPunct="1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9467728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382636" rtl="0" eaLnBrk="1" fontAlgn="auto" latinLnBrk="0" hangingPunct="1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9467728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382636" rtl="0" eaLnBrk="1" fontAlgn="auto" latinLnBrk="0" hangingPunct="1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9467728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382636" rtl="0" eaLnBrk="1" fontAlgn="auto" latinLnBrk="0" hangingPunct="1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Reference:《</a:t>
            </a:r>
            <a:r>
              <a:rPr lang="en-US" altLang="zh-CN" sz="1400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redis</a:t>
            </a: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设计与实现</a:t>
            </a:r>
            <a:r>
              <a:rPr lang="en-US" altLang="zh-CN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</a:p>
          <a:p>
            <a:pPr marL="0" marR="0" indent="0" algn="l" defTabSz="382636" rtl="0" eaLnBrk="1" fontAlgn="auto" latinLnBrk="0" hangingPunct="1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3.0</a:t>
            </a: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开始支持</a:t>
            </a:r>
            <a:r>
              <a:rPr lang="en-US" altLang="zh-CN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cluster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9467728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382636" rtl="0" eaLnBrk="1" fontAlgn="auto" latinLnBrk="0" hangingPunct="1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400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Twitter:Twemproxy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9467728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400" dirty="0" err="1" smtClean="0">
                <a:latin typeface="微软雅黑" pitchFamily="34" charset="-122"/>
                <a:ea typeface="微软雅黑" pitchFamily="34" charset="-122"/>
              </a:rPr>
              <a:t>Galera</a:t>
            </a:r>
            <a:r>
              <a:rPr lang="en-US" altLang="zh-CN" sz="1400" dirty="0" smtClean="0">
                <a:latin typeface="微软雅黑" pitchFamily="34" charset="-122"/>
                <a:ea typeface="微软雅黑" pitchFamily="34" charset="-122"/>
              </a:rPr>
              <a:t> Cluster</a:t>
            </a:r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：</a:t>
            </a:r>
          </a:p>
          <a:p>
            <a:r>
              <a:rPr lang="en-US" altLang="zh-CN" sz="1400" dirty="0" smtClean="0">
                <a:latin typeface="微软雅黑" pitchFamily="34" charset="-122"/>
                <a:ea typeface="微软雅黑" pitchFamily="34" charset="-122"/>
              </a:rPr>
              <a:t>True Multi-master</a:t>
            </a:r>
          </a:p>
          <a:p>
            <a:r>
              <a:rPr lang="en-US" altLang="zh-CN" sz="1400" dirty="0" smtClean="0">
                <a:latin typeface="微软雅黑" pitchFamily="34" charset="-122"/>
                <a:ea typeface="微软雅黑" pitchFamily="34" charset="-122"/>
              </a:rPr>
              <a:t>Synchronous Replication</a:t>
            </a:r>
          </a:p>
          <a:p>
            <a:r>
              <a:rPr lang="en-US" altLang="zh-CN" sz="1400" dirty="0" smtClean="0">
                <a:latin typeface="微软雅黑" pitchFamily="34" charset="-122"/>
                <a:ea typeface="微软雅黑" pitchFamily="34" charset="-122"/>
              </a:rPr>
              <a:t>Tightly Coupled All nodes hold the same state.</a:t>
            </a:r>
          </a:p>
          <a:p>
            <a:r>
              <a:rPr lang="en-US" altLang="zh-CN" sz="1400" dirty="0" smtClean="0">
                <a:latin typeface="微软雅黑" pitchFamily="34" charset="-122"/>
                <a:ea typeface="微软雅黑" pitchFamily="34" charset="-122"/>
              </a:rPr>
              <a:t>No Master-Slave Failover Operations or Use of VIP.</a:t>
            </a:r>
          </a:p>
          <a:p>
            <a:endParaRPr lang="en-US" altLang="zh-CN" sz="1400" dirty="0" smtClean="0"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传统</a:t>
            </a:r>
            <a:r>
              <a:rPr lang="en-US" altLang="zh-CN" sz="1400" dirty="0" smtClean="0">
                <a:latin typeface="微软雅黑" pitchFamily="34" charset="-122"/>
                <a:ea typeface="微软雅黑" pitchFamily="34" charset="-122"/>
              </a:rPr>
              <a:t>2PC: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400" dirty="0" smtClean="0">
                <a:latin typeface="微软雅黑" pitchFamily="34" charset="-122"/>
                <a:ea typeface="微软雅黑" pitchFamily="34" charset="-122"/>
              </a:rPr>
              <a:t>Messages = Nodes * operations * transactions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sz="1400" dirty="0" smtClean="0">
              <a:latin typeface="微软雅黑" pitchFamily="34" charset="-122"/>
              <a:ea typeface="微软雅黑" pitchFamily="34" charset="-122"/>
            </a:endParaRPr>
          </a:p>
          <a:p>
            <a:r>
              <a:rPr lang="en-US" altLang="zh-CN" sz="1400" dirty="0" smtClean="0">
                <a:latin typeface="微软雅黑" pitchFamily="34" charset="-122"/>
                <a:ea typeface="微软雅黑" pitchFamily="34" charset="-122"/>
              </a:rPr>
              <a:t>Average=∑read + ∑write / ∑capacity</a:t>
            </a:r>
          </a:p>
          <a:p>
            <a:endParaRPr lang="en-US" altLang="zh-CN" sz="1400" dirty="0" smtClean="0">
              <a:latin typeface="微软雅黑" pitchFamily="34" charset="-122"/>
              <a:ea typeface="微软雅黑" pitchFamily="34" charset="-122"/>
            </a:endParaRPr>
          </a:p>
          <a:p>
            <a:endParaRPr lang="en-US" altLang="zh-CN" sz="1400" dirty="0" smtClean="0"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多个</a:t>
            </a:r>
            <a:r>
              <a:rPr lang="en-US" altLang="zh-CN" sz="1400" dirty="0" smtClean="0">
                <a:latin typeface="微软雅黑" pitchFamily="34" charset="-122"/>
                <a:ea typeface="微软雅黑" pitchFamily="34" charset="-122"/>
              </a:rPr>
              <a:t>Master</a:t>
            </a:r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，乐观方式同步更新，失败后将自己踢出集群。</a:t>
            </a:r>
            <a:endParaRPr lang="en-US" altLang="zh-CN" sz="1400" dirty="0" smtClean="0">
              <a:latin typeface="微软雅黑" pitchFamily="34" charset="-122"/>
              <a:ea typeface="微软雅黑" pitchFamily="34" charset="-122"/>
            </a:endParaRPr>
          </a:p>
          <a:p>
            <a:endParaRPr lang="en-US" altLang="zh-CN" sz="1400" dirty="0" smtClean="0">
              <a:latin typeface="微软雅黑" pitchFamily="34" charset="-122"/>
              <a:ea typeface="微软雅黑" pitchFamily="34" charset="-122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400" i="1" dirty="0" smtClean="0">
                <a:latin typeface="微软雅黑" pitchFamily="34" charset="-122"/>
                <a:ea typeface="微软雅黑" pitchFamily="34" charset="-122"/>
              </a:rPr>
              <a:t>Reference : Partial Replication in the Database State Machine(</a:t>
            </a:r>
            <a:r>
              <a:rPr lang="en-US" altLang="zh-CN" sz="1400" i="1" dirty="0" err="1" smtClean="0">
                <a:latin typeface="微软雅黑" pitchFamily="34" charset="-122"/>
                <a:ea typeface="微软雅黑" pitchFamily="34" charset="-122"/>
              </a:rPr>
              <a:t>Universidade</a:t>
            </a:r>
            <a:r>
              <a:rPr lang="en-US" altLang="zh-CN" sz="1400" i="1" dirty="0" smtClean="0">
                <a:latin typeface="微软雅黑" pitchFamily="34" charset="-122"/>
                <a:ea typeface="微软雅黑" pitchFamily="34" charset="-122"/>
              </a:rPr>
              <a:t> do Minho)</a:t>
            </a:r>
            <a:endParaRPr lang="zh-CN" altLang="en-US" sz="1400" i="1" dirty="0" smtClean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9467728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382636" rtl="0" eaLnBrk="1" fontAlgn="auto" latinLnBrk="0" hangingPunct="1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支持</a:t>
            </a:r>
            <a:r>
              <a:rPr lang="en-US" altLang="zh-CN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range/hash</a:t>
            </a: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的方式进行</a:t>
            </a:r>
            <a:r>
              <a:rPr lang="en-US" altLang="zh-CN" sz="1400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sharding</a:t>
            </a: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fontAlgn="base"/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Global Group is a special HA group that performs two critical functions:</a:t>
            </a:r>
          </a:p>
          <a:p>
            <a:pPr fontAlgn="base"/>
            <a:r>
              <a:rPr lang="en-US" altLang="zh-CN" sz="12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Any data schema changes are applied to the Global Group and from there they will be replicated to each of the other HA Groups.</a:t>
            </a:r>
          </a:p>
          <a:p>
            <a:pPr fontAlgn="base"/>
            <a:r>
              <a:rPr lang="en-US" altLang="zh-CN" sz="12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 there are tables that contain data that should be replicated to all HA groups (rather than </a:t>
            </a:r>
            <a:r>
              <a:rPr lang="en-US" altLang="zh-CN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sharded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then any inserts, updates or deletes will be made on the Global Group and then replicated to the others. Those tables are referred to as global tables.</a:t>
            </a:r>
          </a:p>
        </p:txBody>
      </p:sp>
    </p:spTree>
    <p:extLst>
      <p:ext uri="{BB962C8B-B14F-4D97-AF65-F5344CB8AC3E}">
        <p14:creationId xmlns:p14="http://schemas.microsoft.com/office/powerpoint/2010/main" val="279467728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382636" rtl="0" eaLnBrk="1" fontAlgn="auto" latinLnBrk="0" hangingPunct="1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9467728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382636" rtl="0" eaLnBrk="1" fontAlgn="auto" latinLnBrk="0" hangingPunct="1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所有更新集中在</a:t>
            </a:r>
            <a:r>
              <a:rPr lang="en-US" altLang="zh-CN" sz="1400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UpdateServer</a:t>
            </a: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中执行，这是一个配置很高的服务器。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9467728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382636" rtl="0" eaLnBrk="1" fontAlgn="auto" latinLnBrk="0" hangingPunct="1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http://mp.weixin.qq.com/s/CXDrXxYV07O2JF8fIulqow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9467728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382636" rtl="0" eaLnBrk="1" fontAlgn="auto" latinLnBrk="0" hangingPunct="1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9467728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382636" rtl="0" eaLnBrk="1" fontAlgn="auto" latinLnBrk="0" hangingPunct="1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9467728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382636" rtl="0" eaLnBrk="1" fontAlgn="auto" latinLnBrk="0" hangingPunct="1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9467728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382636" rtl="0" eaLnBrk="1" fontAlgn="auto" latinLnBrk="0" hangingPunct="1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9467728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382636" rtl="0" eaLnBrk="1" fontAlgn="auto" latinLnBrk="0" hangingPunct="1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针对单条数据成为性能瓶颈的问题解决方案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9467728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382636" rtl="0" eaLnBrk="1" fontAlgn="auto" latinLnBrk="0" hangingPunct="1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946772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85334-1357-48C0-87BA-26133B24B476}" type="datetimeFigureOut">
              <a:rPr lang="zh-CN" altLang="en-US" smtClean="0"/>
              <a:t>2018-1-2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FA8AB2-6E8C-4014-989C-5E8355CA3C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00315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85334-1357-48C0-87BA-26133B24B476}" type="datetimeFigureOut">
              <a:rPr lang="zh-CN" altLang="en-US" smtClean="0"/>
              <a:t>2018-1-2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FA8AB2-6E8C-4014-989C-5E8355CA3C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01705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85334-1357-48C0-87BA-26133B24B476}" type="datetimeFigureOut">
              <a:rPr lang="zh-CN" altLang="en-US" smtClean="0"/>
              <a:t>2018-1-2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FA8AB2-6E8C-4014-989C-5E8355CA3C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35110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85334-1357-48C0-87BA-26133B24B476}" type="datetimeFigureOut">
              <a:rPr lang="zh-CN" altLang="en-US" smtClean="0"/>
              <a:t>2018-1-2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FA8AB2-6E8C-4014-989C-5E8355CA3C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95265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85334-1357-48C0-87BA-26133B24B476}" type="datetimeFigureOut">
              <a:rPr lang="zh-CN" altLang="en-US" smtClean="0"/>
              <a:t>2018-1-2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FA8AB2-6E8C-4014-989C-5E8355CA3C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90888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85334-1357-48C0-87BA-26133B24B476}" type="datetimeFigureOut">
              <a:rPr lang="zh-CN" altLang="en-US" smtClean="0"/>
              <a:t>2018-1-2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FA8AB2-6E8C-4014-989C-5E8355CA3C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50469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85334-1357-48C0-87BA-26133B24B476}" type="datetimeFigureOut">
              <a:rPr lang="zh-CN" altLang="en-US" smtClean="0"/>
              <a:t>2018-1-2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FA8AB2-6E8C-4014-989C-5E8355CA3C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22027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85334-1357-48C0-87BA-26133B24B476}" type="datetimeFigureOut">
              <a:rPr lang="zh-CN" altLang="en-US" smtClean="0"/>
              <a:t>2018-1-2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FA8AB2-6E8C-4014-989C-5E8355CA3C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92948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85334-1357-48C0-87BA-26133B24B476}" type="datetimeFigureOut">
              <a:rPr lang="zh-CN" altLang="en-US" smtClean="0"/>
              <a:t>2018-1-2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FA8AB2-6E8C-4014-989C-5E8355CA3C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15722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85334-1357-48C0-87BA-26133B24B476}" type="datetimeFigureOut">
              <a:rPr lang="zh-CN" altLang="en-US" smtClean="0"/>
              <a:t>2018-1-2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FA8AB2-6E8C-4014-989C-5E8355CA3C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88277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154781"/>
            <a:ext cx="2057400" cy="329088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54781"/>
            <a:ext cx="6019800" cy="329088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85334-1357-48C0-87BA-26133B24B476}" type="datetimeFigureOut">
              <a:rPr lang="zh-CN" altLang="en-US" smtClean="0"/>
              <a:t>2018-1-2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FA8AB2-6E8C-4014-989C-5E8355CA3C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9230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与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5"/>
          <p:cNvSpPr>
            <a:spLocks noGrp="1"/>
          </p:cNvSpPr>
          <p:nvPr>
            <p:ph type="title"/>
          </p:nvPr>
        </p:nvSpPr>
        <p:spPr>
          <a:xfrm>
            <a:off x="892970" y="863948"/>
            <a:ext cx="7358063" cy="1741289"/>
          </a:xfrm>
          <a:prstGeom prst="rect">
            <a:avLst/>
          </a:prstGeom>
        </p:spPr>
        <p:txBody>
          <a:bodyPr anchor="b"/>
          <a:lstStyle/>
          <a:p>
            <a:pPr lvl="0">
              <a:defRPr sz="1800"/>
            </a:pPr>
            <a:r>
              <a:rPr sz="5000" dirty="0" err="1"/>
              <a:t>标题文本</a:t>
            </a:r>
            <a:endParaRPr sz="5000" dirty="0"/>
          </a:p>
        </p:txBody>
      </p:sp>
      <p:sp>
        <p:nvSpPr>
          <p:cNvPr id="6" name="Shape 6"/>
          <p:cNvSpPr>
            <a:spLocks noGrp="1"/>
          </p:cNvSpPr>
          <p:nvPr>
            <p:ph type="body" idx="1"/>
          </p:nvPr>
        </p:nvSpPr>
        <p:spPr>
          <a:xfrm>
            <a:off x="892970" y="2652118"/>
            <a:ext cx="7358063" cy="596057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2000"/>
            </a:lvl1pPr>
            <a:lvl2pPr marL="0" indent="143489" algn="ctr">
              <a:spcBef>
                <a:spcPts val="0"/>
              </a:spcBef>
              <a:buSzTx/>
              <a:buNone/>
              <a:defRPr sz="2000"/>
            </a:lvl2pPr>
            <a:lvl3pPr marL="0" indent="286977" algn="ctr">
              <a:spcBef>
                <a:spcPts val="0"/>
              </a:spcBef>
              <a:buSzTx/>
              <a:buNone/>
              <a:defRPr sz="2000"/>
            </a:lvl3pPr>
            <a:lvl4pPr marL="0" indent="430466" algn="ctr">
              <a:spcBef>
                <a:spcPts val="0"/>
              </a:spcBef>
              <a:buSzTx/>
              <a:buNone/>
              <a:defRPr sz="2000"/>
            </a:lvl4pPr>
            <a:lvl5pPr marL="0" indent="573955" algn="ctr">
              <a:spcBef>
                <a:spcPts val="0"/>
              </a:spcBef>
              <a:buSzTx/>
              <a:buNone/>
              <a:defRPr sz="2000"/>
            </a:lvl5pPr>
          </a:lstStyle>
          <a:p>
            <a:pPr lvl="0">
              <a:defRPr sz="1800"/>
            </a:pPr>
            <a:r>
              <a:rPr sz="2000" dirty="0" err="1"/>
              <a:t>正文级别</a:t>
            </a:r>
            <a:r>
              <a:rPr sz="2000" dirty="0"/>
              <a:t> 1</a:t>
            </a:r>
          </a:p>
          <a:p>
            <a:pPr lvl="1">
              <a:defRPr sz="1800"/>
            </a:pPr>
            <a:r>
              <a:rPr sz="2000" dirty="0" err="1"/>
              <a:t>正文级别</a:t>
            </a:r>
            <a:r>
              <a:rPr sz="2000" dirty="0"/>
              <a:t> 2</a:t>
            </a:r>
          </a:p>
          <a:p>
            <a:pPr lvl="2">
              <a:defRPr sz="1800"/>
            </a:pPr>
            <a:r>
              <a:rPr sz="2000" dirty="0" err="1"/>
              <a:t>正文级别</a:t>
            </a:r>
            <a:r>
              <a:rPr sz="2000" dirty="0"/>
              <a:t> 3</a:t>
            </a:r>
          </a:p>
          <a:p>
            <a:pPr lvl="3">
              <a:defRPr sz="1800"/>
            </a:pPr>
            <a:r>
              <a:rPr sz="2000" dirty="0" err="1"/>
              <a:t>正文级别</a:t>
            </a:r>
            <a:r>
              <a:rPr sz="2000" dirty="0"/>
              <a:t> 4</a:t>
            </a:r>
          </a:p>
          <a:p>
            <a:pPr lvl="4">
              <a:defRPr sz="1800"/>
            </a:pPr>
            <a:r>
              <a:rPr sz="2000" dirty="0" err="1"/>
              <a:t>正文级别</a:t>
            </a:r>
            <a:r>
              <a:rPr sz="2000" dirty="0"/>
              <a:t> 5</a:t>
            </a:r>
          </a:p>
        </p:txBody>
      </p:sp>
    </p:spTree>
    <p:extLst>
      <p:ext uri="{BB962C8B-B14F-4D97-AF65-F5344CB8AC3E}">
        <p14:creationId xmlns:p14="http://schemas.microsoft.com/office/powerpoint/2010/main" val="2476632013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285334-1357-48C0-87BA-26133B24B476}" type="datetimeFigureOut">
              <a:rPr lang="zh-CN" altLang="en-US" smtClean="0"/>
              <a:t>2018-1-2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FA8AB2-6E8C-4014-989C-5E8355CA3C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77279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.png"/><Relationship Id="rId5" Type="http://schemas.openxmlformats.org/officeDocument/2006/relationships/image" Target="../media/image9.jp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9.png"/><Relationship Id="rId4" Type="http://schemas.openxmlformats.org/officeDocument/2006/relationships/image" Target="../media/image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0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wmf"/><Relationship Id="rId3" Type="http://schemas.openxmlformats.org/officeDocument/2006/relationships/notesSlide" Target="../notesSlides/notesSlide23.xml"/><Relationship Id="rId7" Type="http://schemas.openxmlformats.org/officeDocument/2006/relationships/oleObject" Target="../embeddings/oleObject2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41.wmf"/><Relationship Id="rId5" Type="http://schemas.openxmlformats.org/officeDocument/2006/relationships/oleObject" Target="../embeddings/oleObject1.bin"/><Relationship Id="rId4" Type="http://schemas.openxmlformats.org/officeDocument/2006/relationships/image" Target="../media/image1.png"/><Relationship Id="rId9" Type="http://schemas.openxmlformats.org/officeDocument/2006/relationships/image" Target="../media/image4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5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0" y="1988159"/>
            <a:ext cx="6877881" cy="1085599"/>
            <a:chOff x="0" y="1988159"/>
            <a:chExt cx="6877881" cy="1085599"/>
          </a:xfrm>
          <a:solidFill>
            <a:srgbClr val="1B428C"/>
          </a:solidFill>
        </p:grpSpPr>
        <p:sp>
          <p:nvSpPr>
            <p:cNvPr id="6" name="矩形 5"/>
            <p:cNvSpPr/>
            <p:nvPr/>
          </p:nvSpPr>
          <p:spPr>
            <a:xfrm>
              <a:off x="0" y="1988159"/>
              <a:ext cx="6224854" cy="1085599"/>
            </a:xfrm>
            <a:prstGeom prst="rect">
              <a:avLst/>
            </a:prstGeom>
            <a:grp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68571" tIns="34285" rIns="68571" bIns="34285"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等腰三角形 7"/>
            <p:cNvSpPr/>
            <p:nvPr/>
          </p:nvSpPr>
          <p:spPr>
            <a:xfrm rot="10800000">
              <a:off x="5571826" y="1988159"/>
              <a:ext cx="1306055" cy="1085599"/>
            </a:xfrm>
            <a:prstGeom prst="triangle">
              <a:avLst/>
            </a:prstGeom>
            <a:grp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68571" tIns="34285" rIns="68571" bIns="34285"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6346502" y="1998099"/>
            <a:ext cx="2797497" cy="1085599"/>
            <a:chOff x="6346502" y="1998099"/>
            <a:chExt cx="2797497" cy="1085599"/>
          </a:xfrm>
          <a:solidFill>
            <a:schemeClr val="tx1">
              <a:lumMod val="65000"/>
              <a:lumOff val="35000"/>
            </a:schemeClr>
          </a:solidFill>
        </p:grpSpPr>
        <p:sp>
          <p:nvSpPr>
            <p:cNvPr id="9" name="矩形 8"/>
            <p:cNvSpPr/>
            <p:nvPr/>
          </p:nvSpPr>
          <p:spPr>
            <a:xfrm>
              <a:off x="6959830" y="1998099"/>
              <a:ext cx="2184169" cy="1085599"/>
            </a:xfrm>
            <a:prstGeom prst="rect">
              <a:avLst/>
            </a:prstGeom>
            <a:grp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68571" tIns="34285" rIns="68571" bIns="34285"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等腰三角形 9"/>
            <p:cNvSpPr/>
            <p:nvPr/>
          </p:nvSpPr>
          <p:spPr>
            <a:xfrm>
              <a:off x="6346502" y="1998099"/>
              <a:ext cx="1226655" cy="1085599"/>
            </a:xfrm>
            <a:prstGeom prst="triangle">
              <a:avLst/>
            </a:prstGeom>
            <a:grp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68571" tIns="34285" rIns="68571" bIns="34285"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6" name="TextBox 15"/>
          <p:cNvSpPr txBox="1"/>
          <p:nvPr/>
        </p:nvSpPr>
        <p:spPr>
          <a:xfrm>
            <a:off x="0" y="2166428"/>
            <a:ext cx="9143999" cy="65659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zh-CN" altLang="en-US" sz="36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从负载均衡到系统伸缩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3410004"/>
            <a:ext cx="9144000" cy="318036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叶腾超     </a:t>
            </a:r>
            <a:r>
              <a:rPr lang="en-US" altLang="zh-CN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2017-10</a:t>
            </a:r>
            <a:endParaRPr lang="zh-CN" altLang="en-US" sz="1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2" name="Picture 3" descr="F:\midea-pay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7827" y="55016"/>
            <a:ext cx="1428750" cy="41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70827365"/>
      </p:ext>
    </p:extLst>
  </p:cSld>
  <p:clrMapOvr>
    <a:masterClrMapping/>
  </p:clrMapOvr>
  <p:transition spd="med"/>
  <p:timing>
    <p:tnLst>
      <p:par>
        <p:cTn id="1" dur="indefinite" restart="never" fill="hold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0348" y="70560"/>
            <a:ext cx="4372480" cy="35386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8095" tIns="38095" rIns="38095" bIns="38095" numCol="1" spcCol="28571" rtlCol="0" anchor="ctr">
            <a:spAutoFit/>
          </a:bodyPr>
          <a:lstStyle/>
          <a:p>
            <a:pPr algn="just"/>
            <a:r>
              <a:rPr lang="zh-CN" altLang="en-US" b="1" dirty="0" smtClean="0">
                <a:solidFill>
                  <a:srgbClr val="1B42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微博鹿晗事件</a:t>
            </a:r>
            <a:endParaRPr lang="zh-CN" altLang="en-US" sz="1800" b="1" dirty="0">
              <a:solidFill>
                <a:srgbClr val="1B428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00" name="直接连接符 199"/>
          <p:cNvCxnSpPr/>
          <p:nvPr/>
        </p:nvCxnSpPr>
        <p:spPr>
          <a:xfrm>
            <a:off x="0" y="474116"/>
            <a:ext cx="3415916" cy="0"/>
          </a:xfrm>
          <a:prstGeom prst="line">
            <a:avLst/>
          </a:prstGeom>
          <a:noFill/>
          <a:ln w="28575" cap="flat">
            <a:solidFill>
              <a:srgbClr val="1B428C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pic>
        <p:nvPicPr>
          <p:cNvPr id="5" name="Picture 3" descr="F:\midea-pay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7827" y="55016"/>
            <a:ext cx="1428750" cy="41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843558"/>
            <a:ext cx="3657600" cy="800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2211710"/>
            <a:ext cx="5438775" cy="2371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2200" y="1454010"/>
            <a:ext cx="2348905" cy="31294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56214812"/>
      </p:ext>
    </p:extLst>
  </p:cSld>
  <p:clrMapOvr>
    <a:masterClrMapping/>
  </p:clrMapOvr>
  <p:transition spd="med"/>
  <p:timing>
    <p:tnLst>
      <p:par>
        <p:cTn id="1" dur="indefinite" restart="never" fill="hold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0348" y="70560"/>
            <a:ext cx="4372480" cy="35386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8095" tIns="38095" rIns="38095" bIns="38095" numCol="1" spcCol="28571" rtlCol="0" anchor="ctr">
            <a:spAutoFit/>
          </a:bodyPr>
          <a:lstStyle/>
          <a:p>
            <a:pPr algn="just"/>
            <a:r>
              <a:rPr lang="zh-CN" altLang="en-US" b="1" dirty="0" smtClean="0">
                <a:solidFill>
                  <a:srgbClr val="1B42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鹿晗事件背后的微博系统伸缩故事</a:t>
            </a:r>
            <a:endParaRPr lang="zh-CN" altLang="en-US" sz="1800" b="1" dirty="0">
              <a:solidFill>
                <a:srgbClr val="1B428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00" name="直接连接符 199"/>
          <p:cNvCxnSpPr/>
          <p:nvPr/>
        </p:nvCxnSpPr>
        <p:spPr>
          <a:xfrm>
            <a:off x="0" y="474116"/>
            <a:ext cx="3415916" cy="0"/>
          </a:xfrm>
          <a:prstGeom prst="line">
            <a:avLst/>
          </a:prstGeom>
          <a:noFill/>
          <a:ln w="28575" cap="flat">
            <a:solidFill>
              <a:srgbClr val="1B428C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pic>
        <p:nvPicPr>
          <p:cNvPr id="5" name="Picture 3" descr="F:\midea-pay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7827" y="55016"/>
            <a:ext cx="1428750" cy="41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1131589"/>
            <a:ext cx="3181350" cy="2790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44242" y="699542"/>
            <a:ext cx="3530327" cy="21016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4" name="Picture 8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44242" y="2859782"/>
            <a:ext cx="3530327" cy="21512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虚尾箭头 7"/>
          <p:cNvSpPr/>
          <p:nvPr/>
        </p:nvSpPr>
        <p:spPr>
          <a:xfrm flipH="1">
            <a:off x="4067944" y="2141425"/>
            <a:ext cx="864096" cy="771152"/>
          </a:xfrm>
          <a:prstGeom prst="stripedRightArrow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5168804"/>
      </p:ext>
    </p:extLst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0348" y="70524"/>
            <a:ext cx="4372480" cy="353933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8095" tIns="38095" rIns="38095" bIns="38095" numCol="1" spcCol="28571" rtlCol="0" anchor="ctr">
            <a:spAutoFit/>
          </a:bodyPr>
          <a:lstStyle/>
          <a:p>
            <a:pPr algn="just"/>
            <a:r>
              <a:rPr lang="zh-CN" altLang="en-US" b="1" dirty="0" smtClean="0">
                <a:solidFill>
                  <a:srgbClr val="1B42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弹性系统</a:t>
            </a:r>
            <a:endParaRPr lang="zh-CN" altLang="en-US" b="1" dirty="0">
              <a:solidFill>
                <a:srgbClr val="1B428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00" name="直接连接符 199"/>
          <p:cNvCxnSpPr/>
          <p:nvPr/>
        </p:nvCxnSpPr>
        <p:spPr>
          <a:xfrm>
            <a:off x="0" y="474116"/>
            <a:ext cx="3415916" cy="0"/>
          </a:xfrm>
          <a:prstGeom prst="line">
            <a:avLst/>
          </a:prstGeom>
          <a:noFill/>
          <a:ln w="28575" cap="flat">
            <a:solidFill>
              <a:srgbClr val="1B428C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pic>
        <p:nvPicPr>
          <p:cNvPr id="5" name="Picture 3" descr="F:\midea-pay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7827" y="55016"/>
            <a:ext cx="1428750" cy="41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67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3197" y="915565"/>
            <a:ext cx="3745897" cy="9746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138" y="1203598"/>
            <a:ext cx="4420790" cy="3047755"/>
          </a:xfrm>
          <a:prstGeom prst="rect">
            <a:avLst/>
          </a:prstGeom>
        </p:spPr>
      </p:pic>
      <p:pic>
        <p:nvPicPr>
          <p:cNvPr id="32770" name="Picture 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3197" y="2362922"/>
            <a:ext cx="3755050" cy="24614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33240201"/>
      </p:ext>
    </p:extLst>
  </p:cSld>
  <p:clrMapOvr>
    <a:masterClrMapping/>
  </p:clrMapOvr>
  <p:transition spd="med"/>
  <p:timing>
    <p:tnLst>
      <p:par>
        <p:cTn id="1" dur="indefinite" restart="never" fill="hold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90348" y="70524"/>
            <a:ext cx="4372480" cy="353933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8095" tIns="38095" rIns="38095" bIns="38095" numCol="1" spcCol="28571" rtlCol="0" anchor="ctr">
            <a:spAutoFit/>
          </a:bodyPr>
          <a:lstStyle/>
          <a:p>
            <a:pPr algn="just"/>
            <a:r>
              <a:rPr lang="zh-CN" altLang="en-US" b="1" dirty="0" smtClean="0">
                <a:solidFill>
                  <a:srgbClr val="1B42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弹性系统</a:t>
            </a:r>
            <a:endParaRPr lang="zh-CN" altLang="en-US" b="1" dirty="0">
              <a:solidFill>
                <a:srgbClr val="1B428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0" y="474116"/>
            <a:ext cx="3415916" cy="0"/>
          </a:xfrm>
          <a:prstGeom prst="line">
            <a:avLst/>
          </a:prstGeom>
          <a:noFill/>
          <a:ln w="28575" cap="flat">
            <a:solidFill>
              <a:srgbClr val="1B428C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0602" y="539806"/>
            <a:ext cx="5112568" cy="21193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174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0188" y="2659175"/>
            <a:ext cx="6645280" cy="24028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35001922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0348" y="70560"/>
            <a:ext cx="4372480" cy="35386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8095" tIns="38095" rIns="38095" bIns="38095" numCol="1" spcCol="28571" rtlCol="0" anchor="ctr">
            <a:spAutoFit/>
          </a:bodyPr>
          <a:lstStyle/>
          <a:p>
            <a:pPr algn="just"/>
            <a:r>
              <a:rPr lang="zh-CN" altLang="en-US" b="1" dirty="0" smtClean="0">
                <a:solidFill>
                  <a:srgbClr val="1B42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</a:t>
            </a:r>
            <a:r>
              <a:rPr lang="en-US" altLang="zh-CN" b="1" dirty="0" smtClean="0">
                <a:solidFill>
                  <a:srgbClr val="1B42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b="1" dirty="0" smtClean="0">
                <a:solidFill>
                  <a:srgbClr val="1B42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内容结构</a:t>
            </a:r>
            <a:endParaRPr lang="zh-CN" altLang="en-US" sz="1800" b="1" dirty="0">
              <a:solidFill>
                <a:srgbClr val="1B428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00" name="直接连接符 199"/>
          <p:cNvCxnSpPr/>
          <p:nvPr/>
        </p:nvCxnSpPr>
        <p:spPr>
          <a:xfrm>
            <a:off x="0" y="474116"/>
            <a:ext cx="3415916" cy="0"/>
          </a:xfrm>
          <a:prstGeom prst="line">
            <a:avLst/>
          </a:prstGeom>
          <a:noFill/>
          <a:ln w="28575" cap="flat">
            <a:solidFill>
              <a:srgbClr val="1B428C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pic>
        <p:nvPicPr>
          <p:cNvPr id="5" name="Picture 3" descr="F:\midea-pay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7827" y="55016"/>
            <a:ext cx="1428750" cy="41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D:\Users\yetc\Desktop\负载均衡&amp;系统伸缩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085945"/>
            <a:ext cx="9144000" cy="32860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03765121"/>
      </p:ext>
    </p:extLst>
  </p:cSld>
  <p:clrMapOvr>
    <a:masterClrMapping/>
  </p:clrMapOvr>
  <p:transition spd="med"/>
  <p:timing>
    <p:tnLst>
      <p:par>
        <p:cTn id="1" dur="indefinite" restart="never" fill="hold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0348" y="70524"/>
            <a:ext cx="7261972" cy="353933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8095" tIns="38095" rIns="38095" bIns="38095" numCol="1" spcCol="28571" rtlCol="0" anchor="ctr">
            <a:spAutoFit/>
          </a:bodyPr>
          <a:lstStyle/>
          <a:p>
            <a:pPr algn="just"/>
            <a:r>
              <a:rPr lang="zh-CN" altLang="en-US" sz="1800" b="1" dirty="0" smtClean="0">
                <a:solidFill>
                  <a:srgbClr val="1B42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负载均衡与伸缩性</a:t>
            </a:r>
            <a:endParaRPr lang="zh-CN" altLang="en-US" sz="1800" b="1" dirty="0">
              <a:solidFill>
                <a:srgbClr val="1B428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00" name="直接连接符 199"/>
          <p:cNvCxnSpPr/>
          <p:nvPr/>
        </p:nvCxnSpPr>
        <p:spPr>
          <a:xfrm>
            <a:off x="0" y="474116"/>
            <a:ext cx="3415916" cy="0"/>
          </a:xfrm>
          <a:prstGeom prst="line">
            <a:avLst/>
          </a:prstGeom>
          <a:noFill/>
          <a:ln w="28575" cap="flat">
            <a:solidFill>
              <a:srgbClr val="1B428C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pic>
        <p:nvPicPr>
          <p:cNvPr id="5" name="Picture 3" descr="F:\midea-pay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7827" y="55016"/>
            <a:ext cx="1428750" cy="41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矩形 3"/>
          <p:cNvSpPr/>
          <p:nvPr/>
        </p:nvSpPr>
        <p:spPr>
          <a:xfrm>
            <a:off x="395536" y="586591"/>
            <a:ext cx="8064896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improves the distribution 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of workloads across 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multiple computing resources, such as computers, 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a computer 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cluster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, network links, central 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processing units, 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or disk 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drives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.</a:t>
            </a:r>
          </a:p>
          <a:p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aims 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to 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:</a:t>
            </a:r>
          </a:p>
          <a:p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optimize 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resource 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use</a:t>
            </a:r>
          </a:p>
          <a:p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maximize throughput</a:t>
            </a:r>
          </a:p>
          <a:p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minimize 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response 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time</a:t>
            </a:r>
          </a:p>
          <a:p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avoid 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overload of any single 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increase 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reliability and availability 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through redundancy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. 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95536" y="4155926"/>
            <a:ext cx="41088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负载均衡促使系统具有水平伸缩能力。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67866198"/>
      </p:ext>
    </p:extLst>
  </p:cSld>
  <p:clrMapOvr>
    <a:masterClrMapping/>
  </p:clrMapOvr>
  <p:transition spd="med"/>
  <p:timing>
    <p:tnLst>
      <p:par>
        <p:cTn id="1" dur="indefinite" restart="never" fill="hold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0348" y="70524"/>
            <a:ext cx="7261972" cy="353933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8095" tIns="38095" rIns="38095" bIns="38095" numCol="1" spcCol="28571" rtlCol="0" anchor="ctr">
            <a:spAutoFit/>
          </a:bodyPr>
          <a:lstStyle/>
          <a:p>
            <a:pPr algn="just"/>
            <a:r>
              <a:rPr lang="zh-CN" altLang="en-US" b="1" dirty="0" smtClean="0">
                <a:solidFill>
                  <a:srgbClr val="1B42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伸缩分类</a:t>
            </a:r>
            <a:endParaRPr lang="zh-CN" altLang="en-US" sz="1800" b="1" dirty="0">
              <a:solidFill>
                <a:srgbClr val="1B428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00" name="直接连接符 199"/>
          <p:cNvCxnSpPr/>
          <p:nvPr/>
        </p:nvCxnSpPr>
        <p:spPr>
          <a:xfrm>
            <a:off x="0" y="474116"/>
            <a:ext cx="3415916" cy="0"/>
          </a:xfrm>
          <a:prstGeom prst="line">
            <a:avLst/>
          </a:prstGeom>
          <a:noFill/>
          <a:ln w="28575" cap="flat">
            <a:solidFill>
              <a:srgbClr val="1B428C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pic>
        <p:nvPicPr>
          <p:cNvPr id="5" name="Picture 3" descr="F:\midea-pay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7827" y="55016"/>
            <a:ext cx="1428750" cy="41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1907704" y="1313574"/>
            <a:ext cx="574632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latin typeface="微软雅黑" pitchFamily="34" charset="-122"/>
                <a:ea typeface="微软雅黑" pitchFamily="34" charset="-122"/>
              </a:rPr>
              <a:t>垂直伸缩：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Scale up</a:t>
            </a:r>
          </a:p>
          <a:p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    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配置扩容（磁盘、内存、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CPU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、增大连接池等）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   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系统分层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   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应用垂直拆分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b="1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水平伸缩：</a:t>
            </a:r>
            <a:r>
              <a:rPr lang="en-US" altLang="zh-CN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Scale out</a:t>
            </a:r>
          </a:p>
          <a:p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   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改变应用节点数量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   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改变设备节点数量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033269"/>
      </p:ext>
    </p:extLst>
  </p:cSld>
  <p:clrMapOvr>
    <a:masterClrMapping/>
  </p:clrMapOvr>
  <p:transition spd="med"/>
  <p:timing>
    <p:tnLst>
      <p:par>
        <p:cTn id="1" dur="indefinite" restart="never" fill="hold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0348" y="70560"/>
            <a:ext cx="4372480" cy="35386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8095" tIns="38095" rIns="38095" bIns="38095" numCol="1" spcCol="28571" rtlCol="0" anchor="ctr">
            <a:spAutoFit/>
          </a:bodyPr>
          <a:lstStyle/>
          <a:p>
            <a:pPr algn="just"/>
            <a:r>
              <a:rPr lang="zh-CN" altLang="en-US" sz="1800" b="1" dirty="0" smtClean="0">
                <a:solidFill>
                  <a:srgbClr val="1B42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负载均衡点</a:t>
            </a:r>
            <a:r>
              <a:rPr lang="en-US" altLang="zh-CN" sz="1800" b="1" dirty="0" smtClean="0">
                <a:solidFill>
                  <a:srgbClr val="1B42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b="1" dirty="0" smtClean="0">
                <a:solidFill>
                  <a:srgbClr val="1B42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服务</a:t>
            </a:r>
            <a:r>
              <a:rPr lang="zh-CN" altLang="en-US" b="1" dirty="0">
                <a:solidFill>
                  <a:srgbClr val="1B42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端</a:t>
            </a:r>
            <a:r>
              <a:rPr lang="en-US" altLang="zh-CN" sz="1800" b="1" dirty="0" smtClean="0">
                <a:solidFill>
                  <a:srgbClr val="1B42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VS</a:t>
            </a:r>
            <a:r>
              <a:rPr lang="zh-CN" altLang="en-US" b="1" dirty="0">
                <a:solidFill>
                  <a:srgbClr val="1B42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客户端</a:t>
            </a:r>
            <a:endParaRPr lang="zh-CN" altLang="en-US" sz="1800" b="1" dirty="0">
              <a:solidFill>
                <a:srgbClr val="1B428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00" name="直接连接符 199"/>
          <p:cNvCxnSpPr/>
          <p:nvPr/>
        </p:nvCxnSpPr>
        <p:spPr>
          <a:xfrm>
            <a:off x="0" y="474116"/>
            <a:ext cx="3415916" cy="0"/>
          </a:xfrm>
          <a:prstGeom prst="line">
            <a:avLst/>
          </a:prstGeom>
          <a:noFill/>
          <a:ln w="28575" cap="flat">
            <a:solidFill>
              <a:srgbClr val="1B428C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pic>
        <p:nvPicPr>
          <p:cNvPr id="5" name="Picture 3" descr="F:\midea-pay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7827" y="55016"/>
            <a:ext cx="1428750" cy="41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组合 5"/>
          <p:cNvGrpSpPr/>
          <p:nvPr/>
        </p:nvGrpSpPr>
        <p:grpSpPr>
          <a:xfrm>
            <a:off x="5292081" y="1394202"/>
            <a:ext cx="2448272" cy="1374779"/>
            <a:chOff x="5292080" y="1052955"/>
            <a:chExt cx="2622951" cy="1878835"/>
          </a:xfrm>
        </p:grpSpPr>
        <p:sp>
          <p:nvSpPr>
            <p:cNvPr id="4" name="圆角矩形 3"/>
            <p:cNvSpPr/>
            <p:nvPr/>
          </p:nvSpPr>
          <p:spPr>
            <a:xfrm>
              <a:off x="5292080" y="1057373"/>
              <a:ext cx="1029603" cy="360040"/>
            </a:xfrm>
            <a:prstGeom prst="roundRect">
              <a:avLst/>
            </a:prstGeom>
            <a:solidFill>
              <a:schemeClr val="bg1"/>
            </a:solidFill>
            <a:ln w="9525"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 smtClean="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</a:rPr>
                <a:t>Client</a:t>
              </a:r>
              <a:endParaRPr lang="zh-CN" altLang="en-US" sz="1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" name="圆角矩形 6"/>
            <p:cNvSpPr/>
            <p:nvPr/>
          </p:nvSpPr>
          <p:spPr>
            <a:xfrm>
              <a:off x="5292080" y="2571750"/>
              <a:ext cx="1029603" cy="360040"/>
            </a:xfrm>
            <a:prstGeom prst="roundRect">
              <a:avLst/>
            </a:prstGeom>
            <a:solidFill>
              <a:schemeClr val="bg1"/>
            </a:solidFill>
            <a:ln w="9525"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 smtClean="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</a:rPr>
                <a:t>Server</a:t>
              </a:r>
              <a:endParaRPr lang="zh-CN" altLang="en-US" sz="1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8" name="圆角矩形 7"/>
            <p:cNvSpPr/>
            <p:nvPr/>
          </p:nvSpPr>
          <p:spPr>
            <a:xfrm>
              <a:off x="6885428" y="2571750"/>
              <a:ext cx="1029603" cy="360040"/>
            </a:xfrm>
            <a:prstGeom prst="roundRect">
              <a:avLst/>
            </a:prstGeom>
            <a:solidFill>
              <a:schemeClr val="bg1"/>
            </a:solidFill>
            <a:ln w="9525"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 smtClean="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</a:rPr>
                <a:t>Server</a:t>
              </a:r>
              <a:endParaRPr lang="zh-CN" altLang="en-US" sz="1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9" name="圆角矩形 8"/>
            <p:cNvSpPr/>
            <p:nvPr/>
          </p:nvSpPr>
          <p:spPr>
            <a:xfrm>
              <a:off x="6885428" y="1052955"/>
              <a:ext cx="1029603" cy="360040"/>
            </a:xfrm>
            <a:prstGeom prst="roundRect">
              <a:avLst/>
            </a:prstGeom>
            <a:solidFill>
              <a:schemeClr val="bg1"/>
            </a:solidFill>
            <a:ln w="9525"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</a:rPr>
                <a:t>Client</a:t>
              </a:r>
              <a:endParaRPr lang="zh-CN" altLang="en-US" sz="1400" dirty="0">
                <a:latin typeface="微软雅黑" pitchFamily="34" charset="-122"/>
                <a:ea typeface="微软雅黑" pitchFamily="34" charset="-122"/>
              </a:endParaRPr>
            </a:p>
          </p:txBody>
        </p:sp>
        <p:cxnSp>
          <p:nvCxnSpPr>
            <p:cNvPr id="25" name="直接箭头连接符 24"/>
            <p:cNvCxnSpPr>
              <a:stCxn id="4" idx="2"/>
              <a:endCxn id="7" idx="0"/>
            </p:cNvCxnSpPr>
            <p:nvPr/>
          </p:nvCxnSpPr>
          <p:spPr>
            <a:xfrm>
              <a:off x="5806882" y="1417413"/>
              <a:ext cx="0" cy="1154337"/>
            </a:xfrm>
            <a:prstGeom prst="straightConnector1">
              <a:avLst/>
            </a:prstGeom>
            <a:ln w="952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箭头连接符 26"/>
            <p:cNvCxnSpPr>
              <a:stCxn id="4" idx="2"/>
            </p:cNvCxnSpPr>
            <p:nvPr/>
          </p:nvCxnSpPr>
          <p:spPr>
            <a:xfrm>
              <a:off x="5806882" y="1417413"/>
              <a:ext cx="1593348" cy="1154337"/>
            </a:xfrm>
            <a:prstGeom prst="straightConnector1">
              <a:avLst/>
            </a:prstGeom>
            <a:ln w="952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箭头连接符 28"/>
            <p:cNvCxnSpPr>
              <a:stCxn id="9" idx="2"/>
              <a:endCxn id="7" idx="0"/>
            </p:cNvCxnSpPr>
            <p:nvPr/>
          </p:nvCxnSpPr>
          <p:spPr>
            <a:xfrm flipH="1">
              <a:off x="5806882" y="1412995"/>
              <a:ext cx="1593348" cy="1158755"/>
            </a:xfrm>
            <a:prstGeom prst="straightConnector1">
              <a:avLst/>
            </a:prstGeom>
            <a:ln w="952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箭头连接符 30"/>
            <p:cNvCxnSpPr>
              <a:stCxn id="9" idx="2"/>
              <a:endCxn id="8" idx="0"/>
            </p:cNvCxnSpPr>
            <p:nvPr/>
          </p:nvCxnSpPr>
          <p:spPr>
            <a:xfrm>
              <a:off x="7400230" y="1412995"/>
              <a:ext cx="0" cy="1158755"/>
            </a:xfrm>
            <a:prstGeom prst="straightConnector1">
              <a:avLst/>
            </a:prstGeom>
            <a:ln w="952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组合 2"/>
          <p:cNvGrpSpPr/>
          <p:nvPr/>
        </p:nvGrpSpPr>
        <p:grpSpPr>
          <a:xfrm>
            <a:off x="1034435" y="1394202"/>
            <a:ext cx="2448273" cy="1374779"/>
            <a:chOff x="1034435" y="1052955"/>
            <a:chExt cx="2622952" cy="1878835"/>
          </a:xfrm>
        </p:grpSpPr>
        <p:sp>
          <p:nvSpPr>
            <p:cNvPr id="10" name="圆角矩形 9"/>
            <p:cNvSpPr/>
            <p:nvPr/>
          </p:nvSpPr>
          <p:spPr>
            <a:xfrm>
              <a:off x="1034436" y="1057373"/>
              <a:ext cx="1029603" cy="360040"/>
            </a:xfrm>
            <a:prstGeom prst="roundRect">
              <a:avLst/>
            </a:prstGeom>
            <a:solidFill>
              <a:schemeClr val="bg1"/>
            </a:solidFill>
            <a:ln w="9525"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</a:rPr>
                <a:t>Client</a:t>
              </a:r>
              <a:endParaRPr lang="zh-CN" altLang="en-US" sz="1400" dirty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1" name="圆角矩形 10"/>
            <p:cNvSpPr/>
            <p:nvPr/>
          </p:nvSpPr>
          <p:spPr>
            <a:xfrm>
              <a:off x="1034436" y="2571750"/>
              <a:ext cx="1029603" cy="360040"/>
            </a:xfrm>
            <a:prstGeom prst="roundRect">
              <a:avLst/>
            </a:prstGeom>
            <a:solidFill>
              <a:schemeClr val="bg1"/>
            </a:solidFill>
            <a:ln w="9525"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</a:rPr>
                <a:t>Server</a:t>
              </a:r>
              <a:endParaRPr lang="zh-CN" altLang="en-US" sz="1400" dirty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2" name="圆角矩形 11"/>
            <p:cNvSpPr/>
            <p:nvPr/>
          </p:nvSpPr>
          <p:spPr>
            <a:xfrm>
              <a:off x="2627784" y="2571750"/>
              <a:ext cx="1029603" cy="360040"/>
            </a:xfrm>
            <a:prstGeom prst="roundRect">
              <a:avLst/>
            </a:prstGeom>
            <a:solidFill>
              <a:schemeClr val="bg1"/>
            </a:solidFill>
            <a:ln w="9525"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</a:rPr>
                <a:t>Server</a:t>
              </a:r>
              <a:endParaRPr lang="zh-CN" altLang="en-US" sz="1400" dirty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3" name="圆角矩形 12"/>
            <p:cNvSpPr/>
            <p:nvPr/>
          </p:nvSpPr>
          <p:spPr>
            <a:xfrm>
              <a:off x="2627784" y="1052955"/>
              <a:ext cx="1029603" cy="360040"/>
            </a:xfrm>
            <a:prstGeom prst="roundRect">
              <a:avLst/>
            </a:prstGeom>
            <a:solidFill>
              <a:schemeClr val="bg1"/>
            </a:solidFill>
            <a:ln w="9525"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</a:rPr>
                <a:t>Client</a:t>
              </a:r>
              <a:endParaRPr lang="zh-CN" altLang="en-US" sz="1400" dirty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4" name="圆角矩形 13"/>
            <p:cNvSpPr/>
            <p:nvPr/>
          </p:nvSpPr>
          <p:spPr>
            <a:xfrm>
              <a:off x="1034435" y="1779662"/>
              <a:ext cx="2622952" cy="360040"/>
            </a:xfrm>
            <a:prstGeom prst="roundRect">
              <a:avLst/>
            </a:prstGeom>
            <a:solidFill>
              <a:schemeClr val="bg1"/>
            </a:solidFill>
            <a:ln w="9525"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 smtClean="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</a:rPr>
                <a:t>Load Balancer</a:t>
              </a:r>
              <a:endParaRPr lang="zh-CN" altLang="en-US" sz="1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cxnSp>
          <p:nvCxnSpPr>
            <p:cNvPr id="15" name="直接箭头连接符 14"/>
            <p:cNvCxnSpPr>
              <a:stCxn id="10" idx="2"/>
              <a:endCxn id="14" idx="0"/>
            </p:cNvCxnSpPr>
            <p:nvPr/>
          </p:nvCxnSpPr>
          <p:spPr>
            <a:xfrm>
              <a:off x="1549238" y="1417413"/>
              <a:ext cx="796673" cy="362249"/>
            </a:xfrm>
            <a:prstGeom prst="straightConnector1">
              <a:avLst/>
            </a:prstGeom>
            <a:ln w="952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箭头连接符 16"/>
            <p:cNvCxnSpPr>
              <a:stCxn id="13" idx="2"/>
              <a:endCxn id="14" idx="0"/>
            </p:cNvCxnSpPr>
            <p:nvPr/>
          </p:nvCxnSpPr>
          <p:spPr>
            <a:xfrm flipH="1">
              <a:off x="2345911" y="1412995"/>
              <a:ext cx="796675" cy="366667"/>
            </a:xfrm>
            <a:prstGeom prst="straightConnector1">
              <a:avLst/>
            </a:prstGeom>
            <a:ln w="952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箭头连接符 20"/>
            <p:cNvCxnSpPr>
              <a:endCxn id="11" idx="0"/>
            </p:cNvCxnSpPr>
            <p:nvPr/>
          </p:nvCxnSpPr>
          <p:spPr>
            <a:xfrm>
              <a:off x="1549237" y="2139702"/>
              <a:ext cx="1" cy="432048"/>
            </a:xfrm>
            <a:prstGeom prst="straightConnector1">
              <a:avLst/>
            </a:prstGeom>
            <a:ln w="952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箭头连接符 22"/>
            <p:cNvCxnSpPr>
              <a:endCxn id="12" idx="0"/>
            </p:cNvCxnSpPr>
            <p:nvPr/>
          </p:nvCxnSpPr>
          <p:spPr>
            <a:xfrm>
              <a:off x="3142585" y="2139702"/>
              <a:ext cx="1" cy="432048"/>
            </a:xfrm>
            <a:prstGeom prst="straightConnector1">
              <a:avLst/>
            </a:prstGeom>
            <a:ln w="952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直接箭头连接符 192"/>
            <p:cNvCxnSpPr>
              <a:endCxn id="12" idx="0"/>
            </p:cNvCxnSpPr>
            <p:nvPr/>
          </p:nvCxnSpPr>
          <p:spPr>
            <a:xfrm>
              <a:off x="1549237" y="2139702"/>
              <a:ext cx="1593349" cy="432048"/>
            </a:xfrm>
            <a:prstGeom prst="straightConnector1">
              <a:avLst/>
            </a:prstGeom>
            <a:ln w="952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直接箭头连接符 194"/>
            <p:cNvCxnSpPr>
              <a:endCxn id="11" idx="0"/>
            </p:cNvCxnSpPr>
            <p:nvPr/>
          </p:nvCxnSpPr>
          <p:spPr>
            <a:xfrm flipH="1">
              <a:off x="1549238" y="2139702"/>
              <a:ext cx="1593347" cy="432048"/>
            </a:xfrm>
            <a:prstGeom prst="straightConnector1">
              <a:avLst/>
            </a:prstGeom>
            <a:ln w="952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8" name="TextBox 197"/>
          <p:cNvSpPr txBox="1"/>
          <p:nvPr/>
        </p:nvSpPr>
        <p:spPr>
          <a:xfrm>
            <a:off x="906745" y="3130391"/>
            <a:ext cx="3416320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典型场景：</a:t>
            </a:r>
            <a:endParaRPr lang="en-US" altLang="zh-CN" sz="1400" dirty="0" smtClean="0">
              <a:latin typeface="微软雅黑" pitchFamily="34" charset="-122"/>
              <a:ea typeface="微软雅黑" pitchFamily="34" charset="-122"/>
            </a:endParaRPr>
          </a:p>
          <a:p>
            <a:r>
              <a:rPr lang="en-US" altLang="zh-CN" sz="1400" dirty="0" smtClean="0">
                <a:latin typeface="微软雅黑" pitchFamily="34" charset="-122"/>
                <a:ea typeface="微软雅黑" pitchFamily="34" charset="-122"/>
              </a:rPr>
              <a:t>    LVS/F5</a:t>
            </a:r>
          </a:p>
          <a:p>
            <a:endParaRPr lang="en-US" altLang="zh-CN" sz="1400" dirty="0"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客户端无负载均衡逻辑</a:t>
            </a:r>
            <a:endParaRPr lang="en-US" altLang="zh-CN" sz="1400" dirty="0" smtClean="0"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集中式的负载管理，方便隔离与负载均衡</a:t>
            </a:r>
            <a:endParaRPr lang="zh-CN" altLang="en-US" sz="14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5115153" y="3129021"/>
            <a:ext cx="3057247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典型场景：</a:t>
            </a:r>
            <a:endParaRPr lang="en-US" altLang="zh-CN" sz="1400" dirty="0" smtClean="0">
              <a:latin typeface="微软雅黑" pitchFamily="34" charset="-122"/>
              <a:ea typeface="微软雅黑" pitchFamily="34" charset="-122"/>
            </a:endParaRPr>
          </a:p>
          <a:p>
            <a:r>
              <a:rPr lang="en-US" altLang="zh-CN" sz="1400" dirty="0" smtClean="0">
                <a:latin typeface="微软雅黑" pitchFamily="34" charset="-122"/>
                <a:ea typeface="微软雅黑" pitchFamily="34" charset="-122"/>
              </a:rPr>
              <a:t>    </a:t>
            </a:r>
            <a:r>
              <a:rPr lang="en-US" altLang="zh-CN" sz="1400" dirty="0" err="1" smtClean="0">
                <a:latin typeface="微软雅黑" pitchFamily="34" charset="-122"/>
                <a:ea typeface="微软雅黑" pitchFamily="34" charset="-122"/>
              </a:rPr>
              <a:t>Dubbo</a:t>
            </a:r>
            <a:r>
              <a:rPr lang="en-US" altLang="zh-CN" sz="1400" dirty="0" smtClean="0">
                <a:latin typeface="微软雅黑" pitchFamily="34" charset="-122"/>
                <a:ea typeface="微软雅黑" pitchFamily="34" charset="-122"/>
              </a:rPr>
              <a:t>/</a:t>
            </a:r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网联</a:t>
            </a:r>
            <a:endParaRPr lang="en-US" altLang="zh-CN" sz="1400" dirty="0" smtClean="0">
              <a:latin typeface="微软雅黑" pitchFamily="34" charset="-122"/>
              <a:ea typeface="微软雅黑" pitchFamily="34" charset="-122"/>
            </a:endParaRPr>
          </a:p>
          <a:p>
            <a:endParaRPr lang="en-US" altLang="zh-CN" sz="1400" dirty="0"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客户端往往需要使用均衡组件</a:t>
            </a:r>
            <a:endParaRPr lang="en-US" altLang="zh-CN" sz="1400" dirty="0" smtClean="0"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服务</a:t>
            </a:r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端需要集群管理节点并心跳检测</a:t>
            </a:r>
            <a:endParaRPr lang="en-US" altLang="zh-CN" sz="1400" dirty="0" smtClean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23428371"/>
      </p:ext>
    </p:extLst>
  </p:cSld>
  <p:clrMapOvr>
    <a:masterClrMapping/>
  </p:clrMapOvr>
  <p:transition spd="med"/>
  <p:timing>
    <p:tnLst>
      <p:par>
        <p:cTn id="1" dur="indefinite" restart="never" fill="hold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0348" y="70524"/>
            <a:ext cx="7333980" cy="353933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8095" tIns="38095" rIns="38095" bIns="38095" numCol="1" spcCol="28571" rtlCol="0" anchor="ctr">
            <a:spAutoFit/>
          </a:bodyPr>
          <a:lstStyle/>
          <a:p>
            <a:pPr algn="just"/>
            <a:r>
              <a:rPr lang="en-US" altLang="zh-CN" b="1" dirty="0" smtClean="0">
                <a:solidFill>
                  <a:srgbClr val="1B42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DNS</a:t>
            </a:r>
            <a:r>
              <a:rPr lang="zh-CN" altLang="en-US" b="1" dirty="0" smtClean="0">
                <a:solidFill>
                  <a:srgbClr val="1B42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层的负载均衡与扩容</a:t>
            </a:r>
            <a:endParaRPr lang="zh-CN" altLang="en-US" b="1" dirty="0">
              <a:solidFill>
                <a:srgbClr val="1B428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00" name="直接连接符 199"/>
          <p:cNvCxnSpPr/>
          <p:nvPr/>
        </p:nvCxnSpPr>
        <p:spPr>
          <a:xfrm>
            <a:off x="0" y="474116"/>
            <a:ext cx="3415916" cy="0"/>
          </a:xfrm>
          <a:prstGeom prst="line">
            <a:avLst/>
          </a:prstGeom>
          <a:noFill/>
          <a:ln w="28575" cap="flat">
            <a:solidFill>
              <a:srgbClr val="1B428C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pic>
        <p:nvPicPr>
          <p:cNvPr id="5" name="Picture 3" descr="F:\midea-pay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7827" y="55016"/>
            <a:ext cx="1428750" cy="41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348" y="1419622"/>
            <a:ext cx="3990975" cy="2486025"/>
          </a:xfrm>
          <a:prstGeom prst="rect">
            <a:avLst/>
          </a:prstGeom>
          <a:noFill/>
          <a:ln w="9525">
            <a:solidFill>
              <a:srgbClr val="00B0F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5580112" y="1425797"/>
            <a:ext cx="156966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GLBS</a:t>
            </a:r>
          </a:p>
          <a:p>
            <a:r>
              <a:rPr lang="zh-CN" altLang="en-US" dirty="0" smtClean="0"/>
              <a:t>智能路由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二级域名划分</a:t>
            </a:r>
            <a:endParaRPr lang="zh-CN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644008" y="3398322"/>
            <a:ext cx="40062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缺陷：</a:t>
            </a:r>
            <a:endParaRPr lang="en-US" altLang="zh-CN" dirty="0" smtClean="0"/>
          </a:p>
          <a:p>
            <a:r>
              <a:rPr lang="en-US" altLang="zh-CN" dirty="0"/>
              <a:t> </a:t>
            </a:r>
            <a:r>
              <a:rPr lang="en-US" altLang="zh-CN" dirty="0" smtClean="0"/>
              <a:t>   WEB</a:t>
            </a:r>
            <a:r>
              <a:rPr lang="zh-CN" altLang="en-US" dirty="0" smtClean="0"/>
              <a:t>宕机，</a:t>
            </a:r>
            <a:r>
              <a:rPr lang="en-US" altLang="zh-CN" dirty="0" smtClean="0"/>
              <a:t>DNS</a:t>
            </a:r>
            <a:r>
              <a:rPr lang="zh-CN" altLang="en-US" dirty="0" smtClean="0"/>
              <a:t>负载均衡器无法识别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05461229"/>
      </p:ext>
    </p:extLst>
  </p:cSld>
  <p:clrMapOvr>
    <a:masterClrMapping/>
  </p:clrMapOvr>
  <p:transition spd="med"/>
  <p:timing>
    <p:tnLst>
      <p:par>
        <p:cTn id="1" dur="indefinite" restart="never" fill="hold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0348" y="70560"/>
            <a:ext cx="4372480" cy="35386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8095" tIns="38095" rIns="38095" bIns="38095" numCol="1" spcCol="28571" rtlCol="0" anchor="ctr">
            <a:spAutoFit/>
          </a:bodyPr>
          <a:lstStyle/>
          <a:p>
            <a:pPr algn="just"/>
            <a:r>
              <a:rPr lang="en-US" altLang="zh-CN" b="1" dirty="0" smtClean="0">
                <a:solidFill>
                  <a:srgbClr val="1B42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LVS-</a:t>
            </a:r>
            <a:r>
              <a:rPr lang="zh-CN" altLang="en-US" b="1" dirty="0" smtClean="0">
                <a:solidFill>
                  <a:srgbClr val="1B42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</a:t>
            </a:r>
            <a:r>
              <a:rPr lang="en-US" altLang="zh-CN" b="1" dirty="0" err="1" smtClean="0">
                <a:solidFill>
                  <a:srgbClr val="1B42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Nginx</a:t>
            </a:r>
            <a:r>
              <a:rPr lang="zh-CN" altLang="en-US" b="1" dirty="0" smtClean="0">
                <a:solidFill>
                  <a:srgbClr val="1B42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扩容</a:t>
            </a:r>
            <a:endParaRPr lang="zh-CN" altLang="en-US" sz="1800" b="1" dirty="0">
              <a:solidFill>
                <a:srgbClr val="1B428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00" name="直接连接符 199"/>
          <p:cNvCxnSpPr/>
          <p:nvPr/>
        </p:nvCxnSpPr>
        <p:spPr>
          <a:xfrm>
            <a:off x="0" y="474116"/>
            <a:ext cx="3415916" cy="0"/>
          </a:xfrm>
          <a:prstGeom prst="line">
            <a:avLst/>
          </a:prstGeom>
          <a:noFill/>
          <a:ln w="28575" cap="flat">
            <a:solidFill>
              <a:srgbClr val="1B428C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pic>
        <p:nvPicPr>
          <p:cNvPr id="5" name="Picture 3" descr="F:\midea-pay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7827" y="55016"/>
            <a:ext cx="1428750" cy="41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100" y="699542"/>
            <a:ext cx="3792606" cy="40228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3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0032" y="745355"/>
            <a:ext cx="1495425" cy="895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4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0032" y="2626965"/>
            <a:ext cx="1581150" cy="2105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5" name="Picture 7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69297" y="1683990"/>
            <a:ext cx="2181225" cy="304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444590"/>
            <a:ext cx="1600200" cy="1657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矩形 10"/>
          <p:cNvSpPr/>
          <p:nvPr/>
        </p:nvSpPr>
        <p:spPr>
          <a:xfrm>
            <a:off x="6025684" y="1271373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①</a:t>
            </a:r>
            <a:endParaRPr lang="zh-CN" altLang="en-US" dirty="0"/>
          </a:p>
        </p:txBody>
      </p:sp>
      <p:sp>
        <p:nvSpPr>
          <p:cNvPr id="12" name="矩形 11"/>
          <p:cNvSpPr/>
          <p:nvPr/>
        </p:nvSpPr>
        <p:spPr>
          <a:xfrm>
            <a:off x="6025684" y="4353108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②</a:t>
            </a:r>
            <a:endParaRPr lang="zh-CN" altLang="en-US" dirty="0"/>
          </a:p>
        </p:txBody>
      </p:sp>
      <p:sp>
        <p:nvSpPr>
          <p:cNvPr id="13" name="矩形 12"/>
          <p:cNvSpPr/>
          <p:nvPr/>
        </p:nvSpPr>
        <p:spPr>
          <a:xfrm>
            <a:off x="8535024" y="4362658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③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49985653"/>
      </p:ext>
    </p:extLst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0348" y="70524"/>
            <a:ext cx="4372480" cy="353933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8095" tIns="38095" rIns="38095" bIns="38095" numCol="1" spcCol="28571" rtlCol="0" anchor="ctr">
            <a:spAutoFit/>
          </a:bodyPr>
          <a:lstStyle/>
          <a:p>
            <a:pPr algn="just"/>
            <a:r>
              <a:rPr lang="en-US" altLang="zh-CN" b="1" dirty="0" smtClean="0">
                <a:solidFill>
                  <a:srgbClr val="1B42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NGINX</a:t>
            </a:r>
            <a:r>
              <a:rPr lang="en-US" altLang="zh-CN" b="1" dirty="0">
                <a:solidFill>
                  <a:srgbClr val="1B42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 WEB</a:t>
            </a:r>
            <a:r>
              <a:rPr lang="zh-CN" altLang="en-US" b="1" dirty="0">
                <a:solidFill>
                  <a:srgbClr val="1B42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应用扩容</a:t>
            </a:r>
            <a:endParaRPr lang="zh-CN" altLang="en-US" sz="1800" b="1" dirty="0">
              <a:solidFill>
                <a:srgbClr val="1B428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00" name="直接连接符 199"/>
          <p:cNvCxnSpPr/>
          <p:nvPr/>
        </p:nvCxnSpPr>
        <p:spPr>
          <a:xfrm>
            <a:off x="0" y="474116"/>
            <a:ext cx="3415916" cy="0"/>
          </a:xfrm>
          <a:prstGeom prst="line">
            <a:avLst/>
          </a:prstGeom>
          <a:noFill/>
          <a:ln w="28575" cap="flat">
            <a:solidFill>
              <a:srgbClr val="1B428C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pic>
        <p:nvPicPr>
          <p:cNvPr id="5" name="Picture 3" descr="F:\midea-pay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7827" y="55016"/>
            <a:ext cx="1428750" cy="41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5" name="Picture 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3027" y="2715766"/>
            <a:ext cx="3419475" cy="1981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矩形 7"/>
          <p:cNvSpPr/>
          <p:nvPr/>
        </p:nvSpPr>
        <p:spPr>
          <a:xfrm>
            <a:off x="4605139" y="1008961"/>
            <a:ext cx="3495253" cy="13996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382636">
              <a:lnSpc>
                <a:spcPct val="117999"/>
              </a:lnSpc>
              <a:defRPr/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五</a:t>
            </a:r>
            <a:r>
              <a:rPr lang="zh-CN" altLang="en-US" sz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种均衡算法：</a:t>
            </a:r>
            <a:endParaRPr lang="en-US" altLang="zh-CN" sz="12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382636">
              <a:lnSpc>
                <a:spcPct val="117999"/>
              </a:lnSpc>
              <a:defRPr/>
            </a:pPr>
            <a:r>
              <a:rPr lang="en-US" altLang="zh-CN" sz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Round </a:t>
            </a:r>
            <a:r>
              <a:rPr lang="en-US" altLang="zh-CN" sz="12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robin:default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382636">
              <a:lnSpc>
                <a:spcPct val="117999"/>
              </a:lnSpc>
              <a:defRPr/>
            </a:pP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Least </a:t>
            </a:r>
            <a:r>
              <a:rPr lang="en-US" altLang="zh-CN" sz="12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connections:least_conn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382636">
              <a:lnSpc>
                <a:spcPct val="117999"/>
              </a:lnSpc>
              <a:defRPr/>
            </a:pP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Least </a:t>
            </a:r>
            <a:r>
              <a:rPr lang="en-US" altLang="zh-CN" sz="1200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time:least_time</a:t>
            </a:r>
            <a:r>
              <a:rPr lang="en-US" altLang="zh-CN" sz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(NGINX PLUS)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382636">
              <a:lnSpc>
                <a:spcPct val="117999"/>
              </a:lnSpc>
              <a:defRPr/>
            </a:pP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Generic </a:t>
            </a:r>
            <a:r>
              <a:rPr lang="en-US" altLang="zh-CN" sz="12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hash:hash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382636">
              <a:lnSpc>
                <a:spcPct val="117999"/>
              </a:lnSpc>
              <a:defRPr/>
            </a:pP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IP </a:t>
            </a:r>
            <a:r>
              <a:rPr lang="en-US" altLang="zh-CN" sz="1200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hash:ip_hash</a:t>
            </a:r>
            <a:r>
              <a:rPr lang="en-US" altLang="zh-CN" sz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(HTTP ONLY)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666" y="1008961"/>
            <a:ext cx="2762250" cy="1657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666" y="3075806"/>
            <a:ext cx="3276600" cy="1647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80512888"/>
      </p:ext>
    </p:extLst>
  </p:cSld>
  <p:clrMapOvr>
    <a:masterClrMapping/>
  </p:clrMapOvr>
  <p:transition spd="med"/>
  <p:timing>
    <p:tnLst>
      <p:par>
        <p:cTn id="1" dur="indefinite" restart="never" fill="hold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0348" y="70560"/>
            <a:ext cx="4372480" cy="35386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8095" tIns="38095" rIns="38095" bIns="38095" numCol="1" spcCol="28571" rtlCol="0" anchor="ctr">
            <a:spAutoFit/>
          </a:bodyPr>
          <a:lstStyle/>
          <a:p>
            <a:pPr algn="just"/>
            <a:r>
              <a:rPr lang="zh-CN" altLang="en-US" b="1" dirty="0">
                <a:solidFill>
                  <a:srgbClr val="1B42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应用</a:t>
            </a:r>
            <a:r>
              <a:rPr lang="zh-CN" altLang="en-US" sz="1800" b="1" dirty="0" smtClean="0">
                <a:solidFill>
                  <a:srgbClr val="1B42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的扩容</a:t>
            </a:r>
            <a:endParaRPr lang="zh-CN" altLang="en-US" sz="1800" b="1" dirty="0">
              <a:solidFill>
                <a:srgbClr val="1B428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00" name="直接连接符 199"/>
          <p:cNvCxnSpPr/>
          <p:nvPr/>
        </p:nvCxnSpPr>
        <p:spPr>
          <a:xfrm>
            <a:off x="0" y="474116"/>
            <a:ext cx="3415916" cy="0"/>
          </a:xfrm>
          <a:prstGeom prst="line">
            <a:avLst/>
          </a:prstGeom>
          <a:noFill/>
          <a:ln w="28575" cap="flat">
            <a:solidFill>
              <a:srgbClr val="1B428C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pic>
        <p:nvPicPr>
          <p:cNvPr id="5" name="Picture 3" descr="F:\midea-pay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7827" y="55016"/>
            <a:ext cx="1428750" cy="41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AutoShape 4" descr="http://dubbo.io/images/dubbo-architecture.png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" name="AutoShape 6" descr="http://dubbo.io/images/dubbo-architecture.png"/>
          <p:cNvSpPr>
            <a:spLocks noChangeAspect="1" noChangeArrowheads="1"/>
          </p:cNvSpPr>
          <p:nvPr/>
        </p:nvSpPr>
        <p:spPr bwMode="auto">
          <a:xfrm>
            <a:off x="215900" y="1587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25607" name="Picture 7" descr="D:\Users\yetc\Pictures\dubbo-architecture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348" y="710977"/>
            <a:ext cx="4021612" cy="250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矩形 6"/>
          <p:cNvSpPr/>
          <p:nvPr/>
        </p:nvSpPr>
        <p:spPr>
          <a:xfrm>
            <a:off x="190348" y="3306346"/>
            <a:ext cx="8720015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200" dirty="0">
                <a:latin typeface="微软雅黑" pitchFamily="34" charset="-122"/>
                <a:ea typeface="微软雅黑" pitchFamily="34" charset="-122"/>
              </a:rPr>
              <a:t>[</a:t>
            </a:r>
            <a:r>
              <a:rPr lang="en-US" altLang="zh-CN" sz="1200" dirty="0" err="1">
                <a:latin typeface="微软雅黑" pitchFamily="34" charset="-122"/>
                <a:ea typeface="微软雅黑" pitchFamily="34" charset="-122"/>
              </a:rPr>
              <a:t>zk</a:t>
            </a:r>
            <a:r>
              <a:rPr lang="en-US" altLang="zh-CN" sz="1200" dirty="0">
                <a:latin typeface="微软雅黑" pitchFamily="34" charset="-122"/>
                <a:ea typeface="微软雅黑" pitchFamily="34" charset="-122"/>
              </a:rPr>
              <a:t>: zk.pay1pay.com:21811(CONNECTED) 3] </a:t>
            </a:r>
            <a:r>
              <a:rPr lang="en-US" altLang="zh-CN" sz="1200" dirty="0" err="1">
                <a:latin typeface="微软雅黑" pitchFamily="34" charset="-122"/>
                <a:ea typeface="微软雅黑" pitchFamily="34" charset="-122"/>
              </a:rPr>
              <a:t>ls</a:t>
            </a:r>
            <a:r>
              <a:rPr lang="en-US" altLang="zh-CN" sz="1200" dirty="0">
                <a:latin typeface="微软雅黑" pitchFamily="34" charset="-122"/>
                <a:ea typeface="微软雅黑" pitchFamily="34" charset="-122"/>
              </a:rPr>
              <a:t> /</a:t>
            </a:r>
            <a:r>
              <a:rPr lang="en-US" altLang="zh-CN" sz="1200" dirty="0" err="1">
                <a:latin typeface="微软雅黑" pitchFamily="34" charset="-122"/>
                <a:ea typeface="微软雅黑" pitchFamily="34" charset="-122"/>
              </a:rPr>
              <a:t>dubbo</a:t>
            </a:r>
            <a:r>
              <a:rPr lang="en-US" altLang="zh-CN" sz="1200" dirty="0">
                <a:latin typeface="微软雅黑" pitchFamily="34" charset="-122"/>
                <a:ea typeface="微软雅黑" pitchFamily="34" charset="-122"/>
              </a:rPr>
              <a:t>/com.pay1pay.order.facade.TransferOrderFacade </a:t>
            </a:r>
          </a:p>
          <a:p>
            <a:r>
              <a:rPr lang="en-US" altLang="zh-CN" sz="1200" dirty="0">
                <a:latin typeface="微软雅黑" pitchFamily="34" charset="-122"/>
                <a:ea typeface="微软雅黑" pitchFamily="34" charset="-122"/>
              </a:rPr>
              <a:t>[consumers, routers, providers, configurators]</a:t>
            </a:r>
          </a:p>
          <a:p>
            <a:endParaRPr lang="en-US" altLang="zh-CN" sz="1200" dirty="0">
              <a:latin typeface="微软雅黑" pitchFamily="34" charset="-122"/>
              <a:ea typeface="微软雅黑" pitchFamily="34" charset="-122"/>
            </a:endParaRPr>
          </a:p>
          <a:p>
            <a:r>
              <a:rPr lang="en-US" altLang="zh-CN" sz="1200" dirty="0">
                <a:latin typeface="微软雅黑" pitchFamily="34" charset="-122"/>
                <a:ea typeface="微软雅黑" pitchFamily="34" charset="-122"/>
              </a:rPr>
              <a:t>[</a:t>
            </a:r>
            <a:r>
              <a:rPr lang="en-US" altLang="zh-CN" sz="1200" dirty="0" err="1">
                <a:latin typeface="微软雅黑" pitchFamily="34" charset="-122"/>
                <a:ea typeface="微软雅黑" pitchFamily="34" charset="-122"/>
              </a:rPr>
              <a:t>zk</a:t>
            </a:r>
            <a:r>
              <a:rPr lang="en-US" altLang="zh-CN" sz="1200" dirty="0">
                <a:latin typeface="微软雅黑" pitchFamily="34" charset="-122"/>
                <a:ea typeface="微软雅黑" pitchFamily="34" charset="-122"/>
              </a:rPr>
              <a:t>: zk.pay1pay.com:21811(CONNECTED) 8] </a:t>
            </a:r>
            <a:r>
              <a:rPr lang="en-US" altLang="zh-CN" sz="1200" dirty="0" err="1">
                <a:latin typeface="微软雅黑" pitchFamily="34" charset="-122"/>
                <a:ea typeface="微软雅黑" pitchFamily="34" charset="-122"/>
              </a:rPr>
              <a:t>ls</a:t>
            </a:r>
            <a:r>
              <a:rPr lang="en-US" altLang="zh-CN" sz="1200" dirty="0">
                <a:latin typeface="微软雅黑" pitchFamily="34" charset="-122"/>
                <a:ea typeface="微软雅黑" pitchFamily="34" charset="-122"/>
              </a:rPr>
              <a:t> /</a:t>
            </a:r>
            <a:r>
              <a:rPr lang="en-US" altLang="zh-CN" sz="1200" dirty="0" err="1">
                <a:latin typeface="微软雅黑" pitchFamily="34" charset="-122"/>
                <a:ea typeface="微软雅黑" pitchFamily="34" charset="-122"/>
              </a:rPr>
              <a:t>dubbo</a:t>
            </a:r>
            <a:r>
              <a:rPr lang="en-US" altLang="zh-CN" sz="1200" dirty="0">
                <a:latin typeface="微软雅黑" pitchFamily="34" charset="-122"/>
                <a:ea typeface="微软雅黑" pitchFamily="34" charset="-122"/>
              </a:rPr>
              <a:t>/com.pay1pay.order.facade.TransferOrderFacade/providers </a:t>
            </a:r>
          </a:p>
          <a:p>
            <a:r>
              <a:rPr lang="en-US" altLang="zh-CN" sz="1200" dirty="0" smtClean="0">
                <a:latin typeface="微软雅黑" pitchFamily="34" charset="-122"/>
                <a:ea typeface="微软雅黑" pitchFamily="34" charset="-122"/>
              </a:rPr>
              <a:t>[hsf://10.16.74.58:42156/com.pay1pay.order.facade.TransferOrderFacade?anyhost=true&amp;application=order&amp;default.service.filter=monitorFilter&amp;dubbo=2.8.6&amp;generic=false&amp;heartbeat=5000&amp;interface=com.pay1pay.order.facade.TransferOrderFacade&amp;methods=distributeToBalRefundOrderReq,distributeToBalOrderReq,transferWithOutTradeNo,transferOrderReq&amp;owner=xiaoyulei&amp;pid=7440&amp;revision=3.6.0-SNAPSHOT&amp;side=provider&amp;timestamp=1510022440787]</a:t>
            </a:r>
            <a:endParaRPr lang="zh-CN" altLang="en-US" sz="1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4877987" y="640024"/>
            <a:ext cx="4032376" cy="24929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200" dirty="0">
                <a:latin typeface="微软雅黑" pitchFamily="34" charset="-122"/>
                <a:ea typeface="微软雅黑" pitchFamily="34" charset="-122"/>
              </a:rPr>
              <a:t>get /</a:t>
            </a:r>
            <a:r>
              <a:rPr lang="en-US" altLang="zh-CN" sz="1200" dirty="0" err="1">
                <a:latin typeface="微软雅黑" pitchFamily="34" charset="-122"/>
                <a:ea typeface="微软雅黑" pitchFamily="34" charset="-122"/>
              </a:rPr>
              <a:t>dubbo</a:t>
            </a:r>
            <a:r>
              <a:rPr lang="en-US" altLang="zh-CN" sz="1200" dirty="0" smtClean="0">
                <a:latin typeface="微软雅黑" pitchFamily="34" charset="-122"/>
                <a:ea typeface="微软雅黑" pitchFamily="34" charset="-122"/>
              </a:rPr>
              <a:t>/…</a:t>
            </a:r>
            <a:r>
              <a:rPr lang="en-US" altLang="zh-CN" sz="1200" dirty="0" err="1" smtClean="0">
                <a:latin typeface="微软雅黑" pitchFamily="34" charset="-122"/>
                <a:ea typeface="微软雅黑" pitchFamily="34" charset="-122"/>
              </a:rPr>
              <a:t>TransferOrderFacade</a:t>
            </a:r>
            <a:r>
              <a:rPr lang="en-US" altLang="zh-CN" sz="1200" dirty="0" smtClean="0">
                <a:latin typeface="微软雅黑" pitchFamily="34" charset="-122"/>
                <a:ea typeface="微软雅黑" pitchFamily="34" charset="-122"/>
              </a:rPr>
              <a:t>/providers/</a:t>
            </a:r>
            <a:r>
              <a:rPr lang="en-US" altLang="zh-CN" sz="1200" dirty="0" err="1" smtClean="0">
                <a:latin typeface="微软雅黑" pitchFamily="34" charset="-122"/>
                <a:ea typeface="微软雅黑" pitchFamily="34" charset="-122"/>
              </a:rPr>
              <a:t>hsf</a:t>
            </a:r>
            <a:r>
              <a:rPr lang="en-US" altLang="zh-CN" sz="1200" dirty="0">
                <a:latin typeface="微软雅黑" pitchFamily="34" charset="-122"/>
                <a:ea typeface="微软雅黑" pitchFamily="34" charset="-122"/>
              </a:rPr>
              <a:t>...</a:t>
            </a:r>
          </a:p>
          <a:p>
            <a:r>
              <a:rPr lang="en-US" altLang="zh-CN" sz="1200" dirty="0">
                <a:latin typeface="微软雅黑" pitchFamily="34" charset="-122"/>
                <a:ea typeface="微软雅黑" pitchFamily="34" charset="-122"/>
              </a:rPr>
              <a:t>10.16.74.58</a:t>
            </a:r>
          </a:p>
          <a:p>
            <a:r>
              <a:rPr lang="en-US" altLang="zh-CN" sz="1200" dirty="0" err="1">
                <a:latin typeface="微软雅黑" pitchFamily="34" charset="-122"/>
                <a:ea typeface="微软雅黑" pitchFamily="34" charset="-122"/>
              </a:rPr>
              <a:t>cZxid</a:t>
            </a:r>
            <a:r>
              <a:rPr lang="en-US" altLang="zh-CN" sz="1200" dirty="0">
                <a:latin typeface="微软雅黑" pitchFamily="34" charset="-122"/>
                <a:ea typeface="微软雅黑" pitchFamily="34" charset="-122"/>
              </a:rPr>
              <a:t> = 0x128005fc93b</a:t>
            </a:r>
          </a:p>
          <a:p>
            <a:r>
              <a:rPr lang="en-US" altLang="zh-CN" sz="1200" dirty="0" err="1">
                <a:latin typeface="微软雅黑" pitchFamily="34" charset="-122"/>
                <a:ea typeface="微软雅黑" pitchFamily="34" charset="-122"/>
              </a:rPr>
              <a:t>ctime</a:t>
            </a:r>
            <a:r>
              <a:rPr lang="en-US" altLang="zh-CN" sz="1200" dirty="0">
                <a:latin typeface="微软雅黑" pitchFamily="34" charset="-122"/>
                <a:ea typeface="微软雅黑" pitchFamily="34" charset="-122"/>
              </a:rPr>
              <a:t> = Tue Nov 07 10:40:40 CST 2017</a:t>
            </a:r>
          </a:p>
          <a:p>
            <a:r>
              <a:rPr lang="en-US" altLang="zh-CN" sz="1200" dirty="0" err="1">
                <a:latin typeface="微软雅黑" pitchFamily="34" charset="-122"/>
                <a:ea typeface="微软雅黑" pitchFamily="34" charset="-122"/>
              </a:rPr>
              <a:t>mZxid</a:t>
            </a:r>
            <a:r>
              <a:rPr lang="en-US" altLang="zh-CN" sz="1200" dirty="0">
                <a:latin typeface="微软雅黑" pitchFamily="34" charset="-122"/>
                <a:ea typeface="微软雅黑" pitchFamily="34" charset="-122"/>
              </a:rPr>
              <a:t> = 0x128005fc93b</a:t>
            </a:r>
          </a:p>
          <a:p>
            <a:r>
              <a:rPr lang="en-US" altLang="zh-CN" sz="1200" dirty="0" err="1">
                <a:latin typeface="微软雅黑" pitchFamily="34" charset="-122"/>
                <a:ea typeface="微软雅黑" pitchFamily="34" charset="-122"/>
              </a:rPr>
              <a:t>mtime</a:t>
            </a:r>
            <a:r>
              <a:rPr lang="en-US" altLang="zh-CN" sz="1200" dirty="0">
                <a:latin typeface="微软雅黑" pitchFamily="34" charset="-122"/>
                <a:ea typeface="微软雅黑" pitchFamily="34" charset="-122"/>
              </a:rPr>
              <a:t> = Tue Nov 07 10:40:40 CST 2017</a:t>
            </a:r>
          </a:p>
          <a:p>
            <a:r>
              <a:rPr lang="en-US" altLang="zh-CN" sz="1200" dirty="0" err="1">
                <a:latin typeface="微软雅黑" pitchFamily="34" charset="-122"/>
                <a:ea typeface="微软雅黑" pitchFamily="34" charset="-122"/>
              </a:rPr>
              <a:t>pZxid</a:t>
            </a:r>
            <a:r>
              <a:rPr lang="en-US" altLang="zh-CN" sz="1200" dirty="0">
                <a:latin typeface="微软雅黑" pitchFamily="34" charset="-122"/>
                <a:ea typeface="微软雅黑" pitchFamily="34" charset="-122"/>
              </a:rPr>
              <a:t> = 0x128005fc93b</a:t>
            </a:r>
          </a:p>
          <a:p>
            <a:r>
              <a:rPr lang="en-US" altLang="zh-CN" sz="1200" dirty="0" err="1">
                <a:latin typeface="微软雅黑" pitchFamily="34" charset="-122"/>
                <a:ea typeface="微软雅黑" pitchFamily="34" charset="-122"/>
              </a:rPr>
              <a:t>cversion</a:t>
            </a:r>
            <a:r>
              <a:rPr lang="en-US" altLang="zh-CN" sz="1200" dirty="0">
                <a:latin typeface="微软雅黑" pitchFamily="34" charset="-122"/>
                <a:ea typeface="微软雅黑" pitchFamily="34" charset="-122"/>
              </a:rPr>
              <a:t> = 0</a:t>
            </a:r>
          </a:p>
          <a:p>
            <a:r>
              <a:rPr lang="en-US" altLang="zh-CN" sz="1200" dirty="0" err="1">
                <a:latin typeface="微软雅黑" pitchFamily="34" charset="-122"/>
                <a:ea typeface="微软雅黑" pitchFamily="34" charset="-122"/>
              </a:rPr>
              <a:t>dataVersion</a:t>
            </a:r>
            <a:r>
              <a:rPr lang="en-US" altLang="zh-CN" sz="1200" dirty="0">
                <a:latin typeface="微软雅黑" pitchFamily="34" charset="-122"/>
                <a:ea typeface="微软雅黑" pitchFamily="34" charset="-122"/>
              </a:rPr>
              <a:t> = 0</a:t>
            </a:r>
          </a:p>
          <a:p>
            <a:r>
              <a:rPr lang="en-US" altLang="zh-CN" sz="1200" dirty="0" err="1">
                <a:latin typeface="微软雅黑" pitchFamily="34" charset="-122"/>
                <a:ea typeface="微软雅黑" pitchFamily="34" charset="-122"/>
              </a:rPr>
              <a:t>aclVersion</a:t>
            </a:r>
            <a:r>
              <a:rPr lang="en-US" altLang="zh-CN" sz="1200" dirty="0">
                <a:latin typeface="微软雅黑" pitchFamily="34" charset="-122"/>
                <a:ea typeface="微软雅黑" pitchFamily="34" charset="-122"/>
              </a:rPr>
              <a:t> = 0</a:t>
            </a:r>
          </a:p>
          <a:p>
            <a:r>
              <a:rPr lang="en-US" altLang="zh-CN" sz="1200" dirty="0" err="1">
                <a:latin typeface="微软雅黑" pitchFamily="34" charset="-122"/>
                <a:ea typeface="微软雅黑" pitchFamily="34" charset="-122"/>
              </a:rPr>
              <a:t>ephemeralOwner</a:t>
            </a:r>
            <a:r>
              <a:rPr lang="en-US" altLang="zh-CN" sz="1200" dirty="0">
                <a:latin typeface="微软雅黑" pitchFamily="34" charset="-122"/>
                <a:ea typeface="微软雅黑" pitchFamily="34" charset="-122"/>
              </a:rPr>
              <a:t> = 0x15d8750f5752683</a:t>
            </a:r>
          </a:p>
          <a:p>
            <a:r>
              <a:rPr lang="en-US" altLang="zh-CN" sz="1200" dirty="0" err="1">
                <a:latin typeface="微软雅黑" pitchFamily="34" charset="-122"/>
                <a:ea typeface="微软雅黑" pitchFamily="34" charset="-122"/>
              </a:rPr>
              <a:t>dataLength</a:t>
            </a:r>
            <a:r>
              <a:rPr lang="en-US" altLang="zh-CN" sz="1200" dirty="0">
                <a:latin typeface="微软雅黑" pitchFamily="34" charset="-122"/>
                <a:ea typeface="微软雅黑" pitchFamily="34" charset="-122"/>
              </a:rPr>
              <a:t> = 11</a:t>
            </a:r>
          </a:p>
          <a:p>
            <a:r>
              <a:rPr lang="en-US" altLang="zh-CN" sz="1200" dirty="0" err="1">
                <a:latin typeface="微软雅黑" pitchFamily="34" charset="-122"/>
                <a:ea typeface="微软雅黑" pitchFamily="34" charset="-122"/>
              </a:rPr>
              <a:t>numChildren</a:t>
            </a:r>
            <a:r>
              <a:rPr lang="en-US" altLang="zh-CN" sz="1200" dirty="0">
                <a:latin typeface="微软雅黑" pitchFamily="34" charset="-122"/>
                <a:ea typeface="微软雅黑" pitchFamily="34" charset="-122"/>
              </a:rPr>
              <a:t> = 0</a:t>
            </a:r>
            <a:endParaRPr lang="zh-CN" altLang="en-US" sz="1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" name="左弧形箭头 8"/>
          <p:cNvSpPr/>
          <p:nvPr/>
        </p:nvSpPr>
        <p:spPr>
          <a:xfrm flipH="1" flipV="1">
            <a:off x="8522070" y="1587517"/>
            <a:ext cx="530010" cy="2455530"/>
          </a:xfrm>
          <a:prstGeom prst="curvedRightArrow">
            <a:avLst/>
          </a:prstGeom>
          <a:solidFill>
            <a:srgbClr val="00B050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5461229"/>
      </p:ext>
    </p:extLst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190348" y="70560"/>
            <a:ext cx="4372480" cy="35386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8095" tIns="38095" rIns="38095" bIns="38095" numCol="1" spcCol="28571" rtlCol="0" anchor="ctr">
            <a:spAutoFit/>
          </a:bodyPr>
          <a:lstStyle/>
          <a:p>
            <a:pPr algn="just"/>
            <a:r>
              <a:rPr lang="zh-CN" altLang="en-US" sz="1800" b="1" dirty="0" smtClean="0">
                <a:solidFill>
                  <a:srgbClr val="1B42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系统伸缩</a:t>
            </a:r>
            <a:r>
              <a:rPr lang="en-US" altLang="zh-CN" sz="1800" b="1" dirty="0" smtClean="0">
                <a:solidFill>
                  <a:srgbClr val="1B42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1800" b="1" dirty="0" smtClean="0">
                <a:solidFill>
                  <a:srgbClr val="1B42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存储如何伸缩？</a:t>
            </a:r>
            <a:endParaRPr lang="zh-CN" altLang="en-US" sz="1800" b="1" dirty="0">
              <a:solidFill>
                <a:srgbClr val="1B428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0" y="474116"/>
            <a:ext cx="3415916" cy="0"/>
          </a:xfrm>
          <a:prstGeom prst="line">
            <a:avLst/>
          </a:prstGeom>
          <a:noFill/>
          <a:ln w="28575" cap="flat">
            <a:solidFill>
              <a:srgbClr val="1B428C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2" name="TextBox 11"/>
          <p:cNvSpPr txBox="1"/>
          <p:nvPr/>
        </p:nvSpPr>
        <p:spPr>
          <a:xfrm>
            <a:off x="768615" y="987574"/>
            <a:ext cx="321594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 smtClean="0">
                <a:latin typeface="微软雅黑" pitchFamily="34" charset="-122"/>
                <a:ea typeface="微软雅黑" pitchFamily="34" charset="-122"/>
              </a:rPr>
              <a:t>面临的问题：</a:t>
            </a:r>
            <a:endParaRPr lang="en-US" altLang="zh-CN" sz="1600" dirty="0" smtClean="0">
              <a:latin typeface="微软雅黑" pitchFamily="34" charset="-122"/>
              <a:ea typeface="微软雅黑" pitchFamily="34" charset="-122"/>
            </a:endParaRPr>
          </a:p>
          <a:p>
            <a:r>
              <a:rPr lang="en-US" altLang="zh-CN" sz="1600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1600" dirty="0" smtClean="0">
                <a:latin typeface="微软雅黑" pitchFamily="34" charset="-122"/>
                <a:ea typeface="微软雅黑" pitchFamily="34" charset="-122"/>
              </a:rPr>
              <a:t>   1</a:t>
            </a:r>
            <a:r>
              <a:rPr lang="zh-CN" altLang="en-US" sz="1600" dirty="0" smtClean="0">
                <a:latin typeface="微软雅黑" pitchFamily="34" charset="-122"/>
                <a:ea typeface="微软雅黑" pitchFamily="34" charset="-122"/>
              </a:rPr>
              <a:t>、伸缩后如何重新均衡负载？</a:t>
            </a:r>
            <a:endParaRPr lang="en-US" altLang="zh-CN" sz="1600" dirty="0" smtClean="0">
              <a:latin typeface="微软雅黑" pitchFamily="34" charset="-122"/>
              <a:ea typeface="微软雅黑" pitchFamily="34" charset="-122"/>
            </a:endParaRPr>
          </a:p>
          <a:p>
            <a:r>
              <a:rPr lang="en-US" altLang="zh-CN" sz="1600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1600" dirty="0" smtClean="0">
                <a:latin typeface="微软雅黑" pitchFamily="34" charset="-122"/>
                <a:ea typeface="微软雅黑" pitchFamily="34" charset="-122"/>
              </a:rPr>
              <a:t>   2</a:t>
            </a:r>
            <a:r>
              <a:rPr lang="zh-CN" altLang="en-US" sz="1600" dirty="0" smtClean="0">
                <a:latin typeface="微软雅黑" pitchFamily="34" charset="-122"/>
                <a:ea typeface="微软雅黑" pitchFamily="34" charset="-122"/>
              </a:rPr>
              <a:t>、历史数据如何处理？</a:t>
            </a:r>
            <a:endParaRPr lang="zh-CN" altLang="en-US" sz="16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68616" y="2427734"/>
            <a:ext cx="57443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 smtClean="0">
                <a:latin typeface="微软雅黑" pitchFamily="34" charset="-122"/>
                <a:ea typeface="微软雅黑" pitchFamily="34" charset="-122"/>
              </a:rPr>
              <a:t>数据存放位置</a:t>
            </a:r>
            <a:r>
              <a:rPr lang="zh-CN" altLang="en-US" sz="1600" dirty="0">
                <a:latin typeface="微软雅黑" pitchFamily="34" charset="-122"/>
                <a:ea typeface="微软雅黑" pitchFamily="34" charset="-122"/>
              </a:rPr>
              <a:t>使用</a:t>
            </a:r>
            <a:r>
              <a:rPr lang="zh-CN" altLang="en-US" sz="1600" dirty="0" smtClean="0">
                <a:latin typeface="微软雅黑" pitchFamily="34" charset="-122"/>
                <a:ea typeface="微软雅黑" pitchFamily="34" charset="-122"/>
              </a:rPr>
              <a:t>模</a:t>
            </a:r>
            <a:r>
              <a:rPr lang="en-US" altLang="zh-CN" sz="1600" dirty="0" smtClean="0">
                <a:latin typeface="微软雅黑" pitchFamily="34" charset="-122"/>
                <a:ea typeface="微软雅黑" pitchFamily="34" charset="-122"/>
              </a:rPr>
              <a:t>3</a:t>
            </a:r>
            <a:r>
              <a:rPr lang="zh-CN" altLang="en-US" sz="1600" dirty="0" smtClean="0">
                <a:latin typeface="微软雅黑" pitchFamily="34" charset="-122"/>
                <a:ea typeface="微软雅黑" pitchFamily="34" charset="-122"/>
              </a:rPr>
              <a:t>拆分定位，现需要模</a:t>
            </a:r>
            <a:r>
              <a:rPr lang="en-US" altLang="zh-CN" sz="1600" dirty="0" smtClean="0">
                <a:latin typeface="微软雅黑" pitchFamily="34" charset="-122"/>
                <a:ea typeface="微软雅黑" pitchFamily="34" charset="-122"/>
              </a:rPr>
              <a:t>4</a:t>
            </a:r>
            <a:r>
              <a:rPr lang="zh-CN" altLang="en-US" sz="1600" dirty="0" smtClean="0">
                <a:latin typeface="微软雅黑" pitchFamily="34" charset="-122"/>
                <a:ea typeface="微软雅黑" pitchFamily="34" charset="-122"/>
              </a:rPr>
              <a:t>拆分成</a:t>
            </a:r>
            <a:r>
              <a:rPr lang="en-US" altLang="zh-CN" sz="1600" dirty="0" smtClean="0">
                <a:latin typeface="微软雅黑" pitchFamily="34" charset="-122"/>
                <a:ea typeface="微软雅黑" pitchFamily="34" charset="-122"/>
              </a:rPr>
              <a:t>4</a:t>
            </a:r>
            <a:r>
              <a:rPr lang="zh-CN" altLang="en-US" sz="1600" dirty="0" smtClean="0">
                <a:latin typeface="微软雅黑" pitchFamily="34" charset="-122"/>
                <a:ea typeface="微软雅黑" pitchFamily="34" charset="-122"/>
              </a:rPr>
              <a:t>份，请问需要迁移多少数据？</a:t>
            </a:r>
            <a:endParaRPr lang="zh-CN" altLang="en-US" sz="1600" dirty="0">
              <a:latin typeface="微软雅黑" pitchFamily="34" charset="-122"/>
              <a:ea typeface="微软雅黑" pitchFamily="34" charset="-122"/>
            </a:endParaRPr>
          </a:p>
        </p:txBody>
      </p:sp>
      <p:graphicFrame>
        <p:nvGraphicFramePr>
          <p:cNvPr id="14" name="表格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0118694"/>
              </p:ext>
            </p:extLst>
          </p:nvPr>
        </p:nvGraphicFramePr>
        <p:xfrm>
          <a:off x="623501" y="3137014"/>
          <a:ext cx="6096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8000"/>
                <a:gridCol w="508000"/>
                <a:gridCol w="508000"/>
                <a:gridCol w="508000"/>
                <a:gridCol w="508000"/>
                <a:gridCol w="508000"/>
                <a:gridCol w="508000"/>
                <a:gridCol w="508000"/>
                <a:gridCol w="508000"/>
                <a:gridCol w="508000"/>
                <a:gridCol w="508000"/>
                <a:gridCol w="5080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" name="表格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4444941"/>
              </p:ext>
            </p:extLst>
          </p:nvPr>
        </p:nvGraphicFramePr>
        <p:xfrm>
          <a:off x="633001" y="4001110"/>
          <a:ext cx="6096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8000"/>
                <a:gridCol w="508000"/>
                <a:gridCol w="508000"/>
                <a:gridCol w="508000"/>
                <a:gridCol w="508000"/>
                <a:gridCol w="508000"/>
                <a:gridCol w="508000"/>
                <a:gridCol w="508000"/>
                <a:gridCol w="508000"/>
                <a:gridCol w="508000"/>
                <a:gridCol w="508000"/>
                <a:gridCol w="5080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cxnSp>
        <p:nvCxnSpPr>
          <p:cNvPr id="17" name="直接箭头连接符 16"/>
          <p:cNvCxnSpPr/>
          <p:nvPr/>
        </p:nvCxnSpPr>
        <p:spPr>
          <a:xfrm>
            <a:off x="2408521" y="3497054"/>
            <a:ext cx="0" cy="504056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/>
          <p:cNvCxnSpPr/>
          <p:nvPr/>
        </p:nvCxnSpPr>
        <p:spPr>
          <a:xfrm>
            <a:off x="3929091" y="3497054"/>
            <a:ext cx="0" cy="504056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/>
          <p:cNvCxnSpPr/>
          <p:nvPr/>
        </p:nvCxnSpPr>
        <p:spPr>
          <a:xfrm>
            <a:off x="4433147" y="3497054"/>
            <a:ext cx="0" cy="504056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/>
          <p:cNvCxnSpPr/>
          <p:nvPr/>
        </p:nvCxnSpPr>
        <p:spPr>
          <a:xfrm>
            <a:off x="5441259" y="3497054"/>
            <a:ext cx="0" cy="504056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箭头连接符 23"/>
          <p:cNvCxnSpPr/>
          <p:nvPr/>
        </p:nvCxnSpPr>
        <p:spPr>
          <a:xfrm>
            <a:off x="5945315" y="3510560"/>
            <a:ext cx="0" cy="504056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4"/>
          <p:cNvCxnSpPr/>
          <p:nvPr/>
        </p:nvCxnSpPr>
        <p:spPr>
          <a:xfrm>
            <a:off x="6449371" y="3485160"/>
            <a:ext cx="0" cy="504056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7524328" y="3147814"/>
            <a:ext cx="79208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7200" dirty="0" smtClean="0">
                <a:latin typeface="微软雅黑" pitchFamily="34" charset="-122"/>
                <a:ea typeface="微软雅黑" pitchFamily="34" charset="-122"/>
              </a:rPr>
              <a:t>½</a:t>
            </a:r>
            <a:endParaRPr lang="zh-CN" altLang="en-US" sz="7200" dirty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4709020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0348" y="70560"/>
            <a:ext cx="4372480" cy="35386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8095" tIns="38095" rIns="38095" bIns="38095" numCol="1" spcCol="28571" rtlCol="0" anchor="ctr">
            <a:spAutoFit/>
          </a:bodyPr>
          <a:lstStyle/>
          <a:p>
            <a:pPr algn="just"/>
            <a:r>
              <a:rPr lang="zh-CN" altLang="en-US" b="1" dirty="0" smtClean="0">
                <a:solidFill>
                  <a:srgbClr val="1B42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数据迁移最小化</a:t>
            </a:r>
            <a:r>
              <a:rPr lang="en-US" altLang="zh-CN" b="1" dirty="0" smtClean="0">
                <a:solidFill>
                  <a:srgbClr val="1B42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1800" b="1" dirty="0" smtClean="0">
                <a:solidFill>
                  <a:srgbClr val="1B42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一致性哈希算法</a:t>
            </a:r>
            <a:endParaRPr lang="zh-CN" altLang="en-US" sz="1800" b="1" dirty="0">
              <a:solidFill>
                <a:srgbClr val="1B428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00" name="直接连接符 199"/>
          <p:cNvCxnSpPr/>
          <p:nvPr/>
        </p:nvCxnSpPr>
        <p:spPr>
          <a:xfrm>
            <a:off x="0" y="474116"/>
            <a:ext cx="3415916" cy="0"/>
          </a:xfrm>
          <a:prstGeom prst="line">
            <a:avLst/>
          </a:prstGeom>
          <a:noFill/>
          <a:ln w="28575" cap="flat">
            <a:solidFill>
              <a:srgbClr val="1B428C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pic>
        <p:nvPicPr>
          <p:cNvPr id="5" name="Picture 3" descr="F:\midea-pay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7827" y="55016"/>
            <a:ext cx="1428750" cy="41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62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0032" y="1347614"/>
            <a:ext cx="2971800" cy="275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395536" y="2211710"/>
            <a:ext cx="3600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麻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省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理工学院于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1997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年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提出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的一种分布式哈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希实现算法。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31952939"/>
      </p:ext>
    </p:extLst>
  </p:cSld>
  <p:clrMapOvr>
    <a:masterClrMapping/>
  </p:clrMapOvr>
  <p:transition spd="med"/>
  <p:timing>
    <p:tnLst>
      <p:par>
        <p:cTn id="1" dur="indefinite" restart="never" fill="hold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0348" y="70524"/>
            <a:ext cx="6397876" cy="353933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8095" tIns="38095" rIns="38095" bIns="38095" numCol="1" spcCol="28571" rtlCol="0" anchor="ctr">
            <a:spAutoFit/>
          </a:bodyPr>
          <a:lstStyle/>
          <a:p>
            <a:pPr algn="just"/>
            <a:r>
              <a:rPr lang="zh-CN" altLang="en-US" b="1" dirty="0" smtClean="0">
                <a:solidFill>
                  <a:srgbClr val="1B42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数据迁移最小化</a:t>
            </a:r>
            <a:r>
              <a:rPr lang="en-US" altLang="zh-CN" b="1" dirty="0" smtClean="0">
                <a:solidFill>
                  <a:srgbClr val="1B42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1800" b="1" dirty="0" smtClean="0">
                <a:solidFill>
                  <a:srgbClr val="1B42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一致性哈希算法删除和添加节点</a:t>
            </a:r>
            <a:endParaRPr lang="zh-CN" altLang="en-US" sz="1800" b="1" dirty="0">
              <a:solidFill>
                <a:srgbClr val="1B428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00" name="直接连接符 199"/>
          <p:cNvCxnSpPr/>
          <p:nvPr/>
        </p:nvCxnSpPr>
        <p:spPr>
          <a:xfrm>
            <a:off x="0" y="474116"/>
            <a:ext cx="3415916" cy="0"/>
          </a:xfrm>
          <a:prstGeom prst="line">
            <a:avLst/>
          </a:prstGeom>
          <a:noFill/>
          <a:ln w="28575" cap="flat">
            <a:solidFill>
              <a:srgbClr val="1B428C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pic>
        <p:nvPicPr>
          <p:cNvPr id="5" name="Picture 3" descr="F:\midea-pay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7827" y="55016"/>
            <a:ext cx="1428750" cy="41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2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2025" y="1203598"/>
            <a:ext cx="3000375" cy="2809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24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7557" y="1184548"/>
            <a:ext cx="3286125" cy="2828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1115616" y="4299942"/>
            <a:ext cx="34163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如何解决节点分布不均匀问题？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47921499"/>
      </p:ext>
    </p:extLst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0348" y="70524"/>
            <a:ext cx="6397876" cy="353933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8095" tIns="38095" rIns="38095" bIns="38095" numCol="1" spcCol="28571" rtlCol="0" anchor="ctr">
            <a:spAutoFit/>
          </a:bodyPr>
          <a:lstStyle/>
          <a:p>
            <a:pPr algn="just"/>
            <a:r>
              <a:rPr lang="zh-CN" altLang="en-US" b="1" dirty="0" smtClean="0">
                <a:solidFill>
                  <a:srgbClr val="1B42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数据迁移最小化</a:t>
            </a:r>
            <a:r>
              <a:rPr lang="en-US" altLang="zh-CN" b="1" dirty="0" smtClean="0">
                <a:solidFill>
                  <a:srgbClr val="1B42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b="1" dirty="0" smtClean="0">
                <a:solidFill>
                  <a:srgbClr val="1B42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解决</a:t>
            </a:r>
            <a:r>
              <a:rPr lang="zh-CN" altLang="en-US" b="1" dirty="0">
                <a:solidFill>
                  <a:srgbClr val="1B42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哈</a:t>
            </a:r>
            <a:r>
              <a:rPr lang="zh-CN" altLang="en-US" b="1" dirty="0" smtClean="0">
                <a:solidFill>
                  <a:srgbClr val="1B42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希分布不均匀问题</a:t>
            </a:r>
            <a:endParaRPr lang="zh-CN" altLang="en-US" sz="1800" b="1" dirty="0">
              <a:solidFill>
                <a:srgbClr val="1B428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00" name="直接连接符 199"/>
          <p:cNvCxnSpPr/>
          <p:nvPr/>
        </p:nvCxnSpPr>
        <p:spPr>
          <a:xfrm>
            <a:off x="0" y="474116"/>
            <a:ext cx="3415916" cy="0"/>
          </a:xfrm>
          <a:prstGeom prst="line">
            <a:avLst/>
          </a:prstGeom>
          <a:noFill/>
          <a:ln w="28575" cap="flat">
            <a:solidFill>
              <a:srgbClr val="1B428C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pic>
        <p:nvPicPr>
          <p:cNvPr id="5" name="Picture 3" descr="F:\midea-pay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7827" y="55016"/>
            <a:ext cx="1428750" cy="41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746" name="Picture 2" descr="http://img.blog.csdn.net/20140411001540656?watermark/2/text/aHR0cDovL2Jsb2cuY3Nkbi5uZXQvY3l3b3Nw/font/5a6L5L2T/fontsize/400/fill/I0JBQkFCMA==/dissolve/70/gravity/SouthEast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720" y="1190600"/>
            <a:ext cx="5057775" cy="3181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71731788"/>
      </p:ext>
    </p:extLst>
  </p:cSld>
  <p:clrMapOvr>
    <a:masterClrMapping/>
  </p:clrMapOvr>
  <p:transition spd="med"/>
  <p:timing>
    <p:tnLst>
      <p:par>
        <p:cTn id="1" dur="indefinite" restart="never" fill="hold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0348" y="70560"/>
            <a:ext cx="4372480" cy="35386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8095" tIns="38095" rIns="38095" bIns="38095" numCol="1" spcCol="28571" rtlCol="0" anchor="ctr">
            <a:spAutoFit/>
          </a:bodyPr>
          <a:lstStyle/>
          <a:p>
            <a:pPr algn="just"/>
            <a:r>
              <a:rPr lang="zh-CN" altLang="en-US" b="1" dirty="0" smtClean="0">
                <a:solidFill>
                  <a:srgbClr val="1B42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数据存储分区算法</a:t>
            </a:r>
            <a:r>
              <a:rPr lang="en-US" altLang="zh-CN" b="1" dirty="0" smtClean="0">
                <a:solidFill>
                  <a:srgbClr val="1B42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en-US" altLang="zh-CN" b="1" dirty="0" err="1" smtClean="0">
                <a:solidFill>
                  <a:srgbClr val="1B42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Redis</a:t>
            </a:r>
            <a:r>
              <a:rPr lang="en-US" altLang="zh-CN" b="1" dirty="0" smtClean="0">
                <a:solidFill>
                  <a:srgbClr val="1B42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b="1" dirty="0" err="1" smtClean="0">
                <a:solidFill>
                  <a:srgbClr val="1B42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Sharding</a:t>
            </a:r>
            <a:endParaRPr lang="zh-CN" altLang="en-US" sz="1800" b="1" dirty="0">
              <a:solidFill>
                <a:srgbClr val="1B428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00" name="直接连接符 199"/>
          <p:cNvCxnSpPr/>
          <p:nvPr/>
        </p:nvCxnSpPr>
        <p:spPr>
          <a:xfrm>
            <a:off x="0" y="474116"/>
            <a:ext cx="3415916" cy="0"/>
          </a:xfrm>
          <a:prstGeom prst="line">
            <a:avLst/>
          </a:prstGeom>
          <a:noFill/>
          <a:ln w="28575" cap="flat">
            <a:solidFill>
              <a:srgbClr val="1B428C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pic>
        <p:nvPicPr>
          <p:cNvPr id="5" name="Picture 3" descr="F:\midea-pay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7827" y="55016"/>
            <a:ext cx="1428750" cy="41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77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627534"/>
            <a:ext cx="4705350" cy="2867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2772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3795886"/>
            <a:ext cx="4095750" cy="752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5483848" y="681539"/>
            <a:ext cx="2518638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 err="1" smtClean="0">
                <a:latin typeface="微软雅黑" pitchFamily="34" charset="-122"/>
                <a:ea typeface="微软雅黑" pitchFamily="34" charset="-122"/>
              </a:rPr>
              <a:t>Redis</a:t>
            </a:r>
            <a:r>
              <a:rPr lang="en-US" altLang="zh-CN" sz="1400" dirty="0" smtClean="0">
                <a:latin typeface="微软雅黑" pitchFamily="34" charset="-122"/>
                <a:ea typeface="微软雅黑" pitchFamily="34" charset="-122"/>
              </a:rPr>
              <a:t> Cluster</a:t>
            </a:r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设计思路：</a:t>
            </a:r>
            <a:endParaRPr lang="en-US" altLang="zh-CN" sz="1400" dirty="0" smtClean="0"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每个节点分</a:t>
            </a:r>
            <a:r>
              <a:rPr lang="en-US" altLang="zh-CN" sz="1400" dirty="0" smtClean="0">
                <a:latin typeface="微软雅黑" pitchFamily="34" charset="-122"/>
                <a:ea typeface="微软雅黑" pitchFamily="34" charset="-122"/>
              </a:rPr>
              <a:t>160</a:t>
            </a:r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片</a:t>
            </a:r>
            <a:endParaRPr lang="en-US" altLang="zh-CN" sz="1400" dirty="0" smtClean="0"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虚拟节点数量为</a:t>
            </a:r>
            <a:r>
              <a:rPr lang="en-US" altLang="zh-CN" sz="1400" dirty="0" smtClean="0">
                <a:latin typeface="微软雅黑" pitchFamily="34" charset="-122"/>
                <a:ea typeface="微软雅黑" pitchFamily="34" charset="-122"/>
              </a:rPr>
              <a:t>160 × </a:t>
            </a:r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权重</a:t>
            </a:r>
            <a:endParaRPr lang="en-US" altLang="zh-CN" sz="1400" dirty="0"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一致性哈希算法计算目标节点</a:t>
            </a:r>
            <a:endParaRPr lang="zh-CN" altLang="en-US" sz="14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483848" y="2121698"/>
            <a:ext cx="3268844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迁移步骤：</a:t>
            </a:r>
            <a:endParaRPr lang="en-US" altLang="zh-CN" sz="1400" dirty="0" smtClean="0">
              <a:latin typeface="微软雅黑" pitchFamily="34" charset="-122"/>
              <a:ea typeface="微软雅黑" pitchFamily="34" charset="-122"/>
            </a:endParaRPr>
          </a:p>
          <a:p>
            <a:r>
              <a:rPr lang="en-US" altLang="zh-CN" sz="1400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1400" dirty="0" smtClean="0">
                <a:latin typeface="微软雅黑" pitchFamily="34" charset="-122"/>
                <a:ea typeface="微软雅黑" pitchFamily="34" charset="-122"/>
              </a:rPr>
              <a:t> 1</a:t>
            </a:r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、在新服务器上增加从</a:t>
            </a:r>
            <a:r>
              <a:rPr lang="en-US" altLang="zh-CN" sz="1400" dirty="0" err="1" smtClean="0">
                <a:latin typeface="微软雅黑" pitchFamily="34" charset="-122"/>
                <a:ea typeface="微软雅黑" pitchFamily="34" charset="-122"/>
              </a:rPr>
              <a:t>Redis</a:t>
            </a:r>
            <a:endParaRPr lang="en-US" altLang="zh-CN" sz="1400" dirty="0" smtClean="0">
              <a:latin typeface="微软雅黑" pitchFamily="34" charset="-122"/>
              <a:ea typeface="微软雅黑" pitchFamily="34" charset="-122"/>
            </a:endParaRPr>
          </a:p>
          <a:p>
            <a:r>
              <a:rPr lang="en-US" altLang="zh-CN" sz="1400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1400" dirty="0" smtClean="0">
                <a:latin typeface="微软雅黑" pitchFamily="34" charset="-122"/>
                <a:ea typeface="微软雅黑" pitchFamily="34" charset="-122"/>
              </a:rPr>
              <a:t> 2</a:t>
            </a:r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、复制完成后配置客户端连接到从库</a:t>
            </a:r>
            <a:endParaRPr lang="en-US" altLang="zh-CN" sz="1400" dirty="0" smtClean="0">
              <a:latin typeface="微软雅黑" pitchFamily="34" charset="-122"/>
              <a:ea typeface="微软雅黑" pitchFamily="34" charset="-122"/>
            </a:endParaRPr>
          </a:p>
          <a:p>
            <a:r>
              <a:rPr lang="en-US" altLang="zh-CN" sz="1400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1400" dirty="0" smtClean="0">
                <a:latin typeface="微软雅黑" pitchFamily="34" charset="-122"/>
                <a:ea typeface="微软雅黑" pitchFamily="34" charset="-122"/>
              </a:rPr>
              <a:t> 3</a:t>
            </a:r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、配置从库为主库</a:t>
            </a:r>
            <a:endParaRPr lang="en-US" altLang="zh-CN" sz="1400" dirty="0" smtClean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5483848" y="3492182"/>
            <a:ext cx="28777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节点数增加时如何解决击穿问题？</a:t>
            </a:r>
            <a:endParaRPr lang="en-US" altLang="zh-CN" sz="1400" dirty="0" smtClean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94103674"/>
      </p:ext>
    </p:extLst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0348" y="70560"/>
            <a:ext cx="4372480" cy="35386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8095" tIns="38095" rIns="38095" bIns="38095" numCol="1" spcCol="28571" rtlCol="0" anchor="ctr">
            <a:spAutoFit/>
          </a:bodyPr>
          <a:lstStyle/>
          <a:p>
            <a:pPr algn="just"/>
            <a:r>
              <a:rPr lang="zh-CN" altLang="en-US" b="1" dirty="0" smtClean="0">
                <a:solidFill>
                  <a:srgbClr val="1B42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数据存储分区算法</a:t>
            </a:r>
            <a:r>
              <a:rPr lang="en-US" altLang="zh-CN" b="1" dirty="0" smtClean="0">
                <a:solidFill>
                  <a:srgbClr val="1B42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en-US" altLang="zh-CN" b="1" dirty="0" err="1" smtClean="0">
                <a:solidFill>
                  <a:srgbClr val="1B42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Redis</a:t>
            </a:r>
            <a:r>
              <a:rPr lang="en-US" altLang="zh-CN" b="1" dirty="0" smtClean="0">
                <a:solidFill>
                  <a:srgbClr val="1B42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Cluster</a:t>
            </a:r>
            <a:endParaRPr lang="zh-CN" altLang="en-US" sz="1800" b="1" dirty="0">
              <a:solidFill>
                <a:srgbClr val="1B428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00" name="直接连接符 199"/>
          <p:cNvCxnSpPr/>
          <p:nvPr/>
        </p:nvCxnSpPr>
        <p:spPr>
          <a:xfrm>
            <a:off x="0" y="474116"/>
            <a:ext cx="3415916" cy="0"/>
          </a:xfrm>
          <a:prstGeom prst="line">
            <a:avLst/>
          </a:prstGeom>
          <a:noFill/>
          <a:ln w="28575" cap="flat">
            <a:solidFill>
              <a:srgbClr val="1B428C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pic>
        <p:nvPicPr>
          <p:cNvPr id="5" name="Picture 3" descr="F:\midea-pay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7827" y="55016"/>
            <a:ext cx="1428750" cy="41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62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939" y="1114037"/>
            <a:ext cx="2849129" cy="32808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6627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98368" y="218588"/>
            <a:ext cx="2874141" cy="25433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6628" name="Picture 4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96535" y="2849717"/>
            <a:ext cx="4293259" cy="22032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4290191" y="3088580"/>
            <a:ext cx="381405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分</a:t>
            </a:r>
            <a:r>
              <a:rPr lang="en-US" altLang="zh-CN" dirty="0" smtClean="0"/>
              <a:t>1024 * 16 = 16384</a:t>
            </a:r>
            <a:r>
              <a:rPr lang="zh-CN" altLang="en-US" dirty="0" smtClean="0"/>
              <a:t>个</a:t>
            </a:r>
            <a:r>
              <a:rPr lang="en-US" altLang="zh-CN" dirty="0" smtClean="0"/>
              <a:t>SLOT</a:t>
            </a:r>
          </a:p>
          <a:p>
            <a:r>
              <a:rPr lang="zh-CN" altLang="en-US" dirty="0" smtClean="0"/>
              <a:t>将一个或多个</a:t>
            </a:r>
            <a:r>
              <a:rPr lang="en-US" altLang="zh-CN" dirty="0" smtClean="0"/>
              <a:t>SLOT</a:t>
            </a:r>
            <a:r>
              <a:rPr lang="zh-CN" altLang="en-US" dirty="0" smtClean="0"/>
              <a:t>划分至一个节点</a:t>
            </a:r>
            <a:endParaRPr lang="en-US" altLang="zh-CN" dirty="0" smtClean="0"/>
          </a:p>
          <a:p>
            <a:r>
              <a:rPr lang="zh-CN" altLang="en-US" dirty="0" smtClean="0"/>
              <a:t>重新分片使用</a:t>
            </a:r>
            <a:r>
              <a:rPr lang="en-US" altLang="zh-CN" dirty="0" err="1" smtClean="0"/>
              <a:t>redis-trib</a:t>
            </a:r>
            <a:r>
              <a:rPr lang="zh-CN" altLang="en-US" dirty="0" smtClean="0"/>
              <a:t>管理数据迁移</a:t>
            </a:r>
            <a:endParaRPr lang="en-US" altLang="zh-CN" dirty="0" smtClean="0"/>
          </a:p>
        </p:txBody>
      </p:sp>
      <p:pic>
        <p:nvPicPr>
          <p:cNvPr id="26629" name="Picture 5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3888" y="1385986"/>
            <a:ext cx="5266665" cy="14170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9628907"/>
      </p:ext>
    </p:extLst>
  </p:cSld>
  <p:clrMapOvr>
    <a:masterClrMapping/>
  </p:clrMapOvr>
  <p:transition spd="med"/>
  <p:timing>
    <p:tnLst>
      <p:par>
        <p:cTn id="1" dur="indefinite" restart="never" fill="hold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0348" y="70560"/>
            <a:ext cx="4372480" cy="35386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8095" tIns="38095" rIns="38095" bIns="38095" numCol="1" spcCol="28571" rtlCol="0" anchor="ctr">
            <a:spAutoFit/>
          </a:bodyPr>
          <a:lstStyle/>
          <a:p>
            <a:pPr algn="just"/>
            <a:r>
              <a:rPr lang="zh-CN" altLang="en-US" b="1" dirty="0" smtClean="0">
                <a:solidFill>
                  <a:srgbClr val="1B42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数据存储分区算法</a:t>
            </a:r>
            <a:r>
              <a:rPr lang="en-US" altLang="zh-CN" b="1" dirty="0" smtClean="0">
                <a:solidFill>
                  <a:srgbClr val="1B42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en-US" altLang="zh-CN" b="1" dirty="0" err="1" smtClean="0">
                <a:solidFill>
                  <a:srgbClr val="1B42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Codis</a:t>
            </a:r>
            <a:endParaRPr lang="zh-CN" altLang="en-US" sz="1800" b="1" dirty="0">
              <a:solidFill>
                <a:srgbClr val="1B428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00" name="直接连接符 199"/>
          <p:cNvCxnSpPr/>
          <p:nvPr/>
        </p:nvCxnSpPr>
        <p:spPr>
          <a:xfrm>
            <a:off x="0" y="474116"/>
            <a:ext cx="3415916" cy="0"/>
          </a:xfrm>
          <a:prstGeom prst="line">
            <a:avLst/>
          </a:prstGeom>
          <a:noFill/>
          <a:ln w="28575" cap="flat">
            <a:solidFill>
              <a:srgbClr val="1B428C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pic>
        <p:nvPicPr>
          <p:cNvPr id="5" name="Picture 3" descr="F:\midea-pay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7827" y="55016"/>
            <a:ext cx="1428750" cy="41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794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1275606"/>
            <a:ext cx="5782762" cy="2880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6001323" y="1860381"/>
            <a:ext cx="3059492" cy="16004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 err="1" smtClean="0">
                <a:latin typeface="微软雅黑" pitchFamily="34" charset="-122"/>
                <a:ea typeface="微软雅黑" pitchFamily="34" charset="-122"/>
              </a:rPr>
              <a:t>Codis-fs</a:t>
            </a:r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：集群管理页面</a:t>
            </a:r>
            <a:endParaRPr lang="en-US" altLang="zh-CN" sz="1400" dirty="0" smtClean="0">
              <a:latin typeface="微软雅黑" pitchFamily="34" charset="-122"/>
              <a:ea typeface="微软雅黑" pitchFamily="34" charset="-122"/>
            </a:endParaRPr>
          </a:p>
          <a:p>
            <a:r>
              <a:rPr lang="en-US" altLang="zh-CN" sz="1400" dirty="0" err="1" smtClean="0">
                <a:latin typeface="微软雅黑" pitchFamily="34" charset="-122"/>
                <a:ea typeface="微软雅黑" pitchFamily="34" charset="-122"/>
              </a:rPr>
              <a:t>Codis-clashboard</a:t>
            </a:r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：集群管理</a:t>
            </a:r>
            <a:endParaRPr lang="en-US" altLang="zh-CN" sz="1400" dirty="0" smtClean="0">
              <a:latin typeface="微软雅黑" pitchFamily="34" charset="-122"/>
              <a:ea typeface="微软雅黑" pitchFamily="34" charset="-122"/>
            </a:endParaRPr>
          </a:p>
          <a:p>
            <a:endParaRPr lang="en-US" altLang="zh-CN" sz="1400" dirty="0" smtClean="0">
              <a:latin typeface="微软雅黑" pitchFamily="34" charset="-122"/>
              <a:ea typeface="微软雅黑" pitchFamily="34" charset="-122"/>
            </a:endParaRPr>
          </a:p>
          <a:p>
            <a:r>
              <a:rPr lang="en-US" altLang="zh-CN" sz="1400" dirty="0" err="1">
                <a:latin typeface="微软雅黑" pitchFamily="34" charset="-122"/>
                <a:ea typeface="微软雅黑" pitchFamily="34" charset="-122"/>
              </a:rPr>
              <a:t>Codis</a:t>
            </a:r>
            <a:r>
              <a:rPr lang="en-US" altLang="zh-CN" sz="1400" dirty="0">
                <a:latin typeface="微软雅黑" pitchFamily="34" charset="-122"/>
                <a:ea typeface="微软雅黑" pitchFamily="34" charset="-122"/>
              </a:rPr>
              <a:t>-proxy</a:t>
            </a: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：</a:t>
            </a:r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实现大部分</a:t>
            </a:r>
            <a:r>
              <a:rPr lang="en-US" altLang="zh-CN" sz="1400" dirty="0" err="1" smtClean="0">
                <a:latin typeface="微软雅黑" pitchFamily="34" charset="-122"/>
                <a:ea typeface="微软雅黑" pitchFamily="34" charset="-122"/>
              </a:rPr>
              <a:t>redis</a:t>
            </a: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协议</a:t>
            </a:r>
            <a:endParaRPr lang="en-US" altLang="zh-CN" sz="1400" dirty="0">
              <a:latin typeface="微软雅黑" pitchFamily="34" charset="-122"/>
              <a:ea typeface="微软雅黑" pitchFamily="34" charset="-122"/>
            </a:endParaRPr>
          </a:p>
          <a:p>
            <a:r>
              <a:rPr lang="en-US" altLang="zh-CN" sz="1400" dirty="0" err="1" smtClean="0">
                <a:latin typeface="微软雅黑" pitchFamily="34" charset="-122"/>
                <a:ea typeface="微软雅黑" pitchFamily="34" charset="-122"/>
              </a:rPr>
              <a:t>Codis</a:t>
            </a:r>
            <a:r>
              <a:rPr lang="en-US" altLang="zh-CN" sz="1400" dirty="0" smtClean="0">
                <a:latin typeface="微软雅黑" pitchFamily="34" charset="-122"/>
                <a:ea typeface="微软雅黑" pitchFamily="34" charset="-122"/>
              </a:rPr>
              <a:t>-group</a:t>
            </a:r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：水平拆分与伸缩管理</a:t>
            </a:r>
            <a:endParaRPr lang="en-US" altLang="zh-CN" sz="1400" dirty="0" smtClean="0">
              <a:latin typeface="微软雅黑" pitchFamily="34" charset="-122"/>
              <a:ea typeface="微软雅黑" pitchFamily="34" charset="-122"/>
            </a:endParaRPr>
          </a:p>
          <a:p>
            <a:endParaRPr lang="en-US" altLang="zh-CN" sz="1400" dirty="0">
              <a:latin typeface="微软雅黑" pitchFamily="34" charset="-122"/>
              <a:ea typeface="微软雅黑" pitchFamily="34" charset="-122"/>
            </a:endParaRPr>
          </a:p>
          <a:p>
            <a:r>
              <a:rPr lang="en-US" altLang="zh-CN" sz="1400" dirty="0" err="1" smtClean="0">
                <a:latin typeface="微软雅黑" pitchFamily="34" charset="-122"/>
                <a:ea typeface="微软雅黑" pitchFamily="34" charset="-122"/>
              </a:rPr>
              <a:t>Codis</a:t>
            </a:r>
            <a:r>
              <a:rPr lang="en-US" altLang="zh-CN" sz="1400" dirty="0" smtClean="0">
                <a:latin typeface="微软雅黑" pitchFamily="34" charset="-122"/>
                <a:ea typeface="微软雅黑" pitchFamily="34" charset="-122"/>
              </a:rPr>
              <a:t>-server</a:t>
            </a:r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：服务主机</a:t>
            </a:r>
            <a:endParaRPr lang="zh-CN" altLang="en-US" sz="1400" dirty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25232269"/>
      </p:ext>
    </p:extLst>
  </p:cSld>
  <p:clrMapOvr>
    <a:masterClrMapping/>
  </p:clrMapOvr>
  <p:transition spd="med"/>
  <p:timing>
    <p:tnLst>
      <p:par>
        <p:cTn id="1" dur="indefinite" restart="never" fill="hold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0348" y="70524"/>
            <a:ext cx="4372480" cy="353933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8095" tIns="38095" rIns="38095" bIns="38095" numCol="1" spcCol="28571" rtlCol="0" anchor="ctr">
            <a:spAutoFit/>
          </a:bodyPr>
          <a:lstStyle/>
          <a:p>
            <a:pPr algn="just"/>
            <a:r>
              <a:rPr lang="zh-CN" altLang="en-US" sz="1800" b="1" dirty="0" smtClean="0">
                <a:solidFill>
                  <a:srgbClr val="1B42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数据库扩容</a:t>
            </a:r>
            <a:r>
              <a:rPr lang="en-US" altLang="zh-CN" b="1" dirty="0">
                <a:solidFill>
                  <a:srgbClr val="1B42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en-US" altLang="zh-CN" b="1" dirty="0" err="1">
                <a:solidFill>
                  <a:srgbClr val="1B42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Galera</a:t>
            </a:r>
            <a:r>
              <a:rPr lang="en-US" altLang="zh-CN" b="1" dirty="0">
                <a:solidFill>
                  <a:srgbClr val="1B42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b="1" dirty="0" smtClean="0">
                <a:solidFill>
                  <a:srgbClr val="1B42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Cluster</a:t>
            </a:r>
            <a:endParaRPr lang="en-US" altLang="zh-CN" b="1" dirty="0">
              <a:solidFill>
                <a:srgbClr val="1B428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00" name="直接连接符 199"/>
          <p:cNvCxnSpPr/>
          <p:nvPr/>
        </p:nvCxnSpPr>
        <p:spPr>
          <a:xfrm>
            <a:off x="0" y="474116"/>
            <a:ext cx="3415916" cy="0"/>
          </a:xfrm>
          <a:prstGeom prst="line">
            <a:avLst/>
          </a:prstGeom>
          <a:noFill/>
          <a:ln w="28575" cap="flat">
            <a:solidFill>
              <a:srgbClr val="1B428C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pic>
        <p:nvPicPr>
          <p:cNvPr id="5" name="Picture 3" descr="F:\midea-pay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7827" y="55016"/>
            <a:ext cx="1428750" cy="41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554" name="Picture 2" descr="http://galeracluster.com/wp-content/uploads/2013/10/galera_replication1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52536" y="1264281"/>
            <a:ext cx="3157853" cy="2553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557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69780" y="893985"/>
            <a:ext cx="5490185" cy="32941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565081" y="4218642"/>
            <a:ext cx="20625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latin typeface="微软雅黑" pitchFamily="34" charset="-122"/>
                <a:ea typeface="微软雅黑" pitchFamily="34" charset="-122"/>
              </a:rPr>
              <a:t>r</a:t>
            </a:r>
            <a:r>
              <a:rPr lang="en-US" altLang="zh-CN" sz="1400" dirty="0" smtClean="0">
                <a:latin typeface="微软雅黑" pitchFamily="34" charset="-122"/>
                <a:ea typeface="微软雅黑" pitchFamily="34" charset="-122"/>
              </a:rPr>
              <a:t>ead ONE &amp; write ALL</a:t>
            </a:r>
          </a:p>
        </p:txBody>
      </p:sp>
      <p:sp>
        <p:nvSpPr>
          <p:cNvPr id="9" name="矩形 8"/>
          <p:cNvSpPr/>
          <p:nvPr/>
        </p:nvSpPr>
        <p:spPr>
          <a:xfrm>
            <a:off x="3635895" y="4218642"/>
            <a:ext cx="502406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>
                <a:latin typeface="微软雅黑" pitchFamily="34" charset="-122"/>
                <a:ea typeface="微软雅黑" pitchFamily="34" charset="-122"/>
              </a:rPr>
              <a:t>Global </a:t>
            </a:r>
            <a:r>
              <a:rPr lang="en-US" altLang="zh-CN" sz="1400" dirty="0" err="1" smtClean="0">
                <a:latin typeface="微软雅黑" pitchFamily="34" charset="-122"/>
                <a:ea typeface="微软雅黑" pitchFamily="34" charset="-122"/>
              </a:rPr>
              <a:t>Trx</a:t>
            </a:r>
            <a:r>
              <a:rPr lang="en-US" altLang="zh-CN" sz="1400" dirty="0" smtClean="0">
                <a:latin typeface="微软雅黑" pitchFamily="34" charset="-122"/>
                <a:ea typeface="微软雅黑" pitchFamily="34" charset="-122"/>
              </a:rPr>
              <a:t> ID</a:t>
            </a:r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用于确保</a:t>
            </a: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事务顺序以及冲突</a:t>
            </a:r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发现</a:t>
            </a:r>
            <a:endParaRPr lang="zh-CN" altLang="en-US" sz="1400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23558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124744" y="1636165"/>
            <a:ext cx="1743075" cy="1809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TextBox 10"/>
          <p:cNvSpPr txBox="1"/>
          <p:nvPr/>
        </p:nvSpPr>
        <p:spPr>
          <a:xfrm>
            <a:off x="-2334433" y="3465795"/>
            <a:ext cx="2162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传统</a:t>
            </a:r>
            <a:r>
              <a:rPr lang="en-US" altLang="zh-CN" dirty="0" smtClean="0"/>
              <a:t>2-phase commit</a:t>
            </a:r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585669" y="4600158"/>
            <a:ext cx="343497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dirty="0">
                <a:latin typeface="微软雅黑" pitchFamily="34" charset="-122"/>
                <a:ea typeface="微软雅黑" pitchFamily="34" charset="-122"/>
              </a:rPr>
              <a:t>Average</a:t>
            </a:r>
            <a:r>
              <a:rPr lang="en-US" altLang="zh-CN" sz="1400" dirty="0" smtClean="0">
                <a:latin typeface="微软雅黑" pitchFamily="34" charset="-122"/>
                <a:ea typeface="微软雅黑" pitchFamily="34" charset="-122"/>
              </a:rPr>
              <a:t>=(∑</a:t>
            </a:r>
            <a:r>
              <a:rPr lang="en-US" altLang="zh-CN" sz="1400" dirty="0">
                <a:latin typeface="微软雅黑" pitchFamily="34" charset="-122"/>
                <a:ea typeface="微软雅黑" pitchFamily="34" charset="-122"/>
              </a:rPr>
              <a:t>read + ∑</a:t>
            </a:r>
            <a:r>
              <a:rPr lang="en-US" altLang="zh-CN" sz="1400" dirty="0" smtClean="0">
                <a:latin typeface="微软雅黑" pitchFamily="34" charset="-122"/>
                <a:ea typeface="微软雅黑" pitchFamily="34" charset="-122"/>
              </a:rPr>
              <a:t>write) </a:t>
            </a:r>
            <a:r>
              <a:rPr lang="en-US" altLang="zh-CN" sz="1400" dirty="0">
                <a:latin typeface="微软雅黑" pitchFamily="34" charset="-122"/>
                <a:ea typeface="微软雅黑" pitchFamily="34" charset="-122"/>
              </a:rPr>
              <a:t>/ ∑capacity</a:t>
            </a:r>
          </a:p>
        </p:txBody>
      </p:sp>
    </p:spTree>
    <p:extLst>
      <p:ext uri="{BB962C8B-B14F-4D97-AF65-F5344CB8AC3E}">
        <p14:creationId xmlns:p14="http://schemas.microsoft.com/office/powerpoint/2010/main" val="1540609830"/>
      </p:ext>
    </p:extLst>
  </p:cSld>
  <p:clrMapOvr>
    <a:masterClrMapping/>
  </p:clrMapOvr>
  <p:transition spd="med"/>
  <p:timing>
    <p:tnLst>
      <p:par>
        <p:cTn id="1" dur="indefinite" restart="never" fill="hold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5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3144" y="2571750"/>
            <a:ext cx="4899699" cy="25399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190348" y="70524"/>
            <a:ext cx="4372480" cy="353933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8095" tIns="38095" rIns="38095" bIns="38095" numCol="1" spcCol="28571" rtlCol="0" anchor="ctr">
            <a:spAutoFit/>
          </a:bodyPr>
          <a:lstStyle/>
          <a:p>
            <a:pPr algn="just"/>
            <a:r>
              <a:rPr lang="zh-CN" altLang="en-US" sz="1800" b="1" dirty="0" smtClean="0">
                <a:solidFill>
                  <a:srgbClr val="1B42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数据库扩容</a:t>
            </a:r>
            <a:r>
              <a:rPr lang="en-US" altLang="zh-CN" sz="1800" b="1" dirty="0" smtClean="0">
                <a:solidFill>
                  <a:srgbClr val="1B42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en-US" altLang="zh-CN" b="1" dirty="0">
                <a:solidFill>
                  <a:srgbClr val="1B42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MySQL Fabric</a:t>
            </a:r>
            <a:endParaRPr lang="zh-CN" altLang="en-US" b="1" dirty="0">
              <a:solidFill>
                <a:srgbClr val="1B428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00" name="直接连接符 199"/>
          <p:cNvCxnSpPr/>
          <p:nvPr/>
        </p:nvCxnSpPr>
        <p:spPr>
          <a:xfrm>
            <a:off x="0" y="474116"/>
            <a:ext cx="3415916" cy="0"/>
          </a:xfrm>
          <a:prstGeom prst="line">
            <a:avLst/>
          </a:prstGeom>
          <a:noFill/>
          <a:ln w="28575" cap="flat">
            <a:solidFill>
              <a:srgbClr val="1B428C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pic>
        <p:nvPicPr>
          <p:cNvPr id="5" name="Picture 3" descr="F:\midea-pay-logo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7827" y="55016"/>
            <a:ext cx="1428750" cy="41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251520" y="3360412"/>
            <a:ext cx="374441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缺陷：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r>
              <a:rPr lang="en-US" altLang="zh-CN" sz="1400" dirty="0" smtClean="0">
                <a:latin typeface="微软雅黑" pitchFamily="34" charset="-122"/>
                <a:ea typeface="微软雅黑" pitchFamily="34" charset="-122"/>
              </a:rPr>
              <a:t>    All </a:t>
            </a:r>
            <a:r>
              <a:rPr lang="en-US" altLang="zh-CN" sz="1400" dirty="0">
                <a:latin typeface="微软雅黑" pitchFamily="34" charset="-122"/>
                <a:ea typeface="微软雅黑" pitchFamily="34" charset="-122"/>
              </a:rPr>
              <a:t>transactions and queries need to be limited in scope to the rows held </a:t>
            </a:r>
            <a:r>
              <a:rPr lang="en-US" altLang="zh-CN" sz="1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in a single </a:t>
            </a:r>
            <a:r>
              <a:rPr lang="en-US" altLang="zh-CN" sz="1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shard.</a:t>
            </a:r>
          </a:p>
        </p:txBody>
      </p:sp>
      <p:pic>
        <p:nvPicPr>
          <p:cNvPr id="10246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520203"/>
            <a:ext cx="4899699" cy="20908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5596843" y="877058"/>
            <a:ext cx="316625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三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大部分：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buFont typeface="Wingdings" pitchFamily="2" charset="2"/>
              <a:buChar char="ü"/>
            </a:pPr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客户端连接器</a:t>
            </a:r>
            <a:endParaRPr lang="en-US" altLang="zh-CN" sz="1400" dirty="0" smtClean="0"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buFont typeface="Wingdings" pitchFamily="2" charset="2"/>
              <a:buChar char="ü"/>
            </a:pPr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管理节点（节点及分区信息管理）</a:t>
            </a:r>
            <a:endParaRPr lang="en-US" altLang="zh-CN" sz="1400" dirty="0" smtClean="0"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buFont typeface="Wingdings" pitchFamily="2" charset="2"/>
              <a:buChar char="ü"/>
            </a:pPr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服务器集群（</a:t>
            </a:r>
            <a:r>
              <a:rPr lang="en-US" altLang="zh-CN" sz="1400" dirty="0" smtClean="0">
                <a:latin typeface="微软雅黑" pitchFamily="34" charset="-122"/>
                <a:ea typeface="微软雅黑" pitchFamily="34" charset="-122"/>
              </a:rPr>
              <a:t>Global &amp; Shards</a:t>
            </a:r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）</a:t>
            </a:r>
            <a:endParaRPr lang="zh-CN" altLang="en-US" sz="1400" dirty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05461229"/>
      </p:ext>
    </p:extLst>
  </p:cSld>
  <p:clrMapOvr>
    <a:masterClrMapping/>
  </p:clrMapOvr>
  <p:transition spd="med"/>
  <p:timing>
    <p:tnLst>
      <p:par>
        <p:cTn id="1" dur="indefinite" restart="never" fill="hold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0348" y="70524"/>
            <a:ext cx="4372480" cy="353933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8095" tIns="38095" rIns="38095" bIns="38095" numCol="1" spcCol="28571" rtlCol="0" anchor="ctr">
            <a:spAutoFit/>
          </a:bodyPr>
          <a:lstStyle/>
          <a:p>
            <a:pPr algn="just"/>
            <a:r>
              <a:rPr lang="zh-CN" altLang="en-US" sz="1800" b="1" dirty="0" smtClean="0">
                <a:solidFill>
                  <a:srgbClr val="1B42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数据库扩容</a:t>
            </a:r>
            <a:r>
              <a:rPr lang="en-US" altLang="zh-CN" sz="1800" b="1" dirty="0" smtClean="0">
                <a:solidFill>
                  <a:srgbClr val="1B42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en-US" altLang="zh-CN" b="1" dirty="0">
                <a:solidFill>
                  <a:srgbClr val="1B42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MySQL </a:t>
            </a:r>
            <a:r>
              <a:rPr lang="en-US" altLang="zh-CN" b="1" dirty="0" smtClean="0">
                <a:solidFill>
                  <a:srgbClr val="1B42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NDB Cluster</a:t>
            </a:r>
            <a:endParaRPr lang="zh-CN" altLang="en-US" b="1" dirty="0">
              <a:solidFill>
                <a:srgbClr val="1B428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00" name="直接连接符 199"/>
          <p:cNvCxnSpPr/>
          <p:nvPr/>
        </p:nvCxnSpPr>
        <p:spPr>
          <a:xfrm>
            <a:off x="0" y="474116"/>
            <a:ext cx="3415916" cy="0"/>
          </a:xfrm>
          <a:prstGeom prst="line">
            <a:avLst/>
          </a:prstGeom>
          <a:noFill/>
          <a:ln w="28575" cap="flat">
            <a:solidFill>
              <a:srgbClr val="1B428C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pic>
        <p:nvPicPr>
          <p:cNvPr id="5" name="Picture 3" descr="F:\midea-pay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7827" y="55016"/>
            <a:ext cx="1428750" cy="41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529" name="Picture 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6290" y="997218"/>
            <a:ext cx="5553075" cy="3543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矩形 2"/>
          <p:cNvSpPr/>
          <p:nvPr/>
        </p:nvSpPr>
        <p:spPr>
          <a:xfrm>
            <a:off x="1786291" y="4550162"/>
            <a:ext cx="555307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dirty="0" smtClean="0"/>
              <a:t>冲突解决</a:t>
            </a:r>
            <a:r>
              <a:rPr lang="en-US" altLang="zh-CN" dirty="0" smtClean="0"/>
              <a:t>clock : Global </a:t>
            </a:r>
            <a:r>
              <a:rPr lang="en-US" altLang="zh-CN" dirty="0"/>
              <a:t>Checkpoint Index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40609830"/>
      </p:ext>
    </p:extLst>
  </p:cSld>
  <p:clrMapOvr>
    <a:masterClrMapping/>
  </p:clrMapOvr>
  <p:transition spd="med"/>
  <p:timing>
    <p:tnLst>
      <p:par>
        <p:cTn id="1" dur="indefinite" restart="never" fill="hold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0348" y="70524"/>
            <a:ext cx="4372480" cy="353933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8095" tIns="38095" rIns="38095" bIns="38095" numCol="1" spcCol="28571" rtlCol="0" anchor="ctr">
            <a:spAutoFit/>
          </a:bodyPr>
          <a:lstStyle/>
          <a:p>
            <a:pPr algn="just"/>
            <a:r>
              <a:rPr lang="zh-CN" altLang="en-US" sz="1800" b="1" dirty="0" smtClean="0">
                <a:solidFill>
                  <a:srgbClr val="1B42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数据库扩容</a:t>
            </a:r>
            <a:r>
              <a:rPr lang="en-US" altLang="zh-CN" sz="1800" b="1" dirty="0" smtClean="0">
                <a:solidFill>
                  <a:srgbClr val="1B42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en-US" altLang="zh-CN" sz="1800" b="1" dirty="0" err="1" smtClean="0">
                <a:solidFill>
                  <a:srgbClr val="1B42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OceanBase</a:t>
            </a:r>
            <a:r>
              <a:rPr lang="zh-CN" altLang="en-US" sz="1800" b="1" dirty="0" smtClean="0">
                <a:solidFill>
                  <a:srgbClr val="1B42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早期版本 </a:t>
            </a:r>
            <a:endParaRPr lang="zh-CN" altLang="en-US" b="1" dirty="0">
              <a:solidFill>
                <a:srgbClr val="1B428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00" name="直接连接符 199"/>
          <p:cNvCxnSpPr/>
          <p:nvPr/>
        </p:nvCxnSpPr>
        <p:spPr>
          <a:xfrm>
            <a:off x="0" y="474116"/>
            <a:ext cx="3415916" cy="0"/>
          </a:xfrm>
          <a:prstGeom prst="line">
            <a:avLst/>
          </a:prstGeom>
          <a:noFill/>
          <a:ln w="28575" cap="flat">
            <a:solidFill>
              <a:srgbClr val="1B428C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pic>
        <p:nvPicPr>
          <p:cNvPr id="5" name="Picture 3" descr="F:\midea-pay-logo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7827" y="55016"/>
            <a:ext cx="1428750" cy="41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76057646"/>
              </p:ext>
            </p:extLst>
          </p:nvPr>
        </p:nvGraphicFramePr>
        <p:xfrm>
          <a:off x="0" y="4432300"/>
          <a:ext cx="4103687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45" name="包装程序外壳对象" showAsIcon="1" r:id="rId5" imgW="4102920" imgH="711360" progId="Package">
                  <p:embed/>
                </p:oleObj>
              </mc:Choice>
              <mc:Fallback>
                <p:oleObj name="包装程序外壳对象" showAsIcon="1" r:id="rId5" imgW="4102920" imgH="71136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0" y="4432300"/>
                        <a:ext cx="4103687" cy="711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81872203"/>
              </p:ext>
            </p:extLst>
          </p:nvPr>
        </p:nvGraphicFramePr>
        <p:xfrm>
          <a:off x="5456743" y="4403725"/>
          <a:ext cx="3568700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46" name="包装程序外壳对象" showAsIcon="1" r:id="rId7" imgW="3569400" imgH="711360" progId="Package">
                  <p:embed/>
                </p:oleObj>
              </mc:Choice>
              <mc:Fallback>
                <p:oleObj name="包装程序外壳对象" showAsIcon="1" r:id="rId7" imgW="3569400" imgH="71136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456743" y="4403725"/>
                        <a:ext cx="3568700" cy="711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4590" name="Picture 14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348" y="555526"/>
            <a:ext cx="5672084" cy="37735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6156176" y="1635646"/>
            <a:ext cx="2376292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 smtClean="0">
                <a:latin typeface="微软雅黑" pitchFamily="34" charset="-122"/>
                <a:ea typeface="微软雅黑" pitchFamily="34" charset="-122"/>
              </a:rPr>
              <a:t>三集群</a:t>
            </a:r>
            <a:endParaRPr lang="en-US" altLang="zh-CN" sz="1600" dirty="0" smtClean="0"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sz="1600" dirty="0" smtClean="0">
                <a:latin typeface="微软雅黑" pitchFamily="34" charset="-122"/>
                <a:ea typeface="微软雅黑" pitchFamily="34" charset="-122"/>
              </a:rPr>
              <a:t>单点更新（</a:t>
            </a:r>
            <a:r>
              <a:rPr lang="en-US" altLang="zh-CN" sz="1600" dirty="0" smtClean="0">
                <a:latin typeface="微软雅黑" pitchFamily="34" charset="-122"/>
                <a:ea typeface="微软雅黑" pitchFamily="34" charset="-122"/>
              </a:rPr>
              <a:t>LSM-tree</a:t>
            </a:r>
            <a:r>
              <a:rPr lang="zh-CN" altLang="en-US" sz="1600" dirty="0" smtClean="0">
                <a:latin typeface="微软雅黑" pitchFamily="34" charset="-122"/>
                <a:ea typeface="微软雅黑" pitchFamily="34" charset="-122"/>
              </a:rPr>
              <a:t>）</a:t>
            </a:r>
            <a:endParaRPr lang="en-US" altLang="zh-CN" sz="1600" dirty="0" smtClean="0"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sz="1600" dirty="0" smtClean="0">
                <a:latin typeface="微软雅黑" pitchFamily="34" charset="-122"/>
                <a:ea typeface="微软雅黑" pitchFamily="34" charset="-122"/>
              </a:rPr>
              <a:t>合并查询</a:t>
            </a:r>
            <a:endParaRPr lang="en-US" altLang="zh-CN" sz="1600" dirty="0" smtClean="0"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sz="1600" dirty="0" smtClean="0">
                <a:latin typeface="微软雅黑" pitchFamily="34" charset="-122"/>
                <a:ea typeface="微软雅黑" pitchFamily="34" charset="-122"/>
              </a:rPr>
              <a:t>分片部署，</a:t>
            </a:r>
            <a:r>
              <a:rPr lang="en-US" altLang="zh-CN" sz="1600" dirty="0" err="1" smtClean="0">
                <a:latin typeface="微软雅黑" pitchFamily="34" charset="-122"/>
                <a:ea typeface="微软雅黑" pitchFamily="34" charset="-122"/>
              </a:rPr>
              <a:t>Paxos</a:t>
            </a:r>
            <a:r>
              <a:rPr lang="zh-CN" altLang="en-US" sz="1600" dirty="0" smtClean="0">
                <a:latin typeface="微软雅黑" pitchFamily="34" charset="-122"/>
                <a:ea typeface="微软雅黑" pitchFamily="34" charset="-122"/>
              </a:rPr>
              <a:t>协议</a:t>
            </a:r>
            <a:endParaRPr lang="zh-CN" altLang="en-US" sz="1600" dirty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40194103"/>
      </p:ext>
    </p:extLst>
  </p:cSld>
  <p:clrMapOvr>
    <a:masterClrMapping/>
  </p:clrMapOvr>
  <p:transition spd="med"/>
  <p:timing>
    <p:tnLst>
      <p:par>
        <p:cTn id="1" dur="indefinite" restart="never" fill="hold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0348" y="70524"/>
            <a:ext cx="4372480" cy="353933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8095" tIns="38095" rIns="38095" bIns="38095" numCol="1" spcCol="28571" rtlCol="0" anchor="ctr">
            <a:spAutoFit/>
          </a:bodyPr>
          <a:lstStyle/>
          <a:p>
            <a:pPr algn="just"/>
            <a:r>
              <a:rPr lang="zh-CN" altLang="en-US" sz="1800" b="1" dirty="0" smtClean="0">
                <a:solidFill>
                  <a:srgbClr val="1B42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数据库扩容</a:t>
            </a:r>
            <a:r>
              <a:rPr lang="en-US" altLang="zh-CN" sz="1800" b="1" dirty="0" smtClean="0">
                <a:solidFill>
                  <a:srgbClr val="1B42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en-US" altLang="zh-CN" sz="1800" b="1" dirty="0" err="1" smtClean="0">
                <a:solidFill>
                  <a:srgbClr val="1B42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OceanBase</a:t>
            </a:r>
            <a:r>
              <a:rPr lang="en-US" altLang="zh-CN" sz="1800" b="1" dirty="0" smtClean="0">
                <a:solidFill>
                  <a:srgbClr val="1B42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1.x</a:t>
            </a:r>
            <a:endParaRPr lang="zh-CN" altLang="en-US" b="1" dirty="0">
              <a:solidFill>
                <a:srgbClr val="1B428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00" name="直接连接符 199"/>
          <p:cNvCxnSpPr/>
          <p:nvPr/>
        </p:nvCxnSpPr>
        <p:spPr>
          <a:xfrm>
            <a:off x="0" y="474116"/>
            <a:ext cx="3415916" cy="0"/>
          </a:xfrm>
          <a:prstGeom prst="line">
            <a:avLst/>
          </a:prstGeom>
          <a:noFill/>
          <a:ln w="28575" cap="flat">
            <a:solidFill>
              <a:srgbClr val="1B428C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pic>
        <p:nvPicPr>
          <p:cNvPr id="5" name="Picture 3" descr="F:\midea-pay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7827" y="55016"/>
            <a:ext cx="1428750" cy="41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610" name="Picture 10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348" y="1131590"/>
            <a:ext cx="4748472" cy="34247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5436096" y="1851670"/>
            <a:ext cx="2505429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 smtClean="0">
                <a:latin typeface="微软雅黑" pitchFamily="34" charset="-122"/>
                <a:ea typeface="微软雅黑" pitchFamily="34" charset="-122"/>
              </a:rPr>
              <a:t>无单点的集群</a:t>
            </a:r>
            <a:endParaRPr lang="en-US" altLang="zh-CN" sz="1600" dirty="0" smtClean="0"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sz="1600" dirty="0">
                <a:latin typeface="微软雅黑" pitchFamily="34" charset="-122"/>
                <a:ea typeface="微软雅黑" pitchFamily="34" charset="-122"/>
              </a:rPr>
              <a:t>竞选</a:t>
            </a:r>
            <a:r>
              <a:rPr lang="zh-CN" altLang="en-US" sz="1600" dirty="0" smtClean="0">
                <a:latin typeface="微软雅黑" pitchFamily="34" charset="-122"/>
                <a:ea typeface="微软雅黑" pitchFamily="34" charset="-122"/>
              </a:rPr>
              <a:t>方式产生</a:t>
            </a:r>
            <a:r>
              <a:rPr lang="en-US" altLang="zh-CN" sz="1600" dirty="0" err="1" smtClean="0">
                <a:latin typeface="微软雅黑" pitchFamily="34" charset="-122"/>
                <a:ea typeface="微软雅黑" pitchFamily="34" charset="-122"/>
              </a:rPr>
              <a:t>RootServer</a:t>
            </a:r>
            <a:endParaRPr lang="en-US" altLang="zh-CN" sz="1600" dirty="0" smtClean="0"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sz="1600" dirty="0" smtClean="0">
                <a:latin typeface="微软雅黑" pitchFamily="34" charset="-122"/>
                <a:ea typeface="微软雅黑" pitchFamily="34" charset="-122"/>
              </a:rPr>
              <a:t>分布式事务</a:t>
            </a:r>
            <a:endParaRPr lang="en-US" altLang="zh-CN" sz="1600" dirty="0" smtClean="0">
              <a:latin typeface="微软雅黑" pitchFamily="34" charset="-122"/>
              <a:ea typeface="微软雅黑" pitchFamily="34" charset="-122"/>
            </a:endParaRPr>
          </a:p>
          <a:p>
            <a:r>
              <a:rPr lang="en-US" altLang="zh-CN" sz="1600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1600" dirty="0" smtClean="0">
                <a:latin typeface="微软雅黑" pitchFamily="34" charset="-122"/>
                <a:ea typeface="微软雅黑" pitchFamily="34" charset="-122"/>
              </a:rPr>
              <a:t>   a)</a:t>
            </a:r>
            <a:r>
              <a:rPr lang="zh-CN" altLang="en-US" sz="1600" dirty="0" smtClean="0">
                <a:latin typeface="微软雅黑" pitchFamily="34" charset="-122"/>
                <a:ea typeface="微软雅黑" pitchFamily="34" charset="-122"/>
              </a:rPr>
              <a:t>避免</a:t>
            </a:r>
            <a:r>
              <a:rPr lang="zh-CN" altLang="en-US" sz="1600" dirty="0">
                <a:latin typeface="微软雅黑" pitchFamily="34" charset="-122"/>
                <a:ea typeface="微软雅黑" pitchFamily="34" charset="-122"/>
              </a:rPr>
              <a:t>分布式</a:t>
            </a:r>
            <a:r>
              <a:rPr lang="zh-CN" altLang="en-US" sz="1600" dirty="0" smtClean="0">
                <a:latin typeface="微软雅黑" pitchFamily="34" charset="-122"/>
                <a:ea typeface="微软雅黑" pitchFamily="34" charset="-122"/>
              </a:rPr>
              <a:t>事务</a:t>
            </a:r>
            <a:endParaRPr lang="en-US" altLang="zh-CN" sz="1600" dirty="0" smtClean="0">
              <a:latin typeface="微软雅黑" pitchFamily="34" charset="-122"/>
              <a:ea typeface="微软雅黑" pitchFamily="34" charset="-122"/>
            </a:endParaRPr>
          </a:p>
          <a:p>
            <a:r>
              <a:rPr lang="en-US" altLang="zh-CN" sz="1600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1600" dirty="0" smtClean="0">
                <a:latin typeface="微软雅黑" pitchFamily="34" charset="-122"/>
                <a:ea typeface="微软雅黑" pitchFamily="34" charset="-122"/>
              </a:rPr>
              <a:t>   b)</a:t>
            </a:r>
            <a:r>
              <a:rPr lang="zh-CN" altLang="en-US" sz="1600" dirty="0" smtClean="0">
                <a:latin typeface="微软雅黑" pitchFamily="34" charset="-122"/>
                <a:ea typeface="微软雅黑" pitchFamily="34" charset="-122"/>
              </a:rPr>
              <a:t>预提交</a:t>
            </a:r>
            <a:endParaRPr lang="en-US" altLang="zh-CN" sz="1600" dirty="0" smtClean="0">
              <a:latin typeface="微软雅黑" pitchFamily="34" charset="-122"/>
              <a:ea typeface="微软雅黑" pitchFamily="34" charset="-122"/>
            </a:endParaRPr>
          </a:p>
          <a:p>
            <a:endParaRPr lang="en-US" altLang="zh-CN" sz="1600" dirty="0" smtClean="0">
              <a:latin typeface="微软雅黑" pitchFamily="34" charset="-122"/>
              <a:ea typeface="微软雅黑" pitchFamily="34" charset="-122"/>
            </a:endParaRPr>
          </a:p>
          <a:p>
            <a:r>
              <a:rPr lang="en-US" altLang="zh-CN" sz="1600" dirty="0" smtClean="0">
                <a:latin typeface="微软雅黑" pitchFamily="34" charset="-122"/>
                <a:ea typeface="微软雅黑" pitchFamily="34" charset="-122"/>
              </a:rPr>
              <a:t>Pre-</a:t>
            </a:r>
            <a:r>
              <a:rPr lang="en-US" altLang="zh-CN" sz="1600" dirty="0" err="1" smtClean="0">
                <a:latin typeface="微软雅黑" pitchFamily="34" charset="-122"/>
                <a:ea typeface="微软雅黑" pitchFamily="34" charset="-122"/>
              </a:rPr>
              <a:t>sharding</a:t>
            </a:r>
            <a:endParaRPr lang="en-US" altLang="zh-CN" sz="1600" dirty="0" smtClean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00716418"/>
      </p:ext>
    </p:extLst>
  </p:cSld>
  <p:clrMapOvr>
    <a:masterClrMapping/>
  </p:clrMapOvr>
  <p:transition spd="med"/>
  <p:timing>
    <p:tnLst>
      <p:par>
        <p:cTn id="1" dur="indefinite" restart="never" fill="hold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0348" y="70560"/>
            <a:ext cx="4372480" cy="35386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8095" tIns="38095" rIns="38095" bIns="38095" numCol="1" spcCol="28571" rtlCol="0" anchor="ctr">
            <a:spAutoFit/>
          </a:bodyPr>
          <a:lstStyle/>
          <a:p>
            <a:pPr algn="just"/>
            <a:r>
              <a:rPr lang="zh-CN" altLang="en-US" sz="1800" b="1" dirty="0" smtClean="0">
                <a:solidFill>
                  <a:srgbClr val="1B42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美的支付架构演进史</a:t>
            </a:r>
            <a:r>
              <a:rPr lang="en-US" altLang="zh-CN" sz="1800" b="1" dirty="0" smtClean="0">
                <a:solidFill>
                  <a:srgbClr val="1B42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1800" b="1" dirty="0" smtClean="0">
                <a:solidFill>
                  <a:srgbClr val="1B42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中心化集群</a:t>
            </a:r>
            <a:endParaRPr lang="zh-CN" altLang="en-US" sz="1800" b="1" dirty="0">
              <a:solidFill>
                <a:srgbClr val="1B428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00" name="直接连接符 199"/>
          <p:cNvCxnSpPr/>
          <p:nvPr/>
        </p:nvCxnSpPr>
        <p:spPr>
          <a:xfrm>
            <a:off x="0" y="474116"/>
            <a:ext cx="3415916" cy="0"/>
          </a:xfrm>
          <a:prstGeom prst="line">
            <a:avLst/>
          </a:prstGeom>
          <a:noFill/>
          <a:ln w="28575" cap="flat">
            <a:solidFill>
              <a:srgbClr val="1B428C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pic>
        <p:nvPicPr>
          <p:cNvPr id="5" name="Picture 3" descr="F:\midea-pay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7827" y="55016"/>
            <a:ext cx="1428750" cy="41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94" name="组合 193"/>
          <p:cNvGrpSpPr/>
          <p:nvPr/>
        </p:nvGrpSpPr>
        <p:grpSpPr>
          <a:xfrm>
            <a:off x="190348" y="958706"/>
            <a:ext cx="5753634" cy="1884176"/>
            <a:chOff x="1006429" y="1755552"/>
            <a:chExt cx="5753634" cy="1884176"/>
          </a:xfrm>
        </p:grpSpPr>
        <p:sp>
          <p:nvSpPr>
            <p:cNvPr id="4" name="椭圆 3"/>
            <p:cNvSpPr/>
            <p:nvPr/>
          </p:nvSpPr>
          <p:spPr>
            <a:xfrm>
              <a:off x="3338680" y="1755552"/>
              <a:ext cx="1872208" cy="648072"/>
            </a:xfrm>
            <a:prstGeom prst="ellipse">
              <a:avLst/>
            </a:prstGeom>
            <a:solidFill>
              <a:srgbClr val="92D050"/>
            </a:solidFill>
            <a:ln w="12700"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 smtClean="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</a:rPr>
                <a:t>Message</a:t>
              </a:r>
            </a:p>
            <a:p>
              <a:pPr algn="ctr"/>
              <a:r>
                <a:rPr lang="en-US" altLang="zh-CN" sz="1200" dirty="0" smtClean="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</a:rPr>
                <a:t>Server</a:t>
              </a:r>
              <a:endParaRPr lang="zh-CN" altLang="en-US" sz="12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cxnSp>
          <p:nvCxnSpPr>
            <p:cNvPr id="9" name="直接箭头连接符 8"/>
            <p:cNvCxnSpPr>
              <a:stCxn id="19" idx="3"/>
              <a:endCxn id="4" idx="2"/>
            </p:cNvCxnSpPr>
            <p:nvPr/>
          </p:nvCxnSpPr>
          <p:spPr>
            <a:xfrm>
              <a:off x="2376588" y="2079588"/>
              <a:ext cx="962092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圆角矩形 18"/>
            <p:cNvSpPr/>
            <p:nvPr/>
          </p:nvSpPr>
          <p:spPr>
            <a:xfrm>
              <a:off x="1006429" y="1899568"/>
              <a:ext cx="1370159" cy="360040"/>
            </a:xfrm>
            <a:prstGeom prst="roundRect">
              <a:avLst/>
            </a:prstGeom>
            <a:solidFill>
              <a:schemeClr val="bg1"/>
            </a:solidFill>
            <a:ln w="9525"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dirty="0" smtClean="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</a:rPr>
                <a:t>支付场景</a:t>
              </a:r>
              <a:endParaRPr lang="zh-CN" altLang="en-US" sz="12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1" name="圆角矩形 20"/>
            <p:cNvSpPr/>
            <p:nvPr/>
          </p:nvSpPr>
          <p:spPr>
            <a:xfrm>
              <a:off x="1671304" y="3279688"/>
              <a:ext cx="1370159" cy="360040"/>
            </a:xfrm>
            <a:prstGeom prst="roundRect">
              <a:avLst/>
            </a:prstGeom>
            <a:solidFill>
              <a:schemeClr val="bg1"/>
            </a:solidFill>
            <a:ln w="9525"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 smtClean="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</a:rPr>
                <a:t>Pay</a:t>
              </a:r>
            </a:p>
            <a:p>
              <a:pPr algn="ctr"/>
              <a:r>
                <a:rPr lang="en-US" altLang="zh-CN" sz="1200" dirty="0" smtClean="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</a:rPr>
                <a:t>Backstage</a:t>
              </a:r>
              <a:endParaRPr lang="zh-CN" altLang="en-US" sz="12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cxnSp>
          <p:nvCxnSpPr>
            <p:cNvPr id="17" name="直接箭头连接符 16"/>
            <p:cNvCxnSpPr>
              <a:stCxn id="4" idx="3"/>
              <a:endCxn id="21" idx="0"/>
            </p:cNvCxnSpPr>
            <p:nvPr/>
          </p:nvCxnSpPr>
          <p:spPr>
            <a:xfrm flipH="1">
              <a:off x="2356384" y="2308716"/>
              <a:ext cx="1256475" cy="970972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圆角矩形 30"/>
            <p:cNvSpPr/>
            <p:nvPr/>
          </p:nvSpPr>
          <p:spPr>
            <a:xfrm>
              <a:off x="3589704" y="3279688"/>
              <a:ext cx="1370159" cy="360040"/>
            </a:xfrm>
            <a:prstGeom prst="roundRect">
              <a:avLst/>
            </a:prstGeom>
            <a:solidFill>
              <a:schemeClr val="bg1"/>
            </a:solidFill>
            <a:ln w="9525"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 smtClean="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</a:rPr>
                <a:t>Gate</a:t>
              </a:r>
              <a:endParaRPr lang="zh-CN" altLang="en-US" sz="12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2" name="圆角矩形 31"/>
            <p:cNvSpPr/>
            <p:nvPr/>
          </p:nvSpPr>
          <p:spPr>
            <a:xfrm>
              <a:off x="5389904" y="3279688"/>
              <a:ext cx="1370159" cy="360040"/>
            </a:xfrm>
            <a:prstGeom prst="roundRect">
              <a:avLst/>
            </a:prstGeom>
            <a:solidFill>
              <a:schemeClr val="bg1"/>
            </a:solidFill>
            <a:ln w="9525"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dirty="0" smtClean="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</a:rPr>
                <a:t>渠道接口</a:t>
              </a:r>
              <a:endParaRPr lang="zh-CN" altLang="en-US" sz="12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cxnSp>
          <p:nvCxnSpPr>
            <p:cNvPr id="33" name="直接箭头连接符 32"/>
            <p:cNvCxnSpPr>
              <a:stCxn id="4" idx="4"/>
              <a:endCxn id="31" idx="0"/>
            </p:cNvCxnSpPr>
            <p:nvPr/>
          </p:nvCxnSpPr>
          <p:spPr>
            <a:xfrm>
              <a:off x="4274784" y="2403624"/>
              <a:ext cx="0" cy="876064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箭头连接符 43"/>
            <p:cNvCxnSpPr/>
            <p:nvPr/>
          </p:nvCxnSpPr>
          <p:spPr>
            <a:xfrm flipV="1">
              <a:off x="2699792" y="2403624"/>
              <a:ext cx="1080120" cy="876064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箭头连接符 45"/>
            <p:cNvCxnSpPr/>
            <p:nvPr/>
          </p:nvCxnSpPr>
          <p:spPr>
            <a:xfrm flipV="1">
              <a:off x="4477377" y="2403624"/>
              <a:ext cx="0" cy="876064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箭头连接符 47"/>
            <p:cNvCxnSpPr>
              <a:stCxn id="4" idx="5"/>
              <a:endCxn id="32" idx="0"/>
            </p:cNvCxnSpPr>
            <p:nvPr/>
          </p:nvCxnSpPr>
          <p:spPr>
            <a:xfrm>
              <a:off x="4936709" y="2308716"/>
              <a:ext cx="1138275" cy="970972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矩形 59"/>
            <p:cNvSpPr/>
            <p:nvPr/>
          </p:nvSpPr>
          <p:spPr>
            <a:xfrm>
              <a:off x="2676330" y="1802589"/>
              <a:ext cx="338554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200" dirty="0">
                  <a:latin typeface="微软雅黑" pitchFamily="34" charset="-122"/>
                  <a:ea typeface="微软雅黑" pitchFamily="34" charset="-122"/>
                </a:rPr>
                <a:t>①</a:t>
              </a:r>
            </a:p>
          </p:txBody>
        </p:sp>
        <p:sp>
          <p:nvSpPr>
            <p:cNvPr id="61" name="矩形 60"/>
            <p:cNvSpPr/>
            <p:nvPr/>
          </p:nvSpPr>
          <p:spPr>
            <a:xfrm>
              <a:off x="2745271" y="2515533"/>
              <a:ext cx="338554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200" dirty="0">
                  <a:latin typeface="微软雅黑" pitchFamily="34" charset="-122"/>
                  <a:ea typeface="微软雅黑" pitchFamily="34" charset="-122"/>
                </a:rPr>
                <a:t>②</a:t>
              </a:r>
            </a:p>
          </p:txBody>
        </p:sp>
        <p:sp>
          <p:nvSpPr>
            <p:cNvPr id="62" name="矩形 61"/>
            <p:cNvSpPr/>
            <p:nvPr/>
          </p:nvSpPr>
          <p:spPr>
            <a:xfrm>
              <a:off x="3239852" y="2756416"/>
              <a:ext cx="338554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200" dirty="0">
                  <a:latin typeface="微软雅黑" pitchFamily="34" charset="-122"/>
                  <a:ea typeface="微软雅黑" pitchFamily="34" charset="-122"/>
                </a:rPr>
                <a:t>③</a:t>
              </a:r>
            </a:p>
          </p:txBody>
        </p:sp>
        <p:sp>
          <p:nvSpPr>
            <p:cNvPr id="63" name="矩形 62"/>
            <p:cNvSpPr/>
            <p:nvPr/>
          </p:nvSpPr>
          <p:spPr>
            <a:xfrm>
              <a:off x="3863695" y="2756416"/>
              <a:ext cx="338554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200" dirty="0">
                  <a:latin typeface="微软雅黑" pitchFamily="34" charset="-122"/>
                  <a:ea typeface="微软雅黑" pitchFamily="34" charset="-122"/>
                </a:rPr>
                <a:t>④</a:t>
              </a:r>
            </a:p>
          </p:txBody>
        </p:sp>
        <p:sp>
          <p:nvSpPr>
            <p:cNvPr id="192" name="矩形 191"/>
            <p:cNvSpPr/>
            <p:nvPr/>
          </p:nvSpPr>
          <p:spPr>
            <a:xfrm>
              <a:off x="4477377" y="2756416"/>
              <a:ext cx="338554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200" dirty="0">
                  <a:latin typeface="微软雅黑" pitchFamily="34" charset="-122"/>
                  <a:ea typeface="微软雅黑" pitchFamily="34" charset="-122"/>
                </a:rPr>
                <a:t>⑤</a:t>
              </a:r>
            </a:p>
          </p:txBody>
        </p:sp>
        <p:sp>
          <p:nvSpPr>
            <p:cNvPr id="193" name="矩形 192"/>
            <p:cNvSpPr/>
            <p:nvPr/>
          </p:nvSpPr>
          <p:spPr>
            <a:xfrm>
              <a:off x="5420761" y="2515532"/>
              <a:ext cx="338554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200" dirty="0">
                  <a:latin typeface="微软雅黑" pitchFamily="34" charset="-122"/>
                  <a:ea typeface="微软雅黑" pitchFamily="34" charset="-122"/>
                </a:rPr>
                <a:t>⑥</a:t>
              </a:r>
            </a:p>
          </p:txBody>
        </p:sp>
      </p:grpSp>
      <p:sp>
        <p:nvSpPr>
          <p:cNvPr id="195" name="TextBox 194"/>
          <p:cNvSpPr txBox="1"/>
          <p:nvPr/>
        </p:nvSpPr>
        <p:spPr>
          <a:xfrm>
            <a:off x="855223" y="3723878"/>
            <a:ext cx="4505016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问题：</a:t>
            </a:r>
            <a:endParaRPr lang="en-US" altLang="zh-CN" sz="1400" dirty="0" smtClean="0">
              <a:latin typeface="微软雅黑" pitchFamily="34" charset="-122"/>
              <a:ea typeface="微软雅黑" pitchFamily="34" charset="-122"/>
            </a:endParaRPr>
          </a:p>
          <a:p>
            <a:r>
              <a:rPr lang="en-US" altLang="zh-CN" sz="1400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1400" dirty="0" smtClean="0">
                <a:latin typeface="微软雅黑" pitchFamily="34" charset="-122"/>
                <a:ea typeface="微软雅黑" pitchFamily="34" charset="-122"/>
              </a:rPr>
              <a:t>   1</a:t>
            </a:r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sz="1400" dirty="0" err="1" smtClean="0">
                <a:latin typeface="微软雅黑" pitchFamily="34" charset="-122"/>
                <a:ea typeface="微软雅黑" pitchFamily="34" charset="-122"/>
              </a:rPr>
              <a:t>MessageServer</a:t>
            </a:r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单点：单点故障、负载无法均衡</a:t>
            </a:r>
            <a:endParaRPr lang="en-US" altLang="zh-CN" sz="1400" dirty="0" smtClean="0">
              <a:latin typeface="微软雅黑" pitchFamily="34" charset="-122"/>
              <a:ea typeface="微软雅黑" pitchFamily="34" charset="-122"/>
            </a:endParaRPr>
          </a:p>
          <a:p>
            <a:r>
              <a:rPr lang="en-US" altLang="zh-CN" sz="1400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1400" dirty="0" smtClean="0">
                <a:latin typeface="微软雅黑" pitchFamily="34" charset="-122"/>
                <a:ea typeface="微软雅黑" pitchFamily="34" charset="-122"/>
              </a:rPr>
              <a:t>   2</a:t>
            </a:r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、缺少系统层次，模块职责不清晰</a:t>
            </a:r>
            <a:endParaRPr lang="en-US" altLang="zh-CN" sz="1400" dirty="0" smtClean="0">
              <a:latin typeface="微软雅黑" pitchFamily="34" charset="-122"/>
              <a:ea typeface="微软雅黑" pitchFamily="34" charset="-122"/>
            </a:endParaRPr>
          </a:p>
          <a:p>
            <a:r>
              <a:rPr lang="en-US" altLang="zh-CN" sz="1400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1400" dirty="0" smtClean="0">
                <a:latin typeface="微软雅黑" pitchFamily="34" charset="-122"/>
                <a:ea typeface="微软雅黑" pitchFamily="34" charset="-122"/>
              </a:rPr>
              <a:t>   3</a:t>
            </a:r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、调用链路复杂</a:t>
            </a:r>
            <a:endParaRPr lang="en-US" altLang="zh-CN" sz="1400" dirty="0" smtClean="0">
              <a:latin typeface="微软雅黑" pitchFamily="34" charset="-122"/>
              <a:ea typeface="微软雅黑" pitchFamily="34" charset="-122"/>
            </a:endParaRPr>
          </a:p>
          <a:p>
            <a:r>
              <a:rPr lang="en-US" altLang="zh-CN" sz="1400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1400" dirty="0" smtClean="0">
                <a:latin typeface="微软雅黑" pitchFamily="34" charset="-122"/>
                <a:ea typeface="微软雅黑" pitchFamily="34" charset="-122"/>
              </a:rPr>
              <a:t>   4</a:t>
            </a:r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、支撑的连接数有限</a:t>
            </a:r>
            <a:endParaRPr lang="en-US" altLang="zh-CN" sz="1400" dirty="0" smtClean="0"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204" name="组合 203"/>
          <p:cNvGrpSpPr/>
          <p:nvPr/>
        </p:nvGrpSpPr>
        <p:grpSpPr>
          <a:xfrm>
            <a:off x="6044157" y="1102722"/>
            <a:ext cx="2939090" cy="1740160"/>
            <a:chOff x="6421952" y="1168178"/>
            <a:chExt cx="2939090" cy="1740160"/>
          </a:xfrm>
        </p:grpSpPr>
        <p:sp>
          <p:nvSpPr>
            <p:cNvPr id="196" name="流程图: 磁盘 195"/>
            <p:cNvSpPr/>
            <p:nvPr/>
          </p:nvSpPr>
          <p:spPr>
            <a:xfrm>
              <a:off x="7236296" y="2394358"/>
              <a:ext cx="1368152" cy="513980"/>
            </a:xfrm>
            <a:prstGeom prst="flowChartMagneticDisk">
              <a:avLst/>
            </a:prstGeom>
            <a:solidFill>
              <a:schemeClr val="bg1"/>
            </a:solidFill>
            <a:ln w="12700"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 err="1" smtClean="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</a:rPr>
                <a:t>newpay</a:t>
              </a:r>
              <a:endParaRPr lang="zh-CN" altLang="en-US" sz="12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0" name="圆角矩形 69"/>
            <p:cNvSpPr/>
            <p:nvPr/>
          </p:nvSpPr>
          <p:spPr>
            <a:xfrm>
              <a:off x="6421952" y="1168178"/>
              <a:ext cx="1370159" cy="360040"/>
            </a:xfrm>
            <a:prstGeom prst="roundRect">
              <a:avLst/>
            </a:prstGeom>
            <a:solidFill>
              <a:schemeClr val="bg1"/>
            </a:solidFill>
            <a:ln w="9525"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 smtClean="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</a:rPr>
                <a:t>web01</a:t>
              </a:r>
              <a:endParaRPr lang="zh-CN" altLang="en-US" sz="12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1" name="圆角矩形 70"/>
            <p:cNvSpPr/>
            <p:nvPr/>
          </p:nvSpPr>
          <p:spPr>
            <a:xfrm>
              <a:off x="7990883" y="1168178"/>
              <a:ext cx="1370159" cy="360040"/>
            </a:xfrm>
            <a:prstGeom prst="roundRect">
              <a:avLst/>
            </a:prstGeom>
            <a:solidFill>
              <a:schemeClr val="bg1"/>
            </a:solidFill>
            <a:ln w="9525"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 smtClean="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</a:rPr>
                <a:t>app01</a:t>
              </a:r>
              <a:endParaRPr lang="zh-CN" altLang="en-US" sz="12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cxnSp>
          <p:nvCxnSpPr>
            <p:cNvPr id="198" name="直接箭头连接符 197"/>
            <p:cNvCxnSpPr>
              <a:stCxn id="70" idx="2"/>
              <a:endCxn id="196" idx="1"/>
            </p:cNvCxnSpPr>
            <p:nvPr/>
          </p:nvCxnSpPr>
          <p:spPr>
            <a:xfrm>
              <a:off x="7107032" y="1528218"/>
              <a:ext cx="813340" cy="86614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直接箭头连接符 200"/>
            <p:cNvCxnSpPr>
              <a:stCxn id="71" idx="2"/>
              <a:endCxn id="196" idx="1"/>
            </p:cNvCxnSpPr>
            <p:nvPr/>
          </p:nvCxnSpPr>
          <p:spPr>
            <a:xfrm flipH="1">
              <a:off x="7920372" y="1528218"/>
              <a:ext cx="755591" cy="86614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5" name="TextBox 204"/>
          <p:cNvSpPr txBox="1"/>
          <p:nvPr/>
        </p:nvSpPr>
        <p:spPr>
          <a:xfrm>
            <a:off x="855223" y="3226544"/>
            <a:ext cx="478015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协议：</a:t>
            </a:r>
            <a:r>
              <a:rPr lang="en-US" altLang="zh-CN" sz="1400" dirty="0" smtClean="0">
                <a:latin typeface="微软雅黑" pitchFamily="34" charset="-122"/>
                <a:ea typeface="微软雅黑" pitchFamily="34" charset="-122"/>
              </a:rPr>
              <a:t>[</a:t>
            </a:r>
            <a:r>
              <a:rPr lang="en-US" altLang="zh-CN" sz="1400" dirty="0" err="1" smtClean="0">
                <a:latin typeface="微软雅黑" pitchFamily="34" charset="-122"/>
                <a:ea typeface="微软雅黑" pitchFamily="34" charset="-122"/>
              </a:rPr>
              <a:t>app_name</a:t>
            </a:r>
            <a:r>
              <a:rPr lang="en-US" altLang="zh-CN" sz="1400" dirty="0" smtClean="0">
                <a:latin typeface="微软雅黑" pitchFamily="34" charset="-122"/>
                <a:ea typeface="微软雅黑" pitchFamily="34" charset="-122"/>
              </a:rPr>
              <a:t>] [</a:t>
            </a:r>
            <a:r>
              <a:rPr lang="en-US" altLang="zh-CN" sz="1400" dirty="0" err="1" smtClean="0">
                <a:latin typeface="微软雅黑" pitchFamily="34" charset="-122"/>
                <a:ea typeface="微软雅黑" pitchFamily="34" charset="-122"/>
              </a:rPr>
              <a:t>cmd</a:t>
            </a:r>
            <a:r>
              <a:rPr lang="en-US" altLang="zh-CN" sz="1400" dirty="0" smtClean="0">
                <a:latin typeface="微软雅黑" pitchFamily="34" charset="-122"/>
                <a:ea typeface="微软雅黑" pitchFamily="34" charset="-122"/>
              </a:rPr>
              <a:t>] [key1=value1&amp;key2=value2]</a:t>
            </a:r>
            <a:endParaRPr lang="zh-CN" altLang="en-US" sz="1400" dirty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201067"/>
      </p:ext>
    </p:extLst>
  </p:cSld>
  <p:clrMapOvr>
    <a:masterClrMapping/>
  </p:clrMapOvr>
  <p:transition spd="med"/>
  <p:timing>
    <p:tnLst>
      <p:par>
        <p:cTn id="1" dur="indefinite" restart="never" fill="hold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0348" y="70524"/>
            <a:ext cx="4372480" cy="353933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8095" tIns="38095" rIns="38095" bIns="38095" numCol="1" spcCol="28571" rtlCol="0" anchor="ctr">
            <a:spAutoFit/>
          </a:bodyPr>
          <a:lstStyle/>
          <a:p>
            <a:pPr algn="just"/>
            <a:r>
              <a:rPr lang="zh-CN" altLang="en-US" sz="1800" b="1" dirty="0" smtClean="0">
                <a:solidFill>
                  <a:srgbClr val="1B42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美的支付架构演进史</a:t>
            </a:r>
            <a:r>
              <a:rPr lang="en-US" altLang="zh-CN" sz="1800" b="1" dirty="0" smtClean="0">
                <a:solidFill>
                  <a:srgbClr val="1B42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1800" b="1" dirty="0" smtClean="0">
                <a:solidFill>
                  <a:srgbClr val="1B42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去中心</a:t>
            </a:r>
            <a:r>
              <a:rPr lang="zh-CN" altLang="en-US" b="1" dirty="0">
                <a:solidFill>
                  <a:srgbClr val="1B42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分布式</a:t>
            </a:r>
            <a:endParaRPr lang="zh-CN" altLang="en-US" sz="1800" b="1" dirty="0">
              <a:solidFill>
                <a:srgbClr val="1B428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00" name="直接连接符 199"/>
          <p:cNvCxnSpPr/>
          <p:nvPr/>
        </p:nvCxnSpPr>
        <p:spPr>
          <a:xfrm>
            <a:off x="0" y="474116"/>
            <a:ext cx="3415916" cy="0"/>
          </a:xfrm>
          <a:prstGeom prst="line">
            <a:avLst/>
          </a:prstGeom>
          <a:noFill/>
          <a:ln w="28575" cap="flat">
            <a:solidFill>
              <a:srgbClr val="1B428C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pic>
        <p:nvPicPr>
          <p:cNvPr id="5" name="Picture 3" descr="F:\midea-pay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7827" y="55016"/>
            <a:ext cx="1428750" cy="41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67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555525"/>
            <a:ext cx="6715125" cy="4429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7391395" y="1923678"/>
            <a:ext cx="150208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 smtClean="0"/>
              <a:t>建设目标：</a:t>
            </a:r>
            <a:endParaRPr lang="en-US" altLang="zh-CN" sz="1400" b="1" dirty="0" smtClean="0"/>
          </a:p>
          <a:p>
            <a:r>
              <a:rPr lang="zh-CN" altLang="en-US" sz="1400" dirty="0" smtClean="0"/>
              <a:t>日均千万笔</a:t>
            </a:r>
            <a:r>
              <a:rPr lang="zh-CN" altLang="en-US" sz="1400" dirty="0"/>
              <a:t>订单</a:t>
            </a:r>
            <a:endParaRPr lang="en-US" altLang="zh-CN" sz="1400" dirty="0" smtClean="0"/>
          </a:p>
          <a:p>
            <a:endParaRPr lang="en-US" altLang="zh-CN" sz="1400" b="1" dirty="0"/>
          </a:p>
          <a:p>
            <a:r>
              <a:rPr lang="en-US" altLang="zh-CN" sz="1400" b="1" dirty="0" smtClean="0"/>
              <a:t>KEY WORDS</a:t>
            </a:r>
            <a:r>
              <a:rPr lang="zh-CN" altLang="en-US" sz="1400" b="1" dirty="0" smtClean="0"/>
              <a:t>：</a:t>
            </a:r>
            <a:endParaRPr lang="en-US" altLang="zh-CN" sz="1400" b="1" dirty="0" smtClean="0"/>
          </a:p>
          <a:p>
            <a:r>
              <a:rPr lang="en-US" altLang="zh-CN" sz="1400" dirty="0" err="1" smtClean="0"/>
              <a:t>Dubbo</a:t>
            </a:r>
            <a:r>
              <a:rPr lang="zh-CN" altLang="en-US" sz="1400" dirty="0" smtClean="0"/>
              <a:t>、</a:t>
            </a:r>
            <a:r>
              <a:rPr lang="en-US" altLang="zh-CN" sz="1400" dirty="0" smtClean="0"/>
              <a:t>ZK</a:t>
            </a:r>
            <a:r>
              <a:rPr lang="zh-CN" altLang="en-US" sz="1400" dirty="0" smtClean="0"/>
              <a:t>、</a:t>
            </a:r>
            <a:endParaRPr lang="en-US" altLang="zh-CN" sz="1400" dirty="0" smtClean="0"/>
          </a:p>
          <a:p>
            <a:r>
              <a:rPr lang="en-US" altLang="zh-CN" sz="1400" dirty="0" smtClean="0"/>
              <a:t>DB </a:t>
            </a:r>
            <a:r>
              <a:rPr lang="en-US" altLang="zh-CN" sz="1400" dirty="0" err="1" smtClean="0"/>
              <a:t>Sharding</a:t>
            </a:r>
            <a:endParaRPr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564594849"/>
      </p:ext>
    </p:extLst>
  </p:cSld>
  <p:clrMapOvr>
    <a:masterClrMapping/>
  </p:clrMapOvr>
  <p:transition spd="med"/>
  <p:timing>
    <p:tnLst>
      <p:par>
        <p:cTn id="1" dur="indefinite" restart="never" fill="hold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0348" y="70560"/>
            <a:ext cx="4372480" cy="35386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8095" tIns="38095" rIns="38095" bIns="38095" numCol="1" spcCol="28571" rtlCol="0" anchor="ctr">
            <a:spAutoFit/>
          </a:bodyPr>
          <a:lstStyle/>
          <a:p>
            <a:pPr algn="just"/>
            <a:r>
              <a:rPr lang="zh-CN" altLang="en-US" sz="1800" b="1" dirty="0" smtClean="0">
                <a:solidFill>
                  <a:srgbClr val="1B42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美的支付架构演进史</a:t>
            </a:r>
            <a:r>
              <a:rPr lang="en-US" altLang="zh-CN" sz="1800" b="1" dirty="0" smtClean="0">
                <a:solidFill>
                  <a:srgbClr val="1B42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b="1" dirty="0">
                <a:solidFill>
                  <a:srgbClr val="1B42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当下</a:t>
            </a:r>
            <a:endParaRPr lang="zh-CN" altLang="en-US" sz="1800" b="1" dirty="0">
              <a:solidFill>
                <a:srgbClr val="1B428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00" name="直接连接符 199"/>
          <p:cNvCxnSpPr/>
          <p:nvPr/>
        </p:nvCxnSpPr>
        <p:spPr>
          <a:xfrm>
            <a:off x="0" y="474116"/>
            <a:ext cx="3415916" cy="0"/>
          </a:xfrm>
          <a:prstGeom prst="line">
            <a:avLst/>
          </a:prstGeom>
          <a:noFill/>
          <a:ln w="28575" cap="flat">
            <a:solidFill>
              <a:srgbClr val="1B428C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pic>
        <p:nvPicPr>
          <p:cNvPr id="5" name="Picture 3" descr="F:\midea-pay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7827" y="55016"/>
            <a:ext cx="1428750" cy="41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7452320" y="2400756"/>
            <a:ext cx="902811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进程合并</a:t>
            </a:r>
          </a:p>
          <a:p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模块虚置</a:t>
            </a:r>
            <a:endParaRPr lang="en-US" altLang="zh-CN" sz="1400" dirty="0" smtClean="0"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单库</a:t>
            </a: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单表</a:t>
            </a:r>
            <a:endParaRPr lang="en-US" altLang="zh-CN" sz="1400" dirty="0" smtClean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29698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555525"/>
            <a:ext cx="6715125" cy="4429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92081916"/>
      </p:ext>
    </p:extLst>
  </p:cSld>
  <p:clrMapOvr>
    <a:masterClrMapping/>
  </p:clrMapOvr>
  <p:transition spd="med"/>
  <p:timing>
    <p:tnLst>
      <p:par>
        <p:cTn id="1" dur="indefinite" restart="never" fill="hold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0348" y="70560"/>
            <a:ext cx="4372480" cy="35386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8095" tIns="38095" rIns="38095" bIns="38095" numCol="1" spcCol="28571" rtlCol="0" anchor="ctr">
            <a:spAutoFit/>
          </a:bodyPr>
          <a:lstStyle/>
          <a:p>
            <a:pPr algn="just"/>
            <a:r>
              <a:rPr lang="zh-CN" altLang="en-US" sz="1800" b="1" dirty="0" smtClean="0">
                <a:solidFill>
                  <a:srgbClr val="1B42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支付系统走过的</a:t>
            </a:r>
            <a:r>
              <a:rPr lang="zh-CN" altLang="en-US" b="1" dirty="0">
                <a:solidFill>
                  <a:srgbClr val="1B42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</a:t>
            </a:r>
            <a:r>
              <a:rPr lang="zh-CN" altLang="en-US" sz="1800" b="1" dirty="0" smtClean="0">
                <a:solidFill>
                  <a:srgbClr val="1B42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分片策略</a:t>
            </a:r>
            <a:endParaRPr lang="zh-CN" altLang="en-US" sz="1800" b="1" dirty="0">
              <a:solidFill>
                <a:srgbClr val="1B428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00" name="直接连接符 199"/>
          <p:cNvCxnSpPr/>
          <p:nvPr/>
        </p:nvCxnSpPr>
        <p:spPr>
          <a:xfrm>
            <a:off x="0" y="474116"/>
            <a:ext cx="3415916" cy="0"/>
          </a:xfrm>
          <a:prstGeom prst="line">
            <a:avLst/>
          </a:prstGeom>
          <a:noFill/>
          <a:ln w="28575" cap="flat">
            <a:solidFill>
              <a:srgbClr val="1B428C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pic>
        <p:nvPicPr>
          <p:cNvPr id="5" name="Picture 3" descr="F:\midea-pay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7827" y="55016"/>
            <a:ext cx="1428750" cy="41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7" name="组合 6"/>
          <p:cNvGrpSpPr/>
          <p:nvPr/>
        </p:nvGrpSpPr>
        <p:grpSpPr>
          <a:xfrm>
            <a:off x="1094125" y="978560"/>
            <a:ext cx="6862251" cy="2385953"/>
            <a:chOff x="1094125" y="1635646"/>
            <a:chExt cx="6862251" cy="2385953"/>
          </a:xfrm>
        </p:grpSpPr>
        <p:sp>
          <p:nvSpPr>
            <p:cNvPr id="3" name="TextBox 2"/>
            <p:cNvSpPr txBox="1"/>
            <p:nvPr/>
          </p:nvSpPr>
          <p:spPr>
            <a:xfrm>
              <a:off x="1345376" y="1635646"/>
              <a:ext cx="1620957" cy="1384995"/>
            </a:xfrm>
            <a:prstGeom prst="rect">
              <a:avLst/>
            </a:prstGeom>
            <a:noFill/>
            <a:ln>
              <a:solidFill>
                <a:srgbClr val="92D05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zh-CN" altLang="en-US" sz="1400" dirty="0" smtClean="0">
                  <a:latin typeface="微软雅黑" pitchFamily="34" charset="-122"/>
                  <a:ea typeface="微软雅黑" pitchFamily="34" charset="-122"/>
                </a:rPr>
                <a:t>商户号后三位分片</a:t>
              </a:r>
              <a:endParaRPr lang="en-US" altLang="zh-CN" sz="1400" dirty="0" smtClean="0">
                <a:latin typeface="微软雅黑" pitchFamily="34" charset="-122"/>
                <a:ea typeface="微软雅黑" pitchFamily="34" charset="-122"/>
              </a:endParaRPr>
            </a:p>
            <a:p>
              <a:endParaRPr lang="en-US" altLang="zh-CN" sz="1400" dirty="0" smtClean="0">
                <a:latin typeface="微软雅黑" pitchFamily="34" charset="-122"/>
                <a:ea typeface="微软雅黑" pitchFamily="34" charset="-122"/>
              </a:endParaRPr>
            </a:p>
            <a:p>
              <a:r>
                <a:rPr lang="zh-CN" altLang="en-US" sz="1400" dirty="0" smtClean="0">
                  <a:latin typeface="微软雅黑" pitchFamily="34" charset="-122"/>
                  <a:ea typeface="微软雅黑" pitchFamily="34" charset="-122"/>
                </a:rPr>
                <a:t>订单号后三位分片</a:t>
              </a:r>
              <a:endParaRPr lang="en-US" altLang="zh-CN" sz="1400" dirty="0" smtClean="0">
                <a:latin typeface="微软雅黑" pitchFamily="34" charset="-122"/>
                <a:ea typeface="微软雅黑" pitchFamily="34" charset="-122"/>
              </a:endParaRPr>
            </a:p>
            <a:p>
              <a:r>
                <a:rPr lang="zh-CN" altLang="en-US" sz="1400" dirty="0" smtClean="0">
                  <a:latin typeface="微软雅黑" pitchFamily="34" charset="-122"/>
                  <a:ea typeface="微软雅黑" pitchFamily="34" charset="-122"/>
                </a:rPr>
                <a:t>用户号后三位分片</a:t>
              </a:r>
              <a:endParaRPr lang="en-US" altLang="zh-CN" sz="1400" dirty="0" smtClean="0">
                <a:latin typeface="微软雅黑" pitchFamily="34" charset="-122"/>
                <a:ea typeface="微软雅黑" pitchFamily="34" charset="-122"/>
              </a:endParaRPr>
            </a:p>
            <a:p>
              <a:endParaRPr lang="en-US" altLang="zh-CN" sz="1400" dirty="0" smtClean="0">
                <a:latin typeface="微软雅黑" pitchFamily="34" charset="-122"/>
                <a:ea typeface="微软雅黑" pitchFamily="34" charset="-122"/>
              </a:endParaRPr>
            </a:p>
            <a:p>
              <a:r>
                <a:rPr lang="zh-CN" altLang="en-US" sz="1400" dirty="0" smtClean="0">
                  <a:latin typeface="微软雅黑" pitchFamily="34" charset="-122"/>
                  <a:ea typeface="微软雅黑" pitchFamily="34" charset="-122"/>
                </a:rPr>
                <a:t>账户号后三位分片</a:t>
              </a:r>
              <a:endParaRPr lang="en-US" altLang="zh-CN" sz="1400" dirty="0" smtClean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" name="矩形 5"/>
            <p:cNvSpPr/>
            <p:nvPr/>
          </p:nvSpPr>
          <p:spPr>
            <a:xfrm>
              <a:off x="4118423" y="2705938"/>
              <a:ext cx="1441420" cy="738664"/>
            </a:xfrm>
            <a:prstGeom prst="rect">
              <a:avLst/>
            </a:prstGeom>
            <a:ln>
              <a:solidFill>
                <a:srgbClr val="92D050"/>
              </a:solidFill>
            </a:ln>
          </p:spPr>
          <p:txBody>
            <a:bodyPr wrap="none">
              <a:spAutoFit/>
            </a:bodyPr>
            <a:lstStyle/>
            <a:p>
              <a:r>
                <a:rPr lang="zh-CN" altLang="en-US" sz="1400" dirty="0" smtClean="0">
                  <a:latin typeface="微软雅黑" pitchFamily="34" charset="-122"/>
                  <a:ea typeface="微软雅黑" pitchFamily="34" charset="-122"/>
                </a:rPr>
                <a:t>数据分区</a:t>
              </a:r>
              <a:endParaRPr lang="en-US" altLang="zh-CN" sz="1400" dirty="0" smtClean="0">
                <a:latin typeface="微软雅黑" pitchFamily="34" charset="-122"/>
                <a:ea typeface="微软雅黑" pitchFamily="34" charset="-122"/>
              </a:endParaRPr>
            </a:p>
            <a:p>
              <a:endParaRPr lang="en-US" altLang="zh-CN" sz="1400" dirty="0">
                <a:latin typeface="微软雅黑" pitchFamily="34" charset="-122"/>
                <a:ea typeface="微软雅黑" pitchFamily="34" charset="-122"/>
              </a:endParaRPr>
            </a:p>
            <a:p>
              <a:r>
                <a:rPr lang="zh-CN" altLang="en-US" sz="1400" dirty="0" smtClean="0">
                  <a:latin typeface="微软雅黑" pitchFamily="34" charset="-122"/>
                  <a:ea typeface="微软雅黑" pitchFamily="34" charset="-122"/>
                </a:rPr>
                <a:t>订单号哈希取</a:t>
              </a:r>
              <a:r>
                <a:rPr lang="zh-CN" altLang="en-US" sz="1400" dirty="0">
                  <a:latin typeface="微软雅黑" pitchFamily="34" charset="-122"/>
                  <a:ea typeface="微软雅黑" pitchFamily="34" charset="-122"/>
                </a:rPr>
                <a:t>模</a:t>
              </a:r>
            </a:p>
          </p:txBody>
        </p:sp>
        <p:sp>
          <p:nvSpPr>
            <p:cNvPr id="8" name="矩形 7"/>
            <p:cNvSpPr/>
            <p:nvPr/>
          </p:nvSpPr>
          <p:spPr>
            <a:xfrm>
              <a:off x="6856074" y="3136824"/>
              <a:ext cx="364202" cy="307777"/>
            </a:xfrm>
            <a:prstGeom prst="rect">
              <a:avLst/>
            </a:prstGeom>
            <a:ln>
              <a:solidFill>
                <a:srgbClr val="92D050"/>
              </a:solidFill>
            </a:ln>
          </p:spPr>
          <p:txBody>
            <a:bodyPr wrap="none">
              <a:spAutoFit/>
            </a:bodyPr>
            <a:lstStyle/>
            <a:p>
              <a:r>
                <a:rPr lang="zh-CN" altLang="en-US" sz="1400" dirty="0" smtClean="0">
                  <a:latin typeface="微软雅黑" pitchFamily="34" charset="-122"/>
                  <a:ea typeface="微软雅黑" pitchFamily="34" charset="-122"/>
                </a:rPr>
                <a:t>合</a:t>
              </a:r>
              <a:endParaRPr lang="zh-CN" altLang="en-US" sz="1400" dirty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0" name="右箭头 9"/>
            <p:cNvSpPr/>
            <p:nvPr/>
          </p:nvSpPr>
          <p:spPr>
            <a:xfrm>
              <a:off x="1094125" y="3364513"/>
              <a:ext cx="6862251" cy="432048"/>
            </a:xfrm>
            <a:prstGeom prst="rightArrow">
              <a:avLst/>
            </a:prstGeom>
            <a:solidFill>
              <a:srgbClr val="92D05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1724487" y="3713822"/>
              <a:ext cx="86273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 smtClean="0">
                  <a:latin typeface="微软雅黑" pitchFamily="34" charset="-122"/>
                  <a:ea typeface="微软雅黑" pitchFamily="34" charset="-122"/>
                </a:rPr>
                <a:t>2014.10</a:t>
              </a:r>
              <a:endParaRPr lang="zh-CN" altLang="en-US" sz="1400" dirty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4460664" y="3713821"/>
              <a:ext cx="7569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 smtClean="0">
                  <a:latin typeface="微软雅黑" pitchFamily="34" charset="-122"/>
                  <a:ea typeface="微软雅黑" pitchFamily="34" charset="-122"/>
                </a:rPr>
                <a:t>2015.3</a:t>
              </a:r>
              <a:endParaRPr lang="zh-CN" altLang="en-US" sz="1400" dirty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6606807" y="3713822"/>
              <a:ext cx="86273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 smtClean="0">
                  <a:latin typeface="微软雅黑" pitchFamily="34" charset="-122"/>
                  <a:ea typeface="微软雅黑" pitchFamily="34" charset="-122"/>
                </a:rPr>
                <a:t>2016.10</a:t>
              </a:r>
              <a:endParaRPr lang="zh-CN" altLang="en-US" sz="1400" dirty="0">
                <a:latin typeface="微软雅黑" pitchFamily="34" charset="-122"/>
                <a:ea typeface="微软雅黑" pitchFamily="34" charset="-122"/>
              </a:endParaRPr>
            </a:p>
          </p:txBody>
        </p:sp>
        <p:cxnSp>
          <p:nvCxnSpPr>
            <p:cNvPr id="15" name="直接箭头连接符 14"/>
            <p:cNvCxnSpPr/>
            <p:nvPr/>
          </p:nvCxnSpPr>
          <p:spPr>
            <a:xfrm>
              <a:off x="2966333" y="2859782"/>
              <a:ext cx="1152090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箭头连接符 22"/>
            <p:cNvCxnSpPr/>
            <p:nvPr/>
          </p:nvCxnSpPr>
          <p:spPr>
            <a:xfrm>
              <a:off x="2966333" y="2859782"/>
              <a:ext cx="1152090" cy="43093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extBox 26"/>
            <p:cNvSpPr txBox="1"/>
            <p:nvPr/>
          </p:nvSpPr>
          <p:spPr>
            <a:xfrm>
              <a:off x="1345377" y="3147590"/>
              <a:ext cx="1620956" cy="307777"/>
            </a:xfrm>
            <a:prstGeom prst="rect">
              <a:avLst/>
            </a:prstGeom>
            <a:noFill/>
            <a:ln>
              <a:solidFill>
                <a:srgbClr val="92D05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dirty="0" smtClean="0">
                  <a:latin typeface="微软雅黑" pitchFamily="34" charset="-122"/>
                  <a:ea typeface="微软雅黑" pitchFamily="34" charset="-122"/>
                </a:rPr>
                <a:t>按日期分片</a:t>
              </a:r>
              <a:endParaRPr lang="zh-CN" altLang="en-US" sz="1400" dirty="0"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4" name="TextBox 3"/>
          <p:cNvSpPr txBox="1"/>
          <p:nvPr/>
        </p:nvSpPr>
        <p:spPr>
          <a:xfrm>
            <a:off x="1345377" y="3781772"/>
            <a:ext cx="207053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问题：</a:t>
            </a:r>
            <a:endParaRPr lang="en-US" altLang="zh-CN" sz="1400" dirty="0" smtClean="0"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热点用户数据集中</a:t>
            </a:r>
            <a:endParaRPr lang="en-US" altLang="zh-CN" sz="1400" dirty="0" smtClean="0"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部分拆分无水平效果</a:t>
            </a:r>
            <a:endParaRPr lang="en-US" altLang="zh-CN" sz="1400" dirty="0" smtClean="0"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数据合并缺少有效手段</a:t>
            </a:r>
            <a:endParaRPr lang="zh-CN" altLang="en-US" sz="14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118856" y="3781772"/>
            <a:ext cx="2339102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问题：</a:t>
            </a:r>
            <a:endParaRPr lang="en-US" altLang="zh-CN" sz="1400" dirty="0" smtClean="0"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缺少分布式事务</a:t>
            </a:r>
            <a:endParaRPr lang="en-US" altLang="zh-CN" sz="1400" dirty="0"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多维数据</a:t>
            </a:r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的</a:t>
            </a: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复制</a:t>
            </a:r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及</a:t>
            </a: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管理</a:t>
            </a:r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复杂</a:t>
            </a:r>
            <a:endParaRPr lang="en-US" altLang="zh-CN" sz="1400" dirty="0" smtClean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" name="线形标注 2(带强调线) 8"/>
          <p:cNvSpPr/>
          <p:nvPr/>
        </p:nvSpPr>
        <p:spPr>
          <a:xfrm>
            <a:off x="3648427" y="825040"/>
            <a:ext cx="2435741" cy="612648"/>
          </a:xfrm>
          <a:prstGeom prst="accent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118719"/>
              <a:gd name="adj6" fmla="val -25807"/>
            </a:avLst>
          </a:prstGeom>
          <a:solidFill>
            <a:schemeClr val="bg1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根据使用维度复制数据</a:t>
            </a:r>
            <a:endParaRPr lang="en-US" altLang="zh-CN" sz="1400" dirty="0" smtClean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sz="14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建立汇总数据表</a:t>
            </a:r>
            <a:endParaRPr lang="en-US" altLang="zh-CN" sz="1400" dirty="0" smtClean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sz="1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数据</a:t>
            </a:r>
            <a:r>
              <a:rPr lang="zh-CN" altLang="en-US" sz="14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仓库提供非实时统计</a:t>
            </a:r>
            <a:endParaRPr lang="en-US" altLang="zh-CN" sz="1400" dirty="0" smtClean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sz="14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定时的数据迁移</a:t>
            </a:r>
            <a:endParaRPr lang="zh-CN" altLang="en-US" sz="14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08075258"/>
      </p:ext>
    </p:extLst>
  </p:cSld>
  <p:clrMapOvr>
    <a:masterClrMapping/>
  </p:clrMapOvr>
  <p:transition spd="med"/>
  <p:timing>
    <p:tnLst>
      <p:par>
        <p:cTn id="1" dur="indefinite" restart="never" fill="hold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0348" y="70524"/>
            <a:ext cx="4372480" cy="353933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8095" tIns="38095" rIns="38095" bIns="38095" numCol="1" spcCol="28571" rtlCol="0" anchor="ctr">
            <a:spAutoFit/>
          </a:bodyPr>
          <a:lstStyle/>
          <a:p>
            <a:pPr algn="just"/>
            <a:r>
              <a:rPr lang="zh-CN" altLang="en-US" b="1" dirty="0" smtClean="0">
                <a:solidFill>
                  <a:srgbClr val="1B42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不能负载均衡时</a:t>
            </a:r>
            <a:r>
              <a:rPr lang="en-US" altLang="zh-CN" b="1" dirty="0" smtClean="0">
                <a:solidFill>
                  <a:srgbClr val="1B42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b="1" dirty="0" smtClean="0">
                <a:solidFill>
                  <a:srgbClr val="1B42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单条数据更新</a:t>
            </a:r>
            <a:endParaRPr lang="zh-CN" altLang="en-US" sz="1800" b="1" dirty="0">
              <a:solidFill>
                <a:srgbClr val="1B428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00" name="直接连接符 199"/>
          <p:cNvCxnSpPr/>
          <p:nvPr/>
        </p:nvCxnSpPr>
        <p:spPr>
          <a:xfrm>
            <a:off x="0" y="474116"/>
            <a:ext cx="3415916" cy="0"/>
          </a:xfrm>
          <a:prstGeom prst="line">
            <a:avLst/>
          </a:prstGeom>
          <a:noFill/>
          <a:ln w="28575" cap="flat">
            <a:solidFill>
              <a:srgbClr val="1B428C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pic>
        <p:nvPicPr>
          <p:cNvPr id="5" name="Picture 3" descr="F:\midea-pay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7827" y="55016"/>
            <a:ext cx="1428750" cy="41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939752" y="843558"/>
            <a:ext cx="6462025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、避免事务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、减小锁范围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3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、减少锁中任务的执行时间</a:t>
            </a:r>
            <a:endParaRPr lang="en-US" altLang="zh-CN" dirty="0">
              <a:latin typeface="微软雅黑" pitchFamily="34" charset="-122"/>
              <a:ea typeface="微软雅黑" pitchFamily="34" charset="-122"/>
            </a:endParaRPr>
          </a:p>
          <a:p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4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减少不必要的数据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写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5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、数据拆分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    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业务层面按场景分数据：工资代付与费用报销付款账户不同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   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将一个账户拆分成多个子账户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6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、合并更新到一个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bucket</a:t>
            </a:r>
          </a:p>
        </p:txBody>
      </p:sp>
    </p:spTree>
    <p:extLst>
      <p:ext uri="{BB962C8B-B14F-4D97-AF65-F5344CB8AC3E}">
        <p14:creationId xmlns:p14="http://schemas.microsoft.com/office/powerpoint/2010/main" val="412796111"/>
      </p:ext>
    </p:extLst>
  </p:cSld>
  <p:clrMapOvr>
    <a:masterClrMapping/>
  </p:clrMapOvr>
  <p:transition spd="med"/>
  <p:timing>
    <p:tnLst>
      <p:par>
        <p:cTn id="1" dur="indefinite" restart="never" fill="hold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0348" y="70560"/>
            <a:ext cx="4372480" cy="35386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8095" tIns="38095" rIns="38095" bIns="38095" numCol="1" spcCol="28571" rtlCol="0" anchor="ctr">
            <a:spAutoFit/>
          </a:bodyPr>
          <a:lstStyle/>
          <a:p>
            <a:pPr algn="just"/>
            <a:endParaRPr lang="zh-CN" altLang="en-US" sz="1800" b="1" dirty="0">
              <a:solidFill>
                <a:srgbClr val="1B428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00" name="直接连接符 199"/>
          <p:cNvCxnSpPr/>
          <p:nvPr/>
        </p:nvCxnSpPr>
        <p:spPr>
          <a:xfrm>
            <a:off x="0" y="474116"/>
            <a:ext cx="3415916" cy="0"/>
          </a:xfrm>
          <a:prstGeom prst="line">
            <a:avLst/>
          </a:prstGeom>
          <a:noFill/>
          <a:ln w="28575" cap="flat">
            <a:solidFill>
              <a:srgbClr val="1B428C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pic>
        <p:nvPicPr>
          <p:cNvPr id="5" name="Picture 3" descr="F:\midea-pay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7827" y="55016"/>
            <a:ext cx="1428750" cy="41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0" y="2093500"/>
            <a:ext cx="9144000" cy="446266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8095" tIns="38095" rIns="38095" bIns="38095" numCol="1" spcCol="28571" rtlCol="0" anchor="ctr">
            <a:spAutoFit/>
          </a:bodyPr>
          <a:lstStyle/>
          <a:p>
            <a:pPr algn="ctr"/>
            <a:r>
              <a:rPr lang="en-US" altLang="zh-CN" sz="2400" b="1" dirty="0" smtClean="0">
                <a:solidFill>
                  <a:srgbClr val="1B42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Thanks!</a:t>
            </a:r>
            <a:endParaRPr lang="zh-CN" altLang="en-US" sz="2400" b="1" dirty="0">
              <a:solidFill>
                <a:srgbClr val="1B428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05461229"/>
      </p:ext>
    </p:extLst>
  </p:cSld>
  <p:clrMapOvr>
    <a:masterClrMapping/>
  </p:clrMapOvr>
  <p:transition spd="med"/>
  <p:timing>
    <p:tnLst>
      <p:par>
        <p:cTn id="1" dur="indefinite" restart="never" fill="hold" nodeType="tmRoot"/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48142</TotalTime>
  <Words>1365</Words>
  <Application>Microsoft Office PowerPoint</Application>
  <PresentationFormat>全屏显示(16:9)</PresentationFormat>
  <Paragraphs>281</Paragraphs>
  <Slides>31</Slides>
  <Notes>30</Notes>
  <HiddenSlides>1</HiddenSlides>
  <MMClips>0</MMClips>
  <ScaleCrop>false</ScaleCrop>
  <HeadingPairs>
    <vt:vector size="6" baseType="variant"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31</vt:i4>
      </vt:variant>
    </vt:vector>
  </HeadingPairs>
  <TitlesOfParts>
    <vt:vector size="33" baseType="lpstr">
      <vt:lpstr>Office 主题​​</vt:lpstr>
      <vt:lpstr>包装程序外壳对象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叶腾超</dc:creator>
  <cp:lastModifiedBy>叶腾超</cp:lastModifiedBy>
  <cp:revision>1033</cp:revision>
  <dcterms:created xsi:type="dcterms:W3CDTF">2017-08-24T03:04:02Z</dcterms:created>
  <dcterms:modified xsi:type="dcterms:W3CDTF">2018-01-02T12:50:28Z</dcterms:modified>
</cp:coreProperties>
</file>
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6"/>
  </p:notesMasterIdLst>
  <p:sldIdLst>
    <p:sldId id="256" r:id="rId2"/>
    <p:sldId id="262" r:id="rId3"/>
    <p:sldId id="299" r:id="rId4"/>
    <p:sldId id="302" r:id="rId5"/>
    <p:sldId id="320" r:id="rId6"/>
    <p:sldId id="308" r:id="rId7"/>
    <p:sldId id="307" r:id="rId8"/>
    <p:sldId id="306" r:id="rId9"/>
    <p:sldId id="312" r:id="rId10"/>
    <p:sldId id="309" r:id="rId11"/>
    <p:sldId id="318" r:id="rId12"/>
    <p:sldId id="319" r:id="rId13"/>
    <p:sldId id="310" r:id="rId14"/>
    <p:sldId id="311" r:id="rId15"/>
    <p:sldId id="321" r:id="rId16"/>
    <p:sldId id="313" r:id="rId17"/>
    <p:sldId id="325" r:id="rId18"/>
    <p:sldId id="324" r:id="rId19"/>
    <p:sldId id="315" r:id="rId20"/>
    <p:sldId id="316" r:id="rId21"/>
    <p:sldId id="317" r:id="rId22"/>
    <p:sldId id="322" r:id="rId23"/>
    <p:sldId id="326" r:id="rId24"/>
    <p:sldId id="296" r:id="rId2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未知用户1" initials="未知用户1" lastIdx="1" clrIdx="0"/>
  <p:cmAuthor id="2" name="作者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Animation="0"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04371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89" d="100"/>
          <a:sy n="89" d="100"/>
        </p:scale>
        <p:origin x="-570" y="-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50" d="100"/>
        <a:sy n="5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commentAuthors" Target="commentAuthors.xml"/><Relationship Id="rId30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image" Target="../media/image7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2019-7-5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24108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  <a:t>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  <a:t>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  <a:t>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  <a:t>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  <a:t>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  <a:t>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  <a:t>10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  <a:t>11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  <a:t>12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  <a:t>13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  <a:t>14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  <a:t>15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  <a:t>16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  <a:t>17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  <a:t>18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  <a:t>19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  <a:t>20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  <a:t>21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  <a:t>22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  <a:t>23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 smtClean="0"/>
              <a:t>模板来自于风云</a:t>
            </a:r>
            <a:r>
              <a:rPr lang="zh-CN" altLang="en-US" smtClean="0"/>
              <a:t>办公 </a:t>
            </a:r>
            <a:r>
              <a:rPr lang="en-US" altLang="zh-CN" sz="1200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Meiryo" panose="020B0604030504040204" pitchFamily="34" charset="-128"/>
              </a:rPr>
              <a:t>www.ppt118.com</a:t>
            </a:r>
            <a:endParaRPr lang="zh-CN" altLang="en-US" sz="1200" dirty="0" smtClean="0">
              <a:solidFill>
                <a:srgbClr val="CEEAB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Meiryo" panose="020B0604030504040204" pitchFamily="34" charset="-128"/>
            </a:endParaRPr>
          </a:p>
        </p:txBody>
      </p:sp>
      <p:sp>
        <p:nvSpPr>
          <p:cNvPr id="6148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E5ED1824-6DB2-4029-B0DF-1D3CDCF11CDA}" type="slidenum">
              <a:rPr lang="zh-CN" altLang="en-US" smtClean="0">
                <a:solidFill>
                  <a:prstClr val="black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24</a:t>
            </a:fld>
            <a:endParaRPr lang="zh-CN" altLang="en-US" smtClean="0">
              <a:solidFill>
                <a:prstClr val="black"/>
              </a:solidFill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65946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 userDrawn="1"/>
        </p:nvGrpSpPr>
        <p:grpSpPr>
          <a:xfrm>
            <a:off x="6186805" y="1610175"/>
            <a:ext cx="5499100" cy="4077520"/>
            <a:chOff x="9137" y="1828"/>
            <a:chExt cx="9305" cy="7504"/>
          </a:xfrm>
        </p:grpSpPr>
        <p:pic>
          <p:nvPicPr>
            <p:cNvPr id="7" name="图片 6" descr="498263aa97e3371ec10866220cfa148c"/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9137" y="5113"/>
              <a:ext cx="9305" cy="4219"/>
            </a:xfrm>
            <a:prstGeom prst="rect">
              <a:avLst/>
            </a:prstGeom>
          </p:spPr>
        </p:pic>
        <p:pic>
          <p:nvPicPr>
            <p:cNvPr id="9" name="图片 8" descr="0d7ffd61b48d866a25b9e01656b4f61d"/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0369" y="1828"/>
              <a:ext cx="7178" cy="4455"/>
            </a:xfrm>
            <a:prstGeom prst="rect">
              <a:avLst/>
            </a:prstGeom>
          </p:spPr>
        </p:pic>
      </p:grpSp>
      <p:sp>
        <p:nvSpPr>
          <p:cNvPr id="8" name="矩形 7"/>
          <p:cNvSpPr/>
          <p:nvPr userDrawn="1"/>
        </p:nvSpPr>
        <p:spPr>
          <a:xfrm rot="16200000">
            <a:off x="-1037216" y="3473009"/>
            <a:ext cx="2123440" cy="108000"/>
          </a:xfrm>
          <a:prstGeom prst="rect">
            <a:avLst/>
          </a:prstGeom>
          <a:solidFill>
            <a:srgbClr val="30437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498263aa97e3371ec10866220cfa148c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533015" y="3843020"/>
            <a:ext cx="6752590" cy="2067560"/>
          </a:xfrm>
          <a:prstGeom prst="rect">
            <a:avLst/>
          </a:prstGeom>
        </p:spPr>
      </p:pic>
      <p:sp>
        <p:nvSpPr>
          <p:cNvPr id="8" name="矩形 7"/>
          <p:cNvSpPr/>
          <p:nvPr userDrawn="1"/>
        </p:nvSpPr>
        <p:spPr>
          <a:xfrm>
            <a:off x="5279390" y="-30480"/>
            <a:ext cx="1260009" cy="144001"/>
          </a:xfrm>
          <a:prstGeom prst="rect">
            <a:avLst/>
          </a:prstGeom>
          <a:solidFill>
            <a:srgbClr val="30437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498263aa97e3371ec10866220cfa148c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24460" y="381000"/>
            <a:ext cx="813435" cy="480695"/>
          </a:xfrm>
          <a:prstGeom prst="rect">
            <a:avLst/>
          </a:prstGeom>
        </p:spPr>
      </p:pic>
      <p:sp>
        <p:nvSpPr>
          <p:cNvPr id="8" name="矩形 7"/>
          <p:cNvSpPr/>
          <p:nvPr userDrawn="1"/>
        </p:nvSpPr>
        <p:spPr>
          <a:xfrm>
            <a:off x="-14605" y="368935"/>
            <a:ext cx="54000" cy="540004"/>
          </a:xfrm>
          <a:prstGeom prst="rect">
            <a:avLst/>
          </a:prstGeom>
          <a:solidFill>
            <a:srgbClr val="30437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8047d3909c6e088b3678d165a65c64a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092190" y="-42545"/>
            <a:ext cx="6356350" cy="7275830"/>
          </a:xfrm>
          <a:prstGeom prst="rect">
            <a:avLst/>
          </a:prstGeom>
        </p:spPr>
      </p:pic>
      <p:pic>
        <p:nvPicPr>
          <p:cNvPr id="9" name="图片 8" descr="498263aa97e3371ec10866220cfa148c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24460" y="381000"/>
            <a:ext cx="813435" cy="480695"/>
          </a:xfrm>
          <a:prstGeom prst="rect">
            <a:avLst/>
          </a:prstGeom>
        </p:spPr>
      </p:pic>
      <p:sp>
        <p:nvSpPr>
          <p:cNvPr id="10" name="矩形 9"/>
          <p:cNvSpPr/>
          <p:nvPr userDrawn="1"/>
        </p:nvSpPr>
        <p:spPr>
          <a:xfrm>
            <a:off x="-26670" y="381000"/>
            <a:ext cx="76200" cy="540004"/>
          </a:xfrm>
          <a:prstGeom prst="rect">
            <a:avLst/>
          </a:prstGeom>
          <a:solidFill>
            <a:srgbClr val="30437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E5758D-A3C3-4E88-8AC0-22500507BD7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2019-7-5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E786F-588D-4932-A7B2-AE3451FA4ACA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193833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2019-7-5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.xml"/><Relationship Id="rId5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notesSlide" Target="../notesSlides/notesSlide4.xml"/><Relationship Id="rId7" Type="http://schemas.openxmlformats.org/officeDocument/2006/relationships/image" Target="../media/image8.emf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7.emf"/><Relationship Id="rId4" Type="http://schemas.openxmlformats.org/officeDocument/2006/relationships/oleObject" Target="../embeddings/oleObject1.bin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111"/>
          <p:cNvSpPr txBox="1">
            <a:spLocks noChangeArrowheads="1"/>
          </p:cNvSpPr>
          <p:nvPr/>
        </p:nvSpPr>
        <p:spPr bwMode="auto">
          <a:xfrm>
            <a:off x="3283660" y="4183406"/>
            <a:ext cx="5840095" cy="333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372" tIns="45684" rIns="91372" bIns="45684">
            <a:spAutoFit/>
          </a:bodyPr>
          <a:lstStyle>
            <a:lvl1pPr>
              <a:defRPr>
                <a:solidFill>
                  <a:schemeClr val="tx1"/>
                </a:solidFill>
                <a:latin typeface="Lao UI" panose="020B0502040204020203" pitchFamily="34" charset="0"/>
                <a:ea typeface="微软雅黑" panose="020B050302020402020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Lao UI" panose="020B0502040204020203" pitchFamily="34" charset="0"/>
                <a:ea typeface="微软雅黑" panose="020B050302020402020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Lao UI" panose="020B0502040204020203" pitchFamily="34" charset="0"/>
                <a:ea typeface="微软雅黑" panose="020B050302020402020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Lao UI" panose="020B0502040204020203" pitchFamily="34" charset="0"/>
                <a:ea typeface="微软雅黑" panose="020B050302020402020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Lao UI" panose="020B0502040204020203" pitchFamily="34" charset="0"/>
                <a:ea typeface="微软雅黑" panose="020B050302020402020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ao UI" panose="020B0502040204020203" pitchFamily="34" charset="0"/>
                <a:ea typeface="微软雅黑" panose="020B050302020402020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ao UI" panose="020B0502040204020203" pitchFamily="34" charset="0"/>
                <a:ea typeface="微软雅黑" panose="020B050302020402020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ao UI" panose="020B0502040204020203" pitchFamily="34" charset="0"/>
                <a:ea typeface="微软雅黑" panose="020B050302020402020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ao UI" panose="020B0502040204020203" pitchFamily="34" charset="0"/>
                <a:ea typeface="微软雅黑" panose="020B0503020204020204" charset="-122"/>
              </a:defRPr>
            </a:lvl9pPr>
          </a:lstStyle>
          <a:p>
            <a:pPr algn="l">
              <a:lnSpc>
                <a:spcPct val="120000"/>
              </a:lnSpc>
            </a:pPr>
            <a:r>
              <a:rPr lang="en-US" altLang="zh-CN" sz="1400" dirty="0" smtClean="0">
                <a:solidFill>
                  <a:srgbClr val="304371"/>
                </a:solidFill>
                <a:latin typeface="+mn-lt"/>
                <a:cs typeface="Arial" panose="020B0604020202020204" pitchFamily="34" charset="0"/>
                <a:sym typeface="+mn-ea"/>
              </a:rPr>
              <a:t>By </a:t>
            </a:r>
            <a:r>
              <a:rPr lang="zh-CN" altLang="en-US" sz="1400" dirty="0" smtClean="0">
                <a:solidFill>
                  <a:srgbClr val="304371"/>
                </a:solidFill>
                <a:latin typeface="+mn-lt"/>
                <a:cs typeface="Arial" panose="020B0604020202020204" pitchFamily="34" charset="0"/>
                <a:sym typeface="+mn-ea"/>
              </a:rPr>
              <a:t>美的金融科技成都团队渠道组王标</a:t>
            </a:r>
            <a:endParaRPr lang="en-US" altLang="zh-CN" sz="1400" dirty="0">
              <a:solidFill>
                <a:srgbClr val="304371"/>
              </a:solidFill>
              <a:latin typeface="+mn-lt"/>
              <a:cs typeface="Arial" panose="020B0604020202020204" pitchFamily="34" charset="0"/>
              <a:sym typeface="+mn-ea"/>
            </a:endParaRPr>
          </a:p>
        </p:txBody>
      </p:sp>
      <p:sp>
        <p:nvSpPr>
          <p:cNvPr id="12" name="标题 1"/>
          <p:cNvSpPr txBox="1"/>
          <p:nvPr/>
        </p:nvSpPr>
        <p:spPr>
          <a:xfrm>
            <a:off x="601081" y="2492137"/>
            <a:ext cx="6436995" cy="82423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US" altLang="zh-CN" sz="4000" dirty="0" smtClean="0">
              <a:solidFill>
                <a:srgbClr val="30437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endParaRPr lang="en-US" altLang="zh-CN" sz="4000" dirty="0">
              <a:solidFill>
                <a:srgbClr val="30437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endParaRPr lang="en-US" altLang="zh-CN" sz="4000" dirty="0" smtClean="0">
              <a:solidFill>
                <a:srgbClr val="30437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endParaRPr lang="en-US" altLang="zh-CN" dirty="0" smtClean="0">
              <a:solidFill>
                <a:srgbClr val="30437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endParaRPr lang="en-US" altLang="zh-CN" dirty="0">
              <a:solidFill>
                <a:srgbClr val="30437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endParaRPr lang="en-US" altLang="zh-CN" dirty="0" smtClean="0">
              <a:solidFill>
                <a:srgbClr val="30437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lang="en-US" altLang="zh-CN" sz="4400" dirty="0" smtClean="0">
                <a:solidFill>
                  <a:srgbClr val="304371"/>
                </a:solidFill>
                <a:latin typeface="微软雅黑" panose="020B0503020204020204" charset="-122"/>
                <a:ea typeface="微软雅黑" panose="020B0503020204020204" charset="-122"/>
              </a:rPr>
              <a:t>Redis</a:t>
            </a:r>
            <a:r>
              <a:rPr lang="zh-CN" altLang="en-US" sz="4400" dirty="0">
                <a:solidFill>
                  <a:srgbClr val="304371"/>
                </a:solidFill>
                <a:latin typeface="微软雅黑" panose="020B0503020204020204" charset="-122"/>
                <a:ea typeface="微软雅黑" panose="020B0503020204020204" charset="-122"/>
              </a:rPr>
              <a:t>高</a:t>
            </a:r>
            <a:r>
              <a:rPr lang="zh-CN" altLang="en-US" sz="4400" dirty="0" smtClean="0">
                <a:solidFill>
                  <a:srgbClr val="304371"/>
                </a:solidFill>
                <a:latin typeface="微软雅黑" panose="020B0503020204020204" charset="-122"/>
                <a:ea typeface="微软雅黑" panose="020B0503020204020204" charset="-122"/>
              </a:rPr>
              <a:t>可用之</a:t>
            </a:r>
            <a:r>
              <a:rPr lang="zh-CN" altLang="en-US" sz="4400" dirty="0">
                <a:solidFill>
                  <a:srgbClr val="304371"/>
                </a:solidFill>
                <a:latin typeface="微软雅黑" panose="020B0503020204020204" charset="-122"/>
                <a:ea typeface="微软雅黑" panose="020B0503020204020204" charset="-122"/>
              </a:rPr>
              <a:t>道</a:t>
            </a:r>
            <a:endParaRPr lang="en-US" altLang="zh-CN" sz="4400" dirty="0" smtClean="0">
              <a:solidFill>
                <a:srgbClr val="30437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28841" y="0"/>
            <a:ext cx="2763159" cy="10567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0"/>
    </mc:Choice>
    <mc:Fallback xmlns="">
      <p:transition spd="slow" advClick="0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21699a613467d17921ac80c70df07e9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8960" y="2286000"/>
            <a:ext cx="5286375" cy="4573270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1020128" y="385445"/>
            <a:ext cx="1669415" cy="3683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zh-CN" altLang="en-US" b="1" dirty="0" smtClean="0">
                <a:solidFill>
                  <a:srgbClr val="304371"/>
                </a:solidFill>
                <a:latin typeface="微软雅黑" panose="020B0503020204020204" charset="-122"/>
                <a:ea typeface="微软雅黑" panose="020B0503020204020204" charset="-122"/>
                <a:cs typeface="Arial Unicode MS" panose="020B0604020202020204" charset="-122"/>
                <a:sym typeface="+mn-ea"/>
              </a:rPr>
              <a:t>目录</a:t>
            </a:r>
            <a:r>
              <a:rPr lang="en-US" altLang="zh-CN" b="1" dirty="0" smtClean="0">
                <a:solidFill>
                  <a:srgbClr val="304371"/>
                </a:solidFill>
                <a:latin typeface="微软雅黑" panose="020B0503020204020204" charset="-122"/>
                <a:ea typeface="微软雅黑" panose="020B0503020204020204" charset="-122"/>
                <a:cs typeface="Arial Unicode MS" panose="020B0604020202020204" charset="-122"/>
                <a:sym typeface="+mn-ea"/>
              </a:rPr>
              <a:t>/Content</a:t>
            </a:r>
          </a:p>
        </p:txBody>
      </p:sp>
      <p:sp>
        <p:nvSpPr>
          <p:cNvPr id="8" name="矩形 7"/>
          <p:cNvSpPr/>
          <p:nvPr userDrawn="1"/>
        </p:nvSpPr>
        <p:spPr>
          <a:xfrm>
            <a:off x="830580" y="2754630"/>
            <a:ext cx="76200" cy="540004"/>
          </a:xfrm>
          <a:prstGeom prst="rect">
            <a:avLst/>
          </a:prstGeom>
          <a:solidFill>
            <a:srgbClr val="30437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 userDrawn="1"/>
        </p:nvSpPr>
        <p:spPr>
          <a:xfrm>
            <a:off x="830580" y="4106545"/>
            <a:ext cx="76200" cy="540004"/>
          </a:xfrm>
          <a:prstGeom prst="rect">
            <a:avLst/>
          </a:prstGeom>
          <a:solidFill>
            <a:srgbClr val="30437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8" name="文本框 87"/>
          <p:cNvSpPr txBox="1"/>
          <p:nvPr/>
        </p:nvSpPr>
        <p:spPr>
          <a:xfrm>
            <a:off x="995680" y="2818765"/>
            <a:ext cx="1858645" cy="3812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30000"/>
              </a:lnSpc>
            </a:pPr>
            <a:r>
              <a:rPr lang="zh-CN" altLang="en-US" sz="1600" b="1" dirty="0" smtClean="0">
                <a:solidFill>
                  <a:srgbClr val="304371"/>
                </a:solidFill>
                <a:latin typeface="微软雅黑" panose="020B0503020204020204" charset="-122"/>
                <a:ea typeface="微软雅黑" panose="020B0503020204020204" charset="-122"/>
              </a:rPr>
              <a:t>单机模式</a:t>
            </a:r>
            <a:endParaRPr lang="zh-CN" altLang="zh-CN" sz="1600" b="1" dirty="0">
              <a:solidFill>
                <a:srgbClr val="30437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4343400" y="2821305"/>
            <a:ext cx="1858645" cy="4124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30000"/>
              </a:lnSpc>
            </a:pPr>
            <a:r>
              <a:rPr lang="zh-CN" altLang="en-US" sz="1600" b="1" dirty="0" smtClean="0">
                <a:solidFill>
                  <a:srgbClr val="30437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主从模式</a:t>
            </a:r>
            <a:endParaRPr lang="zh-CN" altLang="zh-CN" sz="1600" b="1" dirty="0">
              <a:solidFill>
                <a:srgbClr val="30437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995680" y="4171315"/>
            <a:ext cx="1858645" cy="3812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30000"/>
              </a:lnSpc>
            </a:pPr>
            <a:r>
              <a:rPr lang="zh-CN" altLang="en-US" sz="1600" b="1" dirty="0" smtClean="0">
                <a:solidFill>
                  <a:srgbClr val="304371"/>
                </a:solidFill>
                <a:latin typeface="微软雅黑" panose="020B0503020204020204" charset="-122"/>
                <a:ea typeface="微软雅黑" panose="020B0503020204020204" charset="-122"/>
              </a:rPr>
              <a:t>哨兵模式</a:t>
            </a:r>
            <a:endParaRPr lang="zh-CN" altLang="zh-CN" sz="1600" b="1" dirty="0">
              <a:solidFill>
                <a:srgbClr val="30437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4343400" y="4172585"/>
            <a:ext cx="1858645" cy="3812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30000"/>
              </a:lnSpc>
            </a:pPr>
            <a:r>
              <a:rPr lang="zh-CN" altLang="en-US" sz="1600" b="1" dirty="0" smtClean="0">
                <a:solidFill>
                  <a:srgbClr val="304371"/>
                </a:solidFill>
                <a:latin typeface="微软雅黑" panose="020B0503020204020204" charset="-122"/>
                <a:ea typeface="微软雅黑" panose="020B0503020204020204" charset="-122"/>
              </a:rPr>
              <a:t>集群模式</a:t>
            </a:r>
            <a:endParaRPr lang="zh-CN" altLang="zh-CN" sz="1600" b="1" dirty="0">
              <a:solidFill>
                <a:srgbClr val="30437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矩形 14"/>
          <p:cNvSpPr/>
          <p:nvPr userDrawn="1"/>
        </p:nvSpPr>
        <p:spPr>
          <a:xfrm>
            <a:off x="4180205" y="2756535"/>
            <a:ext cx="76200" cy="540004"/>
          </a:xfrm>
          <a:prstGeom prst="rect">
            <a:avLst/>
          </a:prstGeom>
          <a:solidFill>
            <a:srgbClr val="30437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 userDrawn="1"/>
        </p:nvSpPr>
        <p:spPr>
          <a:xfrm>
            <a:off x="4180205" y="4108450"/>
            <a:ext cx="76200" cy="540004"/>
          </a:xfrm>
          <a:prstGeom prst="rect">
            <a:avLst/>
          </a:prstGeom>
          <a:solidFill>
            <a:srgbClr val="30437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任意多边形: 形状 5"/>
          <p:cNvSpPr/>
          <p:nvPr/>
        </p:nvSpPr>
        <p:spPr>
          <a:xfrm rot="4680000">
            <a:off x="6694805" y="3955415"/>
            <a:ext cx="1552575" cy="2013585"/>
          </a:xfrm>
          <a:custGeom>
            <a:avLst/>
            <a:gdLst>
              <a:gd name="connsiteX0" fmla="*/ 701827 w 3207283"/>
              <a:gd name="connsiteY0" fmla="*/ 0 h 3255264"/>
              <a:gd name="connsiteX1" fmla="*/ 25171 w 3207283"/>
              <a:gd name="connsiteY1" fmla="*/ 768096 h 3255264"/>
              <a:gd name="connsiteX2" fmla="*/ 1488211 w 3207283"/>
              <a:gd name="connsiteY2" fmla="*/ 950976 h 3255264"/>
              <a:gd name="connsiteX3" fmla="*/ 1415059 w 3207283"/>
              <a:gd name="connsiteY3" fmla="*/ 1865376 h 3255264"/>
              <a:gd name="connsiteX4" fmla="*/ 2768371 w 3207283"/>
              <a:gd name="connsiteY4" fmla="*/ 1188720 h 3255264"/>
              <a:gd name="connsiteX5" fmla="*/ 3207283 w 3207283"/>
              <a:gd name="connsiteY5" fmla="*/ 3255264 h 3255264"/>
              <a:gd name="connsiteX6" fmla="*/ 3207283 w 3207283"/>
              <a:gd name="connsiteY6" fmla="*/ 3255264 h 3255264"/>
              <a:gd name="connsiteX7" fmla="*/ 3207283 w 3207283"/>
              <a:gd name="connsiteY7" fmla="*/ 3255264 h 32552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207283" h="3255264">
                <a:moveTo>
                  <a:pt x="701827" y="0"/>
                </a:moveTo>
                <a:cubicBezTo>
                  <a:pt x="297967" y="304800"/>
                  <a:pt x="-105893" y="609600"/>
                  <a:pt x="25171" y="768096"/>
                </a:cubicBezTo>
                <a:cubicBezTo>
                  <a:pt x="156235" y="926592"/>
                  <a:pt x="1256563" y="768096"/>
                  <a:pt x="1488211" y="950976"/>
                </a:cubicBezTo>
                <a:cubicBezTo>
                  <a:pt x="1719859" y="1133856"/>
                  <a:pt x="1201699" y="1825752"/>
                  <a:pt x="1415059" y="1865376"/>
                </a:cubicBezTo>
                <a:cubicBezTo>
                  <a:pt x="1628419" y="1905000"/>
                  <a:pt x="2469667" y="957072"/>
                  <a:pt x="2768371" y="1188720"/>
                </a:cubicBezTo>
                <a:cubicBezTo>
                  <a:pt x="3067075" y="1420368"/>
                  <a:pt x="3207283" y="3255264"/>
                  <a:pt x="3207283" y="3255264"/>
                </a:cubicBezTo>
                <a:lnTo>
                  <a:pt x="3207283" y="3255264"/>
                </a:lnTo>
                <a:lnTo>
                  <a:pt x="3207283" y="3255264"/>
                </a:lnTo>
              </a:path>
            </a:pathLst>
          </a:custGeom>
          <a:noFill/>
          <a:ln w="38100" cap="rnd">
            <a:solidFill>
              <a:srgbClr val="30437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28841" y="0"/>
            <a:ext cx="2763159" cy="10567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0"/>
    </mc:Choice>
    <mc:Fallback xmlns="">
      <p:transition spd="slow" advClick="0" advTm="0"/>
    </mc:Fallback>
  </mc:AlternateContent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0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3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6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9" dur="20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2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5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8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1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4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7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8" grpId="0" animBg="1"/>
      <p:bldP spid="11" grpId="0" animBg="1"/>
      <p:bldP spid="88" grpId="0"/>
      <p:bldP spid="12" grpId="0"/>
      <p:bldP spid="13" grpId="0"/>
      <p:bldP spid="14" grpId="0"/>
      <p:bldP spid="15" grpId="0" animBg="1"/>
      <p:bldP spid="16" grpId="0" animBg="1"/>
      <p:bldP spid="1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文本框2" descr="OQAAAB+LCAAAAAAABACrVlIpqSxIVbJSCs5NLCpxyUxML0rM9SxJzVXSUfJMUbLKK83J0VFyysxLycxLdy/KLy0oVrKKjq0FALpUkis5AAAA" title="iSlide™ 版权声明  COPYRIGHT NOTICE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2617480" y="1846698"/>
            <a:ext cx="7055753" cy="2674246"/>
            <a:chOff x="3086346" y="2590801"/>
            <a:chExt cx="6002620" cy="2275130"/>
          </a:xfrm>
        </p:grpSpPr>
        <p:cxnSp>
          <p:nvCxnSpPr>
            <p:cNvPr id="4" name="Connector: Elbow 2"/>
            <p:cNvCxnSpPr/>
            <p:nvPr/>
          </p:nvCxnSpPr>
          <p:spPr>
            <a:xfrm rot="5400000" flipH="1" flipV="1">
              <a:off x="6079930" y="90648"/>
              <a:ext cx="15451" cy="6002620"/>
            </a:xfrm>
            <a:prstGeom prst="bentConnector3">
              <a:avLst>
                <a:gd name="adj1" fmla="val 2117646"/>
              </a:avLst>
            </a:prstGeom>
            <a:ln w="19050">
              <a:solidFill>
                <a:schemeClr val="bg1">
                  <a:lumMod val="65000"/>
                </a:schemeClr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Connector: Elbow 3"/>
            <p:cNvCxnSpPr/>
            <p:nvPr/>
          </p:nvCxnSpPr>
          <p:spPr>
            <a:xfrm rot="5400000">
              <a:off x="6079931" y="1856897"/>
              <a:ext cx="15451" cy="6002618"/>
            </a:xfrm>
            <a:prstGeom prst="bentConnector3">
              <a:avLst>
                <a:gd name="adj1" fmla="val 2117646"/>
              </a:avLst>
            </a:prstGeom>
            <a:ln w="19050">
              <a:solidFill>
                <a:schemeClr val="bg1">
                  <a:lumMod val="65000"/>
                </a:schemeClr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išḷïḑè"/>
            <p:cNvSpPr/>
            <p:nvPr/>
          </p:nvSpPr>
          <p:spPr>
            <a:xfrm>
              <a:off x="5003060" y="2590801"/>
              <a:ext cx="2126238" cy="378944"/>
            </a:xfrm>
            <a:prstGeom prst="roundRect">
              <a:avLst>
                <a:gd name="adj" fmla="val 50000"/>
              </a:avLst>
            </a:prstGeom>
            <a:solidFill>
              <a:srgbClr val="304371"/>
            </a:solidFill>
            <a:ln w="3175">
              <a:noFill/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/>
              <a:endParaRPr>
                <a:solidFill>
                  <a:schemeClr val="bg1"/>
                </a:solidFill>
              </a:endParaRPr>
            </a:p>
          </p:txBody>
        </p:sp>
      </p:grpSp>
      <p:sp>
        <p:nvSpPr>
          <p:cNvPr id="2" name="矩形 1"/>
          <p:cNvSpPr/>
          <p:nvPr/>
        </p:nvSpPr>
        <p:spPr>
          <a:xfrm>
            <a:off x="1029653" y="397510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zh-CN" altLang="en-US" b="1" dirty="0">
                <a:solidFill>
                  <a:srgbClr val="304371"/>
                </a:solidFill>
                <a:latin typeface="微软雅黑" panose="020B0503020204020204" charset="-122"/>
                <a:ea typeface="微软雅黑" panose="020B0503020204020204" charset="-122"/>
                <a:cs typeface="Arial Unicode MS" panose="020B0604020202020204" charset="-122"/>
                <a:sym typeface="+mn-ea"/>
              </a:rPr>
              <a:t>高</a:t>
            </a:r>
            <a:r>
              <a:rPr lang="zh-CN" altLang="en-US" b="1" dirty="0" smtClean="0">
                <a:solidFill>
                  <a:srgbClr val="304371"/>
                </a:solidFill>
                <a:latin typeface="微软雅黑" panose="020B0503020204020204" charset="-122"/>
                <a:ea typeface="微软雅黑" panose="020B0503020204020204" charset="-122"/>
                <a:cs typeface="Arial Unicode MS" panose="020B0604020202020204" charset="-122"/>
                <a:sym typeface="+mn-ea"/>
              </a:rPr>
              <a:t>可用性</a:t>
            </a:r>
            <a:endParaRPr lang="en-US" altLang="zh-CN" b="1" dirty="0" smtClean="0">
              <a:solidFill>
                <a:srgbClr val="304371"/>
              </a:solidFill>
              <a:latin typeface="微软雅黑" panose="020B0503020204020204" charset="-122"/>
              <a:ea typeface="微软雅黑" panose="020B0503020204020204" charset="-122"/>
              <a:cs typeface="Arial Unicode MS" panose="020B0604020202020204" charset="-122"/>
              <a:sym typeface="+mn-ea"/>
            </a:endParaRPr>
          </a:p>
        </p:txBody>
      </p:sp>
      <p:sp>
        <p:nvSpPr>
          <p:cNvPr id="41" name="TextBox 24"/>
          <p:cNvSpPr txBox="1"/>
          <p:nvPr/>
        </p:nvSpPr>
        <p:spPr>
          <a:xfrm>
            <a:off x="5399300" y="1916126"/>
            <a:ext cx="14414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400" b="1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什么是高可用？</a:t>
            </a:r>
          </a:p>
        </p:txBody>
      </p:sp>
      <p:sp>
        <p:nvSpPr>
          <p:cNvPr id="7" name="TextBox 23"/>
          <p:cNvSpPr txBox="1"/>
          <p:nvPr/>
        </p:nvSpPr>
        <p:spPr>
          <a:xfrm>
            <a:off x="4268375" y="2484248"/>
            <a:ext cx="425428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 b="1" dirty="0" smtClean="0"/>
              <a:t>高</a:t>
            </a:r>
            <a:r>
              <a:rPr lang="zh-CN" altLang="en-US" sz="1200" b="1" dirty="0"/>
              <a:t>可用性</a:t>
            </a:r>
            <a:r>
              <a:rPr lang="zh-CN" altLang="en-US" sz="1200" dirty="0"/>
              <a:t>（英语：</a:t>
            </a:r>
            <a:r>
              <a:rPr lang="en-US" altLang="zh-CN" sz="1200" dirty="0"/>
              <a:t>High availability</a:t>
            </a:r>
            <a:r>
              <a:rPr lang="zh-CN" altLang="en-US" sz="1200" dirty="0"/>
              <a:t>，缩写为 </a:t>
            </a:r>
            <a:r>
              <a:rPr lang="en-US" altLang="zh-CN" sz="1200" dirty="0"/>
              <a:t>HA</a:t>
            </a:r>
            <a:r>
              <a:rPr lang="zh-CN" altLang="en-US" sz="1200" dirty="0" smtClean="0"/>
              <a:t>）</a:t>
            </a:r>
            <a:endParaRPr lang="en-US" altLang="zh-CN" sz="1200" dirty="0" smtClean="0"/>
          </a:p>
          <a:p>
            <a:pPr>
              <a:lnSpc>
                <a:spcPct val="150000"/>
              </a:lnSpc>
            </a:pPr>
            <a:r>
              <a:rPr lang="zh-CN" altLang="en-US" sz="1200" dirty="0"/>
              <a:t>指系统无中断地执行其功能的能力，代表系统的可用性</a:t>
            </a:r>
            <a:r>
              <a:rPr lang="zh-CN" altLang="en-US" sz="1200" dirty="0" smtClean="0"/>
              <a:t>程度</a:t>
            </a:r>
            <a:endParaRPr lang="en-US" altLang="zh-CN" sz="1200" dirty="0" smtClean="0"/>
          </a:p>
          <a:p>
            <a:pPr>
              <a:lnSpc>
                <a:spcPct val="150000"/>
              </a:lnSpc>
            </a:pPr>
            <a:r>
              <a:rPr lang="zh-CN" altLang="en-US" sz="1200" dirty="0" smtClean="0"/>
              <a:t>是</a:t>
            </a:r>
            <a:r>
              <a:rPr lang="zh-CN" altLang="en-US" sz="1200" dirty="0"/>
              <a:t>进行</a:t>
            </a:r>
            <a:r>
              <a:rPr lang="zh-CN" altLang="en-US" sz="1200" dirty="0" smtClean="0"/>
              <a:t>系统设计</a:t>
            </a:r>
            <a:r>
              <a:rPr lang="zh-CN" altLang="en-US" sz="1200" dirty="0"/>
              <a:t>时的准则之一</a:t>
            </a:r>
            <a:endParaRPr lang="en-US" altLang="zh-CN" sz="1200" dirty="0"/>
          </a:p>
          <a:p>
            <a:pPr>
              <a:lnSpc>
                <a:spcPct val="150000"/>
              </a:lnSpc>
            </a:pPr>
            <a:endParaRPr lang="en-US" altLang="zh-CN" sz="1200" dirty="0" smtClean="0"/>
          </a:p>
          <a:p>
            <a:pPr>
              <a:lnSpc>
                <a:spcPct val="150000"/>
              </a:lnSpc>
            </a:pPr>
            <a:endParaRPr lang="en-US" altLang="zh-CN" sz="1200" dirty="0" smtClean="0"/>
          </a:p>
          <a:p>
            <a:pPr>
              <a:lnSpc>
                <a:spcPct val="150000"/>
              </a:lnSpc>
            </a:pPr>
            <a:endParaRPr lang="en-US" altLang="zh-CN" sz="1200" dirty="0"/>
          </a:p>
          <a:p>
            <a:pPr>
              <a:lnSpc>
                <a:spcPct val="150000"/>
              </a:lnSpc>
            </a:pPr>
            <a:endParaRPr lang="en-US" altLang="zh-CN" sz="1200" dirty="0" smtClean="0"/>
          </a:p>
          <a:p>
            <a:pPr>
              <a:lnSpc>
                <a:spcPct val="150000"/>
              </a:lnSpc>
            </a:pPr>
            <a:r>
              <a:rPr lang="en-US" altLang="zh-CN" sz="1200" dirty="0" smtClean="0"/>
              <a:t>A</a:t>
            </a:r>
            <a:r>
              <a:rPr lang="zh-CN" altLang="en-US" sz="1200" dirty="0"/>
              <a:t>（可用性），</a:t>
            </a:r>
            <a:r>
              <a:rPr lang="en-US" altLang="zh-CN" sz="1200" dirty="0"/>
              <a:t>MTBF(</a:t>
            </a:r>
            <a:r>
              <a:rPr lang="zh-CN" altLang="en-US" sz="1200" dirty="0"/>
              <a:t>平均故障间隔</a:t>
            </a:r>
            <a:r>
              <a:rPr lang="en-US" altLang="zh-CN" sz="1200" dirty="0"/>
              <a:t>)</a:t>
            </a:r>
            <a:r>
              <a:rPr lang="zh-CN" altLang="en-US" sz="1200" dirty="0"/>
              <a:t>，</a:t>
            </a:r>
            <a:r>
              <a:rPr lang="en-US" altLang="zh-CN" sz="1200" dirty="0"/>
              <a:t>MDT(</a:t>
            </a:r>
            <a:r>
              <a:rPr lang="zh-CN" altLang="en-US" sz="1200" dirty="0"/>
              <a:t>平均修复时间</a:t>
            </a:r>
            <a:r>
              <a:rPr lang="en-US" altLang="zh-CN" sz="1200" dirty="0"/>
              <a:t>)</a:t>
            </a:r>
            <a:endParaRPr lang="zh-CN" altLang="en-US" sz="1200" dirty="0">
              <a:solidFill>
                <a:srgbClr val="304371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0" name="TextBox 24"/>
          <p:cNvSpPr txBox="1"/>
          <p:nvPr/>
        </p:nvSpPr>
        <p:spPr>
          <a:xfrm>
            <a:off x="245047" y="3202287"/>
            <a:ext cx="648335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400" b="1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意义</a:t>
            </a:r>
            <a:r>
              <a:rPr lang="en-US" altLang="zh-CN" sz="1400" b="1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1</a:t>
            </a:r>
          </a:p>
        </p:txBody>
      </p:sp>
      <p:sp>
        <p:nvSpPr>
          <p:cNvPr id="13" name="TextBox 24"/>
          <p:cNvSpPr txBox="1"/>
          <p:nvPr/>
        </p:nvSpPr>
        <p:spPr>
          <a:xfrm>
            <a:off x="9328029" y="3620466"/>
            <a:ext cx="648335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400" b="1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意义</a:t>
            </a:r>
            <a:r>
              <a:rPr lang="en-US" altLang="zh-CN" sz="1400" b="1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2</a:t>
            </a:r>
          </a:p>
        </p:txBody>
      </p:sp>
      <p:sp>
        <p:nvSpPr>
          <p:cNvPr id="375" name="Freeform 28"/>
          <p:cNvSpPr>
            <a:spLocks noEditPoints="1"/>
          </p:cNvSpPr>
          <p:nvPr/>
        </p:nvSpPr>
        <p:spPr bwMode="auto">
          <a:xfrm>
            <a:off x="404620" y="2673046"/>
            <a:ext cx="328930" cy="326390"/>
          </a:xfrm>
          <a:custGeom>
            <a:avLst/>
            <a:gdLst>
              <a:gd name="T0" fmla="*/ 132 w 144"/>
              <a:gd name="T1" fmla="*/ 61 h 144"/>
              <a:gd name="T2" fmla="*/ 121 w 144"/>
              <a:gd name="T3" fmla="*/ 46 h 144"/>
              <a:gd name="T4" fmla="*/ 127 w 144"/>
              <a:gd name="T5" fmla="*/ 33 h 144"/>
              <a:gd name="T6" fmla="*/ 119 w 144"/>
              <a:gd name="T7" fmla="*/ 17 h 144"/>
              <a:gd name="T8" fmla="*/ 106 w 144"/>
              <a:gd name="T9" fmla="*/ 22 h 144"/>
              <a:gd name="T10" fmla="*/ 88 w 144"/>
              <a:gd name="T11" fmla="*/ 19 h 144"/>
              <a:gd name="T12" fmla="*/ 83 w 144"/>
              <a:gd name="T13" fmla="*/ 6 h 144"/>
              <a:gd name="T14" fmla="*/ 66 w 144"/>
              <a:gd name="T15" fmla="*/ 0 h 144"/>
              <a:gd name="T16" fmla="*/ 61 w 144"/>
              <a:gd name="T17" fmla="*/ 12 h 144"/>
              <a:gd name="T18" fmla="*/ 46 w 144"/>
              <a:gd name="T19" fmla="*/ 23 h 144"/>
              <a:gd name="T20" fmla="*/ 33 w 144"/>
              <a:gd name="T21" fmla="*/ 17 h 144"/>
              <a:gd name="T22" fmla="*/ 17 w 144"/>
              <a:gd name="T23" fmla="*/ 25 h 144"/>
              <a:gd name="T24" fmla="*/ 22 w 144"/>
              <a:gd name="T25" fmla="*/ 38 h 144"/>
              <a:gd name="T26" fmla="*/ 19 w 144"/>
              <a:gd name="T27" fmla="*/ 56 h 144"/>
              <a:gd name="T28" fmla="*/ 6 w 144"/>
              <a:gd name="T29" fmla="*/ 61 h 144"/>
              <a:gd name="T30" fmla="*/ 0 w 144"/>
              <a:gd name="T31" fmla="*/ 78 h 144"/>
              <a:gd name="T32" fmla="*/ 12 w 144"/>
              <a:gd name="T33" fmla="*/ 83 h 144"/>
              <a:gd name="T34" fmla="*/ 23 w 144"/>
              <a:gd name="T35" fmla="*/ 98 h 144"/>
              <a:gd name="T36" fmla="*/ 17 w 144"/>
              <a:gd name="T37" fmla="*/ 111 h 144"/>
              <a:gd name="T38" fmla="*/ 25 w 144"/>
              <a:gd name="T39" fmla="*/ 127 h 144"/>
              <a:gd name="T40" fmla="*/ 38 w 144"/>
              <a:gd name="T41" fmla="*/ 122 h 144"/>
              <a:gd name="T42" fmla="*/ 56 w 144"/>
              <a:gd name="T43" fmla="*/ 125 h 144"/>
              <a:gd name="T44" fmla="*/ 61 w 144"/>
              <a:gd name="T45" fmla="*/ 138 h 144"/>
              <a:gd name="T46" fmla="*/ 78 w 144"/>
              <a:gd name="T47" fmla="*/ 144 h 144"/>
              <a:gd name="T48" fmla="*/ 83 w 144"/>
              <a:gd name="T49" fmla="*/ 132 h 144"/>
              <a:gd name="T50" fmla="*/ 98 w 144"/>
              <a:gd name="T51" fmla="*/ 121 h 144"/>
              <a:gd name="T52" fmla="*/ 111 w 144"/>
              <a:gd name="T53" fmla="*/ 127 h 144"/>
              <a:gd name="T54" fmla="*/ 127 w 144"/>
              <a:gd name="T55" fmla="*/ 119 h 144"/>
              <a:gd name="T56" fmla="*/ 122 w 144"/>
              <a:gd name="T57" fmla="*/ 106 h 144"/>
              <a:gd name="T58" fmla="*/ 125 w 144"/>
              <a:gd name="T59" fmla="*/ 88 h 144"/>
              <a:gd name="T60" fmla="*/ 138 w 144"/>
              <a:gd name="T61" fmla="*/ 83 h 144"/>
              <a:gd name="T62" fmla="*/ 144 w 144"/>
              <a:gd name="T63" fmla="*/ 66 h 144"/>
              <a:gd name="T64" fmla="*/ 100 w 144"/>
              <a:gd name="T65" fmla="*/ 72 h 144"/>
              <a:gd name="T66" fmla="*/ 44 w 144"/>
              <a:gd name="T67" fmla="*/ 72 h 144"/>
              <a:gd name="T68" fmla="*/ 100 w 144"/>
              <a:gd name="T69" fmla="*/ 72 h 1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144" h="144">
                <a:moveTo>
                  <a:pt x="138" y="61"/>
                </a:moveTo>
                <a:cubicBezTo>
                  <a:pt x="132" y="61"/>
                  <a:pt x="132" y="61"/>
                  <a:pt x="132" y="61"/>
                </a:cubicBezTo>
                <a:cubicBezTo>
                  <a:pt x="129" y="61"/>
                  <a:pt x="126" y="59"/>
                  <a:pt x="125" y="56"/>
                </a:cubicBezTo>
                <a:cubicBezTo>
                  <a:pt x="121" y="46"/>
                  <a:pt x="121" y="46"/>
                  <a:pt x="121" y="46"/>
                </a:cubicBezTo>
                <a:cubicBezTo>
                  <a:pt x="119" y="44"/>
                  <a:pt x="120" y="40"/>
                  <a:pt x="122" y="38"/>
                </a:cubicBezTo>
                <a:cubicBezTo>
                  <a:pt x="127" y="33"/>
                  <a:pt x="127" y="33"/>
                  <a:pt x="127" y="33"/>
                </a:cubicBezTo>
                <a:cubicBezTo>
                  <a:pt x="129" y="31"/>
                  <a:pt x="129" y="27"/>
                  <a:pt x="127" y="25"/>
                </a:cubicBezTo>
                <a:cubicBezTo>
                  <a:pt x="119" y="17"/>
                  <a:pt x="119" y="17"/>
                  <a:pt x="119" y="17"/>
                </a:cubicBezTo>
                <a:cubicBezTo>
                  <a:pt x="117" y="15"/>
                  <a:pt x="113" y="15"/>
                  <a:pt x="111" y="17"/>
                </a:cubicBezTo>
                <a:cubicBezTo>
                  <a:pt x="106" y="22"/>
                  <a:pt x="106" y="22"/>
                  <a:pt x="106" y="22"/>
                </a:cubicBezTo>
                <a:cubicBezTo>
                  <a:pt x="104" y="24"/>
                  <a:pt x="100" y="25"/>
                  <a:pt x="98" y="23"/>
                </a:cubicBezTo>
                <a:cubicBezTo>
                  <a:pt x="88" y="19"/>
                  <a:pt x="88" y="19"/>
                  <a:pt x="88" y="19"/>
                </a:cubicBezTo>
                <a:cubicBezTo>
                  <a:pt x="85" y="18"/>
                  <a:pt x="83" y="15"/>
                  <a:pt x="83" y="12"/>
                </a:cubicBezTo>
                <a:cubicBezTo>
                  <a:pt x="83" y="6"/>
                  <a:pt x="83" y="6"/>
                  <a:pt x="83" y="6"/>
                </a:cubicBezTo>
                <a:cubicBezTo>
                  <a:pt x="83" y="2"/>
                  <a:pt x="81" y="0"/>
                  <a:pt x="78" y="0"/>
                </a:cubicBezTo>
                <a:cubicBezTo>
                  <a:pt x="66" y="0"/>
                  <a:pt x="66" y="0"/>
                  <a:pt x="66" y="0"/>
                </a:cubicBezTo>
                <a:cubicBezTo>
                  <a:pt x="63" y="0"/>
                  <a:pt x="61" y="2"/>
                  <a:pt x="61" y="6"/>
                </a:cubicBezTo>
                <a:cubicBezTo>
                  <a:pt x="61" y="12"/>
                  <a:pt x="61" y="12"/>
                  <a:pt x="61" y="12"/>
                </a:cubicBezTo>
                <a:cubicBezTo>
                  <a:pt x="61" y="15"/>
                  <a:pt x="59" y="18"/>
                  <a:pt x="56" y="19"/>
                </a:cubicBezTo>
                <a:cubicBezTo>
                  <a:pt x="46" y="23"/>
                  <a:pt x="46" y="23"/>
                  <a:pt x="46" y="23"/>
                </a:cubicBezTo>
                <a:cubicBezTo>
                  <a:pt x="44" y="25"/>
                  <a:pt x="40" y="24"/>
                  <a:pt x="38" y="22"/>
                </a:cubicBezTo>
                <a:cubicBezTo>
                  <a:pt x="33" y="17"/>
                  <a:pt x="33" y="17"/>
                  <a:pt x="33" y="17"/>
                </a:cubicBezTo>
                <a:cubicBezTo>
                  <a:pt x="31" y="15"/>
                  <a:pt x="27" y="15"/>
                  <a:pt x="25" y="17"/>
                </a:cubicBezTo>
                <a:cubicBezTo>
                  <a:pt x="17" y="25"/>
                  <a:pt x="17" y="25"/>
                  <a:pt x="17" y="25"/>
                </a:cubicBezTo>
                <a:cubicBezTo>
                  <a:pt x="15" y="27"/>
                  <a:pt x="15" y="31"/>
                  <a:pt x="17" y="33"/>
                </a:cubicBezTo>
                <a:cubicBezTo>
                  <a:pt x="22" y="38"/>
                  <a:pt x="22" y="38"/>
                  <a:pt x="22" y="38"/>
                </a:cubicBezTo>
                <a:cubicBezTo>
                  <a:pt x="24" y="40"/>
                  <a:pt x="25" y="44"/>
                  <a:pt x="23" y="46"/>
                </a:cubicBezTo>
                <a:cubicBezTo>
                  <a:pt x="19" y="56"/>
                  <a:pt x="19" y="56"/>
                  <a:pt x="19" y="56"/>
                </a:cubicBezTo>
                <a:cubicBezTo>
                  <a:pt x="18" y="59"/>
                  <a:pt x="15" y="61"/>
                  <a:pt x="12" y="61"/>
                </a:cubicBezTo>
                <a:cubicBezTo>
                  <a:pt x="6" y="61"/>
                  <a:pt x="6" y="61"/>
                  <a:pt x="6" y="61"/>
                </a:cubicBezTo>
                <a:cubicBezTo>
                  <a:pt x="2" y="61"/>
                  <a:pt x="0" y="63"/>
                  <a:pt x="0" y="66"/>
                </a:cubicBezTo>
                <a:cubicBezTo>
                  <a:pt x="0" y="78"/>
                  <a:pt x="0" y="78"/>
                  <a:pt x="0" y="78"/>
                </a:cubicBezTo>
                <a:cubicBezTo>
                  <a:pt x="0" y="81"/>
                  <a:pt x="2" y="83"/>
                  <a:pt x="6" y="83"/>
                </a:cubicBezTo>
                <a:cubicBezTo>
                  <a:pt x="12" y="83"/>
                  <a:pt x="12" y="83"/>
                  <a:pt x="12" y="83"/>
                </a:cubicBezTo>
                <a:cubicBezTo>
                  <a:pt x="15" y="83"/>
                  <a:pt x="18" y="85"/>
                  <a:pt x="19" y="88"/>
                </a:cubicBezTo>
                <a:cubicBezTo>
                  <a:pt x="23" y="98"/>
                  <a:pt x="23" y="98"/>
                  <a:pt x="23" y="98"/>
                </a:cubicBezTo>
                <a:cubicBezTo>
                  <a:pt x="25" y="100"/>
                  <a:pt x="24" y="104"/>
                  <a:pt x="22" y="106"/>
                </a:cubicBezTo>
                <a:cubicBezTo>
                  <a:pt x="17" y="111"/>
                  <a:pt x="17" y="111"/>
                  <a:pt x="17" y="111"/>
                </a:cubicBezTo>
                <a:cubicBezTo>
                  <a:pt x="15" y="113"/>
                  <a:pt x="15" y="117"/>
                  <a:pt x="17" y="119"/>
                </a:cubicBezTo>
                <a:cubicBezTo>
                  <a:pt x="25" y="127"/>
                  <a:pt x="25" y="127"/>
                  <a:pt x="25" y="127"/>
                </a:cubicBezTo>
                <a:cubicBezTo>
                  <a:pt x="27" y="129"/>
                  <a:pt x="31" y="129"/>
                  <a:pt x="33" y="127"/>
                </a:cubicBezTo>
                <a:cubicBezTo>
                  <a:pt x="38" y="122"/>
                  <a:pt x="38" y="122"/>
                  <a:pt x="38" y="122"/>
                </a:cubicBezTo>
                <a:cubicBezTo>
                  <a:pt x="40" y="120"/>
                  <a:pt x="44" y="119"/>
                  <a:pt x="46" y="121"/>
                </a:cubicBezTo>
                <a:cubicBezTo>
                  <a:pt x="56" y="125"/>
                  <a:pt x="56" y="125"/>
                  <a:pt x="56" y="125"/>
                </a:cubicBezTo>
                <a:cubicBezTo>
                  <a:pt x="59" y="126"/>
                  <a:pt x="61" y="129"/>
                  <a:pt x="61" y="132"/>
                </a:cubicBezTo>
                <a:cubicBezTo>
                  <a:pt x="61" y="138"/>
                  <a:pt x="61" y="138"/>
                  <a:pt x="61" y="138"/>
                </a:cubicBezTo>
                <a:cubicBezTo>
                  <a:pt x="61" y="142"/>
                  <a:pt x="63" y="144"/>
                  <a:pt x="66" y="144"/>
                </a:cubicBezTo>
                <a:cubicBezTo>
                  <a:pt x="78" y="144"/>
                  <a:pt x="78" y="144"/>
                  <a:pt x="78" y="144"/>
                </a:cubicBezTo>
                <a:cubicBezTo>
                  <a:pt x="81" y="144"/>
                  <a:pt x="83" y="142"/>
                  <a:pt x="83" y="138"/>
                </a:cubicBezTo>
                <a:cubicBezTo>
                  <a:pt x="83" y="132"/>
                  <a:pt x="83" y="132"/>
                  <a:pt x="83" y="132"/>
                </a:cubicBezTo>
                <a:cubicBezTo>
                  <a:pt x="83" y="129"/>
                  <a:pt x="85" y="126"/>
                  <a:pt x="88" y="125"/>
                </a:cubicBezTo>
                <a:cubicBezTo>
                  <a:pt x="98" y="121"/>
                  <a:pt x="98" y="121"/>
                  <a:pt x="98" y="121"/>
                </a:cubicBezTo>
                <a:cubicBezTo>
                  <a:pt x="100" y="119"/>
                  <a:pt x="104" y="120"/>
                  <a:pt x="106" y="122"/>
                </a:cubicBezTo>
                <a:cubicBezTo>
                  <a:pt x="111" y="127"/>
                  <a:pt x="111" y="127"/>
                  <a:pt x="111" y="127"/>
                </a:cubicBezTo>
                <a:cubicBezTo>
                  <a:pt x="113" y="129"/>
                  <a:pt x="117" y="129"/>
                  <a:pt x="119" y="127"/>
                </a:cubicBezTo>
                <a:cubicBezTo>
                  <a:pt x="127" y="119"/>
                  <a:pt x="127" y="119"/>
                  <a:pt x="127" y="119"/>
                </a:cubicBezTo>
                <a:cubicBezTo>
                  <a:pt x="129" y="117"/>
                  <a:pt x="129" y="113"/>
                  <a:pt x="127" y="111"/>
                </a:cubicBezTo>
                <a:cubicBezTo>
                  <a:pt x="122" y="106"/>
                  <a:pt x="122" y="106"/>
                  <a:pt x="122" y="106"/>
                </a:cubicBezTo>
                <a:cubicBezTo>
                  <a:pt x="120" y="104"/>
                  <a:pt x="119" y="100"/>
                  <a:pt x="121" y="98"/>
                </a:cubicBezTo>
                <a:cubicBezTo>
                  <a:pt x="125" y="88"/>
                  <a:pt x="125" y="88"/>
                  <a:pt x="125" y="88"/>
                </a:cubicBezTo>
                <a:cubicBezTo>
                  <a:pt x="126" y="85"/>
                  <a:pt x="129" y="83"/>
                  <a:pt x="132" y="83"/>
                </a:cubicBezTo>
                <a:cubicBezTo>
                  <a:pt x="138" y="83"/>
                  <a:pt x="138" y="83"/>
                  <a:pt x="138" y="83"/>
                </a:cubicBezTo>
                <a:cubicBezTo>
                  <a:pt x="142" y="83"/>
                  <a:pt x="144" y="81"/>
                  <a:pt x="144" y="78"/>
                </a:cubicBezTo>
                <a:cubicBezTo>
                  <a:pt x="144" y="66"/>
                  <a:pt x="144" y="66"/>
                  <a:pt x="144" y="66"/>
                </a:cubicBezTo>
                <a:cubicBezTo>
                  <a:pt x="144" y="63"/>
                  <a:pt x="142" y="61"/>
                  <a:pt x="138" y="61"/>
                </a:cubicBezTo>
                <a:moveTo>
                  <a:pt x="100" y="72"/>
                </a:moveTo>
                <a:cubicBezTo>
                  <a:pt x="100" y="87"/>
                  <a:pt x="87" y="100"/>
                  <a:pt x="72" y="100"/>
                </a:cubicBezTo>
                <a:cubicBezTo>
                  <a:pt x="57" y="100"/>
                  <a:pt x="44" y="87"/>
                  <a:pt x="44" y="72"/>
                </a:cubicBezTo>
                <a:cubicBezTo>
                  <a:pt x="44" y="57"/>
                  <a:pt x="57" y="44"/>
                  <a:pt x="72" y="44"/>
                </a:cubicBezTo>
                <a:cubicBezTo>
                  <a:pt x="87" y="44"/>
                  <a:pt x="100" y="57"/>
                  <a:pt x="100" y="72"/>
                </a:cubicBezTo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376" name="Freeform 29"/>
          <p:cNvSpPr>
            <a:spLocks noEditPoints="1"/>
          </p:cNvSpPr>
          <p:nvPr/>
        </p:nvSpPr>
        <p:spPr bwMode="auto">
          <a:xfrm>
            <a:off x="9454582" y="3034075"/>
            <a:ext cx="272415" cy="272415"/>
          </a:xfrm>
          <a:custGeom>
            <a:avLst/>
            <a:gdLst>
              <a:gd name="T0" fmla="*/ 114 w 120"/>
              <a:gd name="T1" fmla="*/ 70 h 120"/>
              <a:gd name="T2" fmla="*/ 120 w 120"/>
              <a:gd name="T3" fmla="*/ 64 h 120"/>
              <a:gd name="T4" fmla="*/ 120 w 120"/>
              <a:gd name="T5" fmla="*/ 56 h 120"/>
              <a:gd name="T6" fmla="*/ 114 w 120"/>
              <a:gd name="T7" fmla="*/ 50 h 120"/>
              <a:gd name="T8" fmla="*/ 110 w 120"/>
              <a:gd name="T9" fmla="*/ 50 h 120"/>
              <a:gd name="T10" fmla="*/ 102 w 120"/>
              <a:gd name="T11" fmla="*/ 45 h 120"/>
              <a:gd name="T12" fmla="*/ 102 w 120"/>
              <a:gd name="T13" fmla="*/ 32 h 120"/>
              <a:gd name="T14" fmla="*/ 105 w 120"/>
              <a:gd name="T15" fmla="*/ 29 h 120"/>
              <a:gd name="T16" fmla="*/ 105 w 120"/>
              <a:gd name="T17" fmla="*/ 20 h 120"/>
              <a:gd name="T18" fmla="*/ 100 w 120"/>
              <a:gd name="T19" fmla="*/ 15 h 120"/>
              <a:gd name="T20" fmla="*/ 91 w 120"/>
              <a:gd name="T21" fmla="*/ 15 h 120"/>
              <a:gd name="T22" fmla="*/ 88 w 120"/>
              <a:gd name="T23" fmla="*/ 18 h 120"/>
              <a:gd name="T24" fmla="*/ 79 w 120"/>
              <a:gd name="T25" fmla="*/ 20 h 120"/>
              <a:gd name="T26" fmla="*/ 70 w 120"/>
              <a:gd name="T27" fmla="*/ 10 h 120"/>
              <a:gd name="T28" fmla="*/ 70 w 120"/>
              <a:gd name="T29" fmla="*/ 6 h 120"/>
              <a:gd name="T30" fmla="*/ 64 w 120"/>
              <a:gd name="T31" fmla="*/ 0 h 120"/>
              <a:gd name="T32" fmla="*/ 56 w 120"/>
              <a:gd name="T33" fmla="*/ 0 h 120"/>
              <a:gd name="T34" fmla="*/ 50 w 120"/>
              <a:gd name="T35" fmla="*/ 6 h 120"/>
              <a:gd name="T36" fmla="*/ 50 w 120"/>
              <a:gd name="T37" fmla="*/ 10 h 120"/>
              <a:gd name="T38" fmla="*/ 45 w 120"/>
              <a:gd name="T39" fmla="*/ 18 h 120"/>
              <a:gd name="T40" fmla="*/ 32 w 120"/>
              <a:gd name="T41" fmla="*/ 18 h 120"/>
              <a:gd name="T42" fmla="*/ 29 w 120"/>
              <a:gd name="T43" fmla="*/ 15 h 120"/>
              <a:gd name="T44" fmla="*/ 20 w 120"/>
              <a:gd name="T45" fmla="*/ 15 h 120"/>
              <a:gd name="T46" fmla="*/ 15 w 120"/>
              <a:gd name="T47" fmla="*/ 20 h 120"/>
              <a:gd name="T48" fmla="*/ 15 w 120"/>
              <a:gd name="T49" fmla="*/ 29 h 120"/>
              <a:gd name="T50" fmla="*/ 18 w 120"/>
              <a:gd name="T51" fmla="*/ 32 h 120"/>
              <a:gd name="T52" fmla="*/ 20 w 120"/>
              <a:gd name="T53" fmla="*/ 41 h 120"/>
              <a:gd name="T54" fmla="*/ 10 w 120"/>
              <a:gd name="T55" fmla="*/ 50 h 120"/>
              <a:gd name="T56" fmla="*/ 6 w 120"/>
              <a:gd name="T57" fmla="*/ 50 h 120"/>
              <a:gd name="T58" fmla="*/ 0 w 120"/>
              <a:gd name="T59" fmla="*/ 56 h 120"/>
              <a:gd name="T60" fmla="*/ 0 w 120"/>
              <a:gd name="T61" fmla="*/ 64 h 120"/>
              <a:gd name="T62" fmla="*/ 6 w 120"/>
              <a:gd name="T63" fmla="*/ 70 h 120"/>
              <a:gd name="T64" fmla="*/ 10 w 120"/>
              <a:gd name="T65" fmla="*/ 70 h 120"/>
              <a:gd name="T66" fmla="*/ 18 w 120"/>
              <a:gd name="T67" fmla="*/ 75 h 120"/>
              <a:gd name="T68" fmla="*/ 18 w 120"/>
              <a:gd name="T69" fmla="*/ 88 h 120"/>
              <a:gd name="T70" fmla="*/ 15 w 120"/>
              <a:gd name="T71" fmla="*/ 91 h 120"/>
              <a:gd name="T72" fmla="*/ 15 w 120"/>
              <a:gd name="T73" fmla="*/ 100 h 120"/>
              <a:gd name="T74" fmla="*/ 20 w 120"/>
              <a:gd name="T75" fmla="*/ 105 h 120"/>
              <a:gd name="T76" fmla="*/ 29 w 120"/>
              <a:gd name="T77" fmla="*/ 105 h 120"/>
              <a:gd name="T78" fmla="*/ 32 w 120"/>
              <a:gd name="T79" fmla="*/ 102 h 120"/>
              <a:gd name="T80" fmla="*/ 41 w 120"/>
              <a:gd name="T81" fmla="*/ 100 h 120"/>
              <a:gd name="T82" fmla="*/ 50 w 120"/>
              <a:gd name="T83" fmla="*/ 110 h 120"/>
              <a:gd name="T84" fmla="*/ 50 w 120"/>
              <a:gd name="T85" fmla="*/ 114 h 120"/>
              <a:gd name="T86" fmla="*/ 56 w 120"/>
              <a:gd name="T87" fmla="*/ 120 h 120"/>
              <a:gd name="T88" fmla="*/ 64 w 120"/>
              <a:gd name="T89" fmla="*/ 120 h 120"/>
              <a:gd name="T90" fmla="*/ 70 w 120"/>
              <a:gd name="T91" fmla="*/ 114 h 120"/>
              <a:gd name="T92" fmla="*/ 70 w 120"/>
              <a:gd name="T93" fmla="*/ 110 h 120"/>
              <a:gd name="T94" fmla="*/ 75 w 120"/>
              <a:gd name="T95" fmla="*/ 102 h 120"/>
              <a:gd name="T96" fmla="*/ 88 w 120"/>
              <a:gd name="T97" fmla="*/ 102 h 120"/>
              <a:gd name="T98" fmla="*/ 91 w 120"/>
              <a:gd name="T99" fmla="*/ 105 h 120"/>
              <a:gd name="T100" fmla="*/ 100 w 120"/>
              <a:gd name="T101" fmla="*/ 105 h 120"/>
              <a:gd name="T102" fmla="*/ 105 w 120"/>
              <a:gd name="T103" fmla="*/ 100 h 120"/>
              <a:gd name="T104" fmla="*/ 105 w 120"/>
              <a:gd name="T105" fmla="*/ 91 h 120"/>
              <a:gd name="T106" fmla="*/ 102 w 120"/>
              <a:gd name="T107" fmla="*/ 88 h 120"/>
              <a:gd name="T108" fmla="*/ 100 w 120"/>
              <a:gd name="T109" fmla="*/ 79 h 120"/>
              <a:gd name="T110" fmla="*/ 110 w 120"/>
              <a:gd name="T111" fmla="*/ 70 h 120"/>
              <a:gd name="T112" fmla="*/ 114 w 120"/>
              <a:gd name="T113" fmla="*/ 70 h 120"/>
              <a:gd name="T114" fmla="*/ 60 w 120"/>
              <a:gd name="T115" fmla="*/ 86 h 120"/>
              <a:gd name="T116" fmla="*/ 34 w 120"/>
              <a:gd name="T117" fmla="*/ 60 h 120"/>
              <a:gd name="T118" fmla="*/ 60 w 120"/>
              <a:gd name="T119" fmla="*/ 34 h 120"/>
              <a:gd name="T120" fmla="*/ 86 w 120"/>
              <a:gd name="T121" fmla="*/ 60 h 120"/>
              <a:gd name="T122" fmla="*/ 60 w 120"/>
              <a:gd name="T123" fmla="*/ 86 h 1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20" h="120">
                <a:moveTo>
                  <a:pt x="114" y="70"/>
                </a:moveTo>
                <a:cubicBezTo>
                  <a:pt x="117" y="70"/>
                  <a:pt x="120" y="67"/>
                  <a:pt x="120" y="64"/>
                </a:cubicBezTo>
                <a:cubicBezTo>
                  <a:pt x="120" y="56"/>
                  <a:pt x="120" y="56"/>
                  <a:pt x="120" y="56"/>
                </a:cubicBezTo>
                <a:cubicBezTo>
                  <a:pt x="120" y="53"/>
                  <a:pt x="117" y="50"/>
                  <a:pt x="114" y="50"/>
                </a:cubicBezTo>
                <a:cubicBezTo>
                  <a:pt x="110" y="50"/>
                  <a:pt x="110" y="50"/>
                  <a:pt x="110" y="50"/>
                </a:cubicBezTo>
                <a:cubicBezTo>
                  <a:pt x="107" y="50"/>
                  <a:pt x="103" y="48"/>
                  <a:pt x="102" y="45"/>
                </a:cubicBezTo>
                <a:cubicBezTo>
                  <a:pt x="101" y="42"/>
                  <a:pt x="100" y="34"/>
                  <a:pt x="102" y="32"/>
                </a:cubicBezTo>
                <a:cubicBezTo>
                  <a:pt x="105" y="29"/>
                  <a:pt x="105" y="29"/>
                  <a:pt x="105" y="29"/>
                </a:cubicBezTo>
                <a:cubicBezTo>
                  <a:pt x="108" y="27"/>
                  <a:pt x="108" y="23"/>
                  <a:pt x="105" y="20"/>
                </a:cubicBezTo>
                <a:cubicBezTo>
                  <a:pt x="100" y="15"/>
                  <a:pt x="100" y="15"/>
                  <a:pt x="100" y="15"/>
                </a:cubicBezTo>
                <a:cubicBezTo>
                  <a:pt x="97" y="12"/>
                  <a:pt x="93" y="12"/>
                  <a:pt x="91" y="15"/>
                </a:cubicBezTo>
                <a:cubicBezTo>
                  <a:pt x="88" y="18"/>
                  <a:pt x="88" y="18"/>
                  <a:pt x="88" y="18"/>
                </a:cubicBezTo>
                <a:cubicBezTo>
                  <a:pt x="86" y="20"/>
                  <a:pt x="82" y="21"/>
                  <a:pt x="79" y="20"/>
                </a:cubicBezTo>
                <a:cubicBezTo>
                  <a:pt x="77" y="18"/>
                  <a:pt x="70" y="13"/>
                  <a:pt x="70" y="10"/>
                </a:cubicBezTo>
                <a:cubicBezTo>
                  <a:pt x="70" y="6"/>
                  <a:pt x="70" y="6"/>
                  <a:pt x="70" y="6"/>
                </a:cubicBezTo>
                <a:cubicBezTo>
                  <a:pt x="70" y="3"/>
                  <a:pt x="67" y="0"/>
                  <a:pt x="64" y="0"/>
                </a:cubicBezTo>
                <a:cubicBezTo>
                  <a:pt x="56" y="0"/>
                  <a:pt x="56" y="0"/>
                  <a:pt x="56" y="0"/>
                </a:cubicBezTo>
                <a:cubicBezTo>
                  <a:pt x="53" y="0"/>
                  <a:pt x="50" y="3"/>
                  <a:pt x="50" y="6"/>
                </a:cubicBezTo>
                <a:cubicBezTo>
                  <a:pt x="50" y="10"/>
                  <a:pt x="50" y="10"/>
                  <a:pt x="50" y="10"/>
                </a:cubicBezTo>
                <a:cubicBezTo>
                  <a:pt x="50" y="13"/>
                  <a:pt x="48" y="17"/>
                  <a:pt x="45" y="18"/>
                </a:cubicBezTo>
                <a:cubicBezTo>
                  <a:pt x="42" y="19"/>
                  <a:pt x="34" y="20"/>
                  <a:pt x="32" y="18"/>
                </a:cubicBezTo>
                <a:cubicBezTo>
                  <a:pt x="29" y="15"/>
                  <a:pt x="29" y="15"/>
                  <a:pt x="29" y="15"/>
                </a:cubicBezTo>
                <a:cubicBezTo>
                  <a:pt x="27" y="12"/>
                  <a:pt x="23" y="12"/>
                  <a:pt x="20" y="15"/>
                </a:cubicBezTo>
                <a:cubicBezTo>
                  <a:pt x="15" y="20"/>
                  <a:pt x="15" y="20"/>
                  <a:pt x="15" y="20"/>
                </a:cubicBezTo>
                <a:cubicBezTo>
                  <a:pt x="12" y="23"/>
                  <a:pt x="12" y="27"/>
                  <a:pt x="15" y="29"/>
                </a:cubicBezTo>
                <a:cubicBezTo>
                  <a:pt x="18" y="32"/>
                  <a:pt x="18" y="32"/>
                  <a:pt x="18" y="32"/>
                </a:cubicBezTo>
                <a:cubicBezTo>
                  <a:pt x="20" y="34"/>
                  <a:pt x="21" y="38"/>
                  <a:pt x="20" y="41"/>
                </a:cubicBezTo>
                <a:cubicBezTo>
                  <a:pt x="18" y="43"/>
                  <a:pt x="13" y="50"/>
                  <a:pt x="10" y="50"/>
                </a:cubicBezTo>
                <a:cubicBezTo>
                  <a:pt x="6" y="50"/>
                  <a:pt x="6" y="50"/>
                  <a:pt x="6" y="50"/>
                </a:cubicBezTo>
                <a:cubicBezTo>
                  <a:pt x="3" y="50"/>
                  <a:pt x="0" y="53"/>
                  <a:pt x="0" y="56"/>
                </a:cubicBezTo>
                <a:cubicBezTo>
                  <a:pt x="0" y="64"/>
                  <a:pt x="0" y="64"/>
                  <a:pt x="0" y="64"/>
                </a:cubicBezTo>
                <a:cubicBezTo>
                  <a:pt x="0" y="67"/>
                  <a:pt x="3" y="70"/>
                  <a:pt x="6" y="70"/>
                </a:cubicBezTo>
                <a:cubicBezTo>
                  <a:pt x="10" y="70"/>
                  <a:pt x="10" y="70"/>
                  <a:pt x="10" y="70"/>
                </a:cubicBezTo>
                <a:cubicBezTo>
                  <a:pt x="13" y="70"/>
                  <a:pt x="17" y="72"/>
                  <a:pt x="18" y="75"/>
                </a:cubicBezTo>
                <a:cubicBezTo>
                  <a:pt x="19" y="78"/>
                  <a:pt x="20" y="86"/>
                  <a:pt x="18" y="88"/>
                </a:cubicBezTo>
                <a:cubicBezTo>
                  <a:pt x="15" y="91"/>
                  <a:pt x="15" y="91"/>
                  <a:pt x="15" y="91"/>
                </a:cubicBezTo>
                <a:cubicBezTo>
                  <a:pt x="12" y="93"/>
                  <a:pt x="12" y="97"/>
                  <a:pt x="15" y="100"/>
                </a:cubicBezTo>
                <a:cubicBezTo>
                  <a:pt x="20" y="105"/>
                  <a:pt x="20" y="105"/>
                  <a:pt x="20" y="105"/>
                </a:cubicBezTo>
                <a:cubicBezTo>
                  <a:pt x="23" y="108"/>
                  <a:pt x="27" y="108"/>
                  <a:pt x="29" y="105"/>
                </a:cubicBezTo>
                <a:cubicBezTo>
                  <a:pt x="32" y="102"/>
                  <a:pt x="32" y="102"/>
                  <a:pt x="32" y="102"/>
                </a:cubicBezTo>
                <a:cubicBezTo>
                  <a:pt x="34" y="100"/>
                  <a:pt x="38" y="99"/>
                  <a:pt x="41" y="100"/>
                </a:cubicBezTo>
                <a:cubicBezTo>
                  <a:pt x="43" y="102"/>
                  <a:pt x="50" y="107"/>
                  <a:pt x="50" y="110"/>
                </a:cubicBezTo>
                <a:cubicBezTo>
                  <a:pt x="50" y="114"/>
                  <a:pt x="50" y="114"/>
                  <a:pt x="50" y="114"/>
                </a:cubicBezTo>
                <a:cubicBezTo>
                  <a:pt x="50" y="117"/>
                  <a:pt x="53" y="120"/>
                  <a:pt x="56" y="120"/>
                </a:cubicBezTo>
                <a:cubicBezTo>
                  <a:pt x="64" y="120"/>
                  <a:pt x="64" y="120"/>
                  <a:pt x="64" y="120"/>
                </a:cubicBezTo>
                <a:cubicBezTo>
                  <a:pt x="67" y="120"/>
                  <a:pt x="70" y="117"/>
                  <a:pt x="70" y="114"/>
                </a:cubicBezTo>
                <a:cubicBezTo>
                  <a:pt x="70" y="110"/>
                  <a:pt x="70" y="110"/>
                  <a:pt x="70" y="110"/>
                </a:cubicBezTo>
                <a:cubicBezTo>
                  <a:pt x="70" y="107"/>
                  <a:pt x="72" y="103"/>
                  <a:pt x="75" y="102"/>
                </a:cubicBezTo>
                <a:cubicBezTo>
                  <a:pt x="78" y="101"/>
                  <a:pt x="86" y="100"/>
                  <a:pt x="88" y="102"/>
                </a:cubicBezTo>
                <a:cubicBezTo>
                  <a:pt x="91" y="105"/>
                  <a:pt x="91" y="105"/>
                  <a:pt x="91" y="105"/>
                </a:cubicBezTo>
                <a:cubicBezTo>
                  <a:pt x="93" y="108"/>
                  <a:pt x="97" y="108"/>
                  <a:pt x="100" y="105"/>
                </a:cubicBezTo>
                <a:cubicBezTo>
                  <a:pt x="105" y="100"/>
                  <a:pt x="105" y="100"/>
                  <a:pt x="105" y="100"/>
                </a:cubicBezTo>
                <a:cubicBezTo>
                  <a:pt x="108" y="97"/>
                  <a:pt x="108" y="93"/>
                  <a:pt x="105" y="91"/>
                </a:cubicBezTo>
                <a:cubicBezTo>
                  <a:pt x="102" y="88"/>
                  <a:pt x="102" y="88"/>
                  <a:pt x="102" y="88"/>
                </a:cubicBezTo>
                <a:cubicBezTo>
                  <a:pt x="100" y="86"/>
                  <a:pt x="99" y="82"/>
                  <a:pt x="100" y="79"/>
                </a:cubicBezTo>
                <a:cubicBezTo>
                  <a:pt x="102" y="77"/>
                  <a:pt x="107" y="70"/>
                  <a:pt x="110" y="70"/>
                </a:cubicBezTo>
                <a:lnTo>
                  <a:pt x="114" y="70"/>
                </a:lnTo>
                <a:close/>
                <a:moveTo>
                  <a:pt x="60" y="86"/>
                </a:moveTo>
                <a:cubicBezTo>
                  <a:pt x="46" y="86"/>
                  <a:pt x="34" y="74"/>
                  <a:pt x="34" y="60"/>
                </a:cubicBezTo>
                <a:cubicBezTo>
                  <a:pt x="34" y="46"/>
                  <a:pt x="46" y="34"/>
                  <a:pt x="60" y="34"/>
                </a:cubicBezTo>
                <a:cubicBezTo>
                  <a:pt x="74" y="34"/>
                  <a:pt x="86" y="46"/>
                  <a:pt x="86" y="60"/>
                </a:cubicBezTo>
                <a:cubicBezTo>
                  <a:pt x="86" y="74"/>
                  <a:pt x="74" y="86"/>
                  <a:pt x="60" y="86"/>
                </a:cubicBezTo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377" name="Freeform 30"/>
          <p:cNvSpPr>
            <a:spLocks noEditPoints="1"/>
          </p:cNvSpPr>
          <p:nvPr/>
        </p:nvSpPr>
        <p:spPr bwMode="auto">
          <a:xfrm>
            <a:off x="9673022" y="3278550"/>
            <a:ext cx="135890" cy="139065"/>
          </a:xfrm>
          <a:custGeom>
            <a:avLst/>
            <a:gdLst>
              <a:gd name="T0" fmla="*/ 57 w 60"/>
              <a:gd name="T1" fmla="*/ 35 h 60"/>
              <a:gd name="T2" fmla="*/ 60 w 60"/>
              <a:gd name="T3" fmla="*/ 32 h 60"/>
              <a:gd name="T4" fmla="*/ 60 w 60"/>
              <a:gd name="T5" fmla="*/ 28 h 60"/>
              <a:gd name="T6" fmla="*/ 57 w 60"/>
              <a:gd name="T7" fmla="*/ 25 h 60"/>
              <a:gd name="T8" fmla="*/ 55 w 60"/>
              <a:gd name="T9" fmla="*/ 25 h 60"/>
              <a:gd name="T10" fmla="*/ 51 w 60"/>
              <a:gd name="T11" fmla="*/ 23 h 60"/>
              <a:gd name="T12" fmla="*/ 51 w 60"/>
              <a:gd name="T13" fmla="*/ 16 h 60"/>
              <a:gd name="T14" fmla="*/ 53 w 60"/>
              <a:gd name="T15" fmla="*/ 14 h 60"/>
              <a:gd name="T16" fmla="*/ 53 w 60"/>
              <a:gd name="T17" fmla="*/ 10 h 60"/>
              <a:gd name="T18" fmla="*/ 50 w 60"/>
              <a:gd name="T19" fmla="*/ 7 h 60"/>
              <a:gd name="T20" fmla="*/ 46 w 60"/>
              <a:gd name="T21" fmla="*/ 7 h 60"/>
              <a:gd name="T22" fmla="*/ 44 w 60"/>
              <a:gd name="T23" fmla="*/ 9 h 60"/>
              <a:gd name="T24" fmla="*/ 40 w 60"/>
              <a:gd name="T25" fmla="*/ 10 h 60"/>
              <a:gd name="T26" fmla="*/ 35 w 60"/>
              <a:gd name="T27" fmla="*/ 5 h 60"/>
              <a:gd name="T28" fmla="*/ 35 w 60"/>
              <a:gd name="T29" fmla="*/ 3 h 60"/>
              <a:gd name="T30" fmla="*/ 32 w 60"/>
              <a:gd name="T31" fmla="*/ 0 h 60"/>
              <a:gd name="T32" fmla="*/ 28 w 60"/>
              <a:gd name="T33" fmla="*/ 0 h 60"/>
              <a:gd name="T34" fmla="*/ 25 w 60"/>
              <a:gd name="T35" fmla="*/ 3 h 60"/>
              <a:gd name="T36" fmla="*/ 25 w 60"/>
              <a:gd name="T37" fmla="*/ 5 h 60"/>
              <a:gd name="T38" fmla="*/ 23 w 60"/>
              <a:gd name="T39" fmla="*/ 9 h 60"/>
              <a:gd name="T40" fmla="*/ 16 w 60"/>
              <a:gd name="T41" fmla="*/ 9 h 60"/>
              <a:gd name="T42" fmla="*/ 14 w 60"/>
              <a:gd name="T43" fmla="*/ 7 h 60"/>
              <a:gd name="T44" fmla="*/ 10 w 60"/>
              <a:gd name="T45" fmla="*/ 7 h 60"/>
              <a:gd name="T46" fmla="*/ 7 w 60"/>
              <a:gd name="T47" fmla="*/ 10 h 60"/>
              <a:gd name="T48" fmla="*/ 7 w 60"/>
              <a:gd name="T49" fmla="*/ 14 h 60"/>
              <a:gd name="T50" fmla="*/ 9 w 60"/>
              <a:gd name="T51" fmla="*/ 16 h 60"/>
              <a:gd name="T52" fmla="*/ 10 w 60"/>
              <a:gd name="T53" fmla="*/ 20 h 60"/>
              <a:gd name="T54" fmla="*/ 5 w 60"/>
              <a:gd name="T55" fmla="*/ 25 h 60"/>
              <a:gd name="T56" fmla="*/ 3 w 60"/>
              <a:gd name="T57" fmla="*/ 25 h 60"/>
              <a:gd name="T58" fmla="*/ 0 w 60"/>
              <a:gd name="T59" fmla="*/ 28 h 60"/>
              <a:gd name="T60" fmla="*/ 0 w 60"/>
              <a:gd name="T61" fmla="*/ 32 h 60"/>
              <a:gd name="T62" fmla="*/ 3 w 60"/>
              <a:gd name="T63" fmla="*/ 35 h 60"/>
              <a:gd name="T64" fmla="*/ 5 w 60"/>
              <a:gd name="T65" fmla="*/ 35 h 60"/>
              <a:gd name="T66" fmla="*/ 9 w 60"/>
              <a:gd name="T67" fmla="*/ 37 h 60"/>
              <a:gd name="T68" fmla="*/ 9 w 60"/>
              <a:gd name="T69" fmla="*/ 44 h 60"/>
              <a:gd name="T70" fmla="*/ 7 w 60"/>
              <a:gd name="T71" fmla="*/ 46 h 60"/>
              <a:gd name="T72" fmla="*/ 7 w 60"/>
              <a:gd name="T73" fmla="*/ 50 h 60"/>
              <a:gd name="T74" fmla="*/ 10 w 60"/>
              <a:gd name="T75" fmla="*/ 53 h 60"/>
              <a:gd name="T76" fmla="*/ 14 w 60"/>
              <a:gd name="T77" fmla="*/ 53 h 60"/>
              <a:gd name="T78" fmla="*/ 16 w 60"/>
              <a:gd name="T79" fmla="*/ 51 h 60"/>
              <a:gd name="T80" fmla="*/ 20 w 60"/>
              <a:gd name="T81" fmla="*/ 50 h 60"/>
              <a:gd name="T82" fmla="*/ 25 w 60"/>
              <a:gd name="T83" fmla="*/ 55 h 60"/>
              <a:gd name="T84" fmla="*/ 25 w 60"/>
              <a:gd name="T85" fmla="*/ 57 h 60"/>
              <a:gd name="T86" fmla="*/ 28 w 60"/>
              <a:gd name="T87" fmla="*/ 60 h 60"/>
              <a:gd name="T88" fmla="*/ 32 w 60"/>
              <a:gd name="T89" fmla="*/ 60 h 60"/>
              <a:gd name="T90" fmla="*/ 35 w 60"/>
              <a:gd name="T91" fmla="*/ 57 h 60"/>
              <a:gd name="T92" fmla="*/ 35 w 60"/>
              <a:gd name="T93" fmla="*/ 55 h 60"/>
              <a:gd name="T94" fmla="*/ 37 w 60"/>
              <a:gd name="T95" fmla="*/ 51 h 60"/>
              <a:gd name="T96" fmla="*/ 44 w 60"/>
              <a:gd name="T97" fmla="*/ 51 h 60"/>
              <a:gd name="T98" fmla="*/ 46 w 60"/>
              <a:gd name="T99" fmla="*/ 53 h 60"/>
              <a:gd name="T100" fmla="*/ 50 w 60"/>
              <a:gd name="T101" fmla="*/ 53 h 60"/>
              <a:gd name="T102" fmla="*/ 53 w 60"/>
              <a:gd name="T103" fmla="*/ 50 h 60"/>
              <a:gd name="T104" fmla="*/ 53 w 60"/>
              <a:gd name="T105" fmla="*/ 46 h 60"/>
              <a:gd name="T106" fmla="*/ 51 w 60"/>
              <a:gd name="T107" fmla="*/ 44 h 60"/>
              <a:gd name="T108" fmla="*/ 50 w 60"/>
              <a:gd name="T109" fmla="*/ 40 h 60"/>
              <a:gd name="T110" fmla="*/ 55 w 60"/>
              <a:gd name="T111" fmla="*/ 35 h 60"/>
              <a:gd name="T112" fmla="*/ 57 w 60"/>
              <a:gd name="T113" fmla="*/ 35 h 60"/>
              <a:gd name="T114" fmla="*/ 40 w 60"/>
              <a:gd name="T115" fmla="*/ 30 h 60"/>
              <a:gd name="T116" fmla="*/ 30 w 60"/>
              <a:gd name="T117" fmla="*/ 40 h 60"/>
              <a:gd name="T118" fmla="*/ 20 w 60"/>
              <a:gd name="T119" fmla="*/ 30 h 60"/>
              <a:gd name="T120" fmla="*/ 30 w 60"/>
              <a:gd name="T121" fmla="*/ 20 h 60"/>
              <a:gd name="T122" fmla="*/ 40 w 60"/>
              <a:gd name="T123" fmla="*/ 30 h 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60" h="60">
                <a:moveTo>
                  <a:pt x="57" y="35"/>
                </a:moveTo>
                <a:cubicBezTo>
                  <a:pt x="59" y="35"/>
                  <a:pt x="60" y="34"/>
                  <a:pt x="60" y="32"/>
                </a:cubicBezTo>
                <a:cubicBezTo>
                  <a:pt x="60" y="28"/>
                  <a:pt x="60" y="28"/>
                  <a:pt x="60" y="28"/>
                </a:cubicBezTo>
                <a:cubicBezTo>
                  <a:pt x="60" y="26"/>
                  <a:pt x="59" y="25"/>
                  <a:pt x="57" y="25"/>
                </a:cubicBezTo>
                <a:cubicBezTo>
                  <a:pt x="55" y="25"/>
                  <a:pt x="55" y="25"/>
                  <a:pt x="55" y="25"/>
                </a:cubicBezTo>
                <a:cubicBezTo>
                  <a:pt x="53" y="25"/>
                  <a:pt x="52" y="24"/>
                  <a:pt x="51" y="23"/>
                </a:cubicBezTo>
                <a:cubicBezTo>
                  <a:pt x="51" y="21"/>
                  <a:pt x="50" y="17"/>
                  <a:pt x="51" y="16"/>
                </a:cubicBezTo>
                <a:cubicBezTo>
                  <a:pt x="53" y="14"/>
                  <a:pt x="53" y="14"/>
                  <a:pt x="53" y="14"/>
                </a:cubicBezTo>
                <a:cubicBezTo>
                  <a:pt x="54" y="13"/>
                  <a:pt x="54" y="11"/>
                  <a:pt x="53" y="10"/>
                </a:cubicBezTo>
                <a:cubicBezTo>
                  <a:pt x="50" y="7"/>
                  <a:pt x="50" y="7"/>
                  <a:pt x="50" y="7"/>
                </a:cubicBezTo>
                <a:cubicBezTo>
                  <a:pt x="49" y="6"/>
                  <a:pt x="47" y="6"/>
                  <a:pt x="46" y="7"/>
                </a:cubicBezTo>
                <a:cubicBezTo>
                  <a:pt x="44" y="9"/>
                  <a:pt x="44" y="9"/>
                  <a:pt x="44" y="9"/>
                </a:cubicBezTo>
                <a:cubicBezTo>
                  <a:pt x="43" y="10"/>
                  <a:pt x="41" y="10"/>
                  <a:pt x="40" y="10"/>
                </a:cubicBezTo>
                <a:cubicBezTo>
                  <a:pt x="39" y="9"/>
                  <a:pt x="35" y="7"/>
                  <a:pt x="35" y="5"/>
                </a:cubicBezTo>
                <a:cubicBezTo>
                  <a:pt x="35" y="3"/>
                  <a:pt x="35" y="3"/>
                  <a:pt x="35" y="3"/>
                </a:cubicBezTo>
                <a:cubicBezTo>
                  <a:pt x="35" y="1"/>
                  <a:pt x="34" y="0"/>
                  <a:pt x="32" y="0"/>
                </a:cubicBezTo>
                <a:cubicBezTo>
                  <a:pt x="28" y="0"/>
                  <a:pt x="28" y="0"/>
                  <a:pt x="28" y="0"/>
                </a:cubicBezTo>
                <a:cubicBezTo>
                  <a:pt x="26" y="0"/>
                  <a:pt x="25" y="1"/>
                  <a:pt x="25" y="3"/>
                </a:cubicBezTo>
                <a:cubicBezTo>
                  <a:pt x="25" y="5"/>
                  <a:pt x="25" y="5"/>
                  <a:pt x="25" y="5"/>
                </a:cubicBezTo>
                <a:cubicBezTo>
                  <a:pt x="25" y="7"/>
                  <a:pt x="24" y="8"/>
                  <a:pt x="23" y="9"/>
                </a:cubicBezTo>
                <a:cubicBezTo>
                  <a:pt x="21" y="9"/>
                  <a:pt x="17" y="10"/>
                  <a:pt x="16" y="9"/>
                </a:cubicBezTo>
                <a:cubicBezTo>
                  <a:pt x="14" y="7"/>
                  <a:pt x="14" y="7"/>
                  <a:pt x="14" y="7"/>
                </a:cubicBezTo>
                <a:cubicBezTo>
                  <a:pt x="13" y="6"/>
                  <a:pt x="11" y="6"/>
                  <a:pt x="10" y="7"/>
                </a:cubicBezTo>
                <a:cubicBezTo>
                  <a:pt x="7" y="10"/>
                  <a:pt x="7" y="10"/>
                  <a:pt x="7" y="10"/>
                </a:cubicBezTo>
                <a:cubicBezTo>
                  <a:pt x="6" y="11"/>
                  <a:pt x="6" y="13"/>
                  <a:pt x="7" y="14"/>
                </a:cubicBezTo>
                <a:cubicBezTo>
                  <a:pt x="9" y="16"/>
                  <a:pt x="9" y="16"/>
                  <a:pt x="9" y="16"/>
                </a:cubicBezTo>
                <a:cubicBezTo>
                  <a:pt x="10" y="17"/>
                  <a:pt x="10" y="19"/>
                  <a:pt x="10" y="20"/>
                </a:cubicBezTo>
                <a:cubicBezTo>
                  <a:pt x="9" y="21"/>
                  <a:pt x="7" y="25"/>
                  <a:pt x="5" y="25"/>
                </a:cubicBezTo>
                <a:cubicBezTo>
                  <a:pt x="3" y="25"/>
                  <a:pt x="3" y="25"/>
                  <a:pt x="3" y="25"/>
                </a:cubicBezTo>
                <a:cubicBezTo>
                  <a:pt x="1" y="25"/>
                  <a:pt x="0" y="26"/>
                  <a:pt x="0" y="28"/>
                </a:cubicBezTo>
                <a:cubicBezTo>
                  <a:pt x="0" y="32"/>
                  <a:pt x="0" y="32"/>
                  <a:pt x="0" y="32"/>
                </a:cubicBezTo>
                <a:cubicBezTo>
                  <a:pt x="0" y="34"/>
                  <a:pt x="1" y="35"/>
                  <a:pt x="3" y="35"/>
                </a:cubicBezTo>
                <a:cubicBezTo>
                  <a:pt x="5" y="35"/>
                  <a:pt x="5" y="35"/>
                  <a:pt x="5" y="35"/>
                </a:cubicBezTo>
                <a:cubicBezTo>
                  <a:pt x="7" y="35"/>
                  <a:pt x="8" y="36"/>
                  <a:pt x="9" y="37"/>
                </a:cubicBezTo>
                <a:cubicBezTo>
                  <a:pt x="9" y="39"/>
                  <a:pt x="10" y="43"/>
                  <a:pt x="9" y="44"/>
                </a:cubicBezTo>
                <a:cubicBezTo>
                  <a:pt x="7" y="46"/>
                  <a:pt x="7" y="46"/>
                  <a:pt x="7" y="46"/>
                </a:cubicBezTo>
                <a:cubicBezTo>
                  <a:pt x="6" y="47"/>
                  <a:pt x="6" y="49"/>
                  <a:pt x="7" y="50"/>
                </a:cubicBezTo>
                <a:cubicBezTo>
                  <a:pt x="10" y="53"/>
                  <a:pt x="10" y="53"/>
                  <a:pt x="10" y="53"/>
                </a:cubicBezTo>
                <a:cubicBezTo>
                  <a:pt x="11" y="54"/>
                  <a:pt x="13" y="54"/>
                  <a:pt x="14" y="53"/>
                </a:cubicBezTo>
                <a:cubicBezTo>
                  <a:pt x="16" y="51"/>
                  <a:pt x="16" y="51"/>
                  <a:pt x="16" y="51"/>
                </a:cubicBezTo>
                <a:cubicBezTo>
                  <a:pt x="17" y="50"/>
                  <a:pt x="19" y="50"/>
                  <a:pt x="20" y="50"/>
                </a:cubicBezTo>
                <a:cubicBezTo>
                  <a:pt x="21" y="51"/>
                  <a:pt x="25" y="53"/>
                  <a:pt x="25" y="55"/>
                </a:cubicBezTo>
                <a:cubicBezTo>
                  <a:pt x="25" y="57"/>
                  <a:pt x="25" y="57"/>
                  <a:pt x="25" y="57"/>
                </a:cubicBezTo>
                <a:cubicBezTo>
                  <a:pt x="25" y="59"/>
                  <a:pt x="26" y="60"/>
                  <a:pt x="28" y="60"/>
                </a:cubicBezTo>
                <a:cubicBezTo>
                  <a:pt x="32" y="60"/>
                  <a:pt x="32" y="60"/>
                  <a:pt x="32" y="60"/>
                </a:cubicBezTo>
                <a:cubicBezTo>
                  <a:pt x="34" y="60"/>
                  <a:pt x="35" y="59"/>
                  <a:pt x="35" y="57"/>
                </a:cubicBezTo>
                <a:cubicBezTo>
                  <a:pt x="35" y="55"/>
                  <a:pt x="35" y="55"/>
                  <a:pt x="35" y="55"/>
                </a:cubicBezTo>
                <a:cubicBezTo>
                  <a:pt x="35" y="53"/>
                  <a:pt x="36" y="52"/>
                  <a:pt x="37" y="51"/>
                </a:cubicBezTo>
                <a:cubicBezTo>
                  <a:pt x="39" y="51"/>
                  <a:pt x="43" y="50"/>
                  <a:pt x="44" y="51"/>
                </a:cubicBezTo>
                <a:cubicBezTo>
                  <a:pt x="46" y="53"/>
                  <a:pt x="46" y="53"/>
                  <a:pt x="46" y="53"/>
                </a:cubicBezTo>
                <a:cubicBezTo>
                  <a:pt x="47" y="54"/>
                  <a:pt x="49" y="54"/>
                  <a:pt x="50" y="53"/>
                </a:cubicBezTo>
                <a:cubicBezTo>
                  <a:pt x="53" y="50"/>
                  <a:pt x="53" y="50"/>
                  <a:pt x="53" y="50"/>
                </a:cubicBezTo>
                <a:cubicBezTo>
                  <a:pt x="54" y="49"/>
                  <a:pt x="54" y="47"/>
                  <a:pt x="53" y="46"/>
                </a:cubicBezTo>
                <a:cubicBezTo>
                  <a:pt x="51" y="44"/>
                  <a:pt x="51" y="44"/>
                  <a:pt x="51" y="44"/>
                </a:cubicBezTo>
                <a:cubicBezTo>
                  <a:pt x="50" y="43"/>
                  <a:pt x="50" y="41"/>
                  <a:pt x="50" y="40"/>
                </a:cubicBezTo>
                <a:cubicBezTo>
                  <a:pt x="51" y="39"/>
                  <a:pt x="53" y="35"/>
                  <a:pt x="55" y="35"/>
                </a:cubicBezTo>
                <a:lnTo>
                  <a:pt x="57" y="35"/>
                </a:lnTo>
                <a:close/>
                <a:moveTo>
                  <a:pt x="40" y="30"/>
                </a:moveTo>
                <a:cubicBezTo>
                  <a:pt x="40" y="36"/>
                  <a:pt x="36" y="40"/>
                  <a:pt x="30" y="40"/>
                </a:cubicBezTo>
                <a:cubicBezTo>
                  <a:pt x="24" y="40"/>
                  <a:pt x="20" y="36"/>
                  <a:pt x="20" y="30"/>
                </a:cubicBezTo>
                <a:cubicBezTo>
                  <a:pt x="20" y="24"/>
                  <a:pt x="24" y="20"/>
                  <a:pt x="30" y="20"/>
                </a:cubicBezTo>
                <a:cubicBezTo>
                  <a:pt x="36" y="20"/>
                  <a:pt x="40" y="24"/>
                  <a:pt x="40" y="30"/>
                </a:cubicBezTo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pic>
        <p:nvPicPr>
          <p:cNvPr id="1026" name="Picture 2" descr="D:\Users\wangbiao5\Desktop\71098-20170706133524659-1370792039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6174" y="3620466"/>
            <a:ext cx="2009775" cy="581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28841" y="0"/>
            <a:ext cx="2763159" cy="10567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18476800"/>
      </p:ext>
    </p:extLst>
  </p:cSld>
  <p:clrMapOvr>
    <a:masterClrMapping/>
  </p:clrMapOvr>
  <p:transition spd="slow" advClick="0" advTm="0">
    <p:push dir="u"/>
  </p:transition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0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8" presetClass="entr" presetSubtype="16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3" dur="2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8" presetClass="entr" presetSubtype="16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6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8" presetClass="entr" presetSubtype="16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9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8" presetClass="entr" presetSubtype="16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2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5" dur="2000"/>
                                        <p:tgtEl>
                                          <p:spTgt spid="3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8" dur="2000"/>
                                        <p:tgtEl>
                                          <p:spTgt spid="3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1" dur="2000"/>
                                        <p:tgtEl>
                                          <p:spTgt spid="3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1" grpId="0"/>
      <p:bldP spid="41" grpId="1"/>
      <p:bldP spid="7" grpId="0"/>
      <p:bldP spid="7" grpId="1"/>
      <p:bldP spid="10" grpId="0"/>
      <p:bldP spid="10" grpId="1"/>
      <p:bldP spid="13" grpId="0"/>
      <p:bldP spid="13" grpId="1"/>
      <p:bldP spid="375" grpId="0" animBg="1"/>
      <p:bldP spid="376" grpId="0" animBg="1"/>
      <p:bldP spid="37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文本框2" descr="OQAAAB+LCAAAAAAABACrVlIpqSxIVbJSCs5NLCpxyUxML0rM9SxJzVXSUfJMUbLKK83J0VFyysxLycxLdy/KLy0oVrKKjq0FALpUkis5AAAA" title="iSlide™ 版权声明  COPYRIGHT NOTICE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2617480" y="1846698"/>
            <a:ext cx="7055753" cy="2674246"/>
            <a:chOff x="3086346" y="2590801"/>
            <a:chExt cx="6002620" cy="2275130"/>
          </a:xfrm>
        </p:grpSpPr>
        <p:cxnSp>
          <p:nvCxnSpPr>
            <p:cNvPr id="4" name="Connector: Elbow 2"/>
            <p:cNvCxnSpPr/>
            <p:nvPr/>
          </p:nvCxnSpPr>
          <p:spPr>
            <a:xfrm rot="5400000" flipH="1" flipV="1">
              <a:off x="6079930" y="90648"/>
              <a:ext cx="15451" cy="6002620"/>
            </a:xfrm>
            <a:prstGeom prst="bentConnector3">
              <a:avLst>
                <a:gd name="adj1" fmla="val 2117646"/>
              </a:avLst>
            </a:prstGeom>
            <a:ln w="19050">
              <a:solidFill>
                <a:schemeClr val="bg1">
                  <a:lumMod val="65000"/>
                </a:schemeClr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Connector: Elbow 3"/>
            <p:cNvCxnSpPr/>
            <p:nvPr/>
          </p:nvCxnSpPr>
          <p:spPr>
            <a:xfrm rot="5400000">
              <a:off x="6079931" y="1856897"/>
              <a:ext cx="15451" cy="6002618"/>
            </a:xfrm>
            <a:prstGeom prst="bentConnector3">
              <a:avLst>
                <a:gd name="adj1" fmla="val 2117646"/>
              </a:avLst>
            </a:prstGeom>
            <a:ln w="19050">
              <a:solidFill>
                <a:schemeClr val="bg1">
                  <a:lumMod val="65000"/>
                </a:schemeClr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išḷïḑè"/>
            <p:cNvSpPr/>
            <p:nvPr/>
          </p:nvSpPr>
          <p:spPr>
            <a:xfrm>
              <a:off x="5003060" y="2590801"/>
              <a:ext cx="2126238" cy="378944"/>
            </a:xfrm>
            <a:prstGeom prst="roundRect">
              <a:avLst>
                <a:gd name="adj" fmla="val 50000"/>
              </a:avLst>
            </a:prstGeom>
            <a:solidFill>
              <a:srgbClr val="304371"/>
            </a:solidFill>
            <a:ln w="3175">
              <a:noFill/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/>
              <a:endParaRPr>
                <a:solidFill>
                  <a:schemeClr val="bg1"/>
                </a:solidFill>
              </a:endParaRPr>
            </a:p>
          </p:txBody>
        </p:sp>
      </p:grpSp>
      <p:sp>
        <p:nvSpPr>
          <p:cNvPr id="2" name="矩形 1"/>
          <p:cNvSpPr/>
          <p:nvPr/>
        </p:nvSpPr>
        <p:spPr>
          <a:xfrm>
            <a:off x="1029653" y="397510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zh-CN" altLang="en-US" b="1" dirty="0">
                <a:solidFill>
                  <a:srgbClr val="304371"/>
                </a:solidFill>
                <a:latin typeface="微软雅黑" panose="020B0503020204020204" charset="-122"/>
                <a:ea typeface="微软雅黑" panose="020B0503020204020204" charset="-122"/>
                <a:cs typeface="Arial Unicode MS" panose="020B0604020202020204" charset="-122"/>
                <a:sym typeface="+mn-ea"/>
              </a:rPr>
              <a:t>高</a:t>
            </a:r>
            <a:r>
              <a:rPr lang="zh-CN" altLang="en-US" b="1" dirty="0" smtClean="0">
                <a:solidFill>
                  <a:srgbClr val="304371"/>
                </a:solidFill>
                <a:latin typeface="微软雅黑" panose="020B0503020204020204" charset="-122"/>
                <a:ea typeface="微软雅黑" panose="020B0503020204020204" charset="-122"/>
                <a:cs typeface="Arial Unicode MS" panose="020B0604020202020204" charset="-122"/>
                <a:sym typeface="+mn-ea"/>
              </a:rPr>
              <a:t>可用性</a:t>
            </a:r>
            <a:endParaRPr lang="en-US" altLang="zh-CN" b="1" dirty="0" smtClean="0">
              <a:solidFill>
                <a:srgbClr val="304371"/>
              </a:solidFill>
              <a:latin typeface="微软雅黑" panose="020B0503020204020204" charset="-122"/>
              <a:ea typeface="微软雅黑" panose="020B0503020204020204" charset="-122"/>
              <a:cs typeface="Arial Unicode MS" panose="020B0604020202020204" charset="-122"/>
              <a:sym typeface="+mn-ea"/>
            </a:endParaRPr>
          </a:p>
        </p:txBody>
      </p:sp>
      <p:sp>
        <p:nvSpPr>
          <p:cNvPr id="41" name="TextBox 24"/>
          <p:cNvSpPr txBox="1"/>
          <p:nvPr/>
        </p:nvSpPr>
        <p:spPr>
          <a:xfrm>
            <a:off x="5399299" y="1916126"/>
            <a:ext cx="144142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400" b="1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可用性评判标准</a:t>
            </a:r>
          </a:p>
        </p:txBody>
      </p:sp>
      <p:sp>
        <p:nvSpPr>
          <p:cNvPr id="10" name="TextBox 24"/>
          <p:cNvSpPr txBox="1"/>
          <p:nvPr/>
        </p:nvSpPr>
        <p:spPr>
          <a:xfrm>
            <a:off x="245047" y="3202287"/>
            <a:ext cx="648335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400" b="1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意义</a:t>
            </a:r>
            <a:r>
              <a:rPr lang="en-US" altLang="zh-CN" sz="1400" b="1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1</a:t>
            </a:r>
          </a:p>
        </p:txBody>
      </p:sp>
      <p:sp>
        <p:nvSpPr>
          <p:cNvPr id="375" name="Freeform 28"/>
          <p:cNvSpPr>
            <a:spLocks noEditPoints="1"/>
          </p:cNvSpPr>
          <p:nvPr/>
        </p:nvSpPr>
        <p:spPr bwMode="auto">
          <a:xfrm>
            <a:off x="404620" y="2673046"/>
            <a:ext cx="328930" cy="326390"/>
          </a:xfrm>
          <a:custGeom>
            <a:avLst/>
            <a:gdLst>
              <a:gd name="T0" fmla="*/ 132 w 144"/>
              <a:gd name="T1" fmla="*/ 61 h 144"/>
              <a:gd name="T2" fmla="*/ 121 w 144"/>
              <a:gd name="T3" fmla="*/ 46 h 144"/>
              <a:gd name="T4" fmla="*/ 127 w 144"/>
              <a:gd name="T5" fmla="*/ 33 h 144"/>
              <a:gd name="T6" fmla="*/ 119 w 144"/>
              <a:gd name="T7" fmla="*/ 17 h 144"/>
              <a:gd name="T8" fmla="*/ 106 w 144"/>
              <a:gd name="T9" fmla="*/ 22 h 144"/>
              <a:gd name="T10" fmla="*/ 88 w 144"/>
              <a:gd name="T11" fmla="*/ 19 h 144"/>
              <a:gd name="T12" fmla="*/ 83 w 144"/>
              <a:gd name="T13" fmla="*/ 6 h 144"/>
              <a:gd name="T14" fmla="*/ 66 w 144"/>
              <a:gd name="T15" fmla="*/ 0 h 144"/>
              <a:gd name="T16" fmla="*/ 61 w 144"/>
              <a:gd name="T17" fmla="*/ 12 h 144"/>
              <a:gd name="T18" fmla="*/ 46 w 144"/>
              <a:gd name="T19" fmla="*/ 23 h 144"/>
              <a:gd name="T20" fmla="*/ 33 w 144"/>
              <a:gd name="T21" fmla="*/ 17 h 144"/>
              <a:gd name="T22" fmla="*/ 17 w 144"/>
              <a:gd name="T23" fmla="*/ 25 h 144"/>
              <a:gd name="T24" fmla="*/ 22 w 144"/>
              <a:gd name="T25" fmla="*/ 38 h 144"/>
              <a:gd name="T26" fmla="*/ 19 w 144"/>
              <a:gd name="T27" fmla="*/ 56 h 144"/>
              <a:gd name="T28" fmla="*/ 6 w 144"/>
              <a:gd name="T29" fmla="*/ 61 h 144"/>
              <a:gd name="T30" fmla="*/ 0 w 144"/>
              <a:gd name="T31" fmla="*/ 78 h 144"/>
              <a:gd name="T32" fmla="*/ 12 w 144"/>
              <a:gd name="T33" fmla="*/ 83 h 144"/>
              <a:gd name="T34" fmla="*/ 23 w 144"/>
              <a:gd name="T35" fmla="*/ 98 h 144"/>
              <a:gd name="T36" fmla="*/ 17 w 144"/>
              <a:gd name="T37" fmla="*/ 111 h 144"/>
              <a:gd name="T38" fmla="*/ 25 w 144"/>
              <a:gd name="T39" fmla="*/ 127 h 144"/>
              <a:gd name="T40" fmla="*/ 38 w 144"/>
              <a:gd name="T41" fmla="*/ 122 h 144"/>
              <a:gd name="T42" fmla="*/ 56 w 144"/>
              <a:gd name="T43" fmla="*/ 125 h 144"/>
              <a:gd name="T44" fmla="*/ 61 w 144"/>
              <a:gd name="T45" fmla="*/ 138 h 144"/>
              <a:gd name="T46" fmla="*/ 78 w 144"/>
              <a:gd name="T47" fmla="*/ 144 h 144"/>
              <a:gd name="T48" fmla="*/ 83 w 144"/>
              <a:gd name="T49" fmla="*/ 132 h 144"/>
              <a:gd name="T50" fmla="*/ 98 w 144"/>
              <a:gd name="T51" fmla="*/ 121 h 144"/>
              <a:gd name="T52" fmla="*/ 111 w 144"/>
              <a:gd name="T53" fmla="*/ 127 h 144"/>
              <a:gd name="T54" fmla="*/ 127 w 144"/>
              <a:gd name="T55" fmla="*/ 119 h 144"/>
              <a:gd name="T56" fmla="*/ 122 w 144"/>
              <a:gd name="T57" fmla="*/ 106 h 144"/>
              <a:gd name="T58" fmla="*/ 125 w 144"/>
              <a:gd name="T59" fmla="*/ 88 h 144"/>
              <a:gd name="T60" fmla="*/ 138 w 144"/>
              <a:gd name="T61" fmla="*/ 83 h 144"/>
              <a:gd name="T62" fmla="*/ 144 w 144"/>
              <a:gd name="T63" fmla="*/ 66 h 144"/>
              <a:gd name="T64" fmla="*/ 100 w 144"/>
              <a:gd name="T65" fmla="*/ 72 h 144"/>
              <a:gd name="T66" fmla="*/ 44 w 144"/>
              <a:gd name="T67" fmla="*/ 72 h 144"/>
              <a:gd name="T68" fmla="*/ 100 w 144"/>
              <a:gd name="T69" fmla="*/ 72 h 1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144" h="144">
                <a:moveTo>
                  <a:pt x="138" y="61"/>
                </a:moveTo>
                <a:cubicBezTo>
                  <a:pt x="132" y="61"/>
                  <a:pt x="132" y="61"/>
                  <a:pt x="132" y="61"/>
                </a:cubicBezTo>
                <a:cubicBezTo>
                  <a:pt x="129" y="61"/>
                  <a:pt x="126" y="59"/>
                  <a:pt x="125" y="56"/>
                </a:cubicBezTo>
                <a:cubicBezTo>
                  <a:pt x="121" y="46"/>
                  <a:pt x="121" y="46"/>
                  <a:pt x="121" y="46"/>
                </a:cubicBezTo>
                <a:cubicBezTo>
                  <a:pt x="119" y="44"/>
                  <a:pt x="120" y="40"/>
                  <a:pt x="122" y="38"/>
                </a:cubicBezTo>
                <a:cubicBezTo>
                  <a:pt x="127" y="33"/>
                  <a:pt x="127" y="33"/>
                  <a:pt x="127" y="33"/>
                </a:cubicBezTo>
                <a:cubicBezTo>
                  <a:pt x="129" y="31"/>
                  <a:pt x="129" y="27"/>
                  <a:pt x="127" y="25"/>
                </a:cubicBezTo>
                <a:cubicBezTo>
                  <a:pt x="119" y="17"/>
                  <a:pt x="119" y="17"/>
                  <a:pt x="119" y="17"/>
                </a:cubicBezTo>
                <a:cubicBezTo>
                  <a:pt x="117" y="15"/>
                  <a:pt x="113" y="15"/>
                  <a:pt x="111" y="17"/>
                </a:cubicBezTo>
                <a:cubicBezTo>
                  <a:pt x="106" y="22"/>
                  <a:pt x="106" y="22"/>
                  <a:pt x="106" y="22"/>
                </a:cubicBezTo>
                <a:cubicBezTo>
                  <a:pt x="104" y="24"/>
                  <a:pt x="100" y="25"/>
                  <a:pt x="98" y="23"/>
                </a:cubicBezTo>
                <a:cubicBezTo>
                  <a:pt x="88" y="19"/>
                  <a:pt x="88" y="19"/>
                  <a:pt x="88" y="19"/>
                </a:cubicBezTo>
                <a:cubicBezTo>
                  <a:pt x="85" y="18"/>
                  <a:pt x="83" y="15"/>
                  <a:pt x="83" y="12"/>
                </a:cubicBezTo>
                <a:cubicBezTo>
                  <a:pt x="83" y="6"/>
                  <a:pt x="83" y="6"/>
                  <a:pt x="83" y="6"/>
                </a:cubicBezTo>
                <a:cubicBezTo>
                  <a:pt x="83" y="2"/>
                  <a:pt x="81" y="0"/>
                  <a:pt x="78" y="0"/>
                </a:cubicBezTo>
                <a:cubicBezTo>
                  <a:pt x="66" y="0"/>
                  <a:pt x="66" y="0"/>
                  <a:pt x="66" y="0"/>
                </a:cubicBezTo>
                <a:cubicBezTo>
                  <a:pt x="63" y="0"/>
                  <a:pt x="61" y="2"/>
                  <a:pt x="61" y="6"/>
                </a:cubicBezTo>
                <a:cubicBezTo>
                  <a:pt x="61" y="12"/>
                  <a:pt x="61" y="12"/>
                  <a:pt x="61" y="12"/>
                </a:cubicBezTo>
                <a:cubicBezTo>
                  <a:pt x="61" y="15"/>
                  <a:pt x="59" y="18"/>
                  <a:pt x="56" y="19"/>
                </a:cubicBezTo>
                <a:cubicBezTo>
                  <a:pt x="46" y="23"/>
                  <a:pt x="46" y="23"/>
                  <a:pt x="46" y="23"/>
                </a:cubicBezTo>
                <a:cubicBezTo>
                  <a:pt x="44" y="25"/>
                  <a:pt x="40" y="24"/>
                  <a:pt x="38" y="22"/>
                </a:cubicBezTo>
                <a:cubicBezTo>
                  <a:pt x="33" y="17"/>
                  <a:pt x="33" y="17"/>
                  <a:pt x="33" y="17"/>
                </a:cubicBezTo>
                <a:cubicBezTo>
                  <a:pt x="31" y="15"/>
                  <a:pt x="27" y="15"/>
                  <a:pt x="25" y="17"/>
                </a:cubicBezTo>
                <a:cubicBezTo>
                  <a:pt x="17" y="25"/>
                  <a:pt x="17" y="25"/>
                  <a:pt x="17" y="25"/>
                </a:cubicBezTo>
                <a:cubicBezTo>
                  <a:pt x="15" y="27"/>
                  <a:pt x="15" y="31"/>
                  <a:pt x="17" y="33"/>
                </a:cubicBezTo>
                <a:cubicBezTo>
                  <a:pt x="22" y="38"/>
                  <a:pt x="22" y="38"/>
                  <a:pt x="22" y="38"/>
                </a:cubicBezTo>
                <a:cubicBezTo>
                  <a:pt x="24" y="40"/>
                  <a:pt x="25" y="44"/>
                  <a:pt x="23" y="46"/>
                </a:cubicBezTo>
                <a:cubicBezTo>
                  <a:pt x="19" y="56"/>
                  <a:pt x="19" y="56"/>
                  <a:pt x="19" y="56"/>
                </a:cubicBezTo>
                <a:cubicBezTo>
                  <a:pt x="18" y="59"/>
                  <a:pt x="15" y="61"/>
                  <a:pt x="12" y="61"/>
                </a:cubicBezTo>
                <a:cubicBezTo>
                  <a:pt x="6" y="61"/>
                  <a:pt x="6" y="61"/>
                  <a:pt x="6" y="61"/>
                </a:cubicBezTo>
                <a:cubicBezTo>
                  <a:pt x="2" y="61"/>
                  <a:pt x="0" y="63"/>
                  <a:pt x="0" y="66"/>
                </a:cubicBezTo>
                <a:cubicBezTo>
                  <a:pt x="0" y="78"/>
                  <a:pt x="0" y="78"/>
                  <a:pt x="0" y="78"/>
                </a:cubicBezTo>
                <a:cubicBezTo>
                  <a:pt x="0" y="81"/>
                  <a:pt x="2" y="83"/>
                  <a:pt x="6" y="83"/>
                </a:cubicBezTo>
                <a:cubicBezTo>
                  <a:pt x="12" y="83"/>
                  <a:pt x="12" y="83"/>
                  <a:pt x="12" y="83"/>
                </a:cubicBezTo>
                <a:cubicBezTo>
                  <a:pt x="15" y="83"/>
                  <a:pt x="18" y="85"/>
                  <a:pt x="19" y="88"/>
                </a:cubicBezTo>
                <a:cubicBezTo>
                  <a:pt x="23" y="98"/>
                  <a:pt x="23" y="98"/>
                  <a:pt x="23" y="98"/>
                </a:cubicBezTo>
                <a:cubicBezTo>
                  <a:pt x="25" y="100"/>
                  <a:pt x="24" y="104"/>
                  <a:pt x="22" y="106"/>
                </a:cubicBezTo>
                <a:cubicBezTo>
                  <a:pt x="17" y="111"/>
                  <a:pt x="17" y="111"/>
                  <a:pt x="17" y="111"/>
                </a:cubicBezTo>
                <a:cubicBezTo>
                  <a:pt x="15" y="113"/>
                  <a:pt x="15" y="117"/>
                  <a:pt x="17" y="119"/>
                </a:cubicBezTo>
                <a:cubicBezTo>
                  <a:pt x="25" y="127"/>
                  <a:pt x="25" y="127"/>
                  <a:pt x="25" y="127"/>
                </a:cubicBezTo>
                <a:cubicBezTo>
                  <a:pt x="27" y="129"/>
                  <a:pt x="31" y="129"/>
                  <a:pt x="33" y="127"/>
                </a:cubicBezTo>
                <a:cubicBezTo>
                  <a:pt x="38" y="122"/>
                  <a:pt x="38" y="122"/>
                  <a:pt x="38" y="122"/>
                </a:cubicBezTo>
                <a:cubicBezTo>
                  <a:pt x="40" y="120"/>
                  <a:pt x="44" y="119"/>
                  <a:pt x="46" y="121"/>
                </a:cubicBezTo>
                <a:cubicBezTo>
                  <a:pt x="56" y="125"/>
                  <a:pt x="56" y="125"/>
                  <a:pt x="56" y="125"/>
                </a:cubicBezTo>
                <a:cubicBezTo>
                  <a:pt x="59" y="126"/>
                  <a:pt x="61" y="129"/>
                  <a:pt x="61" y="132"/>
                </a:cubicBezTo>
                <a:cubicBezTo>
                  <a:pt x="61" y="138"/>
                  <a:pt x="61" y="138"/>
                  <a:pt x="61" y="138"/>
                </a:cubicBezTo>
                <a:cubicBezTo>
                  <a:pt x="61" y="142"/>
                  <a:pt x="63" y="144"/>
                  <a:pt x="66" y="144"/>
                </a:cubicBezTo>
                <a:cubicBezTo>
                  <a:pt x="78" y="144"/>
                  <a:pt x="78" y="144"/>
                  <a:pt x="78" y="144"/>
                </a:cubicBezTo>
                <a:cubicBezTo>
                  <a:pt x="81" y="144"/>
                  <a:pt x="83" y="142"/>
                  <a:pt x="83" y="138"/>
                </a:cubicBezTo>
                <a:cubicBezTo>
                  <a:pt x="83" y="132"/>
                  <a:pt x="83" y="132"/>
                  <a:pt x="83" y="132"/>
                </a:cubicBezTo>
                <a:cubicBezTo>
                  <a:pt x="83" y="129"/>
                  <a:pt x="85" y="126"/>
                  <a:pt x="88" y="125"/>
                </a:cubicBezTo>
                <a:cubicBezTo>
                  <a:pt x="98" y="121"/>
                  <a:pt x="98" y="121"/>
                  <a:pt x="98" y="121"/>
                </a:cubicBezTo>
                <a:cubicBezTo>
                  <a:pt x="100" y="119"/>
                  <a:pt x="104" y="120"/>
                  <a:pt x="106" y="122"/>
                </a:cubicBezTo>
                <a:cubicBezTo>
                  <a:pt x="111" y="127"/>
                  <a:pt x="111" y="127"/>
                  <a:pt x="111" y="127"/>
                </a:cubicBezTo>
                <a:cubicBezTo>
                  <a:pt x="113" y="129"/>
                  <a:pt x="117" y="129"/>
                  <a:pt x="119" y="127"/>
                </a:cubicBezTo>
                <a:cubicBezTo>
                  <a:pt x="127" y="119"/>
                  <a:pt x="127" y="119"/>
                  <a:pt x="127" y="119"/>
                </a:cubicBezTo>
                <a:cubicBezTo>
                  <a:pt x="129" y="117"/>
                  <a:pt x="129" y="113"/>
                  <a:pt x="127" y="111"/>
                </a:cubicBezTo>
                <a:cubicBezTo>
                  <a:pt x="122" y="106"/>
                  <a:pt x="122" y="106"/>
                  <a:pt x="122" y="106"/>
                </a:cubicBezTo>
                <a:cubicBezTo>
                  <a:pt x="120" y="104"/>
                  <a:pt x="119" y="100"/>
                  <a:pt x="121" y="98"/>
                </a:cubicBezTo>
                <a:cubicBezTo>
                  <a:pt x="125" y="88"/>
                  <a:pt x="125" y="88"/>
                  <a:pt x="125" y="88"/>
                </a:cubicBezTo>
                <a:cubicBezTo>
                  <a:pt x="126" y="85"/>
                  <a:pt x="129" y="83"/>
                  <a:pt x="132" y="83"/>
                </a:cubicBezTo>
                <a:cubicBezTo>
                  <a:pt x="138" y="83"/>
                  <a:pt x="138" y="83"/>
                  <a:pt x="138" y="83"/>
                </a:cubicBezTo>
                <a:cubicBezTo>
                  <a:pt x="142" y="83"/>
                  <a:pt x="144" y="81"/>
                  <a:pt x="144" y="78"/>
                </a:cubicBezTo>
                <a:cubicBezTo>
                  <a:pt x="144" y="66"/>
                  <a:pt x="144" y="66"/>
                  <a:pt x="144" y="66"/>
                </a:cubicBezTo>
                <a:cubicBezTo>
                  <a:pt x="144" y="63"/>
                  <a:pt x="142" y="61"/>
                  <a:pt x="138" y="61"/>
                </a:cubicBezTo>
                <a:moveTo>
                  <a:pt x="100" y="72"/>
                </a:moveTo>
                <a:cubicBezTo>
                  <a:pt x="100" y="87"/>
                  <a:pt x="87" y="100"/>
                  <a:pt x="72" y="100"/>
                </a:cubicBezTo>
                <a:cubicBezTo>
                  <a:pt x="57" y="100"/>
                  <a:pt x="44" y="87"/>
                  <a:pt x="44" y="72"/>
                </a:cubicBezTo>
                <a:cubicBezTo>
                  <a:pt x="44" y="57"/>
                  <a:pt x="57" y="44"/>
                  <a:pt x="72" y="44"/>
                </a:cubicBezTo>
                <a:cubicBezTo>
                  <a:pt x="87" y="44"/>
                  <a:pt x="100" y="57"/>
                  <a:pt x="100" y="72"/>
                </a:cubicBezTo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4042123"/>
              </p:ext>
            </p:extLst>
          </p:nvPr>
        </p:nvGraphicFramePr>
        <p:xfrm>
          <a:off x="2137649" y="2399012"/>
          <a:ext cx="8128002" cy="2219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4"/>
                <a:gridCol w="2709334"/>
                <a:gridCol w="2709334"/>
              </a:tblGrid>
              <a:tr h="0"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可用性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故障时间</a:t>
                      </a:r>
                      <a:r>
                        <a:rPr lang="en-US" altLang="zh-CN" dirty="0" smtClean="0"/>
                        <a:t>(</a:t>
                      </a:r>
                      <a:r>
                        <a:rPr lang="zh-CN" altLang="en-US" dirty="0" smtClean="0"/>
                        <a:t>秒</a:t>
                      </a:r>
                      <a:r>
                        <a:rPr lang="en-US" altLang="zh-CN" dirty="0" smtClean="0"/>
                        <a:t>)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 smtClean="0"/>
                        <a:t>故障时间</a:t>
                      </a:r>
                      <a:r>
                        <a:rPr lang="en-US" altLang="zh-CN" dirty="0" smtClean="0"/>
                        <a:t>(</a:t>
                      </a:r>
                      <a:r>
                        <a:rPr lang="zh-CN" altLang="en-US" dirty="0" smtClean="0"/>
                        <a:t>小时</a:t>
                      </a:r>
                      <a:r>
                        <a:rPr lang="en-US" altLang="zh-CN" dirty="0" smtClean="0"/>
                        <a:t>)</a:t>
                      </a:r>
                      <a:endParaRPr lang="zh-CN" altLang="en-US" dirty="0" smtClean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90%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3153600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876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99%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315360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87.6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99.9%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31536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8.76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99.99%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3153.6</a:t>
                      </a:r>
                      <a:endParaRPr lang="zh-CN" alt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0.876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99.999%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315.36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0.0876</a:t>
                      </a:r>
                      <a:endParaRPr lang="zh-CN" altLang="en-US" dirty="0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11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28841" y="0"/>
            <a:ext cx="2763159" cy="10567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48490147"/>
      </p:ext>
    </p:extLst>
  </p:cSld>
  <p:clrMapOvr>
    <a:masterClrMapping/>
  </p:clrMapOvr>
  <p:transition spd="slow" advClick="0" advTm="0">
    <p:push dir="u"/>
  </p:transition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0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8" presetClass="entr" presetSubtype="16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3" dur="2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8" presetClass="entr" presetSubtype="16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6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9" dur="2000"/>
                                        <p:tgtEl>
                                          <p:spTgt spid="3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1" grpId="0"/>
      <p:bldP spid="41" grpId="1"/>
      <p:bldP spid="10" grpId="0"/>
      <p:bldP spid="10" grpId="1"/>
      <p:bldP spid="37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029653" y="397510"/>
            <a:ext cx="13388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zh-CN" altLang="en-US" b="1" dirty="0">
                <a:solidFill>
                  <a:srgbClr val="304371"/>
                </a:solidFill>
                <a:latin typeface="微软雅黑" panose="020B0503020204020204" charset="-122"/>
                <a:ea typeface="微软雅黑" panose="020B0503020204020204" charset="-122"/>
                <a:cs typeface="Arial Unicode MS" panose="020B0604020202020204" charset="-122"/>
                <a:sym typeface="+mn-ea"/>
              </a:rPr>
              <a:t>单</a:t>
            </a:r>
            <a:r>
              <a:rPr lang="zh-CN" altLang="en-US" b="1" dirty="0" smtClean="0">
                <a:solidFill>
                  <a:srgbClr val="304371"/>
                </a:solidFill>
                <a:latin typeface="微软雅黑" panose="020B0503020204020204" charset="-122"/>
                <a:ea typeface="微软雅黑" panose="020B0503020204020204" charset="-122"/>
                <a:cs typeface="Arial Unicode MS" panose="020B0604020202020204" charset="-122"/>
                <a:sym typeface="+mn-ea"/>
              </a:rPr>
              <a:t>线程架构</a:t>
            </a:r>
            <a:endParaRPr lang="en-US" altLang="zh-CN" b="1" dirty="0" smtClean="0">
              <a:solidFill>
                <a:srgbClr val="304371"/>
              </a:solidFill>
              <a:latin typeface="微软雅黑" panose="020B0503020204020204" charset="-122"/>
              <a:ea typeface="微软雅黑" panose="020B0503020204020204" charset="-122"/>
              <a:cs typeface="Arial Unicode MS" panose="020B0604020202020204" charset="-122"/>
              <a:sym typeface="+mn-ea"/>
            </a:endParaRPr>
          </a:p>
        </p:txBody>
      </p:sp>
      <p:sp>
        <p:nvSpPr>
          <p:cNvPr id="41" name="TextBox 24"/>
          <p:cNvSpPr txBox="1"/>
          <p:nvPr/>
        </p:nvSpPr>
        <p:spPr>
          <a:xfrm>
            <a:off x="5399299" y="1916126"/>
            <a:ext cx="144142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400" b="1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可用性评判标准</a:t>
            </a:r>
          </a:p>
        </p:txBody>
      </p:sp>
      <p:sp>
        <p:nvSpPr>
          <p:cNvPr id="10" name="TextBox 24"/>
          <p:cNvSpPr txBox="1"/>
          <p:nvPr/>
        </p:nvSpPr>
        <p:spPr>
          <a:xfrm>
            <a:off x="245047" y="3202287"/>
            <a:ext cx="648335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400" b="1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意义</a:t>
            </a:r>
            <a:r>
              <a:rPr lang="en-US" altLang="zh-CN" sz="1400" b="1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1</a:t>
            </a:r>
          </a:p>
        </p:txBody>
      </p:sp>
      <p:sp>
        <p:nvSpPr>
          <p:cNvPr id="375" name="Freeform 28"/>
          <p:cNvSpPr>
            <a:spLocks noEditPoints="1"/>
          </p:cNvSpPr>
          <p:nvPr/>
        </p:nvSpPr>
        <p:spPr bwMode="auto">
          <a:xfrm>
            <a:off x="404620" y="2673046"/>
            <a:ext cx="328930" cy="326390"/>
          </a:xfrm>
          <a:custGeom>
            <a:avLst/>
            <a:gdLst>
              <a:gd name="T0" fmla="*/ 132 w 144"/>
              <a:gd name="T1" fmla="*/ 61 h 144"/>
              <a:gd name="T2" fmla="*/ 121 w 144"/>
              <a:gd name="T3" fmla="*/ 46 h 144"/>
              <a:gd name="T4" fmla="*/ 127 w 144"/>
              <a:gd name="T5" fmla="*/ 33 h 144"/>
              <a:gd name="T6" fmla="*/ 119 w 144"/>
              <a:gd name="T7" fmla="*/ 17 h 144"/>
              <a:gd name="T8" fmla="*/ 106 w 144"/>
              <a:gd name="T9" fmla="*/ 22 h 144"/>
              <a:gd name="T10" fmla="*/ 88 w 144"/>
              <a:gd name="T11" fmla="*/ 19 h 144"/>
              <a:gd name="T12" fmla="*/ 83 w 144"/>
              <a:gd name="T13" fmla="*/ 6 h 144"/>
              <a:gd name="T14" fmla="*/ 66 w 144"/>
              <a:gd name="T15" fmla="*/ 0 h 144"/>
              <a:gd name="T16" fmla="*/ 61 w 144"/>
              <a:gd name="T17" fmla="*/ 12 h 144"/>
              <a:gd name="T18" fmla="*/ 46 w 144"/>
              <a:gd name="T19" fmla="*/ 23 h 144"/>
              <a:gd name="T20" fmla="*/ 33 w 144"/>
              <a:gd name="T21" fmla="*/ 17 h 144"/>
              <a:gd name="T22" fmla="*/ 17 w 144"/>
              <a:gd name="T23" fmla="*/ 25 h 144"/>
              <a:gd name="T24" fmla="*/ 22 w 144"/>
              <a:gd name="T25" fmla="*/ 38 h 144"/>
              <a:gd name="T26" fmla="*/ 19 w 144"/>
              <a:gd name="T27" fmla="*/ 56 h 144"/>
              <a:gd name="T28" fmla="*/ 6 w 144"/>
              <a:gd name="T29" fmla="*/ 61 h 144"/>
              <a:gd name="T30" fmla="*/ 0 w 144"/>
              <a:gd name="T31" fmla="*/ 78 h 144"/>
              <a:gd name="T32" fmla="*/ 12 w 144"/>
              <a:gd name="T33" fmla="*/ 83 h 144"/>
              <a:gd name="T34" fmla="*/ 23 w 144"/>
              <a:gd name="T35" fmla="*/ 98 h 144"/>
              <a:gd name="T36" fmla="*/ 17 w 144"/>
              <a:gd name="T37" fmla="*/ 111 h 144"/>
              <a:gd name="T38" fmla="*/ 25 w 144"/>
              <a:gd name="T39" fmla="*/ 127 h 144"/>
              <a:gd name="T40" fmla="*/ 38 w 144"/>
              <a:gd name="T41" fmla="*/ 122 h 144"/>
              <a:gd name="T42" fmla="*/ 56 w 144"/>
              <a:gd name="T43" fmla="*/ 125 h 144"/>
              <a:gd name="T44" fmla="*/ 61 w 144"/>
              <a:gd name="T45" fmla="*/ 138 h 144"/>
              <a:gd name="T46" fmla="*/ 78 w 144"/>
              <a:gd name="T47" fmla="*/ 144 h 144"/>
              <a:gd name="T48" fmla="*/ 83 w 144"/>
              <a:gd name="T49" fmla="*/ 132 h 144"/>
              <a:gd name="T50" fmla="*/ 98 w 144"/>
              <a:gd name="T51" fmla="*/ 121 h 144"/>
              <a:gd name="T52" fmla="*/ 111 w 144"/>
              <a:gd name="T53" fmla="*/ 127 h 144"/>
              <a:gd name="T54" fmla="*/ 127 w 144"/>
              <a:gd name="T55" fmla="*/ 119 h 144"/>
              <a:gd name="T56" fmla="*/ 122 w 144"/>
              <a:gd name="T57" fmla="*/ 106 h 144"/>
              <a:gd name="T58" fmla="*/ 125 w 144"/>
              <a:gd name="T59" fmla="*/ 88 h 144"/>
              <a:gd name="T60" fmla="*/ 138 w 144"/>
              <a:gd name="T61" fmla="*/ 83 h 144"/>
              <a:gd name="T62" fmla="*/ 144 w 144"/>
              <a:gd name="T63" fmla="*/ 66 h 144"/>
              <a:gd name="T64" fmla="*/ 100 w 144"/>
              <a:gd name="T65" fmla="*/ 72 h 144"/>
              <a:gd name="T66" fmla="*/ 44 w 144"/>
              <a:gd name="T67" fmla="*/ 72 h 144"/>
              <a:gd name="T68" fmla="*/ 100 w 144"/>
              <a:gd name="T69" fmla="*/ 72 h 1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144" h="144">
                <a:moveTo>
                  <a:pt x="138" y="61"/>
                </a:moveTo>
                <a:cubicBezTo>
                  <a:pt x="132" y="61"/>
                  <a:pt x="132" y="61"/>
                  <a:pt x="132" y="61"/>
                </a:cubicBezTo>
                <a:cubicBezTo>
                  <a:pt x="129" y="61"/>
                  <a:pt x="126" y="59"/>
                  <a:pt x="125" y="56"/>
                </a:cubicBezTo>
                <a:cubicBezTo>
                  <a:pt x="121" y="46"/>
                  <a:pt x="121" y="46"/>
                  <a:pt x="121" y="46"/>
                </a:cubicBezTo>
                <a:cubicBezTo>
                  <a:pt x="119" y="44"/>
                  <a:pt x="120" y="40"/>
                  <a:pt x="122" y="38"/>
                </a:cubicBezTo>
                <a:cubicBezTo>
                  <a:pt x="127" y="33"/>
                  <a:pt x="127" y="33"/>
                  <a:pt x="127" y="33"/>
                </a:cubicBezTo>
                <a:cubicBezTo>
                  <a:pt x="129" y="31"/>
                  <a:pt x="129" y="27"/>
                  <a:pt x="127" y="25"/>
                </a:cubicBezTo>
                <a:cubicBezTo>
                  <a:pt x="119" y="17"/>
                  <a:pt x="119" y="17"/>
                  <a:pt x="119" y="17"/>
                </a:cubicBezTo>
                <a:cubicBezTo>
                  <a:pt x="117" y="15"/>
                  <a:pt x="113" y="15"/>
                  <a:pt x="111" y="17"/>
                </a:cubicBezTo>
                <a:cubicBezTo>
                  <a:pt x="106" y="22"/>
                  <a:pt x="106" y="22"/>
                  <a:pt x="106" y="22"/>
                </a:cubicBezTo>
                <a:cubicBezTo>
                  <a:pt x="104" y="24"/>
                  <a:pt x="100" y="25"/>
                  <a:pt x="98" y="23"/>
                </a:cubicBezTo>
                <a:cubicBezTo>
                  <a:pt x="88" y="19"/>
                  <a:pt x="88" y="19"/>
                  <a:pt x="88" y="19"/>
                </a:cubicBezTo>
                <a:cubicBezTo>
                  <a:pt x="85" y="18"/>
                  <a:pt x="83" y="15"/>
                  <a:pt x="83" y="12"/>
                </a:cubicBezTo>
                <a:cubicBezTo>
                  <a:pt x="83" y="6"/>
                  <a:pt x="83" y="6"/>
                  <a:pt x="83" y="6"/>
                </a:cubicBezTo>
                <a:cubicBezTo>
                  <a:pt x="83" y="2"/>
                  <a:pt x="81" y="0"/>
                  <a:pt x="78" y="0"/>
                </a:cubicBezTo>
                <a:cubicBezTo>
                  <a:pt x="66" y="0"/>
                  <a:pt x="66" y="0"/>
                  <a:pt x="66" y="0"/>
                </a:cubicBezTo>
                <a:cubicBezTo>
                  <a:pt x="63" y="0"/>
                  <a:pt x="61" y="2"/>
                  <a:pt x="61" y="6"/>
                </a:cubicBezTo>
                <a:cubicBezTo>
                  <a:pt x="61" y="12"/>
                  <a:pt x="61" y="12"/>
                  <a:pt x="61" y="12"/>
                </a:cubicBezTo>
                <a:cubicBezTo>
                  <a:pt x="61" y="15"/>
                  <a:pt x="59" y="18"/>
                  <a:pt x="56" y="19"/>
                </a:cubicBezTo>
                <a:cubicBezTo>
                  <a:pt x="46" y="23"/>
                  <a:pt x="46" y="23"/>
                  <a:pt x="46" y="23"/>
                </a:cubicBezTo>
                <a:cubicBezTo>
                  <a:pt x="44" y="25"/>
                  <a:pt x="40" y="24"/>
                  <a:pt x="38" y="22"/>
                </a:cubicBezTo>
                <a:cubicBezTo>
                  <a:pt x="33" y="17"/>
                  <a:pt x="33" y="17"/>
                  <a:pt x="33" y="17"/>
                </a:cubicBezTo>
                <a:cubicBezTo>
                  <a:pt x="31" y="15"/>
                  <a:pt x="27" y="15"/>
                  <a:pt x="25" y="17"/>
                </a:cubicBezTo>
                <a:cubicBezTo>
                  <a:pt x="17" y="25"/>
                  <a:pt x="17" y="25"/>
                  <a:pt x="17" y="25"/>
                </a:cubicBezTo>
                <a:cubicBezTo>
                  <a:pt x="15" y="27"/>
                  <a:pt x="15" y="31"/>
                  <a:pt x="17" y="33"/>
                </a:cubicBezTo>
                <a:cubicBezTo>
                  <a:pt x="22" y="38"/>
                  <a:pt x="22" y="38"/>
                  <a:pt x="22" y="38"/>
                </a:cubicBezTo>
                <a:cubicBezTo>
                  <a:pt x="24" y="40"/>
                  <a:pt x="25" y="44"/>
                  <a:pt x="23" y="46"/>
                </a:cubicBezTo>
                <a:cubicBezTo>
                  <a:pt x="19" y="56"/>
                  <a:pt x="19" y="56"/>
                  <a:pt x="19" y="56"/>
                </a:cubicBezTo>
                <a:cubicBezTo>
                  <a:pt x="18" y="59"/>
                  <a:pt x="15" y="61"/>
                  <a:pt x="12" y="61"/>
                </a:cubicBezTo>
                <a:cubicBezTo>
                  <a:pt x="6" y="61"/>
                  <a:pt x="6" y="61"/>
                  <a:pt x="6" y="61"/>
                </a:cubicBezTo>
                <a:cubicBezTo>
                  <a:pt x="2" y="61"/>
                  <a:pt x="0" y="63"/>
                  <a:pt x="0" y="66"/>
                </a:cubicBezTo>
                <a:cubicBezTo>
                  <a:pt x="0" y="78"/>
                  <a:pt x="0" y="78"/>
                  <a:pt x="0" y="78"/>
                </a:cubicBezTo>
                <a:cubicBezTo>
                  <a:pt x="0" y="81"/>
                  <a:pt x="2" y="83"/>
                  <a:pt x="6" y="83"/>
                </a:cubicBezTo>
                <a:cubicBezTo>
                  <a:pt x="12" y="83"/>
                  <a:pt x="12" y="83"/>
                  <a:pt x="12" y="83"/>
                </a:cubicBezTo>
                <a:cubicBezTo>
                  <a:pt x="15" y="83"/>
                  <a:pt x="18" y="85"/>
                  <a:pt x="19" y="88"/>
                </a:cubicBezTo>
                <a:cubicBezTo>
                  <a:pt x="23" y="98"/>
                  <a:pt x="23" y="98"/>
                  <a:pt x="23" y="98"/>
                </a:cubicBezTo>
                <a:cubicBezTo>
                  <a:pt x="25" y="100"/>
                  <a:pt x="24" y="104"/>
                  <a:pt x="22" y="106"/>
                </a:cubicBezTo>
                <a:cubicBezTo>
                  <a:pt x="17" y="111"/>
                  <a:pt x="17" y="111"/>
                  <a:pt x="17" y="111"/>
                </a:cubicBezTo>
                <a:cubicBezTo>
                  <a:pt x="15" y="113"/>
                  <a:pt x="15" y="117"/>
                  <a:pt x="17" y="119"/>
                </a:cubicBezTo>
                <a:cubicBezTo>
                  <a:pt x="25" y="127"/>
                  <a:pt x="25" y="127"/>
                  <a:pt x="25" y="127"/>
                </a:cubicBezTo>
                <a:cubicBezTo>
                  <a:pt x="27" y="129"/>
                  <a:pt x="31" y="129"/>
                  <a:pt x="33" y="127"/>
                </a:cubicBezTo>
                <a:cubicBezTo>
                  <a:pt x="38" y="122"/>
                  <a:pt x="38" y="122"/>
                  <a:pt x="38" y="122"/>
                </a:cubicBezTo>
                <a:cubicBezTo>
                  <a:pt x="40" y="120"/>
                  <a:pt x="44" y="119"/>
                  <a:pt x="46" y="121"/>
                </a:cubicBezTo>
                <a:cubicBezTo>
                  <a:pt x="56" y="125"/>
                  <a:pt x="56" y="125"/>
                  <a:pt x="56" y="125"/>
                </a:cubicBezTo>
                <a:cubicBezTo>
                  <a:pt x="59" y="126"/>
                  <a:pt x="61" y="129"/>
                  <a:pt x="61" y="132"/>
                </a:cubicBezTo>
                <a:cubicBezTo>
                  <a:pt x="61" y="138"/>
                  <a:pt x="61" y="138"/>
                  <a:pt x="61" y="138"/>
                </a:cubicBezTo>
                <a:cubicBezTo>
                  <a:pt x="61" y="142"/>
                  <a:pt x="63" y="144"/>
                  <a:pt x="66" y="144"/>
                </a:cubicBezTo>
                <a:cubicBezTo>
                  <a:pt x="78" y="144"/>
                  <a:pt x="78" y="144"/>
                  <a:pt x="78" y="144"/>
                </a:cubicBezTo>
                <a:cubicBezTo>
                  <a:pt x="81" y="144"/>
                  <a:pt x="83" y="142"/>
                  <a:pt x="83" y="138"/>
                </a:cubicBezTo>
                <a:cubicBezTo>
                  <a:pt x="83" y="132"/>
                  <a:pt x="83" y="132"/>
                  <a:pt x="83" y="132"/>
                </a:cubicBezTo>
                <a:cubicBezTo>
                  <a:pt x="83" y="129"/>
                  <a:pt x="85" y="126"/>
                  <a:pt x="88" y="125"/>
                </a:cubicBezTo>
                <a:cubicBezTo>
                  <a:pt x="98" y="121"/>
                  <a:pt x="98" y="121"/>
                  <a:pt x="98" y="121"/>
                </a:cubicBezTo>
                <a:cubicBezTo>
                  <a:pt x="100" y="119"/>
                  <a:pt x="104" y="120"/>
                  <a:pt x="106" y="122"/>
                </a:cubicBezTo>
                <a:cubicBezTo>
                  <a:pt x="111" y="127"/>
                  <a:pt x="111" y="127"/>
                  <a:pt x="111" y="127"/>
                </a:cubicBezTo>
                <a:cubicBezTo>
                  <a:pt x="113" y="129"/>
                  <a:pt x="117" y="129"/>
                  <a:pt x="119" y="127"/>
                </a:cubicBezTo>
                <a:cubicBezTo>
                  <a:pt x="127" y="119"/>
                  <a:pt x="127" y="119"/>
                  <a:pt x="127" y="119"/>
                </a:cubicBezTo>
                <a:cubicBezTo>
                  <a:pt x="129" y="117"/>
                  <a:pt x="129" y="113"/>
                  <a:pt x="127" y="111"/>
                </a:cubicBezTo>
                <a:cubicBezTo>
                  <a:pt x="122" y="106"/>
                  <a:pt x="122" y="106"/>
                  <a:pt x="122" y="106"/>
                </a:cubicBezTo>
                <a:cubicBezTo>
                  <a:pt x="120" y="104"/>
                  <a:pt x="119" y="100"/>
                  <a:pt x="121" y="98"/>
                </a:cubicBezTo>
                <a:cubicBezTo>
                  <a:pt x="125" y="88"/>
                  <a:pt x="125" y="88"/>
                  <a:pt x="125" y="88"/>
                </a:cubicBezTo>
                <a:cubicBezTo>
                  <a:pt x="126" y="85"/>
                  <a:pt x="129" y="83"/>
                  <a:pt x="132" y="83"/>
                </a:cubicBezTo>
                <a:cubicBezTo>
                  <a:pt x="138" y="83"/>
                  <a:pt x="138" y="83"/>
                  <a:pt x="138" y="83"/>
                </a:cubicBezTo>
                <a:cubicBezTo>
                  <a:pt x="142" y="83"/>
                  <a:pt x="144" y="81"/>
                  <a:pt x="144" y="78"/>
                </a:cubicBezTo>
                <a:cubicBezTo>
                  <a:pt x="144" y="66"/>
                  <a:pt x="144" y="66"/>
                  <a:pt x="144" y="66"/>
                </a:cubicBezTo>
                <a:cubicBezTo>
                  <a:pt x="144" y="63"/>
                  <a:pt x="142" y="61"/>
                  <a:pt x="138" y="61"/>
                </a:cubicBezTo>
                <a:moveTo>
                  <a:pt x="100" y="72"/>
                </a:moveTo>
                <a:cubicBezTo>
                  <a:pt x="100" y="87"/>
                  <a:pt x="87" y="100"/>
                  <a:pt x="72" y="100"/>
                </a:cubicBezTo>
                <a:cubicBezTo>
                  <a:pt x="57" y="100"/>
                  <a:pt x="44" y="87"/>
                  <a:pt x="44" y="72"/>
                </a:cubicBezTo>
                <a:cubicBezTo>
                  <a:pt x="44" y="57"/>
                  <a:pt x="57" y="44"/>
                  <a:pt x="72" y="44"/>
                </a:cubicBezTo>
                <a:cubicBezTo>
                  <a:pt x="87" y="44"/>
                  <a:pt x="100" y="57"/>
                  <a:pt x="100" y="72"/>
                </a:cubicBezTo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9" name="TextBox 8"/>
          <p:cNvSpPr txBox="1"/>
          <p:nvPr/>
        </p:nvSpPr>
        <p:spPr>
          <a:xfrm>
            <a:off x="1029653" y="1383608"/>
            <a:ext cx="56230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Redis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是单线程架构，不存在多个请求同时执行的情况</a:t>
            </a:r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" name="圆角矩形 7"/>
          <p:cNvSpPr/>
          <p:nvPr/>
        </p:nvSpPr>
        <p:spPr>
          <a:xfrm>
            <a:off x="1762129" y="3220980"/>
            <a:ext cx="1237129" cy="458418"/>
          </a:xfrm>
          <a:prstGeom prst="roundRect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req1</a:t>
            </a:r>
            <a:endParaRPr lang="zh-CN" altLang="en-US" dirty="0"/>
          </a:p>
        </p:txBody>
      </p:sp>
      <p:sp>
        <p:nvSpPr>
          <p:cNvPr id="12" name="圆角矩形 11"/>
          <p:cNvSpPr/>
          <p:nvPr/>
        </p:nvSpPr>
        <p:spPr>
          <a:xfrm>
            <a:off x="3923459" y="3220980"/>
            <a:ext cx="1237129" cy="458418"/>
          </a:xfrm>
          <a:prstGeom prst="roundRect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req2</a:t>
            </a:r>
            <a:endParaRPr lang="zh-CN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3190244" y="3265523"/>
            <a:ext cx="5164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……</a:t>
            </a:r>
            <a:endParaRPr lang="zh-CN" altLang="en-US" dirty="0"/>
          </a:p>
        </p:txBody>
      </p:sp>
      <p:sp>
        <p:nvSpPr>
          <p:cNvPr id="13" name="圆角矩形 12"/>
          <p:cNvSpPr/>
          <p:nvPr/>
        </p:nvSpPr>
        <p:spPr>
          <a:xfrm>
            <a:off x="6754658" y="1894863"/>
            <a:ext cx="2077369" cy="2921551"/>
          </a:xfrm>
          <a:prstGeom prst="roundRect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req1</a:t>
            </a:r>
          </a:p>
          <a:p>
            <a:pPr algn="ctr"/>
            <a:r>
              <a:rPr lang="en-US" altLang="zh-CN" dirty="0" smtClean="0"/>
              <a:t>…….</a:t>
            </a:r>
          </a:p>
          <a:p>
            <a:pPr algn="ctr"/>
            <a:r>
              <a:rPr lang="en-US" altLang="zh-CN" dirty="0" smtClean="0"/>
              <a:t>req2</a:t>
            </a:r>
            <a:endParaRPr lang="zh-CN" altLang="en-US" dirty="0"/>
          </a:p>
        </p:txBody>
      </p:sp>
      <p:sp>
        <p:nvSpPr>
          <p:cNvPr id="4" name="右箭头 3"/>
          <p:cNvSpPr/>
          <p:nvPr/>
        </p:nvSpPr>
        <p:spPr>
          <a:xfrm>
            <a:off x="5726046" y="3208156"/>
            <a:ext cx="489204" cy="484632"/>
          </a:xfrm>
          <a:prstGeom prst="rightArrow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840720" y="2070014"/>
            <a:ext cx="7755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Redis</a:t>
            </a:r>
            <a:endParaRPr lang="zh-CN" altLang="en-US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1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28841" y="0"/>
            <a:ext cx="2763159" cy="10567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60627307"/>
      </p:ext>
    </p:extLst>
  </p:cSld>
  <p:clrMapOvr>
    <a:masterClrMapping/>
  </p:clrMapOvr>
  <p:transition spd="slow" advClick="0" advTm="0">
    <p:push dir="u"/>
  </p:transition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8" presetClass="entr" presetSubtype="16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0" dur="2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8" presetClass="entr" presetSubtype="16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3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6" dur="2000"/>
                                        <p:tgtEl>
                                          <p:spTgt spid="3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1" grpId="0"/>
      <p:bldP spid="41" grpId="1"/>
      <p:bldP spid="10" grpId="0"/>
      <p:bldP spid="10" grpId="1"/>
      <p:bldP spid="37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3" name="圆角矩形 1042"/>
          <p:cNvSpPr/>
          <p:nvPr/>
        </p:nvSpPr>
        <p:spPr>
          <a:xfrm>
            <a:off x="2936837" y="1334664"/>
            <a:ext cx="2678654" cy="3291840"/>
          </a:xfrm>
          <a:prstGeom prst="roundRect">
            <a:avLst/>
          </a:prstGeom>
          <a:solidFill>
            <a:schemeClr val="tx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42" name="圆角矩形 1041"/>
          <p:cNvSpPr/>
          <p:nvPr/>
        </p:nvSpPr>
        <p:spPr>
          <a:xfrm>
            <a:off x="7207624" y="1356180"/>
            <a:ext cx="2420470" cy="3248808"/>
          </a:xfrm>
          <a:prstGeom prst="roundRect">
            <a:avLst/>
          </a:prstGeom>
          <a:solidFill>
            <a:schemeClr val="tx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矩形 1"/>
          <p:cNvSpPr/>
          <p:nvPr/>
        </p:nvSpPr>
        <p:spPr>
          <a:xfrm>
            <a:off x="1029653" y="397510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zh-CN" altLang="en-US" b="1" dirty="0" smtClean="0">
                <a:solidFill>
                  <a:srgbClr val="304371"/>
                </a:solidFill>
                <a:latin typeface="微软雅黑" panose="020B0503020204020204" charset="-122"/>
                <a:ea typeface="微软雅黑" panose="020B0503020204020204" charset="-122"/>
                <a:cs typeface="Arial Unicode MS" panose="020B0604020202020204" charset="-122"/>
                <a:sym typeface="+mn-ea"/>
              </a:rPr>
              <a:t>单机模式</a:t>
            </a:r>
            <a:endParaRPr lang="en-US" altLang="zh-CN" b="1" dirty="0" smtClean="0">
              <a:solidFill>
                <a:srgbClr val="304371"/>
              </a:solidFill>
              <a:latin typeface="微软雅黑" panose="020B0503020204020204" charset="-122"/>
              <a:ea typeface="微软雅黑" panose="020B0503020204020204" charset="-122"/>
              <a:cs typeface="Arial Unicode MS" panose="020B0604020202020204" charset="-122"/>
              <a:sym typeface="+mn-ea"/>
            </a:endParaRPr>
          </a:p>
        </p:txBody>
      </p:sp>
      <p:sp>
        <p:nvSpPr>
          <p:cNvPr id="10" name="TextBox 24"/>
          <p:cNvSpPr txBox="1"/>
          <p:nvPr/>
        </p:nvSpPr>
        <p:spPr>
          <a:xfrm>
            <a:off x="245047" y="3202287"/>
            <a:ext cx="648335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400" b="1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意义</a:t>
            </a:r>
            <a:r>
              <a:rPr lang="en-US" altLang="zh-CN" sz="1400" b="1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1</a:t>
            </a:r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30135483"/>
              </p:ext>
            </p:extLst>
          </p:nvPr>
        </p:nvGraphicFramePr>
        <p:xfrm>
          <a:off x="3173120" y="1660484"/>
          <a:ext cx="1898603" cy="29660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26" name="Visio" r:id="rId4" imgW="689043" imgH="1076415" progId="Visio.Drawing.11">
                  <p:embed/>
                </p:oleObj>
              </mc:Choice>
              <mc:Fallback>
                <p:oleObj name="Visio" r:id="rId4" imgW="689043" imgH="1076415" progId="Visio.Drawing.11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73120" y="1660484"/>
                        <a:ext cx="1898603" cy="296602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73172828"/>
              </p:ext>
            </p:extLst>
          </p:nvPr>
        </p:nvGraphicFramePr>
        <p:xfrm>
          <a:off x="6970954" y="1636241"/>
          <a:ext cx="2736551" cy="29343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27" name="Visio" r:id="rId6" imgW="790643" imgH="847006" progId="Visio.Drawing.11">
                  <p:embed/>
                </p:oleObj>
              </mc:Choice>
              <mc:Fallback>
                <p:oleObj name="Visio" r:id="rId6" imgW="790643" imgH="847006" progId="Visio.Drawing.11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70954" y="1636241"/>
                        <a:ext cx="2736551" cy="293437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41" name="右箭头 1040"/>
          <p:cNvSpPr/>
          <p:nvPr/>
        </p:nvSpPr>
        <p:spPr>
          <a:xfrm>
            <a:off x="5927463" y="2025624"/>
            <a:ext cx="978408" cy="484632"/>
          </a:xfrm>
          <a:prstGeom prst="rightArrow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读</a:t>
            </a:r>
            <a:r>
              <a:rPr lang="en-US" altLang="zh-CN" dirty="0" smtClean="0"/>
              <a:t>/</a:t>
            </a:r>
            <a:r>
              <a:rPr lang="zh-CN" altLang="en-US" dirty="0" smtClean="0"/>
              <a:t>写</a:t>
            </a:r>
            <a:endParaRPr lang="zh-CN" altLang="en-US" dirty="0"/>
          </a:p>
        </p:txBody>
      </p:sp>
      <p:sp>
        <p:nvSpPr>
          <p:cNvPr id="52" name="右箭头 51"/>
          <p:cNvSpPr/>
          <p:nvPr/>
        </p:nvSpPr>
        <p:spPr>
          <a:xfrm>
            <a:off x="5927463" y="3005516"/>
            <a:ext cx="978408" cy="484632"/>
          </a:xfrm>
          <a:prstGeom prst="rightArrow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读</a:t>
            </a:r>
            <a:r>
              <a:rPr lang="en-US" altLang="zh-CN" dirty="0" smtClean="0"/>
              <a:t>/</a:t>
            </a:r>
            <a:r>
              <a:rPr lang="zh-CN" altLang="en-US" dirty="0" smtClean="0"/>
              <a:t>写</a:t>
            </a:r>
            <a:endParaRPr lang="zh-CN" altLang="en-US" dirty="0"/>
          </a:p>
        </p:txBody>
      </p:sp>
      <p:sp>
        <p:nvSpPr>
          <p:cNvPr id="53" name="右箭头 52"/>
          <p:cNvSpPr/>
          <p:nvPr/>
        </p:nvSpPr>
        <p:spPr>
          <a:xfrm>
            <a:off x="5927463" y="3988564"/>
            <a:ext cx="978408" cy="484632"/>
          </a:xfrm>
          <a:prstGeom prst="rightArrow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读</a:t>
            </a:r>
            <a:r>
              <a:rPr lang="en-US" altLang="zh-CN" dirty="0" smtClean="0"/>
              <a:t>/</a:t>
            </a:r>
            <a:r>
              <a:rPr lang="zh-CN" altLang="en-US" dirty="0" smtClean="0"/>
              <a:t>写</a:t>
            </a:r>
            <a:endParaRPr lang="zh-CN" altLang="en-US" dirty="0"/>
          </a:p>
        </p:txBody>
      </p:sp>
      <p:sp>
        <p:nvSpPr>
          <p:cNvPr id="1047" name="TextBox 1046"/>
          <p:cNvSpPr txBox="1"/>
          <p:nvPr/>
        </p:nvSpPr>
        <p:spPr>
          <a:xfrm>
            <a:off x="344245" y="1288217"/>
            <a:ext cx="180049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高可用实现方案</a:t>
            </a:r>
            <a:endParaRPr lang="en-US" altLang="zh-CN" dirty="0" smtClean="0">
              <a:latin typeface="微软雅黑" pitchFamily="34" charset="-122"/>
              <a:ea typeface="微软雅黑" pitchFamily="34" charset="-122"/>
            </a:endParaRPr>
          </a:p>
          <a:p>
            <a:pPr marL="285750" indent="-285750">
              <a:buFont typeface="Wingdings" pitchFamily="2" charset="2"/>
              <a:buChar char="ü"/>
            </a:pPr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RDB</a:t>
            </a:r>
          </a:p>
          <a:p>
            <a:pPr marL="285750" indent="-285750">
              <a:buFont typeface="Wingdings" pitchFamily="2" charset="2"/>
              <a:buChar char="ü"/>
            </a:pPr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AOF</a:t>
            </a:r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48" name="TextBox 1047"/>
          <p:cNvSpPr txBox="1"/>
          <p:nvPr/>
        </p:nvSpPr>
        <p:spPr>
          <a:xfrm>
            <a:off x="5364295" y="5106310"/>
            <a:ext cx="21047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单</a:t>
            </a:r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Master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部署模式</a:t>
            </a:r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13" name="Picture 2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28841" y="0"/>
            <a:ext cx="2763159" cy="10567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63491064"/>
      </p:ext>
    </p:extLst>
  </p:cSld>
  <p:clrMapOvr>
    <a:masterClrMapping/>
  </p:clrMapOvr>
  <p:transition spd="slow" advClick="0" advTm="0">
    <p:push dir="u"/>
  </p:transition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8" presetClass="entr" presetSubtype="16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0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0" grpId="0"/>
      <p:bldP spid="10" grpId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029653" y="397510"/>
            <a:ext cx="147989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zh-CN" altLang="en-US" b="1" dirty="0">
                <a:solidFill>
                  <a:srgbClr val="304371"/>
                </a:solidFill>
                <a:latin typeface="微软雅黑" panose="020B0503020204020204" charset="-122"/>
                <a:ea typeface="微软雅黑" panose="020B0503020204020204" charset="-122"/>
                <a:cs typeface="Arial Unicode MS" panose="020B0604020202020204" charset="-122"/>
                <a:sym typeface="+mn-ea"/>
              </a:rPr>
              <a:t>持久</a:t>
            </a:r>
            <a:r>
              <a:rPr lang="zh-CN" altLang="en-US" b="1" dirty="0" smtClean="0">
                <a:solidFill>
                  <a:srgbClr val="304371"/>
                </a:solidFill>
                <a:latin typeface="微软雅黑" panose="020B0503020204020204" charset="-122"/>
                <a:ea typeface="微软雅黑" panose="020B0503020204020204" charset="-122"/>
                <a:cs typeface="Arial Unicode MS" panose="020B0604020202020204" charset="-122"/>
                <a:sym typeface="+mn-ea"/>
              </a:rPr>
              <a:t>化</a:t>
            </a:r>
            <a:r>
              <a:rPr lang="en-US" altLang="zh-CN" b="1" dirty="0" smtClean="0">
                <a:solidFill>
                  <a:srgbClr val="304371"/>
                </a:solidFill>
                <a:latin typeface="微软雅黑" panose="020B0503020204020204" charset="-122"/>
                <a:ea typeface="微软雅黑" panose="020B0503020204020204" charset="-122"/>
                <a:cs typeface="Arial Unicode MS" panose="020B0604020202020204" charset="-122"/>
                <a:sym typeface="+mn-ea"/>
              </a:rPr>
              <a:t>-RDB</a:t>
            </a:r>
          </a:p>
        </p:txBody>
      </p:sp>
      <p:sp>
        <p:nvSpPr>
          <p:cNvPr id="10" name="TextBox 24"/>
          <p:cNvSpPr txBox="1"/>
          <p:nvPr/>
        </p:nvSpPr>
        <p:spPr>
          <a:xfrm>
            <a:off x="245047" y="3202287"/>
            <a:ext cx="648335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400" b="1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意义</a:t>
            </a:r>
            <a:r>
              <a:rPr lang="en-US" altLang="zh-CN" sz="1400" b="1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29653" y="1383608"/>
            <a:ext cx="243861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 smtClean="0">
                <a:latin typeface="微软雅黑" pitchFamily="34" charset="-122"/>
                <a:ea typeface="微软雅黑" pitchFamily="34" charset="-122"/>
              </a:rPr>
              <a:t>触发条件：</a:t>
            </a:r>
            <a:endParaRPr lang="en-US" altLang="zh-CN" b="1" dirty="0" smtClean="0">
              <a:latin typeface="微软雅黑" pitchFamily="34" charset="-122"/>
              <a:ea typeface="微软雅黑" pitchFamily="34" charset="-122"/>
            </a:endParaRPr>
          </a:p>
          <a:p>
            <a:pPr marL="285750" indent="-285750">
              <a:buFont typeface="Wingdings" pitchFamily="2" charset="2"/>
              <a:buChar char="ü"/>
            </a:pP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s</a:t>
            </a:r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ave n m</a:t>
            </a:r>
          </a:p>
          <a:p>
            <a:pPr marL="285750" indent="-285750">
              <a:buFont typeface="Wingdings" pitchFamily="2" charset="2"/>
              <a:buChar char="ü"/>
            </a:pPr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save command</a:t>
            </a:r>
          </a:p>
          <a:p>
            <a:pPr marL="285750" indent="-285750">
              <a:buFont typeface="Wingdings" pitchFamily="2" charset="2"/>
              <a:buChar char="ü"/>
            </a:pPr>
            <a:r>
              <a:rPr lang="en-US" altLang="zh-CN" dirty="0" err="1">
                <a:latin typeface="微软雅黑" pitchFamily="34" charset="-122"/>
                <a:ea typeface="微软雅黑" pitchFamily="34" charset="-122"/>
              </a:rPr>
              <a:t>b</a:t>
            </a:r>
            <a:r>
              <a:rPr lang="en-US" altLang="zh-CN" dirty="0" err="1" smtClean="0">
                <a:latin typeface="微软雅黑" pitchFamily="34" charset="-122"/>
                <a:ea typeface="微软雅黑" pitchFamily="34" charset="-122"/>
              </a:rPr>
              <a:t>gsave</a:t>
            </a:r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 command</a:t>
            </a:r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29653" y="2616063"/>
            <a:ext cx="10937610" cy="31393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altLang="zh-CN" b="1" dirty="0" smtClean="0">
              <a:latin typeface="微软雅黑" pitchFamily="34" charset="-122"/>
              <a:ea typeface="微软雅黑" pitchFamily="34" charset="-122"/>
            </a:endParaRPr>
          </a:p>
          <a:p>
            <a:r>
              <a:rPr lang="zh-CN" altLang="en-US" b="1" dirty="0" smtClean="0">
                <a:latin typeface="微软雅黑" pitchFamily="34" charset="-122"/>
                <a:ea typeface="微软雅黑" pitchFamily="34" charset="-122"/>
              </a:rPr>
              <a:t>优点：</a:t>
            </a:r>
            <a:endParaRPr lang="en-US" altLang="zh-CN" dirty="0" smtClean="0"/>
          </a:p>
          <a:p>
            <a:pPr marL="285750" indent="-285750">
              <a:buFont typeface="Wingdings" pitchFamily="2" charset="2"/>
              <a:buChar char="ü"/>
            </a:pPr>
            <a:r>
              <a:rPr lang="zh-CN" altLang="en-US" sz="1600" dirty="0" smtClean="0">
                <a:latin typeface="微软雅黑" pitchFamily="34" charset="-122"/>
                <a:ea typeface="微软雅黑" pitchFamily="34" charset="-122"/>
              </a:rPr>
              <a:t>非常适用于备份，全量复制等场景</a:t>
            </a:r>
            <a:endParaRPr lang="en-US" altLang="zh-CN" sz="1600" dirty="0" smtClean="0">
              <a:latin typeface="微软雅黑" pitchFamily="34" charset="-122"/>
              <a:ea typeface="微软雅黑" pitchFamily="34" charset="-122"/>
            </a:endParaRPr>
          </a:p>
          <a:p>
            <a:pPr marL="285750" indent="-285750">
              <a:buFont typeface="Wingdings" pitchFamily="2" charset="2"/>
              <a:buChar char="ü"/>
            </a:pPr>
            <a:r>
              <a:rPr lang="en-US" altLang="zh-CN" sz="1600" dirty="0" smtClean="0">
                <a:latin typeface="微软雅黑" pitchFamily="34" charset="-122"/>
                <a:ea typeface="微软雅黑" pitchFamily="34" charset="-122"/>
              </a:rPr>
              <a:t>Redis</a:t>
            </a:r>
            <a:r>
              <a:rPr lang="zh-CN" altLang="en-US" sz="1600" dirty="0" smtClean="0">
                <a:latin typeface="微软雅黑" pitchFamily="34" charset="-122"/>
                <a:ea typeface="微软雅黑" pitchFamily="34" charset="-122"/>
              </a:rPr>
              <a:t>加载</a:t>
            </a:r>
            <a:r>
              <a:rPr lang="en-US" altLang="zh-CN" sz="1600" dirty="0" smtClean="0">
                <a:latin typeface="微软雅黑" pitchFamily="34" charset="-122"/>
                <a:ea typeface="微软雅黑" pitchFamily="34" charset="-122"/>
              </a:rPr>
              <a:t>RDB</a:t>
            </a:r>
            <a:r>
              <a:rPr lang="zh-CN" altLang="en-US" sz="1600" dirty="0" smtClean="0">
                <a:latin typeface="微软雅黑" pitchFamily="34" charset="-122"/>
                <a:ea typeface="微软雅黑" pitchFamily="34" charset="-122"/>
              </a:rPr>
              <a:t>恢复数据远远快于</a:t>
            </a:r>
            <a:r>
              <a:rPr lang="en-US" altLang="zh-CN" sz="1600" dirty="0" smtClean="0">
                <a:latin typeface="微软雅黑" pitchFamily="34" charset="-122"/>
                <a:ea typeface="微软雅黑" pitchFamily="34" charset="-122"/>
              </a:rPr>
              <a:t>AOF</a:t>
            </a:r>
            <a:r>
              <a:rPr lang="zh-CN" altLang="en-US" sz="1600" dirty="0" smtClean="0">
                <a:latin typeface="微软雅黑" pitchFamily="34" charset="-122"/>
                <a:ea typeface="微软雅黑" pitchFamily="34" charset="-122"/>
              </a:rPr>
              <a:t>的方式</a:t>
            </a:r>
            <a:endParaRPr lang="en-US" altLang="zh-CN" sz="1600" dirty="0" smtClean="0">
              <a:latin typeface="微软雅黑" pitchFamily="34" charset="-122"/>
              <a:ea typeface="微软雅黑" pitchFamily="34" charset="-122"/>
            </a:endParaRPr>
          </a:p>
          <a:p>
            <a:endParaRPr lang="en-US" altLang="zh-CN" sz="1600" dirty="0" smtClean="0"/>
          </a:p>
          <a:p>
            <a:endParaRPr lang="en-US" altLang="zh-CN" sz="1600" b="1" dirty="0" smtClean="0">
              <a:latin typeface="微软雅黑" pitchFamily="34" charset="-122"/>
              <a:ea typeface="微软雅黑" pitchFamily="34" charset="-122"/>
            </a:endParaRPr>
          </a:p>
          <a:p>
            <a:r>
              <a:rPr lang="zh-CN" altLang="en-US" sz="1600" b="1" dirty="0" smtClean="0">
                <a:latin typeface="微软雅黑" pitchFamily="34" charset="-122"/>
                <a:ea typeface="微软雅黑" pitchFamily="34" charset="-122"/>
              </a:rPr>
              <a:t>缺点：</a:t>
            </a:r>
            <a:endParaRPr lang="en-US" altLang="zh-CN" sz="1600" b="1" dirty="0" smtClean="0">
              <a:latin typeface="微软雅黑" pitchFamily="34" charset="-122"/>
              <a:ea typeface="微软雅黑" pitchFamily="34" charset="-122"/>
            </a:endParaRPr>
          </a:p>
          <a:p>
            <a:pPr marL="285750" indent="-285750">
              <a:buFont typeface="Wingdings" pitchFamily="2" charset="2"/>
              <a:buChar char="ü"/>
            </a:pPr>
            <a:r>
              <a:rPr lang="en-US" altLang="zh-CN" sz="1600" dirty="0" smtClean="0">
                <a:latin typeface="微软雅黑" pitchFamily="34" charset="-122"/>
                <a:ea typeface="微软雅黑" pitchFamily="34" charset="-122"/>
              </a:rPr>
              <a:t>RDB</a:t>
            </a:r>
            <a:r>
              <a:rPr lang="zh-CN" altLang="en-US" sz="1600" dirty="0" smtClean="0">
                <a:latin typeface="微软雅黑" pitchFamily="34" charset="-122"/>
                <a:ea typeface="微软雅黑" pitchFamily="34" charset="-122"/>
              </a:rPr>
              <a:t>方式数据没办法做到实时持久化</a:t>
            </a:r>
            <a:r>
              <a:rPr lang="en-US" altLang="zh-CN" sz="1600" dirty="0" smtClean="0">
                <a:latin typeface="微软雅黑" pitchFamily="34" charset="-122"/>
                <a:ea typeface="微软雅黑" pitchFamily="34" charset="-122"/>
              </a:rPr>
              <a:t>/</a:t>
            </a:r>
            <a:r>
              <a:rPr lang="zh-CN" altLang="en-US" sz="1600" dirty="0" smtClean="0">
                <a:latin typeface="微软雅黑" pitchFamily="34" charset="-122"/>
                <a:ea typeface="微软雅黑" pitchFamily="34" charset="-122"/>
              </a:rPr>
              <a:t>秒级持久化</a:t>
            </a:r>
            <a:endParaRPr lang="en-US" altLang="zh-CN" sz="1600" dirty="0" smtClean="0">
              <a:latin typeface="微软雅黑" pitchFamily="34" charset="-122"/>
              <a:ea typeface="微软雅黑" pitchFamily="34" charset="-122"/>
            </a:endParaRPr>
          </a:p>
          <a:p>
            <a:pPr marL="285750" indent="-285750">
              <a:buFont typeface="Wingdings" pitchFamily="2" charset="2"/>
              <a:buChar char="ü"/>
            </a:pPr>
            <a:r>
              <a:rPr lang="en-US" altLang="zh-CN" sz="1600" dirty="0" smtClean="0">
                <a:latin typeface="微软雅黑" pitchFamily="34" charset="-122"/>
                <a:ea typeface="微软雅黑" pitchFamily="34" charset="-122"/>
              </a:rPr>
              <a:t>RDB</a:t>
            </a:r>
            <a:r>
              <a:rPr lang="zh-CN" altLang="en-US" sz="1600" dirty="0" smtClean="0">
                <a:latin typeface="微软雅黑" pitchFamily="34" charset="-122"/>
                <a:ea typeface="微软雅黑" pitchFamily="34" charset="-122"/>
              </a:rPr>
              <a:t>每次</a:t>
            </a:r>
            <a:r>
              <a:rPr lang="en-US" altLang="zh-CN" sz="1600" dirty="0" smtClean="0">
                <a:latin typeface="微软雅黑" pitchFamily="34" charset="-122"/>
                <a:ea typeface="微软雅黑" pitchFamily="34" charset="-122"/>
              </a:rPr>
              <a:t>fork</a:t>
            </a:r>
            <a:r>
              <a:rPr lang="zh-CN" altLang="en-US" sz="1600" dirty="0" smtClean="0">
                <a:latin typeface="微软雅黑" pitchFamily="34" charset="-122"/>
                <a:ea typeface="微软雅黑" pitchFamily="34" charset="-122"/>
              </a:rPr>
              <a:t>出子进程来执行</a:t>
            </a:r>
            <a:r>
              <a:rPr lang="en-US" altLang="zh-CN" sz="1600" dirty="0" smtClean="0">
                <a:latin typeface="微软雅黑" pitchFamily="34" charset="-122"/>
                <a:ea typeface="微软雅黑" pitchFamily="34" charset="-122"/>
              </a:rPr>
              <a:t>RDB</a:t>
            </a:r>
            <a:r>
              <a:rPr lang="zh-CN" altLang="en-US" sz="1600" dirty="0" smtClean="0">
                <a:latin typeface="微软雅黑" pitchFamily="34" charset="-122"/>
                <a:ea typeface="微软雅黑" pitchFamily="34" charset="-122"/>
              </a:rPr>
              <a:t>快照生成文件时，若文件特别大，可能会导致客户端提供服务暂停数毫秒或者几秒</a:t>
            </a:r>
            <a:endParaRPr lang="en-US" altLang="zh-CN" sz="1600" dirty="0" smtClean="0">
              <a:latin typeface="微软雅黑" pitchFamily="34" charset="-122"/>
              <a:ea typeface="微软雅黑" pitchFamily="34" charset="-122"/>
            </a:endParaRPr>
          </a:p>
          <a:p>
            <a:pPr marL="285750" indent="-285750">
              <a:buFont typeface="Wingdings" pitchFamily="2" charset="2"/>
              <a:buChar char="ü"/>
            </a:pPr>
            <a:r>
              <a:rPr lang="en-US" altLang="zh-CN" sz="1600" dirty="0" smtClean="0">
                <a:latin typeface="微软雅黑" pitchFamily="34" charset="-122"/>
                <a:ea typeface="微软雅黑" pitchFamily="34" charset="-122"/>
              </a:rPr>
              <a:t>RDB</a:t>
            </a:r>
            <a:r>
              <a:rPr lang="zh-CN" altLang="en-US" sz="1600" dirty="0" smtClean="0">
                <a:latin typeface="微软雅黑" pitchFamily="34" charset="-122"/>
                <a:ea typeface="微软雅黑" pitchFamily="34" charset="-122"/>
              </a:rPr>
              <a:t>文件使用特定二进制格式保存，老版本</a:t>
            </a:r>
            <a:r>
              <a:rPr lang="en-US" altLang="zh-CN" sz="1600" dirty="0" smtClean="0">
                <a:latin typeface="微软雅黑" pitchFamily="34" charset="-122"/>
                <a:ea typeface="微软雅黑" pitchFamily="34" charset="-122"/>
              </a:rPr>
              <a:t>Redis</a:t>
            </a:r>
            <a:r>
              <a:rPr lang="zh-CN" altLang="en-US" sz="1600" dirty="0" smtClean="0">
                <a:latin typeface="微软雅黑" pitchFamily="34" charset="-122"/>
                <a:ea typeface="微软雅黑" pitchFamily="34" charset="-122"/>
              </a:rPr>
              <a:t>服务无法兼容新版</a:t>
            </a:r>
            <a:r>
              <a:rPr lang="en-US" altLang="zh-CN" sz="1600" dirty="0" smtClean="0">
                <a:latin typeface="微软雅黑" pitchFamily="34" charset="-122"/>
                <a:ea typeface="微软雅黑" pitchFamily="34" charset="-122"/>
              </a:rPr>
              <a:t>RDB</a:t>
            </a:r>
            <a:r>
              <a:rPr lang="zh-CN" altLang="en-US" sz="1600" dirty="0" smtClean="0">
                <a:latin typeface="微软雅黑" pitchFamily="34" charset="-122"/>
                <a:ea typeface="微软雅黑" pitchFamily="34" charset="-122"/>
              </a:rPr>
              <a:t>格式的问题</a:t>
            </a:r>
            <a:endParaRPr lang="en-US" altLang="zh-CN" sz="1600" dirty="0" smtClean="0">
              <a:latin typeface="微软雅黑" pitchFamily="34" charset="-122"/>
              <a:ea typeface="微软雅黑" pitchFamily="34" charset="-122"/>
            </a:endParaRPr>
          </a:p>
          <a:p>
            <a:endParaRPr lang="en-US" altLang="zh-CN" sz="1600" dirty="0" smtClean="0"/>
          </a:p>
          <a:p>
            <a:endParaRPr lang="zh-CN" altLang="en-US" dirty="0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28841" y="0"/>
            <a:ext cx="2763159" cy="10567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61170749"/>
      </p:ext>
    </p:extLst>
  </p:cSld>
  <p:clrMapOvr>
    <a:masterClrMapping/>
  </p:clrMapOvr>
  <p:transition spd="slow" advClick="0" advTm="0">
    <p:push dir="u"/>
  </p:transition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8" presetClass="entr" presetSubtype="16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0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0" grpId="0"/>
      <p:bldP spid="10" grpId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029653" y="397510"/>
            <a:ext cx="146495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zh-CN" altLang="en-US" b="1" dirty="0" smtClean="0">
                <a:solidFill>
                  <a:srgbClr val="304371"/>
                </a:solidFill>
                <a:latin typeface="微软雅黑" panose="020B0503020204020204" charset="-122"/>
                <a:ea typeface="微软雅黑" panose="020B0503020204020204" charset="-122"/>
                <a:cs typeface="Arial Unicode MS" panose="020B0604020202020204" charset="-122"/>
                <a:sym typeface="+mn-ea"/>
              </a:rPr>
              <a:t>持久化</a:t>
            </a:r>
            <a:r>
              <a:rPr lang="en-US" altLang="zh-CN" b="1" dirty="0" smtClean="0">
                <a:solidFill>
                  <a:srgbClr val="304371"/>
                </a:solidFill>
                <a:latin typeface="微软雅黑" panose="020B0503020204020204" charset="-122"/>
                <a:ea typeface="微软雅黑" panose="020B0503020204020204" charset="-122"/>
                <a:cs typeface="Arial Unicode MS" panose="020B0604020202020204" charset="-122"/>
                <a:sym typeface="+mn-ea"/>
              </a:rPr>
              <a:t>-AOF</a:t>
            </a:r>
          </a:p>
        </p:txBody>
      </p:sp>
      <p:sp>
        <p:nvSpPr>
          <p:cNvPr id="41" name="TextBox 24"/>
          <p:cNvSpPr txBox="1"/>
          <p:nvPr/>
        </p:nvSpPr>
        <p:spPr>
          <a:xfrm>
            <a:off x="5399299" y="1916126"/>
            <a:ext cx="144142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400" b="1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可用性评判标准</a:t>
            </a:r>
          </a:p>
        </p:txBody>
      </p:sp>
      <p:sp>
        <p:nvSpPr>
          <p:cNvPr id="10" name="TextBox 24"/>
          <p:cNvSpPr txBox="1"/>
          <p:nvPr/>
        </p:nvSpPr>
        <p:spPr>
          <a:xfrm>
            <a:off x="245047" y="3202287"/>
            <a:ext cx="648335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400" b="1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意义</a:t>
            </a:r>
            <a:r>
              <a:rPr lang="en-US" altLang="zh-CN" sz="1400" b="1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1</a:t>
            </a:r>
          </a:p>
        </p:txBody>
      </p:sp>
      <p:sp>
        <p:nvSpPr>
          <p:cNvPr id="375" name="Freeform 28"/>
          <p:cNvSpPr>
            <a:spLocks noEditPoints="1"/>
          </p:cNvSpPr>
          <p:nvPr/>
        </p:nvSpPr>
        <p:spPr bwMode="auto">
          <a:xfrm>
            <a:off x="404620" y="2673046"/>
            <a:ext cx="328930" cy="326390"/>
          </a:xfrm>
          <a:custGeom>
            <a:avLst/>
            <a:gdLst>
              <a:gd name="T0" fmla="*/ 132 w 144"/>
              <a:gd name="T1" fmla="*/ 61 h 144"/>
              <a:gd name="T2" fmla="*/ 121 w 144"/>
              <a:gd name="T3" fmla="*/ 46 h 144"/>
              <a:gd name="T4" fmla="*/ 127 w 144"/>
              <a:gd name="T5" fmla="*/ 33 h 144"/>
              <a:gd name="T6" fmla="*/ 119 w 144"/>
              <a:gd name="T7" fmla="*/ 17 h 144"/>
              <a:gd name="T8" fmla="*/ 106 w 144"/>
              <a:gd name="T9" fmla="*/ 22 h 144"/>
              <a:gd name="T10" fmla="*/ 88 w 144"/>
              <a:gd name="T11" fmla="*/ 19 h 144"/>
              <a:gd name="T12" fmla="*/ 83 w 144"/>
              <a:gd name="T13" fmla="*/ 6 h 144"/>
              <a:gd name="T14" fmla="*/ 66 w 144"/>
              <a:gd name="T15" fmla="*/ 0 h 144"/>
              <a:gd name="T16" fmla="*/ 61 w 144"/>
              <a:gd name="T17" fmla="*/ 12 h 144"/>
              <a:gd name="T18" fmla="*/ 46 w 144"/>
              <a:gd name="T19" fmla="*/ 23 h 144"/>
              <a:gd name="T20" fmla="*/ 33 w 144"/>
              <a:gd name="T21" fmla="*/ 17 h 144"/>
              <a:gd name="T22" fmla="*/ 17 w 144"/>
              <a:gd name="T23" fmla="*/ 25 h 144"/>
              <a:gd name="T24" fmla="*/ 22 w 144"/>
              <a:gd name="T25" fmla="*/ 38 h 144"/>
              <a:gd name="T26" fmla="*/ 19 w 144"/>
              <a:gd name="T27" fmla="*/ 56 h 144"/>
              <a:gd name="T28" fmla="*/ 6 w 144"/>
              <a:gd name="T29" fmla="*/ 61 h 144"/>
              <a:gd name="T30" fmla="*/ 0 w 144"/>
              <a:gd name="T31" fmla="*/ 78 h 144"/>
              <a:gd name="T32" fmla="*/ 12 w 144"/>
              <a:gd name="T33" fmla="*/ 83 h 144"/>
              <a:gd name="T34" fmla="*/ 23 w 144"/>
              <a:gd name="T35" fmla="*/ 98 h 144"/>
              <a:gd name="T36" fmla="*/ 17 w 144"/>
              <a:gd name="T37" fmla="*/ 111 h 144"/>
              <a:gd name="T38" fmla="*/ 25 w 144"/>
              <a:gd name="T39" fmla="*/ 127 h 144"/>
              <a:gd name="T40" fmla="*/ 38 w 144"/>
              <a:gd name="T41" fmla="*/ 122 h 144"/>
              <a:gd name="T42" fmla="*/ 56 w 144"/>
              <a:gd name="T43" fmla="*/ 125 h 144"/>
              <a:gd name="T44" fmla="*/ 61 w 144"/>
              <a:gd name="T45" fmla="*/ 138 h 144"/>
              <a:gd name="T46" fmla="*/ 78 w 144"/>
              <a:gd name="T47" fmla="*/ 144 h 144"/>
              <a:gd name="T48" fmla="*/ 83 w 144"/>
              <a:gd name="T49" fmla="*/ 132 h 144"/>
              <a:gd name="T50" fmla="*/ 98 w 144"/>
              <a:gd name="T51" fmla="*/ 121 h 144"/>
              <a:gd name="T52" fmla="*/ 111 w 144"/>
              <a:gd name="T53" fmla="*/ 127 h 144"/>
              <a:gd name="T54" fmla="*/ 127 w 144"/>
              <a:gd name="T55" fmla="*/ 119 h 144"/>
              <a:gd name="T56" fmla="*/ 122 w 144"/>
              <a:gd name="T57" fmla="*/ 106 h 144"/>
              <a:gd name="T58" fmla="*/ 125 w 144"/>
              <a:gd name="T59" fmla="*/ 88 h 144"/>
              <a:gd name="T60" fmla="*/ 138 w 144"/>
              <a:gd name="T61" fmla="*/ 83 h 144"/>
              <a:gd name="T62" fmla="*/ 144 w 144"/>
              <a:gd name="T63" fmla="*/ 66 h 144"/>
              <a:gd name="T64" fmla="*/ 100 w 144"/>
              <a:gd name="T65" fmla="*/ 72 h 144"/>
              <a:gd name="T66" fmla="*/ 44 w 144"/>
              <a:gd name="T67" fmla="*/ 72 h 144"/>
              <a:gd name="T68" fmla="*/ 100 w 144"/>
              <a:gd name="T69" fmla="*/ 72 h 1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144" h="144">
                <a:moveTo>
                  <a:pt x="138" y="61"/>
                </a:moveTo>
                <a:cubicBezTo>
                  <a:pt x="132" y="61"/>
                  <a:pt x="132" y="61"/>
                  <a:pt x="132" y="61"/>
                </a:cubicBezTo>
                <a:cubicBezTo>
                  <a:pt x="129" y="61"/>
                  <a:pt x="126" y="59"/>
                  <a:pt x="125" y="56"/>
                </a:cubicBezTo>
                <a:cubicBezTo>
                  <a:pt x="121" y="46"/>
                  <a:pt x="121" y="46"/>
                  <a:pt x="121" y="46"/>
                </a:cubicBezTo>
                <a:cubicBezTo>
                  <a:pt x="119" y="44"/>
                  <a:pt x="120" y="40"/>
                  <a:pt x="122" y="38"/>
                </a:cubicBezTo>
                <a:cubicBezTo>
                  <a:pt x="127" y="33"/>
                  <a:pt x="127" y="33"/>
                  <a:pt x="127" y="33"/>
                </a:cubicBezTo>
                <a:cubicBezTo>
                  <a:pt x="129" y="31"/>
                  <a:pt x="129" y="27"/>
                  <a:pt x="127" y="25"/>
                </a:cubicBezTo>
                <a:cubicBezTo>
                  <a:pt x="119" y="17"/>
                  <a:pt x="119" y="17"/>
                  <a:pt x="119" y="17"/>
                </a:cubicBezTo>
                <a:cubicBezTo>
                  <a:pt x="117" y="15"/>
                  <a:pt x="113" y="15"/>
                  <a:pt x="111" y="17"/>
                </a:cubicBezTo>
                <a:cubicBezTo>
                  <a:pt x="106" y="22"/>
                  <a:pt x="106" y="22"/>
                  <a:pt x="106" y="22"/>
                </a:cubicBezTo>
                <a:cubicBezTo>
                  <a:pt x="104" y="24"/>
                  <a:pt x="100" y="25"/>
                  <a:pt x="98" y="23"/>
                </a:cubicBezTo>
                <a:cubicBezTo>
                  <a:pt x="88" y="19"/>
                  <a:pt x="88" y="19"/>
                  <a:pt x="88" y="19"/>
                </a:cubicBezTo>
                <a:cubicBezTo>
                  <a:pt x="85" y="18"/>
                  <a:pt x="83" y="15"/>
                  <a:pt x="83" y="12"/>
                </a:cubicBezTo>
                <a:cubicBezTo>
                  <a:pt x="83" y="6"/>
                  <a:pt x="83" y="6"/>
                  <a:pt x="83" y="6"/>
                </a:cubicBezTo>
                <a:cubicBezTo>
                  <a:pt x="83" y="2"/>
                  <a:pt x="81" y="0"/>
                  <a:pt x="78" y="0"/>
                </a:cubicBezTo>
                <a:cubicBezTo>
                  <a:pt x="66" y="0"/>
                  <a:pt x="66" y="0"/>
                  <a:pt x="66" y="0"/>
                </a:cubicBezTo>
                <a:cubicBezTo>
                  <a:pt x="63" y="0"/>
                  <a:pt x="61" y="2"/>
                  <a:pt x="61" y="6"/>
                </a:cubicBezTo>
                <a:cubicBezTo>
                  <a:pt x="61" y="12"/>
                  <a:pt x="61" y="12"/>
                  <a:pt x="61" y="12"/>
                </a:cubicBezTo>
                <a:cubicBezTo>
                  <a:pt x="61" y="15"/>
                  <a:pt x="59" y="18"/>
                  <a:pt x="56" y="19"/>
                </a:cubicBezTo>
                <a:cubicBezTo>
                  <a:pt x="46" y="23"/>
                  <a:pt x="46" y="23"/>
                  <a:pt x="46" y="23"/>
                </a:cubicBezTo>
                <a:cubicBezTo>
                  <a:pt x="44" y="25"/>
                  <a:pt x="40" y="24"/>
                  <a:pt x="38" y="22"/>
                </a:cubicBezTo>
                <a:cubicBezTo>
                  <a:pt x="33" y="17"/>
                  <a:pt x="33" y="17"/>
                  <a:pt x="33" y="17"/>
                </a:cubicBezTo>
                <a:cubicBezTo>
                  <a:pt x="31" y="15"/>
                  <a:pt x="27" y="15"/>
                  <a:pt x="25" y="17"/>
                </a:cubicBezTo>
                <a:cubicBezTo>
                  <a:pt x="17" y="25"/>
                  <a:pt x="17" y="25"/>
                  <a:pt x="17" y="25"/>
                </a:cubicBezTo>
                <a:cubicBezTo>
                  <a:pt x="15" y="27"/>
                  <a:pt x="15" y="31"/>
                  <a:pt x="17" y="33"/>
                </a:cubicBezTo>
                <a:cubicBezTo>
                  <a:pt x="22" y="38"/>
                  <a:pt x="22" y="38"/>
                  <a:pt x="22" y="38"/>
                </a:cubicBezTo>
                <a:cubicBezTo>
                  <a:pt x="24" y="40"/>
                  <a:pt x="25" y="44"/>
                  <a:pt x="23" y="46"/>
                </a:cubicBezTo>
                <a:cubicBezTo>
                  <a:pt x="19" y="56"/>
                  <a:pt x="19" y="56"/>
                  <a:pt x="19" y="56"/>
                </a:cubicBezTo>
                <a:cubicBezTo>
                  <a:pt x="18" y="59"/>
                  <a:pt x="15" y="61"/>
                  <a:pt x="12" y="61"/>
                </a:cubicBezTo>
                <a:cubicBezTo>
                  <a:pt x="6" y="61"/>
                  <a:pt x="6" y="61"/>
                  <a:pt x="6" y="61"/>
                </a:cubicBezTo>
                <a:cubicBezTo>
                  <a:pt x="2" y="61"/>
                  <a:pt x="0" y="63"/>
                  <a:pt x="0" y="66"/>
                </a:cubicBezTo>
                <a:cubicBezTo>
                  <a:pt x="0" y="78"/>
                  <a:pt x="0" y="78"/>
                  <a:pt x="0" y="78"/>
                </a:cubicBezTo>
                <a:cubicBezTo>
                  <a:pt x="0" y="81"/>
                  <a:pt x="2" y="83"/>
                  <a:pt x="6" y="83"/>
                </a:cubicBezTo>
                <a:cubicBezTo>
                  <a:pt x="12" y="83"/>
                  <a:pt x="12" y="83"/>
                  <a:pt x="12" y="83"/>
                </a:cubicBezTo>
                <a:cubicBezTo>
                  <a:pt x="15" y="83"/>
                  <a:pt x="18" y="85"/>
                  <a:pt x="19" y="88"/>
                </a:cubicBezTo>
                <a:cubicBezTo>
                  <a:pt x="23" y="98"/>
                  <a:pt x="23" y="98"/>
                  <a:pt x="23" y="98"/>
                </a:cubicBezTo>
                <a:cubicBezTo>
                  <a:pt x="25" y="100"/>
                  <a:pt x="24" y="104"/>
                  <a:pt x="22" y="106"/>
                </a:cubicBezTo>
                <a:cubicBezTo>
                  <a:pt x="17" y="111"/>
                  <a:pt x="17" y="111"/>
                  <a:pt x="17" y="111"/>
                </a:cubicBezTo>
                <a:cubicBezTo>
                  <a:pt x="15" y="113"/>
                  <a:pt x="15" y="117"/>
                  <a:pt x="17" y="119"/>
                </a:cubicBezTo>
                <a:cubicBezTo>
                  <a:pt x="25" y="127"/>
                  <a:pt x="25" y="127"/>
                  <a:pt x="25" y="127"/>
                </a:cubicBezTo>
                <a:cubicBezTo>
                  <a:pt x="27" y="129"/>
                  <a:pt x="31" y="129"/>
                  <a:pt x="33" y="127"/>
                </a:cubicBezTo>
                <a:cubicBezTo>
                  <a:pt x="38" y="122"/>
                  <a:pt x="38" y="122"/>
                  <a:pt x="38" y="122"/>
                </a:cubicBezTo>
                <a:cubicBezTo>
                  <a:pt x="40" y="120"/>
                  <a:pt x="44" y="119"/>
                  <a:pt x="46" y="121"/>
                </a:cubicBezTo>
                <a:cubicBezTo>
                  <a:pt x="56" y="125"/>
                  <a:pt x="56" y="125"/>
                  <a:pt x="56" y="125"/>
                </a:cubicBezTo>
                <a:cubicBezTo>
                  <a:pt x="59" y="126"/>
                  <a:pt x="61" y="129"/>
                  <a:pt x="61" y="132"/>
                </a:cubicBezTo>
                <a:cubicBezTo>
                  <a:pt x="61" y="138"/>
                  <a:pt x="61" y="138"/>
                  <a:pt x="61" y="138"/>
                </a:cubicBezTo>
                <a:cubicBezTo>
                  <a:pt x="61" y="142"/>
                  <a:pt x="63" y="144"/>
                  <a:pt x="66" y="144"/>
                </a:cubicBezTo>
                <a:cubicBezTo>
                  <a:pt x="78" y="144"/>
                  <a:pt x="78" y="144"/>
                  <a:pt x="78" y="144"/>
                </a:cubicBezTo>
                <a:cubicBezTo>
                  <a:pt x="81" y="144"/>
                  <a:pt x="83" y="142"/>
                  <a:pt x="83" y="138"/>
                </a:cubicBezTo>
                <a:cubicBezTo>
                  <a:pt x="83" y="132"/>
                  <a:pt x="83" y="132"/>
                  <a:pt x="83" y="132"/>
                </a:cubicBezTo>
                <a:cubicBezTo>
                  <a:pt x="83" y="129"/>
                  <a:pt x="85" y="126"/>
                  <a:pt x="88" y="125"/>
                </a:cubicBezTo>
                <a:cubicBezTo>
                  <a:pt x="98" y="121"/>
                  <a:pt x="98" y="121"/>
                  <a:pt x="98" y="121"/>
                </a:cubicBezTo>
                <a:cubicBezTo>
                  <a:pt x="100" y="119"/>
                  <a:pt x="104" y="120"/>
                  <a:pt x="106" y="122"/>
                </a:cubicBezTo>
                <a:cubicBezTo>
                  <a:pt x="111" y="127"/>
                  <a:pt x="111" y="127"/>
                  <a:pt x="111" y="127"/>
                </a:cubicBezTo>
                <a:cubicBezTo>
                  <a:pt x="113" y="129"/>
                  <a:pt x="117" y="129"/>
                  <a:pt x="119" y="127"/>
                </a:cubicBezTo>
                <a:cubicBezTo>
                  <a:pt x="127" y="119"/>
                  <a:pt x="127" y="119"/>
                  <a:pt x="127" y="119"/>
                </a:cubicBezTo>
                <a:cubicBezTo>
                  <a:pt x="129" y="117"/>
                  <a:pt x="129" y="113"/>
                  <a:pt x="127" y="111"/>
                </a:cubicBezTo>
                <a:cubicBezTo>
                  <a:pt x="122" y="106"/>
                  <a:pt x="122" y="106"/>
                  <a:pt x="122" y="106"/>
                </a:cubicBezTo>
                <a:cubicBezTo>
                  <a:pt x="120" y="104"/>
                  <a:pt x="119" y="100"/>
                  <a:pt x="121" y="98"/>
                </a:cubicBezTo>
                <a:cubicBezTo>
                  <a:pt x="125" y="88"/>
                  <a:pt x="125" y="88"/>
                  <a:pt x="125" y="88"/>
                </a:cubicBezTo>
                <a:cubicBezTo>
                  <a:pt x="126" y="85"/>
                  <a:pt x="129" y="83"/>
                  <a:pt x="132" y="83"/>
                </a:cubicBezTo>
                <a:cubicBezTo>
                  <a:pt x="138" y="83"/>
                  <a:pt x="138" y="83"/>
                  <a:pt x="138" y="83"/>
                </a:cubicBezTo>
                <a:cubicBezTo>
                  <a:pt x="142" y="83"/>
                  <a:pt x="144" y="81"/>
                  <a:pt x="144" y="78"/>
                </a:cubicBezTo>
                <a:cubicBezTo>
                  <a:pt x="144" y="66"/>
                  <a:pt x="144" y="66"/>
                  <a:pt x="144" y="66"/>
                </a:cubicBezTo>
                <a:cubicBezTo>
                  <a:pt x="144" y="63"/>
                  <a:pt x="142" y="61"/>
                  <a:pt x="138" y="61"/>
                </a:cubicBezTo>
                <a:moveTo>
                  <a:pt x="100" y="72"/>
                </a:moveTo>
                <a:cubicBezTo>
                  <a:pt x="100" y="87"/>
                  <a:pt x="87" y="100"/>
                  <a:pt x="72" y="100"/>
                </a:cubicBezTo>
                <a:cubicBezTo>
                  <a:pt x="57" y="100"/>
                  <a:pt x="44" y="87"/>
                  <a:pt x="44" y="72"/>
                </a:cubicBezTo>
                <a:cubicBezTo>
                  <a:pt x="44" y="57"/>
                  <a:pt x="57" y="44"/>
                  <a:pt x="72" y="44"/>
                </a:cubicBezTo>
                <a:cubicBezTo>
                  <a:pt x="87" y="44"/>
                  <a:pt x="100" y="57"/>
                  <a:pt x="100" y="72"/>
                </a:cubicBezTo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9" name="TextBox 8"/>
          <p:cNvSpPr txBox="1"/>
          <p:nvPr/>
        </p:nvSpPr>
        <p:spPr>
          <a:xfrm>
            <a:off x="1029653" y="1383608"/>
            <a:ext cx="291188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 smtClean="0">
                <a:latin typeface="微软雅黑" pitchFamily="34" charset="-122"/>
                <a:ea typeface="微软雅黑" pitchFamily="34" charset="-122"/>
              </a:rPr>
              <a:t>触发条件：</a:t>
            </a:r>
            <a:endParaRPr lang="en-US" altLang="zh-CN" b="1" dirty="0" smtClean="0">
              <a:latin typeface="微软雅黑" pitchFamily="34" charset="-122"/>
              <a:ea typeface="微软雅黑" pitchFamily="34" charset="-122"/>
            </a:endParaRPr>
          </a:p>
          <a:p>
            <a:pPr marL="285750" indent="-285750">
              <a:buFont typeface="Wingdings" pitchFamily="2" charset="2"/>
              <a:buChar char="ü"/>
            </a:pPr>
            <a:r>
              <a:rPr lang="en-US" altLang="zh-CN" dirty="0" err="1" smtClean="0">
                <a:latin typeface="微软雅黑" pitchFamily="34" charset="-122"/>
                <a:ea typeface="微软雅黑" pitchFamily="34" charset="-122"/>
              </a:rPr>
              <a:t>appendfsync</a:t>
            </a:r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always</a:t>
            </a:r>
          </a:p>
          <a:p>
            <a:pPr marL="285750" indent="-285750">
              <a:buFont typeface="Wingdings" pitchFamily="2" charset="2"/>
              <a:buChar char="ü"/>
            </a:pPr>
            <a:r>
              <a:rPr lang="en-US" altLang="zh-CN" dirty="0" err="1">
                <a:latin typeface="微软雅黑" pitchFamily="34" charset="-122"/>
                <a:ea typeface="微软雅黑" pitchFamily="34" charset="-122"/>
              </a:rPr>
              <a:t>appendfsync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dirty="0" err="1">
                <a:latin typeface="微软雅黑" pitchFamily="34" charset="-122"/>
                <a:ea typeface="微软雅黑" pitchFamily="34" charset="-122"/>
              </a:rPr>
              <a:t>everysec</a:t>
            </a:r>
            <a:endParaRPr lang="en-US" altLang="zh-CN" dirty="0">
              <a:latin typeface="微软雅黑" pitchFamily="34" charset="-122"/>
              <a:ea typeface="微软雅黑" pitchFamily="34" charset="-122"/>
            </a:endParaRPr>
          </a:p>
          <a:p>
            <a:pPr marL="285750" indent="-285750">
              <a:buFont typeface="Wingdings" pitchFamily="2" charset="2"/>
              <a:buChar char="ü"/>
            </a:pPr>
            <a:r>
              <a:rPr lang="en-US" altLang="zh-CN" dirty="0" err="1" smtClean="0">
                <a:latin typeface="微软雅黑" pitchFamily="34" charset="-122"/>
                <a:ea typeface="微软雅黑" pitchFamily="34" charset="-122"/>
              </a:rPr>
              <a:t>appendfsync</a:t>
            </a:r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no</a:t>
            </a:r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29653" y="2616063"/>
            <a:ext cx="5208798" cy="36317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altLang="zh-CN" b="1" dirty="0" smtClean="0">
              <a:latin typeface="微软雅黑" pitchFamily="34" charset="-122"/>
              <a:ea typeface="微软雅黑" pitchFamily="34" charset="-122"/>
            </a:endParaRPr>
          </a:p>
          <a:p>
            <a:r>
              <a:rPr lang="zh-CN" altLang="en-US" b="1" dirty="0" smtClean="0">
                <a:latin typeface="微软雅黑" pitchFamily="34" charset="-122"/>
                <a:ea typeface="微软雅黑" pitchFamily="34" charset="-122"/>
              </a:rPr>
              <a:t>优点：</a:t>
            </a:r>
            <a:endParaRPr lang="en-US" altLang="zh-CN" dirty="0" smtClean="0"/>
          </a:p>
          <a:p>
            <a:pPr marL="285750" indent="-285750">
              <a:buFont typeface="Wingdings" pitchFamily="2" charset="2"/>
              <a:buChar char="ü"/>
            </a:pPr>
            <a:r>
              <a:rPr lang="zh-CN" altLang="en-US" sz="1600" dirty="0" smtClean="0">
                <a:latin typeface="微软雅黑" pitchFamily="34" charset="-122"/>
                <a:ea typeface="微软雅黑" pitchFamily="34" charset="-122"/>
              </a:rPr>
              <a:t>非常适用于备份，全量复制等场景</a:t>
            </a:r>
            <a:endParaRPr lang="en-US" altLang="zh-CN" sz="1600" dirty="0">
              <a:latin typeface="微软雅黑" pitchFamily="34" charset="-122"/>
              <a:ea typeface="微软雅黑" pitchFamily="34" charset="-122"/>
            </a:endParaRPr>
          </a:p>
          <a:p>
            <a:pPr marL="285750" indent="-285750">
              <a:buFont typeface="Wingdings" pitchFamily="2" charset="2"/>
              <a:buChar char="ü"/>
            </a:pPr>
            <a:r>
              <a:rPr lang="zh-CN" altLang="en-US" sz="1600" dirty="0">
                <a:latin typeface="微软雅黑" pitchFamily="34" charset="-122"/>
                <a:ea typeface="微软雅黑" pitchFamily="34" charset="-122"/>
              </a:rPr>
              <a:t>纯</a:t>
            </a:r>
            <a:r>
              <a:rPr lang="zh-CN" altLang="en-US" sz="1600" dirty="0" smtClean="0">
                <a:latin typeface="微软雅黑" pitchFamily="34" charset="-122"/>
                <a:ea typeface="微软雅黑" pitchFamily="34" charset="-122"/>
              </a:rPr>
              <a:t>文本模式，可读性好</a:t>
            </a:r>
            <a:endParaRPr lang="en-US" altLang="zh-CN" sz="1600" dirty="0" smtClean="0"/>
          </a:p>
          <a:p>
            <a:endParaRPr lang="en-US" altLang="zh-CN" sz="1600" b="1" dirty="0" smtClean="0">
              <a:latin typeface="微软雅黑" pitchFamily="34" charset="-122"/>
              <a:ea typeface="微软雅黑" pitchFamily="34" charset="-122"/>
            </a:endParaRPr>
          </a:p>
          <a:p>
            <a:r>
              <a:rPr lang="zh-CN" altLang="en-US" sz="1600" b="1" dirty="0" smtClean="0">
                <a:latin typeface="微软雅黑" pitchFamily="34" charset="-122"/>
                <a:ea typeface="微软雅黑" pitchFamily="34" charset="-122"/>
              </a:rPr>
              <a:t>缺点：</a:t>
            </a:r>
            <a:endParaRPr lang="en-US" altLang="zh-CN" sz="1600" b="1" dirty="0" smtClean="0">
              <a:latin typeface="微软雅黑" pitchFamily="34" charset="-122"/>
              <a:ea typeface="微软雅黑" pitchFamily="34" charset="-122"/>
            </a:endParaRPr>
          </a:p>
          <a:p>
            <a:pPr marL="285750" indent="-285750">
              <a:buFont typeface="Wingdings" pitchFamily="2" charset="2"/>
              <a:buChar char="ü"/>
            </a:pPr>
            <a:r>
              <a:rPr lang="zh-CN" altLang="en-US" sz="1600" dirty="0" smtClean="0">
                <a:latin typeface="微软雅黑" pitchFamily="34" charset="-122"/>
                <a:ea typeface="微软雅黑" pitchFamily="34" charset="-122"/>
              </a:rPr>
              <a:t>相同内容，</a:t>
            </a:r>
            <a:r>
              <a:rPr lang="en-US" altLang="zh-CN" sz="1600" dirty="0" smtClean="0">
                <a:latin typeface="微软雅黑" pitchFamily="34" charset="-122"/>
                <a:ea typeface="微软雅黑" pitchFamily="34" charset="-122"/>
              </a:rPr>
              <a:t>AOF</a:t>
            </a:r>
            <a:r>
              <a:rPr lang="zh-CN" altLang="en-US" sz="1600" dirty="0" smtClean="0">
                <a:latin typeface="微软雅黑" pitchFamily="34" charset="-122"/>
                <a:ea typeface="微软雅黑" pitchFamily="34" charset="-122"/>
              </a:rPr>
              <a:t>文件比</a:t>
            </a:r>
            <a:r>
              <a:rPr lang="en-US" altLang="zh-CN" sz="1600" dirty="0" smtClean="0">
                <a:latin typeface="微软雅黑" pitchFamily="34" charset="-122"/>
                <a:ea typeface="微软雅黑" pitchFamily="34" charset="-122"/>
              </a:rPr>
              <a:t>RDB</a:t>
            </a:r>
            <a:r>
              <a:rPr lang="zh-CN" altLang="en-US" sz="1600" dirty="0" smtClean="0">
                <a:latin typeface="微软雅黑" pitchFamily="34" charset="-122"/>
                <a:ea typeface="微软雅黑" pitchFamily="34" charset="-122"/>
              </a:rPr>
              <a:t>文件要大</a:t>
            </a:r>
            <a:endParaRPr lang="en-US" altLang="zh-CN" sz="1600" dirty="0" smtClean="0">
              <a:latin typeface="微软雅黑" pitchFamily="34" charset="-122"/>
              <a:ea typeface="微软雅黑" pitchFamily="34" charset="-122"/>
            </a:endParaRPr>
          </a:p>
          <a:p>
            <a:pPr marL="285750" indent="-285750">
              <a:buFont typeface="Wingdings" pitchFamily="2" charset="2"/>
              <a:buChar char="ü"/>
            </a:pPr>
            <a:r>
              <a:rPr lang="en-US" altLang="zh-CN" sz="1600" dirty="0" smtClean="0">
                <a:latin typeface="微软雅黑" pitchFamily="34" charset="-122"/>
                <a:ea typeface="微软雅黑" pitchFamily="34" charset="-122"/>
              </a:rPr>
              <a:t>AOF</a:t>
            </a:r>
            <a:r>
              <a:rPr lang="zh-CN" altLang="en-US" sz="1600" dirty="0" smtClean="0">
                <a:latin typeface="微软雅黑" pitchFamily="34" charset="-122"/>
                <a:ea typeface="微软雅黑" pitchFamily="34" charset="-122"/>
              </a:rPr>
              <a:t>开启后支持写的</a:t>
            </a:r>
            <a:r>
              <a:rPr lang="en-US" altLang="zh-CN" sz="1600" dirty="0" smtClean="0">
                <a:latin typeface="微软雅黑" pitchFamily="34" charset="-122"/>
                <a:ea typeface="微软雅黑" pitchFamily="34" charset="-122"/>
              </a:rPr>
              <a:t>QPS</a:t>
            </a:r>
            <a:r>
              <a:rPr lang="zh-CN" altLang="en-US" sz="1600" dirty="0" smtClean="0">
                <a:latin typeface="微软雅黑" pitchFamily="34" charset="-122"/>
                <a:ea typeface="微软雅黑" pitchFamily="34" charset="-122"/>
              </a:rPr>
              <a:t>会比</a:t>
            </a:r>
            <a:r>
              <a:rPr lang="en-US" altLang="zh-CN" sz="1600" dirty="0" smtClean="0">
                <a:latin typeface="微软雅黑" pitchFamily="34" charset="-122"/>
                <a:ea typeface="微软雅黑" pitchFamily="34" charset="-122"/>
              </a:rPr>
              <a:t>RDB</a:t>
            </a:r>
            <a:r>
              <a:rPr lang="zh-CN" altLang="en-US" sz="1600" dirty="0" smtClean="0">
                <a:latin typeface="微软雅黑" pitchFamily="34" charset="-122"/>
                <a:ea typeface="微软雅黑" pitchFamily="34" charset="-122"/>
              </a:rPr>
              <a:t>支持的写的</a:t>
            </a:r>
            <a:r>
              <a:rPr lang="en-US" altLang="zh-CN" sz="1600" dirty="0" smtClean="0">
                <a:latin typeface="微软雅黑" pitchFamily="34" charset="-122"/>
                <a:ea typeface="微软雅黑" pitchFamily="34" charset="-122"/>
              </a:rPr>
              <a:t>QPS</a:t>
            </a:r>
            <a:r>
              <a:rPr lang="zh-CN" altLang="en-US" sz="1600" dirty="0" smtClean="0">
                <a:latin typeface="微软雅黑" pitchFamily="34" charset="-122"/>
                <a:ea typeface="微软雅黑" pitchFamily="34" charset="-122"/>
              </a:rPr>
              <a:t>低</a:t>
            </a:r>
            <a:endParaRPr lang="en-US" altLang="zh-CN" sz="1600" dirty="0" smtClean="0">
              <a:latin typeface="微软雅黑" pitchFamily="34" charset="-122"/>
              <a:ea typeface="微软雅黑" pitchFamily="34" charset="-122"/>
            </a:endParaRPr>
          </a:p>
          <a:p>
            <a:pPr marL="285750" indent="-285750">
              <a:buFont typeface="Wingdings" pitchFamily="2" charset="2"/>
              <a:buChar char="ü"/>
            </a:pPr>
            <a:r>
              <a:rPr lang="zh-CN" altLang="en-US" sz="1600" dirty="0" smtClean="0">
                <a:latin typeface="微软雅黑" pitchFamily="34" charset="-122"/>
                <a:ea typeface="微软雅黑" pitchFamily="34" charset="-122"/>
              </a:rPr>
              <a:t>数据恢复比较慢，不适合做冷备</a:t>
            </a:r>
            <a:endParaRPr lang="en-US" altLang="zh-CN" sz="1600" dirty="0" smtClean="0">
              <a:latin typeface="微软雅黑" pitchFamily="34" charset="-122"/>
              <a:ea typeface="微软雅黑" pitchFamily="34" charset="-122"/>
            </a:endParaRPr>
          </a:p>
          <a:p>
            <a:pPr marL="285750" indent="-285750">
              <a:buFont typeface="Wingdings" pitchFamily="2" charset="2"/>
              <a:buChar char="ü"/>
            </a:pPr>
            <a:endParaRPr lang="en-US" altLang="zh-CN" sz="1600" dirty="0">
              <a:latin typeface="微软雅黑" pitchFamily="34" charset="-122"/>
              <a:ea typeface="微软雅黑" pitchFamily="34" charset="-122"/>
            </a:endParaRPr>
          </a:p>
          <a:p>
            <a:pPr marL="285750" indent="-285750">
              <a:buFont typeface="Wingdings" pitchFamily="2" charset="2"/>
              <a:buChar char="ü"/>
            </a:pPr>
            <a:endParaRPr lang="en-US" altLang="zh-CN" sz="1600" dirty="0" smtClean="0">
              <a:latin typeface="微软雅黑" pitchFamily="34" charset="-122"/>
              <a:ea typeface="微软雅黑" pitchFamily="34" charset="-122"/>
            </a:endParaRPr>
          </a:p>
          <a:p>
            <a:r>
              <a:rPr lang="zh-CN" altLang="en-US" sz="1600" dirty="0" smtClean="0">
                <a:latin typeface="微软雅黑" pitchFamily="34" charset="-122"/>
                <a:ea typeface="微软雅黑" pitchFamily="34" charset="-122"/>
              </a:rPr>
              <a:t>注：如果</a:t>
            </a:r>
            <a:r>
              <a:rPr lang="en-US" altLang="zh-CN" sz="1600" dirty="0" smtClean="0">
                <a:latin typeface="微软雅黑" pitchFamily="34" charset="-122"/>
                <a:ea typeface="微软雅黑" pitchFamily="34" charset="-122"/>
              </a:rPr>
              <a:t>RDB</a:t>
            </a:r>
            <a:r>
              <a:rPr lang="zh-CN" altLang="en-US" sz="1600" dirty="0" smtClean="0">
                <a:latin typeface="微软雅黑" pitchFamily="34" charset="-122"/>
                <a:ea typeface="微软雅黑" pitchFamily="34" charset="-122"/>
              </a:rPr>
              <a:t>和</a:t>
            </a:r>
            <a:r>
              <a:rPr lang="en-US" altLang="zh-CN" sz="1600" dirty="0" smtClean="0">
                <a:latin typeface="微软雅黑" pitchFamily="34" charset="-122"/>
                <a:ea typeface="微软雅黑" pitchFamily="34" charset="-122"/>
              </a:rPr>
              <a:t>AOF</a:t>
            </a:r>
            <a:r>
              <a:rPr lang="zh-CN" altLang="en-US" sz="1600" dirty="0" smtClean="0">
                <a:latin typeface="微软雅黑" pitchFamily="34" charset="-122"/>
                <a:ea typeface="微软雅黑" pitchFamily="34" charset="-122"/>
              </a:rPr>
              <a:t>同时开启，优先加载</a:t>
            </a:r>
            <a:r>
              <a:rPr lang="en-US" altLang="zh-CN" sz="1600" dirty="0" smtClean="0">
                <a:latin typeface="微软雅黑" pitchFamily="34" charset="-122"/>
                <a:ea typeface="微软雅黑" pitchFamily="34" charset="-122"/>
              </a:rPr>
              <a:t>AOF</a:t>
            </a:r>
          </a:p>
          <a:p>
            <a:endParaRPr lang="en-US" altLang="zh-CN" sz="1600" dirty="0" smtClean="0"/>
          </a:p>
          <a:p>
            <a:endParaRPr lang="zh-CN" altLang="en-US" dirty="0"/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28841" y="0"/>
            <a:ext cx="2763159" cy="10567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12586454"/>
      </p:ext>
    </p:extLst>
  </p:cSld>
  <p:clrMapOvr>
    <a:masterClrMapping/>
  </p:clrMapOvr>
  <p:transition spd="slow" advClick="0" advTm="0">
    <p:push dir="u"/>
  </p:transition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8" presetClass="entr" presetSubtype="16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0" dur="2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8" presetClass="entr" presetSubtype="16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3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6" dur="2000"/>
                                        <p:tgtEl>
                                          <p:spTgt spid="3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1" grpId="0"/>
      <p:bldP spid="41" grpId="1"/>
      <p:bldP spid="10" grpId="0"/>
      <p:bldP spid="10" grpId="1"/>
      <p:bldP spid="37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029653" y="397510"/>
            <a:ext cx="153439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zh-CN" altLang="en-US" b="1" dirty="0" smtClean="0">
                <a:solidFill>
                  <a:srgbClr val="304371"/>
                </a:solidFill>
                <a:latin typeface="微软雅黑" panose="020B0503020204020204" charset="-122"/>
                <a:ea typeface="微软雅黑" panose="020B0503020204020204" charset="-122"/>
                <a:cs typeface="Arial Unicode MS" panose="020B0604020202020204" charset="-122"/>
                <a:sym typeface="+mn-ea"/>
              </a:rPr>
              <a:t>一主</a:t>
            </a:r>
            <a:r>
              <a:rPr lang="en-US" altLang="zh-CN" b="1" dirty="0" smtClean="0">
                <a:solidFill>
                  <a:srgbClr val="304371"/>
                </a:solidFill>
                <a:latin typeface="微软雅黑" panose="020B0503020204020204" charset="-122"/>
                <a:ea typeface="微软雅黑" panose="020B0503020204020204" charset="-122"/>
                <a:cs typeface="Arial Unicode MS" panose="020B0604020202020204" charset="-122"/>
                <a:sym typeface="+mn-ea"/>
              </a:rPr>
              <a:t>N</a:t>
            </a:r>
            <a:r>
              <a:rPr lang="zh-CN" altLang="en-US" b="1" dirty="0" smtClean="0">
                <a:solidFill>
                  <a:srgbClr val="304371"/>
                </a:solidFill>
                <a:latin typeface="微软雅黑" panose="020B0503020204020204" charset="-122"/>
                <a:ea typeface="微软雅黑" panose="020B0503020204020204" charset="-122"/>
                <a:cs typeface="Arial Unicode MS" panose="020B0604020202020204" charset="-122"/>
                <a:sym typeface="+mn-ea"/>
              </a:rPr>
              <a:t>从模式</a:t>
            </a:r>
            <a:endParaRPr lang="en-US" altLang="zh-CN" b="1" dirty="0" smtClean="0">
              <a:solidFill>
                <a:srgbClr val="304371"/>
              </a:solidFill>
              <a:latin typeface="微软雅黑" panose="020B0503020204020204" charset="-122"/>
              <a:ea typeface="微软雅黑" panose="020B0503020204020204" charset="-122"/>
              <a:cs typeface="Arial Unicode MS" panose="020B0604020202020204" charset="-122"/>
              <a:sym typeface="+mn-ea"/>
            </a:endParaRPr>
          </a:p>
        </p:txBody>
      </p:sp>
      <p:sp>
        <p:nvSpPr>
          <p:cNvPr id="3" name="圆角矩形 2"/>
          <p:cNvSpPr/>
          <p:nvPr/>
        </p:nvSpPr>
        <p:spPr>
          <a:xfrm>
            <a:off x="3907051" y="2100044"/>
            <a:ext cx="1237129" cy="458418"/>
          </a:xfrm>
          <a:prstGeom prst="roundRect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master</a:t>
            </a:r>
            <a:endParaRPr lang="zh-CN" altLang="en-US" dirty="0"/>
          </a:p>
        </p:txBody>
      </p:sp>
      <p:sp>
        <p:nvSpPr>
          <p:cNvPr id="14" name="圆角矩形 13"/>
          <p:cNvSpPr/>
          <p:nvPr/>
        </p:nvSpPr>
        <p:spPr>
          <a:xfrm>
            <a:off x="6227298" y="2100044"/>
            <a:ext cx="1237129" cy="458418"/>
          </a:xfrm>
          <a:prstGeom prst="roundRect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slave</a:t>
            </a:r>
            <a:endParaRPr lang="zh-CN" altLang="en-US" dirty="0"/>
          </a:p>
        </p:txBody>
      </p:sp>
      <p:cxnSp>
        <p:nvCxnSpPr>
          <p:cNvPr id="7" name="直接箭头连接符 6"/>
          <p:cNvCxnSpPr>
            <a:stCxn id="3" idx="3"/>
            <a:endCxn id="14" idx="1"/>
          </p:cNvCxnSpPr>
          <p:nvPr/>
        </p:nvCxnSpPr>
        <p:spPr>
          <a:xfrm>
            <a:off x="5144180" y="2329253"/>
            <a:ext cx="1083118" cy="0"/>
          </a:xfrm>
          <a:prstGeom prst="straightConnector1">
            <a:avLst/>
          </a:prstGeom>
          <a:ln w="28575">
            <a:solidFill>
              <a:schemeClr val="tx2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5056761" y="2750436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 smtClean="0">
                <a:solidFill>
                  <a:schemeClr val="tx2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</a:rPr>
              <a:t>一主一从</a:t>
            </a:r>
            <a:endParaRPr lang="zh-CN" altLang="en-US" b="1" dirty="0">
              <a:solidFill>
                <a:schemeClr val="tx2">
                  <a:lumMod val="7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7" name="TextBox 76"/>
          <p:cNvSpPr txBox="1"/>
          <p:nvPr/>
        </p:nvSpPr>
        <p:spPr>
          <a:xfrm>
            <a:off x="5362573" y="1915378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>
                <a:solidFill>
                  <a:schemeClr val="tx2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</a:rPr>
              <a:t>复制</a:t>
            </a:r>
            <a:endParaRPr lang="zh-CN" altLang="en-US" dirty="0">
              <a:solidFill>
                <a:schemeClr val="tx2">
                  <a:lumMod val="7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" name="乘号 7"/>
          <p:cNvSpPr/>
          <p:nvPr/>
        </p:nvSpPr>
        <p:spPr>
          <a:xfrm>
            <a:off x="3925300" y="1127175"/>
            <a:ext cx="914400" cy="914400"/>
          </a:xfrm>
          <a:prstGeom prst="mathMultiply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TextBox 8"/>
          <p:cNvSpPr txBox="1"/>
          <p:nvPr/>
        </p:nvSpPr>
        <p:spPr>
          <a:xfrm>
            <a:off x="4839700" y="1441248"/>
            <a:ext cx="14026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m</a:t>
            </a:r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aster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宕机</a:t>
            </a:r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907051" y="3648334"/>
            <a:ext cx="398564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ü"/>
            </a:pPr>
            <a:r>
              <a:rPr lang="en-US" altLang="zh-CN" dirty="0"/>
              <a:t>s</a:t>
            </a:r>
            <a:r>
              <a:rPr lang="en-US" altLang="zh-CN" dirty="0" smtClean="0"/>
              <a:t>lave</a:t>
            </a:r>
            <a:r>
              <a:rPr lang="zh-CN" altLang="en-US" dirty="0" smtClean="0"/>
              <a:t>执行</a:t>
            </a:r>
            <a:r>
              <a:rPr lang="en-US" altLang="zh-CN" dirty="0" smtClean="0"/>
              <a:t>slaveof no one</a:t>
            </a:r>
          </a:p>
          <a:p>
            <a:pPr marL="285750" indent="-285750">
              <a:buFont typeface="Wingdings" pitchFamily="2" charset="2"/>
              <a:buChar char="ü"/>
            </a:pPr>
            <a:r>
              <a:rPr lang="zh-CN" altLang="en-US" dirty="0" smtClean="0"/>
              <a:t>客户端修改连接地址</a:t>
            </a:r>
            <a:endParaRPr lang="en-US" altLang="zh-CN" dirty="0" smtClean="0"/>
          </a:p>
          <a:p>
            <a:pPr marL="285750" indent="-285750">
              <a:buFont typeface="Wingdings" pitchFamily="2" charset="2"/>
              <a:buChar char="ü"/>
            </a:pPr>
            <a:r>
              <a:rPr lang="zh-CN" altLang="en-US" dirty="0"/>
              <a:t>重</a:t>
            </a:r>
            <a:r>
              <a:rPr lang="zh-CN" altLang="en-US" dirty="0" smtClean="0"/>
              <a:t>启</a:t>
            </a:r>
            <a:r>
              <a:rPr lang="en-US" altLang="zh-CN" dirty="0" smtClean="0"/>
              <a:t>old master</a:t>
            </a:r>
            <a:r>
              <a:rPr lang="zh-CN" altLang="en-US" dirty="0" smtClean="0"/>
              <a:t>并</a:t>
            </a:r>
            <a:r>
              <a:rPr lang="en-US" altLang="zh-CN" dirty="0" smtClean="0"/>
              <a:t>slaveof new master</a:t>
            </a:r>
            <a:endParaRPr lang="zh-CN" altLang="en-US" dirty="0"/>
          </a:p>
        </p:txBody>
      </p:sp>
      <p:pic>
        <p:nvPicPr>
          <p:cNvPr id="11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28841" y="0"/>
            <a:ext cx="2763159" cy="10567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28557922"/>
      </p:ext>
    </p:extLst>
  </p:cSld>
  <p:clrMapOvr>
    <a:masterClrMapping/>
  </p:clrMapOvr>
  <p:transition spd="slow" advClick="0" advTm="0">
    <p:push dir="u"/>
  </p:transition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029653" y="397510"/>
            <a:ext cx="153439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zh-CN" altLang="en-US" b="1" dirty="0" smtClean="0">
                <a:solidFill>
                  <a:srgbClr val="304371"/>
                </a:solidFill>
                <a:latin typeface="微软雅黑" panose="020B0503020204020204" charset="-122"/>
                <a:ea typeface="微软雅黑" panose="020B0503020204020204" charset="-122"/>
                <a:cs typeface="Arial Unicode MS" panose="020B0604020202020204" charset="-122"/>
                <a:sym typeface="+mn-ea"/>
              </a:rPr>
              <a:t>一主</a:t>
            </a:r>
            <a:r>
              <a:rPr lang="en-US" altLang="zh-CN" b="1" dirty="0" smtClean="0">
                <a:solidFill>
                  <a:srgbClr val="304371"/>
                </a:solidFill>
                <a:latin typeface="微软雅黑" panose="020B0503020204020204" charset="-122"/>
                <a:ea typeface="微软雅黑" panose="020B0503020204020204" charset="-122"/>
                <a:cs typeface="Arial Unicode MS" panose="020B0604020202020204" charset="-122"/>
                <a:sym typeface="+mn-ea"/>
              </a:rPr>
              <a:t>N</a:t>
            </a:r>
            <a:r>
              <a:rPr lang="zh-CN" altLang="en-US" b="1" dirty="0" smtClean="0">
                <a:solidFill>
                  <a:srgbClr val="304371"/>
                </a:solidFill>
                <a:latin typeface="微软雅黑" panose="020B0503020204020204" charset="-122"/>
                <a:ea typeface="微软雅黑" panose="020B0503020204020204" charset="-122"/>
                <a:cs typeface="Arial Unicode MS" panose="020B0604020202020204" charset="-122"/>
                <a:sym typeface="+mn-ea"/>
              </a:rPr>
              <a:t>从模式</a:t>
            </a:r>
            <a:endParaRPr lang="en-US" altLang="zh-CN" b="1" dirty="0" smtClean="0">
              <a:solidFill>
                <a:srgbClr val="304371"/>
              </a:solidFill>
              <a:latin typeface="微软雅黑" panose="020B0503020204020204" charset="-122"/>
              <a:ea typeface="微软雅黑" panose="020B0503020204020204" charset="-122"/>
              <a:cs typeface="Arial Unicode MS" panose="020B0604020202020204" charset="-122"/>
              <a:sym typeface="+mn-ea"/>
            </a:endParaRPr>
          </a:p>
        </p:txBody>
      </p:sp>
      <p:sp>
        <p:nvSpPr>
          <p:cNvPr id="22" name="圆角矩形 21"/>
          <p:cNvSpPr/>
          <p:nvPr/>
        </p:nvSpPr>
        <p:spPr>
          <a:xfrm>
            <a:off x="2610984" y="1924627"/>
            <a:ext cx="1237129" cy="458418"/>
          </a:xfrm>
          <a:prstGeom prst="roundRect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master</a:t>
            </a:r>
            <a:endParaRPr lang="zh-CN" altLang="en-US" dirty="0"/>
          </a:p>
        </p:txBody>
      </p:sp>
      <p:sp>
        <p:nvSpPr>
          <p:cNvPr id="23" name="圆角矩形 22"/>
          <p:cNvSpPr/>
          <p:nvPr/>
        </p:nvSpPr>
        <p:spPr>
          <a:xfrm>
            <a:off x="4169252" y="3801664"/>
            <a:ext cx="1237129" cy="458418"/>
          </a:xfrm>
          <a:prstGeom prst="roundRect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slave3</a:t>
            </a:r>
            <a:endParaRPr lang="zh-CN" altLang="en-US" dirty="0"/>
          </a:p>
        </p:txBody>
      </p:sp>
      <p:sp>
        <p:nvSpPr>
          <p:cNvPr id="24" name="圆角矩形 23"/>
          <p:cNvSpPr/>
          <p:nvPr/>
        </p:nvSpPr>
        <p:spPr>
          <a:xfrm>
            <a:off x="2608960" y="3801664"/>
            <a:ext cx="1237129" cy="458418"/>
          </a:xfrm>
          <a:prstGeom prst="roundRect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slave2</a:t>
            </a:r>
            <a:endParaRPr lang="zh-CN" altLang="en-US" dirty="0"/>
          </a:p>
        </p:txBody>
      </p:sp>
      <p:sp>
        <p:nvSpPr>
          <p:cNvPr id="25" name="圆角矩形 24"/>
          <p:cNvSpPr/>
          <p:nvPr/>
        </p:nvSpPr>
        <p:spPr>
          <a:xfrm>
            <a:off x="1136957" y="3801664"/>
            <a:ext cx="1237129" cy="458418"/>
          </a:xfrm>
          <a:prstGeom prst="roundRect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slave1</a:t>
            </a:r>
            <a:endParaRPr lang="zh-CN" altLang="en-US" dirty="0"/>
          </a:p>
        </p:txBody>
      </p:sp>
      <p:cxnSp>
        <p:nvCxnSpPr>
          <p:cNvPr id="26" name="直接箭头连接符 25"/>
          <p:cNvCxnSpPr/>
          <p:nvPr/>
        </p:nvCxnSpPr>
        <p:spPr>
          <a:xfrm flipH="1">
            <a:off x="1755522" y="2383044"/>
            <a:ext cx="1474027" cy="1418619"/>
          </a:xfrm>
          <a:prstGeom prst="straightConnector1">
            <a:avLst/>
          </a:prstGeom>
          <a:ln w="28575">
            <a:solidFill>
              <a:schemeClr val="tx2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箭头连接符 28"/>
          <p:cNvCxnSpPr>
            <a:stCxn id="22" idx="2"/>
            <a:endCxn id="24" idx="0"/>
          </p:cNvCxnSpPr>
          <p:nvPr/>
        </p:nvCxnSpPr>
        <p:spPr>
          <a:xfrm flipH="1">
            <a:off x="3227525" y="2383045"/>
            <a:ext cx="2024" cy="1418619"/>
          </a:xfrm>
          <a:prstGeom prst="straightConnector1">
            <a:avLst/>
          </a:prstGeom>
          <a:ln w="28575">
            <a:solidFill>
              <a:schemeClr val="tx2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箭头连接符 31"/>
          <p:cNvCxnSpPr>
            <a:stCxn id="22" idx="2"/>
            <a:endCxn id="23" idx="0"/>
          </p:cNvCxnSpPr>
          <p:nvPr/>
        </p:nvCxnSpPr>
        <p:spPr>
          <a:xfrm>
            <a:off x="3229549" y="2383045"/>
            <a:ext cx="1558268" cy="1418619"/>
          </a:xfrm>
          <a:prstGeom prst="straightConnector1">
            <a:avLst/>
          </a:prstGeom>
          <a:ln w="28575">
            <a:solidFill>
              <a:schemeClr val="tx2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圆角矩形 33"/>
          <p:cNvSpPr/>
          <p:nvPr/>
        </p:nvSpPr>
        <p:spPr>
          <a:xfrm>
            <a:off x="8740452" y="1924627"/>
            <a:ext cx="1237129" cy="458418"/>
          </a:xfrm>
          <a:prstGeom prst="roundRect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master</a:t>
            </a:r>
            <a:endParaRPr lang="zh-CN" altLang="en-US" dirty="0"/>
          </a:p>
        </p:txBody>
      </p:sp>
      <p:sp>
        <p:nvSpPr>
          <p:cNvPr id="35" name="圆角矩形 34"/>
          <p:cNvSpPr/>
          <p:nvPr/>
        </p:nvSpPr>
        <p:spPr>
          <a:xfrm>
            <a:off x="9835007" y="3801664"/>
            <a:ext cx="1237129" cy="458418"/>
          </a:xfrm>
          <a:prstGeom prst="roundRect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slave3</a:t>
            </a:r>
            <a:endParaRPr lang="zh-CN" altLang="en-US" dirty="0"/>
          </a:p>
        </p:txBody>
      </p:sp>
      <p:sp>
        <p:nvSpPr>
          <p:cNvPr id="36" name="圆角矩形 35"/>
          <p:cNvSpPr/>
          <p:nvPr/>
        </p:nvSpPr>
        <p:spPr>
          <a:xfrm>
            <a:off x="8737154" y="2876252"/>
            <a:ext cx="1237129" cy="458418"/>
          </a:xfrm>
          <a:prstGeom prst="roundRect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slave1</a:t>
            </a:r>
            <a:endParaRPr lang="zh-CN" altLang="en-US" dirty="0"/>
          </a:p>
        </p:txBody>
      </p:sp>
      <p:sp>
        <p:nvSpPr>
          <p:cNvPr id="37" name="圆角矩形 36"/>
          <p:cNvSpPr/>
          <p:nvPr/>
        </p:nvSpPr>
        <p:spPr>
          <a:xfrm>
            <a:off x="7721491" y="3801664"/>
            <a:ext cx="1237129" cy="458418"/>
          </a:xfrm>
          <a:prstGeom prst="roundRect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slave2</a:t>
            </a:r>
            <a:endParaRPr lang="zh-CN" altLang="en-US" dirty="0"/>
          </a:p>
        </p:txBody>
      </p:sp>
      <p:cxnSp>
        <p:nvCxnSpPr>
          <p:cNvPr id="38" name="直接箭头连接符 37"/>
          <p:cNvCxnSpPr>
            <a:stCxn id="36" idx="2"/>
            <a:endCxn id="37" idx="0"/>
          </p:cNvCxnSpPr>
          <p:nvPr/>
        </p:nvCxnSpPr>
        <p:spPr>
          <a:xfrm flipH="1">
            <a:off x="8340056" y="3334670"/>
            <a:ext cx="1015663" cy="466994"/>
          </a:xfrm>
          <a:prstGeom prst="straightConnector1">
            <a:avLst/>
          </a:prstGeom>
          <a:ln w="28575">
            <a:solidFill>
              <a:schemeClr val="tx2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箭头连接符 38"/>
          <p:cNvCxnSpPr>
            <a:stCxn id="34" idx="2"/>
            <a:endCxn id="36" idx="0"/>
          </p:cNvCxnSpPr>
          <p:nvPr/>
        </p:nvCxnSpPr>
        <p:spPr>
          <a:xfrm flipH="1">
            <a:off x="9355719" y="2383045"/>
            <a:ext cx="3298" cy="493207"/>
          </a:xfrm>
          <a:prstGeom prst="straightConnector1">
            <a:avLst/>
          </a:prstGeom>
          <a:ln w="28575">
            <a:solidFill>
              <a:schemeClr val="tx2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箭头连接符 39"/>
          <p:cNvCxnSpPr>
            <a:stCxn id="36" idx="2"/>
            <a:endCxn id="35" idx="0"/>
          </p:cNvCxnSpPr>
          <p:nvPr/>
        </p:nvCxnSpPr>
        <p:spPr>
          <a:xfrm>
            <a:off x="9355719" y="3334670"/>
            <a:ext cx="1097853" cy="466994"/>
          </a:xfrm>
          <a:prstGeom prst="straightConnector1">
            <a:avLst/>
          </a:prstGeom>
          <a:ln w="28575">
            <a:solidFill>
              <a:schemeClr val="tx2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2608959" y="4540103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chemeClr val="tx2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</a:rPr>
              <a:t>一主多从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22247" y="4502552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 smtClean="0">
                <a:solidFill>
                  <a:schemeClr val="tx2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</a:rPr>
              <a:t>树状主从结构</a:t>
            </a:r>
            <a:endParaRPr lang="zh-CN" altLang="en-US" b="1" dirty="0">
              <a:solidFill>
                <a:schemeClr val="tx2">
                  <a:lumMod val="7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5" name="右箭头 54"/>
          <p:cNvSpPr/>
          <p:nvPr/>
        </p:nvSpPr>
        <p:spPr>
          <a:xfrm>
            <a:off x="5835755" y="3051770"/>
            <a:ext cx="978408" cy="484632"/>
          </a:xfrm>
          <a:prstGeom prst="rightArrow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29" name="TextBox 1028"/>
          <p:cNvSpPr txBox="1"/>
          <p:nvPr/>
        </p:nvSpPr>
        <p:spPr>
          <a:xfrm>
            <a:off x="1846204" y="2850038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>
                <a:solidFill>
                  <a:schemeClr val="tx2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</a:rPr>
              <a:t>复制</a:t>
            </a:r>
            <a:endParaRPr lang="zh-CN" altLang="en-US" dirty="0">
              <a:solidFill>
                <a:schemeClr val="tx2">
                  <a:lumMod val="7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2904358" y="2965338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>
                <a:solidFill>
                  <a:schemeClr val="tx2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</a:rPr>
              <a:t>复制</a:t>
            </a:r>
            <a:endParaRPr lang="zh-CN" altLang="en-US" dirty="0">
              <a:solidFill>
                <a:schemeClr val="tx2">
                  <a:lumMod val="7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6" name="TextBox 75"/>
          <p:cNvSpPr txBox="1"/>
          <p:nvPr/>
        </p:nvSpPr>
        <p:spPr>
          <a:xfrm>
            <a:off x="4008683" y="2879887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>
                <a:solidFill>
                  <a:schemeClr val="tx2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</a:rPr>
              <a:t>复制</a:t>
            </a:r>
            <a:endParaRPr lang="zh-CN" altLang="en-US" dirty="0">
              <a:solidFill>
                <a:schemeClr val="tx2">
                  <a:lumMod val="7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8" name="TextBox 77"/>
          <p:cNvSpPr txBox="1"/>
          <p:nvPr/>
        </p:nvSpPr>
        <p:spPr>
          <a:xfrm>
            <a:off x="9437909" y="2444982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>
                <a:solidFill>
                  <a:schemeClr val="tx2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</a:rPr>
              <a:t>复制</a:t>
            </a:r>
            <a:endParaRPr lang="zh-CN" altLang="en-US" dirty="0">
              <a:solidFill>
                <a:schemeClr val="tx2">
                  <a:lumMod val="7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8099081" y="3332253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>
                <a:solidFill>
                  <a:schemeClr val="tx2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</a:rPr>
              <a:t>复制</a:t>
            </a:r>
            <a:endParaRPr lang="zh-CN" altLang="en-US" dirty="0">
              <a:solidFill>
                <a:schemeClr val="tx2">
                  <a:lumMod val="7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0" name="TextBox 79"/>
          <p:cNvSpPr txBox="1"/>
          <p:nvPr/>
        </p:nvSpPr>
        <p:spPr>
          <a:xfrm>
            <a:off x="10130406" y="3334670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>
                <a:solidFill>
                  <a:schemeClr val="tx2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</a:rPr>
              <a:t>复制</a:t>
            </a:r>
            <a:endParaRPr lang="zh-CN" altLang="en-US" dirty="0">
              <a:solidFill>
                <a:schemeClr val="tx2">
                  <a:lumMod val="7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835755" y="2372662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规避复制风暴</a:t>
            </a:r>
            <a:endParaRPr lang="zh-CN" altLang="en-US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27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28841" y="0"/>
            <a:ext cx="2763159" cy="10567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69602242"/>
      </p:ext>
    </p:extLst>
  </p:cSld>
  <p:clrMapOvr>
    <a:masterClrMapping/>
  </p:clrMapOvr>
  <p:transition spd="slow" advClick="0" advTm="0">
    <p:push dir="u"/>
  </p:transition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029653" y="397510"/>
            <a:ext cx="6463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zh-CN" altLang="en-US" b="1" dirty="0" smtClean="0">
                <a:solidFill>
                  <a:srgbClr val="304371"/>
                </a:solidFill>
                <a:latin typeface="微软雅黑" panose="020B0503020204020204" charset="-122"/>
                <a:ea typeface="微软雅黑" panose="020B0503020204020204" charset="-122"/>
                <a:cs typeface="Arial Unicode MS" panose="020B0604020202020204" charset="-122"/>
                <a:sym typeface="+mn-ea"/>
              </a:rPr>
              <a:t>复制</a:t>
            </a:r>
            <a:endParaRPr lang="en-US" altLang="zh-CN" b="1" dirty="0" smtClean="0">
              <a:solidFill>
                <a:srgbClr val="304371"/>
              </a:solidFill>
              <a:latin typeface="微软雅黑" panose="020B0503020204020204" charset="-122"/>
              <a:ea typeface="微软雅黑" panose="020B0503020204020204" charset="-122"/>
              <a:cs typeface="Arial Unicode MS" panose="020B0604020202020204" charset="-122"/>
              <a:sym typeface="+mn-ea"/>
            </a:endParaRPr>
          </a:p>
        </p:txBody>
      </p:sp>
      <p:sp>
        <p:nvSpPr>
          <p:cNvPr id="10" name="TextBox 24"/>
          <p:cNvSpPr txBox="1"/>
          <p:nvPr/>
        </p:nvSpPr>
        <p:spPr>
          <a:xfrm>
            <a:off x="245047" y="3202287"/>
            <a:ext cx="648335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400" b="1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意义</a:t>
            </a:r>
            <a:r>
              <a:rPr lang="en-US" altLang="zh-CN" sz="1400" b="1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1</a:t>
            </a:r>
          </a:p>
        </p:txBody>
      </p:sp>
      <p:sp>
        <p:nvSpPr>
          <p:cNvPr id="6" name="圆角矩形 5"/>
          <p:cNvSpPr/>
          <p:nvPr/>
        </p:nvSpPr>
        <p:spPr>
          <a:xfrm>
            <a:off x="1192311" y="3164374"/>
            <a:ext cx="1237129" cy="2840740"/>
          </a:xfrm>
          <a:prstGeom prst="roundRect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 smtClean="0">
                <a:latin typeface="微软雅黑" pitchFamily="34" charset="-122"/>
                <a:ea typeface="微软雅黑" pitchFamily="34" charset="-122"/>
              </a:rPr>
              <a:t>MASTER</a:t>
            </a:r>
            <a:endParaRPr lang="zh-CN" altLang="en-US" b="1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" name="圆角矩形 6"/>
          <p:cNvSpPr/>
          <p:nvPr/>
        </p:nvSpPr>
        <p:spPr>
          <a:xfrm>
            <a:off x="4180223" y="3164374"/>
            <a:ext cx="1237129" cy="2840740"/>
          </a:xfrm>
          <a:prstGeom prst="roundRect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 smtClean="0">
                <a:latin typeface="微软雅黑" pitchFamily="34" charset="-122"/>
                <a:ea typeface="微软雅黑" pitchFamily="34" charset="-122"/>
              </a:rPr>
              <a:t>SLAVE</a:t>
            </a:r>
          </a:p>
        </p:txBody>
      </p:sp>
      <p:cxnSp>
        <p:nvCxnSpPr>
          <p:cNvPr id="8" name="直接箭头连接符 7"/>
          <p:cNvCxnSpPr/>
          <p:nvPr/>
        </p:nvCxnSpPr>
        <p:spPr>
          <a:xfrm flipV="1">
            <a:off x="2679948" y="4456013"/>
            <a:ext cx="1409251" cy="10757"/>
          </a:xfrm>
          <a:prstGeom prst="straightConnector1">
            <a:avLst/>
          </a:prstGeom>
          <a:ln w="28575">
            <a:solidFill>
              <a:schemeClr val="tx2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458277" y="3281643"/>
            <a:ext cx="17219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发送</a:t>
            </a:r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SYNC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命令</a:t>
            </a:r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11" name="直接箭头连接符 10"/>
          <p:cNvCxnSpPr/>
          <p:nvPr/>
        </p:nvCxnSpPr>
        <p:spPr>
          <a:xfrm flipH="1">
            <a:off x="2669191" y="3746008"/>
            <a:ext cx="1420008" cy="0"/>
          </a:xfrm>
          <a:prstGeom prst="straightConnector1">
            <a:avLst/>
          </a:prstGeom>
          <a:ln w="28575">
            <a:solidFill>
              <a:schemeClr val="tx2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2594934" y="3982683"/>
            <a:ext cx="15792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发送</a:t>
            </a:r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RDB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文件</a:t>
            </a:r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16" name="直接箭头连接符 15"/>
          <p:cNvCxnSpPr/>
          <p:nvPr/>
        </p:nvCxnSpPr>
        <p:spPr>
          <a:xfrm flipV="1">
            <a:off x="2679948" y="5501297"/>
            <a:ext cx="1409251" cy="10757"/>
          </a:xfrm>
          <a:prstGeom prst="straightConnector1">
            <a:avLst/>
          </a:prstGeom>
          <a:ln w="28575">
            <a:solidFill>
              <a:schemeClr val="tx2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2484326" y="4769111"/>
            <a:ext cx="180049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发送缓冲区保存</a:t>
            </a:r>
            <a:endParaRPr lang="en-US" altLang="zh-CN" dirty="0" smtClean="0">
              <a:latin typeface="微软雅黑" pitchFamily="34" charset="-122"/>
              <a:ea typeface="微软雅黑" pitchFamily="34" charset="-122"/>
            </a:endParaRPr>
          </a:p>
          <a:p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的写命令</a:t>
            </a:r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029653" y="1234277"/>
            <a:ext cx="8509574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 smtClean="0">
                <a:latin typeface="微软雅黑" pitchFamily="34" charset="-122"/>
                <a:ea typeface="微软雅黑" pitchFamily="34" charset="-122"/>
              </a:rPr>
              <a:t>Redis 2.8</a:t>
            </a:r>
            <a:r>
              <a:rPr lang="zh-CN" altLang="en-US" b="1" dirty="0" smtClean="0">
                <a:latin typeface="微软雅黑" pitchFamily="34" charset="-122"/>
                <a:ea typeface="微软雅黑" pitchFamily="34" charset="-122"/>
              </a:rPr>
              <a:t>版本之前复制过程</a:t>
            </a:r>
            <a:endParaRPr lang="en-US" altLang="zh-CN" b="1" dirty="0" smtClean="0">
              <a:latin typeface="微软雅黑" pitchFamily="34" charset="-122"/>
              <a:ea typeface="微软雅黑" pitchFamily="34" charset="-122"/>
            </a:endParaRPr>
          </a:p>
          <a:p>
            <a:pPr marL="285750" indent="-285750">
              <a:buFont typeface="Wingdings" pitchFamily="2" charset="2"/>
              <a:buChar char="ü"/>
            </a:pPr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slave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执行</a:t>
            </a:r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SLAVEOF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命令</a:t>
            </a:r>
            <a:endParaRPr lang="en-US" altLang="zh-CN" dirty="0" smtClean="0">
              <a:latin typeface="微软雅黑" pitchFamily="34" charset="-122"/>
              <a:ea typeface="微软雅黑" pitchFamily="34" charset="-122"/>
            </a:endParaRPr>
          </a:p>
          <a:p>
            <a:pPr marL="285750" indent="-285750">
              <a:buFont typeface="Wingdings" pitchFamily="2" charset="2"/>
              <a:buChar char="ü"/>
            </a:pP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s</a:t>
            </a:r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lave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向</a:t>
            </a:r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master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发送</a:t>
            </a:r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sync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命令</a:t>
            </a:r>
            <a:endParaRPr lang="en-US" altLang="zh-CN" dirty="0" smtClean="0">
              <a:latin typeface="微软雅黑" pitchFamily="34" charset="-122"/>
              <a:ea typeface="微软雅黑" pitchFamily="34" charset="-122"/>
            </a:endParaRPr>
          </a:p>
          <a:p>
            <a:pPr marL="285750" indent="-285750">
              <a:buFont typeface="Wingdings" pitchFamily="2" charset="2"/>
              <a:buChar char="ü"/>
            </a:pP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m</a:t>
            </a:r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aster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收到</a:t>
            </a:r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sync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命令后执行</a:t>
            </a:r>
            <a:r>
              <a:rPr lang="en-US" altLang="zh-CN" dirty="0" err="1" smtClean="0">
                <a:latin typeface="微软雅黑" pitchFamily="34" charset="-122"/>
                <a:ea typeface="微软雅黑" pitchFamily="34" charset="-122"/>
              </a:rPr>
              <a:t>bgsave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，生成</a:t>
            </a:r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RDB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文件，缓冲区开始记录写命令</a:t>
            </a:r>
            <a:endParaRPr lang="en-US" altLang="zh-CN" dirty="0" smtClean="0">
              <a:latin typeface="微软雅黑" pitchFamily="34" charset="-122"/>
              <a:ea typeface="微软雅黑" pitchFamily="34" charset="-122"/>
            </a:endParaRPr>
          </a:p>
          <a:p>
            <a:pPr marL="285750" indent="-285750">
              <a:buFont typeface="Wingdings" pitchFamily="2" charset="2"/>
              <a:buChar char="ü"/>
            </a:pPr>
            <a:r>
              <a:rPr lang="en-US" altLang="zh-CN" dirty="0" err="1">
                <a:latin typeface="微软雅黑" pitchFamily="34" charset="-122"/>
                <a:ea typeface="微软雅黑" pitchFamily="34" charset="-122"/>
              </a:rPr>
              <a:t>b</a:t>
            </a:r>
            <a:r>
              <a:rPr lang="en-US" altLang="zh-CN" dirty="0" err="1" smtClean="0">
                <a:latin typeface="微软雅黑" pitchFamily="34" charset="-122"/>
                <a:ea typeface="微软雅黑" pitchFamily="34" charset="-122"/>
              </a:rPr>
              <a:t>gsave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执行完成，发送</a:t>
            </a:r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RDB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文件到</a:t>
            </a:r>
            <a:r>
              <a:rPr lang="en-US" altLang="zh-CN" dirty="0" err="1" smtClean="0">
                <a:latin typeface="微软雅黑" pitchFamily="34" charset="-122"/>
                <a:ea typeface="微软雅黑" pitchFamily="34" charset="-122"/>
              </a:rPr>
              <a:t>slave,slave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同步到开始</a:t>
            </a:r>
            <a:r>
              <a:rPr lang="en-US" altLang="zh-CN" dirty="0" err="1" smtClean="0">
                <a:latin typeface="微软雅黑" pitchFamily="34" charset="-122"/>
                <a:ea typeface="微软雅黑" pitchFamily="34" charset="-122"/>
              </a:rPr>
              <a:t>bgsave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的数据库状态</a:t>
            </a:r>
            <a:endParaRPr lang="en-US" altLang="zh-CN" dirty="0" smtClean="0">
              <a:latin typeface="微软雅黑" pitchFamily="34" charset="-122"/>
              <a:ea typeface="微软雅黑" pitchFamily="34" charset="-122"/>
            </a:endParaRPr>
          </a:p>
          <a:p>
            <a:pPr marL="285750" indent="-285750">
              <a:buFont typeface="Wingdings" pitchFamily="2" charset="2"/>
              <a:buChar char="ü"/>
            </a:pP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m</a:t>
            </a:r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aster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发送缓冲区的写命令给</a:t>
            </a:r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slave</a:t>
            </a:r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0" name="爆炸形 1 19"/>
          <p:cNvSpPr/>
          <p:nvPr/>
        </p:nvSpPr>
        <p:spPr>
          <a:xfrm>
            <a:off x="7422776" y="3154424"/>
            <a:ext cx="3582296" cy="2491915"/>
          </a:xfrm>
          <a:prstGeom prst="irregularSeal1">
            <a:avLst/>
          </a:prstGeom>
          <a:solidFill>
            <a:srgbClr val="FF0000"/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dirty="0" smtClean="0">
              <a:latin typeface="微软雅黑" pitchFamily="34" charset="-122"/>
              <a:ea typeface="微软雅黑" pitchFamily="34" charset="-122"/>
            </a:endParaRPr>
          </a:p>
          <a:p>
            <a:pPr algn="ctr"/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断线后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重新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复制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的场景，效率低下</a:t>
            </a:r>
          </a:p>
          <a:p>
            <a:pPr algn="ctr"/>
            <a:endParaRPr lang="zh-CN" altLang="en-US" dirty="0"/>
          </a:p>
        </p:txBody>
      </p:sp>
      <p:pic>
        <p:nvPicPr>
          <p:cNvPr id="1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28841" y="0"/>
            <a:ext cx="2763159" cy="10567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94940957"/>
      </p:ext>
    </p:extLst>
  </p:cSld>
  <p:clrMapOvr>
    <a:masterClrMapping/>
  </p:clrMapOvr>
  <p:transition spd="slow" advClick="0" advTm="0">
    <p:push dir="u"/>
  </p:transition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8" presetClass="entr" presetSubtype="16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0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0" grpId="0"/>
      <p:bldP spid="10" grpId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029653" y="397510"/>
            <a:ext cx="6463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zh-CN" altLang="en-US" b="1" dirty="0" smtClean="0">
                <a:solidFill>
                  <a:srgbClr val="304371"/>
                </a:solidFill>
                <a:latin typeface="微软雅黑" panose="020B0503020204020204" charset="-122"/>
                <a:ea typeface="微软雅黑" panose="020B0503020204020204" charset="-122"/>
                <a:cs typeface="Arial Unicode MS" panose="020B0604020202020204" charset="-122"/>
                <a:sym typeface="+mn-ea"/>
              </a:rPr>
              <a:t>复制</a:t>
            </a:r>
            <a:endParaRPr lang="en-US" altLang="zh-CN" b="1" dirty="0" smtClean="0">
              <a:solidFill>
                <a:srgbClr val="304371"/>
              </a:solidFill>
              <a:latin typeface="微软雅黑" panose="020B0503020204020204" charset="-122"/>
              <a:ea typeface="微软雅黑" panose="020B0503020204020204" charset="-122"/>
              <a:cs typeface="Arial Unicode MS" panose="020B0604020202020204" charset="-122"/>
              <a:sym typeface="+mn-ea"/>
            </a:endParaRPr>
          </a:p>
        </p:txBody>
      </p:sp>
      <p:sp>
        <p:nvSpPr>
          <p:cNvPr id="10" name="TextBox 24"/>
          <p:cNvSpPr txBox="1"/>
          <p:nvPr/>
        </p:nvSpPr>
        <p:spPr>
          <a:xfrm>
            <a:off x="245047" y="3202287"/>
            <a:ext cx="648335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400" b="1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意义</a:t>
            </a:r>
            <a:r>
              <a:rPr lang="en-US" altLang="zh-CN" sz="1400" b="1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1</a:t>
            </a:r>
          </a:p>
        </p:txBody>
      </p:sp>
      <p:sp>
        <p:nvSpPr>
          <p:cNvPr id="6" name="圆角矩形 5"/>
          <p:cNvSpPr/>
          <p:nvPr/>
        </p:nvSpPr>
        <p:spPr>
          <a:xfrm>
            <a:off x="2413984" y="3156211"/>
            <a:ext cx="1237129" cy="2840740"/>
          </a:xfrm>
          <a:prstGeom prst="roundRect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 smtClean="0">
                <a:latin typeface="微软雅黑" pitchFamily="34" charset="-122"/>
                <a:ea typeface="微软雅黑" pitchFamily="34" charset="-122"/>
              </a:rPr>
              <a:t>MASTER</a:t>
            </a:r>
            <a:endParaRPr lang="zh-CN" altLang="en-US" b="1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" name="圆角矩形 6"/>
          <p:cNvSpPr/>
          <p:nvPr/>
        </p:nvSpPr>
        <p:spPr>
          <a:xfrm>
            <a:off x="6832663" y="3156211"/>
            <a:ext cx="1237129" cy="2840740"/>
          </a:xfrm>
          <a:prstGeom prst="roundRect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 smtClean="0">
                <a:latin typeface="微软雅黑" pitchFamily="34" charset="-122"/>
                <a:ea typeface="微软雅黑" pitchFamily="34" charset="-122"/>
              </a:rPr>
              <a:t>SLAVE</a:t>
            </a:r>
          </a:p>
        </p:txBody>
      </p:sp>
      <p:cxnSp>
        <p:nvCxnSpPr>
          <p:cNvPr id="8" name="直接箭头连接符 7"/>
          <p:cNvCxnSpPr/>
          <p:nvPr/>
        </p:nvCxnSpPr>
        <p:spPr>
          <a:xfrm flipV="1">
            <a:off x="4586027" y="4462380"/>
            <a:ext cx="1409251" cy="10757"/>
          </a:xfrm>
          <a:prstGeom prst="straightConnector1">
            <a:avLst/>
          </a:prstGeom>
          <a:ln w="28575">
            <a:solidFill>
              <a:schemeClr val="tx2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359146" y="3194685"/>
            <a:ext cx="1863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发送</a:t>
            </a:r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PSYNC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命令</a:t>
            </a:r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11" name="直接箭头连接符 10"/>
          <p:cNvCxnSpPr/>
          <p:nvPr/>
        </p:nvCxnSpPr>
        <p:spPr>
          <a:xfrm flipH="1">
            <a:off x="4580649" y="3737845"/>
            <a:ext cx="1420008" cy="0"/>
          </a:xfrm>
          <a:prstGeom prst="straightConnector1">
            <a:avLst/>
          </a:prstGeom>
          <a:ln w="28575">
            <a:solidFill>
              <a:schemeClr val="tx2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505854" y="3974520"/>
            <a:ext cx="15695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+CONTINUE</a:t>
            </a:r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16" name="直接箭头连接符 15"/>
          <p:cNvCxnSpPr/>
          <p:nvPr/>
        </p:nvCxnSpPr>
        <p:spPr>
          <a:xfrm flipV="1">
            <a:off x="4601405" y="5498698"/>
            <a:ext cx="1429021" cy="1"/>
          </a:xfrm>
          <a:prstGeom prst="straightConnector1">
            <a:avLst/>
          </a:prstGeom>
          <a:ln w="28575">
            <a:solidFill>
              <a:schemeClr val="tx2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3705999" y="4674887"/>
            <a:ext cx="324928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发送缓</a:t>
            </a:r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master/slave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服务器</a:t>
            </a:r>
            <a:endParaRPr lang="en-US" altLang="zh-CN" dirty="0" smtClean="0">
              <a:latin typeface="微软雅黑" pitchFamily="34" charset="-122"/>
              <a:ea typeface="微软雅黑" pitchFamily="34" charset="-122"/>
            </a:endParaRPr>
          </a:p>
          <a:p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断线期间</a:t>
            </a:r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master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执行的写命令</a:t>
            </a:r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032240" y="1235703"/>
            <a:ext cx="4261103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 smtClean="0">
                <a:latin typeface="微软雅黑" pitchFamily="34" charset="-122"/>
                <a:ea typeface="微软雅黑" pitchFamily="34" charset="-122"/>
              </a:rPr>
              <a:t>Redis 2.8</a:t>
            </a:r>
            <a:r>
              <a:rPr lang="zh-CN" altLang="en-US" b="1" dirty="0" smtClean="0">
                <a:latin typeface="微软雅黑" pitchFamily="34" charset="-122"/>
                <a:ea typeface="微软雅黑" pitchFamily="34" charset="-122"/>
              </a:rPr>
              <a:t>版本及以上复制优化点</a:t>
            </a:r>
          </a:p>
          <a:p>
            <a:pPr marL="285750" indent="-285750">
              <a:buFont typeface="Wingdings" pitchFamily="2" charset="2"/>
              <a:buChar char="ü"/>
            </a:pP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全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量复制过程与</a:t>
            </a:r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2.8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以下版本保持一致</a:t>
            </a:r>
            <a:endParaRPr lang="en-US" altLang="zh-CN" dirty="0" smtClean="0">
              <a:latin typeface="微软雅黑" pitchFamily="34" charset="-122"/>
              <a:ea typeface="微软雅黑" pitchFamily="34" charset="-122"/>
            </a:endParaRPr>
          </a:p>
          <a:p>
            <a:pPr marL="285750" indent="-285750">
              <a:buFont typeface="Wingdings" pitchFamily="2" charset="2"/>
              <a:buChar char="ü"/>
            </a:pP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m</a:t>
            </a:r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aster/slave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复制偏移量</a:t>
            </a:r>
            <a:endParaRPr lang="en-US" altLang="zh-CN" dirty="0" smtClean="0">
              <a:latin typeface="微软雅黑" pitchFamily="34" charset="-122"/>
              <a:ea typeface="微软雅黑" pitchFamily="34" charset="-122"/>
            </a:endParaRPr>
          </a:p>
          <a:p>
            <a:pPr marL="285750" indent="-285750">
              <a:buFont typeface="Wingdings" pitchFamily="2" charset="2"/>
              <a:buChar char="ü"/>
            </a:pPr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master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复制积压缓冲区</a:t>
            </a:r>
            <a:endParaRPr lang="en-US" altLang="zh-CN" dirty="0" smtClean="0">
              <a:latin typeface="微软雅黑" pitchFamily="34" charset="-122"/>
              <a:ea typeface="微软雅黑" pitchFamily="34" charset="-122"/>
            </a:endParaRPr>
          </a:p>
          <a:p>
            <a:pPr marL="285750" indent="-285750">
              <a:buFont typeface="Wingdings" pitchFamily="2" charset="2"/>
              <a:buChar char="ü"/>
            </a:pP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服务器的运行</a:t>
            </a:r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ID</a:t>
            </a:r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13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28841" y="0"/>
            <a:ext cx="2763159" cy="10567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18979360"/>
      </p:ext>
    </p:extLst>
  </p:cSld>
  <p:clrMapOvr>
    <a:masterClrMapping/>
  </p:clrMapOvr>
  <p:transition spd="slow" advClick="0" advTm="0">
    <p:push dir="u"/>
  </p:transition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8" presetClass="entr" presetSubtype="16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0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0" grpId="0"/>
      <p:bldP spid="10" grpId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圆角矩形 7"/>
          <p:cNvSpPr/>
          <p:nvPr/>
        </p:nvSpPr>
        <p:spPr>
          <a:xfrm>
            <a:off x="2512463" y="1258648"/>
            <a:ext cx="7100047" cy="1420009"/>
          </a:xfrm>
          <a:prstGeom prst="round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矩形 1"/>
          <p:cNvSpPr/>
          <p:nvPr/>
        </p:nvSpPr>
        <p:spPr>
          <a:xfrm>
            <a:off x="1029653" y="397510"/>
            <a:ext cx="158729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altLang="zh-CN" b="1" dirty="0" smtClean="0">
                <a:solidFill>
                  <a:srgbClr val="304371"/>
                </a:solidFill>
                <a:latin typeface="微软雅黑" panose="020B0503020204020204" charset="-122"/>
                <a:ea typeface="微软雅黑" panose="020B0503020204020204" charset="-122"/>
                <a:cs typeface="Arial Unicode MS" panose="020B0604020202020204" charset="-122"/>
                <a:sym typeface="+mn-ea"/>
              </a:rPr>
              <a:t>Sentinel</a:t>
            </a:r>
            <a:r>
              <a:rPr lang="zh-CN" altLang="en-US" b="1" dirty="0" smtClean="0">
                <a:solidFill>
                  <a:srgbClr val="304371"/>
                </a:solidFill>
                <a:latin typeface="微软雅黑" panose="020B0503020204020204" charset="-122"/>
                <a:ea typeface="微软雅黑" panose="020B0503020204020204" charset="-122"/>
                <a:cs typeface="Arial Unicode MS" panose="020B0604020202020204" charset="-122"/>
                <a:sym typeface="+mn-ea"/>
              </a:rPr>
              <a:t>模式</a:t>
            </a:r>
            <a:endParaRPr lang="en-US" altLang="zh-CN" b="1" dirty="0" smtClean="0">
              <a:solidFill>
                <a:srgbClr val="304371"/>
              </a:solidFill>
              <a:latin typeface="微软雅黑" panose="020B0503020204020204" charset="-122"/>
              <a:ea typeface="微软雅黑" panose="020B0503020204020204" charset="-122"/>
              <a:cs typeface="Arial Unicode MS" panose="020B0604020202020204" charset="-122"/>
              <a:sym typeface="+mn-ea"/>
            </a:endParaRPr>
          </a:p>
        </p:txBody>
      </p:sp>
      <p:sp>
        <p:nvSpPr>
          <p:cNvPr id="22" name="圆角矩形 21"/>
          <p:cNvSpPr/>
          <p:nvPr/>
        </p:nvSpPr>
        <p:spPr>
          <a:xfrm>
            <a:off x="5406327" y="3242653"/>
            <a:ext cx="1237129" cy="458418"/>
          </a:xfrm>
          <a:prstGeom prst="roundRect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master</a:t>
            </a:r>
            <a:endParaRPr lang="zh-CN" altLang="en-US" dirty="0"/>
          </a:p>
        </p:txBody>
      </p:sp>
      <p:sp>
        <p:nvSpPr>
          <p:cNvPr id="23" name="圆角矩形 22"/>
          <p:cNvSpPr/>
          <p:nvPr/>
        </p:nvSpPr>
        <p:spPr>
          <a:xfrm>
            <a:off x="6964595" y="5119690"/>
            <a:ext cx="1237129" cy="458418"/>
          </a:xfrm>
          <a:prstGeom prst="roundRect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slave3</a:t>
            </a:r>
            <a:endParaRPr lang="zh-CN" altLang="en-US" dirty="0"/>
          </a:p>
        </p:txBody>
      </p:sp>
      <p:sp>
        <p:nvSpPr>
          <p:cNvPr id="24" name="圆角矩形 23"/>
          <p:cNvSpPr/>
          <p:nvPr/>
        </p:nvSpPr>
        <p:spPr>
          <a:xfrm>
            <a:off x="5404303" y="5119690"/>
            <a:ext cx="1237129" cy="458418"/>
          </a:xfrm>
          <a:prstGeom prst="roundRect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slave2</a:t>
            </a:r>
            <a:endParaRPr lang="zh-CN" altLang="en-US" dirty="0"/>
          </a:p>
        </p:txBody>
      </p:sp>
      <p:sp>
        <p:nvSpPr>
          <p:cNvPr id="25" name="圆角矩形 24"/>
          <p:cNvSpPr/>
          <p:nvPr/>
        </p:nvSpPr>
        <p:spPr>
          <a:xfrm>
            <a:off x="3932300" y="5119690"/>
            <a:ext cx="1237129" cy="458418"/>
          </a:xfrm>
          <a:prstGeom prst="roundRect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slave1</a:t>
            </a:r>
            <a:endParaRPr lang="zh-CN" altLang="en-US" dirty="0"/>
          </a:p>
        </p:txBody>
      </p:sp>
      <p:cxnSp>
        <p:nvCxnSpPr>
          <p:cNvPr id="26" name="直接箭头连接符 25"/>
          <p:cNvCxnSpPr>
            <a:stCxn id="22" idx="2"/>
            <a:endCxn id="25" idx="0"/>
          </p:cNvCxnSpPr>
          <p:nvPr/>
        </p:nvCxnSpPr>
        <p:spPr>
          <a:xfrm flipH="1">
            <a:off x="4550865" y="3701071"/>
            <a:ext cx="1474027" cy="1418619"/>
          </a:xfrm>
          <a:prstGeom prst="straightConnector1">
            <a:avLst/>
          </a:prstGeom>
          <a:ln w="28575">
            <a:solidFill>
              <a:schemeClr val="tx2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箭头连接符 28"/>
          <p:cNvCxnSpPr>
            <a:stCxn id="22" idx="2"/>
            <a:endCxn id="24" idx="0"/>
          </p:cNvCxnSpPr>
          <p:nvPr/>
        </p:nvCxnSpPr>
        <p:spPr>
          <a:xfrm flipH="1">
            <a:off x="6022868" y="3701071"/>
            <a:ext cx="2024" cy="1418619"/>
          </a:xfrm>
          <a:prstGeom prst="straightConnector1">
            <a:avLst/>
          </a:prstGeom>
          <a:ln w="28575">
            <a:solidFill>
              <a:schemeClr val="tx2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箭头连接符 31"/>
          <p:cNvCxnSpPr>
            <a:stCxn id="22" idx="2"/>
            <a:endCxn id="23" idx="0"/>
          </p:cNvCxnSpPr>
          <p:nvPr/>
        </p:nvCxnSpPr>
        <p:spPr>
          <a:xfrm>
            <a:off x="6024892" y="3701071"/>
            <a:ext cx="1558268" cy="1418619"/>
          </a:xfrm>
          <a:prstGeom prst="straightConnector1">
            <a:avLst/>
          </a:prstGeom>
          <a:ln w="28575">
            <a:solidFill>
              <a:schemeClr val="tx2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5404302" y="5858129"/>
            <a:ext cx="15872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 smtClean="0">
                <a:solidFill>
                  <a:schemeClr val="tx2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</a:rPr>
              <a:t>Sentinel</a:t>
            </a:r>
            <a:r>
              <a:rPr lang="zh-CN" altLang="en-US" b="1" dirty="0" smtClean="0">
                <a:solidFill>
                  <a:schemeClr val="tx2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</a:rPr>
              <a:t>模式</a:t>
            </a:r>
            <a:endParaRPr lang="zh-CN" altLang="en-US" b="1" dirty="0">
              <a:solidFill>
                <a:schemeClr val="tx2">
                  <a:lumMod val="7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" name="圆角矩形 3"/>
          <p:cNvSpPr/>
          <p:nvPr/>
        </p:nvSpPr>
        <p:spPr>
          <a:xfrm>
            <a:off x="2919382" y="1663853"/>
            <a:ext cx="1434408" cy="613186"/>
          </a:xfrm>
          <a:prstGeom prst="round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Sentinel-1</a:t>
            </a:r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7" name="圆角矩形 26"/>
          <p:cNvSpPr/>
          <p:nvPr/>
        </p:nvSpPr>
        <p:spPr>
          <a:xfrm>
            <a:off x="7721418" y="1662060"/>
            <a:ext cx="1434408" cy="613186"/>
          </a:xfrm>
          <a:prstGeom prst="round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Sentinel-N</a:t>
            </a:r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1" name="圆角矩形 30"/>
          <p:cNvSpPr/>
          <p:nvPr/>
        </p:nvSpPr>
        <p:spPr>
          <a:xfrm>
            <a:off x="4486695" y="1662060"/>
            <a:ext cx="1434408" cy="613186"/>
          </a:xfrm>
          <a:prstGeom prst="round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Sentinel-2</a:t>
            </a:r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1" name="圆角矩形 40"/>
          <p:cNvSpPr/>
          <p:nvPr/>
        </p:nvSpPr>
        <p:spPr>
          <a:xfrm>
            <a:off x="6062487" y="1662060"/>
            <a:ext cx="1434408" cy="613186"/>
          </a:xfrm>
          <a:prstGeom prst="round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…….</a:t>
            </a:r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15" name="曲线连接符 14"/>
          <p:cNvCxnSpPr/>
          <p:nvPr/>
        </p:nvCxnSpPr>
        <p:spPr>
          <a:xfrm rot="16200000" flipH="1">
            <a:off x="2769996" y="3726164"/>
            <a:ext cx="2346050" cy="405227"/>
          </a:xfrm>
          <a:prstGeom prst="curvedConnector3">
            <a:avLst>
              <a:gd name="adj1" fmla="val 50000"/>
            </a:avLst>
          </a:prstGeom>
          <a:ln>
            <a:solidFill>
              <a:srgbClr val="FF0000"/>
            </a:solidFill>
            <a:prstDash val="lg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曲线连接符 16"/>
          <p:cNvCxnSpPr/>
          <p:nvPr/>
        </p:nvCxnSpPr>
        <p:spPr>
          <a:xfrm rot="5400000">
            <a:off x="7414458" y="3378322"/>
            <a:ext cx="2363938" cy="1118798"/>
          </a:xfrm>
          <a:prstGeom prst="curvedConnector3">
            <a:avLst>
              <a:gd name="adj1" fmla="val 50000"/>
            </a:avLst>
          </a:prstGeom>
          <a:ln>
            <a:solidFill>
              <a:srgbClr val="FF0000"/>
            </a:solidFill>
            <a:prstDash val="lg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曲线连接符 20"/>
          <p:cNvCxnSpPr/>
          <p:nvPr/>
        </p:nvCxnSpPr>
        <p:spPr>
          <a:xfrm rot="5400000">
            <a:off x="5691173" y="3327124"/>
            <a:ext cx="2363935" cy="1221198"/>
          </a:xfrm>
          <a:prstGeom prst="curvedConnector3">
            <a:avLst>
              <a:gd name="adj1" fmla="val 50000"/>
            </a:avLst>
          </a:prstGeom>
          <a:ln>
            <a:solidFill>
              <a:srgbClr val="FF0000"/>
            </a:solidFill>
            <a:prstDash val="lg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曲线连接符 49"/>
          <p:cNvCxnSpPr>
            <a:endCxn id="22" idx="1"/>
          </p:cNvCxnSpPr>
          <p:nvPr/>
        </p:nvCxnSpPr>
        <p:spPr>
          <a:xfrm rot="16200000" flipH="1">
            <a:off x="4799824" y="2865359"/>
            <a:ext cx="716108" cy="496898"/>
          </a:xfrm>
          <a:prstGeom prst="curvedConnector2">
            <a:avLst/>
          </a:prstGeom>
          <a:ln>
            <a:solidFill>
              <a:srgbClr val="FF0000"/>
            </a:solidFill>
            <a:prstDash val="lg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3285969" y="3701071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监控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263098" y="2929141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监控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496895" y="2931281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监控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832660" y="3896939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监控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834712" y="3959675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chemeClr val="tx2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</a:rPr>
              <a:t>复制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396099" y="4481407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chemeClr val="tx2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</a:rPr>
              <a:t>复制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991596" y="4225714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chemeClr val="tx2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</a:rPr>
              <a:t>复制</a:t>
            </a:r>
          </a:p>
        </p:txBody>
      </p:sp>
      <p:pic>
        <p:nvPicPr>
          <p:cNvPr id="2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28841" y="0"/>
            <a:ext cx="2763159" cy="10567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85535232"/>
      </p:ext>
    </p:extLst>
  </p:cSld>
  <p:clrMapOvr>
    <a:masterClrMapping/>
  </p:clrMapOvr>
  <p:transition spd="slow" advClick="0" advTm="0">
    <p:push dir="u"/>
  </p:transition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圆角矩形 3"/>
          <p:cNvSpPr/>
          <p:nvPr/>
        </p:nvSpPr>
        <p:spPr>
          <a:xfrm>
            <a:off x="5807178" y="3005521"/>
            <a:ext cx="6090780" cy="3061792"/>
          </a:xfrm>
          <a:prstGeom prst="round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矩形 1"/>
          <p:cNvSpPr/>
          <p:nvPr/>
        </p:nvSpPr>
        <p:spPr>
          <a:xfrm>
            <a:off x="1029653" y="397510"/>
            <a:ext cx="158729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altLang="zh-CN" b="1" dirty="0" smtClean="0">
                <a:solidFill>
                  <a:srgbClr val="304371"/>
                </a:solidFill>
                <a:latin typeface="微软雅黑" panose="020B0503020204020204" charset="-122"/>
                <a:ea typeface="微软雅黑" panose="020B0503020204020204" charset="-122"/>
                <a:cs typeface="Arial Unicode MS" panose="020B0604020202020204" charset="-122"/>
                <a:sym typeface="+mn-ea"/>
              </a:rPr>
              <a:t>Sentinel</a:t>
            </a:r>
            <a:r>
              <a:rPr lang="zh-CN" altLang="en-US" b="1" dirty="0" smtClean="0">
                <a:solidFill>
                  <a:srgbClr val="304371"/>
                </a:solidFill>
                <a:latin typeface="微软雅黑" panose="020B0503020204020204" charset="-122"/>
                <a:ea typeface="微软雅黑" panose="020B0503020204020204" charset="-122"/>
                <a:cs typeface="Arial Unicode MS" panose="020B0604020202020204" charset="-122"/>
                <a:sym typeface="+mn-ea"/>
              </a:rPr>
              <a:t>模式</a:t>
            </a:r>
            <a:endParaRPr lang="en-US" altLang="zh-CN" b="1" dirty="0" smtClean="0">
              <a:solidFill>
                <a:srgbClr val="304371"/>
              </a:solidFill>
              <a:latin typeface="微软雅黑" panose="020B0503020204020204" charset="-122"/>
              <a:ea typeface="微软雅黑" panose="020B0503020204020204" charset="-122"/>
              <a:cs typeface="Arial Unicode MS" panose="020B0604020202020204" charset="-122"/>
              <a:sym typeface="+mn-ea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29653" y="1290918"/>
            <a:ext cx="44635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Redis 2.6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版本提供</a:t>
            </a:r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Redis Sentinel V1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版本</a:t>
            </a:r>
            <a:endParaRPr lang="en-US" altLang="zh-CN" dirty="0" smtClean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8" name="圆角矩形 27"/>
          <p:cNvSpPr/>
          <p:nvPr/>
        </p:nvSpPr>
        <p:spPr>
          <a:xfrm>
            <a:off x="2024289" y="1895444"/>
            <a:ext cx="1237129" cy="458418"/>
          </a:xfrm>
          <a:prstGeom prst="roundRect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master</a:t>
            </a:r>
            <a:endParaRPr lang="zh-CN" altLang="en-US" dirty="0"/>
          </a:p>
        </p:txBody>
      </p:sp>
      <p:sp>
        <p:nvSpPr>
          <p:cNvPr id="34" name="圆角矩形 33"/>
          <p:cNvSpPr/>
          <p:nvPr/>
        </p:nvSpPr>
        <p:spPr>
          <a:xfrm>
            <a:off x="2845307" y="2998901"/>
            <a:ext cx="1237129" cy="458418"/>
          </a:xfrm>
          <a:prstGeom prst="roundRect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slave2</a:t>
            </a:r>
            <a:endParaRPr lang="zh-CN" altLang="en-US" dirty="0"/>
          </a:p>
        </p:txBody>
      </p:sp>
      <p:sp>
        <p:nvSpPr>
          <p:cNvPr id="35" name="圆角矩形 34"/>
          <p:cNvSpPr/>
          <p:nvPr/>
        </p:nvSpPr>
        <p:spPr>
          <a:xfrm>
            <a:off x="1204651" y="3005521"/>
            <a:ext cx="1237129" cy="458418"/>
          </a:xfrm>
          <a:prstGeom prst="roundRect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slave1</a:t>
            </a:r>
            <a:endParaRPr lang="zh-CN" altLang="en-US" dirty="0"/>
          </a:p>
        </p:txBody>
      </p:sp>
      <p:cxnSp>
        <p:nvCxnSpPr>
          <p:cNvPr id="36" name="直接箭头连接符 35"/>
          <p:cNvCxnSpPr>
            <a:stCxn id="28" idx="2"/>
            <a:endCxn id="35" idx="0"/>
          </p:cNvCxnSpPr>
          <p:nvPr/>
        </p:nvCxnSpPr>
        <p:spPr>
          <a:xfrm flipH="1">
            <a:off x="1823216" y="2353862"/>
            <a:ext cx="819638" cy="651659"/>
          </a:xfrm>
          <a:prstGeom prst="straightConnector1">
            <a:avLst/>
          </a:prstGeom>
          <a:ln w="28575">
            <a:solidFill>
              <a:schemeClr val="tx2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箭头连接符 36"/>
          <p:cNvCxnSpPr>
            <a:stCxn id="28" idx="2"/>
            <a:endCxn id="34" idx="0"/>
          </p:cNvCxnSpPr>
          <p:nvPr/>
        </p:nvCxnSpPr>
        <p:spPr>
          <a:xfrm>
            <a:off x="2642854" y="2353862"/>
            <a:ext cx="821018" cy="645039"/>
          </a:xfrm>
          <a:prstGeom prst="straightConnector1">
            <a:avLst/>
          </a:prstGeom>
          <a:ln w="28575">
            <a:solidFill>
              <a:schemeClr val="tx2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乘号 12"/>
          <p:cNvSpPr/>
          <p:nvPr/>
        </p:nvSpPr>
        <p:spPr>
          <a:xfrm>
            <a:off x="3261418" y="1625914"/>
            <a:ext cx="914400" cy="914400"/>
          </a:xfrm>
          <a:prstGeom prst="mathMultiply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TextBox 13"/>
          <p:cNvSpPr txBox="1"/>
          <p:nvPr/>
        </p:nvSpPr>
        <p:spPr>
          <a:xfrm>
            <a:off x="4175818" y="1939987"/>
            <a:ext cx="14026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m</a:t>
            </a:r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aster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宕机</a:t>
            </a:r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317839" y="1279050"/>
            <a:ext cx="4697953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故障转移过程分析：</a:t>
            </a:r>
            <a:endParaRPr lang="en-US" altLang="zh-CN" dirty="0" smtClean="0"/>
          </a:p>
          <a:p>
            <a:pPr marL="342900" indent="-342900">
              <a:buFont typeface="+mj-lt"/>
              <a:buAutoNum type="arabicPeriod"/>
            </a:pPr>
            <a:r>
              <a:rPr lang="en-US" altLang="zh-CN" dirty="0" smtClean="0"/>
              <a:t>sentinel</a:t>
            </a:r>
            <a:r>
              <a:rPr lang="zh-CN" altLang="en-US" dirty="0" smtClean="0"/>
              <a:t>节点定时监控发现</a:t>
            </a:r>
            <a:r>
              <a:rPr lang="en-US" altLang="zh-CN" dirty="0" smtClean="0"/>
              <a:t>master</a:t>
            </a:r>
            <a:r>
              <a:rPr lang="zh-CN" altLang="en-US" dirty="0" smtClean="0"/>
              <a:t>出现故障</a:t>
            </a:r>
            <a:endParaRPr lang="en-US" altLang="zh-CN" dirty="0" smtClean="0"/>
          </a:p>
          <a:p>
            <a:pPr marL="342900" indent="-342900">
              <a:buFont typeface="+mj-lt"/>
              <a:buAutoNum type="arabicPeriod"/>
            </a:pPr>
            <a:r>
              <a:rPr lang="zh-CN" altLang="en-US" dirty="0" smtClean="0"/>
              <a:t>多个</a:t>
            </a:r>
            <a:r>
              <a:rPr lang="en-US" altLang="zh-CN" dirty="0"/>
              <a:t>s</a:t>
            </a:r>
            <a:r>
              <a:rPr lang="en-US" altLang="zh-CN" dirty="0" smtClean="0"/>
              <a:t>entinel</a:t>
            </a:r>
            <a:r>
              <a:rPr lang="zh-CN" altLang="en-US" dirty="0"/>
              <a:t>对</a:t>
            </a:r>
            <a:r>
              <a:rPr lang="en-US" altLang="zh-CN" dirty="0" smtClean="0"/>
              <a:t>master</a:t>
            </a:r>
            <a:r>
              <a:rPr lang="zh-CN" altLang="en-US" dirty="0" smtClean="0"/>
              <a:t>故障达成一致</a:t>
            </a:r>
            <a:endParaRPr lang="en-US" altLang="zh-CN" dirty="0" smtClean="0"/>
          </a:p>
          <a:p>
            <a:pPr marL="342900" indent="-342900">
              <a:buFont typeface="+mj-lt"/>
              <a:buAutoNum type="arabicPeriod"/>
            </a:pPr>
            <a:r>
              <a:rPr lang="zh-CN" altLang="en-US" dirty="0" smtClean="0"/>
              <a:t>选举出其中一个</a:t>
            </a:r>
            <a:r>
              <a:rPr lang="en-US" altLang="zh-CN" dirty="0" smtClean="0"/>
              <a:t>sentinel</a:t>
            </a:r>
            <a:r>
              <a:rPr lang="zh-CN" altLang="en-US" dirty="0" smtClean="0"/>
              <a:t>节点（</a:t>
            </a:r>
            <a:r>
              <a:rPr lang="en-US" altLang="zh-CN" dirty="0" smtClean="0"/>
              <a:t>Raft</a:t>
            </a:r>
            <a:r>
              <a:rPr lang="zh-CN" altLang="en-US" dirty="0" smtClean="0"/>
              <a:t>算法）</a:t>
            </a:r>
            <a:endParaRPr lang="en-US" altLang="zh-CN" dirty="0" smtClean="0"/>
          </a:p>
          <a:p>
            <a:r>
              <a:rPr lang="en-US" altLang="zh-CN" dirty="0"/>
              <a:t> </a:t>
            </a:r>
            <a:r>
              <a:rPr lang="en-US" altLang="zh-CN" dirty="0" smtClean="0"/>
              <a:t>      </a:t>
            </a:r>
            <a:r>
              <a:rPr lang="zh-CN" altLang="en-US" dirty="0" smtClean="0"/>
              <a:t>负责本次故障转移</a:t>
            </a:r>
            <a:endParaRPr lang="en-US" altLang="zh-CN" dirty="0" smtClean="0"/>
          </a:p>
          <a:p>
            <a:r>
              <a:rPr lang="en-US" altLang="zh-CN" dirty="0" smtClean="0"/>
              <a:t>4.    Sentinel</a:t>
            </a:r>
            <a:r>
              <a:rPr lang="zh-CN" altLang="en-US" dirty="0" smtClean="0"/>
              <a:t>领导者节点执行故障转移</a:t>
            </a:r>
            <a:endParaRPr lang="zh-CN" altLang="en-US" dirty="0"/>
          </a:p>
        </p:txBody>
      </p:sp>
      <p:sp>
        <p:nvSpPr>
          <p:cNvPr id="49" name="圆角矩形 48"/>
          <p:cNvSpPr/>
          <p:nvPr/>
        </p:nvSpPr>
        <p:spPr>
          <a:xfrm>
            <a:off x="7429687" y="3585291"/>
            <a:ext cx="1237129" cy="458418"/>
          </a:xfrm>
          <a:prstGeom prst="roundRect">
            <a:avLst/>
          </a:prstGeom>
          <a:noFill/>
          <a:ln>
            <a:prstDash val="lgDashDot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schemeClr val="tx2">
                    <a:lumMod val="75000"/>
                  </a:schemeClr>
                </a:solidFill>
              </a:rPr>
              <a:t>master</a:t>
            </a:r>
            <a:endParaRPr lang="zh-CN" altLang="en-US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51" name="圆角矩形 50"/>
          <p:cNvSpPr/>
          <p:nvPr/>
        </p:nvSpPr>
        <p:spPr>
          <a:xfrm>
            <a:off x="8263277" y="4961194"/>
            <a:ext cx="1237129" cy="458418"/>
          </a:xfrm>
          <a:prstGeom prst="roundRect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slave2</a:t>
            </a:r>
            <a:endParaRPr lang="zh-CN" altLang="en-US" dirty="0"/>
          </a:p>
        </p:txBody>
      </p:sp>
      <p:sp>
        <p:nvSpPr>
          <p:cNvPr id="52" name="圆角矩形 51"/>
          <p:cNvSpPr/>
          <p:nvPr/>
        </p:nvSpPr>
        <p:spPr>
          <a:xfrm>
            <a:off x="6192558" y="4961194"/>
            <a:ext cx="1237129" cy="458418"/>
          </a:xfrm>
          <a:prstGeom prst="roundRect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master</a:t>
            </a:r>
            <a:endParaRPr lang="zh-CN" altLang="en-US" dirty="0"/>
          </a:p>
        </p:txBody>
      </p:sp>
      <p:sp>
        <p:nvSpPr>
          <p:cNvPr id="18" name="TextBox 17"/>
          <p:cNvSpPr txBox="1"/>
          <p:nvPr/>
        </p:nvSpPr>
        <p:spPr>
          <a:xfrm>
            <a:off x="6016152" y="4179905"/>
            <a:ext cx="15523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s</a:t>
            </a:r>
            <a:r>
              <a:rPr lang="en-US" altLang="zh-CN" dirty="0" smtClean="0"/>
              <a:t>laveof no one</a:t>
            </a:r>
            <a:endParaRPr lang="zh-CN" altLang="en-US" dirty="0"/>
          </a:p>
        </p:txBody>
      </p:sp>
      <p:sp>
        <p:nvSpPr>
          <p:cNvPr id="58" name="TextBox 57"/>
          <p:cNvSpPr txBox="1"/>
          <p:nvPr/>
        </p:nvSpPr>
        <p:spPr>
          <a:xfrm>
            <a:off x="9679821" y="4733291"/>
            <a:ext cx="2002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s</a:t>
            </a:r>
            <a:r>
              <a:rPr lang="en-US" altLang="zh-CN" dirty="0" smtClean="0"/>
              <a:t>laveof new master</a:t>
            </a:r>
            <a:endParaRPr lang="zh-CN" altLang="en-US" dirty="0"/>
          </a:p>
        </p:txBody>
      </p:sp>
      <p:sp>
        <p:nvSpPr>
          <p:cNvPr id="59" name="TextBox 58"/>
          <p:cNvSpPr txBox="1"/>
          <p:nvPr/>
        </p:nvSpPr>
        <p:spPr>
          <a:xfrm>
            <a:off x="9003882" y="3629834"/>
            <a:ext cx="2002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s</a:t>
            </a:r>
            <a:r>
              <a:rPr lang="en-US" altLang="zh-CN" dirty="0" smtClean="0"/>
              <a:t>laveof new master</a:t>
            </a:r>
            <a:endParaRPr lang="zh-CN" altLang="en-US" dirty="0"/>
          </a:p>
        </p:txBody>
      </p:sp>
      <p:cxnSp>
        <p:nvCxnSpPr>
          <p:cNvPr id="20" name="直接箭头连接符 19"/>
          <p:cNvCxnSpPr>
            <a:stCxn id="52" idx="0"/>
            <a:endCxn id="49" idx="2"/>
          </p:cNvCxnSpPr>
          <p:nvPr/>
        </p:nvCxnSpPr>
        <p:spPr>
          <a:xfrm flipV="1">
            <a:off x="6811123" y="4043709"/>
            <a:ext cx="1237129" cy="917485"/>
          </a:xfrm>
          <a:prstGeom prst="straightConnector1">
            <a:avLst/>
          </a:prstGeom>
          <a:ln w="28575">
            <a:solidFill>
              <a:schemeClr val="tx2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接箭头连接符 45"/>
          <p:cNvCxnSpPr>
            <a:stCxn id="52" idx="3"/>
            <a:endCxn id="51" idx="1"/>
          </p:cNvCxnSpPr>
          <p:nvPr/>
        </p:nvCxnSpPr>
        <p:spPr>
          <a:xfrm>
            <a:off x="7429687" y="5190403"/>
            <a:ext cx="833590" cy="0"/>
          </a:xfrm>
          <a:prstGeom prst="straightConnector1">
            <a:avLst/>
          </a:prstGeom>
          <a:ln w="28575">
            <a:solidFill>
              <a:schemeClr val="tx2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圆角矩形 66"/>
          <p:cNvSpPr/>
          <p:nvPr/>
        </p:nvSpPr>
        <p:spPr>
          <a:xfrm>
            <a:off x="7888484" y="3279273"/>
            <a:ext cx="1237129" cy="458418"/>
          </a:xfrm>
          <a:prstGeom prst="roundRect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slave1</a:t>
            </a:r>
            <a:endParaRPr lang="zh-CN" altLang="en-US" dirty="0"/>
          </a:p>
        </p:txBody>
      </p:sp>
      <p:sp>
        <p:nvSpPr>
          <p:cNvPr id="68" name="圆角矩形 67"/>
          <p:cNvSpPr/>
          <p:nvPr/>
        </p:nvSpPr>
        <p:spPr>
          <a:xfrm>
            <a:off x="6057869" y="5279763"/>
            <a:ext cx="1237129" cy="458418"/>
          </a:xfrm>
          <a:prstGeom prst="roundRect">
            <a:avLst/>
          </a:prstGeom>
          <a:noFill/>
          <a:ln>
            <a:prstDash val="lgDashDot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schemeClr val="tx2">
                    <a:lumMod val="75000"/>
                  </a:schemeClr>
                </a:solidFill>
              </a:rPr>
              <a:t>slave1</a:t>
            </a:r>
            <a:endParaRPr lang="zh-CN" altLang="en-US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74" name="圆角矩形 73"/>
          <p:cNvSpPr/>
          <p:nvPr/>
        </p:nvSpPr>
        <p:spPr>
          <a:xfrm>
            <a:off x="3053363" y="4426698"/>
            <a:ext cx="1434408" cy="613186"/>
          </a:xfrm>
          <a:prstGeom prst="round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Sentinel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领导者节点</a:t>
            </a:r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6" name="圆角矩形 75"/>
          <p:cNvSpPr/>
          <p:nvPr/>
        </p:nvSpPr>
        <p:spPr>
          <a:xfrm>
            <a:off x="1029653" y="5283654"/>
            <a:ext cx="1237129" cy="458418"/>
          </a:xfrm>
          <a:prstGeom prst="roundRect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master</a:t>
            </a:r>
            <a:endParaRPr lang="zh-CN" altLang="en-US" dirty="0"/>
          </a:p>
        </p:txBody>
      </p:sp>
      <p:cxnSp>
        <p:nvCxnSpPr>
          <p:cNvPr id="78" name="曲线连接符 77"/>
          <p:cNvCxnSpPr>
            <a:endCxn id="76" idx="0"/>
          </p:cNvCxnSpPr>
          <p:nvPr/>
        </p:nvCxnSpPr>
        <p:spPr>
          <a:xfrm rot="10800000" flipV="1">
            <a:off x="1648218" y="4746742"/>
            <a:ext cx="1287182" cy="536911"/>
          </a:xfrm>
          <a:prstGeom prst="curvedConnector2">
            <a:avLst/>
          </a:prstGeom>
          <a:ln>
            <a:solidFill>
              <a:schemeClr val="tx2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曲线连接符 79"/>
          <p:cNvCxnSpPr/>
          <p:nvPr/>
        </p:nvCxnSpPr>
        <p:spPr>
          <a:xfrm flipV="1">
            <a:off x="4613079" y="3737691"/>
            <a:ext cx="1194099" cy="949427"/>
          </a:xfrm>
          <a:prstGeom prst="curvedConnector3">
            <a:avLst/>
          </a:prstGeom>
          <a:ln>
            <a:solidFill>
              <a:schemeClr val="tx2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TextBox 80"/>
          <p:cNvSpPr txBox="1"/>
          <p:nvPr/>
        </p:nvSpPr>
        <p:spPr>
          <a:xfrm>
            <a:off x="1204651" y="4225452"/>
            <a:ext cx="146674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>
                <a:solidFill>
                  <a:schemeClr val="tx2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</a:rPr>
              <a:t>客户端连接</a:t>
            </a:r>
            <a:endParaRPr lang="en-US" altLang="zh-CN" dirty="0" smtClean="0">
              <a:solidFill>
                <a:schemeClr val="tx2">
                  <a:lumMod val="7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r>
              <a:rPr lang="en-US" altLang="zh-CN" dirty="0">
                <a:solidFill>
                  <a:schemeClr val="tx2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</a:rPr>
              <a:t>n</a:t>
            </a:r>
            <a:r>
              <a:rPr lang="en-US" altLang="zh-CN" dirty="0" smtClean="0">
                <a:solidFill>
                  <a:schemeClr val="tx2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</a:rPr>
              <a:t>ew master</a:t>
            </a:r>
            <a:endParaRPr lang="zh-CN" altLang="en-US" dirty="0">
              <a:solidFill>
                <a:schemeClr val="tx2">
                  <a:lumMod val="7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2" name="TextBox 81"/>
          <p:cNvSpPr txBox="1"/>
          <p:nvPr/>
        </p:nvSpPr>
        <p:spPr>
          <a:xfrm>
            <a:off x="3178803" y="3819007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>
                <a:solidFill>
                  <a:schemeClr val="tx2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</a:rPr>
              <a:t>主从节点故障转移</a:t>
            </a:r>
            <a:endParaRPr lang="zh-CN" altLang="en-US" dirty="0">
              <a:solidFill>
                <a:schemeClr val="tx2">
                  <a:lumMod val="7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29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28841" y="0"/>
            <a:ext cx="2763159" cy="10567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38195742"/>
      </p:ext>
    </p:extLst>
  </p:cSld>
  <p:clrMapOvr>
    <a:masterClrMapping/>
  </p:clrMapOvr>
  <p:transition spd="slow" advClick="0" advTm="0">
    <p:push dir="u"/>
  </p:transition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029653" y="397510"/>
            <a:ext cx="158729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altLang="zh-CN" b="1" dirty="0" smtClean="0">
                <a:solidFill>
                  <a:srgbClr val="304371"/>
                </a:solidFill>
                <a:latin typeface="微软雅黑" panose="020B0503020204020204" charset="-122"/>
                <a:ea typeface="微软雅黑" panose="020B0503020204020204" charset="-122"/>
                <a:cs typeface="Arial Unicode MS" panose="020B0604020202020204" charset="-122"/>
                <a:sym typeface="+mn-ea"/>
              </a:rPr>
              <a:t>Sentinel</a:t>
            </a:r>
            <a:r>
              <a:rPr lang="zh-CN" altLang="en-US" b="1" dirty="0" smtClean="0">
                <a:solidFill>
                  <a:srgbClr val="304371"/>
                </a:solidFill>
                <a:latin typeface="微软雅黑" panose="020B0503020204020204" charset="-122"/>
                <a:ea typeface="微软雅黑" panose="020B0503020204020204" charset="-122"/>
                <a:cs typeface="Arial Unicode MS" panose="020B0604020202020204" charset="-122"/>
                <a:sym typeface="+mn-ea"/>
              </a:rPr>
              <a:t>模式</a:t>
            </a:r>
            <a:endParaRPr lang="en-US" altLang="zh-CN" b="1" dirty="0" smtClean="0">
              <a:solidFill>
                <a:srgbClr val="304371"/>
              </a:solidFill>
              <a:latin typeface="微软雅黑" panose="020B0503020204020204" charset="-122"/>
              <a:ea typeface="微软雅黑" panose="020B0503020204020204" charset="-122"/>
              <a:cs typeface="Arial Unicode MS" panose="020B0604020202020204" charset="-122"/>
              <a:sym typeface="+mn-ea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29653" y="1452282"/>
            <a:ext cx="11064054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三个定时任务</a:t>
            </a:r>
            <a:endParaRPr lang="en-US" altLang="zh-CN" dirty="0" smtClean="0">
              <a:latin typeface="微软雅黑" pitchFamily="34" charset="-122"/>
              <a:ea typeface="微软雅黑" pitchFamily="34" charset="-122"/>
            </a:endParaRPr>
          </a:p>
          <a:p>
            <a:pPr marL="285750" indent="-285750">
              <a:buFont typeface="Wingdings" pitchFamily="2" charset="2"/>
              <a:buChar char="ü"/>
            </a:pP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每隔</a:t>
            </a:r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10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秒，每个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s</a:t>
            </a:r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entinel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节点会向</a:t>
            </a:r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master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和</a:t>
            </a:r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slave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发起</a:t>
            </a:r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info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命令获取最新的拓扑结构</a:t>
            </a:r>
            <a:endParaRPr lang="en-US" altLang="zh-CN" dirty="0">
              <a:latin typeface="微软雅黑" pitchFamily="34" charset="-122"/>
              <a:ea typeface="微软雅黑" pitchFamily="34" charset="-122"/>
            </a:endParaRPr>
          </a:p>
          <a:p>
            <a:pPr marL="285750" indent="-285750">
              <a:buFont typeface="Wingdings" pitchFamily="2" charset="2"/>
              <a:buChar char="ü"/>
            </a:pP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每隔</a:t>
            </a:r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2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秒，每个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s</a:t>
            </a:r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entinel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节点会向</a:t>
            </a:r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Redis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数据节点</a:t>
            </a:r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_</a:t>
            </a:r>
            <a:r>
              <a:rPr lang="en-US" altLang="zh-CN" dirty="0" err="1" smtClean="0">
                <a:latin typeface="微软雅黑" pitchFamily="34" charset="-122"/>
                <a:ea typeface="微软雅黑" pitchFamily="34" charset="-122"/>
              </a:rPr>
              <a:t>sentinel_:hello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频道上发送该</a:t>
            </a:r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sentinel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节点对于主节点</a:t>
            </a:r>
            <a:endParaRPr lang="en-US" altLang="zh-CN" dirty="0" smtClean="0">
              <a:latin typeface="微软雅黑" pitchFamily="34" charset="-122"/>
              <a:ea typeface="微软雅黑" pitchFamily="34" charset="-122"/>
            </a:endParaRPr>
          </a:p>
          <a:p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   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的判断以及当前</a:t>
            </a:r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sentinel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节点的信息，同时每个</a:t>
            </a:r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sentinel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也会订阅该频道，来了解其他</a:t>
            </a:r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sentinel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的节点信</a:t>
            </a:r>
            <a:endParaRPr lang="en-US" altLang="zh-CN" dirty="0" smtClean="0">
              <a:latin typeface="微软雅黑" pitchFamily="34" charset="-122"/>
              <a:ea typeface="微软雅黑" pitchFamily="34" charset="-122"/>
            </a:endParaRPr>
          </a:p>
          <a:p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   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息和以及它们对主节点的判断</a:t>
            </a:r>
            <a:endParaRPr lang="en-US" altLang="zh-CN" dirty="0">
              <a:latin typeface="微软雅黑" pitchFamily="34" charset="-122"/>
              <a:ea typeface="微软雅黑" pitchFamily="34" charset="-122"/>
            </a:endParaRPr>
          </a:p>
          <a:p>
            <a:pPr marL="285750" indent="-285750">
              <a:buFont typeface="Wingdings" pitchFamily="2" charset="2"/>
              <a:buChar char="ü"/>
            </a:pP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每隔</a:t>
            </a:r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秒，每个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s</a:t>
            </a:r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entinel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节点都会向</a:t>
            </a:r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master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slave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、其余</a:t>
            </a:r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sentinel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节点发送一条</a:t>
            </a:r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ping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命令进行心跳检测，</a:t>
            </a:r>
            <a:endParaRPr lang="en-US" altLang="zh-CN" dirty="0" smtClean="0">
              <a:latin typeface="微软雅黑" pitchFamily="34" charset="-122"/>
              <a:ea typeface="微软雅黑" pitchFamily="34" charset="-122"/>
            </a:endParaRPr>
          </a:p>
          <a:p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   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来确认这些节点是否可达</a:t>
            </a:r>
            <a:endParaRPr lang="en-US" altLang="zh-CN" dirty="0" smtClean="0">
              <a:latin typeface="微软雅黑" pitchFamily="34" charset="-122"/>
              <a:ea typeface="微软雅黑" pitchFamily="34" charset="-122"/>
            </a:endParaRPr>
          </a:p>
          <a:p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    </a:t>
            </a:r>
          </a:p>
          <a:p>
            <a:endParaRPr lang="zh-CN" altLang="en-US" dirty="0"/>
          </a:p>
        </p:txBody>
      </p:sp>
      <p:sp>
        <p:nvSpPr>
          <p:cNvPr id="28" name="圆角矩形 27"/>
          <p:cNvSpPr/>
          <p:nvPr/>
        </p:nvSpPr>
        <p:spPr>
          <a:xfrm>
            <a:off x="1029653" y="3691971"/>
            <a:ext cx="1237129" cy="458418"/>
          </a:xfrm>
          <a:prstGeom prst="roundRect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sentinel</a:t>
            </a:r>
            <a:endParaRPr lang="zh-CN" altLang="en-US" dirty="0"/>
          </a:p>
        </p:txBody>
      </p:sp>
      <p:sp>
        <p:nvSpPr>
          <p:cNvPr id="33" name="圆角矩形 32"/>
          <p:cNvSpPr/>
          <p:nvPr/>
        </p:nvSpPr>
        <p:spPr>
          <a:xfrm>
            <a:off x="1029650" y="4772971"/>
            <a:ext cx="1237129" cy="458418"/>
          </a:xfrm>
          <a:prstGeom prst="roundRect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sentinel</a:t>
            </a:r>
            <a:endParaRPr lang="zh-CN" altLang="en-US" dirty="0"/>
          </a:p>
        </p:txBody>
      </p:sp>
      <p:sp>
        <p:nvSpPr>
          <p:cNvPr id="34" name="圆角矩形 33"/>
          <p:cNvSpPr/>
          <p:nvPr/>
        </p:nvSpPr>
        <p:spPr>
          <a:xfrm>
            <a:off x="1029651" y="5866809"/>
            <a:ext cx="1237129" cy="458418"/>
          </a:xfrm>
          <a:prstGeom prst="roundRect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sentinel</a:t>
            </a:r>
            <a:endParaRPr lang="zh-CN" altLang="en-US" dirty="0"/>
          </a:p>
        </p:txBody>
      </p:sp>
      <p:sp>
        <p:nvSpPr>
          <p:cNvPr id="6" name="椭圆 5"/>
          <p:cNvSpPr/>
          <p:nvPr/>
        </p:nvSpPr>
        <p:spPr>
          <a:xfrm>
            <a:off x="3980328" y="4087780"/>
            <a:ext cx="1247888" cy="914400"/>
          </a:xfrm>
          <a:prstGeom prst="ellipse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master</a:t>
            </a:r>
            <a:endParaRPr lang="zh-CN" altLang="en-US" dirty="0"/>
          </a:p>
        </p:txBody>
      </p:sp>
      <p:cxnSp>
        <p:nvCxnSpPr>
          <p:cNvPr id="9" name="直接箭头连接符 8"/>
          <p:cNvCxnSpPr>
            <a:endCxn id="6" idx="2"/>
          </p:cNvCxnSpPr>
          <p:nvPr/>
        </p:nvCxnSpPr>
        <p:spPr>
          <a:xfrm>
            <a:off x="2266782" y="3921180"/>
            <a:ext cx="1713546" cy="623800"/>
          </a:xfrm>
          <a:prstGeom prst="straightConnector1">
            <a:avLst/>
          </a:prstGeom>
          <a:ln>
            <a:solidFill>
              <a:schemeClr val="tx2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箭头连接符 10"/>
          <p:cNvCxnSpPr>
            <a:stCxn id="33" idx="3"/>
            <a:endCxn id="6" idx="2"/>
          </p:cNvCxnSpPr>
          <p:nvPr/>
        </p:nvCxnSpPr>
        <p:spPr>
          <a:xfrm flipV="1">
            <a:off x="2266779" y="4544980"/>
            <a:ext cx="1713549" cy="457200"/>
          </a:xfrm>
          <a:prstGeom prst="straightConnector1">
            <a:avLst/>
          </a:prstGeom>
          <a:ln>
            <a:solidFill>
              <a:schemeClr val="tx2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箭头连接符 44"/>
          <p:cNvCxnSpPr/>
          <p:nvPr/>
        </p:nvCxnSpPr>
        <p:spPr>
          <a:xfrm flipH="1">
            <a:off x="2266782" y="4773580"/>
            <a:ext cx="1713546" cy="457809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接箭头连接符 46"/>
          <p:cNvCxnSpPr/>
          <p:nvPr/>
        </p:nvCxnSpPr>
        <p:spPr>
          <a:xfrm flipH="1" flipV="1">
            <a:off x="2266782" y="3691971"/>
            <a:ext cx="1788851" cy="541109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接箭头连接符 48"/>
          <p:cNvCxnSpPr>
            <a:endCxn id="6" idx="3"/>
          </p:cNvCxnSpPr>
          <p:nvPr/>
        </p:nvCxnSpPr>
        <p:spPr>
          <a:xfrm flipV="1">
            <a:off x="2266782" y="4868269"/>
            <a:ext cx="1896295" cy="1091468"/>
          </a:xfrm>
          <a:prstGeom prst="straightConnector1">
            <a:avLst/>
          </a:prstGeom>
          <a:ln>
            <a:solidFill>
              <a:schemeClr val="tx2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接箭头连接符 51"/>
          <p:cNvCxnSpPr>
            <a:stCxn id="6" idx="4"/>
          </p:cNvCxnSpPr>
          <p:nvPr/>
        </p:nvCxnSpPr>
        <p:spPr>
          <a:xfrm flipH="1">
            <a:off x="2266784" y="5002180"/>
            <a:ext cx="2337488" cy="123725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2616947" y="4150389"/>
            <a:ext cx="6832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ping</a:t>
            </a:r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2657527" y="4533953"/>
            <a:ext cx="6832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ping</a:t>
            </a:r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2728361" y="5204441"/>
            <a:ext cx="6832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ping</a:t>
            </a:r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2958547" y="5636570"/>
            <a:ext cx="332629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超过</a:t>
            </a:r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down-after-milliseconds</a:t>
            </a:r>
          </a:p>
          <a:p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无有效回复，则主观下线</a:t>
            </a:r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6" name="右箭头 55"/>
          <p:cNvSpPr/>
          <p:nvPr/>
        </p:nvSpPr>
        <p:spPr>
          <a:xfrm>
            <a:off x="5583272" y="4302664"/>
            <a:ext cx="3388606" cy="484632"/>
          </a:xfrm>
          <a:prstGeom prst="rightArrow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6" name="圆角矩形 75"/>
          <p:cNvSpPr/>
          <p:nvPr/>
        </p:nvSpPr>
        <p:spPr>
          <a:xfrm>
            <a:off x="9341807" y="4150389"/>
            <a:ext cx="2152818" cy="729116"/>
          </a:xfrm>
          <a:prstGeom prst="roundRect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客观下线</a:t>
            </a:r>
            <a:endParaRPr lang="zh-CN" altLang="en-US" dirty="0"/>
          </a:p>
        </p:txBody>
      </p:sp>
      <p:sp>
        <p:nvSpPr>
          <p:cNvPr id="77" name="TextBox 76"/>
          <p:cNvSpPr txBox="1"/>
          <p:nvPr/>
        </p:nvSpPr>
        <p:spPr>
          <a:xfrm>
            <a:off x="5044124" y="3505739"/>
            <a:ext cx="4413901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dirty="0"/>
              <a:t>通过</a:t>
            </a:r>
            <a:r>
              <a:rPr lang="en-US" altLang="zh-CN" dirty="0" smtClean="0"/>
              <a:t>sentinel </a:t>
            </a:r>
            <a:r>
              <a:rPr lang="en-US" altLang="zh-CN" dirty="0" err="1"/>
              <a:t>ismaster</a:t>
            </a:r>
            <a:r>
              <a:rPr lang="en-US" altLang="zh-CN" dirty="0"/>
              <a:t>-down-by-</a:t>
            </a:r>
            <a:r>
              <a:rPr lang="en-US" altLang="zh-CN" dirty="0" err="1"/>
              <a:t>addr</a:t>
            </a:r>
            <a:r>
              <a:rPr lang="zh-CN" altLang="en-US" dirty="0"/>
              <a:t>命令</a:t>
            </a:r>
            <a:br>
              <a:rPr lang="zh-CN" altLang="en-US" dirty="0"/>
            </a:br>
            <a:r>
              <a:rPr lang="zh-CN" altLang="en-US" dirty="0" smtClean="0"/>
              <a:t>询问</a:t>
            </a:r>
            <a:r>
              <a:rPr lang="zh-CN" altLang="en-US" dirty="0"/>
              <a:t>其他</a:t>
            </a:r>
            <a:r>
              <a:rPr lang="en-US" altLang="zh-CN" dirty="0"/>
              <a:t>sentinel</a:t>
            </a:r>
            <a:r>
              <a:rPr lang="zh-CN" altLang="en-US" dirty="0"/>
              <a:t>节点对主节点的判断，</a:t>
            </a:r>
            <a:endParaRPr lang="en-US" altLang="zh-CN" dirty="0"/>
          </a:p>
          <a:p>
            <a:pPr algn="ctr"/>
            <a:r>
              <a:rPr lang="zh-CN" altLang="en-US" dirty="0" smtClean="0"/>
              <a:t>超过不可达票数</a:t>
            </a:r>
            <a:r>
              <a:rPr lang="en-US" altLang="zh-CN" dirty="0" smtClean="0"/>
              <a:t>quorum</a:t>
            </a:r>
            <a:r>
              <a:rPr lang="en-US" altLang="zh-CN" dirty="0"/>
              <a:t/>
            </a:r>
            <a:br>
              <a:rPr lang="en-US" altLang="zh-CN" dirty="0"/>
            </a:br>
            <a:endParaRPr lang="zh-CN" altLang="en-US" dirty="0" smtClean="0"/>
          </a:p>
          <a:p>
            <a:endParaRPr lang="zh-CN" altLang="en-US" dirty="0"/>
          </a:p>
        </p:txBody>
      </p:sp>
      <p:pic>
        <p:nvPicPr>
          <p:cNvPr id="21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28841" y="0"/>
            <a:ext cx="2763159" cy="10567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20339050"/>
      </p:ext>
    </p:extLst>
  </p:cSld>
  <p:clrMapOvr>
    <a:masterClrMapping/>
  </p:clrMapOvr>
  <p:transition spd="slow" advClick="0" advTm="0">
    <p:push dir="u"/>
  </p:transition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圆角矩形 52"/>
          <p:cNvSpPr/>
          <p:nvPr/>
        </p:nvSpPr>
        <p:spPr>
          <a:xfrm>
            <a:off x="2764715" y="3689873"/>
            <a:ext cx="5500905" cy="983075"/>
          </a:xfrm>
          <a:prstGeom prst="round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圆角矩形 2"/>
          <p:cNvSpPr/>
          <p:nvPr/>
        </p:nvSpPr>
        <p:spPr>
          <a:xfrm>
            <a:off x="2108185" y="3084945"/>
            <a:ext cx="6970956" cy="3272824"/>
          </a:xfrm>
          <a:prstGeom prst="round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矩形 1"/>
          <p:cNvSpPr/>
          <p:nvPr/>
        </p:nvSpPr>
        <p:spPr>
          <a:xfrm>
            <a:off x="1029653" y="397510"/>
            <a:ext cx="215706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altLang="zh-CN" b="1" dirty="0" smtClean="0">
                <a:solidFill>
                  <a:srgbClr val="304371"/>
                </a:solidFill>
                <a:latin typeface="微软雅黑" panose="020B0503020204020204" charset="-122"/>
                <a:ea typeface="微软雅黑" panose="020B0503020204020204" charset="-122"/>
                <a:cs typeface="Arial Unicode MS" panose="020B0604020202020204" charset="-122"/>
                <a:sym typeface="+mn-ea"/>
              </a:rPr>
              <a:t>Redis Cluster</a:t>
            </a:r>
            <a:r>
              <a:rPr lang="zh-CN" altLang="en-US" b="1" dirty="0" smtClean="0">
                <a:solidFill>
                  <a:srgbClr val="304371"/>
                </a:solidFill>
                <a:latin typeface="微软雅黑" panose="020B0503020204020204" charset="-122"/>
                <a:ea typeface="微软雅黑" panose="020B0503020204020204" charset="-122"/>
                <a:cs typeface="Arial Unicode MS" panose="020B0604020202020204" charset="-122"/>
                <a:sym typeface="+mn-ea"/>
              </a:rPr>
              <a:t>模式</a:t>
            </a:r>
            <a:endParaRPr lang="en-US" altLang="zh-CN" b="1" dirty="0" smtClean="0">
              <a:solidFill>
                <a:srgbClr val="304371"/>
              </a:solidFill>
              <a:latin typeface="微软雅黑" panose="020B0503020204020204" charset="-122"/>
              <a:ea typeface="微软雅黑" panose="020B0503020204020204" charset="-122"/>
              <a:cs typeface="Arial Unicode MS" panose="020B0604020202020204" charset="-122"/>
              <a:sym typeface="+mn-ea"/>
            </a:endParaRPr>
          </a:p>
        </p:txBody>
      </p:sp>
      <p:sp>
        <p:nvSpPr>
          <p:cNvPr id="10" name="TextBox 24"/>
          <p:cNvSpPr txBox="1"/>
          <p:nvPr/>
        </p:nvSpPr>
        <p:spPr>
          <a:xfrm>
            <a:off x="245047" y="3202287"/>
            <a:ext cx="648335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400" b="1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意义</a:t>
            </a:r>
            <a:r>
              <a:rPr lang="en-US" altLang="zh-CN" sz="1400" b="1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1</a:t>
            </a:r>
          </a:p>
        </p:txBody>
      </p:sp>
      <p:sp>
        <p:nvSpPr>
          <p:cNvPr id="375" name="Freeform 28"/>
          <p:cNvSpPr>
            <a:spLocks noEditPoints="1"/>
          </p:cNvSpPr>
          <p:nvPr/>
        </p:nvSpPr>
        <p:spPr bwMode="auto">
          <a:xfrm>
            <a:off x="404620" y="2673046"/>
            <a:ext cx="328930" cy="326390"/>
          </a:xfrm>
          <a:custGeom>
            <a:avLst/>
            <a:gdLst>
              <a:gd name="T0" fmla="*/ 132 w 144"/>
              <a:gd name="T1" fmla="*/ 61 h 144"/>
              <a:gd name="T2" fmla="*/ 121 w 144"/>
              <a:gd name="T3" fmla="*/ 46 h 144"/>
              <a:gd name="T4" fmla="*/ 127 w 144"/>
              <a:gd name="T5" fmla="*/ 33 h 144"/>
              <a:gd name="T6" fmla="*/ 119 w 144"/>
              <a:gd name="T7" fmla="*/ 17 h 144"/>
              <a:gd name="T8" fmla="*/ 106 w 144"/>
              <a:gd name="T9" fmla="*/ 22 h 144"/>
              <a:gd name="T10" fmla="*/ 88 w 144"/>
              <a:gd name="T11" fmla="*/ 19 h 144"/>
              <a:gd name="T12" fmla="*/ 83 w 144"/>
              <a:gd name="T13" fmla="*/ 6 h 144"/>
              <a:gd name="T14" fmla="*/ 66 w 144"/>
              <a:gd name="T15" fmla="*/ 0 h 144"/>
              <a:gd name="T16" fmla="*/ 61 w 144"/>
              <a:gd name="T17" fmla="*/ 12 h 144"/>
              <a:gd name="T18" fmla="*/ 46 w 144"/>
              <a:gd name="T19" fmla="*/ 23 h 144"/>
              <a:gd name="T20" fmla="*/ 33 w 144"/>
              <a:gd name="T21" fmla="*/ 17 h 144"/>
              <a:gd name="T22" fmla="*/ 17 w 144"/>
              <a:gd name="T23" fmla="*/ 25 h 144"/>
              <a:gd name="T24" fmla="*/ 22 w 144"/>
              <a:gd name="T25" fmla="*/ 38 h 144"/>
              <a:gd name="T26" fmla="*/ 19 w 144"/>
              <a:gd name="T27" fmla="*/ 56 h 144"/>
              <a:gd name="T28" fmla="*/ 6 w 144"/>
              <a:gd name="T29" fmla="*/ 61 h 144"/>
              <a:gd name="T30" fmla="*/ 0 w 144"/>
              <a:gd name="T31" fmla="*/ 78 h 144"/>
              <a:gd name="T32" fmla="*/ 12 w 144"/>
              <a:gd name="T33" fmla="*/ 83 h 144"/>
              <a:gd name="T34" fmla="*/ 23 w 144"/>
              <a:gd name="T35" fmla="*/ 98 h 144"/>
              <a:gd name="T36" fmla="*/ 17 w 144"/>
              <a:gd name="T37" fmla="*/ 111 h 144"/>
              <a:gd name="T38" fmla="*/ 25 w 144"/>
              <a:gd name="T39" fmla="*/ 127 h 144"/>
              <a:gd name="T40" fmla="*/ 38 w 144"/>
              <a:gd name="T41" fmla="*/ 122 h 144"/>
              <a:gd name="T42" fmla="*/ 56 w 144"/>
              <a:gd name="T43" fmla="*/ 125 h 144"/>
              <a:gd name="T44" fmla="*/ 61 w 144"/>
              <a:gd name="T45" fmla="*/ 138 h 144"/>
              <a:gd name="T46" fmla="*/ 78 w 144"/>
              <a:gd name="T47" fmla="*/ 144 h 144"/>
              <a:gd name="T48" fmla="*/ 83 w 144"/>
              <a:gd name="T49" fmla="*/ 132 h 144"/>
              <a:gd name="T50" fmla="*/ 98 w 144"/>
              <a:gd name="T51" fmla="*/ 121 h 144"/>
              <a:gd name="T52" fmla="*/ 111 w 144"/>
              <a:gd name="T53" fmla="*/ 127 h 144"/>
              <a:gd name="T54" fmla="*/ 127 w 144"/>
              <a:gd name="T55" fmla="*/ 119 h 144"/>
              <a:gd name="T56" fmla="*/ 122 w 144"/>
              <a:gd name="T57" fmla="*/ 106 h 144"/>
              <a:gd name="T58" fmla="*/ 125 w 144"/>
              <a:gd name="T59" fmla="*/ 88 h 144"/>
              <a:gd name="T60" fmla="*/ 138 w 144"/>
              <a:gd name="T61" fmla="*/ 83 h 144"/>
              <a:gd name="T62" fmla="*/ 144 w 144"/>
              <a:gd name="T63" fmla="*/ 66 h 144"/>
              <a:gd name="T64" fmla="*/ 100 w 144"/>
              <a:gd name="T65" fmla="*/ 72 h 144"/>
              <a:gd name="T66" fmla="*/ 44 w 144"/>
              <a:gd name="T67" fmla="*/ 72 h 144"/>
              <a:gd name="T68" fmla="*/ 100 w 144"/>
              <a:gd name="T69" fmla="*/ 72 h 1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144" h="144">
                <a:moveTo>
                  <a:pt x="138" y="61"/>
                </a:moveTo>
                <a:cubicBezTo>
                  <a:pt x="132" y="61"/>
                  <a:pt x="132" y="61"/>
                  <a:pt x="132" y="61"/>
                </a:cubicBezTo>
                <a:cubicBezTo>
                  <a:pt x="129" y="61"/>
                  <a:pt x="126" y="59"/>
                  <a:pt x="125" y="56"/>
                </a:cubicBezTo>
                <a:cubicBezTo>
                  <a:pt x="121" y="46"/>
                  <a:pt x="121" y="46"/>
                  <a:pt x="121" y="46"/>
                </a:cubicBezTo>
                <a:cubicBezTo>
                  <a:pt x="119" y="44"/>
                  <a:pt x="120" y="40"/>
                  <a:pt x="122" y="38"/>
                </a:cubicBezTo>
                <a:cubicBezTo>
                  <a:pt x="127" y="33"/>
                  <a:pt x="127" y="33"/>
                  <a:pt x="127" y="33"/>
                </a:cubicBezTo>
                <a:cubicBezTo>
                  <a:pt x="129" y="31"/>
                  <a:pt x="129" y="27"/>
                  <a:pt x="127" y="25"/>
                </a:cubicBezTo>
                <a:cubicBezTo>
                  <a:pt x="119" y="17"/>
                  <a:pt x="119" y="17"/>
                  <a:pt x="119" y="17"/>
                </a:cubicBezTo>
                <a:cubicBezTo>
                  <a:pt x="117" y="15"/>
                  <a:pt x="113" y="15"/>
                  <a:pt x="111" y="17"/>
                </a:cubicBezTo>
                <a:cubicBezTo>
                  <a:pt x="106" y="22"/>
                  <a:pt x="106" y="22"/>
                  <a:pt x="106" y="22"/>
                </a:cubicBezTo>
                <a:cubicBezTo>
                  <a:pt x="104" y="24"/>
                  <a:pt x="100" y="25"/>
                  <a:pt x="98" y="23"/>
                </a:cubicBezTo>
                <a:cubicBezTo>
                  <a:pt x="88" y="19"/>
                  <a:pt x="88" y="19"/>
                  <a:pt x="88" y="19"/>
                </a:cubicBezTo>
                <a:cubicBezTo>
                  <a:pt x="85" y="18"/>
                  <a:pt x="83" y="15"/>
                  <a:pt x="83" y="12"/>
                </a:cubicBezTo>
                <a:cubicBezTo>
                  <a:pt x="83" y="6"/>
                  <a:pt x="83" y="6"/>
                  <a:pt x="83" y="6"/>
                </a:cubicBezTo>
                <a:cubicBezTo>
                  <a:pt x="83" y="2"/>
                  <a:pt x="81" y="0"/>
                  <a:pt x="78" y="0"/>
                </a:cubicBezTo>
                <a:cubicBezTo>
                  <a:pt x="66" y="0"/>
                  <a:pt x="66" y="0"/>
                  <a:pt x="66" y="0"/>
                </a:cubicBezTo>
                <a:cubicBezTo>
                  <a:pt x="63" y="0"/>
                  <a:pt x="61" y="2"/>
                  <a:pt x="61" y="6"/>
                </a:cubicBezTo>
                <a:cubicBezTo>
                  <a:pt x="61" y="12"/>
                  <a:pt x="61" y="12"/>
                  <a:pt x="61" y="12"/>
                </a:cubicBezTo>
                <a:cubicBezTo>
                  <a:pt x="61" y="15"/>
                  <a:pt x="59" y="18"/>
                  <a:pt x="56" y="19"/>
                </a:cubicBezTo>
                <a:cubicBezTo>
                  <a:pt x="46" y="23"/>
                  <a:pt x="46" y="23"/>
                  <a:pt x="46" y="23"/>
                </a:cubicBezTo>
                <a:cubicBezTo>
                  <a:pt x="44" y="25"/>
                  <a:pt x="40" y="24"/>
                  <a:pt x="38" y="22"/>
                </a:cubicBezTo>
                <a:cubicBezTo>
                  <a:pt x="33" y="17"/>
                  <a:pt x="33" y="17"/>
                  <a:pt x="33" y="17"/>
                </a:cubicBezTo>
                <a:cubicBezTo>
                  <a:pt x="31" y="15"/>
                  <a:pt x="27" y="15"/>
                  <a:pt x="25" y="17"/>
                </a:cubicBezTo>
                <a:cubicBezTo>
                  <a:pt x="17" y="25"/>
                  <a:pt x="17" y="25"/>
                  <a:pt x="17" y="25"/>
                </a:cubicBezTo>
                <a:cubicBezTo>
                  <a:pt x="15" y="27"/>
                  <a:pt x="15" y="31"/>
                  <a:pt x="17" y="33"/>
                </a:cubicBezTo>
                <a:cubicBezTo>
                  <a:pt x="22" y="38"/>
                  <a:pt x="22" y="38"/>
                  <a:pt x="22" y="38"/>
                </a:cubicBezTo>
                <a:cubicBezTo>
                  <a:pt x="24" y="40"/>
                  <a:pt x="25" y="44"/>
                  <a:pt x="23" y="46"/>
                </a:cubicBezTo>
                <a:cubicBezTo>
                  <a:pt x="19" y="56"/>
                  <a:pt x="19" y="56"/>
                  <a:pt x="19" y="56"/>
                </a:cubicBezTo>
                <a:cubicBezTo>
                  <a:pt x="18" y="59"/>
                  <a:pt x="15" y="61"/>
                  <a:pt x="12" y="61"/>
                </a:cubicBezTo>
                <a:cubicBezTo>
                  <a:pt x="6" y="61"/>
                  <a:pt x="6" y="61"/>
                  <a:pt x="6" y="61"/>
                </a:cubicBezTo>
                <a:cubicBezTo>
                  <a:pt x="2" y="61"/>
                  <a:pt x="0" y="63"/>
                  <a:pt x="0" y="66"/>
                </a:cubicBezTo>
                <a:cubicBezTo>
                  <a:pt x="0" y="78"/>
                  <a:pt x="0" y="78"/>
                  <a:pt x="0" y="78"/>
                </a:cubicBezTo>
                <a:cubicBezTo>
                  <a:pt x="0" y="81"/>
                  <a:pt x="2" y="83"/>
                  <a:pt x="6" y="83"/>
                </a:cubicBezTo>
                <a:cubicBezTo>
                  <a:pt x="12" y="83"/>
                  <a:pt x="12" y="83"/>
                  <a:pt x="12" y="83"/>
                </a:cubicBezTo>
                <a:cubicBezTo>
                  <a:pt x="15" y="83"/>
                  <a:pt x="18" y="85"/>
                  <a:pt x="19" y="88"/>
                </a:cubicBezTo>
                <a:cubicBezTo>
                  <a:pt x="23" y="98"/>
                  <a:pt x="23" y="98"/>
                  <a:pt x="23" y="98"/>
                </a:cubicBezTo>
                <a:cubicBezTo>
                  <a:pt x="25" y="100"/>
                  <a:pt x="24" y="104"/>
                  <a:pt x="22" y="106"/>
                </a:cubicBezTo>
                <a:cubicBezTo>
                  <a:pt x="17" y="111"/>
                  <a:pt x="17" y="111"/>
                  <a:pt x="17" y="111"/>
                </a:cubicBezTo>
                <a:cubicBezTo>
                  <a:pt x="15" y="113"/>
                  <a:pt x="15" y="117"/>
                  <a:pt x="17" y="119"/>
                </a:cubicBezTo>
                <a:cubicBezTo>
                  <a:pt x="25" y="127"/>
                  <a:pt x="25" y="127"/>
                  <a:pt x="25" y="127"/>
                </a:cubicBezTo>
                <a:cubicBezTo>
                  <a:pt x="27" y="129"/>
                  <a:pt x="31" y="129"/>
                  <a:pt x="33" y="127"/>
                </a:cubicBezTo>
                <a:cubicBezTo>
                  <a:pt x="38" y="122"/>
                  <a:pt x="38" y="122"/>
                  <a:pt x="38" y="122"/>
                </a:cubicBezTo>
                <a:cubicBezTo>
                  <a:pt x="40" y="120"/>
                  <a:pt x="44" y="119"/>
                  <a:pt x="46" y="121"/>
                </a:cubicBezTo>
                <a:cubicBezTo>
                  <a:pt x="56" y="125"/>
                  <a:pt x="56" y="125"/>
                  <a:pt x="56" y="125"/>
                </a:cubicBezTo>
                <a:cubicBezTo>
                  <a:pt x="59" y="126"/>
                  <a:pt x="61" y="129"/>
                  <a:pt x="61" y="132"/>
                </a:cubicBezTo>
                <a:cubicBezTo>
                  <a:pt x="61" y="138"/>
                  <a:pt x="61" y="138"/>
                  <a:pt x="61" y="138"/>
                </a:cubicBezTo>
                <a:cubicBezTo>
                  <a:pt x="61" y="142"/>
                  <a:pt x="63" y="144"/>
                  <a:pt x="66" y="144"/>
                </a:cubicBezTo>
                <a:cubicBezTo>
                  <a:pt x="78" y="144"/>
                  <a:pt x="78" y="144"/>
                  <a:pt x="78" y="144"/>
                </a:cubicBezTo>
                <a:cubicBezTo>
                  <a:pt x="81" y="144"/>
                  <a:pt x="83" y="142"/>
                  <a:pt x="83" y="138"/>
                </a:cubicBezTo>
                <a:cubicBezTo>
                  <a:pt x="83" y="132"/>
                  <a:pt x="83" y="132"/>
                  <a:pt x="83" y="132"/>
                </a:cubicBezTo>
                <a:cubicBezTo>
                  <a:pt x="83" y="129"/>
                  <a:pt x="85" y="126"/>
                  <a:pt x="88" y="125"/>
                </a:cubicBezTo>
                <a:cubicBezTo>
                  <a:pt x="98" y="121"/>
                  <a:pt x="98" y="121"/>
                  <a:pt x="98" y="121"/>
                </a:cubicBezTo>
                <a:cubicBezTo>
                  <a:pt x="100" y="119"/>
                  <a:pt x="104" y="120"/>
                  <a:pt x="106" y="122"/>
                </a:cubicBezTo>
                <a:cubicBezTo>
                  <a:pt x="111" y="127"/>
                  <a:pt x="111" y="127"/>
                  <a:pt x="111" y="127"/>
                </a:cubicBezTo>
                <a:cubicBezTo>
                  <a:pt x="113" y="129"/>
                  <a:pt x="117" y="129"/>
                  <a:pt x="119" y="127"/>
                </a:cubicBezTo>
                <a:cubicBezTo>
                  <a:pt x="127" y="119"/>
                  <a:pt x="127" y="119"/>
                  <a:pt x="127" y="119"/>
                </a:cubicBezTo>
                <a:cubicBezTo>
                  <a:pt x="129" y="117"/>
                  <a:pt x="129" y="113"/>
                  <a:pt x="127" y="111"/>
                </a:cubicBezTo>
                <a:cubicBezTo>
                  <a:pt x="122" y="106"/>
                  <a:pt x="122" y="106"/>
                  <a:pt x="122" y="106"/>
                </a:cubicBezTo>
                <a:cubicBezTo>
                  <a:pt x="120" y="104"/>
                  <a:pt x="119" y="100"/>
                  <a:pt x="121" y="98"/>
                </a:cubicBezTo>
                <a:cubicBezTo>
                  <a:pt x="125" y="88"/>
                  <a:pt x="125" y="88"/>
                  <a:pt x="125" y="88"/>
                </a:cubicBezTo>
                <a:cubicBezTo>
                  <a:pt x="126" y="85"/>
                  <a:pt x="129" y="83"/>
                  <a:pt x="132" y="83"/>
                </a:cubicBezTo>
                <a:cubicBezTo>
                  <a:pt x="138" y="83"/>
                  <a:pt x="138" y="83"/>
                  <a:pt x="138" y="83"/>
                </a:cubicBezTo>
                <a:cubicBezTo>
                  <a:pt x="142" y="83"/>
                  <a:pt x="144" y="81"/>
                  <a:pt x="144" y="78"/>
                </a:cubicBezTo>
                <a:cubicBezTo>
                  <a:pt x="144" y="66"/>
                  <a:pt x="144" y="66"/>
                  <a:pt x="144" y="66"/>
                </a:cubicBezTo>
                <a:cubicBezTo>
                  <a:pt x="144" y="63"/>
                  <a:pt x="142" y="61"/>
                  <a:pt x="138" y="61"/>
                </a:cubicBezTo>
                <a:moveTo>
                  <a:pt x="100" y="72"/>
                </a:moveTo>
                <a:cubicBezTo>
                  <a:pt x="100" y="87"/>
                  <a:pt x="87" y="100"/>
                  <a:pt x="72" y="100"/>
                </a:cubicBezTo>
                <a:cubicBezTo>
                  <a:pt x="57" y="100"/>
                  <a:pt x="44" y="87"/>
                  <a:pt x="44" y="72"/>
                </a:cubicBezTo>
                <a:cubicBezTo>
                  <a:pt x="44" y="57"/>
                  <a:pt x="57" y="44"/>
                  <a:pt x="72" y="44"/>
                </a:cubicBezTo>
                <a:cubicBezTo>
                  <a:pt x="87" y="44"/>
                  <a:pt x="100" y="57"/>
                  <a:pt x="100" y="72"/>
                </a:cubicBezTo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5" name="圆角矩形 4"/>
          <p:cNvSpPr/>
          <p:nvPr/>
        </p:nvSpPr>
        <p:spPr>
          <a:xfrm>
            <a:off x="3186718" y="3894306"/>
            <a:ext cx="1237129" cy="458418"/>
          </a:xfrm>
          <a:prstGeom prst="roundRect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master1</a:t>
            </a:r>
            <a:endParaRPr lang="zh-CN" altLang="en-US" dirty="0"/>
          </a:p>
        </p:txBody>
      </p:sp>
      <p:sp>
        <p:nvSpPr>
          <p:cNvPr id="6" name="圆角矩形 5"/>
          <p:cNvSpPr/>
          <p:nvPr/>
        </p:nvSpPr>
        <p:spPr>
          <a:xfrm>
            <a:off x="4827374" y="5453745"/>
            <a:ext cx="1237129" cy="458418"/>
          </a:xfrm>
          <a:prstGeom prst="roundRect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slave2</a:t>
            </a:r>
            <a:endParaRPr lang="zh-CN" altLang="en-US" dirty="0"/>
          </a:p>
        </p:txBody>
      </p:sp>
      <p:sp>
        <p:nvSpPr>
          <p:cNvPr id="7" name="圆角矩形 6"/>
          <p:cNvSpPr/>
          <p:nvPr/>
        </p:nvSpPr>
        <p:spPr>
          <a:xfrm>
            <a:off x="3186718" y="5460365"/>
            <a:ext cx="1237129" cy="458418"/>
          </a:xfrm>
          <a:prstGeom prst="roundRect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slave1</a:t>
            </a:r>
            <a:endParaRPr lang="zh-CN" altLang="en-US" dirty="0"/>
          </a:p>
        </p:txBody>
      </p:sp>
      <p:sp>
        <p:nvSpPr>
          <p:cNvPr id="12" name="圆角矩形 11"/>
          <p:cNvSpPr/>
          <p:nvPr/>
        </p:nvSpPr>
        <p:spPr>
          <a:xfrm>
            <a:off x="4827374" y="3894306"/>
            <a:ext cx="1237129" cy="458418"/>
          </a:xfrm>
          <a:prstGeom prst="roundRect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master2</a:t>
            </a:r>
            <a:endParaRPr lang="zh-CN" altLang="en-US" dirty="0"/>
          </a:p>
        </p:txBody>
      </p:sp>
      <p:sp>
        <p:nvSpPr>
          <p:cNvPr id="13" name="圆角矩形 12"/>
          <p:cNvSpPr/>
          <p:nvPr/>
        </p:nvSpPr>
        <p:spPr>
          <a:xfrm>
            <a:off x="6625694" y="3902318"/>
            <a:ext cx="1237129" cy="458418"/>
          </a:xfrm>
          <a:prstGeom prst="roundRect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master3</a:t>
            </a:r>
            <a:endParaRPr lang="zh-CN" altLang="en-US" dirty="0"/>
          </a:p>
        </p:txBody>
      </p:sp>
      <p:sp>
        <p:nvSpPr>
          <p:cNvPr id="14" name="圆角矩形 13"/>
          <p:cNvSpPr/>
          <p:nvPr/>
        </p:nvSpPr>
        <p:spPr>
          <a:xfrm>
            <a:off x="6625694" y="5460365"/>
            <a:ext cx="1237129" cy="458418"/>
          </a:xfrm>
          <a:prstGeom prst="roundRect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slave3</a:t>
            </a:r>
            <a:endParaRPr lang="zh-CN" altLang="en-US" dirty="0"/>
          </a:p>
        </p:txBody>
      </p:sp>
      <p:sp>
        <p:nvSpPr>
          <p:cNvPr id="15" name="圆角矩形 14"/>
          <p:cNvSpPr/>
          <p:nvPr/>
        </p:nvSpPr>
        <p:spPr>
          <a:xfrm>
            <a:off x="2650129" y="1352526"/>
            <a:ext cx="1237129" cy="458418"/>
          </a:xfrm>
          <a:prstGeom prst="roundRect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client</a:t>
            </a:r>
            <a:endParaRPr lang="zh-CN" altLang="en-US" dirty="0"/>
          </a:p>
        </p:txBody>
      </p:sp>
      <p:sp>
        <p:nvSpPr>
          <p:cNvPr id="16" name="圆角矩形 15"/>
          <p:cNvSpPr/>
          <p:nvPr/>
        </p:nvSpPr>
        <p:spPr>
          <a:xfrm>
            <a:off x="4866204" y="1352526"/>
            <a:ext cx="1237129" cy="458418"/>
          </a:xfrm>
          <a:prstGeom prst="roundRect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client</a:t>
            </a:r>
            <a:endParaRPr lang="zh-CN" altLang="en-US" dirty="0"/>
          </a:p>
        </p:txBody>
      </p:sp>
      <p:sp>
        <p:nvSpPr>
          <p:cNvPr id="17" name="圆角矩形 16"/>
          <p:cNvSpPr/>
          <p:nvPr/>
        </p:nvSpPr>
        <p:spPr>
          <a:xfrm>
            <a:off x="7028491" y="1352526"/>
            <a:ext cx="1237129" cy="458418"/>
          </a:xfrm>
          <a:prstGeom prst="roundRect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client</a:t>
            </a:r>
            <a:endParaRPr lang="zh-CN" altLang="en-US" dirty="0"/>
          </a:p>
        </p:txBody>
      </p:sp>
      <p:sp>
        <p:nvSpPr>
          <p:cNvPr id="355" name="TextBox 354"/>
          <p:cNvSpPr txBox="1"/>
          <p:nvPr/>
        </p:nvSpPr>
        <p:spPr>
          <a:xfrm>
            <a:off x="2302135" y="3202287"/>
            <a:ext cx="16954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 smtClean="0">
                <a:latin typeface="微软雅黑" pitchFamily="34" charset="-122"/>
                <a:ea typeface="微软雅黑" pitchFamily="34" charset="-122"/>
              </a:rPr>
              <a:t>Redis</a:t>
            </a: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b="1" dirty="0" smtClean="0">
                <a:latin typeface="微软雅黑" pitchFamily="34" charset="-122"/>
                <a:ea typeface="微软雅黑" pitchFamily="34" charset="-122"/>
              </a:rPr>
              <a:t>Cluster</a:t>
            </a:r>
            <a:endParaRPr lang="zh-CN" altLang="en-US" b="1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56" name="上箭头 355"/>
          <p:cNvSpPr/>
          <p:nvPr/>
        </p:nvSpPr>
        <p:spPr>
          <a:xfrm>
            <a:off x="3575369" y="4755634"/>
            <a:ext cx="484632" cy="489204"/>
          </a:xfrm>
          <a:prstGeom prst="upArrow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上箭头 37"/>
          <p:cNvSpPr/>
          <p:nvPr/>
        </p:nvSpPr>
        <p:spPr>
          <a:xfrm>
            <a:off x="5242452" y="4725194"/>
            <a:ext cx="484632" cy="489204"/>
          </a:xfrm>
          <a:prstGeom prst="upArrow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上箭头 38"/>
          <p:cNvSpPr/>
          <p:nvPr/>
        </p:nvSpPr>
        <p:spPr>
          <a:xfrm>
            <a:off x="7102634" y="4708637"/>
            <a:ext cx="484632" cy="489204"/>
          </a:xfrm>
          <a:prstGeom prst="upArrow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7" name="TextBox 356"/>
          <p:cNvSpPr txBox="1"/>
          <p:nvPr/>
        </p:nvSpPr>
        <p:spPr>
          <a:xfrm>
            <a:off x="2964097" y="4815570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复制</a:t>
            </a:r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4596121" y="4845066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复制</a:t>
            </a:r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6456303" y="4815570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复制</a:t>
            </a:r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8" name="圆角矩形 87"/>
          <p:cNvSpPr/>
          <p:nvPr/>
        </p:nvSpPr>
        <p:spPr>
          <a:xfrm>
            <a:off x="2695485" y="5227331"/>
            <a:ext cx="5500905" cy="983075"/>
          </a:xfrm>
          <a:prstGeom prst="round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5" name="曲线连接符 54"/>
          <p:cNvCxnSpPr>
            <a:stCxn id="15" idx="2"/>
          </p:cNvCxnSpPr>
          <p:nvPr/>
        </p:nvCxnSpPr>
        <p:spPr>
          <a:xfrm rot="16200000" flipH="1">
            <a:off x="3316109" y="1763529"/>
            <a:ext cx="1878929" cy="1973758"/>
          </a:xfrm>
          <a:prstGeom prst="curvedConnector2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曲线连接符 56"/>
          <p:cNvCxnSpPr>
            <a:stCxn id="16" idx="2"/>
          </p:cNvCxnSpPr>
          <p:nvPr/>
        </p:nvCxnSpPr>
        <p:spPr>
          <a:xfrm rot="5400000">
            <a:off x="4410256" y="2643141"/>
            <a:ext cx="1906710" cy="242317"/>
          </a:xfrm>
          <a:prstGeom prst="curvedConnector3">
            <a:avLst>
              <a:gd name="adj1" fmla="val 95136"/>
            </a:avLst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曲线连接符 58"/>
          <p:cNvCxnSpPr>
            <a:stCxn id="17" idx="2"/>
          </p:cNvCxnSpPr>
          <p:nvPr/>
        </p:nvCxnSpPr>
        <p:spPr>
          <a:xfrm rot="5400000">
            <a:off x="5505291" y="1548107"/>
            <a:ext cx="1878929" cy="2404603"/>
          </a:xfrm>
          <a:prstGeom prst="curvedConnector2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曲线连接符 65"/>
          <p:cNvCxnSpPr>
            <a:endCxn id="7" idx="2"/>
          </p:cNvCxnSpPr>
          <p:nvPr/>
        </p:nvCxnSpPr>
        <p:spPr>
          <a:xfrm rot="16200000" flipH="1">
            <a:off x="1442081" y="3555580"/>
            <a:ext cx="4107839" cy="618565"/>
          </a:xfrm>
          <a:prstGeom prst="curvedConnector5">
            <a:avLst>
              <a:gd name="adj1" fmla="val 30802"/>
              <a:gd name="adj2" fmla="val -326522"/>
              <a:gd name="adj3" fmla="val 105565"/>
            </a:avLst>
          </a:prstGeom>
          <a:ln w="28575">
            <a:solidFill>
              <a:srgbClr val="92D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曲线连接符 86"/>
          <p:cNvCxnSpPr>
            <a:stCxn id="17" idx="3"/>
          </p:cNvCxnSpPr>
          <p:nvPr/>
        </p:nvCxnSpPr>
        <p:spPr>
          <a:xfrm flipH="1">
            <a:off x="8187970" y="1581735"/>
            <a:ext cx="77650" cy="4107839"/>
          </a:xfrm>
          <a:prstGeom prst="curvedConnector4">
            <a:avLst>
              <a:gd name="adj1" fmla="val -2206252"/>
              <a:gd name="adj2" fmla="val 95477"/>
            </a:avLst>
          </a:prstGeom>
          <a:ln w="28575">
            <a:solidFill>
              <a:srgbClr val="92D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6" name="曲线连接符 385"/>
          <p:cNvCxnSpPr>
            <a:stCxn id="16" idx="3"/>
          </p:cNvCxnSpPr>
          <p:nvPr/>
        </p:nvCxnSpPr>
        <p:spPr>
          <a:xfrm>
            <a:off x="6103333" y="1581735"/>
            <a:ext cx="2123462" cy="4056676"/>
          </a:xfrm>
          <a:prstGeom prst="curvedConnector2">
            <a:avLst/>
          </a:prstGeom>
          <a:ln w="28575">
            <a:solidFill>
              <a:srgbClr val="92D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8" name="TextBox 387"/>
          <p:cNvSpPr txBox="1"/>
          <p:nvPr/>
        </p:nvSpPr>
        <p:spPr>
          <a:xfrm>
            <a:off x="3379563" y="1935960"/>
            <a:ext cx="13608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 smtClean="0">
                <a:solidFill>
                  <a:schemeClr val="accent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</a:rPr>
              <a:t>WRITE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33" name="TextBox 132"/>
          <p:cNvSpPr txBox="1"/>
          <p:nvPr/>
        </p:nvSpPr>
        <p:spPr>
          <a:xfrm>
            <a:off x="1289253" y="2630104"/>
            <a:ext cx="13608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 smtClean="0">
                <a:solidFill>
                  <a:srgbClr val="92D050"/>
                </a:solidFill>
                <a:latin typeface="微软雅黑" pitchFamily="34" charset="-122"/>
                <a:ea typeface="微软雅黑" pitchFamily="34" charset="-122"/>
              </a:rPr>
              <a:t>READ</a:t>
            </a:r>
            <a:endParaRPr lang="zh-CN" altLang="en-US" b="1" dirty="0">
              <a:solidFill>
                <a:srgbClr val="92D05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34" name="TextBox 133"/>
          <p:cNvSpPr txBox="1"/>
          <p:nvPr/>
        </p:nvSpPr>
        <p:spPr>
          <a:xfrm>
            <a:off x="6103333" y="1934382"/>
            <a:ext cx="13608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92D050"/>
                </a:solidFill>
                <a:latin typeface="微软雅黑" pitchFamily="34" charset="-122"/>
                <a:ea typeface="微软雅黑" pitchFamily="34" charset="-122"/>
              </a:rPr>
              <a:t>READ</a:t>
            </a:r>
            <a:endParaRPr lang="zh-CN" altLang="en-US" b="1" dirty="0">
              <a:solidFill>
                <a:srgbClr val="92D05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35" name="TextBox 134"/>
          <p:cNvSpPr txBox="1"/>
          <p:nvPr/>
        </p:nvSpPr>
        <p:spPr>
          <a:xfrm>
            <a:off x="9240947" y="1735232"/>
            <a:ext cx="13608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92D050"/>
                </a:solidFill>
                <a:latin typeface="微软雅黑" pitchFamily="34" charset="-122"/>
                <a:ea typeface="微软雅黑" pitchFamily="34" charset="-122"/>
              </a:rPr>
              <a:t>READ</a:t>
            </a:r>
            <a:endParaRPr lang="zh-CN" altLang="en-US" b="1" dirty="0">
              <a:solidFill>
                <a:srgbClr val="92D05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36" name="TextBox 135"/>
          <p:cNvSpPr txBox="1"/>
          <p:nvPr/>
        </p:nvSpPr>
        <p:spPr>
          <a:xfrm>
            <a:off x="4441679" y="2479043"/>
            <a:ext cx="13608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 smtClean="0">
                <a:solidFill>
                  <a:schemeClr val="accent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</a:rPr>
              <a:t>WRITE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37" name="TextBox 136"/>
          <p:cNvSpPr txBox="1"/>
          <p:nvPr/>
        </p:nvSpPr>
        <p:spPr>
          <a:xfrm>
            <a:off x="6103333" y="2651575"/>
            <a:ext cx="13608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 smtClean="0">
                <a:solidFill>
                  <a:schemeClr val="accent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</a:rPr>
              <a:t>WRITE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90" name="TextBox 389"/>
          <p:cNvSpPr txBox="1"/>
          <p:nvPr/>
        </p:nvSpPr>
        <p:spPr>
          <a:xfrm>
            <a:off x="9671622" y="5557271"/>
            <a:ext cx="209326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Redis 3.0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版本发布</a:t>
            </a:r>
            <a:endParaRPr lang="en-US" altLang="zh-CN" dirty="0" smtClean="0">
              <a:latin typeface="微软雅黑" pitchFamily="34" charset="-122"/>
              <a:ea typeface="微软雅黑" pitchFamily="34" charset="-122"/>
            </a:endParaRPr>
          </a:p>
          <a:p>
            <a:r>
              <a:rPr lang="en-US" altLang="zh-CN" dirty="0" err="1" smtClean="0">
                <a:latin typeface="微软雅黑" pitchFamily="34" charset="-122"/>
                <a:ea typeface="微软雅黑" pitchFamily="34" charset="-122"/>
              </a:rPr>
              <a:t>Redis</a:t>
            </a:r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 Cluster</a:t>
            </a:r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37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28841" y="0"/>
            <a:ext cx="2763159" cy="10567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29254778"/>
      </p:ext>
    </p:extLst>
  </p:cSld>
  <p:clrMapOvr>
    <a:masterClrMapping/>
  </p:clrMapOvr>
  <p:transition spd="slow" advClick="0" advTm="0">
    <p:push dir="u"/>
  </p:transition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8" presetClass="entr" presetSubtype="16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0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3" dur="2000"/>
                                        <p:tgtEl>
                                          <p:spTgt spid="3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0" grpId="0"/>
      <p:bldP spid="10" grpId="1"/>
      <p:bldP spid="375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圆角矩形 8"/>
          <p:cNvSpPr/>
          <p:nvPr/>
        </p:nvSpPr>
        <p:spPr>
          <a:xfrm>
            <a:off x="9154219" y="4649302"/>
            <a:ext cx="2302674" cy="890886"/>
          </a:xfrm>
          <a:prstGeom prst="round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矩形 1"/>
          <p:cNvSpPr/>
          <p:nvPr/>
        </p:nvSpPr>
        <p:spPr>
          <a:xfrm>
            <a:off x="1029653" y="397510"/>
            <a:ext cx="14622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zh-CN" altLang="en-US" b="1" dirty="0" smtClean="0">
                <a:solidFill>
                  <a:srgbClr val="304371"/>
                </a:solidFill>
                <a:latin typeface="微软雅黑" panose="020B0503020204020204" charset="-122"/>
                <a:ea typeface="微软雅黑" panose="020B0503020204020204" charset="-122"/>
                <a:cs typeface="Arial Unicode MS" panose="020B0604020202020204" charset="-122"/>
                <a:sym typeface="+mn-ea"/>
              </a:rPr>
              <a:t>一致性</a:t>
            </a:r>
            <a:r>
              <a:rPr lang="en-US" altLang="zh-CN" b="1" dirty="0" smtClean="0">
                <a:solidFill>
                  <a:srgbClr val="304371"/>
                </a:solidFill>
                <a:latin typeface="微软雅黑" panose="020B0503020204020204" charset="-122"/>
                <a:ea typeface="微软雅黑" panose="020B0503020204020204" charset="-122"/>
                <a:cs typeface="Arial Unicode MS" panose="020B0604020202020204" charset="-122"/>
                <a:sym typeface="+mn-ea"/>
              </a:rPr>
              <a:t>Hash</a:t>
            </a:r>
          </a:p>
        </p:txBody>
      </p:sp>
      <p:sp>
        <p:nvSpPr>
          <p:cNvPr id="10" name="TextBox 24"/>
          <p:cNvSpPr txBox="1"/>
          <p:nvPr/>
        </p:nvSpPr>
        <p:spPr>
          <a:xfrm>
            <a:off x="245047" y="3202287"/>
            <a:ext cx="648335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400" b="1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意义</a:t>
            </a:r>
            <a:r>
              <a:rPr lang="en-US" altLang="zh-CN" sz="1400" b="1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1</a:t>
            </a:r>
          </a:p>
        </p:txBody>
      </p:sp>
      <p:sp>
        <p:nvSpPr>
          <p:cNvPr id="375" name="Freeform 28"/>
          <p:cNvSpPr>
            <a:spLocks noEditPoints="1"/>
          </p:cNvSpPr>
          <p:nvPr/>
        </p:nvSpPr>
        <p:spPr bwMode="auto">
          <a:xfrm>
            <a:off x="404620" y="2673046"/>
            <a:ext cx="328930" cy="326390"/>
          </a:xfrm>
          <a:custGeom>
            <a:avLst/>
            <a:gdLst>
              <a:gd name="T0" fmla="*/ 132 w 144"/>
              <a:gd name="T1" fmla="*/ 61 h 144"/>
              <a:gd name="T2" fmla="*/ 121 w 144"/>
              <a:gd name="T3" fmla="*/ 46 h 144"/>
              <a:gd name="T4" fmla="*/ 127 w 144"/>
              <a:gd name="T5" fmla="*/ 33 h 144"/>
              <a:gd name="T6" fmla="*/ 119 w 144"/>
              <a:gd name="T7" fmla="*/ 17 h 144"/>
              <a:gd name="T8" fmla="*/ 106 w 144"/>
              <a:gd name="T9" fmla="*/ 22 h 144"/>
              <a:gd name="T10" fmla="*/ 88 w 144"/>
              <a:gd name="T11" fmla="*/ 19 h 144"/>
              <a:gd name="T12" fmla="*/ 83 w 144"/>
              <a:gd name="T13" fmla="*/ 6 h 144"/>
              <a:gd name="T14" fmla="*/ 66 w 144"/>
              <a:gd name="T15" fmla="*/ 0 h 144"/>
              <a:gd name="T16" fmla="*/ 61 w 144"/>
              <a:gd name="T17" fmla="*/ 12 h 144"/>
              <a:gd name="T18" fmla="*/ 46 w 144"/>
              <a:gd name="T19" fmla="*/ 23 h 144"/>
              <a:gd name="T20" fmla="*/ 33 w 144"/>
              <a:gd name="T21" fmla="*/ 17 h 144"/>
              <a:gd name="T22" fmla="*/ 17 w 144"/>
              <a:gd name="T23" fmla="*/ 25 h 144"/>
              <a:gd name="T24" fmla="*/ 22 w 144"/>
              <a:gd name="T25" fmla="*/ 38 h 144"/>
              <a:gd name="T26" fmla="*/ 19 w 144"/>
              <a:gd name="T27" fmla="*/ 56 h 144"/>
              <a:gd name="T28" fmla="*/ 6 w 144"/>
              <a:gd name="T29" fmla="*/ 61 h 144"/>
              <a:gd name="T30" fmla="*/ 0 w 144"/>
              <a:gd name="T31" fmla="*/ 78 h 144"/>
              <a:gd name="T32" fmla="*/ 12 w 144"/>
              <a:gd name="T33" fmla="*/ 83 h 144"/>
              <a:gd name="T34" fmla="*/ 23 w 144"/>
              <a:gd name="T35" fmla="*/ 98 h 144"/>
              <a:gd name="T36" fmla="*/ 17 w 144"/>
              <a:gd name="T37" fmla="*/ 111 h 144"/>
              <a:gd name="T38" fmla="*/ 25 w 144"/>
              <a:gd name="T39" fmla="*/ 127 h 144"/>
              <a:gd name="T40" fmla="*/ 38 w 144"/>
              <a:gd name="T41" fmla="*/ 122 h 144"/>
              <a:gd name="T42" fmla="*/ 56 w 144"/>
              <a:gd name="T43" fmla="*/ 125 h 144"/>
              <a:gd name="T44" fmla="*/ 61 w 144"/>
              <a:gd name="T45" fmla="*/ 138 h 144"/>
              <a:gd name="T46" fmla="*/ 78 w 144"/>
              <a:gd name="T47" fmla="*/ 144 h 144"/>
              <a:gd name="T48" fmla="*/ 83 w 144"/>
              <a:gd name="T49" fmla="*/ 132 h 144"/>
              <a:gd name="T50" fmla="*/ 98 w 144"/>
              <a:gd name="T51" fmla="*/ 121 h 144"/>
              <a:gd name="T52" fmla="*/ 111 w 144"/>
              <a:gd name="T53" fmla="*/ 127 h 144"/>
              <a:gd name="T54" fmla="*/ 127 w 144"/>
              <a:gd name="T55" fmla="*/ 119 h 144"/>
              <a:gd name="T56" fmla="*/ 122 w 144"/>
              <a:gd name="T57" fmla="*/ 106 h 144"/>
              <a:gd name="T58" fmla="*/ 125 w 144"/>
              <a:gd name="T59" fmla="*/ 88 h 144"/>
              <a:gd name="T60" fmla="*/ 138 w 144"/>
              <a:gd name="T61" fmla="*/ 83 h 144"/>
              <a:gd name="T62" fmla="*/ 144 w 144"/>
              <a:gd name="T63" fmla="*/ 66 h 144"/>
              <a:gd name="T64" fmla="*/ 100 w 144"/>
              <a:gd name="T65" fmla="*/ 72 h 144"/>
              <a:gd name="T66" fmla="*/ 44 w 144"/>
              <a:gd name="T67" fmla="*/ 72 h 144"/>
              <a:gd name="T68" fmla="*/ 100 w 144"/>
              <a:gd name="T69" fmla="*/ 72 h 1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144" h="144">
                <a:moveTo>
                  <a:pt x="138" y="61"/>
                </a:moveTo>
                <a:cubicBezTo>
                  <a:pt x="132" y="61"/>
                  <a:pt x="132" y="61"/>
                  <a:pt x="132" y="61"/>
                </a:cubicBezTo>
                <a:cubicBezTo>
                  <a:pt x="129" y="61"/>
                  <a:pt x="126" y="59"/>
                  <a:pt x="125" y="56"/>
                </a:cubicBezTo>
                <a:cubicBezTo>
                  <a:pt x="121" y="46"/>
                  <a:pt x="121" y="46"/>
                  <a:pt x="121" y="46"/>
                </a:cubicBezTo>
                <a:cubicBezTo>
                  <a:pt x="119" y="44"/>
                  <a:pt x="120" y="40"/>
                  <a:pt x="122" y="38"/>
                </a:cubicBezTo>
                <a:cubicBezTo>
                  <a:pt x="127" y="33"/>
                  <a:pt x="127" y="33"/>
                  <a:pt x="127" y="33"/>
                </a:cubicBezTo>
                <a:cubicBezTo>
                  <a:pt x="129" y="31"/>
                  <a:pt x="129" y="27"/>
                  <a:pt x="127" y="25"/>
                </a:cubicBezTo>
                <a:cubicBezTo>
                  <a:pt x="119" y="17"/>
                  <a:pt x="119" y="17"/>
                  <a:pt x="119" y="17"/>
                </a:cubicBezTo>
                <a:cubicBezTo>
                  <a:pt x="117" y="15"/>
                  <a:pt x="113" y="15"/>
                  <a:pt x="111" y="17"/>
                </a:cubicBezTo>
                <a:cubicBezTo>
                  <a:pt x="106" y="22"/>
                  <a:pt x="106" y="22"/>
                  <a:pt x="106" y="22"/>
                </a:cubicBezTo>
                <a:cubicBezTo>
                  <a:pt x="104" y="24"/>
                  <a:pt x="100" y="25"/>
                  <a:pt x="98" y="23"/>
                </a:cubicBezTo>
                <a:cubicBezTo>
                  <a:pt x="88" y="19"/>
                  <a:pt x="88" y="19"/>
                  <a:pt x="88" y="19"/>
                </a:cubicBezTo>
                <a:cubicBezTo>
                  <a:pt x="85" y="18"/>
                  <a:pt x="83" y="15"/>
                  <a:pt x="83" y="12"/>
                </a:cubicBezTo>
                <a:cubicBezTo>
                  <a:pt x="83" y="6"/>
                  <a:pt x="83" y="6"/>
                  <a:pt x="83" y="6"/>
                </a:cubicBezTo>
                <a:cubicBezTo>
                  <a:pt x="83" y="2"/>
                  <a:pt x="81" y="0"/>
                  <a:pt x="78" y="0"/>
                </a:cubicBezTo>
                <a:cubicBezTo>
                  <a:pt x="66" y="0"/>
                  <a:pt x="66" y="0"/>
                  <a:pt x="66" y="0"/>
                </a:cubicBezTo>
                <a:cubicBezTo>
                  <a:pt x="63" y="0"/>
                  <a:pt x="61" y="2"/>
                  <a:pt x="61" y="6"/>
                </a:cubicBezTo>
                <a:cubicBezTo>
                  <a:pt x="61" y="12"/>
                  <a:pt x="61" y="12"/>
                  <a:pt x="61" y="12"/>
                </a:cubicBezTo>
                <a:cubicBezTo>
                  <a:pt x="61" y="15"/>
                  <a:pt x="59" y="18"/>
                  <a:pt x="56" y="19"/>
                </a:cubicBezTo>
                <a:cubicBezTo>
                  <a:pt x="46" y="23"/>
                  <a:pt x="46" y="23"/>
                  <a:pt x="46" y="23"/>
                </a:cubicBezTo>
                <a:cubicBezTo>
                  <a:pt x="44" y="25"/>
                  <a:pt x="40" y="24"/>
                  <a:pt x="38" y="22"/>
                </a:cubicBezTo>
                <a:cubicBezTo>
                  <a:pt x="33" y="17"/>
                  <a:pt x="33" y="17"/>
                  <a:pt x="33" y="17"/>
                </a:cubicBezTo>
                <a:cubicBezTo>
                  <a:pt x="31" y="15"/>
                  <a:pt x="27" y="15"/>
                  <a:pt x="25" y="17"/>
                </a:cubicBezTo>
                <a:cubicBezTo>
                  <a:pt x="17" y="25"/>
                  <a:pt x="17" y="25"/>
                  <a:pt x="17" y="25"/>
                </a:cubicBezTo>
                <a:cubicBezTo>
                  <a:pt x="15" y="27"/>
                  <a:pt x="15" y="31"/>
                  <a:pt x="17" y="33"/>
                </a:cubicBezTo>
                <a:cubicBezTo>
                  <a:pt x="22" y="38"/>
                  <a:pt x="22" y="38"/>
                  <a:pt x="22" y="38"/>
                </a:cubicBezTo>
                <a:cubicBezTo>
                  <a:pt x="24" y="40"/>
                  <a:pt x="25" y="44"/>
                  <a:pt x="23" y="46"/>
                </a:cubicBezTo>
                <a:cubicBezTo>
                  <a:pt x="19" y="56"/>
                  <a:pt x="19" y="56"/>
                  <a:pt x="19" y="56"/>
                </a:cubicBezTo>
                <a:cubicBezTo>
                  <a:pt x="18" y="59"/>
                  <a:pt x="15" y="61"/>
                  <a:pt x="12" y="61"/>
                </a:cubicBezTo>
                <a:cubicBezTo>
                  <a:pt x="6" y="61"/>
                  <a:pt x="6" y="61"/>
                  <a:pt x="6" y="61"/>
                </a:cubicBezTo>
                <a:cubicBezTo>
                  <a:pt x="2" y="61"/>
                  <a:pt x="0" y="63"/>
                  <a:pt x="0" y="66"/>
                </a:cubicBezTo>
                <a:cubicBezTo>
                  <a:pt x="0" y="78"/>
                  <a:pt x="0" y="78"/>
                  <a:pt x="0" y="78"/>
                </a:cubicBezTo>
                <a:cubicBezTo>
                  <a:pt x="0" y="81"/>
                  <a:pt x="2" y="83"/>
                  <a:pt x="6" y="83"/>
                </a:cubicBezTo>
                <a:cubicBezTo>
                  <a:pt x="12" y="83"/>
                  <a:pt x="12" y="83"/>
                  <a:pt x="12" y="83"/>
                </a:cubicBezTo>
                <a:cubicBezTo>
                  <a:pt x="15" y="83"/>
                  <a:pt x="18" y="85"/>
                  <a:pt x="19" y="88"/>
                </a:cubicBezTo>
                <a:cubicBezTo>
                  <a:pt x="23" y="98"/>
                  <a:pt x="23" y="98"/>
                  <a:pt x="23" y="98"/>
                </a:cubicBezTo>
                <a:cubicBezTo>
                  <a:pt x="25" y="100"/>
                  <a:pt x="24" y="104"/>
                  <a:pt x="22" y="106"/>
                </a:cubicBezTo>
                <a:cubicBezTo>
                  <a:pt x="17" y="111"/>
                  <a:pt x="17" y="111"/>
                  <a:pt x="17" y="111"/>
                </a:cubicBezTo>
                <a:cubicBezTo>
                  <a:pt x="15" y="113"/>
                  <a:pt x="15" y="117"/>
                  <a:pt x="17" y="119"/>
                </a:cubicBezTo>
                <a:cubicBezTo>
                  <a:pt x="25" y="127"/>
                  <a:pt x="25" y="127"/>
                  <a:pt x="25" y="127"/>
                </a:cubicBezTo>
                <a:cubicBezTo>
                  <a:pt x="27" y="129"/>
                  <a:pt x="31" y="129"/>
                  <a:pt x="33" y="127"/>
                </a:cubicBezTo>
                <a:cubicBezTo>
                  <a:pt x="38" y="122"/>
                  <a:pt x="38" y="122"/>
                  <a:pt x="38" y="122"/>
                </a:cubicBezTo>
                <a:cubicBezTo>
                  <a:pt x="40" y="120"/>
                  <a:pt x="44" y="119"/>
                  <a:pt x="46" y="121"/>
                </a:cubicBezTo>
                <a:cubicBezTo>
                  <a:pt x="56" y="125"/>
                  <a:pt x="56" y="125"/>
                  <a:pt x="56" y="125"/>
                </a:cubicBezTo>
                <a:cubicBezTo>
                  <a:pt x="59" y="126"/>
                  <a:pt x="61" y="129"/>
                  <a:pt x="61" y="132"/>
                </a:cubicBezTo>
                <a:cubicBezTo>
                  <a:pt x="61" y="138"/>
                  <a:pt x="61" y="138"/>
                  <a:pt x="61" y="138"/>
                </a:cubicBezTo>
                <a:cubicBezTo>
                  <a:pt x="61" y="142"/>
                  <a:pt x="63" y="144"/>
                  <a:pt x="66" y="144"/>
                </a:cubicBezTo>
                <a:cubicBezTo>
                  <a:pt x="78" y="144"/>
                  <a:pt x="78" y="144"/>
                  <a:pt x="78" y="144"/>
                </a:cubicBezTo>
                <a:cubicBezTo>
                  <a:pt x="81" y="144"/>
                  <a:pt x="83" y="142"/>
                  <a:pt x="83" y="138"/>
                </a:cubicBezTo>
                <a:cubicBezTo>
                  <a:pt x="83" y="132"/>
                  <a:pt x="83" y="132"/>
                  <a:pt x="83" y="132"/>
                </a:cubicBezTo>
                <a:cubicBezTo>
                  <a:pt x="83" y="129"/>
                  <a:pt x="85" y="126"/>
                  <a:pt x="88" y="125"/>
                </a:cubicBezTo>
                <a:cubicBezTo>
                  <a:pt x="98" y="121"/>
                  <a:pt x="98" y="121"/>
                  <a:pt x="98" y="121"/>
                </a:cubicBezTo>
                <a:cubicBezTo>
                  <a:pt x="100" y="119"/>
                  <a:pt x="104" y="120"/>
                  <a:pt x="106" y="122"/>
                </a:cubicBezTo>
                <a:cubicBezTo>
                  <a:pt x="111" y="127"/>
                  <a:pt x="111" y="127"/>
                  <a:pt x="111" y="127"/>
                </a:cubicBezTo>
                <a:cubicBezTo>
                  <a:pt x="113" y="129"/>
                  <a:pt x="117" y="129"/>
                  <a:pt x="119" y="127"/>
                </a:cubicBezTo>
                <a:cubicBezTo>
                  <a:pt x="127" y="119"/>
                  <a:pt x="127" y="119"/>
                  <a:pt x="127" y="119"/>
                </a:cubicBezTo>
                <a:cubicBezTo>
                  <a:pt x="129" y="117"/>
                  <a:pt x="129" y="113"/>
                  <a:pt x="127" y="111"/>
                </a:cubicBezTo>
                <a:cubicBezTo>
                  <a:pt x="122" y="106"/>
                  <a:pt x="122" y="106"/>
                  <a:pt x="122" y="106"/>
                </a:cubicBezTo>
                <a:cubicBezTo>
                  <a:pt x="120" y="104"/>
                  <a:pt x="119" y="100"/>
                  <a:pt x="121" y="98"/>
                </a:cubicBezTo>
                <a:cubicBezTo>
                  <a:pt x="125" y="88"/>
                  <a:pt x="125" y="88"/>
                  <a:pt x="125" y="88"/>
                </a:cubicBezTo>
                <a:cubicBezTo>
                  <a:pt x="126" y="85"/>
                  <a:pt x="129" y="83"/>
                  <a:pt x="132" y="83"/>
                </a:cubicBezTo>
                <a:cubicBezTo>
                  <a:pt x="138" y="83"/>
                  <a:pt x="138" y="83"/>
                  <a:pt x="138" y="83"/>
                </a:cubicBezTo>
                <a:cubicBezTo>
                  <a:pt x="142" y="83"/>
                  <a:pt x="144" y="81"/>
                  <a:pt x="144" y="78"/>
                </a:cubicBezTo>
                <a:cubicBezTo>
                  <a:pt x="144" y="66"/>
                  <a:pt x="144" y="66"/>
                  <a:pt x="144" y="66"/>
                </a:cubicBezTo>
                <a:cubicBezTo>
                  <a:pt x="144" y="63"/>
                  <a:pt x="142" y="61"/>
                  <a:pt x="138" y="61"/>
                </a:cubicBezTo>
                <a:moveTo>
                  <a:pt x="100" y="72"/>
                </a:moveTo>
                <a:cubicBezTo>
                  <a:pt x="100" y="87"/>
                  <a:pt x="87" y="100"/>
                  <a:pt x="72" y="100"/>
                </a:cubicBezTo>
                <a:cubicBezTo>
                  <a:pt x="57" y="100"/>
                  <a:pt x="44" y="87"/>
                  <a:pt x="44" y="72"/>
                </a:cubicBezTo>
                <a:cubicBezTo>
                  <a:pt x="44" y="57"/>
                  <a:pt x="57" y="44"/>
                  <a:pt x="72" y="44"/>
                </a:cubicBezTo>
                <a:cubicBezTo>
                  <a:pt x="87" y="44"/>
                  <a:pt x="100" y="57"/>
                  <a:pt x="100" y="72"/>
                </a:cubicBezTo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4" name="AutoShape 2" descr="https://upload-images.jianshu.io/upload_images/15579250-f49fddae261ec702.png?imageMogr2/auto-orient/strip%7CimageView2/2/w/647/format/webp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" name="AutoShape 4" descr="https://upload-images.jianshu.io/upload_images/15579250-f49fddae261ec702.png?imageMogr2/auto-orient/strip%7CimageView2/2/w/647/format/webp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pic>
        <p:nvPicPr>
          <p:cNvPr id="5125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9112" y="1296214"/>
            <a:ext cx="3011243" cy="24825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6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45111" y="1261452"/>
            <a:ext cx="3022887" cy="25173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7" name="Picture 7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9112" y="4066159"/>
            <a:ext cx="2871788" cy="2228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9082062" y="4797472"/>
            <a:ext cx="249299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引入虚拟节点解决雪崩</a:t>
            </a:r>
            <a:endParaRPr lang="en-US" altLang="zh-CN" dirty="0" smtClean="0">
              <a:latin typeface="微软雅黑" pitchFamily="34" charset="-122"/>
              <a:ea typeface="微软雅黑" pitchFamily="34" charset="-122"/>
            </a:endParaRPr>
          </a:p>
          <a:p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和数据倾斜问题</a:t>
            </a:r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" name="AutoShape 9" descr="frev://D:/Users/WANGBI~1/AppData/Local/Temp/80FBDBE97F9A4ED3A505CD246B0F9C2C-mx-image.jpeg"/>
          <p:cNvSpPr>
            <a:spLocks noChangeAspect="1" noChangeArrowheads="1"/>
          </p:cNvSpPr>
          <p:nvPr/>
        </p:nvSpPr>
        <p:spPr bwMode="auto">
          <a:xfrm>
            <a:off x="155575" y="-2544763"/>
            <a:ext cx="5314950" cy="53149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8" name="AutoShape 11" descr="frev://D:/Users/WANGBI~1/AppData/Local/Temp/80FBDBE97F9A4ED3A505CD246B0F9C2C-mx-image.jpeg"/>
          <p:cNvSpPr>
            <a:spLocks noChangeAspect="1" noChangeArrowheads="1"/>
          </p:cNvSpPr>
          <p:nvPr/>
        </p:nvSpPr>
        <p:spPr bwMode="auto">
          <a:xfrm>
            <a:off x="307975" y="-2392363"/>
            <a:ext cx="5314950" cy="53149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pic>
        <p:nvPicPr>
          <p:cNvPr id="5132" name="Picture 12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19426" y="4070212"/>
            <a:ext cx="2748572" cy="22247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1" name="左箭头 10"/>
          <p:cNvSpPr/>
          <p:nvPr/>
        </p:nvSpPr>
        <p:spPr>
          <a:xfrm>
            <a:off x="7831567" y="4940294"/>
            <a:ext cx="978408" cy="484632"/>
          </a:xfrm>
          <a:prstGeom prst="leftArrow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6" name="Picture 2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28841" y="0"/>
            <a:ext cx="2763159" cy="10567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35718104"/>
      </p:ext>
    </p:extLst>
  </p:cSld>
  <p:clrMapOvr>
    <a:masterClrMapping/>
  </p:clrMapOvr>
  <p:transition spd="slow" advClick="0" advTm="0">
    <p:push dir="u"/>
  </p:transition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8" presetClass="entr" presetSubtype="16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0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3" dur="2000"/>
                                        <p:tgtEl>
                                          <p:spTgt spid="3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0" grpId="0"/>
      <p:bldP spid="10" grpId="1"/>
      <p:bldP spid="375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029653" y="397510"/>
            <a:ext cx="129554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altLang="zh-CN" b="1" dirty="0" smtClean="0">
                <a:solidFill>
                  <a:srgbClr val="304371"/>
                </a:solidFill>
                <a:latin typeface="微软雅黑" panose="020B0503020204020204" charset="-122"/>
                <a:ea typeface="微软雅黑" panose="020B0503020204020204" charset="-122"/>
                <a:cs typeface="Arial Unicode MS" panose="020B0604020202020204" charset="-122"/>
                <a:sym typeface="+mn-ea"/>
              </a:rPr>
              <a:t>Hash Slot</a:t>
            </a:r>
          </a:p>
        </p:txBody>
      </p:sp>
      <p:sp>
        <p:nvSpPr>
          <p:cNvPr id="10" name="TextBox 24"/>
          <p:cNvSpPr txBox="1"/>
          <p:nvPr/>
        </p:nvSpPr>
        <p:spPr>
          <a:xfrm>
            <a:off x="245047" y="3202287"/>
            <a:ext cx="648335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400" b="1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意义</a:t>
            </a:r>
            <a:r>
              <a:rPr lang="en-US" altLang="zh-CN" sz="1400" b="1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1</a:t>
            </a:r>
          </a:p>
        </p:txBody>
      </p:sp>
      <p:sp>
        <p:nvSpPr>
          <p:cNvPr id="375" name="Freeform 28"/>
          <p:cNvSpPr>
            <a:spLocks noEditPoints="1"/>
          </p:cNvSpPr>
          <p:nvPr/>
        </p:nvSpPr>
        <p:spPr bwMode="auto">
          <a:xfrm>
            <a:off x="404620" y="2673046"/>
            <a:ext cx="328930" cy="326390"/>
          </a:xfrm>
          <a:custGeom>
            <a:avLst/>
            <a:gdLst>
              <a:gd name="T0" fmla="*/ 132 w 144"/>
              <a:gd name="T1" fmla="*/ 61 h 144"/>
              <a:gd name="T2" fmla="*/ 121 w 144"/>
              <a:gd name="T3" fmla="*/ 46 h 144"/>
              <a:gd name="T4" fmla="*/ 127 w 144"/>
              <a:gd name="T5" fmla="*/ 33 h 144"/>
              <a:gd name="T6" fmla="*/ 119 w 144"/>
              <a:gd name="T7" fmla="*/ 17 h 144"/>
              <a:gd name="T8" fmla="*/ 106 w 144"/>
              <a:gd name="T9" fmla="*/ 22 h 144"/>
              <a:gd name="T10" fmla="*/ 88 w 144"/>
              <a:gd name="T11" fmla="*/ 19 h 144"/>
              <a:gd name="T12" fmla="*/ 83 w 144"/>
              <a:gd name="T13" fmla="*/ 6 h 144"/>
              <a:gd name="T14" fmla="*/ 66 w 144"/>
              <a:gd name="T15" fmla="*/ 0 h 144"/>
              <a:gd name="T16" fmla="*/ 61 w 144"/>
              <a:gd name="T17" fmla="*/ 12 h 144"/>
              <a:gd name="T18" fmla="*/ 46 w 144"/>
              <a:gd name="T19" fmla="*/ 23 h 144"/>
              <a:gd name="T20" fmla="*/ 33 w 144"/>
              <a:gd name="T21" fmla="*/ 17 h 144"/>
              <a:gd name="T22" fmla="*/ 17 w 144"/>
              <a:gd name="T23" fmla="*/ 25 h 144"/>
              <a:gd name="T24" fmla="*/ 22 w 144"/>
              <a:gd name="T25" fmla="*/ 38 h 144"/>
              <a:gd name="T26" fmla="*/ 19 w 144"/>
              <a:gd name="T27" fmla="*/ 56 h 144"/>
              <a:gd name="T28" fmla="*/ 6 w 144"/>
              <a:gd name="T29" fmla="*/ 61 h 144"/>
              <a:gd name="T30" fmla="*/ 0 w 144"/>
              <a:gd name="T31" fmla="*/ 78 h 144"/>
              <a:gd name="T32" fmla="*/ 12 w 144"/>
              <a:gd name="T33" fmla="*/ 83 h 144"/>
              <a:gd name="T34" fmla="*/ 23 w 144"/>
              <a:gd name="T35" fmla="*/ 98 h 144"/>
              <a:gd name="T36" fmla="*/ 17 w 144"/>
              <a:gd name="T37" fmla="*/ 111 h 144"/>
              <a:gd name="T38" fmla="*/ 25 w 144"/>
              <a:gd name="T39" fmla="*/ 127 h 144"/>
              <a:gd name="T40" fmla="*/ 38 w 144"/>
              <a:gd name="T41" fmla="*/ 122 h 144"/>
              <a:gd name="T42" fmla="*/ 56 w 144"/>
              <a:gd name="T43" fmla="*/ 125 h 144"/>
              <a:gd name="T44" fmla="*/ 61 w 144"/>
              <a:gd name="T45" fmla="*/ 138 h 144"/>
              <a:gd name="T46" fmla="*/ 78 w 144"/>
              <a:gd name="T47" fmla="*/ 144 h 144"/>
              <a:gd name="T48" fmla="*/ 83 w 144"/>
              <a:gd name="T49" fmla="*/ 132 h 144"/>
              <a:gd name="T50" fmla="*/ 98 w 144"/>
              <a:gd name="T51" fmla="*/ 121 h 144"/>
              <a:gd name="T52" fmla="*/ 111 w 144"/>
              <a:gd name="T53" fmla="*/ 127 h 144"/>
              <a:gd name="T54" fmla="*/ 127 w 144"/>
              <a:gd name="T55" fmla="*/ 119 h 144"/>
              <a:gd name="T56" fmla="*/ 122 w 144"/>
              <a:gd name="T57" fmla="*/ 106 h 144"/>
              <a:gd name="T58" fmla="*/ 125 w 144"/>
              <a:gd name="T59" fmla="*/ 88 h 144"/>
              <a:gd name="T60" fmla="*/ 138 w 144"/>
              <a:gd name="T61" fmla="*/ 83 h 144"/>
              <a:gd name="T62" fmla="*/ 144 w 144"/>
              <a:gd name="T63" fmla="*/ 66 h 144"/>
              <a:gd name="T64" fmla="*/ 100 w 144"/>
              <a:gd name="T65" fmla="*/ 72 h 144"/>
              <a:gd name="T66" fmla="*/ 44 w 144"/>
              <a:gd name="T67" fmla="*/ 72 h 144"/>
              <a:gd name="T68" fmla="*/ 100 w 144"/>
              <a:gd name="T69" fmla="*/ 72 h 1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144" h="144">
                <a:moveTo>
                  <a:pt x="138" y="61"/>
                </a:moveTo>
                <a:cubicBezTo>
                  <a:pt x="132" y="61"/>
                  <a:pt x="132" y="61"/>
                  <a:pt x="132" y="61"/>
                </a:cubicBezTo>
                <a:cubicBezTo>
                  <a:pt x="129" y="61"/>
                  <a:pt x="126" y="59"/>
                  <a:pt x="125" y="56"/>
                </a:cubicBezTo>
                <a:cubicBezTo>
                  <a:pt x="121" y="46"/>
                  <a:pt x="121" y="46"/>
                  <a:pt x="121" y="46"/>
                </a:cubicBezTo>
                <a:cubicBezTo>
                  <a:pt x="119" y="44"/>
                  <a:pt x="120" y="40"/>
                  <a:pt x="122" y="38"/>
                </a:cubicBezTo>
                <a:cubicBezTo>
                  <a:pt x="127" y="33"/>
                  <a:pt x="127" y="33"/>
                  <a:pt x="127" y="33"/>
                </a:cubicBezTo>
                <a:cubicBezTo>
                  <a:pt x="129" y="31"/>
                  <a:pt x="129" y="27"/>
                  <a:pt x="127" y="25"/>
                </a:cubicBezTo>
                <a:cubicBezTo>
                  <a:pt x="119" y="17"/>
                  <a:pt x="119" y="17"/>
                  <a:pt x="119" y="17"/>
                </a:cubicBezTo>
                <a:cubicBezTo>
                  <a:pt x="117" y="15"/>
                  <a:pt x="113" y="15"/>
                  <a:pt x="111" y="17"/>
                </a:cubicBezTo>
                <a:cubicBezTo>
                  <a:pt x="106" y="22"/>
                  <a:pt x="106" y="22"/>
                  <a:pt x="106" y="22"/>
                </a:cubicBezTo>
                <a:cubicBezTo>
                  <a:pt x="104" y="24"/>
                  <a:pt x="100" y="25"/>
                  <a:pt x="98" y="23"/>
                </a:cubicBezTo>
                <a:cubicBezTo>
                  <a:pt x="88" y="19"/>
                  <a:pt x="88" y="19"/>
                  <a:pt x="88" y="19"/>
                </a:cubicBezTo>
                <a:cubicBezTo>
                  <a:pt x="85" y="18"/>
                  <a:pt x="83" y="15"/>
                  <a:pt x="83" y="12"/>
                </a:cubicBezTo>
                <a:cubicBezTo>
                  <a:pt x="83" y="6"/>
                  <a:pt x="83" y="6"/>
                  <a:pt x="83" y="6"/>
                </a:cubicBezTo>
                <a:cubicBezTo>
                  <a:pt x="83" y="2"/>
                  <a:pt x="81" y="0"/>
                  <a:pt x="78" y="0"/>
                </a:cubicBezTo>
                <a:cubicBezTo>
                  <a:pt x="66" y="0"/>
                  <a:pt x="66" y="0"/>
                  <a:pt x="66" y="0"/>
                </a:cubicBezTo>
                <a:cubicBezTo>
                  <a:pt x="63" y="0"/>
                  <a:pt x="61" y="2"/>
                  <a:pt x="61" y="6"/>
                </a:cubicBezTo>
                <a:cubicBezTo>
                  <a:pt x="61" y="12"/>
                  <a:pt x="61" y="12"/>
                  <a:pt x="61" y="12"/>
                </a:cubicBezTo>
                <a:cubicBezTo>
                  <a:pt x="61" y="15"/>
                  <a:pt x="59" y="18"/>
                  <a:pt x="56" y="19"/>
                </a:cubicBezTo>
                <a:cubicBezTo>
                  <a:pt x="46" y="23"/>
                  <a:pt x="46" y="23"/>
                  <a:pt x="46" y="23"/>
                </a:cubicBezTo>
                <a:cubicBezTo>
                  <a:pt x="44" y="25"/>
                  <a:pt x="40" y="24"/>
                  <a:pt x="38" y="22"/>
                </a:cubicBezTo>
                <a:cubicBezTo>
                  <a:pt x="33" y="17"/>
                  <a:pt x="33" y="17"/>
                  <a:pt x="33" y="17"/>
                </a:cubicBezTo>
                <a:cubicBezTo>
                  <a:pt x="31" y="15"/>
                  <a:pt x="27" y="15"/>
                  <a:pt x="25" y="17"/>
                </a:cubicBezTo>
                <a:cubicBezTo>
                  <a:pt x="17" y="25"/>
                  <a:pt x="17" y="25"/>
                  <a:pt x="17" y="25"/>
                </a:cubicBezTo>
                <a:cubicBezTo>
                  <a:pt x="15" y="27"/>
                  <a:pt x="15" y="31"/>
                  <a:pt x="17" y="33"/>
                </a:cubicBezTo>
                <a:cubicBezTo>
                  <a:pt x="22" y="38"/>
                  <a:pt x="22" y="38"/>
                  <a:pt x="22" y="38"/>
                </a:cubicBezTo>
                <a:cubicBezTo>
                  <a:pt x="24" y="40"/>
                  <a:pt x="25" y="44"/>
                  <a:pt x="23" y="46"/>
                </a:cubicBezTo>
                <a:cubicBezTo>
                  <a:pt x="19" y="56"/>
                  <a:pt x="19" y="56"/>
                  <a:pt x="19" y="56"/>
                </a:cubicBezTo>
                <a:cubicBezTo>
                  <a:pt x="18" y="59"/>
                  <a:pt x="15" y="61"/>
                  <a:pt x="12" y="61"/>
                </a:cubicBezTo>
                <a:cubicBezTo>
                  <a:pt x="6" y="61"/>
                  <a:pt x="6" y="61"/>
                  <a:pt x="6" y="61"/>
                </a:cubicBezTo>
                <a:cubicBezTo>
                  <a:pt x="2" y="61"/>
                  <a:pt x="0" y="63"/>
                  <a:pt x="0" y="66"/>
                </a:cubicBezTo>
                <a:cubicBezTo>
                  <a:pt x="0" y="78"/>
                  <a:pt x="0" y="78"/>
                  <a:pt x="0" y="78"/>
                </a:cubicBezTo>
                <a:cubicBezTo>
                  <a:pt x="0" y="81"/>
                  <a:pt x="2" y="83"/>
                  <a:pt x="6" y="83"/>
                </a:cubicBezTo>
                <a:cubicBezTo>
                  <a:pt x="12" y="83"/>
                  <a:pt x="12" y="83"/>
                  <a:pt x="12" y="83"/>
                </a:cubicBezTo>
                <a:cubicBezTo>
                  <a:pt x="15" y="83"/>
                  <a:pt x="18" y="85"/>
                  <a:pt x="19" y="88"/>
                </a:cubicBezTo>
                <a:cubicBezTo>
                  <a:pt x="23" y="98"/>
                  <a:pt x="23" y="98"/>
                  <a:pt x="23" y="98"/>
                </a:cubicBezTo>
                <a:cubicBezTo>
                  <a:pt x="25" y="100"/>
                  <a:pt x="24" y="104"/>
                  <a:pt x="22" y="106"/>
                </a:cubicBezTo>
                <a:cubicBezTo>
                  <a:pt x="17" y="111"/>
                  <a:pt x="17" y="111"/>
                  <a:pt x="17" y="111"/>
                </a:cubicBezTo>
                <a:cubicBezTo>
                  <a:pt x="15" y="113"/>
                  <a:pt x="15" y="117"/>
                  <a:pt x="17" y="119"/>
                </a:cubicBezTo>
                <a:cubicBezTo>
                  <a:pt x="25" y="127"/>
                  <a:pt x="25" y="127"/>
                  <a:pt x="25" y="127"/>
                </a:cubicBezTo>
                <a:cubicBezTo>
                  <a:pt x="27" y="129"/>
                  <a:pt x="31" y="129"/>
                  <a:pt x="33" y="127"/>
                </a:cubicBezTo>
                <a:cubicBezTo>
                  <a:pt x="38" y="122"/>
                  <a:pt x="38" y="122"/>
                  <a:pt x="38" y="122"/>
                </a:cubicBezTo>
                <a:cubicBezTo>
                  <a:pt x="40" y="120"/>
                  <a:pt x="44" y="119"/>
                  <a:pt x="46" y="121"/>
                </a:cubicBezTo>
                <a:cubicBezTo>
                  <a:pt x="56" y="125"/>
                  <a:pt x="56" y="125"/>
                  <a:pt x="56" y="125"/>
                </a:cubicBezTo>
                <a:cubicBezTo>
                  <a:pt x="59" y="126"/>
                  <a:pt x="61" y="129"/>
                  <a:pt x="61" y="132"/>
                </a:cubicBezTo>
                <a:cubicBezTo>
                  <a:pt x="61" y="138"/>
                  <a:pt x="61" y="138"/>
                  <a:pt x="61" y="138"/>
                </a:cubicBezTo>
                <a:cubicBezTo>
                  <a:pt x="61" y="142"/>
                  <a:pt x="63" y="144"/>
                  <a:pt x="66" y="144"/>
                </a:cubicBezTo>
                <a:cubicBezTo>
                  <a:pt x="78" y="144"/>
                  <a:pt x="78" y="144"/>
                  <a:pt x="78" y="144"/>
                </a:cubicBezTo>
                <a:cubicBezTo>
                  <a:pt x="81" y="144"/>
                  <a:pt x="83" y="142"/>
                  <a:pt x="83" y="138"/>
                </a:cubicBezTo>
                <a:cubicBezTo>
                  <a:pt x="83" y="132"/>
                  <a:pt x="83" y="132"/>
                  <a:pt x="83" y="132"/>
                </a:cubicBezTo>
                <a:cubicBezTo>
                  <a:pt x="83" y="129"/>
                  <a:pt x="85" y="126"/>
                  <a:pt x="88" y="125"/>
                </a:cubicBezTo>
                <a:cubicBezTo>
                  <a:pt x="98" y="121"/>
                  <a:pt x="98" y="121"/>
                  <a:pt x="98" y="121"/>
                </a:cubicBezTo>
                <a:cubicBezTo>
                  <a:pt x="100" y="119"/>
                  <a:pt x="104" y="120"/>
                  <a:pt x="106" y="122"/>
                </a:cubicBezTo>
                <a:cubicBezTo>
                  <a:pt x="111" y="127"/>
                  <a:pt x="111" y="127"/>
                  <a:pt x="111" y="127"/>
                </a:cubicBezTo>
                <a:cubicBezTo>
                  <a:pt x="113" y="129"/>
                  <a:pt x="117" y="129"/>
                  <a:pt x="119" y="127"/>
                </a:cubicBezTo>
                <a:cubicBezTo>
                  <a:pt x="127" y="119"/>
                  <a:pt x="127" y="119"/>
                  <a:pt x="127" y="119"/>
                </a:cubicBezTo>
                <a:cubicBezTo>
                  <a:pt x="129" y="117"/>
                  <a:pt x="129" y="113"/>
                  <a:pt x="127" y="111"/>
                </a:cubicBezTo>
                <a:cubicBezTo>
                  <a:pt x="122" y="106"/>
                  <a:pt x="122" y="106"/>
                  <a:pt x="122" y="106"/>
                </a:cubicBezTo>
                <a:cubicBezTo>
                  <a:pt x="120" y="104"/>
                  <a:pt x="119" y="100"/>
                  <a:pt x="121" y="98"/>
                </a:cubicBezTo>
                <a:cubicBezTo>
                  <a:pt x="125" y="88"/>
                  <a:pt x="125" y="88"/>
                  <a:pt x="125" y="88"/>
                </a:cubicBezTo>
                <a:cubicBezTo>
                  <a:pt x="126" y="85"/>
                  <a:pt x="129" y="83"/>
                  <a:pt x="132" y="83"/>
                </a:cubicBezTo>
                <a:cubicBezTo>
                  <a:pt x="138" y="83"/>
                  <a:pt x="138" y="83"/>
                  <a:pt x="138" y="83"/>
                </a:cubicBezTo>
                <a:cubicBezTo>
                  <a:pt x="142" y="83"/>
                  <a:pt x="144" y="81"/>
                  <a:pt x="144" y="78"/>
                </a:cubicBezTo>
                <a:cubicBezTo>
                  <a:pt x="144" y="66"/>
                  <a:pt x="144" y="66"/>
                  <a:pt x="144" y="66"/>
                </a:cubicBezTo>
                <a:cubicBezTo>
                  <a:pt x="144" y="63"/>
                  <a:pt x="142" y="61"/>
                  <a:pt x="138" y="61"/>
                </a:cubicBezTo>
                <a:moveTo>
                  <a:pt x="100" y="72"/>
                </a:moveTo>
                <a:cubicBezTo>
                  <a:pt x="100" y="87"/>
                  <a:pt x="87" y="100"/>
                  <a:pt x="72" y="100"/>
                </a:cubicBezTo>
                <a:cubicBezTo>
                  <a:pt x="57" y="100"/>
                  <a:pt x="44" y="87"/>
                  <a:pt x="44" y="72"/>
                </a:cubicBezTo>
                <a:cubicBezTo>
                  <a:pt x="44" y="57"/>
                  <a:pt x="57" y="44"/>
                  <a:pt x="72" y="44"/>
                </a:cubicBezTo>
                <a:cubicBezTo>
                  <a:pt x="87" y="44"/>
                  <a:pt x="100" y="57"/>
                  <a:pt x="100" y="72"/>
                </a:cubicBezTo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2533" y="1371600"/>
            <a:ext cx="9275763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28841" y="0"/>
            <a:ext cx="2763159" cy="10567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59399956"/>
      </p:ext>
    </p:extLst>
  </p:cSld>
  <p:clrMapOvr>
    <a:masterClrMapping/>
  </p:clrMapOvr>
  <p:transition spd="slow" advClick="0" advTm="0">
    <p:push dir="u"/>
  </p:transition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8" presetClass="entr" presetSubtype="16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0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3" dur="2000"/>
                                        <p:tgtEl>
                                          <p:spTgt spid="3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0" grpId="0"/>
      <p:bldP spid="10" grpId="1"/>
      <p:bldP spid="375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圆角矩形 22"/>
          <p:cNvSpPr/>
          <p:nvPr/>
        </p:nvSpPr>
        <p:spPr>
          <a:xfrm>
            <a:off x="1015877" y="1065007"/>
            <a:ext cx="2005093" cy="1406660"/>
          </a:xfrm>
          <a:prstGeom prst="round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c</a:t>
            </a:r>
            <a:endParaRPr lang="zh-CN" altLang="en-US" dirty="0"/>
          </a:p>
        </p:txBody>
      </p:sp>
      <p:sp>
        <p:nvSpPr>
          <p:cNvPr id="2" name="矩形 1"/>
          <p:cNvSpPr/>
          <p:nvPr/>
        </p:nvSpPr>
        <p:spPr>
          <a:xfrm>
            <a:off x="1029653" y="397510"/>
            <a:ext cx="215706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altLang="zh-CN" b="1" dirty="0" smtClean="0">
                <a:solidFill>
                  <a:srgbClr val="304371"/>
                </a:solidFill>
                <a:latin typeface="微软雅黑" panose="020B0503020204020204" charset="-122"/>
                <a:ea typeface="微软雅黑" panose="020B0503020204020204" charset="-122"/>
                <a:cs typeface="Arial Unicode MS" panose="020B0604020202020204" charset="-122"/>
                <a:sym typeface="+mn-ea"/>
              </a:rPr>
              <a:t>Redis Cluster</a:t>
            </a:r>
            <a:r>
              <a:rPr lang="zh-CN" altLang="en-US" b="1" dirty="0" smtClean="0">
                <a:solidFill>
                  <a:srgbClr val="304371"/>
                </a:solidFill>
                <a:latin typeface="微软雅黑" panose="020B0503020204020204" charset="-122"/>
                <a:ea typeface="微软雅黑" panose="020B0503020204020204" charset="-122"/>
                <a:cs typeface="Arial Unicode MS" panose="020B0604020202020204" charset="-122"/>
                <a:sym typeface="+mn-ea"/>
              </a:rPr>
              <a:t>模式</a:t>
            </a:r>
            <a:endParaRPr lang="en-US" altLang="zh-CN" b="1" dirty="0" smtClean="0">
              <a:solidFill>
                <a:srgbClr val="304371"/>
              </a:solidFill>
              <a:latin typeface="微软雅黑" panose="020B0503020204020204" charset="-122"/>
              <a:ea typeface="微软雅黑" panose="020B0503020204020204" charset="-122"/>
              <a:cs typeface="Arial Unicode MS" panose="020B0604020202020204" charset="-122"/>
              <a:sym typeface="+mn-ea"/>
            </a:endParaRPr>
          </a:p>
        </p:txBody>
      </p:sp>
      <p:sp>
        <p:nvSpPr>
          <p:cNvPr id="10" name="TextBox 24"/>
          <p:cNvSpPr txBox="1"/>
          <p:nvPr/>
        </p:nvSpPr>
        <p:spPr>
          <a:xfrm>
            <a:off x="856304" y="3202287"/>
            <a:ext cx="648335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400" b="1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意义</a:t>
            </a:r>
            <a:r>
              <a:rPr lang="en-US" altLang="zh-CN" sz="1400" b="1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1</a:t>
            </a:r>
          </a:p>
        </p:txBody>
      </p:sp>
      <p:sp>
        <p:nvSpPr>
          <p:cNvPr id="375" name="Freeform 28"/>
          <p:cNvSpPr>
            <a:spLocks noEditPoints="1"/>
          </p:cNvSpPr>
          <p:nvPr/>
        </p:nvSpPr>
        <p:spPr bwMode="auto">
          <a:xfrm>
            <a:off x="1015877" y="2673046"/>
            <a:ext cx="328930" cy="326390"/>
          </a:xfrm>
          <a:custGeom>
            <a:avLst/>
            <a:gdLst>
              <a:gd name="T0" fmla="*/ 132 w 144"/>
              <a:gd name="T1" fmla="*/ 61 h 144"/>
              <a:gd name="T2" fmla="*/ 121 w 144"/>
              <a:gd name="T3" fmla="*/ 46 h 144"/>
              <a:gd name="T4" fmla="*/ 127 w 144"/>
              <a:gd name="T5" fmla="*/ 33 h 144"/>
              <a:gd name="T6" fmla="*/ 119 w 144"/>
              <a:gd name="T7" fmla="*/ 17 h 144"/>
              <a:gd name="T8" fmla="*/ 106 w 144"/>
              <a:gd name="T9" fmla="*/ 22 h 144"/>
              <a:gd name="T10" fmla="*/ 88 w 144"/>
              <a:gd name="T11" fmla="*/ 19 h 144"/>
              <a:gd name="T12" fmla="*/ 83 w 144"/>
              <a:gd name="T13" fmla="*/ 6 h 144"/>
              <a:gd name="T14" fmla="*/ 66 w 144"/>
              <a:gd name="T15" fmla="*/ 0 h 144"/>
              <a:gd name="T16" fmla="*/ 61 w 144"/>
              <a:gd name="T17" fmla="*/ 12 h 144"/>
              <a:gd name="T18" fmla="*/ 46 w 144"/>
              <a:gd name="T19" fmla="*/ 23 h 144"/>
              <a:gd name="T20" fmla="*/ 33 w 144"/>
              <a:gd name="T21" fmla="*/ 17 h 144"/>
              <a:gd name="T22" fmla="*/ 17 w 144"/>
              <a:gd name="T23" fmla="*/ 25 h 144"/>
              <a:gd name="T24" fmla="*/ 22 w 144"/>
              <a:gd name="T25" fmla="*/ 38 h 144"/>
              <a:gd name="T26" fmla="*/ 19 w 144"/>
              <a:gd name="T27" fmla="*/ 56 h 144"/>
              <a:gd name="T28" fmla="*/ 6 w 144"/>
              <a:gd name="T29" fmla="*/ 61 h 144"/>
              <a:gd name="T30" fmla="*/ 0 w 144"/>
              <a:gd name="T31" fmla="*/ 78 h 144"/>
              <a:gd name="T32" fmla="*/ 12 w 144"/>
              <a:gd name="T33" fmla="*/ 83 h 144"/>
              <a:gd name="T34" fmla="*/ 23 w 144"/>
              <a:gd name="T35" fmla="*/ 98 h 144"/>
              <a:gd name="T36" fmla="*/ 17 w 144"/>
              <a:gd name="T37" fmla="*/ 111 h 144"/>
              <a:gd name="T38" fmla="*/ 25 w 144"/>
              <a:gd name="T39" fmla="*/ 127 h 144"/>
              <a:gd name="T40" fmla="*/ 38 w 144"/>
              <a:gd name="T41" fmla="*/ 122 h 144"/>
              <a:gd name="T42" fmla="*/ 56 w 144"/>
              <a:gd name="T43" fmla="*/ 125 h 144"/>
              <a:gd name="T44" fmla="*/ 61 w 144"/>
              <a:gd name="T45" fmla="*/ 138 h 144"/>
              <a:gd name="T46" fmla="*/ 78 w 144"/>
              <a:gd name="T47" fmla="*/ 144 h 144"/>
              <a:gd name="T48" fmla="*/ 83 w 144"/>
              <a:gd name="T49" fmla="*/ 132 h 144"/>
              <a:gd name="T50" fmla="*/ 98 w 144"/>
              <a:gd name="T51" fmla="*/ 121 h 144"/>
              <a:gd name="T52" fmla="*/ 111 w 144"/>
              <a:gd name="T53" fmla="*/ 127 h 144"/>
              <a:gd name="T54" fmla="*/ 127 w 144"/>
              <a:gd name="T55" fmla="*/ 119 h 144"/>
              <a:gd name="T56" fmla="*/ 122 w 144"/>
              <a:gd name="T57" fmla="*/ 106 h 144"/>
              <a:gd name="T58" fmla="*/ 125 w 144"/>
              <a:gd name="T59" fmla="*/ 88 h 144"/>
              <a:gd name="T60" fmla="*/ 138 w 144"/>
              <a:gd name="T61" fmla="*/ 83 h 144"/>
              <a:gd name="T62" fmla="*/ 144 w 144"/>
              <a:gd name="T63" fmla="*/ 66 h 144"/>
              <a:gd name="T64" fmla="*/ 100 w 144"/>
              <a:gd name="T65" fmla="*/ 72 h 144"/>
              <a:gd name="T66" fmla="*/ 44 w 144"/>
              <a:gd name="T67" fmla="*/ 72 h 144"/>
              <a:gd name="T68" fmla="*/ 100 w 144"/>
              <a:gd name="T69" fmla="*/ 72 h 1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144" h="144">
                <a:moveTo>
                  <a:pt x="138" y="61"/>
                </a:moveTo>
                <a:cubicBezTo>
                  <a:pt x="132" y="61"/>
                  <a:pt x="132" y="61"/>
                  <a:pt x="132" y="61"/>
                </a:cubicBezTo>
                <a:cubicBezTo>
                  <a:pt x="129" y="61"/>
                  <a:pt x="126" y="59"/>
                  <a:pt x="125" y="56"/>
                </a:cubicBezTo>
                <a:cubicBezTo>
                  <a:pt x="121" y="46"/>
                  <a:pt x="121" y="46"/>
                  <a:pt x="121" y="46"/>
                </a:cubicBezTo>
                <a:cubicBezTo>
                  <a:pt x="119" y="44"/>
                  <a:pt x="120" y="40"/>
                  <a:pt x="122" y="38"/>
                </a:cubicBezTo>
                <a:cubicBezTo>
                  <a:pt x="127" y="33"/>
                  <a:pt x="127" y="33"/>
                  <a:pt x="127" y="33"/>
                </a:cubicBezTo>
                <a:cubicBezTo>
                  <a:pt x="129" y="31"/>
                  <a:pt x="129" y="27"/>
                  <a:pt x="127" y="25"/>
                </a:cubicBezTo>
                <a:cubicBezTo>
                  <a:pt x="119" y="17"/>
                  <a:pt x="119" y="17"/>
                  <a:pt x="119" y="17"/>
                </a:cubicBezTo>
                <a:cubicBezTo>
                  <a:pt x="117" y="15"/>
                  <a:pt x="113" y="15"/>
                  <a:pt x="111" y="17"/>
                </a:cubicBezTo>
                <a:cubicBezTo>
                  <a:pt x="106" y="22"/>
                  <a:pt x="106" y="22"/>
                  <a:pt x="106" y="22"/>
                </a:cubicBezTo>
                <a:cubicBezTo>
                  <a:pt x="104" y="24"/>
                  <a:pt x="100" y="25"/>
                  <a:pt x="98" y="23"/>
                </a:cubicBezTo>
                <a:cubicBezTo>
                  <a:pt x="88" y="19"/>
                  <a:pt x="88" y="19"/>
                  <a:pt x="88" y="19"/>
                </a:cubicBezTo>
                <a:cubicBezTo>
                  <a:pt x="85" y="18"/>
                  <a:pt x="83" y="15"/>
                  <a:pt x="83" y="12"/>
                </a:cubicBezTo>
                <a:cubicBezTo>
                  <a:pt x="83" y="6"/>
                  <a:pt x="83" y="6"/>
                  <a:pt x="83" y="6"/>
                </a:cubicBezTo>
                <a:cubicBezTo>
                  <a:pt x="83" y="2"/>
                  <a:pt x="81" y="0"/>
                  <a:pt x="78" y="0"/>
                </a:cubicBezTo>
                <a:cubicBezTo>
                  <a:pt x="66" y="0"/>
                  <a:pt x="66" y="0"/>
                  <a:pt x="66" y="0"/>
                </a:cubicBezTo>
                <a:cubicBezTo>
                  <a:pt x="63" y="0"/>
                  <a:pt x="61" y="2"/>
                  <a:pt x="61" y="6"/>
                </a:cubicBezTo>
                <a:cubicBezTo>
                  <a:pt x="61" y="12"/>
                  <a:pt x="61" y="12"/>
                  <a:pt x="61" y="12"/>
                </a:cubicBezTo>
                <a:cubicBezTo>
                  <a:pt x="61" y="15"/>
                  <a:pt x="59" y="18"/>
                  <a:pt x="56" y="19"/>
                </a:cubicBezTo>
                <a:cubicBezTo>
                  <a:pt x="46" y="23"/>
                  <a:pt x="46" y="23"/>
                  <a:pt x="46" y="23"/>
                </a:cubicBezTo>
                <a:cubicBezTo>
                  <a:pt x="44" y="25"/>
                  <a:pt x="40" y="24"/>
                  <a:pt x="38" y="22"/>
                </a:cubicBezTo>
                <a:cubicBezTo>
                  <a:pt x="33" y="17"/>
                  <a:pt x="33" y="17"/>
                  <a:pt x="33" y="17"/>
                </a:cubicBezTo>
                <a:cubicBezTo>
                  <a:pt x="31" y="15"/>
                  <a:pt x="27" y="15"/>
                  <a:pt x="25" y="17"/>
                </a:cubicBezTo>
                <a:cubicBezTo>
                  <a:pt x="17" y="25"/>
                  <a:pt x="17" y="25"/>
                  <a:pt x="17" y="25"/>
                </a:cubicBezTo>
                <a:cubicBezTo>
                  <a:pt x="15" y="27"/>
                  <a:pt x="15" y="31"/>
                  <a:pt x="17" y="33"/>
                </a:cubicBezTo>
                <a:cubicBezTo>
                  <a:pt x="22" y="38"/>
                  <a:pt x="22" y="38"/>
                  <a:pt x="22" y="38"/>
                </a:cubicBezTo>
                <a:cubicBezTo>
                  <a:pt x="24" y="40"/>
                  <a:pt x="25" y="44"/>
                  <a:pt x="23" y="46"/>
                </a:cubicBezTo>
                <a:cubicBezTo>
                  <a:pt x="19" y="56"/>
                  <a:pt x="19" y="56"/>
                  <a:pt x="19" y="56"/>
                </a:cubicBezTo>
                <a:cubicBezTo>
                  <a:pt x="18" y="59"/>
                  <a:pt x="15" y="61"/>
                  <a:pt x="12" y="61"/>
                </a:cubicBezTo>
                <a:cubicBezTo>
                  <a:pt x="6" y="61"/>
                  <a:pt x="6" y="61"/>
                  <a:pt x="6" y="61"/>
                </a:cubicBezTo>
                <a:cubicBezTo>
                  <a:pt x="2" y="61"/>
                  <a:pt x="0" y="63"/>
                  <a:pt x="0" y="66"/>
                </a:cubicBezTo>
                <a:cubicBezTo>
                  <a:pt x="0" y="78"/>
                  <a:pt x="0" y="78"/>
                  <a:pt x="0" y="78"/>
                </a:cubicBezTo>
                <a:cubicBezTo>
                  <a:pt x="0" y="81"/>
                  <a:pt x="2" y="83"/>
                  <a:pt x="6" y="83"/>
                </a:cubicBezTo>
                <a:cubicBezTo>
                  <a:pt x="12" y="83"/>
                  <a:pt x="12" y="83"/>
                  <a:pt x="12" y="83"/>
                </a:cubicBezTo>
                <a:cubicBezTo>
                  <a:pt x="15" y="83"/>
                  <a:pt x="18" y="85"/>
                  <a:pt x="19" y="88"/>
                </a:cubicBezTo>
                <a:cubicBezTo>
                  <a:pt x="23" y="98"/>
                  <a:pt x="23" y="98"/>
                  <a:pt x="23" y="98"/>
                </a:cubicBezTo>
                <a:cubicBezTo>
                  <a:pt x="25" y="100"/>
                  <a:pt x="24" y="104"/>
                  <a:pt x="22" y="106"/>
                </a:cubicBezTo>
                <a:cubicBezTo>
                  <a:pt x="17" y="111"/>
                  <a:pt x="17" y="111"/>
                  <a:pt x="17" y="111"/>
                </a:cubicBezTo>
                <a:cubicBezTo>
                  <a:pt x="15" y="113"/>
                  <a:pt x="15" y="117"/>
                  <a:pt x="17" y="119"/>
                </a:cubicBezTo>
                <a:cubicBezTo>
                  <a:pt x="25" y="127"/>
                  <a:pt x="25" y="127"/>
                  <a:pt x="25" y="127"/>
                </a:cubicBezTo>
                <a:cubicBezTo>
                  <a:pt x="27" y="129"/>
                  <a:pt x="31" y="129"/>
                  <a:pt x="33" y="127"/>
                </a:cubicBezTo>
                <a:cubicBezTo>
                  <a:pt x="38" y="122"/>
                  <a:pt x="38" y="122"/>
                  <a:pt x="38" y="122"/>
                </a:cubicBezTo>
                <a:cubicBezTo>
                  <a:pt x="40" y="120"/>
                  <a:pt x="44" y="119"/>
                  <a:pt x="46" y="121"/>
                </a:cubicBezTo>
                <a:cubicBezTo>
                  <a:pt x="56" y="125"/>
                  <a:pt x="56" y="125"/>
                  <a:pt x="56" y="125"/>
                </a:cubicBezTo>
                <a:cubicBezTo>
                  <a:pt x="59" y="126"/>
                  <a:pt x="61" y="129"/>
                  <a:pt x="61" y="132"/>
                </a:cubicBezTo>
                <a:cubicBezTo>
                  <a:pt x="61" y="138"/>
                  <a:pt x="61" y="138"/>
                  <a:pt x="61" y="138"/>
                </a:cubicBezTo>
                <a:cubicBezTo>
                  <a:pt x="61" y="142"/>
                  <a:pt x="63" y="144"/>
                  <a:pt x="66" y="144"/>
                </a:cubicBezTo>
                <a:cubicBezTo>
                  <a:pt x="78" y="144"/>
                  <a:pt x="78" y="144"/>
                  <a:pt x="78" y="144"/>
                </a:cubicBezTo>
                <a:cubicBezTo>
                  <a:pt x="81" y="144"/>
                  <a:pt x="83" y="142"/>
                  <a:pt x="83" y="138"/>
                </a:cubicBezTo>
                <a:cubicBezTo>
                  <a:pt x="83" y="132"/>
                  <a:pt x="83" y="132"/>
                  <a:pt x="83" y="132"/>
                </a:cubicBezTo>
                <a:cubicBezTo>
                  <a:pt x="83" y="129"/>
                  <a:pt x="85" y="126"/>
                  <a:pt x="88" y="125"/>
                </a:cubicBezTo>
                <a:cubicBezTo>
                  <a:pt x="98" y="121"/>
                  <a:pt x="98" y="121"/>
                  <a:pt x="98" y="121"/>
                </a:cubicBezTo>
                <a:cubicBezTo>
                  <a:pt x="100" y="119"/>
                  <a:pt x="104" y="120"/>
                  <a:pt x="106" y="122"/>
                </a:cubicBezTo>
                <a:cubicBezTo>
                  <a:pt x="111" y="127"/>
                  <a:pt x="111" y="127"/>
                  <a:pt x="111" y="127"/>
                </a:cubicBezTo>
                <a:cubicBezTo>
                  <a:pt x="113" y="129"/>
                  <a:pt x="117" y="129"/>
                  <a:pt x="119" y="127"/>
                </a:cubicBezTo>
                <a:cubicBezTo>
                  <a:pt x="127" y="119"/>
                  <a:pt x="127" y="119"/>
                  <a:pt x="127" y="119"/>
                </a:cubicBezTo>
                <a:cubicBezTo>
                  <a:pt x="129" y="117"/>
                  <a:pt x="129" y="113"/>
                  <a:pt x="127" y="111"/>
                </a:cubicBezTo>
                <a:cubicBezTo>
                  <a:pt x="122" y="106"/>
                  <a:pt x="122" y="106"/>
                  <a:pt x="122" y="106"/>
                </a:cubicBezTo>
                <a:cubicBezTo>
                  <a:pt x="120" y="104"/>
                  <a:pt x="119" y="100"/>
                  <a:pt x="121" y="98"/>
                </a:cubicBezTo>
                <a:cubicBezTo>
                  <a:pt x="125" y="88"/>
                  <a:pt x="125" y="88"/>
                  <a:pt x="125" y="88"/>
                </a:cubicBezTo>
                <a:cubicBezTo>
                  <a:pt x="126" y="85"/>
                  <a:pt x="129" y="83"/>
                  <a:pt x="132" y="83"/>
                </a:cubicBezTo>
                <a:cubicBezTo>
                  <a:pt x="138" y="83"/>
                  <a:pt x="138" y="83"/>
                  <a:pt x="138" y="83"/>
                </a:cubicBezTo>
                <a:cubicBezTo>
                  <a:pt x="142" y="83"/>
                  <a:pt x="144" y="81"/>
                  <a:pt x="144" y="78"/>
                </a:cubicBezTo>
                <a:cubicBezTo>
                  <a:pt x="144" y="66"/>
                  <a:pt x="144" y="66"/>
                  <a:pt x="144" y="66"/>
                </a:cubicBezTo>
                <a:cubicBezTo>
                  <a:pt x="144" y="63"/>
                  <a:pt x="142" y="61"/>
                  <a:pt x="138" y="61"/>
                </a:cubicBezTo>
                <a:moveTo>
                  <a:pt x="100" y="72"/>
                </a:moveTo>
                <a:cubicBezTo>
                  <a:pt x="100" y="87"/>
                  <a:pt x="87" y="100"/>
                  <a:pt x="72" y="100"/>
                </a:cubicBezTo>
                <a:cubicBezTo>
                  <a:pt x="57" y="100"/>
                  <a:pt x="44" y="87"/>
                  <a:pt x="44" y="72"/>
                </a:cubicBezTo>
                <a:cubicBezTo>
                  <a:pt x="44" y="57"/>
                  <a:pt x="57" y="44"/>
                  <a:pt x="72" y="44"/>
                </a:cubicBezTo>
                <a:cubicBezTo>
                  <a:pt x="87" y="44"/>
                  <a:pt x="100" y="57"/>
                  <a:pt x="100" y="72"/>
                </a:cubicBezTo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24" name="圆角矩形 23"/>
          <p:cNvSpPr/>
          <p:nvPr/>
        </p:nvSpPr>
        <p:spPr>
          <a:xfrm>
            <a:off x="1640910" y="1281059"/>
            <a:ext cx="1237129" cy="916856"/>
          </a:xfrm>
          <a:prstGeom prst="roundRect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N</a:t>
            </a:r>
            <a:r>
              <a:rPr lang="en-US" altLang="zh-CN" dirty="0" smtClean="0"/>
              <a:t>ode1</a:t>
            </a:r>
            <a:endParaRPr lang="zh-CN" altLang="en-US" dirty="0"/>
          </a:p>
        </p:txBody>
      </p:sp>
      <p:sp>
        <p:nvSpPr>
          <p:cNvPr id="26" name="圆角矩形 25"/>
          <p:cNvSpPr/>
          <p:nvPr/>
        </p:nvSpPr>
        <p:spPr>
          <a:xfrm>
            <a:off x="3797975" y="1281058"/>
            <a:ext cx="1237129" cy="916855"/>
          </a:xfrm>
          <a:prstGeom prst="roundRect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Node2</a:t>
            </a:r>
            <a:endParaRPr lang="zh-CN" altLang="en-US" dirty="0"/>
          </a:p>
        </p:txBody>
      </p:sp>
      <p:sp>
        <p:nvSpPr>
          <p:cNvPr id="27" name="圆角矩形 26"/>
          <p:cNvSpPr/>
          <p:nvPr/>
        </p:nvSpPr>
        <p:spPr>
          <a:xfrm>
            <a:off x="1640910" y="2841008"/>
            <a:ext cx="1237129" cy="916855"/>
          </a:xfrm>
          <a:prstGeom prst="roundRect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Node3</a:t>
            </a:r>
            <a:endParaRPr lang="zh-CN" altLang="en-US" dirty="0"/>
          </a:p>
        </p:txBody>
      </p:sp>
      <p:sp>
        <p:nvSpPr>
          <p:cNvPr id="30" name="圆角矩形 29"/>
          <p:cNvSpPr/>
          <p:nvPr/>
        </p:nvSpPr>
        <p:spPr>
          <a:xfrm>
            <a:off x="3732555" y="1088315"/>
            <a:ext cx="2028913" cy="1406660"/>
          </a:xfrm>
          <a:prstGeom prst="round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1" name="圆角矩形 30"/>
          <p:cNvSpPr/>
          <p:nvPr/>
        </p:nvSpPr>
        <p:spPr>
          <a:xfrm>
            <a:off x="1015875" y="2742287"/>
            <a:ext cx="2005093" cy="1406660"/>
          </a:xfrm>
          <a:prstGeom prst="round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8" name="TextBox 27"/>
          <p:cNvSpPr txBox="1"/>
          <p:nvPr/>
        </p:nvSpPr>
        <p:spPr>
          <a:xfrm>
            <a:off x="1021641" y="1163011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集群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35104" y="1163011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集群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34309" y="2841008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集群</a:t>
            </a:r>
          </a:p>
        </p:txBody>
      </p:sp>
      <p:cxnSp>
        <p:nvCxnSpPr>
          <p:cNvPr id="35" name="直接箭头连接符 34"/>
          <p:cNvCxnSpPr/>
          <p:nvPr/>
        </p:nvCxnSpPr>
        <p:spPr>
          <a:xfrm>
            <a:off x="3107031" y="1532343"/>
            <a:ext cx="505610" cy="0"/>
          </a:xfrm>
          <a:prstGeom prst="straightConnector1">
            <a:avLst/>
          </a:prstGeom>
          <a:ln w="28575">
            <a:solidFill>
              <a:schemeClr val="accent6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3132583" y="1163011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握手</a:t>
            </a:r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39" name="直接箭头连接符 38"/>
          <p:cNvCxnSpPr/>
          <p:nvPr/>
        </p:nvCxnSpPr>
        <p:spPr>
          <a:xfrm flipH="1">
            <a:off x="3132585" y="1768337"/>
            <a:ext cx="480056" cy="0"/>
          </a:xfrm>
          <a:prstGeom prst="straightConnector1">
            <a:avLst/>
          </a:prstGeom>
          <a:ln w="28575">
            <a:solidFill>
              <a:schemeClr val="accent6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圆角矩形 59"/>
          <p:cNvSpPr/>
          <p:nvPr/>
        </p:nvSpPr>
        <p:spPr>
          <a:xfrm>
            <a:off x="7374564" y="1036155"/>
            <a:ext cx="4369983" cy="1406660"/>
          </a:xfrm>
          <a:prstGeom prst="round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c</a:t>
            </a:r>
            <a:endParaRPr lang="zh-CN" altLang="en-US" dirty="0"/>
          </a:p>
        </p:txBody>
      </p:sp>
      <p:sp>
        <p:nvSpPr>
          <p:cNvPr id="61" name="Freeform 28"/>
          <p:cNvSpPr>
            <a:spLocks noEditPoints="1"/>
          </p:cNvSpPr>
          <p:nvPr/>
        </p:nvSpPr>
        <p:spPr bwMode="auto">
          <a:xfrm>
            <a:off x="7604246" y="3045720"/>
            <a:ext cx="328930" cy="326390"/>
          </a:xfrm>
          <a:custGeom>
            <a:avLst/>
            <a:gdLst>
              <a:gd name="T0" fmla="*/ 132 w 144"/>
              <a:gd name="T1" fmla="*/ 61 h 144"/>
              <a:gd name="T2" fmla="*/ 121 w 144"/>
              <a:gd name="T3" fmla="*/ 46 h 144"/>
              <a:gd name="T4" fmla="*/ 127 w 144"/>
              <a:gd name="T5" fmla="*/ 33 h 144"/>
              <a:gd name="T6" fmla="*/ 119 w 144"/>
              <a:gd name="T7" fmla="*/ 17 h 144"/>
              <a:gd name="T8" fmla="*/ 106 w 144"/>
              <a:gd name="T9" fmla="*/ 22 h 144"/>
              <a:gd name="T10" fmla="*/ 88 w 144"/>
              <a:gd name="T11" fmla="*/ 19 h 144"/>
              <a:gd name="T12" fmla="*/ 83 w 144"/>
              <a:gd name="T13" fmla="*/ 6 h 144"/>
              <a:gd name="T14" fmla="*/ 66 w 144"/>
              <a:gd name="T15" fmla="*/ 0 h 144"/>
              <a:gd name="T16" fmla="*/ 61 w 144"/>
              <a:gd name="T17" fmla="*/ 12 h 144"/>
              <a:gd name="T18" fmla="*/ 46 w 144"/>
              <a:gd name="T19" fmla="*/ 23 h 144"/>
              <a:gd name="T20" fmla="*/ 33 w 144"/>
              <a:gd name="T21" fmla="*/ 17 h 144"/>
              <a:gd name="T22" fmla="*/ 17 w 144"/>
              <a:gd name="T23" fmla="*/ 25 h 144"/>
              <a:gd name="T24" fmla="*/ 22 w 144"/>
              <a:gd name="T25" fmla="*/ 38 h 144"/>
              <a:gd name="T26" fmla="*/ 19 w 144"/>
              <a:gd name="T27" fmla="*/ 56 h 144"/>
              <a:gd name="T28" fmla="*/ 6 w 144"/>
              <a:gd name="T29" fmla="*/ 61 h 144"/>
              <a:gd name="T30" fmla="*/ 0 w 144"/>
              <a:gd name="T31" fmla="*/ 78 h 144"/>
              <a:gd name="T32" fmla="*/ 12 w 144"/>
              <a:gd name="T33" fmla="*/ 83 h 144"/>
              <a:gd name="T34" fmla="*/ 23 w 144"/>
              <a:gd name="T35" fmla="*/ 98 h 144"/>
              <a:gd name="T36" fmla="*/ 17 w 144"/>
              <a:gd name="T37" fmla="*/ 111 h 144"/>
              <a:gd name="T38" fmla="*/ 25 w 144"/>
              <a:gd name="T39" fmla="*/ 127 h 144"/>
              <a:gd name="T40" fmla="*/ 38 w 144"/>
              <a:gd name="T41" fmla="*/ 122 h 144"/>
              <a:gd name="T42" fmla="*/ 56 w 144"/>
              <a:gd name="T43" fmla="*/ 125 h 144"/>
              <a:gd name="T44" fmla="*/ 61 w 144"/>
              <a:gd name="T45" fmla="*/ 138 h 144"/>
              <a:gd name="T46" fmla="*/ 78 w 144"/>
              <a:gd name="T47" fmla="*/ 144 h 144"/>
              <a:gd name="T48" fmla="*/ 83 w 144"/>
              <a:gd name="T49" fmla="*/ 132 h 144"/>
              <a:gd name="T50" fmla="*/ 98 w 144"/>
              <a:gd name="T51" fmla="*/ 121 h 144"/>
              <a:gd name="T52" fmla="*/ 111 w 144"/>
              <a:gd name="T53" fmla="*/ 127 h 144"/>
              <a:gd name="T54" fmla="*/ 127 w 144"/>
              <a:gd name="T55" fmla="*/ 119 h 144"/>
              <a:gd name="T56" fmla="*/ 122 w 144"/>
              <a:gd name="T57" fmla="*/ 106 h 144"/>
              <a:gd name="T58" fmla="*/ 125 w 144"/>
              <a:gd name="T59" fmla="*/ 88 h 144"/>
              <a:gd name="T60" fmla="*/ 138 w 144"/>
              <a:gd name="T61" fmla="*/ 83 h 144"/>
              <a:gd name="T62" fmla="*/ 144 w 144"/>
              <a:gd name="T63" fmla="*/ 66 h 144"/>
              <a:gd name="T64" fmla="*/ 100 w 144"/>
              <a:gd name="T65" fmla="*/ 72 h 144"/>
              <a:gd name="T66" fmla="*/ 44 w 144"/>
              <a:gd name="T67" fmla="*/ 72 h 144"/>
              <a:gd name="T68" fmla="*/ 100 w 144"/>
              <a:gd name="T69" fmla="*/ 72 h 1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144" h="144">
                <a:moveTo>
                  <a:pt x="138" y="61"/>
                </a:moveTo>
                <a:cubicBezTo>
                  <a:pt x="132" y="61"/>
                  <a:pt x="132" y="61"/>
                  <a:pt x="132" y="61"/>
                </a:cubicBezTo>
                <a:cubicBezTo>
                  <a:pt x="129" y="61"/>
                  <a:pt x="126" y="59"/>
                  <a:pt x="125" y="56"/>
                </a:cubicBezTo>
                <a:cubicBezTo>
                  <a:pt x="121" y="46"/>
                  <a:pt x="121" y="46"/>
                  <a:pt x="121" y="46"/>
                </a:cubicBezTo>
                <a:cubicBezTo>
                  <a:pt x="119" y="44"/>
                  <a:pt x="120" y="40"/>
                  <a:pt x="122" y="38"/>
                </a:cubicBezTo>
                <a:cubicBezTo>
                  <a:pt x="127" y="33"/>
                  <a:pt x="127" y="33"/>
                  <a:pt x="127" y="33"/>
                </a:cubicBezTo>
                <a:cubicBezTo>
                  <a:pt x="129" y="31"/>
                  <a:pt x="129" y="27"/>
                  <a:pt x="127" y="25"/>
                </a:cubicBezTo>
                <a:cubicBezTo>
                  <a:pt x="119" y="17"/>
                  <a:pt x="119" y="17"/>
                  <a:pt x="119" y="17"/>
                </a:cubicBezTo>
                <a:cubicBezTo>
                  <a:pt x="117" y="15"/>
                  <a:pt x="113" y="15"/>
                  <a:pt x="111" y="17"/>
                </a:cubicBezTo>
                <a:cubicBezTo>
                  <a:pt x="106" y="22"/>
                  <a:pt x="106" y="22"/>
                  <a:pt x="106" y="22"/>
                </a:cubicBezTo>
                <a:cubicBezTo>
                  <a:pt x="104" y="24"/>
                  <a:pt x="100" y="25"/>
                  <a:pt x="98" y="23"/>
                </a:cubicBezTo>
                <a:cubicBezTo>
                  <a:pt x="88" y="19"/>
                  <a:pt x="88" y="19"/>
                  <a:pt x="88" y="19"/>
                </a:cubicBezTo>
                <a:cubicBezTo>
                  <a:pt x="85" y="18"/>
                  <a:pt x="83" y="15"/>
                  <a:pt x="83" y="12"/>
                </a:cubicBezTo>
                <a:cubicBezTo>
                  <a:pt x="83" y="6"/>
                  <a:pt x="83" y="6"/>
                  <a:pt x="83" y="6"/>
                </a:cubicBezTo>
                <a:cubicBezTo>
                  <a:pt x="83" y="2"/>
                  <a:pt x="81" y="0"/>
                  <a:pt x="78" y="0"/>
                </a:cubicBezTo>
                <a:cubicBezTo>
                  <a:pt x="66" y="0"/>
                  <a:pt x="66" y="0"/>
                  <a:pt x="66" y="0"/>
                </a:cubicBezTo>
                <a:cubicBezTo>
                  <a:pt x="63" y="0"/>
                  <a:pt x="61" y="2"/>
                  <a:pt x="61" y="6"/>
                </a:cubicBezTo>
                <a:cubicBezTo>
                  <a:pt x="61" y="12"/>
                  <a:pt x="61" y="12"/>
                  <a:pt x="61" y="12"/>
                </a:cubicBezTo>
                <a:cubicBezTo>
                  <a:pt x="61" y="15"/>
                  <a:pt x="59" y="18"/>
                  <a:pt x="56" y="19"/>
                </a:cubicBezTo>
                <a:cubicBezTo>
                  <a:pt x="46" y="23"/>
                  <a:pt x="46" y="23"/>
                  <a:pt x="46" y="23"/>
                </a:cubicBezTo>
                <a:cubicBezTo>
                  <a:pt x="44" y="25"/>
                  <a:pt x="40" y="24"/>
                  <a:pt x="38" y="22"/>
                </a:cubicBezTo>
                <a:cubicBezTo>
                  <a:pt x="33" y="17"/>
                  <a:pt x="33" y="17"/>
                  <a:pt x="33" y="17"/>
                </a:cubicBezTo>
                <a:cubicBezTo>
                  <a:pt x="31" y="15"/>
                  <a:pt x="27" y="15"/>
                  <a:pt x="25" y="17"/>
                </a:cubicBezTo>
                <a:cubicBezTo>
                  <a:pt x="17" y="25"/>
                  <a:pt x="17" y="25"/>
                  <a:pt x="17" y="25"/>
                </a:cubicBezTo>
                <a:cubicBezTo>
                  <a:pt x="15" y="27"/>
                  <a:pt x="15" y="31"/>
                  <a:pt x="17" y="33"/>
                </a:cubicBezTo>
                <a:cubicBezTo>
                  <a:pt x="22" y="38"/>
                  <a:pt x="22" y="38"/>
                  <a:pt x="22" y="38"/>
                </a:cubicBezTo>
                <a:cubicBezTo>
                  <a:pt x="24" y="40"/>
                  <a:pt x="25" y="44"/>
                  <a:pt x="23" y="46"/>
                </a:cubicBezTo>
                <a:cubicBezTo>
                  <a:pt x="19" y="56"/>
                  <a:pt x="19" y="56"/>
                  <a:pt x="19" y="56"/>
                </a:cubicBezTo>
                <a:cubicBezTo>
                  <a:pt x="18" y="59"/>
                  <a:pt x="15" y="61"/>
                  <a:pt x="12" y="61"/>
                </a:cubicBezTo>
                <a:cubicBezTo>
                  <a:pt x="6" y="61"/>
                  <a:pt x="6" y="61"/>
                  <a:pt x="6" y="61"/>
                </a:cubicBezTo>
                <a:cubicBezTo>
                  <a:pt x="2" y="61"/>
                  <a:pt x="0" y="63"/>
                  <a:pt x="0" y="66"/>
                </a:cubicBezTo>
                <a:cubicBezTo>
                  <a:pt x="0" y="78"/>
                  <a:pt x="0" y="78"/>
                  <a:pt x="0" y="78"/>
                </a:cubicBezTo>
                <a:cubicBezTo>
                  <a:pt x="0" y="81"/>
                  <a:pt x="2" y="83"/>
                  <a:pt x="6" y="83"/>
                </a:cubicBezTo>
                <a:cubicBezTo>
                  <a:pt x="12" y="83"/>
                  <a:pt x="12" y="83"/>
                  <a:pt x="12" y="83"/>
                </a:cubicBezTo>
                <a:cubicBezTo>
                  <a:pt x="15" y="83"/>
                  <a:pt x="18" y="85"/>
                  <a:pt x="19" y="88"/>
                </a:cubicBezTo>
                <a:cubicBezTo>
                  <a:pt x="23" y="98"/>
                  <a:pt x="23" y="98"/>
                  <a:pt x="23" y="98"/>
                </a:cubicBezTo>
                <a:cubicBezTo>
                  <a:pt x="25" y="100"/>
                  <a:pt x="24" y="104"/>
                  <a:pt x="22" y="106"/>
                </a:cubicBezTo>
                <a:cubicBezTo>
                  <a:pt x="17" y="111"/>
                  <a:pt x="17" y="111"/>
                  <a:pt x="17" y="111"/>
                </a:cubicBezTo>
                <a:cubicBezTo>
                  <a:pt x="15" y="113"/>
                  <a:pt x="15" y="117"/>
                  <a:pt x="17" y="119"/>
                </a:cubicBezTo>
                <a:cubicBezTo>
                  <a:pt x="25" y="127"/>
                  <a:pt x="25" y="127"/>
                  <a:pt x="25" y="127"/>
                </a:cubicBezTo>
                <a:cubicBezTo>
                  <a:pt x="27" y="129"/>
                  <a:pt x="31" y="129"/>
                  <a:pt x="33" y="127"/>
                </a:cubicBezTo>
                <a:cubicBezTo>
                  <a:pt x="38" y="122"/>
                  <a:pt x="38" y="122"/>
                  <a:pt x="38" y="122"/>
                </a:cubicBezTo>
                <a:cubicBezTo>
                  <a:pt x="40" y="120"/>
                  <a:pt x="44" y="119"/>
                  <a:pt x="46" y="121"/>
                </a:cubicBezTo>
                <a:cubicBezTo>
                  <a:pt x="56" y="125"/>
                  <a:pt x="56" y="125"/>
                  <a:pt x="56" y="125"/>
                </a:cubicBezTo>
                <a:cubicBezTo>
                  <a:pt x="59" y="126"/>
                  <a:pt x="61" y="129"/>
                  <a:pt x="61" y="132"/>
                </a:cubicBezTo>
                <a:cubicBezTo>
                  <a:pt x="61" y="138"/>
                  <a:pt x="61" y="138"/>
                  <a:pt x="61" y="138"/>
                </a:cubicBezTo>
                <a:cubicBezTo>
                  <a:pt x="61" y="142"/>
                  <a:pt x="63" y="144"/>
                  <a:pt x="66" y="144"/>
                </a:cubicBezTo>
                <a:cubicBezTo>
                  <a:pt x="78" y="144"/>
                  <a:pt x="78" y="144"/>
                  <a:pt x="78" y="144"/>
                </a:cubicBezTo>
                <a:cubicBezTo>
                  <a:pt x="81" y="144"/>
                  <a:pt x="83" y="142"/>
                  <a:pt x="83" y="138"/>
                </a:cubicBezTo>
                <a:cubicBezTo>
                  <a:pt x="83" y="132"/>
                  <a:pt x="83" y="132"/>
                  <a:pt x="83" y="132"/>
                </a:cubicBezTo>
                <a:cubicBezTo>
                  <a:pt x="83" y="129"/>
                  <a:pt x="85" y="126"/>
                  <a:pt x="88" y="125"/>
                </a:cubicBezTo>
                <a:cubicBezTo>
                  <a:pt x="98" y="121"/>
                  <a:pt x="98" y="121"/>
                  <a:pt x="98" y="121"/>
                </a:cubicBezTo>
                <a:cubicBezTo>
                  <a:pt x="100" y="119"/>
                  <a:pt x="104" y="120"/>
                  <a:pt x="106" y="122"/>
                </a:cubicBezTo>
                <a:cubicBezTo>
                  <a:pt x="111" y="127"/>
                  <a:pt x="111" y="127"/>
                  <a:pt x="111" y="127"/>
                </a:cubicBezTo>
                <a:cubicBezTo>
                  <a:pt x="113" y="129"/>
                  <a:pt x="117" y="129"/>
                  <a:pt x="119" y="127"/>
                </a:cubicBezTo>
                <a:cubicBezTo>
                  <a:pt x="127" y="119"/>
                  <a:pt x="127" y="119"/>
                  <a:pt x="127" y="119"/>
                </a:cubicBezTo>
                <a:cubicBezTo>
                  <a:pt x="129" y="117"/>
                  <a:pt x="129" y="113"/>
                  <a:pt x="127" y="111"/>
                </a:cubicBezTo>
                <a:cubicBezTo>
                  <a:pt x="122" y="106"/>
                  <a:pt x="122" y="106"/>
                  <a:pt x="122" y="106"/>
                </a:cubicBezTo>
                <a:cubicBezTo>
                  <a:pt x="120" y="104"/>
                  <a:pt x="119" y="100"/>
                  <a:pt x="121" y="98"/>
                </a:cubicBezTo>
                <a:cubicBezTo>
                  <a:pt x="125" y="88"/>
                  <a:pt x="125" y="88"/>
                  <a:pt x="125" y="88"/>
                </a:cubicBezTo>
                <a:cubicBezTo>
                  <a:pt x="126" y="85"/>
                  <a:pt x="129" y="83"/>
                  <a:pt x="132" y="83"/>
                </a:cubicBezTo>
                <a:cubicBezTo>
                  <a:pt x="138" y="83"/>
                  <a:pt x="138" y="83"/>
                  <a:pt x="138" y="83"/>
                </a:cubicBezTo>
                <a:cubicBezTo>
                  <a:pt x="142" y="83"/>
                  <a:pt x="144" y="81"/>
                  <a:pt x="144" y="78"/>
                </a:cubicBezTo>
                <a:cubicBezTo>
                  <a:pt x="144" y="66"/>
                  <a:pt x="144" y="66"/>
                  <a:pt x="144" y="66"/>
                </a:cubicBezTo>
                <a:cubicBezTo>
                  <a:pt x="144" y="63"/>
                  <a:pt x="142" y="61"/>
                  <a:pt x="138" y="61"/>
                </a:cubicBezTo>
                <a:moveTo>
                  <a:pt x="100" y="72"/>
                </a:moveTo>
                <a:cubicBezTo>
                  <a:pt x="100" y="87"/>
                  <a:pt x="87" y="100"/>
                  <a:pt x="72" y="100"/>
                </a:cubicBezTo>
                <a:cubicBezTo>
                  <a:pt x="57" y="100"/>
                  <a:pt x="44" y="87"/>
                  <a:pt x="44" y="72"/>
                </a:cubicBezTo>
                <a:cubicBezTo>
                  <a:pt x="44" y="57"/>
                  <a:pt x="57" y="44"/>
                  <a:pt x="72" y="44"/>
                </a:cubicBezTo>
                <a:cubicBezTo>
                  <a:pt x="87" y="44"/>
                  <a:pt x="100" y="57"/>
                  <a:pt x="100" y="72"/>
                </a:cubicBezTo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62" name="圆角矩形 61"/>
          <p:cNvSpPr/>
          <p:nvPr/>
        </p:nvSpPr>
        <p:spPr>
          <a:xfrm>
            <a:off x="7999597" y="1252207"/>
            <a:ext cx="1237129" cy="916856"/>
          </a:xfrm>
          <a:prstGeom prst="roundRect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N</a:t>
            </a:r>
            <a:r>
              <a:rPr lang="en-US" altLang="zh-CN" dirty="0" smtClean="0"/>
              <a:t>ode1</a:t>
            </a:r>
            <a:endParaRPr lang="zh-CN" altLang="en-US" dirty="0"/>
          </a:p>
        </p:txBody>
      </p:sp>
      <p:sp>
        <p:nvSpPr>
          <p:cNvPr id="63" name="圆角矩形 62"/>
          <p:cNvSpPr/>
          <p:nvPr/>
        </p:nvSpPr>
        <p:spPr>
          <a:xfrm>
            <a:off x="10156661" y="1252207"/>
            <a:ext cx="1237129" cy="916855"/>
          </a:xfrm>
          <a:prstGeom prst="roundRect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Node2</a:t>
            </a:r>
            <a:endParaRPr lang="zh-CN" altLang="en-US" dirty="0"/>
          </a:p>
        </p:txBody>
      </p:sp>
      <p:sp>
        <p:nvSpPr>
          <p:cNvPr id="64" name="圆角矩形 63"/>
          <p:cNvSpPr/>
          <p:nvPr/>
        </p:nvSpPr>
        <p:spPr>
          <a:xfrm>
            <a:off x="8743686" y="3362619"/>
            <a:ext cx="1237129" cy="916855"/>
          </a:xfrm>
          <a:prstGeom prst="roundRect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Node3</a:t>
            </a:r>
            <a:endParaRPr lang="zh-CN" altLang="en-US" dirty="0"/>
          </a:p>
        </p:txBody>
      </p:sp>
      <p:sp>
        <p:nvSpPr>
          <p:cNvPr id="66" name="圆角矩形 65"/>
          <p:cNvSpPr/>
          <p:nvPr/>
        </p:nvSpPr>
        <p:spPr>
          <a:xfrm>
            <a:off x="8626345" y="3179859"/>
            <a:ext cx="2005093" cy="1406660"/>
          </a:xfrm>
          <a:prstGeom prst="round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7" name="TextBox 66"/>
          <p:cNvSpPr txBox="1"/>
          <p:nvPr/>
        </p:nvSpPr>
        <p:spPr>
          <a:xfrm>
            <a:off x="7380328" y="1134159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集群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980815" y="3260951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集群</a:t>
            </a:r>
          </a:p>
        </p:txBody>
      </p:sp>
      <p:cxnSp>
        <p:nvCxnSpPr>
          <p:cNvPr id="77" name="直接箭头连接符 76"/>
          <p:cNvCxnSpPr/>
          <p:nvPr/>
        </p:nvCxnSpPr>
        <p:spPr>
          <a:xfrm flipH="1">
            <a:off x="9485963" y="2575658"/>
            <a:ext cx="1" cy="530699"/>
          </a:xfrm>
          <a:prstGeom prst="straightConnector1">
            <a:avLst/>
          </a:prstGeom>
          <a:ln w="28575">
            <a:solidFill>
              <a:schemeClr val="accent6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接箭头连接符 79"/>
          <p:cNvCxnSpPr/>
          <p:nvPr/>
        </p:nvCxnSpPr>
        <p:spPr>
          <a:xfrm flipV="1">
            <a:off x="9808792" y="2575658"/>
            <a:ext cx="0" cy="530699"/>
          </a:xfrm>
          <a:prstGeom prst="straightConnector1">
            <a:avLst/>
          </a:prstGeom>
          <a:ln w="28575">
            <a:solidFill>
              <a:schemeClr val="accent6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TextBox 83"/>
          <p:cNvSpPr txBox="1"/>
          <p:nvPr/>
        </p:nvSpPr>
        <p:spPr>
          <a:xfrm>
            <a:off x="9980815" y="2586498"/>
            <a:ext cx="461665" cy="553998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握手</a:t>
            </a:r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6" name="圆角矩形 85"/>
          <p:cNvSpPr/>
          <p:nvPr/>
        </p:nvSpPr>
        <p:spPr>
          <a:xfrm>
            <a:off x="3805282" y="3237148"/>
            <a:ext cx="4369983" cy="2829999"/>
          </a:xfrm>
          <a:prstGeom prst="round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c</a:t>
            </a:r>
            <a:endParaRPr lang="zh-CN" altLang="en-US" dirty="0"/>
          </a:p>
        </p:txBody>
      </p:sp>
      <p:sp>
        <p:nvSpPr>
          <p:cNvPr id="87" name="Freeform 28"/>
          <p:cNvSpPr>
            <a:spLocks noEditPoints="1"/>
          </p:cNvSpPr>
          <p:nvPr/>
        </p:nvSpPr>
        <p:spPr bwMode="auto">
          <a:xfrm>
            <a:off x="3805282" y="4355400"/>
            <a:ext cx="328930" cy="326390"/>
          </a:xfrm>
          <a:custGeom>
            <a:avLst/>
            <a:gdLst>
              <a:gd name="T0" fmla="*/ 132 w 144"/>
              <a:gd name="T1" fmla="*/ 61 h 144"/>
              <a:gd name="T2" fmla="*/ 121 w 144"/>
              <a:gd name="T3" fmla="*/ 46 h 144"/>
              <a:gd name="T4" fmla="*/ 127 w 144"/>
              <a:gd name="T5" fmla="*/ 33 h 144"/>
              <a:gd name="T6" fmla="*/ 119 w 144"/>
              <a:gd name="T7" fmla="*/ 17 h 144"/>
              <a:gd name="T8" fmla="*/ 106 w 144"/>
              <a:gd name="T9" fmla="*/ 22 h 144"/>
              <a:gd name="T10" fmla="*/ 88 w 144"/>
              <a:gd name="T11" fmla="*/ 19 h 144"/>
              <a:gd name="T12" fmla="*/ 83 w 144"/>
              <a:gd name="T13" fmla="*/ 6 h 144"/>
              <a:gd name="T14" fmla="*/ 66 w 144"/>
              <a:gd name="T15" fmla="*/ 0 h 144"/>
              <a:gd name="T16" fmla="*/ 61 w 144"/>
              <a:gd name="T17" fmla="*/ 12 h 144"/>
              <a:gd name="T18" fmla="*/ 46 w 144"/>
              <a:gd name="T19" fmla="*/ 23 h 144"/>
              <a:gd name="T20" fmla="*/ 33 w 144"/>
              <a:gd name="T21" fmla="*/ 17 h 144"/>
              <a:gd name="T22" fmla="*/ 17 w 144"/>
              <a:gd name="T23" fmla="*/ 25 h 144"/>
              <a:gd name="T24" fmla="*/ 22 w 144"/>
              <a:gd name="T25" fmla="*/ 38 h 144"/>
              <a:gd name="T26" fmla="*/ 19 w 144"/>
              <a:gd name="T27" fmla="*/ 56 h 144"/>
              <a:gd name="T28" fmla="*/ 6 w 144"/>
              <a:gd name="T29" fmla="*/ 61 h 144"/>
              <a:gd name="T30" fmla="*/ 0 w 144"/>
              <a:gd name="T31" fmla="*/ 78 h 144"/>
              <a:gd name="T32" fmla="*/ 12 w 144"/>
              <a:gd name="T33" fmla="*/ 83 h 144"/>
              <a:gd name="T34" fmla="*/ 23 w 144"/>
              <a:gd name="T35" fmla="*/ 98 h 144"/>
              <a:gd name="T36" fmla="*/ 17 w 144"/>
              <a:gd name="T37" fmla="*/ 111 h 144"/>
              <a:gd name="T38" fmla="*/ 25 w 144"/>
              <a:gd name="T39" fmla="*/ 127 h 144"/>
              <a:gd name="T40" fmla="*/ 38 w 144"/>
              <a:gd name="T41" fmla="*/ 122 h 144"/>
              <a:gd name="T42" fmla="*/ 56 w 144"/>
              <a:gd name="T43" fmla="*/ 125 h 144"/>
              <a:gd name="T44" fmla="*/ 61 w 144"/>
              <a:gd name="T45" fmla="*/ 138 h 144"/>
              <a:gd name="T46" fmla="*/ 78 w 144"/>
              <a:gd name="T47" fmla="*/ 144 h 144"/>
              <a:gd name="T48" fmla="*/ 83 w 144"/>
              <a:gd name="T49" fmla="*/ 132 h 144"/>
              <a:gd name="T50" fmla="*/ 98 w 144"/>
              <a:gd name="T51" fmla="*/ 121 h 144"/>
              <a:gd name="T52" fmla="*/ 111 w 144"/>
              <a:gd name="T53" fmla="*/ 127 h 144"/>
              <a:gd name="T54" fmla="*/ 127 w 144"/>
              <a:gd name="T55" fmla="*/ 119 h 144"/>
              <a:gd name="T56" fmla="*/ 122 w 144"/>
              <a:gd name="T57" fmla="*/ 106 h 144"/>
              <a:gd name="T58" fmla="*/ 125 w 144"/>
              <a:gd name="T59" fmla="*/ 88 h 144"/>
              <a:gd name="T60" fmla="*/ 138 w 144"/>
              <a:gd name="T61" fmla="*/ 83 h 144"/>
              <a:gd name="T62" fmla="*/ 144 w 144"/>
              <a:gd name="T63" fmla="*/ 66 h 144"/>
              <a:gd name="T64" fmla="*/ 100 w 144"/>
              <a:gd name="T65" fmla="*/ 72 h 144"/>
              <a:gd name="T66" fmla="*/ 44 w 144"/>
              <a:gd name="T67" fmla="*/ 72 h 144"/>
              <a:gd name="T68" fmla="*/ 100 w 144"/>
              <a:gd name="T69" fmla="*/ 72 h 1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144" h="144">
                <a:moveTo>
                  <a:pt x="138" y="61"/>
                </a:moveTo>
                <a:cubicBezTo>
                  <a:pt x="132" y="61"/>
                  <a:pt x="132" y="61"/>
                  <a:pt x="132" y="61"/>
                </a:cubicBezTo>
                <a:cubicBezTo>
                  <a:pt x="129" y="61"/>
                  <a:pt x="126" y="59"/>
                  <a:pt x="125" y="56"/>
                </a:cubicBezTo>
                <a:cubicBezTo>
                  <a:pt x="121" y="46"/>
                  <a:pt x="121" y="46"/>
                  <a:pt x="121" y="46"/>
                </a:cubicBezTo>
                <a:cubicBezTo>
                  <a:pt x="119" y="44"/>
                  <a:pt x="120" y="40"/>
                  <a:pt x="122" y="38"/>
                </a:cubicBezTo>
                <a:cubicBezTo>
                  <a:pt x="127" y="33"/>
                  <a:pt x="127" y="33"/>
                  <a:pt x="127" y="33"/>
                </a:cubicBezTo>
                <a:cubicBezTo>
                  <a:pt x="129" y="31"/>
                  <a:pt x="129" y="27"/>
                  <a:pt x="127" y="25"/>
                </a:cubicBezTo>
                <a:cubicBezTo>
                  <a:pt x="119" y="17"/>
                  <a:pt x="119" y="17"/>
                  <a:pt x="119" y="17"/>
                </a:cubicBezTo>
                <a:cubicBezTo>
                  <a:pt x="117" y="15"/>
                  <a:pt x="113" y="15"/>
                  <a:pt x="111" y="17"/>
                </a:cubicBezTo>
                <a:cubicBezTo>
                  <a:pt x="106" y="22"/>
                  <a:pt x="106" y="22"/>
                  <a:pt x="106" y="22"/>
                </a:cubicBezTo>
                <a:cubicBezTo>
                  <a:pt x="104" y="24"/>
                  <a:pt x="100" y="25"/>
                  <a:pt x="98" y="23"/>
                </a:cubicBezTo>
                <a:cubicBezTo>
                  <a:pt x="88" y="19"/>
                  <a:pt x="88" y="19"/>
                  <a:pt x="88" y="19"/>
                </a:cubicBezTo>
                <a:cubicBezTo>
                  <a:pt x="85" y="18"/>
                  <a:pt x="83" y="15"/>
                  <a:pt x="83" y="12"/>
                </a:cubicBezTo>
                <a:cubicBezTo>
                  <a:pt x="83" y="6"/>
                  <a:pt x="83" y="6"/>
                  <a:pt x="83" y="6"/>
                </a:cubicBezTo>
                <a:cubicBezTo>
                  <a:pt x="83" y="2"/>
                  <a:pt x="81" y="0"/>
                  <a:pt x="78" y="0"/>
                </a:cubicBezTo>
                <a:cubicBezTo>
                  <a:pt x="66" y="0"/>
                  <a:pt x="66" y="0"/>
                  <a:pt x="66" y="0"/>
                </a:cubicBezTo>
                <a:cubicBezTo>
                  <a:pt x="63" y="0"/>
                  <a:pt x="61" y="2"/>
                  <a:pt x="61" y="6"/>
                </a:cubicBezTo>
                <a:cubicBezTo>
                  <a:pt x="61" y="12"/>
                  <a:pt x="61" y="12"/>
                  <a:pt x="61" y="12"/>
                </a:cubicBezTo>
                <a:cubicBezTo>
                  <a:pt x="61" y="15"/>
                  <a:pt x="59" y="18"/>
                  <a:pt x="56" y="19"/>
                </a:cubicBezTo>
                <a:cubicBezTo>
                  <a:pt x="46" y="23"/>
                  <a:pt x="46" y="23"/>
                  <a:pt x="46" y="23"/>
                </a:cubicBezTo>
                <a:cubicBezTo>
                  <a:pt x="44" y="25"/>
                  <a:pt x="40" y="24"/>
                  <a:pt x="38" y="22"/>
                </a:cubicBezTo>
                <a:cubicBezTo>
                  <a:pt x="33" y="17"/>
                  <a:pt x="33" y="17"/>
                  <a:pt x="33" y="17"/>
                </a:cubicBezTo>
                <a:cubicBezTo>
                  <a:pt x="31" y="15"/>
                  <a:pt x="27" y="15"/>
                  <a:pt x="25" y="17"/>
                </a:cubicBezTo>
                <a:cubicBezTo>
                  <a:pt x="17" y="25"/>
                  <a:pt x="17" y="25"/>
                  <a:pt x="17" y="25"/>
                </a:cubicBezTo>
                <a:cubicBezTo>
                  <a:pt x="15" y="27"/>
                  <a:pt x="15" y="31"/>
                  <a:pt x="17" y="33"/>
                </a:cubicBezTo>
                <a:cubicBezTo>
                  <a:pt x="22" y="38"/>
                  <a:pt x="22" y="38"/>
                  <a:pt x="22" y="38"/>
                </a:cubicBezTo>
                <a:cubicBezTo>
                  <a:pt x="24" y="40"/>
                  <a:pt x="25" y="44"/>
                  <a:pt x="23" y="46"/>
                </a:cubicBezTo>
                <a:cubicBezTo>
                  <a:pt x="19" y="56"/>
                  <a:pt x="19" y="56"/>
                  <a:pt x="19" y="56"/>
                </a:cubicBezTo>
                <a:cubicBezTo>
                  <a:pt x="18" y="59"/>
                  <a:pt x="15" y="61"/>
                  <a:pt x="12" y="61"/>
                </a:cubicBezTo>
                <a:cubicBezTo>
                  <a:pt x="6" y="61"/>
                  <a:pt x="6" y="61"/>
                  <a:pt x="6" y="61"/>
                </a:cubicBezTo>
                <a:cubicBezTo>
                  <a:pt x="2" y="61"/>
                  <a:pt x="0" y="63"/>
                  <a:pt x="0" y="66"/>
                </a:cubicBezTo>
                <a:cubicBezTo>
                  <a:pt x="0" y="78"/>
                  <a:pt x="0" y="78"/>
                  <a:pt x="0" y="78"/>
                </a:cubicBezTo>
                <a:cubicBezTo>
                  <a:pt x="0" y="81"/>
                  <a:pt x="2" y="83"/>
                  <a:pt x="6" y="83"/>
                </a:cubicBezTo>
                <a:cubicBezTo>
                  <a:pt x="12" y="83"/>
                  <a:pt x="12" y="83"/>
                  <a:pt x="12" y="83"/>
                </a:cubicBezTo>
                <a:cubicBezTo>
                  <a:pt x="15" y="83"/>
                  <a:pt x="18" y="85"/>
                  <a:pt x="19" y="88"/>
                </a:cubicBezTo>
                <a:cubicBezTo>
                  <a:pt x="23" y="98"/>
                  <a:pt x="23" y="98"/>
                  <a:pt x="23" y="98"/>
                </a:cubicBezTo>
                <a:cubicBezTo>
                  <a:pt x="25" y="100"/>
                  <a:pt x="24" y="104"/>
                  <a:pt x="22" y="106"/>
                </a:cubicBezTo>
                <a:cubicBezTo>
                  <a:pt x="17" y="111"/>
                  <a:pt x="17" y="111"/>
                  <a:pt x="17" y="111"/>
                </a:cubicBezTo>
                <a:cubicBezTo>
                  <a:pt x="15" y="113"/>
                  <a:pt x="15" y="117"/>
                  <a:pt x="17" y="119"/>
                </a:cubicBezTo>
                <a:cubicBezTo>
                  <a:pt x="25" y="127"/>
                  <a:pt x="25" y="127"/>
                  <a:pt x="25" y="127"/>
                </a:cubicBezTo>
                <a:cubicBezTo>
                  <a:pt x="27" y="129"/>
                  <a:pt x="31" y="129"/>
                  <a:pt x="33" y="127"/>
                </a:cubicBezTo>
                <a:cubicBezTo>
                  <a:pt x="38" y="122"/>
                  <a:pt x="38" y="122"/>
                  <a:pt x="38" y="122"/>
                </a:cubicBezTo>
                <a:cubicBezTo>
                  <a:pt x="40" y="120"/>
                  <a:pt x="44" y="119"/>
                  <a:pt x="46" y="121"/>
                </a:cubicBezTo>
                <a:cubicBezTo>
                  <a:pt x="56" y="125"/>
                  <a:pt x="56" y="125"/>
                  <a:pt x="56" y="125"/>
                </a:cubicBezTo>
                <a:cubicBezTo>
                  <a:pt x="59" y="126"/>
                  <a:pt x="61" y="129"/>
                  <a:pt x="61" y="132"/>
                </a:cubicBezTo>
                <a:cubicBezTo>
                  <a:pt x="61" y="138"/>
                  <a:pt x="61" y="138"/>
                  <a:pt x="61" y="138"/>
                </a:cubicBezTo>
                <a:cubicBezTo>
                  <a:pt x="61" y="142"/>
                  <a:pt x="63" y="144"/>
                  <a:pt x="66" y="144"/>
                </a:cubicBezTo>
                <a:cubicBezTo>
                  <a:pt x="78" y="144"/>
                  <a:pt x="78" y="144"/>
                  <a:pt x="78" y="144"/>
                </a:cubicBezTo>
                <a:cubicBezTo>
                  <a:pt x="81" y="144"/>
                  <a:pt x="83" y="142"/>
                  <a:pt x="83" y="138"/>
                </a:cubicBezTo>
                <a:cubicBezTo>
                  <a:pt x="83" y="132"/>
                  <a:pt x="83" y="132"/>
                  <a:pt x="83" y="132"/>
                </a:cubicBezTo>
                <a:cubicBezTo>
                  <a:pt x="83" y="129"/>
                  <a:pt x="85" y="126"/>
                  <a:pt x="88" y="125"/>
                </a:cubicBezTo>
                <a:cubicBezTo>
                  <a:pt x="98" y="121"/>
                  <a:pt x="98" y="121"/>
                  <a:pt x="98" y="121"/>
                </a:cubicBezTo>
                <a:cubicBezTo>
                  <a:pt x="100" y="119"/>
                  <a:pt x="104" y="120"/>
                  <a:pt x="106" y="122"/>
                </a:cubicBezTo>
                <a:cubicBezTo>
                  <a:pt x="111" y="127"/>
                  <a:pt x="111" y="127"/>
                  <a:pt x="111" y="127"/>
                </a:cubicBezTo>
                <a:cubicBezTo>
                  <a:pt x="113" y="129"/>
                  <a:pt x="117" y="129"/>
                  <a:pt x="119" y="127"/>
                </a:cubicBezTo>
                <a:cubicBezTo>
                  <a:pt x="127" y="119"/>
                  <a:pt x="127" y="119"/>
                  <a:pt x="127" y="119"/>
                </a:cubicBezTo>
                <a:cubicBezTo>
                  <a:pt x="129" y="117"/>
                  <a:pt x="129" y="113"/>
                  <a:pt x="127" y="111"/>
                </a:cubicBezTo>
                <a:cubicBezTo>
                  <a:pt x="122" y="106"/>
                  <a:pt x="122" y="106"/>
                  <a:pt x="122" y="106"/>
                </a:cubicBezTo>
                <a:cubicBezTo>
                  <a:pt x="120" y="104"/>
                  <a:pt x="119" y="100"/>
                  <a:pt x="121" y="98"/>
                </a:cubicBezTo>
                <a:cubicBezTo>
                  <a:pt x="125" y="88"/>
                  <a:pt x="125" y="88"/>
                  <a:pt x="125" y="88"/>
                </a:cubicBezTo>
                <a:cubicBezTo>
                  <a:pt x="126" y="85"/>
                  <a:pt x="129" y="83"/>
                  <a:pt x="132" y="83"/>
                </a:cubicBezTo>
                <a:cubicBezTo>
                  <a:pt x="138" y="83"/>
                  <a:pt x="138" y="83"/>
                  <a:pt x="138" y="83"/>
                </a:cubicBezTo>
                <a:cubicBezTo>
                  <a:pt x="142" y="83"/>
                  <a:pt x="144" y="81"/>
                  <a:pt x="144" y="78"/>
                </a:cubicBezTo>
                <a:cubicBezTo>
                  <a:pt x="144" y="66"/>
                  <a:pt x="144" y="66"/>
                  <a:pt x="144" y="66"/>
                </a:cubicBezTo>
                <a:cubicBezTo>
                  <a:pt x="144" y="63"/>
                  <a:pt x="142" y="61"/>
                  <a:pt x="138" y="61"/>
                </a:cubicBezTo>
                <a:moveTo>
                  <a:pt x="100" y="72"/>
                </a:moveTo>
                <a:cubicBezTo>
                  <a:pt x="100" y="87"/>
                  <a:pt x="87" y="100"/>
                  <a:pt x="72" y="100"/>
                </a:cubicBezTo>
                <a:cubicBezTo>
                  <a:pt x="57" y="100"/>
                  <a:pt x="44" y="87"/>
                  <a:pt x="44" y="72"/>
                </a:cubicBezTo>
                <a:cubicBezTo>
                  <a:pt x="44" y="57"/>
                  <a:pt x="57" y="44"/>
                  <a:pt x="72" y="44"/>
                </a:cubicBezTo>
                <a:cubicBezTo>
                  <a:pt x="87" y="44"/>
                  <a:pt x="100" y="57"/>
                  <a:pt x="100" y="72"/>
                </a:cubicBezTo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8" name="圆角矩形 87"/>
          <p:cNvSpPr/>
          <p:nvPr/>
        </p:nvSpPr>
        <p:spPr>
          <a:xfrm>
            <a:off x="4430315" y="3364728"/>
            <a:ext cx="1237129" cy="916856"/>
          </a:xfrm>
          <a:prstGeom prst="roundRect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N</a:t>
            </a:r>
            <a:r>
              <a:rPr lang="en-US" altLang="zh-CN" dirty="0" smtClean="0"/>
              <a:t>ode1</a:t>
            </a:r>
            <a:endParaRPr lang="zh-CN" altLang="en-US" dirty="0"/>
          </a:p>
        </p:txBody>
      </p:sp>
      <p:sp>
        <p:nvSpPr>
          <p:cNvPr id="89" name="圆角矩形 88"/>
          <p:cNvSpPr/>
          <p:nvPr/>
        </p:nvSpPr>
        <p:spPr>
          <a:xfrm>
            <a:off x="6307680" y="3364728"/>
            <a:ext cx="1237129" cy="916855"/>
          </a:xfrm>
          <a:prstGeom prst="roundRect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Node2</a:t>
            </a:r>
            <a:endParaRPr lang="zh-CN" altLang="en-US" dirty="0"/>
          </a:p>
        </p:txBody>
      </p:sp>
      <p:sp>
        <p:nvSpPr>
          <p:cNvPr id="90" name="圆角矩形 89"/>
          <p:cNvSpPr/>
          <p:nvPr/>
        </p:nvSpPr>
        <p:spPr>
          <a:xfrm>
            <a:off x="5461400" y="4893469"/>
            <a:ext cx="1237129" cy="916855"/>
          </a:xfrm>
          <a:prstGeom prst="roundRect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Node3</a:t>
            </a:r>
            <a:endParaRPr lang="zh-CN" altLang="en-US" dirty="0"/>
          </a:p>
        </p:txBody>
      </p:sp>
      <p:sp>
        <p:nvSpPr>
          <p:cNvPr id="92" name="TextBox 91"/>
          <p:cNvSpPr txBox="1"/>
          <p:nvPr/>
        </p:nvSpPr>
        <p:spPr>
          <a:xfrm>
            <a:off x="4051052" y="5351897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集群</a:t>
            </a:r>
          </a:p>
        </p:txBody>
      </p:sp>
      <p:sp>
        <p:nvSpPr>
          <p:cNvPr id="85" name="右箭头 84"/>
          <p:cNvSpPr/>
          <p:nvPr/>
        </p:nvSpPr>
        <p:spPr>
          <a:xfrm>
            <a:off x="6094452" y="1526021"/>
            <a:ext cx="978408" cy="484632"/>
          </a:xfrm>
          <a:prstGeom prst="rightArrow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8" name="右箭头 97"/>
          <p:cNvSpPr/>
          <p:nvPr/>
        </p:nvSpPr>
        <p:spPr>
          <a:xfrm rot="9064256">
            <a:off x="6414142" y="2546111"/>
            <a:ext cx="978408" cy="484632"/>
          </a:xfrm>
          <a:prstGeom prst="rightArrow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7" name="TextBox 96"/>
          <p:cNvSpPr txBox="1"/>
          <p:nvPr/>
        </p:nvSpPr>
        <p:spPr>
          <a:xfrm>
            <a:off x="5077204" y="6199599"/>
            <a:ext cx="18261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 smtClean="0">
                <a:latin typeface="微软雅黑" pitchFamily="34" charset="-122"/>
                <a:ea typeface="微软雅黑" pitchFamily="34" charset="-122"/>
              </a:rPr>
              <a:t>节点构成集群过程</a:t>
            </a:r>
            <a:endParaRPr lang="zh-CN" altLang="en-US" sz="1600" dirty="0"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37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28841" y="0"/>
            <a:ext cx="2763159" cy="10567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97774301"/>
      </p:ext>
    </p:extLst>
  </p:cSld>
  <p:clrMapOvr>
    <a:masterClrMapping/>
  </p:clrMapOvr>
  <p:transition spd="slow" advClick="0" advTm="0">
    <p:push dir="u"/>
  </p:transition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8" presetClass="entr" presetSubtype="16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0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3" dur="2000"/>
                                        <p:tgtEl>
                                          <p:spTgt spid="3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6" dur="2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9" dur="20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0" grpId="0"/>
      <p:bldP spid="10" grpId="1"/>
      <p:bldP spid="375" grpId="0" animBg="1"/>
      <p:bldP spid="61" grpId="0" animBg="1"/>
      <p:bldP spid="87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029653" y="397510"/>
            <a:ext cx="215706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altLang="zh-CN" b="1" dirty="0" smtClean="0">
                <a:solidFill>
                  <a:srgbClr val="304371"/>
                </a:solidFill>
                <a:latin typeface="微软雅黑" panose="020B0503020204020204" charset="-122"/>
                <a:ea typeface="微软雅黑" panose="020B0503020204020204" charset="-122"/>
                <a:cs typeface="Arial Unicode MS" panose="020B0604020202020204" charset="-122"/>
                <a:sym typeface="+mn-ea"/>
              </a:rPr>
              <a:t>Redis Cluster</a:t>
            </a:r>
            <a:r>
              <a:rPr lang="zh-CN" altLang="en-US" b="1" dirty="0" smtClean="0">
                <a:solidFill>
                  <a:srgbClr val="304371"/>
                </a:solidFill>
                <a:latin typeface="微软雅黑" panose="020B0503020204020204" charset="-122"/>
                <a:ea typeface="微软雅黑" panose="020B0503020204020204" charset="-122"/>
                <a:cs typeface="Arial Unicode MS" panose="020B0604020202020204" charset="-122"/>
                <a:sym typeface="+mn-ea"/>
              </a:rPr>
              <a:t>模式</a:t>
            </a:r>
            <a:endParaRPr lang="en-US" altLang="zh-CN" b="1" dirty="0" smtClean="0">
              <a:solidFill>
                <a:srgbClr val="304371"/>
              </a:solidFill>
              <a:latin typeface="微软雅黑" panose="020B0503020204020204" charset="-122"/>
              <a:ea typeface="微软雅黑" panose="020B0503020204020204" charset="-122"/>
              <a:cs typeface="Arial Unicode MS" panose="020B0604020202020204" charset="-122"/>
              <a:sym typeface="+mn-ea"/>
            </a:endParaRPr>
          </a:p>
        </p:txBody>
      </p:sp>
      <p:sp>
        <p:nvSpPr>
          <p:cNvPr id="10" name="TextBox 24"/>
          <p:cNvSpPr txBox="1"/>
          <p:nvPr/>
        </p:nvSpPr>
        <p:spPr>
          <a:xfrm>
            <a:off x="245047" y="3202287"/>
            <a:ext cx="648335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400" b="1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意义</a:t>
            </a:r>
            <a:r>
              <a:rPr lang="en-US" altLang="zh-CN" sz="1400" b="1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1</a:t>
            </a:r>
          </a:p>
        </p:txBody>
      </p:sp>
      <p:sp>
        <p:nvSpPr>
          <p:cNvPr id="11" name="圆角矩形 10"/>
          <p:cNvSpPr/>
          <p:nvPr/>
        </p:nvSpPr>
        <p:spPr>
          <a:xfrm>
            <a:off x="3902101" y="1685768"/>
            <a:ext cx="1237129" cy="2930619"/>
          </a:xfrm>
          <a:prstGeom prst="roundRect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Node 1</a:t>
            </a:r>
            <a:endParaRPr lang="zh-CN" altLang="en-US" dirty="0"/>
          </a:p>
        </p:txBody>
      </p:sp>
      <p:sp>
        <p:nvSpPr>
          <p:cNvPr id="15" name="圆角矩形 14"/>
          <p:cNvSpPr/>
          <p:nvPr/>
        </p:nvSpPr>
        <p:spPr>
          <a:xfrm>
            <a:off x="7034371" y="1685769"/>
            <a:ext cx="1237129" cy="2930618"/>
          </a:xfrm>
          <a:prstGeom prst="roundRect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Node 2</a:t>
            </a:r>
            <a:endParaRPr lang="zh-CN" altLang="en-US" dirty="0"/>
          </a:p>
        </p:txBody>
      </p:sp>
      <p:cxnSp>
        <p:nvCxnSpPr>
          <p:cNvPr id="4" name="直接箭头连接符 3"/>
          <p:cNvCxnSpPr/>
          <p:nvPr/>
        </p:nvCxnSpPr>
        <p:spPr>
          <a:xfrm>
            <a:off x="5139230" y="2383947"/>
            <a:ext cx="1895141" cy="0"/>
          </a:xfrm>
          <a:prstGeom prst="straightConnector1">
            <a:avLst/>
          </a:prstGeom>
          <a:ln w="28575">
            <a:solidFill>
              <a:schemeClr val="accent6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箭头连接符 15"/>
          <p:cNvCxnSpPr/>
          <p:nvPr/>
        </p:nvCxnSpPr>
        <p:spPr>
          <a:xfrm>
            <a:off x="5139230" y="4053176"/>
            <a:ext cx="1895141" cy="0"/>
          </a:xfrm>
          <a:prstGeom prst="straightConnector1">
            <a:avLst/>
          </a:prstGeom>
          <a:ln w="28575">
            <a:solidFill>
              <a:schemeClr val="accent6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箭头连接符 16"/>
          <p:cNvCxnSpPr>
            <a:stCxn id="15" idx="1"/>
            <a:endCxn id="11" idx="3"/>
          </p:cNvCxnSpPr>
          <p:nvPr/>
        </p:nvCxnSpPr>
        <p:spPr>
          <a:xfrm flipH="1">
            <a:off x="5139230" y="3151078"/>
            <a:ext cx="1895141" cy="0"/>
          </a:xfrm>
          <a:prstGeom prst="straightConnector1">
            <a:avLst/>
          </a:prstGeom>
          <a:ln w="28575">
            <a:solidFill>
              <a:schemeClr val="accent6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220825" y="1955679"/>
            <a:ext cx="17207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发送</a:t>
            </a:r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MEET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消息</a:t>
            </a:r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183379" y="2710337"/>
            <a:ext cx="17956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返回</a:t>
            </a:r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PONG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消息</a:t>
            </a:r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243492" y="3538106"/>
            <a:ext cx="16754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发送</a:t>
            </a:r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PING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消息</a:t>
            </a:r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296391" y="4862027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节点握手过程</a:t>
            </a:r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13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28841" y="0"/>
            <a:ext cx="2763159" cy="10567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57681526"/>
      </p:ext>
    </p:extLst>
  </p:cSld>
  <p:clrMapOvr>
    <a:masterClrMapping/>
  </p:clrMapOvr>
  <p:transition spd="slow" advClick="0" advTm="0">
    <p:push dir="u"/>
  </p:transition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8" presetClass="entr" presetSubtype="16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0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0" grpId="0"/>
      <p:bldP spid="10" grpId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圆角矩形 25"/>
          <p:cNvSpPr/>
          <p:nvPr/>
        </p:nvSpPr>
        <p:spPr>
          <a:xfrm>
            <a:off x="1108432" y="3392805"/>
            <a:ext cx="3864907" cy="981101"/>
          </a:xfrm>
          <a:prstGeom prst="roundRect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bg1"/>
                </a:solidFill>
              </a:rPr>
              <a:t>集群上线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25" name="圆角矩形 24"/>
          <p:cNvSpPr/>
          <p:nvPr/>
        </p:nvSpPr>
        <p:spPr>
          <a:xfrm>
            <a:off x="1008676" y="1161826"/>
            <a:ext cx="6907480" cy="1597643"/>
          </a:xfrm>
          <a:prstGeom prst="roundRect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矩形 1"/>
          <p:cNvSpPr/>
          <p:nvPr/>
        </p:nvSpPr>
        <p:spPr>
          <a:xfrm>
            <a:off x="1029653" y="397510"/>
            <a:ext cx="215706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altLang="zh-CN" b="1" dirty="0" smtClean="0">
                <a:solidFill>
                  <a:srgbClr val="304371"/>
                </a:solidFill>
                <a:latin typeface="微软雅黑" panose="020B0503020204020204" charset="-122"/>
                <a:ea typeface="微软雅黑" panose="020B0503020204020204" charset="-122"/>
                <a:cs typeface="Arial Unicode MS" panose="020B0604020202020204" charset="-122"/>
                <a:sym typeface="+mn-ea"/>
              </a:rPr>
              <a:t>Redis Cluster</a:t>
            </a:r>
            <a:r>
              <a:rPr lang="zh-CN" altLang="en-US" b="1" dirty="0" smtClean="0">
                <a:solidFill>
                  <a:srgbClr val="304371"/>
                </a:solidFill>
                <a:latin typeface="微软雅黑" panose="020B0503020204020204" charset="-122"/>
                <a:ea typeface="微软雅黑" panose="020B0503020204020204" charset="-122"/>
                <a:cs typeface="Arial Unicode MS" panose="020B0604020202020204" charset="-122"/>
                <a:sym typeface="+mn-ea"/>
              </a:rPr>
              <a:t>模式</a:t>
            </a:r>
            <a:endParaRPr lang="en-US" altLang="zh-CN" b="1" dirty="0" smtClean="0">
              <a:solidFill>
                <a:srgbClr val="304371"/>
              </a:solidFill>
              <a:latin typeface="微软雅黑" panose="020B0503020204020204" charset="-122"/>
              <a:ea typeface="微软雅黑" panose="020B0503020204020204" charset="-122"/>
              <a:cs typeface="Arial Unicode MS" panose="020B0604020202020204" charset="-122"/>
              <a:sym typeface="+mn-ea"/>
            </a:endParaRPr>
          </a:p>
        </p:txBody>
      </p:sp>
      <p:sp>
        <p:nvSpPr>
          <p:cNvPr id="3" name="AutoShape 2" descr="https://upload-images.jianshu.io/upload_images/1452123-09556716dc29be12.gif?imageMogr2/auto-orient/strip%7CimageView2/2/w/788/format/webp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" name="AutoShape 4" descr="https://upload-images.jianshu.io/upload_images/1452123-09556716dc29be12.gif?imageMogr2/auto-orient/strip%7CimageView2/2/w/788/format/webp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8" name="TextBox 7"/>
          <p:cNvSpPr txBox="1"/>
          <p:nvPr/>
        </p:nvSpPr>
        <p:spPr>
          <a:xfrm>
            <a:off x="1108432" y="1271941"/>
            <a:ext cx="6406754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槽分配</a:t>
            </a:r>
            <a:endParaRPr lang="en-US" altLang="zh-CN" dirty="0" smtClean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r>
              <a:rPr lang="en-US" altLang="zh-CN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CLUSTER ADDSLOTS 0</a:t>
            </a:r>
            <a:r>
              <a:rPr lang="zh-CN" altLang="en-US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1 2 3 4 … 5000</a:t>
            </a:r>
          </a:p>
          <a:p>
            <a:r>
              <a:rPr lang="en-US" altLang="zh-CN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CLUSTER ADDSLOTS </a:t>
            </a:r>
            <a:r>
              <a:rPr lang="en-US" altLang="zh-CN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5001</a:t>
            </a:r>
            <a:r>
              <a:rPr lang="zh-CN" altLang="en-US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5002 5003 5004 … 10000</a:t>
            </a:r>
          </a:p>
          <a:p>
            <a:r>
              <a:rPr lang="en-US" altLang="zh-CN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CLUSTER ADDSLOTS </a:t>
            </a:r>
            <a:r>
              <a:rPr lang="en-US" altLang="zh-CN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10001</a:t>
            </a:r>
            <a:r>
              <a:rPr lang="zh-CN" altLang="en-US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10002 10003 10004 … 16383</a:t>
            </a:r>
            <a:endParaRPr lang="en-US" altLang="zh-CN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endParaRPr lang="en-US" altLang="zh-CN" dirty="0" smtClean="0">
              <a:latin typeface="微软雅黑" pitchFamily="34" charset="-122"/>
              <a:ea typeface="微软雅黑" pitchFamily="34" charset="-122"/>
            </a:endParaRPr>
          </a:p>
          <a:p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5" name="圆角矩形 14"/>
          <p:cNvSpPr/>
          <p:nvPr/>
        </p:nvSpPr>
        <p:spPr>
          <a:xfrm>
            <a:off x="8166596" y="2541018"/>
            <a:ext cx="3228727" cy="458418"/>
          </a:xfrm>
          <a:prstGeom prst="roundRect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客户端发送操作命令</a:t>
            </a:r>
            <a:endParaRPr lang="zh-CN" altLang="en-US" dirty="0"/>
          </a:p>
        </p:txBody>
      </p:sp>
      <p:sp>
        <p:nvSpPr>
          <p:cNvPr id="16" name="圆角矩形 15"/>
          <p:cNvSpPr/>
          <p:nvPr/>
        </p:nvSpPr>
        <p:spPr>
          <a:xfrm>
            <a:off x="8166595" y="3418186"/>
            <a:ext cx="3228727" cy="458418"/>
          </a:xfrm>
          <a:prstGeom prst="roundRect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节点计算具体槽</a:t>
            </a:r>
            <a:endParaRPr lang="zh-CN" altLang="en-US" dirty="0"/>
          </a:p>
        </p:txBody>
      </p:sp>
      <p:sp>
        <p:nvSpPr>
          <p:cNvPr id="9" name="流程图: 决策 8"/>
          <p:cNvSpPr/>
          <p:nvPr/>
        </p:nvSpPr>
        <p:spPr>
          <a:xfrm>
            <a:off x="8399894" y="4295344"/>
            <a:ext cx="2673277" cy="1178232"/>
          </a:xfrm>
          <a:prstGeom prst="flowChartDecision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判断槽是否属于本节点</a:t>
            </a:r>
            <a:endParaRPr lang="zh-CN" altLang="en-US" dirty="0"/>
          </a:p>
        </p:txBody>
      </p:sp>
      <p:sp>
        <p:nvSpPr>
          <p:cNvPr id="17" name="圆角矩形 16"/>
          <p:cNvSpPr/>
          <p:nvPr/>
        </p:nvSpPr>
        <p:spPr>
          <a:xfrm>
            <a:off x="8166594" y="5842908"/>
            <a:ext cx="3228727" cy="458418"/>
          </a:xfrm>
          <a:prstGeom prst="roundRect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执行命令</a:t>
            </a:r>
            <a:endParaRPr lang="zh-CN" altLang="en-US" dirty="0"/>
          </a:p>
        </p:txBody>
      </p:sp>
      <p:sp>
        <p:nvSpPr>
          <p:cNvPr id="19" name="下箭头 18"/>
          <p:cNvSpPr/>
          <p:nvPr/>
        </p:nvSpPr>
        <p:spPr>
          <a:xfrm>
            <a:off x="9538643" y="3039802"/>
            <a:ext cx="484632" cy="353003"/>
          </a:xfrm>
          <a:prstGeom prst="downArrow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下箭头 20"/>
          <p:cNvSpPr/>
          <p:nvPr/>
        </p:nvSpPr>
        <p:spPr>
          <a:xfrm>
            <a:off x="9494216" y="3942341"/>
            <a:ext cx="484632" cy="353003"/>
          </a:xfrm>
          <a:prstGeom prst="downArrow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下箭头 21"/>
          <p:cNvSpPr/>
          <p:nvPr/>
        </p:nvSpPr>
        <p:spPr>
          <a:xfrm>
            <a:off x="9465762" y="5520595"/>
            <a:ext cx="484632" cy="353003"/>
          </a:xfrm>
          <a:prstGeom prst="downArrow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3" name="圆角矩形 22"/>
          <p:cNvSpPr/>
          <p:nvPr/>
        </p:nvSpPr>
        <p:spPr>
          <a:xfrm>
            <a:off x="3838365" y="4665581"/>
            <a:ext cx="3228727" cy="872116"/>
          </a:xfrm>
          <a:prstGeom prst="roundRect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返回</a:t>
            </a:r>
            <a:r>
              <a:rPr lang="en-US" altLang="zh-CN" dirty="0" smtClean="0"/>
              <a:t>Moved</a:t>
            </a:r>
            <a:r>
              <a:rPr lang="zh-CN" altLang="en-US" dirty="0" smtClean="0"/>
              <a:t>错误和具体槽所在节点</a:t>
            </a:r>
            <a:r>
              <a:rPr lang="en-US" altLang="zh-CN" dirty="0" smtClean="0"/>
              <a:t>,</a:t>
            </a:r>
            <a:r>
              <a:rPr lang="zh-CN" altLang="en-US" dirty="0" smtClean="0"/>
              <a:t>客户端转向正确节点并发送命令</a:t>
            </a:r>
            <a:endParaRPr lang="zh-CN" altLang="en-US" dirty="0"/>
          </a:p>
        </p:txBody>
      </p:sp>
      <p:cxnSp>
        <p:nvCxnSpPr>
          <p:cNvPr id="24" name="曲线连接符 23"/>
          <p:cNvCxnSpPr>
            <a:stCxn id="23" idx="0"/>
            <a:endCxn id="15" idx="1"/>
          </p:cNvCxnSpPr>
          <p:nvPr/>
        </p:nvCxnSpPr>
        <p:spPr>
          <a:xfrm rot="5400000" flipH="1" flipV="1">
            <a:off x="5861985" y="2360971"/>
            <a:ext cx="1895354" cy="2713867"/>
          </a:xfrm>
          <a:prstGeom prst="curvedConnector2">
            <a:avLst/>
          </a:prstGeom>
          <a:ln w="28575">
            <a:solidFill>
              <a:schemeClr val="tx2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下箭头 26"/>
          <p:cNvSpPr/>
          <p:nvPr/>
        </p:nvSpPr>
        <p:spPr>
          <a:xfrm>
            <a:off x="3284078" y="2954803"/>
            <a:ext cx="484632" cy="353003"/>
          </a:xfrm>
          <a:prstGeom prst="downArrow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下箭头 30"/>
          <p:cNvSpPr/>
          <p:nvPr/>
        </p:nvSpPr>
        <p:spPr>
          <a:xfrm rot="5400000">
            <a:off x="7547415" y="4507597"/>
            <a:ext cx="484632" cy="753726"/>
          </a:xfrm>
          <a:prstGeom prst="downArrow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0" name="TextBox 29"/>
          <p:cNvSpPr txBox="1"/>
          <p:nvPr/>
        </p:nvSpPr>
        <p:spPr>
          <a:xfrm>
            <a:off x="7789731" y="4373906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否</a:t>
            </a:r>
            <a:endParaRPr lang="zh-CN" altLang="en-US" dirty="0"/>
          </a:p>
        </p:txBody>
      </p:sp>
      <p:sp>
        <p:nvSpPr>
          <p:cNvPr id="33" name="TextBox 32"/>
          <p:cNvSpPr txBox="1"/>
          <p:nvPr/>
        </p:nvSpPr>
        <p:spPr>
          <a:xfrm>
            <a:off x="9039399" y="5473576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是</a:t>
            </a:r>
          </a:p>
        </p:txBody>
      </p:sp>
      <p:pic>
        <p:nvPicPr>
          <p:cNvPr id="2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28841" y="0"/>
            <a:ext cx="2763159" cy="10567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85864415"/>
      </p:ext>
    </p:extLst>
  </p:cSld>
  <p:clrMapOvr>
    <a:masterClrMapping/>
  </p:clrMapOvr>
  <p:transition spd="slow" advClick="0" advTm="0">
    <p:push dir="u"/>
  </p:transition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029653" y="397510"/>
            <a:ext cx="215706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altLang="zh-CN" b="1" dirty="0" err="1" smtClean="0">
                <a:solidFill>
                  <a:srgbClr val="304371"/>
                </a:solidFill>
                <a:latin typeface="微软雅黑" panose="020B0503020204020204" charset="-122"/>
                <a:ea typeface="微软雅黑" panose="020B0503020204020204" charset="-122"/>
                <a:cs typeface="Arial Unicode MS" panose="020B0604020202020204" charset="-122"/>
                <a:sym typeface="+mn-ea"/>
              </a:rPr>
              <a:t>Redis</a:t>
            </a:r>
            <a:r>
              <a:rPr lang="en-US" altLang="zh-CN" b="1" dirty="0" smtClean="0">
                <a:solidFill>
                  <a:srgbClr val="304371"/>
                </a:solidFill>
                <a:latin typeface="微软雅黑" panose="020B0503020204020204" charset="-122"/>
                <a:ea typeface="微软雅黑" panose="020B0503020204020204" charset="-122"/>
                <a:cs typeface="Arial Unicode MS" panose="020B0604020202020204" charset="-122"/>
                <a:sym typeface="+mn-ea"/>
              </a:rPr>
              <a:t> Cluster</a:t>
            </a:r>
            <a:r>
              <a:rPr lang="zh-CN" altLang="en-US" b="1" dirty="0" smtClean="0">
                <a:solidFill>
                  <a:srgbClr val="304371"/>
                </a:solidFill>
                <a:latin typeface="微软雅黑" panose="020B0503020204020204" charset="-122"/>
                <a:ea typeface="微软雅黑" panose="020B0503020204020204" charset="-122"/>
                <a:cs typeface="Arial Unicode MS" panose="020B0604020202020204" charset="-122"/>
                <a:sym typeface="+mn-ea"/>
              </a:rPr>
              <a:t>模式</a:t>
            </a:r>
            <a:endParaRPr lang="en-US" altLang="zh-CN" b="1" dirty="0" smtClean="0">
              <a:solidFill>
                <a:srgbClr val="304371"/>
              </a:solidFill>
              <a:latin typeface="微软雅黑" panose="020B0503020204020204" charset="-122"/>
              <a:ea typeface="微软雅黑" panose="020B0503020204020204" charset="-122"/>
              <a:cs typeface="Arial Unicode MS" panose="020B0604020202020204" charset="-122"/>
              <a:sym typeface="+mn-ea"/>
            </a:endParaRPr>
          </a:p>
        </p:txBody>
      </p:sp>
      <p:sp>
        <p:nvSpPr>
          <p:cNvPr id="10" name="TextBox 24"/>
          <p:cNvSpPr txBox="1"/>
          <p:nvPr/>
        </p:nvSpPr>
        <p:spPr>
          <a:xfrm>
            <a:off x="245047" y="3202287"/>
            <a:ext cx="648335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400" b="1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意义</a:t>
            </a:r>
            <a:r>
              <a:rPr lang="en-US" altLang="zh-CN" sz="1400" b="1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1</a:t>
            </a:r>
          </a:p>
        </p:txBody>
      </p:sp>
      <p:sp>
        <p:nvSpPr>
          <p:cNvPr id="375" name="Freeform 28"/>
          <p:cNvSpPr>
            <a:spLocks noEditPoints="1"/>
          </p:cNvSpPr>
          <p:nvPr/>
        </p:nvSpPr>
        <p:spPr bwMode="auto">
          <a:xfrm>
            <a:off x="404620" y="2673046"/>
            <a:ext cx="328930" cy="326390"/>
          </a:xfrm>
          <a:custGeom>
            <a:avLst/>
            <a:gdLst>
              <a:gd name="T0" fmla="*/ 132 w 144"/>
              <a:gd name="T1" fmla="*/ 61 h 144"/>
              <a:gd name="T2" fmla="*/ 121 w 144"/>
              <a:gd name="T3" fmla="*/ 46 h 144"/>
              <a:gd name="T4" fmla="*/ 127 w 144"/>
              <a:gd name="T5" fmla="*/ 33 h 144"/>
              <a:gd name="T6" fmla="*/ 119 w 144"/>
              <a:gd name="T7" fmla="*/ 17 h 144"/>
              <a:gd name="T8" fmla="*/ 106 w 144"/>
              <a:gd name="T9" fmla="*/ 22 h 144"/>
              <a:gd name="T10" fmla="*/ 88 w 144"/>
              <a:gd name="T11" fmla="*/ 19 h 144"/>
              <a:gd name="T12" fmla="*/ 83 w 144"/>
              <a:gd name="T13" fmla="*/ 6 h 144"/>
              <a:gd name="T14" fmla="*/ 66 w 144"/>
              <a:gd name="T15" fmla="*/ 0 h 144"/>
              <a:gd name="T16" fmla="*/ 61 w 144"/>
              <a:gd name="T17" fmla="*/ 12 h 144"/>
              <a:gd name="T18" fmla="*/ 46 w 144"/>
              <a:gd name="T19" fmla="*/ 23 h 144"/>
              <a:gd name="T20" fmla="*/ 33 w 144"/>
              <a:gd name="T21" fmla="*/ 17 h 144"/>
              <a:gd name="T22" fmla="*/ 17 w 144"/>
              <a:gd name="T23" fmla="*/ 25 h 144"/>
              <a:gd name="T24" fmla="*/ 22 w 144"/>
              <a:gd name="T25" fmla="*/ 38 h 144"/>
              <a:gd name="T26" fmla="*/ 19 w 144"/>
              <a:gd name="T27" fmla="*/ 56 h 144"/>
              <a:gd name="T28" fmla="*/ 6 w 144"/>
              <a:gd name="T29" fmla="*/ 61 h 144"/>
              <a:gd name="T30" fmla="*/ 0 w 144"/>
              <a:gd name="T31" fmla="*/ 78 h 144"/>
              <a:gd name="T32" fmla="*/ 12 w 144"/>
              <a:gd name="T33" fmla="*/ 83 h 144"/>
              <a:gd name="T34" fmla="*/ 23 w 144"/>
              <a:gd name="T35" fmla="*/ 98 h 144"/>
              <a:gd name="T36" fmla="*/ 17 w 144"/>
              <a:gd name="T37" fmla="*/ 111 h 144"/>
              <a:gd name="T38" fmla="*/ 25 w 144"/>
              <a:gd name="T39" fmla="*/ 127 h 144"/>
              <a:gd name="T40" fmla="*/ 38 w 144"/>
              <a:gd name="T41" fmla="*/ 122 h 144"/>
              <a:gd name="T42" fmla="*/ 56 w 144"/>
              <a:gd name="T43" fmla="*/ 125 h 144"/>
              <a:gd name="T44" fmla="*/ 61 w 144"/>
              <a:gd name="T45" fmla="*/ 138 h 144"/>
              <a:gd name="T46" fmla="*/ 78 w 144"/>
              <a:gd name="T47" fmla="*/ 144 h 144"/>
              <a:gd name="T48" fmla="*/ 83 w 144"/>
              <a:gd name="T49" fmla="*/ 132 h 144"/>
              <a:gd name="T50" fmla="*/ 98 w 144"/>
              <a:gd name="T51" fmla="*/ 121 h 144"/>
              <a:gd name="T52" fmla="*/ 111 w 144"/>
              <a:gd name="T53" fmla="*/ 127 h 144"/>
              <a:gd name="T54" fmla="*/ 127 w 144"/>
              <a:gd name="T55" fmla="*/ 119 h 144"/>
              <a:gd name="T56" fmla="*/ 122 w 144"/>
              <a:gd name="T57" fmla="*/ 106 h 144"/>
              <a:gd name="T58" fmla="*/ 125 w 144"/>
              <a:gd name="T59" fmla="*/ 88 h 144"/>
              <a:gd name="T60" fmla="*/ 138 w 144"/>
              <a:gd name="T61" fmla="*/ 83 h 144"/>
              <a:gd name="T62" fmla="*/ 144 w 144"/>
              <a:gd name="T63" fmla="*/ 66 h 144"/>
              <a:gd name="T64" fmla="*/ 100 w 144"/>
              <a:gd name="T65" fmla="*/ 72 h 144"/>
              <a:gd name="T66" fmla="*/ 44 w 144"/>
              <a:gd name="T67" fmla="*/ 72 h 144"/>
              <a:gd name="T68" fmla="*/ 100 w 144"/>
              <a:gd name="T69" fmla="*/ 72 h 1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144" h="144">
                <a:moveTo>
                  <a:pt x="138" y="61"/>
                </a:moveTo>
                <a:cubicBezTo>
                  <a:pt x="132" y="61"/>
                  <a:pt x="132" y="61"/>
                  <a:pt x="132" y="61"/>
                </a:cubicBezTo>
                <a:cubicBezTo>
                  <a:pt x="129" y="61"/>
                  <a:pt x="126" y="59"/>
                  <a:pt x="125" y="56"/>
                </a:cubicBezTo>
                <a:cubicBezTo>
                  <a:pt x="121" y="46"/>
                  <a:pt x="121" y="46"/>
                  <a:pt x="121" y="46"/>
                </a:cubicBezTo>
                <a:cubicBezTo>
                  <a:pt x="119" y="44"/>
                  <a:pt x="120" y="40"/>
                  <a:pt x="122" y="38"/>
                </a:cubicBezTo>
                <a:cubicBezTo>
                  <a:pt x="127" y="33"/>
                  <a:pt x="127" y="33"/>
                  <a:pt x="127" y="33"/>
                </a:cubicBezTo>
                <a:cubicBezTo>
                  <a:pt x="129" y="31"/>
                  <a:pt x="129" y="27"/>
                  <a:pt x="127" y="25"/>
                </a:cubicBezTo>
                <a:cubicBezTo>
                  <a:pt x="119" y="17"/>
                  <a:pt x="119" y="17"/>
                  <a:pt x="119" y="17"/>
                </a:cubicBezTo>
                <a:cubicBezTo>
                  <a:pt x="117" y="15"/>
                  <a:pt x="113" y="15"/>
                  <a:pt x="111" y="17"/>
                </a:cubicBezTo>
                <a:cubicBezTo>
                  <a:pt x="106" y="22"/>
                  <a:pt x="106" y="22"/>
                  <a:pt x="106" y="22"/>
                </a:cubicBezTo>
                <a:cubicBezTo>
                  <a:pt x="104" y="24"/>
                  <a:pt x="100" y="25"/>
                  <a:pt x="98" y="23"/>
                </a:cubicBezTo>
                <a:cubicBezTo>
                  <a:pt x="88" y="19"/>
                  <a:pt x="88" y="19"/>
                  <a:pt x="88" y="19"/>
                </a:cubicBezTo>
                <a:cubicBezTo>
                  <a:pt x="85" y="18"/>
                  <a:pt x="83" y="15"/>
                  <a:pt x="83" y="12"/>
                </a:cubicBezTo>
                <a:cubicBezTo>
                  <a:pt x="83" y="6"/>
                  <a:pt x="83" y="6"/>
                  <a:pt x="83" y="6"/>
                </a:cubicBezTo>
                <a:cubicBezTo>
                  <a:pt x="83" y="2"/>
                  <a:pt x="81" y="0"/>
                  <a:pt x="78" y="0"/>
                </a:cubicBezTo>
                <a:cubicBezTo>
                  <a:pt x="66" y="0"/>
                  <a:pt x="66" y="0"/>
                  <a:pt x="66" y="0"/>
                </a:cubicBezTo>
                <a:cubicBezTo>
                  <a:pt x="63" y="0"/>
                  <a:pt x="61" y="2"/>
                  <a:pt x="61" y="6"/>
                </a:cubicBezTo>
                <a:cubicBezTo>
                  <a:pt x="61" y="12"/>
                  <a:pt x="61" y="12"/>
                  <a:pt x="61" y="12"/>
                </a:cubicBezTo>
                <a:cubicBezTo>
                  <a:pt x="61" y="15"/>
                  <a:pt x="59" y="18"/>
                  <a:pt x="56" y="19"/>
                </a:cubicBezTo>
                <a:cubicBezTo>
                  <a:pt x="46" y="23"/>
                  <a:pt x="46" y="23"/>
                  <a:pt x="46" y="23"/>
                </a:cubicBezTo>
                <a:cubicBezTo>
                  <a:pt x="44" y="25"/>
                  <a:pt x="40" y="24"/>
                  <a:pt x="38" y="22"/>
                </a:cubicBezTo>
                <a:cubicBezTo>
                  <a:pt x="33" y="17"/>
                  <a:pt x="33" y="17"/>
                  <a:pt x="33" y="17"/>
                </a:cubicBezTo>
                <a:cubicBezTo>
                  <a:pt x="31" y="15"/>
                  <a:pt x="27" y="15"/>
                  <a:pt x="25" y="17"/>
                </a:cubicBezTo>
                <a:cubicBezTo>
                  <a:pt x="17" y="25"/>
                  <a:pt x="17" y="25"/>
                  <a:pt x="17" y="25"/>
                </a:cubicBezTo>
                <a:cubicBezTo>
                  <a:pt x="15" y="27"/>
                  <a:pt x="15" y="31"/>
                  <a:pt x="17" y="33"/>
                </a:cubicBezTo>
                <a:cubicBezTo>
                  <a:pt x="22" y="38"/>
                  <a:pt x="22" y="38"/>
                  <a:pt x="22" y="38"/>
                </a:cubicBezTo>
                <a:cubicBezTo>
                  <a:pt x="24" y="40"/>
                  <a:pt x="25" y="44"/>
                  <a:pt x="23" y="46"/>
                </a:cubicBezTo>
                <a:cubicBezTo>
                  <a:pt x="19" y="56"/>
                  <a:pt x="19" y="56"/>
                  <a:pt x="19" y="56"/>
                </a:cubicBezTo>
                <a:cubicBezTo>
                  <a:pt x="18" y="59"/>
                  <a:pt x="15" y="61"/>
                  <a:pt x="12" y="61"/>
                </a:cubicBezTo>
                <a:cubicBezTo>
                  <a:pt x="6" y="61"/>
                  <a:pt x="6" y="61"/>
                  <a:pt x="6" y="61"/>
                </a:cubicBezTo>
                <a:cubicBezTo>
                  <a:pt x="2" y="61"/>
                  <a:pt x="0" y="63"/>
                  <a:pt x="0" y="66"/>
                </a:cubicBezTo>
                <a:cubicBezTo>
                  <a:pt x="0" y="78"/>
                  <a:pt x="0" y="78"/>
                  <a:pt x="0" y="78"/>
                </a:cubicBezTo>
                <a:cubicBezTo>
                  <a:pt x="0" y="81"/>
                  <a:pt x="2" y="83"/>
                  <a:pt x="6" y="83"/>
                </a:cubicBezTo>
                <a:cubicBezTo>
                  <a:pt x="12" y="83"/>
                  <a:pt x="12" y="83"/>
                  <a:pt x="12" y="83"/>
                </a:cubicBezTo>
                <a:cubicBezTo>
                  <a:pt x="15" y="83"/>
                  <a:pt x="18" y="85"/>
                  <a:pt x="19" y="88"/>
                </a:cubicBezTo>
                <a:cubicBezTo>
                  <a:pt x="23" y="98"/>
                  <a:pt x="23" y="98"/>
                  <a:pt x="23" y="98"/>
                </a:cubicBezTo>
                <a:cubicBezTo>
                  <a:pt x="25" y="100"/>
                  <a:pt x="24" y="104"/>
                  <a:pt x="22" y="106"/>
                </a:cubicBezTo>
                <a:cubicBezTo>
                  <a:pt x="17" y="111"/>
                  <a:pt x="17" y="111"/>
                  <a:pt x="17" y="111"/>
                </a:cubicBezTo>
                <a:cubicBezTo>
                  <a:pt x="15" y="113"/>
                  <a:pt x="15" y="117"/>
                  <a:pt x="17" y="119"/>
                </a:cubicBezTo>
                <a:cubicBezTo>
                  <a:pt x="25" y="127"/>
                  <a:pt x="25" y="127"/>
                  <a:pt x="25" y="127"/>
                </a:cubicBezTo>
                <a:cubicBezTo>
                  <a:pt x="27" y="129"/>
                  <a:pt x="31" y="129"/>
                  <a:pt x="33" y="127"/>
                </a:cubicBezTo>
                <a:cubicBezTo>
                  <a:pt x="38" y="122"/>
                  <a:pt x="38" y="122"/>
                  <a:pt x="38" y="122"/>
                </a:cubicBezTo>
                <a:cubicBezTo>
                  <a:pt x="40" y="120"/>
                  <a:pt x="44" y="119"/>
                  <a:pt x="46" y="121"/>
                </a:cubicBezTo>
                <a:cubicBezTo>
                  <a:pt x="56" y="125"/>
                  <a:pt x="56" y="125"/>
                  <a:pt x="56" y="125"/>
                </a:cubicBezTo>
                <a:cubicBezTo>
                  <a:pt x="59" y="126"/>
                  <a:pt x="61" y="129"/>
                  <a:pt x="61" y="132"/>
                </a:cubicBezTo>
                <a:cubicBezTo>
                  <a:pt x="61" y="138"/>
                  <a:pt x="61" y="138"/>
                  <a:pt x="61" y="138"/>
                </a:cubicBezTo>
                <a:cubicBezTo>
                  <a:pt x="61" y="142"/>
                  <a:pt x="63" y="144"/>
                  <a:pt x="66" y="144"/>
                </a:cubicBezTo>
                <a:cubicBezTo>
                  <a:pt x="78" y="144"/>
                  <a:pt x="78" y="144"/>
                  <a:pt x="78" y="144"/>
                </a:cubicBezTo>
                <a:cubicBezTo>
                  <a:pt x="81" y="144"/>
                  <a:pt x="83" y="142"/>
                  <a:pt x="83" y="138"/>
                </a:cubicBezTo>
                <a:cubicBezTo>
                  <a:pt x="83" y="132"/>
                  <a:pt x="83" y="132"/>
                  <a:pt x="83" y="132"/>
                </a:cubicBezTo>
                <a:cubicBezTo>
                  <a:pt x="83" y="129"/>
                  <a:pt x="85" y="126"/>
                  <a:pt x="88" y="125"/>
                </a:cubicBezTo>
                <a:cubicBezTo>
                  <a:pt x="98" y="121"/>
                  <a:pt x="98" y="121"/>
                  <a:pt x="98" y="121"/>
                </a:cubicBezTo>
                <a:cubicBezTo>
                  <a:pt x="100" y="119"/>
                  <a:pt x="104" y="120"/>
                  <a:pt x="106" y="122"/>
                </a:cubicBezTo>
                <a:cubicBezTo>
                  <a:pt x="111" y="127"/>
                  <a:pt x="111" y="127"/>
                  <a:pt x="111" y="127"/>
                </a:cubicBezTo>
                <a:cubicBezTo>
                  <a:pt x="113" y="129"/>
                  <a:pt x="117" y="129"/>
                  <a:pt x="119" y="127"/>
                </a:cubicBezTo>
                <a:cubicBezTo>
                  <a:pt x="127" y="119"/>
                  <a:pt x="127" y="119"/>
                  <a:pt x="127" y="119"/>
                </a:cubicBezTo>
                <a:cubicBezTo>
                  <a:pt x="129" y="117"/>
                  <a:pt x="129" y="113"/>
                  <a:pt x="127" y="111"/>
                </a:cubicBezTo>
                <a:cubicBezTo>
                  <a:pt x="122" y="106"/>
                  <a:pt x="122" y="106"/>
                  <a:pt x="122" y="106"/>
                </a:cubicBezTo>
                <a:cubicBezTo>
                  <a:pt x="120" y="104"/>
                  <a:pt x="119" y="100"/>
                  <a:pt x="121" y="98"/>
                </a:cubicBezTo>
                <a:cubicBezTo>
                  <a:pt x="125" y="88"/>
                  <a:pt x="125" y="88"/>
                  <a:pt x="125" y="88"/>
                </a:cubicBezTo>
                <a:cubicBezTo>
                  <a:pt x="126" y="85"/>
                  <a:pt x="129" y="83"/>
                  <a:pt x="132" y="83"/>
                </a:cubicBezTo>
                <a:cubicBezTo>
                  <a:pt x="138" y="83"/>
                  <a:pt x="138" y="83"/>
                  <a:pt x="138" y="83"/>
                </a:cubicBezTo>
                <a:cubicBezTo>
                  <a:pt x="142" y="83"/>
                  <a:pt x="144" y="81"/>
                  <a:pt x="144" y="78"/>
                </a:cubicBezTo>
                <a:cubicBezTo>
                  <a:pt x="144" y="66"/>
                  <a:pt x="144" y="66"/>
                  <a:pt x="144" y="66"/>
                </a:cubicBezTo>
                <a:cubicBezTo>
                  <a:pt x="144" y="63"/>
                  <a:pt x="142" y="61"/>
                  <a:pt x="138" y="61"/>
                </a:cubicBezTo>
                <a:moveTo>
                  <a:pt x="100" y="72"/>
                </a:moveTo>
                <a:cubicBezTo>
                  <a:pt x="100" y="87"/>
                  <a:pt x="87" y="100"/>
                  <a:pt x="72" y="100"/>
                </a:cubicBezTo>
                <a:cubicBezTo>
                  <a:pt x="57" y="100"/>
                  <a:pt x="44" y="87"/>
                  <a:pt x="44" y="72"/>
                </a:cubicBezTo>
                <a:cubicBezTo>
                  <a:pt x="44" y="57"/>
                  <a:pt x="57" y="44"/>
                  <a:pt x="72" y="44"/>
                </a:cubicBezTo>
                <a:cubicBezTo>
                  <a:pt x="87" y="44"/>
                  <a:pt x="100" y="57"/>
                  <a:pt x="100" y="72"/>
                </a:cubicBezTo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pic>
        <p:nvPicPr>
          <p:cNvPr id="2050" name="Picture 2" descr="https://img-blog.csdn.net/20171113151049211?watermark/2/text/aHR0cDovL2Jsb2cuY3Nkbi5uZXQveWVqaW5ndGFvNzAz/font/5a6L5L2T/fontsize/400/fill/I0JBQkFCMA==/dissolve/70/gravity/Center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0771" y="1126815"/>
            <a:ext cx="7860087" cy="4764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5102625" y="6110343"/>
            <a:ext cx="15038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Key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路由过程</a:t>
            </a:r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28841" y="0"/>
            <a:ext cx="2763159" cy="10567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5384929"/>
      </p:ext>
    </p:extLst>
  </p:cSld>
  <p:clrMapOvr>
    <a:masterClrMapping/>
  </p:clrMapOvr>
  <p:transition spd="slow" advClick="0" advTm="0">
    <p:push dir="u"/>
  </p:transition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8" presetClass="entr" presetSubtype="16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0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3" dur="2000"/>
                                        <p:tgtEl>
                                          <p:spTgt spid="3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0" grpId="0"/>
      <p:bldP spid="10" grpId="1"/>
      <p:bldP spid="375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029653" y="397510"/>
            <a:ext cx="21965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zh-CN" altLang="en-US" b="1" dirty="0">
                <a:solidFill>
                  <a:srgbClr val="304371"/>
                </a:solidFill>
                <a:latin typeface="微软雅黑" panose="020B0503020204020204" charset="-122"/>
                <a:ea typeface="微软雅黑" panose="020B0503020204020204" charset="-122"/>
                <a:cs typeface="Arial Unicode MS" panose="020B0604020202020204" charset="-122"/>
                <a:sym typeface="+mn-ea"/>
              </a:rPr>
              <a:t>美</a:t>
            </a:r>
            <a:r>
              <a:rPr lang="zh-CN" altLang="en-US" b="1" dirty="0" smtClean="0">
                <a:solidFill>
                  <a:srgbClr val="304371"/>
                </a:solidFill>
                <a:latin typeface="微软雅黑" panose="020B0503020204020204" charset="-122"/>
                <a:ea typeface="微软雅黑" panose="020B0503020204020204" charset="-122"/>
                <a:cs typeface="Arial Unicode MS" panose="020B0604020202020204" charset="-122"/>
                <a:sym typeface="+mn-ea"/>
              </a:rPr>
              <a:t>的支付</a:t>
            </a:r>
            <a:r>
              <a:rPr lang="en-US" altLang="zh-CN" b="1" dirty="0" err="1" smtClean="0">
                <a:solidFill>
                  <a:srgbClr val="304371"/>
                </a:solidFill>
                <a:latin typeface="微软雅黑" panose="020B0503020204020204" charset="-122"/>
                <a:ea typeface="微软雅黑" panose="020B0503020204020204" charset="-122"/>
                <a:cs typeface="Arial Unicode MS" panose="020B0604020202020204" charset="-122"/>
                <a:sym typeface="+mn-ea"/>
              </a:rPr>
              <a:t>Redis</a:t>
            </a:r>
            <a:r>
              <a:rPr lang="zh-CN" altLang="en-US" b="1" dirty="0" smtClean="0">
                <a:solidFill>
                  <a:srgbClr val="304371"/>
                </a:solidFill>
                <a:latin typeface="微软雅黑" panose="020B0503020204020204" charset="-122"/>
                <a:ea typeface="微软雅黑" panose="020B0503020204020204" charset="-122"/>
                <a:cs typeface="Arial Unicode MS" panose="020B0604020202020204" charset="-122"/>
                <a:sym typeface="+mn-ea"/>
              </a:rPr>
              <a:t>应用</a:t>
            </a:r>
            <a:endParaRPr lang="en-US" altLang="zh-CN" b="1" dirty="0" smtClean="0">
              <a:solidFill>
                <a:srgbClr val="304371"/>
              </a:solidFill>
              <a:latin typeface="微软雅黑" panose="020B0503020204020204" charset="-122"/>
              <a:ea typeface="微软雅黑" panose="020B0503020204020204" charset="-122"/>
              <a:cs typeface="Arial Unicode MS" panose="020B0604020202020204" charset="-122"/>
              <a:sym typeface="+mn-ea"/>
            </a:endParaRPr>
          </a:p>
        </p:txBody>
      </p:sp>
      <p:sp>
        <p:nvSpPr>
          <p:cNvPr id="10" name="TextBox 24"/>
          <p:cNvSpPr txBox="1"/>
          <p:nvPr/>
        </p:nvSpPr>
        <p:spPr>
          <a:xfrm>
            <a:off x="245047" y="3202287"/>
            <a:ext cx="648335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400" b="1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意义</a:t>
            </a:r>
            <a:r>
              <a:rPr lang="en-US" altLang="zh-CN" sz="1400" b="1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1</a:t>
            </a:r>
          </a:p>
        </p:txBody>
      </p:sp>
      <p:sp>
        <p:nvSpPr>
          <p:cNvPr id="375" name="Freeform 28"/>
          <p:cNvSpPr>
            <a:spLocks noEditPoints="1"/>
          </p:cNvSpPr>
          <p:nvPr/>
        </p:nvSpPr>
        <p:spPr bwMode="auto">
          <a:xfrm>
            <a:off x="404620" y="2673046"/>
            <a:ext cx="328930" cy="326390"/>
          </a:xfrm>
          <a:custGeom>
            <a:avLst/>
            <a:gdLst>
              <a:gd name="T0" fmla="*/ 132 w 144"/>
              <a:gd name="T1" fmla="*/ 61 h 144"/>
              <a:gd name="T2" fmla="*/ 121 w 144"/>
              <a:gd name="T3" fmla="*/ 46 h 144"/>
              <a:gd name="T4" fmla="*/ 127 w 144"/>
              <a:gd name="T5" fmla="*/ 33 h 144"/>
              <a:gd name="T6" fmla="*/ 119 w 144"/>
              <a:gd name="T7" fmla="*/ 17 h 144"/>
              <a:gd name="T8" fmla="*/ 106 w 144"/>
              <a:gd name="T9" fmla="*/ 22 h 144"/>
              <a:gd name="T10" fmla="*/ 88 w 144"/>
              <a:gd name="T11" fmla="*/ 19 h 144"/>
              <a:gd name="T12" fmla="*/ 83 w 144"/>
              <a:gd name="T13" fmla="*/ 6 h 144"/>
              <a:gd name="T14" fmla="*/ 66 w 144"/>
              <a:gd name="T15" fmla="*/ 0 h 144"/>
              <a:gd name="T16" fmla="*/ 61 w 144"/>
              <a:gd name="T17" fmla="*/ 12 h 144"/>
              <a:gd name="T18" fmla="*/ 46 w 144"/>
              <a:gd name="T19" fmla="*/ 23 h 144"/>
              <a:gd name="T20" fmla="*/ 33 w 144"/>
              <a:gd name="T21" fmla="*/ 17 h 144"/>
              <a:gd name="T22" fmla="*/ 17 w 144"/>
              <a:gd name="T23" fmla="*/ 25 h 144"/>
              <a:gd name="T24" fmla="*/ 22 w 144"/>
              <a:gd name="T25" fmla="*/ 38 h 144"/>
              <a:gd name="T26" fmla="*/ 19 w 144"/>
              <a:gd name="T27" fmla="*/ 56 h 144"/>
              <a:gd name="T28" fmla="*/ 6 w 144"/>
              <a:gd name="T29" fmla="*/ 61 h 144"/>
              <a:gd name="T30" fmla="*/ 0 w 144"/>
              <a:gd name="T31" fmla="*/ 78 h 144"/>
              <a:gd name="T32" fmla="*/ 12 w 144"/>
              <a:gd name="T33" fmla="*/ 83 h 144"/>
              <a:gd name="T34" fmla="*/ 23 w 144"/>
              <a:gd name="T35" fmla="*/ 98 h 144"/>
              <a:gd name="T36" fmla="*/ 17 w 144"/>
              <a:gd name="T37" fmla="*/ 111 h 144"/>
              <a:gd name="T38" fmla="*/ 25 w 144"/>
              <a:gd name="T39" fmla="*/ 127 h 144"/>
              <a:gd name="T40" fmla="*/ 38 w 144"/>
              <a:gd name="T41" fmla="*/ 122 h 144"/>
              <a:gd name="T42" fmla="*/ 56 w 144"/>
              <a:gd name="T43" fmla="*/ 125 h 144"/>
              <a:gd name="T44" fmla="*/ 61 w 144"/>
              <a:gd name="T45" fmla="*/ 138 h 144"/>
              <a:gd name="T46" fmla="*/ 78 w 144"/>
              <a:gd name="T47" fmla="*/ 144 h 144"/>
              <a:gd name="T48" fmla="*/ 83 w 144"/>
              <a:gd name="T49" fmla="*/ 132 h 144"/>
              <a:gd name="T50" fmla="*/ 98 w 144"/>
              <a:gd name="T51" fmla="*/ 121 h 144"/>
              <a:gd name="T52" fmla="*/ 111 w 144"/>
              <a:gd name="T53" fmla="*/ 127 h 144"/>
              <a:gd name="T54" fmla="*/ 127 w 144"/>
              <a:gd name="T55" fmla="*/ 119 h 144"/>
              <a:gd name="T56" fmla="*/ 122 w 144"/>
              <a:gd name="T57" fmla="*/ 106 h 144"/>
              <a:gd name="T58" fmla="*/ 125 w 144"/>
              <a:gd name="T59" fmla="*/ 88 h 144"/>
              <a:gd name="T60" fmla="*/ 138 w 144"/>
              <a:gd name="T61" fmla="*/ 83 h 144"/>
              <a:gd name="T62" fmla="*/ 144 w 144"/>
              <a:gd name="T63" fmla="*/ 66 h 144"/>
              <a:gd name="T64" fmla="*/ 100 w 144"/>
              <a:gd name="T65" fmla="*/ 72 h 144"/>
              <a:gd name="T66" fmla="*/ 44 w 144"/>
              <a:gd name="T67" fmla="*/ 72 h 144"/>
              <a:gd name="T68" fmla="*/ 100 w 144"/>
              <a:gd name="T69" fmla="*/ 72 h 1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144" h="144">
                <a:moveTo>
                  <a:pt x="138" y="61"/>
                </a:moveTo>
                <a:cubicBezTo>
                  <a:pt x="132" y="61"/>
                  <a:pt x="132" y="61"/>
                  <a:pt x="132" y="61"/>
                </a:cubicBezTo>
                <a:cubicBezTo>
                  <a:pt x="129" y="61"/>
                  <a:pt x="126" y="59"/>
                  <a:pt x="125" y="56"/>
                </a:cubicBezTo>
                <a:cubicBezTo>
                  <a:pt x="121" y="46"/>
                  <a:pt x="121" y="46"/>
                  <a:pt x="121" y="46"/>
                </a:cubicBezTo>
                <a:cubicBezTo>
                  <a:pt x="119" y="44"/>
                  <a:pt x="120" y="40"/>
                  <a:pt x="122" y="38"/>
                </a:cubicBezTo>
                <a:cubicBezTo>
                  <a:pt x="127" y="33"/>
                  <a:pt x="127" y="33"/>
                  <a:pt x="127" y="33"/>
                </a:cubicBezTo>
                <a:cubicBezTo>
                  <a:pt x="129" y="31"/>
                  <a:pt x="129" y="27"/>
                  <a:pt x="127" y="25"/>
                </a:cubicBezTo>
                <a:cubicBezTo>
                  <a:pt x="119" y="17"/>
                  <a:pt x="119" y="17"/>
                  <a:pt x="119" y="17"/>
                </a:cubicBezTo>
                <a:cubicBezTo>
                  <a:pt x="117" y="15"/>
                  <a:pt x="113" y="15"/>
                  <a:pt x="111" y="17"/>
                </a:cubicBezTo>
                <a:cubicBezTo>
                  <a:pt x="106" y="22"/>
                  <a:pt x="106" y="22"/>
                  <a:pt x="106" y="22"/>
                </a:cubicBezTo>
                <a:cubicBezTo>
                  <a:pt x="104" y="24"/>
                  <a:pt x="100" y="25"/>
                  <a:pt x="98" y="23"/>
                </a:cubicBezTo>
                <a:cubicBezTo>
                  <a:pt x="88" y="19"/>
                  <a:pt x="88" y="19"/>
                  <a:pt x="88" y="19"/>
                </a:cubicBezTo>
                <a:cubicBezTo>
                  <a:pt x="85" y="18"/>
                  <a:pt x="83" y="15"/>
                  <a:pt x="83" y="12"/>
                </a:cubicBezTo>
                <a:cubicBezTo>
                  <a:pt x="83" y="6"/>
                  <a:pt x="83" y="6"/>
                  <a:pt x="83" y="6"/>
                </a:cubicBezTo>
                <a:cubicBezTo>
                  <a:pt x="83" y="2"/>
                  <a:pt x="81" y="0"/>
                  <a:pt x="78" y="0"/>
                </a:cubicBezTo>
                <a:cubicBezTo>
                  <a:pt x="66" y="0"/>
                  <a:pt x="66" y="0"/>
                  <a:pt x="66" y="0"/>
                </a:cubicBezTo>
                <a:cubicBezTo>
                  <a:pt x="63" y="0"/>
                  <a:pt x="61" y="2"/>
                  <a:pt x="61" y="6"/>
                </a:cubicBezTo>
                <a:cubicBezTo>
                  <a:pt x="61" y="12"/>
                  <a:pt x="61" y="12"/>
                  <a:pt x="61" y="12"/>
                </a:cubicBezTo>
                <a:cubicBezTo>
                  <a:pt x="61" y="15"/>
                  <a:pt x="59" y="18"/>
                  <a:pt x="56" y="19"/>
                </a:cubicBezTo>
                <a:cubicBezTo>
                  <a:pt x="46" y="23"/>
                  <a:pt x="46" y="23"/>
                  <a:pt x="46" y="23"/>
                </a:cubicBezTo>
                <a:cubicBezTo>
                  <a:pt x="44" y="25"/>
                  <a:pt x="40" y="24"/>
                  <a:pt x="38" y="22"/>
                </a:cubicBezTo>
                <a:cubicBezTo>
                  <a:pt x="33" y="17"/>
                  <a:pt x="33" y="17"/>
                  <a:pt x="33" y="17"/>
                </a:cubicBezTo>
                <a:cubicBezTo>
                  <a:pt x="31" y="15"/>
                  <a:pt x="27" y="15"/>
                  <a:pt x="25" y="17"/>
                </a:cubicBezTo>
                <a:cubicBezTo>
                  <a:pt x="17" y="25"/>
                  <a:pt x="17" y="25"/>
                  <a:pt x="17" y="25"/>
                </a:cubicBezTo>
                <a:cubicBezTo>
                  <a:pt x="15" y="27"/>
                  <a:pt x="15" y="31"/>
                  <a:pt x="17" y="33"/>
                </a:cubicBezTo>
                <a:cubicBezTo>
                  <a:pt x="22" y="38"/>
                  <a:pt x="22" y="38"/>
                  <a:pt x="22" y="38"/>
                </a:cubicBezTo>
                <a:cubicBezTo>
                  <a:pt x="24" y="40"/>
                  <a:pt x="25" y="44"/>
                  <a:pt x="23" y="46"/>
                </a:cubicBezTo>
                <a:cubicBezTo>
                  <a:pt x="19" y="56"/>
                  <a:pt x="19" y="56"/>
                  <a:pt x="19" y="56"/>
                </a:cubicBezTo>
                <a:cubicBezTo>
                  <a:pt x="18" y="59"/>
                  <a:pt x="15" y="61"/>
                  <a:pt x="12" y="61"/>
                </a:cubicBezTo>
                <a:cubicBezTo>
                  <a:pt x="6" y="61"/>
                  <a:pt x="6" y="61"/>
                  <a:pt x="6" y="61"/>
                </a:cubicBezTo>
                <a:cubicBezTo>
                  <a:pt x="2" y="61"/>
                  <a:pt x="0" y="63"/>
                  <a:pt x="0" y="66"/>
                </a:cubicBezTo>
                <a:cubicBezTo>
                  <a:pt x="0" y="78"/>
                  <a:pt x="0" y="78"/>
                  <a:pt x="0" y="78"/>
                </a:cubicBezTo>
                <a:cubicBezTo>
                  <a:pt x="0" y="81"/>
                  <a:pt x="2" y="83"/>
                  <a:pt x="6" y="83"/>
                </a:cubicBezTo>
                <a:cubicBezTo>
                  <a:pt x="12" y="83"/>
                  <a:pt x="12" y="83"/>
                  <a:pt x="12" y="83"/>
                </a:cubicBezTo>
                <a:cubicBezTo>
                  <a:pt x="15" y="83"/>
                  <a:pt x="18" y="85"/>
                  <a:pt x="19" y="88"/>
                </a:cubicBezTo>
                <a:cubicBezTo>
                  <a:pt x="23" y="98"/>
                  <a:pt x="23" y="98"/>
                  <a:pt x="23" y="98"/>
                </a:cubicBezTo>
                <a:cubicBezTo>
                  <a:pt x="25" y="100"/>
                  <a:pt x="24" y="104"/>
                  <a:pt x="22" y="106"/>
                </a:cubicBezTo>
                <a:cubicBezTo>
                  <a:pt x="17" y="111"/>
                  <a:pt x="17" y="111"/>
                  <a:pt x="17" y="111"/>
                </a:cubicBezTo>
                <a:cubicBezTo>
                  <a:pt x="15" y="113"/>
                  <a:pt x="15" y="117"/>
                  <a:pt x="17" y="119"/>
                </a:cubicBezTo>
                <a:cubicBezTo>
                  <a:pt x="25" y="127"/>
                  <a:pt x="25" y="127"/>
                  <a:pt x="25" y="127"/>
                </a:cubicBezTo>
                <a:cubicBezTo>
                  <a:pt x="27" y="129"/>
                  <a:pt x="31" y="129"/>
                  <a:pt x="33" y="127"/>
                </a:cubicBezTo>
                <a:cubicBezTo>
                  <a:pt x="38" y="122"/>
                  <a:pt x="38" y="122"/>
                  <a:pt x="38" y="122"/>
                </a:cubicBezTo>
                <a:cubicBezTo>
                  <a:pt x="40" y="120"/>
                  <a:pt x="44" y="119"/>
                  <a:pt x="46" y="121"/>
                </a:cubicBezTo>
                <a:cubicBezTo>
                  <a:pt x="56" y="125"/>
                  <a:pt x="56" y="125"/>
                  <a:pt x="56" y="125"/>
                </a:cubicBezTo>
                <a:cubicBezTo>
                  <a:pt x="59" y="126"/>
                  <a:pt x="61" y="129"/>
                  <a:pt x="61" y="132"/>
                </a:cubicBezTo>
                <a:cubicBezTo>
                  <a:pt x="61" y="138"/>
                  <a:pt x="61" y="138"/>
                  <a:pt x="61" y="138"/>
                </a:cubicBezTo>
                <a:cubicBezTo>
                  <a:pt x="61" y="142"/>
                  <a:pt x="63" y="144"/>
                  <a:pt x="66" y="144"/>
                </a:cubicBezTo>
                <a:cubicBezTo>
                  <a:pt x="78" y="144"/>
                  <a:pt x="78" y="144"/>
                  <a:pt x="78" y="144"/>
                </a:cubicBezTo>
                <a:cubicBezTo>
                  <a:pt x="81" y="144"/>
                  <a:pt x="83" y="142"/>
                  <a:pt x="83" y="138"/>
                </a:cubicBezTo>
                <a:cubicBezTo>
                  <a:pt x="83" y="132"/>
                  <a:pt x="83" y="132"/>
                  <a:pt x="83" y="132"/>
                </a:cubicBezTo>
                <a:cubicBezTo>
                  <a:pt x="83" y="129"/>
                  <a:pt x="85" y="126"/>
                  <a:pt x="88" y="125"/>
                </a:cubicBezTo>
                <a:cubicBezTo>
                  <a:pt x="98" y="121"/>
                  <a:pt x="98" y="121"/>
                  <a:pt x="98" y="121"/>
                </a:cubicBezTo>
                <a:cubicBezTo>
                  <a:pt x="100" y="119"/>
                  <a:pt x="104" y="120"/>
                  <a:pt x="106" y="122"/>
                </a:cubicBezTo>
                <a:cubicBezTo>
                  <a:pt x="111" y="127"/>
                  <a:pt x="111" y="127"/>
                  <a:pt x="111" y="127"/>
                </a:cubicBezTo>
                <a:cubicBezTo>
                  <a:pt x="113" y="129"/>
                  <a:pt x="117" y="129"/>
                  <a:pt x="119" y="127"/>
                </a:cubicBezTo>
                <a:cubicBezTo>
                  <a:pt x="127" y="119"/>
                  <a:pt x="127" y="119"/>
                  <a:pt x="127" y="119"/>
                </a:cubicBezTo>
                <a:cubicBezTo>
                  <a:pt x="129" y="117"/>
                  <a:pt x="129" y="113"/>
                  <a:pt x="127" y="111"/>
                </a:cubicBezTo>
                <a:cubicBezTo>
                  <a:pt x="122" y="106"/>
                  <a:pt x="122" y="106"/>
                  <a:pt x="122" y="106"/>
                </a:cubicBezTo>
                <a:cubicBezTo>
                  <a:pt x="120" y="104"/>
                  <a:pt x="119" y="100"/>
                  <a:pt x="121" y="98"/>
                </a:cubicBezTo>
                <a:cubicBezTo>
                  <a:pt x="125" y="88"/>
                  <a:pt x="125" y="88"/>
                  <a:pt x="125" y="88"/>
                </a:cubicBezTo>
                <a:cubicBezTo>
                  <a:pt x="126" y="85"/>
                  <a:pt x="129" y="83"/>
                  <a:pt x="132" y="83"/>
                </a:cubicBezTo>
                <a:cubicBezTo>
                  <a:pt x="138" y="83"/>
                  <a:pt x="138" y="83"/>
                  <a:pt x="138" y="83"/>
                </a:cubicBezTo>
                <a:cubicBezTo>
                  <a:pt x="142" y="83"/>
                  <a:pt x="144" y="81"/>
                  <a:pt x="144" y="78"/>
                </a:cubicBezTo>
                <a:cubicBezTo>
                  <a:pt x="144" y="66"/>
                  <a:pt x="144" y="66"/>
                  <a:pt x="144" y="66"/>
                </a:cubicBezTo>
                <a:cubicBezTo>
                  <a:pt x="144" y="63"/>
                  <a:pt x="142" y="61"/>
                  <a:pt x="138" y="61"/>
                </a:cubicBezTo>
                <a:moveTo>
                  <a:pt x="100" y="72"/>
                </a:moveTo>
                <a:cubicBezTo>
                  <a:pt x="100" y="87"/>
                  <a:pt x="87" y="100"/>
                  <a:pt x="72" y="100"/>
                </a:cubicBezTo>
                <a:cubicBezTo>
                  <a:pt x="57" y="100"/>
                  <a:pt x="44" y="87"/>
                  <a:pt x="44" y="72"/>
                </a:cubicBezTo>
                <a:cubicBezTo>
                  <a:pt x="44" y="57"/>
                  <a:pt x="57" y="44"/>
                  <a:pt x="72" y="44"/>
                </a:cubicBezTo>
                <a:cubicBezTo>
                  <a:pt x="87" y="44"/>
                  <a:pt x="100" y="57"/>
                  <a:pt x="100" y="72"/>
                </a:cubicBezTo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5" name="TextBox 4"/>
          <p:cNvSpPr txBox="1"/>
          <p:nvPr/>
        </p:nvSpPr>
        <p:spPr>
          <a:xfrm>
            <a:off x="1029653" y="1290918"/>
            <a:ext cx="5044971" cy="36933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版本：</a:t>
            </a:r>
            <a:r>
              <a:rPr lang="en-US" altLang="zh-CN" dirty="0" err="1" smtClean="0">
                <a:latin typeface="微软雅黑" pitchFamily="34" charset="-122"/>
                <a:ea typeface="微软雅黑" pitchFamily="34" charset="-122"/>
              </a:rPr>
              <a:t>Redis</a:t>
            </a:r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 4.0.9</a:t>
            </a:r>
          </a:p>
          <a:p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部署方式：哨兵模式一主两从三哨兵</a:t>
            </a:r>
            <a:endParaRPr lang="en-US" altLang="zh-CN" dirty="0" smtClean="0">
              <a:latin typeface="微软雅黑" pitchFamily="34" charset="-122"/>
              <a:ea typeface="微软雅黑" pitchFamily="34" charset="-122"/>
            </a:endParaRPr>
          </a:p>
          <a:p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RDB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和</a:t>
            </a:r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AOF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均禁用</a:t>
            </a:r>
            <a:endParaRPr lang="en-US" altLang="zh-CN" dirty="0" smtClean="0">
              <a:latin typeface="微软雅黑" pitchFamily="34" charset="-122"/>
              <a:ea typeface="微软雅黑" pitchFamily="34" charset="-122"/>
            </a:endParaRPr>
          </a:p>
          <a:p>
            <a:endParaRPr lang="en-US" altLang="zh-CN" dirty="0">
              <a:latin typeface="微软雅黑" pitchFamily="34" charset="-122"/>
              <a:ea typeface="微软雅黑" pitchFamily="34" charset="-122"/>
            </a:endParaRPr>
          </a:p>
          <a:p>
            <a:endParaRPr lang="en-US" altLang="zh-CN" dirty="0" smtClean="0">
              <a:latin typeface="微软雅黑" pitchFamily="34" charset="-122"/>
              <a:ea typeface="微软雅黑" pitchFamily="34" charset="-122"/>
            </a:endParaRPr>
          </a:p>
          <a:p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应用场景：</a:t>
            </a:r>
            <a:endParaRPr lang="en-US" altLang="zh-CN" dirty="0" smtClean="0">
              <a:latin typeface="微软雅黑" pitchFamily="34" charset="-122"/>
              <a:ea typeface="微软雅黑" pitchFamily="34" charset="-122"/>
            </a:endParaRPr>
          </a:p>
          <a:p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1.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缓存</a:t>
            </a:r>
            <a:endParaRPr lang="en-US" altLang="zh-CN" dirty="0" smtClean="0">
              <a:latin typeface="微软雅黑" pitchFamily="34" charset="-122"/>
              <a:ea typeface="微软雅黑" pitchFamily="34" charset="-122"/>
            </a:endParaRPr>
          </a:p>
          <a:p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2.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对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账集合运算</a:t>
            </a:r>
            <a:endParaRPr lang="en-US" altLang="zh-CN" dirty="0" smtClean="0">
              <a:latin typeface="微软雅黑" pitchFamily="34" charset="-122"/>
              <a:ea typeface="微软雅黑" pitchFamily="34" charset="-122"/>
            </a:endParaRPr>
          </a:p>
          <a:p>
            <a:endParaRPr lang="en-US" altLang="zh-CN" dirty="0">
              <a:latin typeface="微软雅黑" pitchFamily="34" charset="-122"/>
              <a:ea typeface="微软雅黑" pitchFamily="34" charset="-122"/>
            </a:endParaRPr>
          </a:p>
          <a:p>
            <a:endParaRPr lang="en-US" altLang="zh-CN" dirty="0" smtClean="0">
              <a:latin typeface="微软雅黑" pitchFamily="34" charset="-122"/>
              <a:ea typeface="微软雅黑" pitchFamily="34" charset="-122"/>
            </a:endParaRPr>
          </a:p>
          <a:p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Q: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关于后续使用和开发需要注意的事项有哪些？</a:t>
            </a:r>
            <a:endParaRPr lang="en-US" altLang="zh-CN" dirty="0">
              <a:latin typeface="微软雅黑" pitchFamily="34" charset="-122"/>
              <a:ea typeface="微软雅黑" pitchFamily="34" charset="-122"/>
            </a:endParaRPr>
          </a:p>
          <a:p>
            <a:endParaRPr lang="en-US" altLang="zh-CN" dirty="0" smtClean="0">
              <a:latin typeface="微软雅黑" pitchFamily="34" charset="-122"/>
              <a:ea typeface="微软雅黑" pitchFamily="34" charset="-122"/>
            </a:endParaRPr>
          </a:p>
          <a:p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28841" y="0"/>
            <a:ext cx="2763159" cy="10567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72652371"/>
      </p:ext>
    </p:extLst>
  </p:cSld>
  <p:clrMapOvr>
    <a:masterClrMapping/>
  </p:clrMapOvr>
  <p:transition spd="slow" advClick="0" advTm="0">
    <p:push dir="u"/>
  </p:transition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8" presetClass="entr" presetSubtype="16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0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3" dur="2000"/>
                                        <p:tgtEl>
                                          <p:spTgt spid="3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0" grpId="0"/>
      <p:bldP spid="10" grpId="1"/>
      <p:bldP spid="375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73967" y="2560320"/>
            <a:ext cx="645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3173504" y="1960156"/>
            <a:ext cx="5346551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6000" dirty="0" smtClean="0">
                <a:solidFill>
                  <a:schemeClr val="tx2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</a:rPr>
              <a:t>感谢各位聆听！</a:t>
            </a:r>
            <a:endParaRPr lang="en-US" altLang="zh-CN" sz="6000" dirty="0" smtClean="0">
              <a:solidFill>
                <a:schemeClr val="tx2">
                  <a:lumMod val="7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algn="ctr"/>
            <a:r>
              <a:rPr lang="en-US" altLang="zh-CN" sz="60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Q&amp;A</a:t>
            </a:r>
            <a:endParaRPr lang="zh-CN" altLang="en-US" sz="6000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28841" y="0"/>
            <a:ext cx="2763159" cy="10567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744587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127160a5-3e3b-4810-8159-fe57806f6d29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127160a5-3e3b-4810-8159-fe57806f6d29"/>
</p:tagLst>
</file>

<file path=ppt/theme/theme1.xml><?xml version="1.0" encoding="utf-8"?>
<a:theme xmlns:a="http://schemas.openxmlformats.org/drawingml/2006/main" name="更多作品请在稻壳儿搜索艺随风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1438</TotalTime>
  <Words>1072</Words>
  <Application>Microsoft Office PowerPoint</Application>
  <PresentationFormat>自定义</PresentationFormat>
  <Paragraphs>334</Paragraphs>
  <Slides>24</Slides>
  <Notes>22</Notes>
  <HiddenSlides>0</HiddenSlides>
  <MMClips>0</MMClips>
  <ScaleCrop>false</ScaleCrop>
  <HeadingPairs>
    <vt:vector size="6" baseType="variant"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26" baseType="lpstr">
      <vt:lpstr>更多作品请在稻壳儿搜索艺随风</vt:lpstr>
      <vt:lpstr>Visio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akazaM</dc:creator>
  <cp:lastModifiedBy>王标</cp:lastModifiedBy>
  <cp:revision>491</cp:revision>
  <dcterms:created xsi:type="dcterms:W3CDTF">2015-05-05T08:02:00Z</dcterms:created>
  <dcterms:modified xsi:type="dcterms:W3CDTF">2019-07-05T08:50:41Z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2052-10.1.0.7106</vt:lpwstr>
  </property>
</Properties>
</file>
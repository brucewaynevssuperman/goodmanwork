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58" r:id="rId3"/>
    <p:sldId id="259" r:id="rId4"/>
    <p:sldId id="312" r:id="rId5"/>
    <p:sldId id="324" r:id="rId6"/>
    <p:sldId id="311" r:id="rId7"/>
    <p:sldId id="313" r:id="rId8"/>
    <p:sldId id="291" r:id="rId9"/>
    <p:sldId id="314" r:id="rId10"/>
    <p:sldId id="315" r:id="rId11"/>
    <p:sldId id="322" r:id="rId12"/>
    <p:sldId id="294" r:id="rId13"/>
    <p:sldId id="321" r:id="rId14"/>
    <p:sldId id="317" r:id="rId15"/>
    <p:sldId id="292" r:id="rId16"/>
    <p:sldId id="320" r:id="rId17"/>
    <p:sldId id="301" r:id="rId18"/>
    <p:sldId id="302" r:id="rId19"/>
    <p:sldId id="318" r:id="rId20"/>
    <p:sldId id="319" r:id="rId21"/>
    <p:sldId id="303" r:id="rId22"/>
    <p:sldId id="304" r:id="rId23"/>
    <p:sldId id="306" r:id="rId24"/>
    <p:sldId id="308" r:id="rId25"/>
    <p:sldId id="307" r:id="rId26"/>
    <p:sldId id="309" r:id="rId27"/>
    <p:sldId id="310" r:id="rId28"/>
    <p:sldId id="289" r:id="rId2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09" autoAdjust="0"/>
    <p:restoredTop sz="92555" autoAdjust="0"/>
  </p:normalViewPr>
  <p:slideViewPr>
    <p:cSldViewPr>
      <p:cViewPr>
        <p:scale>
          <a:sx n="100" d="100"/>
          <a:sy n="100" d="100"/>
        </p:scale>
        <p:origin x="-558" y="5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77DDEC-502C-4261-BB9A-99EC0BB2BFCC}"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zh-CN" altLang="en-US"/>
        </a:p>
      </dgm:t>
    </dgm:pt>
    <dgm:pt modelId="{307B0355-7BC3-4C37-A203-079A3C3F6614}">
      <dgm:prSet phldrT="[文本]">
        <dgm:style>
          <a:lnRef idx="2">
            <a:schemeClr val="accent3">
              <a:shade val="50000"/>
            </a:schemeClr>
          </a:lnRef>
          <a:fillRef idx="1">
            <a:schemeClr val="accent3"/>
          </a:fillRef>
          <a:effectRef idx="0">
            <a:schemeClr val="accent3"/>
          </a:effectRef>
          <a:fontRef idx="minor">
            <a:schemeClr val="lt1"/>
          </a:fontRef>
        </dgm:style>
      </dgm:prSet>
      <dgm:spPr/>
      <dgm:t>
        <a:bodyPr/>
        <a:lstStyle/>
        <a:p>
          <a:r>
            <a:rPr lang="en-US" altLang="zh-CN" dirty="0" smtClean="0">
              <a:latin typeface="微软雅黑" pitchFamily="34" charset="-122"/>
              <a:ea typeface="微软雅黑" pitchFamily="34" charset="-122"/>
            </a:rPr>
            <a:t>2</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MySQL</a:t>
          </a:r>
          <a:r>
            <a:rPr lang="zh-CN" altLang="en-US" dirty="0" smtClean="0">
              <a:latin typeface="微软雅黑" pitchFamily="34" charset="-122"/>
              <a:ea typeface="微软雅黑" pitchFamily="34" charset="-122"/>
            </a:rPr>
            <a:t>索引基本使用</a:t>
          </a:r>
          <a:endParaRPr lang="zh-CN" altLang="en-US" dirty="0">
            <a:latin typeface="微软雅黑" pitchFamily="34" charset="-122"/>
            <a:ea typeface="微软雅黑" pitchFamily="34" charset="-122"/>
          </a:endParaRPr>
        </a:p>
      </dgm:t>
    </dgm:pt>
    <dgm:pt modelId="{85B1B3B1-3D8D-46FE-AD85-758570DF86BE}" type="parTrans" cxnId="{6FE0DDBA-6158-4A54-9A24-07124439B017}">
      <dgm:prSet/>
      <dgm:spPr/>
      <dgm:t>
        <a:bodyPr/>
        <a:lstStyle/>
        <a:p>
          <a:endParaRPr lang="zh-CN" altLang="en-US">
            <a:latin typeface="微软雅黑" pitchFamily="34" charset="-122"/>
            <a:ea typeface="微软雅黑" pitchFamily="34" charset="-122"/>
          </a:endParaRPr>
        </a:p>
      </dgm:t>
    </dgm:pt>
    <dgm:pt modelId="{EF918857-9F24-4F11-A8A0-0518635F00AD}" type="sibTrans" cxnId="{6FE0DDBA-6158-4A54-9A24-07124439B017}">
      <dgm:prSet/>
      <dgm:spPr/>
      <dgm:t>
        <a:bodyPr/>
        <a:lstStyle/>
        <a:p>
          <a:endParaRPr lang="zh-CN" altLang="en-US">
            <a:latin typeface="微软雅黑" pitchFamily="34" charset="-122"/>
            <a:ea typeface="微软雅黑" pitchFamily="34" charset="-122"/>
          </a:endParaRPr>
        </a:p>
      </dgm:t>
    </dgm:pt>
    <dgm:pt modelId="{34E22613-2FF9-454D-AA70-8C305A1175AE}">
      <dgm:prSet phldrT="[文本]">
        <dgm:style>
          <a:lnRef idx="1">
            <a:schemeClr val="accent2"/>
          </a:lnRef>
          <a:fillRef idx="3">
            <a:schemeClr val="accent2"/>
          </a:fillRef>
          <a:effectRef idx="2">
            <a:schemeClr val="accent2"/>
          </a:effectRef>
          <a:fontRef idx="minor">
            <a:schemeClr val="lt1"/>
          </a:fontRef>
        </dgm:style>
      </dgm:prSet>
      <dgm:spPr/>
      <dgm:t>
        <a:bodyPr/>
        <a:lstStyle/>
        <a:p>
          <a:r>
            <a:rPr lang="en-US" altLang="zh-CN" dirty="0" smtClean="0">
              <a:latin typeface="微软雅黑" pitchFamily="34" charset="-122"/>
              <a:ea typeface="微软雅黑" pitchFamily="34" charset="-122"/>
            </a:rPr>
            <a:t>3</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MySQL</a:t>
          </a:r>
          <a:r>
            <a:rPr lang="zh-CN" altLang="en-US" dirty="0" smtClean="0">
              <a:latin typeface="微软雅黑" pitchFamily="34" charset="-122"/>
              <a:ea typeface="微软雅黑" pitchFamily="34" charset="-122"/>
            </a:rPr>
            <a:t>索引注意事项</a:t>
          </a:r>
          <a:endParaRPr lang="en-US" altLang="zh-CN" dirty="0" smtClean="0">
            <a:latin typeface="微软雅黑" pitchFamily="34" charset="-122"/>
            <a:ea typeface="微软雅黑" pitchFamily="34" charset="-122"/>
          </a:endParaRPr>
        </a:p>
      </dgm:t>
    </dgm:pt>
    <dgm:pt modelId="{A03A043E-6046-4632-A3FE-82CD576CF270}" type="parTrans" cxnId="{30FB2CB0-A7A8-4E8A-BDFF-306EEB3CD0B5}">
      <dgm:prSet/>
      <dgm:spPr/>
      <dgm:t>
        <a:bodyPr/>
        <a:lstStyle/>
        <a:p>
          <a:endParaRPr lang="zh-CN" altLang="en-US">
            <a:latin typeface="微软雅黑" pitchFamily="34" charset="-122"/>
            <a:ea typeface="微软雅黑" pitchFamily="34" charset="-122"/>
          </a:endParaRPr>
        </a:p>
      </dgm:t>
    </dgm:pt>
    <dgm:pt modelId="{DBE7DC73-4E02-43A9-8C6F-91CC2C2B0222}" type="sibTrans" cxnId="{30FB2CB0-A7A8-4E8A-BDFF-306EEB3CD0B5}">
      <dgm:prSet/>
      <dgm:spPr/>
      <dgm:t>
        <a:bodyPr/>
        <a:lstStyle/>
        <a:p>
          <a:endParaRPr lang="zh-CN" altLang="en-US">
            <a:latin typeface="微软雅黑" pitchFamily="34" charset="-122"/>
            <a:ea typeface="微软雅黑" pitchFamily="34" charset="-122"/>
          </a:endParaRPr>
        </a:p>
      </dgm:t>
    </dgm:pt>
    <dgm:pt modelId="{C8153F31-9C23-4402-8EC3-5A9C99F395BD}">
      <dgm:prSet phldrT="[文本]">
        <dgm:style>
          <a:lnRef idx="0">
            <a:schemeClr val="accent1"/>
          </a:lnRef>
          <a:fillRef idx="3">
            <a:schemeClr val="accent1"/>
          </a:fillRef>
          <a:effectRef idx="3">
            <a:schemeClr val="accent1"/>
          </a:effectRef>
          <a:fontRef idx="minor">
            <a:schemeClr val="lt1"/>
          </a:fontRef>
        </dgm:style>
      </dgm:prSet>
      <dgm:spPr/>
      <dgm:t>
        <a:bodyPr/>
        <a:lstStyle/>
        <a:p>
          <a:r>
            <a:rPr lang="en-US" altLang="zh-CN" dirty="0" smtClean="0">
              <a:latin typeface="微软雅黑" pitchFamily="34" charset="-122"/>
              <a:ea typeface="微软雅黑" pitchFamily="34" charset="-122"/>
            </a:rPr>
            <a:t>4</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MySQL</a:t>
          </a:r>
          <a:r>
            <a:rPr lang="zh-CN" altLang="en-US" dirty="0" smtClean="0">
              <a:latin typeface="微软雅黑" pitchFamily="34" charset="-122"/>
              <a:ea typeface="微软雅黑" pitchFamily="34" charset="-122"/>
            </a:rPr>
            <a:t>索引优化</a:t>
          </a:r>
          <a:endParaRPr lang="en-US" altLang="zh-CN" dirty="0" smtClean="0">
            <a:latin typeface="微软雅黑" pitchFamily="34" charset="-122"/>
            <a:ea typeface="微软雅黑" pitchFamily="34" charset="-122"/>
          </a:endParaRPr>
        </a:p>
      </dgm:t>
    </dgm:pt>
    <dgm:pt modelId="{C92CAD41-7C82-4161-929B-8B6CE4E381A8}" type="parTrans" cxnId="{22898F5B-E02D-4E82-B1CE-9A6631028327}">
      <dgm:prSet/>
      <dgm:spPr/>
      <dgm:t>
        <a:bodyPr/>
        <a:lstStyle/>
        <a:p>
          <a:endParaRPr lang="zh-CN" altLang="en-US">
            <a:latin typeface="微软雅黑" pitchFamily="34" charset="-122"/>
            <a:ea typeface="微软雅黑" pitchFamily="34" charset="-122"/>
          </a:endParaRPr>
        </a:p>
      </dgm:t>
    </dgm:pt>
    <dgm:pt modelId="{0AD61BC0-A29A-4FEB-8287-6DB0AE18ECDE}" type="sibTrans" cxnId="{22898F5B-E02D-4E82-B1CE-9A6631028327}">
      <dgm:prSet/>
      <dgm:spPr/>
      <dgm:t>
        <a:bodyPr/>
        <a:lstStyle/>
        <a:p>
          <a:endParaRPr lang="zh-CN" altLang="en-US">
            <a:latin typeface="微软雅黑" pitchFamily="34" charset="-122"/>
            <a:ea typeface="微软雅黑" pitchFamily="34" charset="-122"/>
          </a:endParaRPr>
        </a:p>
      </dgm:t>
    </dgm:pt>
    <dgm:pt modelId="{15969F5F-735D-4C75-A66D-5862BA7E4C1F}">
      <dgm:prSet phldrT="[文本]">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en-US" altLang="zh-CN" dirty="0" smtClean="0">
              <a:latin typeface="微软雅黑" pitchFamily="34" charset="-122"/>
              <a:ea typeface="微软雅黑" pitchFamily="34" charset="-122"/>
            </a:rPr>
            <a:t>1</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MySQL</a:t>
          </a:r>
          <a:r>
            <a:rPr lang="zh-CN" altLang="en-US" dirty="0" smtClean="0">
              <a:latin typeface="微软雅黑" pitchFamily="34" charset="-122"/>
              <a:ea typeface="微软雅黑" pitchFamily="34" charset="-122"/>
            </a:rPr>
            <a:t>索引简介</a:t>
          </a:r>
          <a:endParaRPr lang="zh-CN" altLang="en-US" dirty="0">
            <a:latin typeface="微软雅黑" pitchFamily="34" charset="-122"/>
            <a:ea typeface="微软雅黑" pitchFamily="34" charset="-122"/>
          </a:endParaRPr>
        </a:p>
      </dgm:t>
    </dgm:pt>
    <dgm:pt modelId="{B7E82F4D-EE35-4FA7-BC6E-D827F29A49EE}" type="parTrans" cxnId="{EE1F29D3-D2C1-4BE5-9241-FDFFD209CCB1}">
      <dgm:prSet/>
      <dgm:spPr/>
      <dgm:t>
        <a:bodyPr/>
        <a:lstStyle/>
        <a:p>
          <a:endParaRPr lang="zh-CN" altLang="en-US">
            <a:latin typeface="微软雅黑" pitchFamily="34" charset="-122"/>
            <a:ea typeface="微软雅黑" pitchFamily="34" charset="-122"/>
          </a:endParaRPr>
        </a:p>
      </dgm:t>
    </dgm:pt>
    <dgm:pt modelId="{EFAB3FC9-653E-40EB-982C-9073719AF9D9}" type="sibTrans" cxnId="{EE1F29D3-D2C1-4BE5-9241-FDFFD209CCB1}">
      <dgm:prSet/>
      <dgm:spPr/>
      <dgm:t>
        <a:bodyPr/>
        <a:lstStyle/>
        <a:p>
          <a:endParaRPr lang="zh-CN" altLang="en-US">
            <a:latin typeface="微软雅黑" pitchFamily="34" charset="-122"/>
            <a:ea typeface="微软雅黑" pitchFamily="34" charset="-122"/>
          </a:endParaRPr>
        </a:p>
      </dgm:t>
    </dgm:pt>
    <dgm:pt modelId="{F2C78E01-6E8B-4D35-AC16-1A18C141EEE9}" type="pres">
      <dgm:prSet presAssocID="{2977DDEC-502C-4261-BB9A-99EC0BB2BFCC}" presName="linear" presStyleCnt="0">
        <dgm:presLayoutVars>
          <dgm:dir/>
          <dgm:animLvl val="lvl"/>
          <dgm:resizeHandles val="exact"/>
        </dgm:presLayoutVars>
      </dgm:prSet>
      <dgm:spPr/>
      <dgm:t>
        <a:bodyPr/>
        <a:lstStyle/>
        <a:p>
          <a:endParaRPr lang="zh-CN" altLang="en-US"/>
        </a:p>
      </dgm:t>
    </dgm:pt>
    <dgm:pt modelId="{1882A56C-841C-46D0-80BF-F708D59AE0D3}" type="pres">
      <dgm:prSet presAssocID="{15969F5F-735D-4C75-A66D-5862BA7E4C1F}" presName="parentLin" presStyleCnt="0"/>
      <dgm:spPr/>
    </dgm:pt>
    <dgm:pt modelId="{12A0AB29-116A-419D-BB79-D71030411527}" type="pres">
      <dgm:prSet presAssocID="{15969F5F-735D-4C75-A66D-5862BA7E4C1F}" presName="parentLeftMargin" presStyleLbl="node1" presStyleIdx="0" presStyleCnt="4"/>
      <dgm:spPr/>
      <dgm:t>
        <a:bodyPr/>
        <a:lstStyle/>
        <a:p>
          <a:endParaRPr lang="zh-CN" altLang="en-US"/>
        </a:p>
      </dgm:t>
    </dgm:pt>
    <dgm:pt modelId="{92E89D3A-3459-47AC-9FAE-C17BBA63E962}" type="pres">
      <dgm:prSet presAssocID="{15969F5F-735D-4C75-A66D-5862BA7E4C1F}" presName="parentText" presStyleLbl="node1" presStyleIdx="0" presStyleCnt="4">
        <dgm:presLayoutVars>
          <dgm:chMax val="0"/>
          <dgm:bulletEnabled val="1"/>
        </dgm:presLayoutVars>
      </dgm:prSet>
      <dgm:spPr/>
      <dgm:t>
        <a:bodyPr/>
        <a:lstStyle/>
        <a:p>
          <a:endParaRPr lang="zh-CN" altLang="en-US"/>
        </a:p>
      </dgm:t>
    </dgm:pt>
    <dgm:pt modelId="{B4BD068E-CDF2-428F-A47C-E7BBC6EA39EF}" type="pres">
      <dgm:prSet presAssocID="{15969F5F-735D-4C75-A66D-5862BA7E4C1F}" presName="negativeSpace" presStyleCnt="0"/>
      <dgm:spPr/>
    </dgm:pt>
    <dgm:pt modelId="{1106C14A-EB50-4AB5-BCF8-0B6C39AA3343}" type="pres">
      <dgm:prSet presAssocID="{15969F5F-735D-4C75-A66D-5862BA7E4C1F}" presName="childText" presStyleLbl="conFgAcc1" presStyleIdx="0" presStyleCnt="4">
        <dgm:presLayoutVars>
          <dgm:bulletEnabled val="1"/>
        </dgm:presLayoutVars>
      </dgm:prSet>
      <dgm:spPr/>
    </dgm:pt>
    <dgm:pt modelId="{3C33D810-E56E-4250-A221-B49EBD76066E}" type="pres">
      <dgm:prSet presAssocID="{EFAB3FC9-653E-40EB-982C-9073719AF9D9}" presName="spaceBetweenRectangles" presStyleCnt="0"/>
      <dgm:spPr/>
    </dgm:pt>
    <dgm:pt modelId="{B6425B6D-12B5-4712-ACBF-C2113ABCE374}" type="pres">
      <dgm:prSet presAssocID="{307B0355-7BC3-4C37-A203-079A3C3F6614}" presName="parentLin" presStyleCnt="0"/>
      <dgm:spPr/>
      <dgm:t>
        <a:bodyPr/>
        <a:lstStyle/>
        <a:p>
          <a:endParaRPr lang="zh-CN" altLang="en-US"/>
        </a:p>
      </dgm:t>
    </dgm:pt>
    <dgm:pt modelId="{709AE6A8-055B-454A-A02B-E4E7F729DD91}" type="pres">
      <dgm:prSet presAssocID="{307B0355-7BC3-4C37-A203-079A3C3F6614}" presName="parentLeftMargin" presStyleLbl="node1" presStyleIdx="0" presStyleCnt="4"/>
      <dgm:spPr/>
      <dgm:t>
        <a:bodyPr/>
        <a:lstStyle/>
        <a:p>
          <a:endParaRPr lang="zh-CN" altLang="en-US"/>
        </a:p>
      </dgm:t>
    </dgm:pt>
    <dgm:pt modelId="{DDEB2F94-4AE3-4A2A-A8DB-C41E6397E24C}" type="pres">
      <dgm:prSet presAssocID="{307B0355-7BC3-4C37-A203-079A3C3F6614}" presName="parentText" presStyleLbl="node1" presStyleIdx="1" presStyleCnt="4">
        <dgm:presLayoutVars>
          <dgm:chMax val="0"/>
          <dgm:bulletEnabled val="1"/>
        </dgm:presLayoutVars>
      </dgm:prSet>
      <dgm:spPr/>
      <dgm:t>
        <a:bodyPr/>
        <a:lstStyle/>
        <a:p>
          <a:endParaRPr lang="zh-CN" altLang="en-US"/>
        </a:p>
      </dgm:t>
    </dgm:pt>
    <dgm:pt modelId="{8D8B4526-03FC-44C2-92EB-4F8B9A53AD7A}" type="pres">
      <dgm:prSet presAssocID="{307B0355-7BC3-4C37-A203-079A3C3F6614}" presName="negativeSpace" presStyleCnt="0"/>
      <dgm:spPr/>
      <dgm:t>
        <a:bodyPr/>
        <a:lstStyle/>
        <a:p>
          <a:endParaRPr lang="zh-CN" altLang="en-US"/>
        </a:p>
      </dgm:t>
    </dgm:pt>
    <dgm:pt modelId="{301F4945-2654-4892-BCC5-36B2F510A36D}" type="pres">
      <dgm:prSet presAssocID="{307B0355-7BC3-4C37-A203-079A3C3F6614}" presName="childText" presStyleLbl="conFgAcc1" presStyleIdx="1" presStyleCnt="4">
        <dgm:presLayoutVars>
          <dgm:bulletEnabled val="1"/>
        </dgm:presLayoutVars>
      </dgm:prSet>
      <dgm:spPr/>
      <dgm:t>
        <a:bodyPr/>
        <a:lstStyle/>
        <a:p>
          <a:endParaRPr lang="zh-CN" altLang="en-US"/>
        </a:p>
      </dgm:t>
    </dgm:pt>
    <dgm:pt modelId="{81F9261B-CCAA-45DE-A83A-C9AF614264FF}" type="pres">
      <dgm:prSet presAssocID="{EF918857-9F24-4F11-A8A0-0518635F00AD}" presName="spaceBetweenRectangles" presStyleCnt="0"/>
      <dgm:spPr/>
      <dgm:t>
        <a:bodyPr/>
        <a:lstStyle/>
        <a:p>
          <a:endParaRPr lang="zh-CN" altLang="en-US"/>
        </a:p>
      </dgm:t>
    </dgm:pt>
    <dgm:pt modelId="{2E975587-64D0-4CDE-BEC2-2F534F0FD0A6}" type="pres">
      <dgm:prSet presAssocID="{34E22613-2FF9-454D-AA70-8C305A1175AE}" presName="parentLin" presStyleCnt="0"/>
      <dgm:spPr/>
      <dgm:t>
        <a:bodyPr/>
        <a:lstStyle/>
        <a:p>
          <a:endParaRPr lang="zh-CN" altLang="en-US"/>
        </a:p>
      </dgm:t>
    </dgm:pt>
    <dgm:pt modelId="{7F40D748-1CDA-407C-85EB-796D3E835CDE}" type="pres">
      <dgm:prSet presAssocID="{34E22613-2FF9-454D-AA70-8C305A1175AE}" presName="parentLeftMargin" presStyleLbl="node1" presStyleIdx="1" presStyleCnt="4"/>
      <dgm:spPr/>
      <dgm:t>
        <a:bodyPr/>
        <a:lstStyle/>
        <a:p>
          <a:endParaRPr lang="zh-CN" altLang="en-US"/>
        </a:p>
      </dgm:t>
    </dgm:pt>
    <dgm:pt modelId="{EC4A9B96-4D67-4CE2-90A8-00BFC23CB23C}" type="pres">
      <dgm:prSet presAssocID="{34E22613-2FF9-454D-AA70-8C305A1175AE}" presName="parentText" presStyleLbl="node1" presStyleIdx="2" presStyleCnt="4">
        <dgm:presLayoutVars>
          <dgm:chMax val="0"/>
          <dgm:bulletEnabled val="1"/>
        </dgm:presLayoutVars>
      </dgm:prSet>
      <dgm:spPr/>
      <dgm:t>
        <a:bodyPr/>
        <a:lstStyle/>
        <a:p>
          <a:endParaRPr lang="zh-CN" altLang="en-US"/>
        </a:p>
      </dgm:t>
    </dgm:pt>
    <dgm:pt modelId="{54824492-B292-4FC3-B425-710C13C7B6CB}" type="pres">
      <dgm:prSet presAssocID="{34E22613-2FF9-454D-AA70-8C305A1175AE}" presName="negativeSpace" presStyleCnt="0"/>
      <dgm:spPr/>
      <dgm:t>
        <a:bodyPr/>
        <a:lstStyle/>
        <a:p>
          <a:endParaRPr lang="zh-CN" altLang="en-US"/>
        </a:p>
      </dgm:t>
    </dgm:pt>
    <dgm:pt modelId="{E4930568-3823-40A6-AC2F-3C381F375821}" type="pres">
      <dgm:prSet presAssocID="{34E22613-2FF9-454D-AA70-8C305A1175AE}" presName="childText" presStyleLbl="conFgAcc1" presStyleIdx="2" presStyleCnt="4">
        <dgm:presLayoutVars>
          <dgm:bulletEnabled val="1"/>
        </dgm:presLayoutVars>
      </dgm:prSet>
      <dgm:spPr/>
      <dgm:t>
        <a:bodyPr/>
        <a:lstStyle/>
        <a:p>
          <a:endParaRPr lang="zh-CN" altLang="en-US"/>
        </a:p>
      </dgm:t>
    </dgm:pt>
    <dgm:pt modelId="{38F4D514-2E13-48C3-A7C7-2D7F8234C712}" type="pres">
      <dgm:prSet presAssocID="{DBE7DC73-4E02-43A9-8C6F-91CC2C2B0222}" presName="spaceBetweenRectangles" presStyleCnt="0"/>
      <dgm:spPr/>
      <dgm:t>
        <a:bodyPr/>
        <a:lstStyle/>
        <a:p>
          <a:endParaRPr lang="zh-CN" altLang="en-US"/>
        </a:p>
      </dgm:t>
    </dgm:pt>
    <dgm:pt modelId="{3CD2CC81-824D-417D-A4B8-924583567884}" type="pres">
      <dgm:prSet presAssocID="{C8153F31-9C23-4402-8EC3-5A9C99F395BD}" presName="parentLin" presStyleCnt="0"/>
      <dgm:spPr/>
      <dgm:t>
        <a:bodyPr/>
        <a:lstStyle/>
        <a:p>
          <a:endParaRPr lang="zh-CN" altLang="en-US"/>
        </a:p>
      </dgm:t>
    </dgm:pt>
    <dgm:pt modelId="{BCD3BE21-1031-4664-AD7C-759CA2C4FBB0}" type="pres">
      <dgm:prSet presAssocID="{C8153F31-9C23-4402-8EC3-5A9C99F395BD}" presName="parentLeftMargin" presStyleLbl="node1" presStyleIdx="2" presStyleCnt="4"/>
      <dgm:spPr/>
      <dgm:t>
        <a:bodyPr/>
        <a:lstStyle/>
        <a:p>
          <a:endParaRPr lang="zh-CN" altLang="en-US"/>
        </a:p>
      </dgm:t>
    </dgm:pt>
    <dgm:pt modelId="{6E35DFD0-695C-4837-A5D6-5E9C82906376}" type="pres">
      <dgm:prSet presAssocID="{C8153F31-9C23-4402-8EC3-5A9C99F395BD}" presName="parentText" presStyleLbl="node1" presStyleIdx="3" presStyleCnt="4">
        <dgm:presLayoutVars>
          <dgm:chMax val="0"/>
          <dgm:bulletEnabled val="1"/>
        </dgm:presLayoutVars>
      </dgm:prSet>
      <dgm:spPr/>
      <dgm:t>
        <a:bodyPr/>
        <a:lstStyle/>
        <a:p>
          <a:endParaRPr lang="zh-CN" altLang="en-US"/>
        </a:p>
      </dgm:t>
    </dgm:pt>
    <dgm:pt modelId="{BFA52608-3C9B-48A3-87CE-6BF991E7A90A}" type="pres">
      <dgm:prSet presAssocID="{C8153F31-9C23-4402-8EC3-5A9C99F395BD}" presName="negativeSpace" presStyleCnt="0"/>
      <dgm:spPr/>
      <dgm:t>
        <a:bodyPr/>
        <a:lstStyle/>
        <a:p>
          <a:endParaRPr lang="zh-CN" altLang="en-US"/>
        </a:p>
      </dgm:t>
    </dgm:pt>
    <dgm:pt modelId="{428F2347-651C-48C0-8AFF-5F832016A4FD}" type="pres">
      <dgm:prSet presAssocID="{C8153F31-9C23-4402-8EC3-5A9C99F395BD}" presName="childText" presStyleLbl="conFgAcc1" presStyleIdx="3" presStyleCnt="4">
        <dgm:presLayoutVars>
          <dgm:bulletEnabled val="1"/>
        </dgm:presLayoutVars>
      </dgm:prSet>
      <dgm:spPr/>
      <dgm:t>
        <a:bodyPr/>
        <a:lstStyle/>
        <a:p>
          <a:endParaRPr lang="zh-CN" altLang="en-US"/>
        </a:p>
      </dgm:t>
    </dgm:pt>
  </dgm:ptLst>
  <dgm:cxnLst>
    <dgm:cxn modelId="{6FE0DDBA-6158-4A54-9A24-07124439B017}" srcId="{2977DDEC-502C-4261-BB9A-99EC0BB2BFCC}" destId="{307B0355-7BC3-4C37-A203-079A3C3F6614}" srcOrd="1" destOrd="0" parTransId="{85B1B3B1-3D8D-46FE-AD85-758570DF86BE}" sibTransId="{EF918857-9F24-4F11-A8A0-0518635F00AD}"/>
    <dgm:cxn modelId="{36C1A2FF-3FD3-4CCB-823D-A2A1044CA3AC}" type="presOf" srcId="{34E22613-2FF9-454D-AA70-8C305A1175AE}" destId="{7F40D748-1CDA-407C-85EB-796D3E835CDE}" srcOrd="0" destOrd="0" presId="urn:microsoft.com/office/officeart/2005/8/layout/list1"/>
    <dgm:cxn modelId="{E74003C1-7882-4245-9541-3526DEAE8FBB}" type="presOf" srcId="{2977DDEC-502C-4261-BB9A-99EC0BB2BFCC}" destId="{F2C78E01-6E8B-4D35-AC16-1A18C141EEE9}" srcOrd="0" destOrd="0" presId="urn:microsoft.com/office/officeart/2005/8/layout/list1"/>
    <dgm:cxn modelId="{89A67275-ABC8-45E8-965F-275F71365BBF}" type="presOf" srcId="{307B0355-7BC3-4C37-A203-079A3C3F6614}" destId="{709AE6A8-055B-454A-A02B-E4E7F729DD91}" srcOrd="0" destOrd="0" presId="urn:microsoft.com/office/officeart/2005/8/layout/list1"/>
    <dgm:cxn modelId="{30FB2CB0-A7A8-4E8A-BDFF-306EEB3CD0B5}" srcId="{2977DDEC-502C-4261-BB9A-99EC0BB2BFCC}" destId="{34E22613-2FF9-454D-AA70-8C305A1175AE}" srcOrd="2" destOrd="0" parTransId="{A03A043E-6046-4632-A3FE-82CD576CF270}" sibTransId="{DBE7DC73-4E02-43A9-8C6F-91CC2C2B0222}"/>
    <dgm:cxn modelId="{4B8047D4-03D3-48A5-B457-0E1A186CA0CA}" type="presOf" srcId="{C8153F31-9C23-4402-8EC3-5A9C99F395BD}" destId="{BCD3BE21-1031-4664-AD7C-759CA2C4FBB0}" srcOrd="0" destOrd="0" presId="urn:microsoft.com/office/officeart/2005/8/layout/list1"/>
    <dgm:cxn modelId="{EE1F29D3-D2C1-4BE5-9241-FDFFD209CCB1}" srcId="{2977DDEC-502C-4261-BB9A-99EC0BB2BFCC}" destId="{15969F5F-735D-4C75-A66D-5862BA7E4C1F}" srcOrd="0" destOrd="0" parTransId="{B7E82F4D-EE35-4FA7-BC6E-D827F29A49EE}" sibTransId="{EFAB3FC9-653E-40EB-982C-9073719AF9D9}"/>
    <dgm:cxn modelId="{9E091A12-6324-4527-A291-EBA61EB633B2}" type="presOf" srcId="{15969F5F-735D-4C75-A66D-5862BA7E4C1F}" destId="{12A0AB29-116A-419D-BB79-D71030411527}" srcOrd="0" destOrd="0" presId="urn:microsoft.com/office/officeart/2005/8/layout/list1"/>
    <dgm:cxn modelId="{C8183404-D9A6-4EBB-98D6-58435C522985}" type="presOf" srcId="{15969F5F-735D-4C75-A66D-5862BA7E4C1F}" destId="{92E89D3A-3459-47AC-9FAE-C17BBA63E962}" srcOrd="1" destOrd="0" presId="urn:microsoft.com/office/officeart/2005/8/layout/list1"/>
    <dgm:cxn modelId="{952CA503-62FB-4971-B3FC-D3E01D22AD94}" type="presOf" srcId="{C8153F31-9C23-4402-8EC3-5A9C99F395BD}" destId="{6E35DFD0-695C-4837-A5D6-5E9C82906376}" srcOrd="1" destOrd="0" presId="urn:microsoft.com/office/officeart/2005/8/layout/list1"/>
    <dgm:cxn modelId="{857AE7D5-9419-469B-BFB5-3814256779A4}" type="presOf" srcId="{307B0355-7BC3-4C37-A203-079A3C3F6614}" destId="{DDEB2F94-4AE3-4A2A-A8DB-C41E6397E24C}" srcOrd="1" destOrd="0" presId="urn:microsoft.com/office/officeart/2005/8/layout/list1"/>
    <dgm:cxn modelId="{22898F5B-E02D-4E82-B1CE-9A6631028327}" srcId="{2977DDEC-502C-4261-BB9A-99EC0BB2BFCC}" destId="{C8153F31-9C23-4402-8EC3-5A9C99F395BD}" srcOrd="3" destOrd="0" parTransId="{C92CAD41-7C82-4161-929B-8B6CE4E381A8}" sibTransId="{0AD61BC0-A29A-4FEB-8287-6DB0AE18ECDE}"/>
    <dgm:cxn modelId="{6B8E11C0-B125-44D4-9DE2-F5AF9AEB8D4D}" type="presOf" srcId="{34E22613-2FF9-454D-AA70-8C305A1175AE}" destId="{EC4A9B96-4D67-4CE2-90A8-00BFC23CB23C}" srcOrd="1" destOrd="0" presId="urn:microsoft.com/office/officeart/2005/8/layout/list1"/>
    <dgm:cxn modelId="{AD7B9F0F-61A5-4BF9-8BDC-F610563FD3B7}" type="presParOf" srcId="{F2C78E01-6E8B-4D35-AC16-1A18C141EEE9}" destId="{1882A56C-841C-46D0-80BF-F708D59AE0D3}" srcOrd="0" destOrd="0" presId="urn:microsoft.com/office/officeart/2005/8/layout/list1"/>
    <dgm:cxn modelId="{B0DFBF2A-0F86-44C5-8DB8-2E3FA6D9DC59}" type="presParOf" srcId="{1882A56C-841C-46D0-80BF-F708D59AE0D3}" destId="{12A0AB29-116A-419D-BB79-D71030411527}" srcOrd="0" destOrd="0" presId="urn:microsoft.com/office/officeart/2005/8/layout/list1"/>
    <dgm:cxn modelId="{E86D0824-108A-4AAE-A2CB-7E93581376FF}" type="presParOf" srcId="{1882A56C-841C-46D0-80BF-F708D59AE0D3}" destId="{92E89D3A-3459-47AC-9FAE-C17BBA63E962}" srcOrd="1" destOrd="0" presId="urn:microsoft.com/office/officeart/2005/8/layout/list1"/>
    <dgm:cxn modelId="{3EE230A8-1BCB-4F2B-914D-3B35F264188F}" type="presParOf" srcId="{F2C78E01-6E8B-4D35-AC16-1A18C141EEE9}" destId="{B4BD068E-CDF2-428F-A47C-E7BBC6EA39EF}" srcOrd="1" destOrd="0" presId="urn:microsoft.com/office/officeart/2005/8/layout/list1"/>
    <dgm:cxn modelId="{693B4AC7-2432-4A36-969B-1BC16BAA6C49}" type="presParOf" srcId="{F2C78E01-6E8B-4D35-AC16-1A18C141EEE9}" destId="{1106C14A-EB50-4AB5-BCF8-0B6C39AA3343}" srcOrd="2" destOrd="0" presId="urn:microsoft.com/office/officeart/2005/8/layout/list1"/>
    <dgm:cxn modelId="{D5C8D62D-D8B5-42F0-AA25-041DA49A0429}" type="presParOf" srcId="{F2C78E01-6E8B-4D35-AC16-1A18C141EEE9}" destId="{3C33D810-E56E-4250-A221-B49EBD76066E}" srcOrd="3" destOrd="0" presId="urn:microsoft.com/office/officeart/2005/8/layout/list1"/>
    <dgm:cxn modelId="{F6A5735B-8401-4811-A237-CCF34995B210}" type="presParOf" srcId="{F2C78E01-6E8B-4D35-AC16-1A18C141EEE9}" destId="{B6425B6D-12B5-4712-ACBF-C2113ABCE374}" srcOrd="4" destOrd="0" presId="urn:microsoft.com/office/officeart/2005/8/layout/list1"/>
    <dgm:cxn modelId="{3EBFE880-9F76-4B7E-88B5-E1369B2F600C}" type="presParOf" srcId="{B6425B6D-12B5-4712-ACBF-C2113ABCE374}" destId="{709AE6A8-055B-454A-A02B-E4E7F729DD91}" srcOrd="0" destOrd="0" presId="urn:microsoft.com/office/officeart/2005/8/layout/list1"/>
    <dgm:cxn modelId="{0EA3B07A-0AB2-4659-A8E0-F34EF263B029}" type="presParOf" srcId="{B6425B6D-12B5-4712-ACBF-C2113ABCE374}" destId="{DDEB2F94-4AE3-4A2A-A8DB-C41E6397E24C}" srcOrd="1" destOrd="0" presId="urn:microsoft.com/office/officeart/2005/8/layout/list1"/>
    <dgm:cxn modelId="{ABC56482-E0FA-44F4-8934-D19D79628F6E}" type="presParOf" srcId="{F2C78E01-6E8B-4D35-AC16-1A18C141EEE9}" destId="{8D8B4526-03FC-44C2-92EB-4F8B9A53AD7A}" srcOrd="5" destOrd="0" presId="urn:microsoft.com/office/officeart/2005/8/layout/list1"/>
    <dgm:cxn modelId="{EAACC4D7-94D7-4899-A5BE-3DA489D249DB}" type="presParOf" srcId="{F2C78E01-6E8B-4D35-AC16-1A18C141EEE9}" destId="{301F4945-2654-4892-BCC5-36B2F510A36D}" srcOrd="6" destOrd="0" presId="urn:microsoft.com/office/officeart/2005/8/layout/list1"/>
    <dgm:cxn modelId="{1ECC14CD-D058-4B30-AFBF-C4B104C961E9}" type="presParOf" srcId="{F2C78E01-6E8B-4D35-AC16-1A18C141EEE9}" destId="{81F9261B-CCAA-45DE-A83A-C9AF614264FF}" srcOrd="7" destOrd="0" presId="urn:microsoft.com/office/officeart/2005/8/layout/list1"/>
    <dgm:cxn modelId="{E2A7A416-BFCC-4CB7-A12F-E000756B866D}" type="presParOf" srcId="{F2C78E01-6E8B-4D35-AC16-1A18C141EEE9}" destId="{2E975587-64D0-4CDE-BEC2-2F534F0FD0A6}" srcOrd="8" destOrd="0" presId="urn:microsoft.com/office/officeart/2005/8/layout/list1"/>
    <dgm:cxn modelId="{99248976-CA4A-4787-AEC8-526EEE43704D}" type="presParOf" srcId="{2E975587-64D0-4CDE-BEC2-2F534F0FD0A6}" destId="{7F40D748-1CDA-407C-85EB-796D3E835CDE}" srcOrd="0" destOrd="0" presId="urn:microsoft.com/office/officeart/2005/8/layout/list1"/>
    <dgm:cxn modelId="{843B3F46-E3CC-4936-BBE3-40289E3EFB82}" type="presParOf" srcId="{2E975587-64D0-4CDE-BEC2-2F534F0FD0A6}" destId="{EC4A9B96-4D67-4CE2-90A8-00BFC23CB23C}" srcOrd="1" destOrd="0" presId="urn:microsoft.com/office/officeart/2005/8/layout/list1"/>
    <dgm:cxn modelId="{C18745BD-1B46-45DD-B4E3-E0217766120B}" type="presParOf" srcId="{F2C78E01-6E8B-4D35-AC16-1A18C141EEE9}" destId="{54824492-B292-4FC3-B425-710C13C7B6CB}" srcOrd="9" destOrd="0" presId="urn:microsoft.com/office/officeart/2005/8/layout/list1"/>
    <dgm:cxn modelId="{B5195553-4621-40F1-9BD6-7B56FD0EE7A8}" type="presParOf" srcId="{F2C78E01-6E8B-4D35-AC16-1A18C141EEE9}" destId="{E4930568-3823-40A6-AC2F-3C381F375821}" srcOrd="10" destOrd="0" presId="urn:microsoft.com/office/officeart/2005/8/layout/list1"/>
    <dgm:cxn modelId="{12CAAD67-EA5F-4EEF-A178-00D370CC13A3}" type="presParOf" srcId="{F2C78E01-6E8B-4D35-AC16-1A18C141EEE9}" destId="{38F4D514-2E13-48C3-A7C7-2D7F8234C712}" srcOrd="11" destOrd="0" presId="urn:microsoft.com/office/officeart/2005/8/layout/list1"/>
    <dgm:cxn modelId="{F5D2EAED-3F75-48CE-926D-C83517F22EB9}" type="presParOf" srcId="{F2C78E01-6E8B-4D35-AC16-1A18C141EEE9}" destId="{3CD2CC81-824D-417D-A4B8-924583567884}" srcOrd="12" destOrd="0" presId="urn:microsoft.com/office/officeart/2005/8/layout/list1"/>
    <dgm:cxn modelId="{C2C173E1-6D64-4B68-AB2C-507111854A1E}" type="presParOf" srcId="{3CD2CC81-824D-417D-A4B8-924583567884}" destId="{BCD3BE21-1031-4664-AD7C-759CA2C4FBB0}" srcOrd="0" destOrd="0" presId="urn:microsoft.com/office/officeart/2005/8/layout/list1"/>
    <dgm:cxn modelId="{BC5F534E-5B9A-4B72-9B36-A686B98832D7}" type="presParOf" srcId="{3CD2CC81-824D-417D-A4B8-924583567884}" destId="{6E35DFD0-695C-4837-A5D6-5E9C82906376}" srcOrd="1" destOrd="0" presId="urn:microsoft.com/office/officeart/2005/8/layout/list1"/>
    <dgm:cxn modelId="{BDD153D4-D843-4783-A6B0-514BB34DAC60}" type="presParOf" srcId="{F2C78E01-6E8B-4D35-AC16-1A18C141EEE9}" destId="{BFA52608-3C9B-48A3-87CE-6BF991E7A90A}" srcOrd="13" destOrd="0" presId="urn:microsoft.com/office/officeart/2005/8/layout/list1"/>
    <dgm:cxn modelId="{80122CAF-489E-4C0C-AD0F-B8EFEB9403DD}" type="presParOf" srcId="{F2C78E01-6E8B-4D35-AC16-1A18C141EEE9}" destId="{428F2347-651C-48C0-8AFF-5F832016A4FD}"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6C14A-EB50-4AB5-BCF8-0B6C39AA3343}">
      <dsp:nvSpPr>
        <dsp:cNvPr id="0" name=""/>
        <dsp:cNvSpPr/>
      </dsp:nvSpPr>
      <dsp:spPr>
        <a:xfrm>
          <a:off x="0" y="434891"/>
          <a:ext cx="8143875" cy="604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2E89D3A-3459-47AC-9FAE-C17BBA63E962}">
      <dsp:nvSpPr>
        <dsp:cNvPr id="0" name=""/>
        <dsp:cNvSpPr/>
      </dsp:nvSpPr>
      <dsp:spPr>
        <a:xfrm>
          <a:off x="407193" y="80651"/>
          <a:ext cx="5700712" cy="708480"/>
        </a:xfrm>
        <a:prstGeom prst="roundRect">
          <a:avLst/>
        </a:prstGeom>
        <a:solidFill>
          <a:schemeClr val="accent5"/>
        </a:solidFill>
        <a:ln w="15875" cap="flat" cmpd="sng" algn="ctr">
          <a:solidFill>
            <a:schemeClr val="accent5">
              <a:shade val="50000"/>
            </a:schemeClr>
          </a:solidFill>
          <a:prstDash val="solid"/>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215473" tIns="0" rIns="215473" bIns="0" numCol="1" spcCol="1270" anchor="ctr" anchorCtr="0">
          <a:noAutofit/>
        </a:bodyPr>
        <a:lstStyle/>
        <a:p>
          <a:pPr lvl="0" algn="l" defTabSz="1066800">
            <a:lnSpc>
              <a:spcPct val="90000"/>
            </a:lnSpc>
            <a:spcBef>
              <a:spcPct val="0"/>
            </a:spcBef>
            <a:spcAft>
              <a:spcPct val="35000"/>
            </a:spcAft>
          </a:pPr>
          <a:r>
            <a:rPr lang="en-US" altLang="zh-CN" sz="2400" kern="1200" dirty="0" smtClean="0">
              <a:latin typeface="微软雅黑" pitchFamily="34" charset="-122"/>
              <a:ea typeface="微软雅黑" pitchFamily="34" charset="-122"/>
            </a:rPr>
            <a:t>1</a:t>
          </a:r>
          <a:r>
            <a:rPr lang="zh-CN" altLang="en-US" sz="2400" kern="1200" dirty="0" smtClean="0">
              <a:latin typeface="微软雅黑" pitchFamily="34" charset="-122"/>
              <a:ea typeface="微软雅黑" pitchFamily="34" charset="-122"/>
            </a:rPr>
            <a:t>、</a:t>
          </a:r>
          <a:r>
            <a:rPr lang="en-US" altLang="zh-CN" sz="2400" kern="1200" dirty="0" smtClean="0">
              <a:latin typeface="微软雅黑" pitchFamily="34" charset="-122"/>
              <a:ea typeface="微软雅黑" pitchFamily="34" charset="-122"/>
            </a:rPr>
            <a:t>MySQL</a:t>
          </a:r>
          <a:r>
            <a:rPr lang="zh-CN" altLang="en-US" sz="2400" kern="1200" dirty="0" smtClean="0">
              <a:latin typeface="微软雅黑" pitchFamily="34" charset="-122"/>
              <a:ea typeface="微软雅黑" pitchFamily="34" charset="-122"/>
            </a:rPr>
            <a:t>索引简介</a:t>
          </a:r>
          <a:endParaRPr lang="zh-CN" altLang="en-US" sz="2400" kern="1200" dirty="0">
            <a:latin typeface="微软雅黑" pitchFamily="34" charset="-122"/>
            <a:ea typeface="微软雅黑" pitchFamily="34" charset="-122"/>
          </a:endParaRPr>
        </a:p>
      </dsp:txBody>
      <dsp:txXfrm>
        <a:off x="441778" y="115236"/>
        <a:ext cx="5631542" cy="639310"/>
      </dsp:txXfrm>
    </dsp:sp>
    <dsp:sp modelId="{301F4945-2654-4892-BCC5-36B2F510A36D}">
      <dsp:nvSpPr>
        <dsp:cNvPr id="0" name=""/>
        <dsp:cNvSpPr/>
      </dsp:nvSpPr>
      <dsp:spPr>
        <a:xfrm>
          <a:off x="0" y="1523531"/>
          <a:ext cx="8143875" cy="604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DEB2F94-4AE3-4A2A-A8DB-C41E6397E24C}">
      <dsp:nvSpPr>
        <dsp:cNvPr id="0" name=""/>
        <dsp:cNvSpPr/>
      </dsp:nvSpPr>
      <dsp:spPr>
        <a:xfrm>
          <a:off x="407193" y="1169291"/>
          <a:ext cx="5700712" cy="708480"/>
        </a:xfrm>
        <a:prstGeom prst="roundRect">
          <a:avLst/>
        </a:prstGeom>
        <a:solidFill>
          <a:schemeClr val="accent3"/>
        </a:solidFill>
        <a:ln w="15875" cap="flat" cmpd="sng" algn="ctr">
          <a:solidFill>
            <a:schemeClr val="accent3">
              <a:shade val="50000"/>
            </a:schemeClr>
          </a:solidFill>
          <a:prstDash val="solid"/>
        </a:ln>
        <a:effectLst/>
      </dsp:spPr>
      <dsp:style>
        <a:lnRef idx="2">
          <a:schemeClr val="accent3">
            <a:shade val="50000"/>
          </a:schemeClr>
        </a:lnRef>
        <a:fillRef idx="1">
          <a:schemeClr val="accent3"/>
        </a:fillRef>
        <a:effectRef idx="0">
          <a:schemeClr val="accent3"/>
        </a:effectRef>
        <a:fontRef idx="minor">
          <a:schemeClr val="lt1"/>
        </a:fontRef>
      </dsp:style>
      <dsp:txBody>
        <a:bodyPr spcFirstLastPara="0" vert="horz" wrap="square" lIns="215473" tIns="0" rIns="215473" bIns="0" numCol="1" spcCol="1270" anchor="ctr" anchorCtr="0">
          <a:noAutofit/>
        </a:bodyPr>
        <a:lstStyle/>
        <a:p>
          <a:pPr lvl="0" algn="l" defTabSz="1066800">
            <a:lnSpc>
              <a:spcPct val="90000"/>
            </a:lnSpc>
            <a:spcBef>
              <a:spcPct val="0"/>
            </a:spcBef>
            <a:spcAft>
              <a:spcPct val="35000"/>
            </a:spcAft>
          </a:pPr>
          <a:r>
            <a:rPr lang="en-US" altLang="zh-CN" sz="2400" kern="1200" dirty="0" smtClean="0">
              <a:latin typeface="微软雅黑" pitchFamily="34" charset="-122"/>
              <a:ea typeface="微软雅黑" pitchFamily="34" charset="-122"/>
            </a:rPr>
            <a:t>2</a:t>
          </a:r>
          <a:r>
            <a:rPr lang="zh-CN" altLang="en-US" sz="2400" kern="1200" dirty="0" smtClean="0">
              <a:latin typeface="微软雅黑" pitchFamily="34" charset="-122"/>
              <a:ea typeface="微软雅黑" pitchFamily="34" charset="-122"/>
            </a:rPr>
            <a:t>、</a:t>
          </a:r>
          <a:r>
            <a:rPr lang="en-US" altLang="zh-CN" sz="2400" kern="1200" dirty="0" smtClean="0">
              <a:latin typeface="微软雅黑" pitchFamily="34" charset="-122"/>
              <a:ea typeface="微软雅黑" pitchFamily="34" charset="-122"/>
            </a:rPr>
            <a:t>MySQL</a:t>
          </a:r>
          <a:r>
            <a:rPr lang="zh-CN" altLang="en-US" sz="2400" kern="1200" dirty="0" smtClean="0">
              <a:latin typeface="微软雅黑" pitchFamily="34" charset="-122"/>
              <a:ea typeface="微软雅黑" pitchFamily="34" charset="-122"/>
            </a:rPr>
            <a:t>索引基本使用</a:t>
          </a:r>
          <a:endParaRPr lang="zh-CN" altLang="en-US" sz="2400" kern="1200" dirty="0">
            <a:latin typeface="微软雅黑" pitchFamily="34" charset="-122"/>
            <a:ea typeface="微软雅黑" pitchFamily="34" charset="-122"/>
          </a:endParaRPr>
        </a:p>
      </dsp:txBody>
      <dsp:txXfrm>
        <a:off x="441778" y="1203876"/>
        <a:ext cx="5631542" cy="639310"/>
      </dsp:txXfrm>
    </dsp:sp>
    <dsp:sp modelId="{E4930568-3823-40A6-AC2F-3C381F375821}">
      <dsp:nvSpPr>
        <dsp:cNvPr id="0" name=""/>
        <dsp:cNvSpPr/>
      </dsp:nvSpPr>
      <dsp:spPr>
        <a:xfrm>
          <a:off x="0" y="2612171"/>
          <a:ext cx="8143875" cy="604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C4A9B96-4D67-4CE2-90A8-00BFC23CB23C}">
      <dsp:nvSpPr>
        <dsp:cNvPr id="0" name=""/>
        <dsp:cNvSpPr/>
      </dsp:nvSpPr>
      <dsp:spPr>
        <a:xfrm>
          <a:off x="407193" y="2257931"/>
          <a:ext cx="5700712" cy="708480"/>
        </a:xfrm>
        <a:prstGeom prst="roundRect">
          <a:avLst/>
        </a:prstGeom>
        <a:gradFill rotWithShape="1">
          <a:gsLst>
            <a:gs pos="0">
              <a:schemeClr val="accent2">
                <a:tint val="75000"/>
                <a:shade val="95000"/>
                <a:satMod val="175000"/>
              </a:schemeClr>
            </a:gs>
            <a:gs pos="12000">
              <a:schemeClr val="accent2">
                <a:tint val="90000"/>
                <a:shade val="90000"/>
                <a:satMod val="150000"/>
              </a:schemeClr>
            </a:gs>
            <a:gs pos="100000">
              <a:schemeClr val="accent2">
                <a:tint val="100000"/>
                <a:shade val="75000"/>
                <a:satMod val="150000"/>
              </a:schemeClr>
            </a:gs>
          </a:gsLst>
          <a:lin ang="16200000" scaled="1"/>
        </a:gradFill>
        <a:ln w="9525" cap="flat" cmpd="sng" algn="ctr">
          <a:solidFill>
            <a:schemeClr val="accent2">
              <a:shade val="95000"/>
              <a:satMod val="105000"/>
            </a:schemeClr>
          </a:solidFill>
          <a:prstDash val="solid"/>
        </a:ln>
        <a:effectLst>
          <a:outerShdw blurRad="40000" dist="23000" dir="5400000" rotWithShape="0">
            <a:srgbClr val="000000">
              <a:alpha val="35000"/>
            </a:srgbClr>
          </a:outerShdw>
        </a:effectLst>
      </dsp:spPr>
      <dsp:style>
        <a:lnRef idx="1">
          <a:schemeClr val="accent2"/>
        </a:lnRef>
        <a:fillRef idx="3">
          <a:schemeClr val="accent2"/>
        </a:fillRef>
        <a:effectRef idx="2">
          <a:schemeClr val="accent2"/>
        </a:effectRef>
        <a:fontRef idx="minor">
          <a:schemeClr val="lt1"/>
        </a:fontRef>
      </dsp:style>
      <dsp:txBody>
        <a:bodyPr spcFirstLastPara="0" vert="horz" wrap="square" lIns="215473" tIns="0" rIns="215473" bIns="0" numCol="1" spcCol="1270" anchor="ctr" anchorCtr="0">
          <a:noAutofit/>
        </a:bodyPr>
        <a:lstStyle/>
        <a:p>
          <a:pPr lvl="0" algn="l" defTabSz="1066800">
            <a:lnSpc>
              <a:spcPct val="90000"/>
            </a:lnSpc>
            <a:spcBef>
              <a:spcPct val="0"/>
            </a:spcBef>
            <a:spcAft>
              <a:spcPct val="35000"/>
            </a:spcAft>
          </a:pPr>
          <a:r>
            <a:rPr lang="en-US" altLang="zh-CN" sz="2400" kern="1200" dirty="0" smtClean="0">
              <a:latin typeface="微软雅黑" pitchFamily="34" charset="-122"/>
              <a:ea typeface="微软雅黑" pitchFamily="34" charset="-122"/>
            </a:rPr>
            <a:t>3</a:t>
          </a:r>
          <a:r>
            <a:rPr lang="zh-CN" altLang="en-US" sz="2400" kern="1200" dirty="0" smtClean="0">
              <a:latin typeface="微软雅黑" pitchFamily="34" charset="-122"/>
              <a:ea typeface="微软雅黑" pitchFamily="34" charset="-122"/>
            </a:rPr>
            <a:t>、</a:t>
          </a:r>
          <a:r>
            <a:rPr lang="en-US" altLang="zh-CN" sz="2400" kern="1200" dirty="0" smtClean="0">
              <a:latin typeface="微软雅黑" pitchFamily="34" charset="-122"/>
              <a:ea typeface="微软雅黑" pitchFamily="34" charset="-122"/>
            </a:rPr>
            <a:t>MySQL</a:t>
          </a:r>
          <a:r>
            <a:rPr lang="zh-CN" altLang="en-US" sz="2400" kern="1200" dirty="0" smtClean="0">
              <a:latin typeface="微软雅黑" pitchFamily="34" charset="-122"/>
              <a:ea typeface="微软雅黑" pitchFamily="34" charset="-122"/>
            </a:rPr>
            <a:t>索引注意事项</a:t>
          </a:r>
          <a:endParaRPr lang="en-US" altLang="zh-CN" sz="2400" kern="1200" dirty="0" smtClean="0">
            <a:latin typeface="微软雅黑" pitchFamily="34" charset="-122"/>
            <a:ea typeface="微软雅黑" pitchFamily="34" charset="-122"/>
          </a:endParaRPr>
        </a:p>
      </dsp:txBody>
      <dsp:txXfrm>
        <a:off x="441778" y="2292516"/>
        <a:ext cx="5631542" cy="639310"/>
      </dsp:txXfrm>
    </dsp:sp>
    <dsp:sp modelId="{428F2347-651C-48C0-8AFF-5F832016A4FD}">
      <dsp:nvSpPr>
        <dsp:cNvPr id="0" name=""/>
        <dsp:cNvSpPr/>
      </dsp:nvSpPr>
      <dsp:spPr>
        <a:xfrm>
          <a:off x="0" y="3700811"/>
          <a:ext cx="8143875" cy="604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E35DFD0-695C-4837-A5D6-5E9C82906376}">
      <dsp:nvSpPr>
        <dsp:cNvPr id="0" name=""/>
        <dsp:cNvSpPr/>
      </dsp:nvSpPr>
      <dsp:spPr>
        <a:xfrm>
          <a:off x="407193" y="3346571"/>
          <a:ext cx="5700712" cy="708480"/>
        </a:xfrm>
        <a:prstGeom prst="roundRect">
          <a:avLst/>
        </a:prstGeom>
        <a:gradFill rotWithShape="1">
          <a:gsLst>
            <a:gs pos="0">
              <a:schemeClr val="accent1">
                <a:tint val="75000"/>
                <a:shade val="95000"/>
                <a:satMod val="175000"/>
              </a:schemeClr>
            </a:gs>
            <a:gs pos="12000">
              <a:schemeClr val="accent1">
                <a:tint val="90000"/>
                <a:shade val="90000"/>
                <a:satMod val="150000"/>
              </a:schemeClr>
            </a:gs>
            <a:gs pos="100000">
              <a:schemeClr val="accent1">
                <a:tint val="100000"/>
                <a:shade val="75000"/>
                <a:satMod val="150000"/>
              </a:schemeClr>
            </a:gs>
          </a:gsLst>
          <a:lin ang="16200000" scaled="1"/>
        </a:gradFill>
        <a:ln>
          <a:noFill/>
        </a:ln>
        <a:effectLst/>
        <a:scene3d>
          <a:camera prst="orthographicFront">
            <a:rot lat="0" lon="0" rev="0"/>
          </a:camera>
          <a:lightRig rig="freezing" dir="t">
            <a:rot lat="0" lon="0" rev="6000000"/>
          </a:lightRig>
        </a:scene3d>
        <a:sp3d contourW="12700" prstMaterial="dkEdge">
          <a:bevelT w="44450" h="25400"/>
          <a:contourClr>
            <a:schemeClr val="accent1">
              <a:shade val="30000"/>
            </a:schemeClr>
          </a:contourClr>
        </a:sp3d>
      </dsp:spPr>
      <dsp:style>
        <a:lnRef idx="0">
          <a:schemeClr val="accent1"/>
        </a:lnRef>
        <a:fillRef idx="3">
          <a:schemeClr val="accent1"/>
        </a:fillRef>
        <a:effectRef idx="3">
          <a:schemeClr val="accent1"/>
        </a:effectRef>
        <a:fontRef idx="minor">
          <a:schemeClr val="lt1"/>
        </a:fontRef>
      </dsp:style>
      <dsp:txBody>
        <a:bodyPr spcFirstLastPara="0" vert="horz" wrap="square" lIns="215473" tIns="0" rIns="215473" bIns="0" numCol="1" spcCol="1270" anchor="ctr" anchorCtr="0">
          <a:noAutofit/>
        </a:bodyPr>
        <a:lstStyle/>
        <a:p>
          <a:pPr lvl="0" algn="l" defTabSz="1066800">
            <a:lnSpc>
              <a:spcPct val="90000"/>
            </a:lnSpc>
            <a:spcBef>
              <a:spcPct val="0"/>
            </a:spcBef>
            <a:spcAft>
              <a:spcPct val="35000"/>
            </a:spcAft>
          </a:pPr>
          <a:r>
            <a:rPr lang="en-US" altLang="zh-CN" sz="2400" kern="1200" dirty="0" smtClean="0">
              <a:latin typeface="微软雅黑" pitchFamily="34" charset="-122"/>
              <a:ea typeface="微软雅黑" pitchFamily="34" charset="-122"/>
            </a:rPr>
            <a:t>4</a:t>
          </a:r>
          <a:r>
            <a:rPr lang="zh-CN" altLang="en-US" sz="2400" kern="1200" dirty="0" smtClean="0">
              <a:latin typeface="微软雅黑" pitchFamily="34" charset="-122"/>
              <a:ea typeface="微软雅黑" pitchFamily="34" charset="-122"/>
            </a:rPr>
            <a:t>、</a:t>
          </a:r>
          <a:r>
            <a:rPr lang="en-US" altLang="zh-CN" sz="2400" kern="1200" dirty="0" smtClean="0">
              <a:latin typeface="微软雅黑" pitchFamily="34" charset="-122"/>
              <a:ea typeface="微软雅黑" pitchFamily="34" charset="-122"/>
            </a:rPr>
            <a:t>MySQL</a:t>
          </a:r>
          <a:r>
            <a:rPr lang="zh-CN" altLang="en-US" sz="2400" kern="1200" dirty="0" smtClean="0">
              <a:latin typeface="微软雅黑" pitchFamily="34" charset="-122"/>
              <a:ea typeface="微软雅黑" pitchFamily="34" charset="-122"/>
            </a:rPr>
            <a:t>索引优化</a:t>
          </a:r>
          <a:endParaRPr lang="en-US" altLang="zh-CN" sz="2400" kern="1200" dirty="0" smtClean="0">
            <a:latin typeface="微软雅黑" pitchFamily="34" charset="-122"/>
            <a:ea typeface="微软雅黑" pitchFamily="34" charset="-122"/>
          </a:endParaRPr>
        </a:p>
      </dsp:txBody>
      <dsp:txXfrm>
        <a:off x="441778" y="3381156"/>
        <a:ext cx="5631542" cy="63931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DAB649-60A7-41FD-B0D6-4AAFD03EE23D}" type="datetimeFigureOut">
              <a:rPr lang="zh-CN" altLang="en-US" smtClean="0"/>
              <a:t>2019-4-19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21B43F-C7F6-46BC-A9EA-C9A7FD2A72C3}" type="slidenum">
              <a:rPr lang="zh-CN" altLang="en-US" smtClean="0"/>
              <a:t>‹#›</a:t>
            </a:fld>
            <a:endParaRPr lang="zh-CN" altLang="en-US"/>
          </a:p>
        </p:txBody>
      </p:sp>
    </p:spTree>
    <p:extLst>
      <p:ext uri="{BB962C8B-B14F-4D97-AF65-F5344CB8AC3E}">
        <p14:creationId xmlns:p14="http://schemas.microsoft.com/office/powerpoint/2010/main" val="3990563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ev.mysql.com/doc/refman/5.7/en/glossary.html#glos_redundant_row_format" TargetMode="External"/><Relationship Id="rId2" Type="http://schemas.openxmlformats.org/officeDocument/2006/relationships/slide" Target="../slides/slide11.xml"/><Relationship Id="rId1" Type="http://schemas.openxmlformats.org/officeDocument/2006/relationships/notesMaster" Target="../notesMasters/notesMaster1.xml"/><Relationship Id="rId5" Type="http://schemas.openxmlformats.org/officeDocument/2006/relationships/hyperlink" Target="https://dev.mysql.com/doc/refman/5.7/en/glossary.html#glos_column_prefix" TargetMode="External"/><Relationship Id="rId4" Type="http://schemas.openxmlformats.org/officeDocument/2006/relationships/hyperlink" Target="https://dev.mysql.com/doc/refman/5.7/en/glossary.html#glos_compact_row_format"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12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FE2E7D6E-E49E-406E-B199-C5167343EAAF}" type="slidenum">
              <a:rPr lang="en-US" altLang="zh-CN">
                <a:latin typeface="Calibri" pitchFamily="34" charset="0"/>
              </a:rPr>
              <a:pPr/>
              <a:t>1</a:t>
            </a:fld>
            <a:endParaRPr lang="en-US" altLang="zh-CN">
              <a:latin typeface="Calibri"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E21B43F-C7F6-46BC-A9EA-C9A7FD2A72C3}" type="slidenum">
              <a:rPr lang="zh-CN" altLang="en-US" smtClean="0"/>
              <a:t>2</a:t>
            </a:fld>
            <a:endParaRPr lang="zh-CN" altLang="en-US"/>
          </a:p>
        </p:txBody>
      </p:sp>
    </p:spTree>
    <p:extLst>
      <p:ext uri="{BB962C8B-B14F-4D97-AF65-F5344CB8AC3E}">
        <p14:creationId xmlns:p14="http://schemas.microsoft.com/office/powerpoint/2010/main" val="1780262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3</a:t>
            </a:fld>
            <a:endParaRPr lang="en-US" altLang="zh-CN">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mysql</a:t>
            </a:r>
            <a:r>
              <a:rPr lang="en-US" altLang="zh-CN" dirty="0" smtClean="0"/>
              <a:t>&gt; </a:t>
            </a:r>
            <a:r>
              <a:rPr lang="en-US" altLang="zh-CN" dirty="0" smtClean="0"/>
              <a:t>select @@</a:t>
            </a:r>
            <a:r>
              <a:rPr lang="en-US" altLang="zh-CN" dirty="0" err="1" smtClean="0"/>
              <a:t>innodb_page_size</a:t>
            </a:r>
            <a:r>
              <a:rPr lang="en-US" altLang="zh-CN" dirty="0" smtClean="0"/>
              <a:t>;</a:t>
            </a:r>
          </a:p>
          <a:p>
            <a:r>
              <a:rPr lang="en-US" altLang="zh-CN" dirty="0" smtClean="0"/>
              <a:t>+--------------------+</a:t>
            </a:r>
          </a:p>
          <a:p>
            <a:r>
              <a:rPr lang="en-US" altLang="zh-CN" dirty="0" smtClean="0"/>
              <a:t>| @@</a:t>
            </a:r>
            <a:r>
              <a:rPr lang="en-US" altLang="zh-CN" dirty="0" err="1" smtClean="0"/>
              <a:t>innodb_page_size</a:t>
            </a:r>
            <a:r>
              <a:rPr lang="en-US" altLang="zh-CN" dirty="0" smtClean="0"/>
              <a:t> |</a:t>
            </a:r>
          </a:p>
          <a:p>
            <a:r>
              <a:rPr lang="en-US" altLang="zh-CN" dirty="0" smtClean="0"/>
              <a:t>+--------------------+</a:t>
            </a:r>
          </a:p>
          <a:p>
            <a:r>
              <a:rPr lang="en-US" altLang="zh-CN" dirty="0" smtClean="0"/>
              <a:t>|              16384 |</a:t>
            </a:r>
          </a:p>
          <a:p>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fld id="{BE21B43F-C7F6-46BC-A9EA-C9A7FD2A72C3}" type="slidenum">
              <a:rPr lang="zh-CN" altLang="en-US" smtClean="0"/>
              <a:t>4</a:t>
            </a:fld>
            <a:endParaRPr lang="zh-CN" altLang="en-US"/>
          </a:p>
        </p:txBody>
      </p:sp>
    </p:spTree>
    <p:extLst>
      <p:ext uri="{BB962C8B-B14F-4D97-AF65-F5344CB8AC3E}">
        <p14:creationId xmlns:p14="http://schemas.microsoft.com/office/powerpoint/2010/main" val="284586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E21B43F-C7F6-46BC-A9EA-C9A7FD2A72C3}" type="slidenum">
              <a:rPr lang="zh-CN" altLang="en-US" smtClean="0"/>
              <a:t>5</a:t>
            </a:fld>
            <a:endParaRPr lang="zh-CN" altLang="en-US"/>
          </a:p>
        </p:txBody>
      </p:sp>
    </p:spTree>
    <p:extLst>
      <p:ext uri="{BB962C8B-B14F-4D97-AF65-F5344CB8AC3E}">
        <p14:creationId xmlns:p14="http://schemas.microsoft.com/office/powerpoint/2010/main" val="284586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E21B43F-C7F6-46BC-A9EA-C9A7FD2A72C3}" type="slidenum">
              <a:rPr lang="zh-CN" altLang="en-US" smtClean="0"/>
              <a:t>6</a:t>
            </a:fld>
            <a:endParaRPr lang="zh-CN" altLang="en-US"/>
          </a:p>
        </p:txBody>
      </p:sp>
    </p:spTree>
    <p:extLst>
      <p:ext uri="{BB962C8B-B14F-4D97-AF65-F5344CB8AC3E}">
        <p14:creationId xmlns:p14="http://schemas.microsoft.com/office/powerpoint/2010/main" val="1475957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a:t>
            </a:r>
            <a:r>
              <a:rPr lang="en-US" altLang="zh-CN" dirty="0" err="1" smtClean="0"/>
              <a:t>innnodb</a:t>
            </a:r>
            <a:r>
              <a:rPr lang="zh-CN" altLang="en-US" dirty="0" smtClean="0"/>
              <a:t>中定义</a:t>
            </a:r>
            <a:r>
              <a:rPr lang="en-US" altLang="zh-CN" dirty="0" smtClean="0"/>
              <a:t>hash</a:t>
            </a:r>
            <a:r>
              <a:rPr lang="zh-CN" altLang="en-US" dirty="0" smtClean="0"/>
              <a:t>索引不会被报错，但是底层实际实现依然是</a:t>
            </a:r>
            <a:r>
              <a:rPr lang="en-US" altLang="zh-CN" dirty="0" smtClean="0"/>
              <a:t>BTREE</a:t>
            </a:r>
            <a:r>
              <a:rPr lang="zh-CN" altLang="en-US" dirty="0" smtClean="0"/>
              <a:t>。使用</a:t>
            </a:r>
            <a:r>
              <a:rPr lang="en-US" altLang="zh-CN" dirty="0" err="1" smtClean="0"/>
              <a:t>Navicat</a:t>
            </a:r>
            <a:r>
              <a:rPr lang="zh-CN" altLang="en-US" dirty="0" smtClean="0"/>
              <a:t>定义</a:t>
            </a:r>
            <a:r>
              <a:rPr lang="en-US" altLang="zh-CN" dirty="0" smtClean="0"/>
              <a:t>hash</a:t>
            </a:r>
            <a:r>
              <a:rPr lang="zh-CN" altLang="en-US" dirty="0" smtClean="0"/>
              <a:t>索引保存后，自动修正显示为</a:t>
            </a:r>
            <a:r>
              <a:rPr lang="en-US" altLang="zh-CN" dirty="0" smtClean="0"/>
              <a:t>BTREE</a:t>
            </a:r>
            <a:r>
              <a:rPr lang="zh-CN" altLang="en-US" dirty="0" smtClean="0"/>
              <a:t>类型。</a:t>
            </a:r>
            <a:endParaRPr lang="en-US" altLang="zh-CN" dirty="0" smtClean="0"/>
          </a:p>
          <a:p>
            <a:r>
              <a:rPr lang="en-US" altLang="zh-CN" dirty="0" err="1" smtClean="0"/>
              <a:t>Innodb</a:t>
            </a:r>
            <a:r>
              <a:rPr lang="zh-CN" altLang="en-US" dirty="0" smtClean="0"/>
              <a:t>不允许用户显式定义</a:t>
            </a:r>
            <a:r>
              <a:rPr lang="en-US" altLang="zh-CN" dirty="0" smtClean="0"/>
              <a:t>hash</a:t>
            </a:r>
            <a:r>
              <a:rPr lang="zh-CN" altLang="en-US" dirty="0" smtClean="0"/>
              <a:t>索引，但是内部根据</a:t>
            </a:r>
            <a:r>
              <a:rPr lang="en-US" altLang="zh-CN" dirty="0" smtClean="0"/>
              <a:t>=</a:t>
            </a:r>
            <a:r>
              <a:rPr lang="zh-CN" altLang="en-US" dirty="0" smtClean="0"/>
              <a:t>和</a:t>
            </a:r>
            <a:r>
              <a:rPr lang="en-US" altLang="zh-CN" dirty="0" smtClean="0"/>
              <a:t>in</a:t>
            </a:r>
            <a:r>
              <a:rPr lang="zh-CN" altLang="en-US" dirty="0" smtClean="0"/>
              <a:t>的查询情况决定是否使用</a:t>
            </a:r>
            <a:r>
              <a:rPr lang="en-US" altLang="zh-CN" dirty="0" smtClean="0"/>
              <a:t>hash</a:t>
            </a:r>
            <a:r>
              <a:rPr lang="zh-CN" altLang="en-US" dirty="0" smtClean="0"/>
              <a:t>索引。查看自适应</a:t>
            </a:r>
            <a:r>
              <a:rPr lang="en-US" altLang="zh-CN" dirty="0" smtClean="0"/>
              <a:t>hash</a:t>
            </a:r>
            <a:r>
              <a:rPr lang="zh-CN" altLang="en-US" dirty="0" smtClean="0"/>
              <a:t>索引开启情况（默认打开）：</a:t>
            </a:r>
            <a:r>
              <a:rPr lang="en-US" altLang="zh-CN" dirty="0" smtClean="0"/>
              <a:t>show variables like '%</a:t>
            </a:r>
            <a:r>
              <a:rPr lang="en-US" altLang="zh-CN" dirty="0" err="1" smtClean="0"/>
              <a:t>ap%hash_index</a:t>
            </a:r>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fld id="{BE21B43F-C7F6-46BC-A9EA-C9A7FD2A72C3}" type="slidenum">
              <a:rPr lang="zh-CN" altLang="en-US" smtClean="0"/>
              <a:t>7</a:t>
            </a:fld>
            <a:endParaRPr lang="zh-CN" altLang="en-US"/>
          </a:p>
        </p:txBody>
      </p:sp>
    </p:spTree>
    <p:extLst>
      <p:ext uri="{BB962C8B-B14F-4D97-AF65-F5344CB8AC3E}">
        <p14:creationId xmlns:p14="http://schemas.microsoft.com/office/powerpoint/2010/main" val="691839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8</a:t>
            </a:fld>
            <a:endParaRPr lang="en-US" altLang="zh-CN">
              <a:latin typeface="Calibri"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smtClean="0"/>
              <a:t>优点：</a:t>
            </a:r>
            <a:r>
              <a:rPr lang="en-US" altLang="zh-CN" dirty="0" smtClean="0"/>
              <a:t>1. </a:t>
            </a:r>
            <a:r>
              <a:rPr lang="zh-CN" altLang="en-US" dirty="0" smtClean="0"/>
              <a:t>可以把相关数据保存在一起；</a:t>
            </a:r>
            <a:r>
              <a:rPr lang="zh-CN" altLang="en-US" baseline="0" dirty="0" smtClean="0"/>
              <a:t>  </a:t>
            </a:r>
            <a:r>
              <a:rPr lang="en-US" altLang="zh-CN" baseline="0" dirty="0" smtClean="0"/>
              <a:t>2.</a:t>
            </a:r>
            <a:r>
              <a:rPr lang="zh-CN" altLang="en-US" baseline="0" dirty="0" smtClean="0"/>
              <a:t>数据访问更快； </a:t>
            </a:r>
            <a:r>
              <a:rPr lang="en-US" altLang="zh-CN" baseline="0" dirty="0" smtClean="0"/>
              <a:t>3. </a:t>
            </a:r>
            <a:r>
              <a:rPr lang="zh-CN" altLang="en-US" baseline="0" dirty="0" smtClean="0"/>
              <a:t>使用覆盖索引扫描的查询可以直接使用页节点中的主键值。</a:t>
            </a:r>
            <a:endParaRPr lang="en-US" altLang="zh-CN" baseline="0" dirty="0" smtClean="0"/>
          </a:p>
          <a:p>
            <a:pPr eaLnBrk="1" hangingPunct="1">
              <a:spcBef>
                <a:spcPct val="0"/>
              </a:spcBef>
            </a:pPr>
            <a:r>
              <a:rPr lang="zh-CN" altLang="en-US" baseline="0" dirty="0" smtClean="0"/>
              <a:t>覆盖索引扫描：如果一个索引包含所有需要查询的字段的值，我们就称之为‘覆盖索引’。</a:t>
            </a:r>
            <a:endParaRPr lang="en-US" altLang="zh-CN" baseline="0" dirty="0" smtClean="0"/>
          </a:p>
          <a:p>
            <a:pPr eaLnBrk="1" hangingPunct="1">
              <a:spcBef>
                <a:spcPct val="0"/>
              </a:spcBef>
            </a:pPr>
            <a:r>
              <a:rPr lang="en-US" altLang="zh-CN" baseline="0" dirty="0" smtClean="0"/>
              <a:t>	</a:t>
            </a:r>
          </a:p>
          <a:p>
            <a:pPr eaLnBrk="1" hangingPunct="1">
              <a:spcBef>
                <a:spcPct val="0"/>
              </a:spcBef>
            </a:pPr>
            <a:r>
              <a:rPr lang="zh-CN" altLang="en-US" baseline="0" dirty="0" smtClean="0"/>
              <a:t>缺点：</a:t>
            </a:r>
            <a:r>
              <a:rPr lang="en-US" altLang="zh-CN" baseline="0" dirty="0" smtClean="0"/>
              <a:t>1. </a:t>
            </a:r>
            <a:r>
              <a:rPr lang="zh-CN" altLang="en-US" baseline="0" dirty="0" smtClean="0"/>
              <a:t>基于聚簇索引的表做插入和更新操作时，如果当行数据必须插入某个已满的页中时，该页将一分为二来容纳新数据。</a:t>
            </a:r>
            <a:endParaRPr lang="en-US" altLang="zh-CN" baseline="0" dirty="0" smtClean="0"/>
          </a:p>
          <a:p>
            <a:pPr eaLnBrk="1" hangingPunct="1">
              <a:spcBef>
                <a:spcPct val="0"/>
              </a:spcBef>
            </a:pPr>
            <a:r>
              <a:rPr lang="en-US" altLang="zh-CN" baseline="0" dirty="0" smtClean="0"/>
              <a:t>      2. </a:t>
            </a:r>
            <a:r>
              <a:rPr lang="zh-CN" altLang="en-US" baseline="0" dirty="0" smtClean="0"/>
              <a:t>二级索引可能比想象更大，二级索引的叶子节点存储了引用行的主键列（通过二级索引查数据，需要两次</a:t>
            </a:r>
            <a:r>
              <a:rPr lang="en-US" altLang="zh-CN" baseline="0" dirty="0" smtClean="0"/>
              <a:t>B-Tree</a:t>
            </a:r>
            <a:r>
              <a:rPr lang="zh-CN" altLang="en-US" baseline="0" dirty="0" smtClean="0"/>
              <a:t>查找）。</a:t>
            </a:r>
            <a:endParaRPr lang="zh-CN" altLang="en-US" dirty="0" smtClean="0"/>
          </a:p>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9</a:t>
            </a:fld>
            <a:endParaRPr lang="en-US" altLang="zh-CN">
              <a:latin typeface="Calibri"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smtClean="0"/>
              <a:t>顺序插入时，在上界产生竞争，对索引树右侧产生影响；靠左的存储页相对稳定，右侧将出现分页现象，碎片较少。</a:t>
            </a:r>
            <a:endParaRPr lang="en-US" altLang="zh-CN" dirty="0" smtClean="0"/>
          </a:p>
          <a:p>
            <a:pPr eaLnBrk="1" hangingPunct="1">
              <a:spcBef>
                <a:spcPct val="0"/>
              </a:spcBef>
            </a:pPr>
            <a:r>
              <a:rPr lang="zh-CN" altLang="en-US" dirty="0" smtClean="0"/>
              <a:t>乱序插入时，对全树可能有影响，每一页均可能出现数据增加，分页现象可能较多，碎片</a:t>
            </a:r>
            <a:r>
              <a:rPr lang="zh-CN" altLang="en-US" dirty="0" smtClean="0"/>
              <a:t>较多。</a:t>
            </a:r>
            <a:endParaRPr lang="en-US" altLang="zh-CN"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10</a:t>
            </a:fld>
            <a:endParaRPr lang="en-US" altLang="zh-CN">
              <a:latin typeface="Calibri"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sz="1200" b="0" i="0" kern="1200" dirty="0" smtClean="0">
                <a:solidFill>
                  <a:schemeClr val="tx1"/>
                </a:solidFill>
                <a:effectLst/>
                <a:latin typeface="+mn-lt"/>
                <a:ea typeface="+mn-ea"/>
                <a:cs typeface="+mn-cs"/>
              </a:rPr>
              <a:t>The index key prefix length limit is 767 bytes for </a:t>
            </a:r>
            <a:r>
              <a:rPr lang="en-US" altLang="zh-CN" dirty="0" err="1" smtClean="0"/>
              <a:t>InnoDB</a:t>
            </a:r>
            <a:r>
              <a:rPr lang="en-US" altLang="zh-CN" sz="1200" b="0" i="0" kern="1200" dirty="0" smtClean="0">
                <a:solidFill>
                  <a:schemeClr val="tx1"/>
                </a:solidFill>
                <a:effectLst/>
                <a:latin typeface="+mn-lt"/>
                <a:ea typeface="+mn-ea"/>
                <a:cs typeface="+mn-cs"/>
              </a:rPr>
              <a:t> tables that use the </a:t>
            </a:r>
            <a:r>
              <a:rPr lang="en-US" altLang="zh-CN" sz="1200" u="none" strike="noStrike" kern="1200" dirty="0" smtClean="0">
                <a:solidFill>
                  <a:schemeClr val="tx1"/>
                </a:solidFill>
                <a:effectLst/>
                <a:latin typeface="+mn-lt"/>
                <a:ea typeface="+mn-ea"/>
                <a:cs typeface="+mn-cs"/>
                <a:hlinkClick r:id="rId3" tooltip="redundant row format"/>
              </a:rPr>
              <a:t>REDUNDANT</a:t>
            </a:r>
            <a:r>
              <a:rPr lang="en-US" altLang="zh-CN" sz="1200" b="0" i="0" kern="1200" dirty="0" smtClean="0">
                <a:solidFill>
                  <a:schemeClr val="tx1"/>
                </a:solidFill>
                <a:effectLst/>
                <a:latin typeface="+mn-lt"/>
                <a:ea typeface="+mn-ea"/>
                <a:cs typeface="+mn-cs"/>
              </a:rPr>
              <a:t> or </a:t>
            </a:r>
            <a:r>
              <a:rPr lang="en-US" altLang="zh-CN" sz="1200" u="none" strike="noStrike" kern="1200" dirty="0" smtClean="0">
                <a:solidFill>
                  <a:schemeClr val="tx1"/>
                </a:solidFill>
                <a:effectLst/>
                <a:latin typeface="+mn-lt"/>
                <a:ea typeface="+mn-ea"/>
                <a:cs typeface="+mn-cs"/>
                <a:hlinkClick r:id="rId4" tooltip="compact row format"/>
              </a:rPr>
              <a:t>COMPACT</a:t>
            </a:r>
            <a:r>
              <a:rPr lang="en-US" altLang="zh-CN" sz="1200" b="0" i="0" kern="1200" dirty="0" smtClean="0">
                <a:solidFill>
                  <a:schemeClr val="tx1"/>
                </a:solidFill>
                <a:effectLst/>
                <a:latin typeface="+mn-lt"/>
                <a:ea typeface="+mn-ea"/>
                <a:cs typeface="+mn-cs"/>
              </a:rPr>
              <a:t> row format.</a:t>
            </a:r>
          </a:p>
          <a:p>
            <a:pPr eaLnBrk="1" hangingPunct="1">
              <a:spcBef>
                <a:spcPct val="0"/>
              </a:spcBef>
            </a:pPr>
            <a:r>
              <a:rPr lang="en-US" altLang="zh-CN" sz="1200" b="0" i="0" kern="1200" dirty="0" smtClean="0">
                <a:solidFill>
                  <a:schemeClr val="tx1"/>
                </a:solidFill>
                <a:effectLst/>
                <a:latin typeface="+mn-lt"/>
                <a:ea typeface="+mn-ea"/>
                <a:cs typeface="+mn-cs"/>
              </a:rPr>
              <a:t>For example, you might hit this limit with a </a:t>
            </a:r>
            <a:r>
              <a:rPr lang="en-US" altLang="zh-CN" sz="1200" b="0" i="0" u="none" strike="noStrike" kern="1200" dirty="0" smtClean="0">
                <a:solidFill>
                  <a:schemeClr val="tx1"/>
                </a:solidFill>
                <a:effectLst/>
                <a:latin typeface="+mn-lt"/>
                <a:ea typeface="+mn-ea"/>
                <a:cs typeface="+mn-cs"/>
                <a:hlinkClick r:id="rId5" tooltip="column prefix"/>
              </a:rPr>
              <a:t>column prefix</a:t>
            </a:r>
            <a:r>
              <a:rPr lang="en-US" altLang="zh-CN" sz="1200" b="0" i="0" kern="1200" dirty="0" smtClean="0">
                <a:solidFill>
                  <a:schemeClr val="tx1"/>
                </a:solidFill>
                <a:effectLst/>
                <a:latin typeface="+mn-lt"/>
                <a:ea typeface="+mn-ea"/>
                <a:cs typeface="+mn-cs"/>
              </a:rPr>
              <a:t> index of more than 255 characters on a </a:t>
            </a:r>
            <a:r>
              <a:rPr lang="en-US" altLang="zh-CN" dirty="0" smtClean="0"/>
              <a:t>TEXT</a:t>
            </a:r>
            <a:r>
              <a:rPr lang="en-US" altLang="zh-CN" sz="1200" b="0" i="0" kern="1200" dirty="0" smtClean="0">
                <a:solidFill>
                  <a:schemeClr val="tx1"/>
                </a:solidFill>
                <a:effectLst/>
                <a:latin typeface="+mn-lt"/>
                <a:ea typeface="+mn-ea"/>
                <a:cs typeface="+mn-cs"/>
              </a:rPr>
              <a:t> or </a:t>
            </a:r>
            <a:r>
              <a:rPr lang="en-US" altLang="zh-CN" dirty="0" smtClean="0"/>
              <a:t>VARCHAR</a:t>
            </a:r>
            <a:r>
              <a:rPr lang="en-US" altLang="zh-CN" sz="1200" b="0" i="0" kern="1200" dirty="0" smtClean="0">
                <a:solidFill>
                  <a:schemeClr val="tx1"/>
                </a:solidFill>
                <a:effectLst/>
                <a:latin typeface="+mn-lt"/>
                <a:ea typeface="+mn-ea"/>
                <a:cs typeface="+mn-cs"/>
              </a:rPr>
              <a:t> column, assuming a </a:t>
            </a:r>
            <a:r>
              <a:rPr lang="en-US" altLang="zh-CN" dirty="0" smtClean="0"/>
              <a:t>utf8mb3</a:t>
            </a:r>
            <a:r>
              <a:rPr lang="en-US" altLang="zh-CN" sz="1200" b="0" i="0" kern="1200" dirty="0" smtClean="0">
                <a:solidFill>
                  <a:schemeClr val="tx1"/>
                </a:solidFill>
                <a:effectLst/>
                <a:latin typeface="+mn-lt"/>
                <a:ea typeface="+mn-ea"/>
                <a:cs typeface="+mn-cs"/>
              </a:rPr>
              <a:t> character set and the maximum of 3 bytes for each character.</a:t>
            </a:r>
          </a:p>
          <a:p>
            <a:pPr eaLnBrk="1" hangingPunct="1">
              <a:spcBef>
                <a:spcPct val="0"/>
              </a:spcBef>
            </a:pPr>
            <a:endParaRPr lang="en-US" altLang="zh-CN" sz="1200" b="0" i="0" kern="1200" dirty="0" smtClean="0">
              <a:solidFill>
                <a:schemeClr val="tx1"/>
              </a:solidFill>
              <a:effectLst/>
              <a:latin typeface="+mn-lt"/>
              <a:ea typeface="+mn-ea"/>
              <a:cs typeface="+mn-cs"/>
            </a:endParaRPr>
          </a:p>
          <a:p>
            <a:pPr eaLnBrk="1" hangingPunct="1">
              <a:spcBef>
                <a:spcPct val="0"/>
              </a:spcBef>
            </a:pPr>
            <a:r>
              <a:rPr lang="en-US" altLang="zh-CN" dirty="0" err="1" smtClean="0"/>
              <a:t>mysql</a:t>
            </a:r>
            <a:r>
              <a:rPr lang="en-US" altLang="zh-CN" dirty="0" smtClean="0"/>
              <a:t>&gt; select @@</a:t>
            </a:r>
            <a:r>
              <a:rPr lang="en-US" altLang="zh-CN" dirty="0" err="1" smtClean="0"/>
              <a:t>innodb_large_prefix</a:t>
            </a:r>
            <a:r>
              <a:rPr lang="en-US" altLang="zh-CN" dirty="0" smtClean="0"/>
              <a:t>;</a:t>
            </a:r>
          </a:p>
          <a:p>
            <a:pPr eaLnBrk="1" hangingPunct="1">
              <a:spcBef>
                <a:spcPct val="0"/>
              </a:spcBef>
            </a:pPr>
            <a:r>
              <a:rPr lang="en-US" altLang="zh-CN" dirty="0" smtClean="0"/>
              <a:t>+-----------------------+</a:t>
            </a:r>
          </a:p>
          <a:p>
            <a:pPr eaLnBrk="1" hangingPunct="1">
              <a:spcBef>
                <a:spcPct val="0"/>
              </a:spcBef>
            </a:pPr>
            <a:r>
              <a:rPr lang="en-US" altLang="zh-CN" dirty="0" smtClean="0"/>
              <a:t>| @@</a:t>
            </a:r>
            <a:r>
              <a:rPr lang="en-US" altLang="zh-CN" dirty="0" err="1" smtClean="0"/>
              <a:t>innodb_large_prefix</a:t>
            </a:r>
            <a:r>
              <a:rPr lang="en-US" altLang="zh-CN" dirty="0" smtClean="0"/>
              <a:t> |</a:t>
            </a:r>
          </a:p>
          <a:p>
            <a:pPr eaLnBrk="1" hangingPunct="1">
              <a:spcBef>
                <a:spcPct val="0"/>
              </a:spcBef>
            </a:pPr>
            <a:r>
              <a:rPr lang="en-US" altLang="zh-CN" dirty="0" smtClean="0"/>
              <a:t>+-----------------------+</a:t>
            </a:r>
          </a:p>
          <a:p>
            <a:pPr eaLnBrk="1" hangingPunct="1">
              <a:spcBef>
                <a:spcPct val="0"/>
              </a:spcBef>
            </a:pPr>
            <a:r>
              <a:rPr lang="en-US" altLang="zh-CN" dirty="0" smtClean="0"/>
              <a:t>|                     1 |</a:t>
            </a:r>
          </a:p>
          <a:p>
            <a:pPr eaLnBrk="1" hangingPunct="1">
              <a:spcBef>
                <a:spcPct val="0"/>
              </a:spcBef>
            </a:pPr>
            <a:r>
              <a:rPr lang="en-US" altLang="zh-CN" dirty="0" smtClean="0"/>
              <a:t>+-----------------------+</a:t>
            </a:r>
            <a:endParaRPr lang="en-US" altLang="zh-CN"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11</a:t>
            </a:fld>
            <a:endParaRPr lang="en-US" altLang="zh-CN">
              <a:latin typeface="Calibri"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smtClean="0"/>
              <a:t>哈希索引的特点：</a:t>
            </a:r>
            <a:endParaRPr lang="en-US" altLang="zh-CN" dirty="0" smtClean="0"/>
          </a:p>
          <a:p>
            <a:pPr eaLnBrk="1" hangingPunct="1">
              <a:spcBef>
                <a:spcPct val="0"/>
              </a:spcBef>
            </a:pPr>
            <a:r>
              <a:rPr lang="zh-CN" altLang="en-US" dirty="0" smtClean="0"/>
              <a:t>  全值匹配，不支持范围查询，不支持不等查询</a:t>
            </a:r>
            <a:endParaRPr lang="en-US" altLang="zh-CN" dirty="0" smtClean="0"/>
          </a:p>
          <a:p>
            <a:pPr eaLnBrk="1" hangingPunct="1">
              <a:spcBef>
                <a:spcPct val="0"/>
              </a:spcBef>
            </a:pPr>
            <a:r>
              <a:rPr lang="en-US" altLang="zh-CN" dirty="0" smtClean="0"/>
              <a:t>  </a:t>
            </a:r>
            <a:r>
              <a:rPr lang="zh-CN" altLang="en-US" dirty="0" smtClean="0"/>
              <a:t>哈希值相同数据较多时，性能下降</a:t>
            </a: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12</a:t>
            </a:fld>
            <a:endParaRPr lang="en-US" altLang="zh-CN">
              <a:latin typeface="Calibri"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13</a:t>
            </a:fld>
            <a:endParaRPr lang="en-US" altLang="zh-CN">
              <a:latin typeface="Calibri"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14</a:t>
            </a:fld>
            <a:endParaRPr lang="en-US" altLang="zh-CN">
              <a:latin typeface="Calibri"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smtClean="0"/>
              <a:t>指定前缀长度的索引无法进行排序和分组。</a:t>
            </a:r>
            <a:endParaRPr lang="en-US" altLang="zh-CN" dirty="0" smtClean="0"/>
          </a:p>
          <a:p>
            <a:r>
              <a:rPr lang="zh-CN" altLang="en-US" dirty="0" smtClean="0"/>
              <a:t>实测</a:t>
            </a:r>
            <a:r>
              <a:rPr lang="zh-CN" altLang="en-US" dirty="0" smtClean="0">
                <a:effectLst/>
              </a:rPr>
              <a:t>查询多列索引的中间列： 查询字段满足覆盖索引条件时可以使用索引。</a:t>
            </a:r>
            <a:endParaRPr lang="en-US" altLang="zh-CN" dirty="0" smtClean="0">
              <a:effectLst/>
            </a:endParaRPr>
          </a:p>
          <a:p>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15</a:t>
            </a:fld>
            <a:endParaRPr lang="en-US" altLang="zh-CN">
              <a:latin typeface="Calibri"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kern="1200" dirty="0" smtClean="0">
                <a:solidFill>
                  <a:schemeClr val="tx1"/>
                </a:solidFill>
                <a:effectLst/>
                <a:latin typeface="+mn-lt"/>
                <a:ea typeface="+mn-ea"/>
                <a:cs typeface="+mn-cs"/>
              </a:rPr>
              <a:t>table </a:t>
            </a:r>
            <a:endParaRPr lang="zh-CN" altLang="en-US" dirty="0" smtClean="0">
              <a:effectLst/>
            </a:endParaRPr>
          </a:p>
          <a:p>
            <a:r>
              <a:rPr lang="zh-CN" altLang="en-US" sz="1200" kern="1200" dirty="0" smtClean="0">
                <a:solidFill>
                  <a:schemeClr val="tx1"/>
                </a:solidFill>
                <a:effectLst/>
                <a:latin typeface="+mn-lt"/>
                <a:ea typeface="+mn-ea"/>
                <a:cs typeface="+mn-cs"/>
              </a:rPr>
              <a:t>显示这一行的数据是关于哪张表的</a:t>
            </a:r>
            <a:endParaRPr lang="zh-CN" altLang="en-US" dirty="0" smtClean="0">
              <a:effectLst/>
            </a:endParaRPr>
          </a:p>
          <a:p>
            <a:r>
              <a:rPr lang="en-US" altLang="zh-CN" sz="1200" kern="1200" dirty="0" smtClean="0">
                <a:solidFill>
                  <a:schemeClr val="tx1"/>
                </a:solidFill>
                <a:effectLst/>
                <a:latin typeface="+mn-lt"/>
                <a:ea typeface="+mn-ea"/>
                <a:cs typeface="+mn-cs"/>
              </a:rPr>
              <a:t>type </a:t>
            </a:r>
            <a:endParaRPr lang="zh-CN" altLang="en-US" dirty="0" smtClean="0">
              <a:effectLst/>
            </a:endParaRPr>
          </a:p>
          <a:p>
            <a:r>
              <a:rPr lang="zh-CN" altLang="en-US" sz="1200" kern="1200" dirty="0" smtClean="0">
                <a:solidFill>
                  <a:schemeClr val="tx1"/>
                </a:solidFill>
                <a:effectLst/>
                <a:latin typeface="+mn-lt"/>
                <a:ea typeface="+mn-ea"/>
                <a:cs typeface="+mn-cs"/>
              </a:rPr>
              <a:t>显示连接使用了何种类型。从最好到最差的连接类型为</a:t>
            </a:r>
            <a:r>
              <a:rPr lang="en-US" altLang="zh-CN" sz="1200" kern="1200" dirty="0" err="1" smtClean="0">
                <a:solidFill>
                  <a:schemeClr val="tx1"/>
                </a:solidFill>
                <a:effectLst/>
                <a:latin typeface="+mn-lt"/>
                <a:ea typeface="+mn-ea"/>
                <a:cs typeface="+mn-cs"/>
              </a:rPr>
              <a:t>const</a:t>
            </a:r>
            <a:r>
              <a:rPr lang="zh-CN" altLang="en-US"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eq_reg</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ref</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range</a:t>
            </a:r>
            <a:r>
              <a:rPr lang="zh-CN" altLang="en-US"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indexhe</a:t>
            </a:r>
            <a:r>
              <a:rPr lang="zh-CN" altLang="en-US"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ALL</a:t>
            </a:r>
            <a:r>
              <a:rPr lang="zh-CN" altLang="en-US" sz="1200" kern="1200" dirty="0" smtClean="0">
                <a:solidFill>
                  <a:schemeClr val="tx1"/>
                </a:solidFill>
                <a:effectLst/>
                <a:latin typeface="+mn-lt"/>
                <a:ea typeface="+mn-ea"/>
                <a:cs typeface="+mn-cs"/>
              </a:rPr>
              <a:t>：</a:t>
            </a:r>
            <a:endParaRPr lang="zh-CN" altLang="en-US" dirty="0" smtClean="0">
              <a:effectLst/>
            </a:endParaRPr>
          </a:p>
          <a:p>
            <a:r>
              <a:rPr lang="en-US" altLang="zh-CN" sz="1200" kern="1200" dirty="0" smtClean="0">
                <a:solidFill>
                  <a:schemeClr val="tx1"/>
                </a:solidFill>
                <a:effectLst/>
                <a:latin typeface="+mn-lt"/>
                <a:ea typeface="+mn-ea"/>
                <a:cs typeface="+mn-cs"/>
              </a:rPr>
              <a:t>system</a:t>
            </a:r>
            <a:r>
              <a:rPr lang="zh-CN" altLang="en-US" sz="1200" kern="1200" dirty="0" smtClean="0">
                <a:solidFill>
                  <a:schemeClr val="tx1"/>
                </a:solidFill>
                <a:effectLst/>
                <a:latin typeface="+mn-lt"/>
                <a:ea typeface="+mn-ea"/>
                <a:cs typeface="+mn-cs"/>
              </a:rPr>
              <a:t>：表只有一行：</a:t>
            </a:r>
            <a:r>
              <a:rPr lang="en-US" altLang="zh-CN" sz="1200" kern="1200" dirty="0" smtClean="0">
                <a:solidFill>
                  <a:schemeClr val="tx1"/>
                </a:solidFill>
                <a:effectLst/>
                <a:latin typeface="+mn-lt"/>
                <a:ea typeface="+mn-ea"/>
                <a:cs typeface="+mn-cs"/>
              </a:rPr>
              <a:t>system</a:t>
            </a:r>
            <a:r>
              <a:rPr lang="zh-CN" altLang="en-US" sz="1200" kern="1200" dirty="0" smtClean="0">
                <a:solidFill>
                  <a:schemeClr val="tx1"/>
                </a:solidFill>
                <a:effectLst/>
                <a:latin typeface="+mn-lt"/>
                <a:ea typeface="+mn-ea"/>
                <a:cs typeface="+mn-cs"/>
              </a:rPr>
              <a:t>表。这是</a:t>
            </a:r>
            <a:r>
              <a:rPr lang="en-US" altLang="zh-CN" sz="1200" kern="1200" dirty="0" err="1" smtClean="0">
                <a:solidFill>
                  <a:schemeClr val="tx1"/>
                </a:solidFill>
                <a:effectLst/>
                <a:latin typeface="+mn-lt"/>
                <a:ea typeface="+mn-ea"/>
                <a:cs typeface="+mn-cs"/>
              </a:rPr>
              <a:t>const</a:t>
            </a:r>
            <a:r>
              <a:rPr lang="zh-CN" altLang="en-US" sz="1200" kern="1200" dirty="0" smtClean="0">
                <a:solidFill>
                  <a:schemeClr val="tx1"/>
                </a:solidFill>
                <a:effectLst/>
                <a:latin typeface="+mn-lt"/>
                <a:ea typeface="+mn-ea"/>
                <a:cs typeface="+mn-cs"/>
              </a:rPr>
              <a:t>连接类型的特殊情况。</a:t>
            </a:r>
            <a:endParaRPr lang="zh-CN" altLang="en-US" dirty="0" smtClean="0">
              <a:effectLst/>
            </a:endParaRPr>
          </a:p>
          <a:p>
            <a:r>
              <a:rPr lang="en-US" altLang="zh-CN" sz="1200" kern="1200" dirty="0" err="1" smtClean="0">
                <a:solidFill>
                  <a:schemeClr val="tx1"/>
                </a:solidFill>
                <a:effectLst/>
                <a:latin typeface="+mn-lt"/>
                <a:ea typeface="+mn-ea"/>
                <a:cs typeface="+mn-cs"/>
              </a:rPr>
              <a:t>const</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：表中的一个记录的最大值能够匹配这个查询（索引可以是主键或惟一索引）。因为只有一行，这个值实际就是常数，因为</a:t>
            </a:r>
            <a:r>
              <a:rPr lang="en-US" altLang="zh-CN" sz="1200" kern="1200" dirty="0"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先读这个值然后把它当做常数来对待。</a:t>
            </a:r>
            <a:endParaRPr lang="zh-CN" altLang="en-US" dirty="0" smtClean="0">
              <a:effectLst/>
            </a:endParaRPr>
          </a:p>
          <a:p>
            <a:r>
              <a:rPr lang="en-US" altLang="zh-CN" sz="1200" kern="1200" dirty="0" err="1" smtClean="0">
                <a:solidFill>
                  <a:schemeClr val="tx1"/>
                </a:solidFill>
                <a:effectLst/>
                <a:latin typeface="+mn-lt"/>
                <a:ea typeface="+mn-ea"/>
                <a:cs typeface="+mn-cs"/>
              </a:rPr>
              <a:t>eq_ref</a:t>
            </a:r>
            <a:r>
              <a:rPr lang="zh-CN" altLang="en-US" sz="1200" kern="1200" dirty="0" smtClean="0">
                <a:solidFill>
                  <a:schemeClr val="tx1"/>
                </a:solidFill>
                <a:effectLst/>
                <a:latin typeface="+mn-lt"/>
                <a:ea typeface="+mn-ea"/>
                <a:cs typeface="+mn-cs"/>
              </a:rPr>
              <a:t>：在连接中，</a:t>
            </a:r>
            <a:r>
              <a:rPr lang="en-US" altLang="zh-CN" sz="1200" kern="1200" dirty="0"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在查询时，从前面的表中，对每一个记录的联合都从表中读取一个记录，它在查询使用了索引为主键或惟一键的全部时使用。</a:t>
            </a:r>
            <a:endParaRPr lang="zh-CN" altLang="en-US" dirty="0" smtClean="0">
              <a:effectLst/>
            </a:endParaRPr>
          </a:p>
          <a:p>
            <a:r>
              <a:rPr lang="en-US" altLang="zh-CN" sz="1200" kern="1200" dirty="0" smtClean="0">
                <a:solidFill>
                  <a:schemeClr val="tx1"/>
                </a:solidFill>
                <a:effectLst/>
                <a:latin typeface="+mn-lt"/>
                <a:ea typeface="+mn-ea"/>
                <a:cs typeface="+mn-cs"/>
              </a:rPr>
              <a:t>ref</a:t>
            </a:r>
            <a:r>
              <a:rPr lang="zh-CN" altLang="en-US" sz="1200" kern="1200" dirty="0" smtClean="0">
                <a:solidFill>
                  <a:schemeClr val="tx1"/>
                </a:solidFill>
                <a:effectLst/>
                <a:latin typeface="+mn-lt"/>
                <a:ea typeface="+mn-ea"/>
                <a:cs typeface="+mn-cs"/>
              </a:rPr>
              <a:t>：这个连接类型只有在查询使用了不是惟一或主键的键或者是这些类型的部分（比如，利用最左边前缀）时发生。对于之前的表的每一个行联合，全部记录都将从表中读出。这个类型严重依赖于根据索引匹配的记录多少</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越少越好。</a:t>
            </a:r>
            <a:endParaRPr lang="zh-CN" altLang="en-US" dirty="0" smtClean="0">
              <a:effectLst/>
            </a:endParaRPr>
          </a:p>
          <a:p>
            <a:r>
              <a:rPr lang="en-US" altLang="zh-CN" sz="1200" kern="1200" dirty="0" smtClean="0">
                <a:solidFill>
                  <a:schemeClr val="tx1"/>
                </a:solidFill>
                <a:effectLst/>
                <a:latin typeface="+mn-lt"/>
                <a:ea typeface="+mn-ea"/>
                <a:cs typeface="+mn-cs"/>
              </a:rPr>
              <a:t>range</a:t>
            </a:r>
            <a:r>
              <a:rPr lang="zh-CN" altLang="en-US" sz="1200" kern="1200" dirty="0" smtClean="0">
                <a:solidFill>
                  <a:schemeClr val="tx1"/>
                </a:solidFill>
                <a:effectLst/>
                <a:latin typeface="+mn-lt"/>
                <a:ea typeface="+mn-ea"/>
                <a:cs typeface="+mn-cs"/>
              </a:rPr>
              <a:t>：这个连接类型使用索引返回一个范围中的行，比如使用</a:t>
            </a:r>
            <a:r>
              <a:rPr lang="en-US" altLang="zh-CN" sz="1200" kern="1200" dirty="0" smtClean="0">
                <a:solidFill>
                  <a:schemeClr val="tx1"/>
                </a:solidFill>
                <a:effectLst/>
                <a:latin typeface="+mn-lt"/>
                <a:ea typeface="+mn-ea"/>
                <a:cs typeface="+mn-cs"/>
              </a:rPr>
              <a:t>&gt;</a:t>
            </a:r>
            <a:r>
              <a:rPr lang="zh-CN" altLang="en-US" sz="1200" kern="1200" dirty="0" smtClean="0">
                <a:solidFill>
                  <a:schemeClr val="tx1"/>
                </a:solidFill>
                <a:effectLst/>
                <a:latin typeface="+mn-lt"/>
                <a:ea typeface="+mn-ea"/>
                <a:cs typeface="+mn-cs"/>
              </a:rPr>
              <a:t>或</a:t>
            </a:r>
            <a:r>
              <a:rPr lang="en-US" altLang="zh-CN" sz="1200" kern="1200" dirty="0" smtClean="0">
                <a:solidFill>
                  <a:schemeClr val="tx1"/>
                </a:solidFill>
                <a:effectLst/>
                <a:latin typeface="+mn-lt"/>
                <a:ea typeface="+mn-ea"/>
                <a:cs typeface="+mn-cs"/>
              </a:rPr>
              <a:t>&lt;</a:t>
            </a:r>
            <a:r>
              <a:rPr lang="zh-CN" altLang="en-US" sz="1200" kern="1200" dirty="0" smtClean="0">
                <a:solidFill>
                  <a:schemeClr val="tx1"/>
                </a:solidFill>
                <a:effectLst/>
                <a:latin typeface="+mn-lt"/>
                <a:ea typeface="+mn-ea"/>
                <a:cs typeface="+mn-cs"/>
              </a:rPr>
              <a:t>查找东西时发生的情况。</a:t>
            </a:r>
            <a:endParaRPr lang="zh-CN" altLang="en-US" dirty="0" smtClean="0">
              <a:effectLst/>
            </a:endParaRPr>
          </a:p>
          <a:p>
            <a:r>
              <a:rPr lang="en-US" altLang="zh-CN" sz="1200" kern="1200" dirty="0" smtClean="0">
                <a:solidFill>
                  <a:schemeClr val="tx1"/>
                </a:solidFill>
                <a:effectLst/>
                <a:latin typeface="+mn-lt"/>
                <a:ea typeface="+mn-ea"/>
                <a:cs typeface="+mn-cs"/>
              </a:rPr>
              <a:t>index</a:t>
            </a:r>
            <a:r>
              <a:rPr lang="zh-CN" altLang="en-US" sz="1200" kern="1200" dirty="0" smtClean="0">
                <a:solidFill>
                  <a:schemeClr val="tx1"/>
                </a:solidFill>
                <a:effectLst/>
                <a:latin typeface="+mn-lt"/>
                <a:ea typeface="+mn-ea"/>
                <a:cs typeface="+mn-cs"/>
              </a:rPr>
              <a:t>：这个连接类型对前面的表中的每一个记录联合进行完全扫描（比</a:t>
            </a:r>
            <a:r>
              <a:rPr lang="en-US" altLang="zh-CN" sz="1200" kern="1200" dirty="0" smtClean="0">
                <a:solidFill>
                  <a:schemeClr val="tx1"/>
                </a:solidFill>
                <a:effectLst/>
                <a:latin typeface="+mn-lt"/>
                <a:ea typeface="+mn-ea"/>
                <a:cs typeface="+mn-cs"/>
              </a:rPr>
              <a:t>ALL</a:t>
            </a:r>
            <a:r>
              <a:rPr lang="zh-CN" altLang="en-US" sz="1200" kern="1200" dirty="0" smtClean="0">
                <a:solidFill>
                  <a:schemeClr val="tx1"/>
                </a:solidFill>
                <a:effectLst/>
                <a:latin typeface="+mn-lt"/>
                <a:ea typeface="+mn-ea"/>
                <a:cs typeface="+mn-cs"/>
              </a:rPr>
              <a:t>更好，因为索引一般小于表数据）。</a:t>
            </a:r>
            <a:endParaRPr lang="zh-CN" altLang="en-US" dirty="0" smtClean="0">
              <a:effectLst/>
            </a:endParaRPr>
          </a:p>
          <a:p>
            <a:r>
              <a:rPr lang="en-US" altLang="zh-CN" sz="1200" kern="1200" dirty="0" smtClean="0">
                <a:solidFill>
                  <a:schemeClr val="tx1"/>
                </a:solidFill>
                <a:effectLst/>
                <a:latin typeface="+mn-lt"/>
                <a:ea typeface="+mn-ea"/>
                <a:cs typeface="+mn-cs"/>
              </a:rPr>
              <a:t>ALL</a:t>
            </a:r>
            <a:r>
              <a:rPr lang="zh-CN" altLang="en-US" sz="1200" kern="1200" dirty="0" smtClean="0">
                <a:solidFill>
                  <a:schemeClr val="tx1"/>
                </a:solidFill>
                <a:effectLst/>
                <a:latin typeface="+mn-lt"/>
                <a:ea typeface="+mn-ea"/>
                <a:cs typeface="+mn-cs"/>
              </a:rPr>
              <a:t>：这个连接类型对于前面的每一个记录联合进行完全扫描，这一般比较糟糕，应该尽量避免。</a:t>
            </a:r>
            <a:endParaRPr lang="zh-CN" altLang="en-US" dirty="0" smtClean="0">
              <a:effectLst/>
            </a:endParaRPr>
          </a:p>
          <a:p>
            <a:r>
              <a:rPr lang="en-US" altLang="zh-CN" sz="1200" kern="1200" dirty="0" err="1" smtClean="0">
                <a:solidFill>
                  <a:schemeClr val="tx1"/>
                </a:solidFill>
                <a:effectLst/>
                <a:latin typeface="+mn-lt"/>
                <a:ea typeface="+mn-ea"/>
                <a:cs typeface="+mn-cs"/>
              </a:rPr>
              <a:t>possible_keys</a:t>
            </a:r>
            <a:r>
              <a:rPr lang="en-US" altLang="zh-CN" sz="1200" kern="1200" dirty="0" smtClean="0">
                <a:solidFill>
                  <a:schemeClr val="tx1"/>
                </a:solidFill>
                <a:effectLst/>
                <a:latin typeface="+mn-lt"/>
                <a:ea typeface="+mn-ea"/>
                <a:cs typeface="+mn-cs"/>
              </a:rPr>
              <a:t> </a:t>
            </a:r>
            <a:endParaRPr lang="zh-CN" altLang="en-US" dirty="0" smtClean="0">
              <a:effectLst/>
            </a:endParaRPr>
          </a:p>
          <a:p>
            <a:r>
              <a:rPr lang="zh-CN" altLang="en-US" sz="1200" kern="1200" dirty="0" smtClean="0">
                <a:solidFill>
                  <a:schemeClr val="tx1"/>
                </a:solidFill>
                <a:effectLst/>
                <a:latin typeface="+mn-lt"/>
                <a:ea typeface="+mn-ea"/>
                <a:cs typeface="+mn-cs"/>
              </a:rPr>
              <a:t>显示可能应用在这张表中的索引。如果为空，没有可能的索引。可以为相关的域从</a:t>
            </a:r>
            <a:r>
              <a:rPr lang="en-US" altLang="zh-CN" sz="1200" kern="1200" dirty="0" smtClean="0">
                <a:solidFill>
                  <a:schemeClr val="tx1"/>
                </a:solidFill>
                <a:effectLst/>
                <a:latin typeface="+mn-lt"/>
                <a:ea typeface="+mn-ea"/>
                <a:cs typeface="+mn-cs"/>
              </a:rPr>
              <a:t>WHERE</a:t>
            </a:r>
            <a:r>
              <a:rPr lang="zh-CN" altLang="en-US" sz="1200" kern="1200" dirty="0" smtClean="0">
                <a:solidFill>
                  <a:schemeClr val="tx1"/>
                </a:solidFill>
                <a:effectLst/>
                <a:latin typeface="+mn-lt"/>
                <a:ea typeface="+mn-ea"/>
                <a:cs typeface="+mn-cs"/>
              </a:rPr>
              <a:t>语句中选择一个合适的语句</a:t>
            </a:r>
            <a:endParaRPr lang="zh-CN" altLang="en-US" dirty="0" smtClean="0">
              <a:effectLst/>
            </a:endParaRPr>
          </a:p>
          <a:p>
            <a:r>
              <a:rPr lang="en-US" altLang="zh-CN" sz="1200" kern="1200" dirty="0" smtClean="0">
                <a:solidFill>
                  <a:schemeClr val="tx1"/>
                </a:solidFill>
                <a:effectLst/>
                <a:latin typeface="+mn-lt"/>
                <a:ea typeface="+mn-ea"/>
                <a:cs typeface="+mn-cs"/>
              </a:rPr>
              <a:t>key </a:t>
            </a:r>
            <a:endParaRPr lang="zh-CN" altLang="en-US" dirty="0" smtClean="0">
              <a:effectLst/>
            </a:endParaRPr>
          </a:p>
          <a:p>
            <a:r>
              <a:rPr lang="zh-CN" altLang="en-US" sz="1200" kern="1200" dirty="0" smtClean="0">
                <a:solidFill>
                  <a:schemeClr val="tx1"/>
                </a:solidFill>
                <a:effectLst/>
                <a:latin typeface="+mn-lt"/>
                <a:ea typeface="+mn-ea"/>
                <a:cs typeface="+mn-cs"/>
              </a:rPr>
              <a:t>实际使用的索引。如果为</a:t>
            </a:r>
            <a:r>
              <a:rPr lang="en-US" altLang="zh-CN" sz="1200" kern="1200" dirty="0" smtClean="0">
                <a:solidFill>
                  <a:schemeClr val="tx1"/>
                </a:solidFill>
                <a:effectLst/>
                <a:latin typeface="+mn-lt"/>
                <a:ea typeface="+mn-ea"/>
                <a:cs typeface="+mn-cs"/>
              </a:rPr>
              <a:t>NULL</a:t>
            </a:r>
            <a:r>
              <a:rPr lang="zh-CN" altLang="en-US" sz="1200" kern="1200" dirty="0" smtClean="0">
                <a:solidFill>
                  <a:schemeClr val="tx1"/>
                </a:solidFill>
                <a:effectLst/>
                <a:latin typeface="+mn-lt"/>
                <a:ea typeface="+mn-ea"/>
                <a:cs typeface="+mn-cs"/>
              </a:rPr>
              <a:t>，则没有使用索引。很少的情况下，</a:t>
            </a:r>
            <a:r>
              <a:rPr lang="en-US" altLang="zh-CN" sz="1200" kern="1200" dirty="0"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会选择优化不足的索引。这种情况下，可以在</a:t>
            </a:r>
            <a:r>
              <a:rPr lang="en-US" altLang="zh-CN" sz="1200" kern="1200" dirty="0" smtClean="0">
                <a:solidFill>
                  <a:schemeClr val="tx1"/>
                </a:solidFill>
                <a:effectLst/>
                <a:latin typeface="+mn-lt"/>
                <a:ea typeface="+mn-ea"/>
                <a:cs typeface="+mn-cs"/>
              </a:rPr>
              <a:t>SELECT</a:t>
            </a:r>
            <a:r>
              <a:rPr lang="zh-CN" altLang="en-US" sz="1200" kern="1200" dirty="0" smtClean="0">
                <a:solidFill>
                  <a:schemeClr val="tx1"/>
                </a:solidFill>
                <a:effectLst/>
                <a:latin typeface="+mn-lt"/>
                <a:ea typeface="+mn-ea"/>
                <a:cs typeface="+mn-cs"/>
              </a:rPr>
              <a:t>语句中使用</a:t>
            </a:r>
            <a:r>
              <a:rPr lang="en-US" altLang="zh-CN" sz="1200" kern="1200" dirty="0" smtClean="0">
                <a:solidFill>
                  <a:schemeClr val="tx1"/>
                </a:solidFill>
                <a:effectLst/>
                <a:latin typeface="+mn-lt"/>
                <a:ea typeface="+mn-ea"/>
                <a:cs typeface="+mn-cs"/>
              </a:rPr>
              <a:t>USE INDEX</a:t>
            </a:r>
            <a:r>
              <a:rPr lang="zh-CN" altLang="en-US"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indexname</a:t>
            </a:r>
            <a:r>
              <a:rPr lang="zh-CN" altLang="en-US" sz="1200" kern="1200" dirty="0" smtClean="0">
                <a:solidFill>
                  <a:schemeClr val="tx1"/>
                </a:solidFill>
                <a:effectLst/>
                <a:latin typeface="+mn-lt"/>
                <a:ea typeface="+mn-ea"/>
                <a:cs typeface="+mn-cs"/>
              </a:rPr>
              <a:t>）来强制使用一个索引或者用</a:t>
            </a:r>
            <a:r>
              <a:rPr lang="en-US" altLang="zh-CN" sz="1200" kern="1200" dirty="0" smtClean="0">
                <a:solidFill>
                  <a:schemeClr val="tx1"/>
                </a:solidFill>
                <a:effectLst/>
                <a:latin typeface="+mn-lt"/>
                <a:ea typeface="+mn-ea"/>
                <a:cs typeface="+mn-cs"/>
              </a:rPr>
              <a:t>IGNORE INDEX</a:t>
            </a:r>
            <a:r>
              <a:rPr lang="zh-CN" altLang="en-US"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indexname</a:t>
            </a:r>
            <a:r>
              <a:rPr lang="zh-CN" altLang="en-US" sz="1200" kern="1200" dirty="0" smtClean="0">
                <a:solidFill>
                  <a:schemeClr val="tx1"/>
                </a:solidFill>
                <a:effectLst/>
                <a:latin typeface="+mn-lt"/>
                <a:ea typeface="+mn-ea"/>
                <a:cs typeface="+mn-cs"/>
              </a:rPr>
              <a:t>）来强制</a:t>
            </a:r>
            <a:r>
              <a:rPr lang="en-US" altLang="zh-CN" sz="1200" kern="1200" dirty="0"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忽略索引</a:t>
            </a:r>
            <a:endParaRPr lang="zh-CN" altLang="en-US" dirty="0" smtClean="0">
              <a:effectLst/>
            </a:endParaRPr>
          </a:p>
          <a:p>
            <a:r>
              <a:rPr lang="en-US" altLang="zh-CN" sz="1200" kern="1200" dirty="0" err="1" smtClean="0">
                <a:solidFill>
                  <a:schemeClr val="tx1"/>
                </a:solidFill>
                <a:effectLst/>
                <a:latin typeface="+mn-lt"/>
                <a:ea typeface="+mn-ea"/>
                <a:cs typeface="+mn-cs"/>
              </a:rPr>
              <a:t>key_len</a:t>
            </a:r>
            <a:r>
              <a:rPr lang="en-US" altLang="zh-CN" sz="1200" kern="1200" dirty="0" smtClean="0">
                <a:solidFill>
                  <a:schemeClr val="tx1"/>
                </a:solidFill>
                <a:effectLst/>
                <a:latin typeface="+mn-lt"/>
                <a:ea typeface="+mn-ea"/>
                <a:cs typeface="+mn-cs"/>
              </a:rPr>
              <a:t> </a:t>
            </a:r>
            <a:endParaRPr lang="zh-CN" altLang="en-US" dirty="0" smtClean="0">
              <a:effectLst/>
            </a:endParaRPr>
          </a:p>
          <a:p>
            <a:r>
              <a:rPr lang="zh-CN" altLang="en-US" sz="1200" kern="1200" dirty="0" smtClean="0">
                <a:solidFill>
                  <a:schemeClr val="tx1"/>
                </a:solidFill>
                <a:effectLst/>
                <a:latin typeface="+mn-lt"/>
                <a:ea typeface="+mn-ea"/>
                <a:cs typeface="+mn-cs"/>
              </a:rPr>
              <a:t>使用的索引的长度。在不损失精确性的情况下，长度越短越好</a:t>
            </a:r>
            <a:endParaRPr lang="zh-CN" altLang="en-US" dirty="0" smtClean="0">
              <a:effectLst/>
            </a:endParaRPr>
          </a:p>
          <a:p>
            <a:r>
              <a:rPr lang="en-US" altLang="zh-CN" sz="1200" kern="1200" dirty="0" smtClean="0">
                <a:solidFill>
                  <a:schemeClr val="tx1"/>
                </a:solidFill>
                <a:effectLst/>
                <a:latin typeface="+mn-lt"/>
                <a:ea typeface="+mn-ea"/>
                <a:cs typeface="+mn-cs"/>
              </a:rPr>
              <a:t>ref </a:t>
            </a:r>
            <a:endParaRPr lang="zh-CN" altLang="en-US" dirty="0" smtClean="0">
              <a:effectLst/>
            </a:endParaRPr>
          </a:p>
          <a:p>
            <a:r>
              <a:rPr lang="zh-CN" altLang="en-US" sz="1200" kern="1200" dirty="0" smtClean="0">
                <a:solidFill>
                  <a:schemeClr val="tx1"/>
                </a:solidFill>
                <a:effectLst/>
                <a:latin typeface="+mn-lt"/>
                <a:ea typeface="+mn-ea"/>
                <a:cs typeface="+mn-cs"/>
              </a:rPr>
              <a:t>显示索引的哪一列被使用了，如果可能的话，是一个常数</a:t>
            </a:r>
            <a:endParaRPr lang="zh-CN" altLang="en-US" dirty="0" smtClean="0">
              <a:effectLst/>
            </a:endParaRPr>
          </a:p>
          <a:p>
            <a:r>
              <a:rPr lang="en-US" altLang="zh-CN" sz="1200" kern="1200" dirty="0" smtClean="0">
                <a:solidFill>
                  <a:schemeClr val="tx1"/>
                </a:solidFill>
                <a:effectLst/>
                <a:latin typeface="+mn-lt"/>
                <a:ea typeface="+mn-ea"/>
                <a:cs typeface="+mn-cs"/>
              </a:rPr>
              <a:t>rows </a:t>
            </a:r>
            <a:endParaRPr lang="zh-CN" altLang="en-US" dirty="0" smtClean="0">
              <a:effectLst/>
            </a:endParaRPr>
          </a:p>
          <a:p>
            <a:r>
              <a:rPr lang="en-US" altLang="zh-CN" sz="1200" kern="1200" dirty="0"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认为必须检查的用来返回请求数据的行数</a:t>
            </a:r>
            <a:endParaRPr lang="zh-CN" altLang="en-US" dirty="0" smtClean="0">
              <a:effectLst/>
            </a:endParaRPr>
          </a:p>
          <a:p>
            <a:r>
              <a:rPr lang="en-US" altLang="zh-CN" sz="1200" kern="1200" dirty="0" smtClean="0">
                <a:solidFill>
                  <a:schemeClr val="tx1"/>
                </a:solidFill>
                <a:effectLst/>
                <a:latin typeface="+mn-lt"/>
                <a:ea typeface="+mn-ea"/>
                <a:cs typeface="+mn-cs"/>
              </a:rPr>
              <a:t>Extra </a:t>
            </a:r>
            <a:endParaRPr lang="zh-CN" altLang="en-US" dirty="0" smtClean="0">
              <a:effectLst/>
            </a:endParaRPr>
          </a:p>
          <a:p>
            <a:r>
              <a:rPr lang="zh-CN" altLang="en-US" sz="1200" kern="1200" dirty="0" smtClean="0">
                <a:solidFill>
                  <a:schemeClr val="tx1"/>
                </a:solidFill>
                <a:effectLst/>
                <a:latin typeface="+mn-lt"/>
                <a:ea typeface="+mn-ea"/>
                <a:cs typeface="+mn-cs"/>
              </a:rPr>
              <a:t>关于</a:t>
            </a:r>
            <a:r>
              <a:rPr lang="en-US" altLang="zh-CN" sz="1200" kern="1200" dirty="0"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如何解析查询的额外信息。将在表</a:t>
            </a:r>
            <a:r>
              <a:rPr lang="en-US" altLang="zh-CN" sz="1200" kern="1200" dirty="0" smtClean="0">
                <a:solidFill>
                  <a:schemeClr val="tx1"/>
                </a:solidFill>
                <a:effectLst/>
                <a:latin typeface="+mn-lt"/>
                <a:ea typeface="+mn-ea"/>
                <a:cs typeface="+mn-cs"/>
              </a:rPr>
              <a:t>4.3</a:t>
            </a:r>
            <a:r>
              <a:rPr lang="zh-CN" altLang="en-US" sz="1200" kern="1200" dirty="0" smtClean="0">
                <a:solidFill>
                  <a:schemeClr val="tx1"/>
                </a:solidFill>
                <a:effectLst/>
                <a:latin typeface="+mn-lt"/>
                <a:ea typeface="+mn-ea"/>
                <a:cs typeface="+mn-cs"/>
              </a:rPr>
              <a:t>中讨论，但这里可以看到的坏的例子是</a:t>
            </a:r>
            <a:r>
              <a:rPr lang="en-US" altLang="zh-CN" sz="1200" kern="1200" dirty="0" smtClean="0">
                <a:solidFill>
                  <a:schemeClr val="tx1"/>
                </a:solidFill>
                <a:effectLst/>
                <a:latin typeface="+mn-lt"/>
                <a:ea typeface="+mn-ea"/>
                <a:cs typeface="+mn-cs"/>
              </a:rPr>
              <a:t>Using temporary</a:t>
            </a:r>
            <a:r>
              <a:rPr lang="zh-CN" altLang="en-US"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Using </a:t>
            </a:r>
            <a:r>
              <a:rPr lang="en-US" altLang="zh-CN" sz="1200" kern="1200" dirty="0" err="1" smtClean="0">
                <a:solidFill>
                  <a:schemeClr val="tx1"/>
                </a:solidFill>
                <a:effectLst/>
                <a:latin typeface="+mn-lt"/>
                <a:ea typeface="+mn-ea"/>
                <a:cs typeface="+mn-cs"/>
              </a:rPr>
              <a:t>filesort</a:t>
            </a:r>
            <a:r>
              <a:rPr lang="zh-CN" altLang="en-US" sz="1200" kern="1200" dirty="0" smtClean="0">
                <a:solidFill>
                  <a:schemeClr val="tx1"/>
                </a:solidFill>
                <a:effectLst/>
                <a:latin typeface="+mn-lt"/>
                <a:ea typeface="+mn-ea"/>
                <a:cs typeface="+mn-cs"/>
              </a:rPr>
              <a:t>，意思</a:t>
            </a:r>
            <a:r>
              <a:rPr lang="en-US" altLang="zh-CN" sz="1200" kern="1200" dirty="0"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根本不能使用索引，结果是检索会很慢</a:t>
            </a:r>
            <a:endParaRPr lang="zh-CN" altLang="en-US" dirty="0" smtClean="0">
              <a:effectLst/>
            </a:endParaRPr>
          </a:p>
          <a:p>
            <a:r>
              <a:rPr lang="zh-CN" altLang="en-US" dirty="0" smtClean="0">
                <a:effectLst/>
              </a:rPr>
              <a:t/>
            </a:r>
            <a:br>
              <a:rPr lang="zh-CN" altLang="en-US" dirty="0" smtClean="0">
                <a:effectLst/>
              </a:rPr>
            </a:br>
            <a:endParaRPr lang="zh-CN" altLang="en-US" dirty="0" smtClean="0">
              <a:effectLst/>
            </a:endParaRPr>
          </a:p>
          <a:p>
            <a:r>
              <a:rPr lang="zh-CN" altLang="en-US" sz="1200" kern="1200" dirty="0" smtClean="0">
                <a:solidFill>
                  <a:schemeClr val="tx1"/>
                </a:solidFill>
                <a:effectLst/>
                <a:latin typeface="+mn-lt"/>
                <a:ea typeface="+mn-ea"/>
                <a:cs typeface="+mn-cs"/>
              </a:rPr>
              <a:t>说明：</a:t>
            </a:r>
            <a:r>
              <a:rPr lang="en-US" altLang="zh-CN" sz="1200" kern="1200" dirty="0" smtClean="0">
                <a:solidFill>
                  <a:schemeClr val="tx1"/>
                </a:solidFill>
                <a:effectLst/>
                <a:latin typeface="+mn-lt"/>
                <a:ea typeface="+mn-ea"/>
                <a:cs typeface="+mn-cs"/>
              </a:rPr>
              <a:t>extra</a:t>
            </a:r>
            <a:r>
              <a:rPr lang="zh-CN" altLang="en-US" sz="1200" kern="1200" dirty="0" smtClean="0">
                <a:solidFill>
                  <a:schemeClr val="tx1"/>
                </a:solidFill>
                <a:effectLst/>
                <a:latin typeface="+mn-lt"/>
                <a:ea typeface="+mn-ea"/>
                <a:cs typeface="+mn-cs"/>
              </a:rPr>
              <a:t>列返回的描述的意义</a:t>
            </a:r>
            <a:endParaRPr lang="zh-CN" altLang="en-US" dirty="0" smtClean="0">
              <a:effectLst/>
            </a:endParaRPr>
          </a:p>
          <a:p>
            <a:r>
              <a:rPr lang="en-US" altLang="zh-CN" sz="1200" kern="1200" dirty="0" smtClean="0">
                <a:solidFill>
                  <a:schemeClr val="tx1"/>
                </a:solidFill>
                <a:effectLst/>
                <a:latin typeface="+mn-lt"/>
                <a:ea typeface="+mn-ea"/>
                <a:cs typeface="+mn-cs"/>
              </a:rPr>
              <a:t>Distinct </a:t>
            </a:r>
            <a:r>
              <a:rPr lang="zh-CN" altLang="en-US" sz="1200" kern="1200" dirty="0" smtClean="0">
                <a:solidFill>
                  <a:schemeClr val="tx1"/>
                </a:solidFill>
                <a:effectLst/>
                <a:latin typeface="+mn-lt"/>
                <a:ea typeface="+mn-ea"/>
                <a:cs typeface="+mn-cs"/>
              </a:rPr>
              <a:t>：一旦</a:t>
            </a:r>
            <a:r>
              <a:rPr lang="en-US" altLang="zh-CN" sz="1200" kern="1200" dirty="0" err="1"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找到了与行相联合匹配的行，就不再搜索了。</a:t>
            </a:r>
            <a:endParaRPr lang="zh-CN" altLang="en-US" dirty="0" smtClean="0">
              <a:effectLst/>
            </a:endParaRPr>
          </a:p>
          <a:p>
            <a:r>
              <a:rPr lang="en-US" altLang="zh-CN" sz="1200" kern="1200" dirty="0" smtClean="0">
                <a:solidFill>
                  <a:schemeClr val="tx1"/>
                </a:solidFill>
                <a:effectLst/>
                <a:latin typeface="+mn-lt"/>
                <a:ea typeface="+mn-ea"/>
                <a:cs typeface="+mn-cs"/>
              </a:rPr>
              <a:t>Not exists </a:t>
            </a:r>
            <a:r>
              <a:rPr lang="zh-CN" altLang="en-US"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优化了</a:t>
            </a:r>
            <a:r>
              <a:rPr lang="en-US" altLang="zh-CN" sz="1200" kern="1200" dirty="0" smtClean="0">
                <a:solidFill>
                  <a:schemeClr val="tx1"/>
                </a:solidFill>
                <a:effectLst/>
                <a:latin typeface="+mn-lt"/>
                <a:ea typeface="+mn-ea"/>
                <a:cs typeface="+mn-cs"/>
              </a:rPr>
              <a:t>LEFT JOIN</a:t>
            </a:r>
            <a:r>
              <a:rPr lang="zh-CN" altLang="en-US" sz="1200" kern="1200" dirty="0" smtClean="0">
                <a:solidFill>
                  <a:schemeClr val="tx1"/>
                </a:solidFill>
                <a:effectLst/>
                <a:latin typeface="+mn-lt"/>
                <a:ea typeface="+mn-ea"/>
                <a:cs typeface="+mn-cs"/>
              </a:rPr>
              <a:t>，一旦它找到了匹配</a:t>
            </a:r>
            <a:r>
              <a:rPr lang="en-US" altLang="zh-CN" sz="1200" kern="1200" dirty="0" smtClean="0">
                <a:solidFill>
                  <a:schemeClr val="tx1"/>
                </a:solidFill>
                <a:effectLst/>
                <a:latin typeface="+mn-lt"/>
                <a:ea typeface="+mn-ea"/>
                <a:cs typeface="+mn-cs"/>
              </a:rPr>
              <a:t>LEFT JOIN</a:t>
            </a:r>
            <a:r>
              <a:rPr lang="zh-CN" altLang="en-US" sz="1200" kern="1200" dirty="0" smtClean="0">
                <a:solidFill>
                  <a:schemeClr val="tx1"/>
                </a:solidFill>
                <a:effectLst/>
                <a:latin typeface="+mn-lt"/>
                <a:ea typeface="+mn-ea"/>
                <a:cs typeface="+mn-cs"/>
              </a:rPr>
              <a:t>标准的行，就不再搜索了。</a:t>
            </a:r>
            <a:endParaRPr lang="zh-CN" altLang="en-US" dirty="0" smtClean="0">
              <a:effectLst/>
            </a:endParaRPr>
          </a:p>
          <a:p>
            <a:r>
              <a:rPr lang="en-US" altLang="zh-CN" sz="1200" kern="1200" dirty="0" smtClean="0">
                <a:solidFill>
                  <a:schemeClr val="tx1"/>
                </a:solidFill>
                <a:effectLst/>
                <a:latin typeface="+mn-lt"/>
                <a:ea typeface="+mn-ea"/>
                <a:cs typeface="+mn-cs"/>
              </a:rPr>
              <a:t>Range checked for each Record</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index map:#</a:t>
            </a:r>
            <a:r>
              <a:rPr lang="zh-CN" altLang="en-US" sz="1200" kern="1200" dirty="0" smtClean="0">
                <a:solidFill>
                  <a:schemeClr val="tx1"/>
                </a:solidFill>
                <a:effectLst/>
                <a:latin typeface="+mn-lt"/>
                <a:ea typeface="+mn-ea"/>
                <a:cs typeface="+mn-cs"/>
              </a:rPr>
              <a:t>） ：没有找到理想的索引，因此对从前面表中来的每一个行组合，</a:t>
            </a:r>
            <a:r>
              <a:rPr lang="en-US" altLang="zh-CN" sz="1200" kern="1200" dirty="0" err="1"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检查使用哪个索引，并用它来从表中返回行。这是使用索引的最慢的连接之一。</a:t>
            </a:r>
            <a:endParaRPr lang="zh-CN" altLang="en-US" dirty="0" smtClean="0">
              <a:effectLst/>
            </a:endParaRPr>
          </a:p>
          <a:p>
            <a:r>
              <a:rPr lang="en-US" altLang="zh-CN" sz="1200" kern="1200" dirty="0" smtClean="0">
                <a:solidFill>
                  <a:schemeClr val="tx1"/>
                </a:solidFill>
                <a:effectLst/>
                <a:latin typeface="+mn-lt"/>
                <a:ea typeface="+mn-ea"/>
                <a:cs typeface="+mn-cs"/>
              </a:rPr>
              <a:t>Using </a:t>
            </a:r>
            <a:r>
              <a:rPr lang="en-US" altLang="zh-CN" sz="1200" kern="1200" dirty="0" err="1" smtClean="0">
                <a:solidFill>
                  <a:schemeClr val="tx1"/>
                </a:solidFill>
                <a:effectLst/>
                <a:latin typeface="+mn-lt"/>
                <a:ea typeface="+mn-ea"/>
                <a:cs typeface="+mn-cs"/>
              </a:rPr>
              <a:t>filesort</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：看到这个的时候，查询就需要优化了。</a:t>
            </a:r>
            <a:r>
              <a:rPr lang="en-US" altLang="zh-CN" sz="1200" kern="1200" dirty="0" err="1"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需要进行额外的步骤来发现如何对返回的行排序。它根据连接类型以及存储排序键值和匹配条件的全部行的行指针来排序全部行。</a:t>
            </a:r>
            <a:endParaRPr lang="zh-CN" altLang="en-US" dirty="0" smtClean="0">
              <a:effectLst/>
            </a:endParaRPr>
          </a:p>
          <a:p>
            <a:r>
              <a:rPr lang="en-US" altLang="zh-CN" sz="1200" kern="1200" dirty="0" smtClean="0">
                <a:solidFill>
                  <a:schemeClr val="tx1"/>
                </a:solidFill>
                <a:effectLst/>
                <a:latin typeface="+mn-lt"/>
                <a:ea typeface="+mn-ea"/>
                <a:cs typeface="+mn-cs"/>
              </a:rPr>
              <a:t>Using index </a:t>
            </a:r>
            <a:r>
              <a:rPr lang="zh-CN" altLang="en-US" sz="1200" kern="1200" dirty="0" smtClean="0">
                <a:solidFill>
                  <a:schemeClr val="tx1"/>
                </a:solidFill>
                <a:effectLst/>
                <a:latin typeface="+mn-lt"/>
                <a:ea typeface="+mn-ea"/>
                <a:cs typeface="+mn-cs"/>
              </a:rPr>
              <a:t>：列数据是从仅仅使用了索引中的信息而没有读取实际的行动的表返回的，这发生在对表的全部的请求列都是同一个索引的部分的时候。</a:t>
            </a:r>
            <a:endParaRPr lang="zh-CN" altLang="en-US" dirty="0" smtClean="0">
              <a:effectLst/>
            </a:endParaRPr>
          </a:p>
          <a:p>
            <a:r>
              <a:rPr lang="en-US" altLang="zh-CN" sz="1200" kern="1200" dirty="0" smtClean="0">
                <a:solidFill>
                  <a:schemeClr val="tx1"/>
                </a:solidFill>
                <a:effectLst/>
                <a:latin typeface="+mn-lt"/>
                <a:ea typeface="+mn-ea"/>
                <a:cs typeface="+mn-cs"/>
              </a:rPr>
              <a:t>Using temporary </a:t>
            </a:r>
            <a:r>
              <a:rPr lang="zh-CN" altLang="en-US" sz="1200" kern="1200" dirty="0" smtClean="0">
                <a:solidFill>
                  <a:schemeClr val="tx1"/>
                </a:solidFill>
                <a:effectLst/>
                <a:latin typeface="+mn-lt"/>
                <a:ea typeface="+mn-ea"/>
                <a:cs typeface="+mn-cs"/>
              </a:rPr>
              <a:t>：看到这个的时候，查询需要优化了。这里，</a:t>
            </a:r>
            <a:r>
              <a:rPr lang="en-US" altLang="zh-CN" sz="1200" kern="1200" dirty="0" err="1"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需要创建一个临时表来存储结果，这通常发生在对不同的列集进行</a:t>
            </a:r>
            <a:r>
              <a:rPr lang="en-US" altLang="zh-CN" sz="1200" kern="1200" dirty="0" smtClean="0">
                <a:solidFill>
                  <a:schemeClr val="tx1"/>
                </a:solidFill>
                <a:effectLst/>
                <a:latin typeface="+mn-lt"/>
                <a:ea typeface="+mn-ea"/>
                <a:cs typeface="+mn-cs"/>
              </a:rPr>
              <a:t>ORDER BY</a:t>
            </a:r>
            <a:r>
              <a:rPr lang="zh-CN" altLang="en-US" sz="1200" kern="1200" dirty="0" smtClean="0">
                <a:solidFill>
                  <a:schemeClr val="tx1"/>
                </a:solidFill>
                <a:effectLst/>
                <a:latin typeface="+mn-lt"/>
                <a:ea typeface="+mn-ea"/>
                <a:cs typeface="+mn-cs"/>
              </a:rPr>
              <a:t>上，而不是</a:t>
            </a:r>
            <a:r>
              <a:rPr lang="en-US" altLang="zh-CN" sz="1200" kern="1200" dirty="0" smtClean="0">
                <a:solidFill>
                  <a:schemeClr val="tx1"/>
                </a:solidFill>
                <a:effectLst/>
                <a:latin typeface="+mn-lt"/>
                <a:ea typeface="+mn-ea"/>
                <a:cs typeface="+mn-cs"/>
              </a:rPr>
              <a:t>GROUP BY</a:t>
            </a:r>
            <a:r>
              <a:rPr lang="zh-CN" altLang="en-US" sz="1200" kern="1200" dirty="0" smtClean="0">
                <a:solidFill>
                  <a:schemeClr val="tx1"/>
                </a:solidFill>
                <a:effectLst/>
                <a:latin typeface="+mn-lt"/>
                <a:ea typeface="+mn-ea"/>
                <a:cs typeface="+mn-cs"/>
              </a:rPr>
              <a:t>上。</a:t>
            </a:r>
            <a:endParaRPr lang="zh-CN" altLang="en-US" dirty="0" smtClean="0">
              <a:effectLst/>
            </a:endParaRPr>
          </a:p>
          <a:p>
            <a:r>
              <a:rPr lang="en-US" altLang="zh-CN" sz="1200" kern="1200" dirty="0" smtClean="0">
                <a:solidFill>
                  <a:schemeClr val="tx1"/>
                </a:solidFill>
                <a:effectLst/>
                <a:latin typeface="+mn-lt"/>
                <a:ea typeface="+mn-ea"/>
                <a:cs typeface="+mn-cs"/>
              </a:rPr>
              <a:t>Where used </a:t>
            </a:r>
            <a:r>
              <a:rPr lang="zh-CN" altLang="en-US" sz="1200" kern="1200" dirty="0" smtClean="0">
                <a:solidFill>
                  <a:schemeClr val="tx1"/>
                </a:solidFill>
                <a:effectLst/>
                <a:latin typeface="+mn-lt"/>
                <a:ea typeface="+mn-ea"/>
                <a:cs typeface="+mn-cs"/>
              </a:rPr>
              <a:t>：使用了</a:t>
            </a:r>
            <a:r>
              <a:rPr lang="en-US" altLang="zh-CN" sz="1200" kern="1200" dirty="0" smtClean="0">
                <a:solidFill>
                  <a:schemeClr val="tx1"/>
                </a:solidFill>
                <a:effectLst/>
                <a:latin typeface="+mn-lt"/>
                <a:ea typeface="+mn-ea"/>
                <a:cs typeface="+mn-cs"/>
              </a:rPr>
              <a:t>WHERE</a:t>
            </a:r>
            <a:r>
              <a:rPr lang="zh-CN" altLang="en-US" sz="1200" kern="1200" dirty="0" smtClean="0">
                <a:solidFill>
                  <a:schemeClr val="tx1"/>
                </a:solidFill>
                <a:effectLst/>
                <a:latin typeface="+mn-lt"/>
                <a:ea typeface="+mn-ea"/>
                <a:cs typeface="+mn-cs"/>
              </a:rPr>
              <a:t>从句来限制哪些行将与下一张表匹配或者是返回给用户。如果不想返回表中的全部行，并且连接类型</a:t>
            </a:r>
            <a:r>
              <a:rPr lang="en-US" altLang="zh-CN" sz="1200" kern="1200" dirty="0" smtClean="0">
                <a:solidFill>
                  <a:schemeClr val="tx1"/>
                </a:solidFill>
                <a:effectLst/>
                <a:latin typeface="+mn-lt"/>
                <a:ea typeface="+mn-ea"/>
                <a:cs typeface="+mn-cs"/>
              </a:rPr>
              <a:t>ALL</a:t>
            </a:r>
            <a:r>
              <a:rPr lang="zh-CN" altLang="en-US" sz="1200" kern="1200" dirty="0" smtClean="0">
                <a:solidFill>
                  <a:schemeClr val="tx1"/>
                </a:solidFill>
                <a:effectLst/>
                <a:latin typeface="+mn-lt"/>
                <a:ea typeface="+mn-ea"/>
                <a:cs typeface="+mn-cs"/>
              </a:rPr>
              <a:t>或</a:t>
            </a:r>
            <a:r>
              <a:rPr lang="en-US" altLang="zh-CN" sz="1200" kern="1200" dirty="0" smtClean="0">
                <a:solidFill>
                  <a:schemeClr val="tx1"/>
                </a:solidFill>
                <a:effectLst/>
                <a:latin typeface="+mn-lt"/>
                <a:ea typeface="+mn-ea"/>
                <a:cs typeface="+mn-cs"/>
              </a:rPr>
              <a:t>index</a:t>
            </a:r>
            <a:r>
              <a:rPr lang="zh-CN" altLang="en-US" sz="1200" kern="1200" dirty="0" smtClean="0">
                <a:solidFill>
                  <a:schemeClr val="tx1"/>
                </a:solidFill>
                <a:effectLst/>
                <a:latin typeface="+mn-lt"/>
                <a:ea typeface="+mn-ea"/>
                <a:cs typeface="+mn-cs"/>
              </a:rPr>
              <a:t>，这就会发生，或者是查询有问题。</a:t>
            </a:r>
            <a:endParaRPr lang="zh-CN" altLang="en-US" dirty="0" smtClean="0">
              <a:effectLst/>
            </a:endParaRPr>
          </a:p>
          <a:p>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16</a:t>
            </a:fld>
            <a:endParaRPr lang="en-US" altLang="zh-CN">
              <a:latin typeface="Calibri"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17</a:t>
            </a:fld>
            <a:endParaRPr lang="en-US" altLang="zh-CN">
              <a:latin typeface="Calibri"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smtClean="0">
                <a:effectLst/>
              </a:rPr>
              <a:t>FULLTEXT</a:t>
            </a:r>
            <a:r>
              <a:rPr lang="zh-CN" altLang="en-US" dirty="0" smtClean="0">
                <a:effectLst/>
              </a:rPr>
              <a:t>索引的使用方式  </a:t>
            </a:r>
            <a:r>
              <a:rPr lang="en-US" altLang="zh-CN" dirty="0" smtClean="0">
                <a:effectLst/>
              </a:rPr>
              <a:t>MATCH</a:t>
            </a:r>
            <a:r>
              <a:rPr lang="en-US" altLang="zh-CN" baseline="0" dirty="0" smtClean="0">
                <a:effectLst/>
              </a:rPr>
              <a:t> AGAINST</a:t>
            </a:r>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18</a:t>
            </a:fld>
            <a:endParaRPr lang="en-US" altLang="zh-CN">
              <a:latin typeface="Calibri"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smtClean="0">
                <a:effectLst/>
              </a:rPr>
              <a:t>FULLTEXT</a:t>
            </a:r>
            <a:r>
              <a:rPr lang="zh-CN" altLang="en-US" dirty="0" smtClean="0">
                <a:effectLst/>
              </a:rPr>
              <a:t>索引的使用方式  </a:t>
            </a:r>
            <a:r>
              <a:rPr lang="en-US" altLang="zh-CN" dirty="0" smtClean="0">
                <a:effectLst/>
              </a:rPr>
              <a:t>MATCH</a:t>
            </a:r>
            <a:r>
              <a:rPr lang="en-US" altLang="zh-CN" baseline="0" dirty="0" smtClean="0">
                <a:effectLst/>
              </a:rPr>
              <a:t> AGAINST</a:t>
            </a:r>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19</a:t>
            </a:fld>
            <a:endParaRPr lang="en-US" altLang="zh-CN">
              <a:latin typeface="Calibri"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20</a:t>
            </a:fld>
            <a:endParaRPr lang="en-US" altLang="zh-CN">
              <a:latin typeface="Calibri"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21</a:t>
            </a:fld>
            <a:endParaRPr lang="en-US" altLang="zh-CN">
              <a:latin typeface="Calibri"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22</a:t>
            </a:fld>
            <a:endParaRPr lang="en-US" altLang="zh-CN">
              <a:latin typeface="Calibri"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23</a:t>
            </a:fld>
            <a:endParaRPr lang="en-US" altLang="zh-CN">
              <a:latin typeface="Calibri"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smtClean="0">
                <a:effectLst/>
              </a:rPr>
              <a:t>MySQL</a:t>
            </a:r>
            <a:r>
              <a:rPr lang="zh-CN" altLang="en-US" dirty="0" smtClean="0">
                <a:effectLst/>
              </a:rPr>
              <a:t>扫描尽可能少的页面来提高分页效率</a:t>
            </a:r>
            <a:r>
              <a:rPr lang="en-US" altLang="zh-CN" dirty="0" smtClean="0">
                <a:effectLst/>
              </a:rPr>
              <a:t>w</a:t>
            </a:r>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24</a:t>
            </a:fld>
            <a:endParaRPr lang="en-US" altLang="zh-CN">
              <a:latin typeface="Calibri"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25</a:t>
            </a:fld>
            <a:endParaRPr lang="en-US" altLang="zh-CN">
              <a:latin typeface="Calibri"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26</a:t>
            </a:fld>
            <a:endParaRPr lang="en-US" altLang="zh-CN">
              <a:latin typeface="Calibri"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smtClean="0">
                <a:effectLst/>
              </a:rPr>
              <a:t>对索引的使用要持警惕态度，不</a:t>
            </a:r>
            <a:r>
              <a:rPr lang="zh-CN" altLang="en-US" smtClean="0">
                <a:effectLst/>
              </a:rPr>
              <a:t>具性能的</a:t>
            </a:r>
            <a:r>
              <a:rPr lang="zh-CN" altLang="en-US" dirty="0" smtClean="0">
                <a:effectLst/>
              </a:rPr>
              <a:t>索引都会带来额外的负担。</a:t>
            </a:r>
            <a:endParaRPr lang="zh-CN" altLang="en-US" dirty="0">
              <a:effectLst/>
            </a:endParaRPr>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27</a:t>
            </a:fld>
            <a:endParaRPr lang="en-US" altLang="zh-CN">
              <a:latin typeface="Calibri"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28</a:t>
            </a:fld>
            <a:endParaRPr lang="en-US" altLang="zh-CN">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2019-4-19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2019-4-19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2019-4-19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2019-4-19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2019-4-19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2019-4-19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2019-4-19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2019-4-19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2019-4-19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2019-4-19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2019-4-19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5" name="Picture 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29400" y="0"/>
            <a:ext cx="200660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Picture Placeholder 13"/>
          <p:cNvSpPr>
            <a:spLocks noGrp="1"/>
          </p:cNvSpPr>
          <p:nvPr>
            <p:ph type="pic" sz="quarter" idx="10"/>
          </p:nvPr>
        </p:nvSpPr>
        <p:spPr>
          <a:xfrm>
            <a:off x="245898" y="252000"/>
            <a:ext cx="8646102" cy="4572012"/>
          </a:xfrm>
          <a:solidFill>
            <a:schemeClr val="bg2">
              <a:lumMod val="90000"/>
            </a:schemeClr>
          </a:solidFill>
          <a:ln>
            <a:noFill/>
          </a:ln>
        </p:spPr>
        <p:txBody>
          <a:bodyPr rtlCol="0">
            <a:normAutofit/>
          </a:bodyPr>
          <a:lstStyle>
            <a:lvl1pPr marL="0" indent="0">
              <a:buFontTx/>
              <a:buNone/>
              <a:defRPr sz="1600"/>
            </a:lvl1pPr>
          </a:lstStyle>
          <a:p>
            <a:pPr lvl="0"/>
            <a:r>
              <a:rPr lang="zh-CN" altLang="en-US" noProof="0" smtClean="0"/>
              <a:t>单击图标添加图片</a:t>
            </a:r>
            <a:endParaRPr lang="en-US" noProof="0" dirty="0"/>
          </a:p>
        </p:txBody>
      </p:sp>
      <p:sp>
        <p:nvSpPr>
          <p:cNvPr id="2" name="Title 1"/>
          <p:cNvSpPr>
            <a:spLocks noGrp="1"/>
          </p:cNvSpPr>
          <p:nvPr>
            <p:ph type="ctrTitle"/>
          </p:nvPr>
        </p:nvSpPr>
        <p:spPr>
          <a:xfrm>
            <a:off x="500621" y="4944156"/>
            <a:ext cx="7772400" cy="985358"/>
          </a:xfrm>
        </p:spPr>
        <p:txBody>
          <a:bodyPr rtlCol="0" anchor="t">
            <a:normAutofit/>
          </a:bodyPr>
          <a:lstStyle>
            <a:lvl1pPr>
              <a:defRPr lang="en-US" sz="3200" b="1" i="0" dirty="0">
                <a:latin typeface="Arial Unicode MS" panose="020B0604020202020204" pitchFamily="34" charset="-122"/>
                <a:ea typeface="Arial Unicode MS" panose="020B0604020202020204" pitchFamily="34" charset="-122"/>
                <a:cs typeface="Arial Unicode MS" panose="020B0604020202020204" pitchFamily="34" charset="-122"/>
              </a:defRPr>
            </a:lvl1pPr>
          </a:lstStyle>
          <a:p>
            <a:pPr lvl="0"/>
            <a:r>
              <a:rPr lang="en-US" dirty="0" smtClean="0"/>
              <a:t>Click to edit Master title style</a:t>
            </a:r>
            <a:endParaRPr lang="en-US" dirty="0"/>
          </a:p>
        </p:txBody>
      </p:sp>
      <p:sp>
        <p:nvSpPr>
          <p:cNvPr id="3" name="Subtitle 2"/>
          <p:cNvSpPr>
            <a:spLocks noGrp="1"/>
          </p:cNvSpPr>
          <p:nvPr>
            <p:ph type="subTitle" idx="1"/>
          </p:nvPr>
        </p:nvSpPr>
        <p:spPr>
          <a:xfrm>
            <a:off x="500621" y="5929514"/>
            <a:ext cx="6400800" cy="411137"/>
          </a:xfrm>
        </p:spPr>
        <p:txBody>
          <a:bodyPr rtlCol="0">
            <a:noAutofit/>
          </a:bodyPr>
          <a:lstStyle>
            <a:lvl1pPr>
              <a:defRPr lang="en-US" sz="2800" b="0" i="0" dirty="0">
                <a:latin typeface="Arial Unicode MS" panose="020B0604020202020204" pitchFamily="34" charset="-122"/>
                <a:ea typeface="Arial Unicode MS" panose="020B0604020202020204" pitchFamily="34" charset="-122"/>
                <a:cs typeface="Arial Unicode MS" panose="020B0604020202020204" pitchFamily="34" charset="-122"/>
              </a:defRPr>
            </a:lvl1pPr>
          </a:lstStyle>
          <a:p>
            <a:pPr lvl="0"/>
            <a:r>
              <a:rPr lang="en-US" dirty="0" smtClean="0"/>
              <a:t>Click to edit Master subtitle style</a:t>
            </a:r>
            <a:endParaRPr lang="en-US" dirty="0"/>
          </a:p>
        </p:txBody>
      </p:sp>
    </p:spTree>
    <p:extLst>
      <p:ext uri="{BB962C8B-B14F-4D97-AF65-F5344CB8AC3E}">
        <p14:creationId xmlns:p14="http://schemas.microsoft.com/office/powerpoint/2010/main" val="1877140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2019-4-19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gif"/><Relationship Id="rId4" Type="http://schemas.openxmlformats.org/officeDocument/2006/relationships/image" Target="../media/image8.gif"/></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21"/>
          <p:cNvPicPr>
            <a:picLocks noGrp="1" noChangeAspect="1"/>
          </p:cNvPicPr>
          <p:nvPr>
            <p:ph type="pic" sz="quarter" idx="10"/>
          </p:nvPr>
        </p:nvPicPr>
        <p:blipFill>
          <a:blip r:embed="rId3"/>
          <a:stretch>
            <a:fillRect/>
          </a:stretch>
        </p:blipFill>
        <p:spPr>
          <a:xfrm>
            <a:off x="246063" y="252413"/>
            <a:ext cx="8645525" cy="4570412"/>
          </a:xfrm>
        </p:spPr>
      </p:pic>
      <p:sp>
        <p:nvSpPr>
          <p:cNvPr id="9219" name="Title 2"/>
          <p:cNvSpPr>
            <a:spLocks noGrp="1"/>
          </p:cNvSpPr>
          <p:nvPr>
            <p:ph type="ctrTitle"/>
          </p:nvPr>
        </p:nvSpPr>
        <p:spPr>
          <a:xfrm>
            <a:off x="251521" y="4972050"/>
            <a:ext cx="8640960" cy="646113"/>
          </a:xfrm>
        </p:spPr>
        <p:txBody>
          <a:bodyPr/>
          <a:lstStyle/>
          <a:p>
            <a:pPr eaLnBrk="1" hangingPunct="1"/>
            <a:r>
              <a:rPr lang="en-US" altLang="zh-CN" dirty="0" smtClean="0">
                <a:latin typeface="微软雅黑" pitchFamily="34" charset="-122"/>
                <a:ea typeface="微软雅黑" pitchFamily="34" charset="-122"/>
                <a:cs typeface="华文黑体"/>
              </a:rPr>
              <a:t>MySQL </a:t>
            </a:r>
            <a:r>
              <a:rPr lang="en-US" altLang="zh-CN" dirty="0" err="1" smtClean="0">
                <a:latin typeface="微软雅黑" pitchFamily="34" charset="-122"/>
                <a:ea typeface="微软雅黑" pitchFamily="34" charset="-122"/>
                <a:cs typeface="华文黑体"/>
              </a:rPr>
              <a:t>InnoDB</a:t>
            </a:r>
            <a:r>
              <a:rPr lang="en-US" altLang="zh-CN" dirty="0" smtClean="0">
                <a:latin typeface="微软雅黑" pitchFamily="34" charset="-122"/>
                <a:ea typeface="微软雅黑" pitchFamily="34" charset="-122"/>
                <a:cs typeface="华文黑体"/>
              </a:rPr>
              <a:t> BTREE</a:t>
            </a:r>
            <a:r>
              <a:rPr lang="zh-CN" altLang="en-US" dirty="0" smtClean="0">
                <a:latin typeface="微软雅黑" pitchFamily="34" charset="-122"/>
                <a:ea typeface="微软雅黑" pitchFamily="34" charset="-122"/>
                <a:cs typeface="华文黑体"/>
              </a:rPr>
              <a:t>索引使用</a:t>
            </a:r>
          </a:p>
        </p:txBody>
      </p:sp>
      <p:sp>
        <p:nvSpPr>
          <p:cNvPr id="9220" name="Subtitle 3"/>
          <p:cNvSpPr>
            <a:spLocks noGrp="1"/>
          </p:cNvSpPr>
          <p:nvPr>
            <p:ph type="subTitle" idx="1"/>
          </p:nvPr>
        </p:nvSpPr>
        <p:spPr>
          <a:xfrm>
            <a:off x="251520" y="5877272"/>
            <a:ext cx="8640960" cy="432048"/>
          </a:xfrm>
        </p:spPr>
        <p:txBody>
          <a:bodyPr/>
          <a:lstStyle/>
          <a:p>
            <a:pPr marL="0" indent="0" algn="ctr" eaLnBrk="1" hangingPunct="1">
              <a:buFont typeface="Arial" pitchFamily="34" charset="0"/>
              <a:buNone/>
            </a:pPr>
            <a:r>
              <a:rPr lang="zh-CN" altLang="en-US" sz="1400" b="1" i="1" dirty="0" smtClean="0">
                <a:latin typeface="微软雅黑" pitchFamily="34" charset="-122"/>
                <a:ea typeface="微软雅黑" pitchFamily="34" charset="-122"/>
                <a:cs typeface="华文黑体"/>
              </a:rPr>
              <a:t>张帆 </a:t>
            </a:r>
            <a:r>
              <a:rPr altLang="zh-CN" sz="1400" b="1" i="1" dirty="0" smtClean="0">
                <a:latin typeface="微软雅黑" pitchFamily="34" charset="-122"/>
                <a:ea typeface="微软雅黑" pitchFamily="34" charset="-122"/>
                <a:cs typeface="华文黑体"/>
              </a:rPr>
              <a:t>2018-07-26</a:t>
            </a:r>
            <a:r>
              <a:rPr lang="zh-CN" altLang="en-US" sz="1400" b="1" i="1" dirty="0" smtClean="0">
                <a:latin typeface="微软雅黑" pitchFamily="34" charset="-122"/>
                <a:ea typeface="微软雅黑" pitchFamily="34" charset="-122"/>
                <a:cs typeface="华文黑体"/>
              </a:rPr>
              <a:t>、叶腾超 </a:t>
            </a:r>
            <a:r>
              <a:rPr lang="en-US" altLang="zh-CN" sz="1400" b="1" i="1" dirty="0" smtClean="0">
                <a:latin typeface="微软雅黑" pitchFamily="34" charset="-122"/>
                <a:ea typeface="微软雅黑" pitchFamily="34" charset="-122"/>
                <a:cs typeface="华文黑体"/>
              </a:rPr>
              <a:t>2019-04-08</a:t>
            </a:r>
            <a:endParaRPr altLang="zh-CN" sz="1400" b="1" i="1" dirty="0" smtClean="0">
              <a:latin typeface="微软雅黑" pitchFamily="34" charset="-122"/>
              <a:ea typeface="微软雅黑" pitchFamily="34" charset="-122"/>
              <a:cs typeface="华文黑体"/>
            </a:endParaRPr>
          </a:p>
        </p:txBody>
      </p:sp>
      <p:pic>
        <p:nvPicPr>
          <p:cNvPr id="9221"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53237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xfrm>
            <a:off x="503238" y="409575"/>
            <a:ext cx="6443662" cy="1233488"/>
          </a:xfrm>
        </p:spPr>
        <p:txBody>
          <a:bodyPr/>
          <a:lstStyle/>
          <a:p>
            <a:pPr eaLnBrk="1" hangingPunct="1"/>
            <a:r>
              <a:rPr lang="zh-CN" altLang="en-US" smtClean="0">
                <a:latin typeface="微软雅黑" pitchFamily="34" charset="-122"/>
                <a:ea typeface="微软雅黑" pitchFamily="34" charset="-122"/>
              </a:rPr>
              <a:t>目录</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737379432"/>
              </p:ext>
            </p:extLst>
          </p:nvPr>
        </p:nvGraphicFramePr>
        <p:xfrm>
          <a:off x="503238" y="1708150"/>
          <a:ext cx="8143875" cy="43862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7"/>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82563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索引简介</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16"/>
          <p:cNvSpPr/>
          <p:nvPr/>
        </p:nvSpPr>
        <p:spPr>
          <a:xfrm>
            <a:off x="850893" y="2420888"/>
            <a:ext cx="7309246" cy="2952327"/>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索引（</a:t>
            </a:r>
            <a:r>
              <a:rPr lang="en-US" altLang="zh-CN" dirty="0" smtClean="0">
                <a:latin typeface="微软雅黑" pitchFamily="34" charset="-122"/>
                <a:ea typeface="微软雅黑" pitchFamily="34" charset="-122"/>
              </a:rPr>
              <a:t>MySQL</a:t>
            </a:r>
            <a:r>
              <a:rPr lang="zh-CN" altLang="en-US" dirty="0" smtClean="0">
                <a:latin typeface="微软雅黑" pitchFamily="34" charset="-122"/>
                <a:ea typeface="微软雅黑" pitchFamily="34" charset="-122"/>
              </a:rPr>
              <a:t>叫</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键</a:t>
            </a:r>
            <a:r>
              <a:rPr lang="en-US" altLang="zh-CN" dirty="0" smtClean="0">
                <a:latin typeface="微软雅黑" pitchFamily="34" charset="-122"/>
                <a:ea typeface="微软雅黑" pitchFamily="34" charset="-122"/>
              </a:rPr>
              <a:t>(key)”</a:t>
            </a:r>
            <a:r>
              <a:rPr lang="zh-CN" altLang="en-US" dirty="0" smtClean="0">
                <a:latin typeface="微软雅黑" pitchFamily="34" charset="-122"/>
                <a:ea typeface="微软雅黑" pitchFamily="34" charset="-122"/>
              </a:rPr>
              <a:t>）是存储引擎用于快速找到记录的一种数据结构。是存储引擎层而非服务器层实现。</a:t>
            </a:r>
            <a:endParaRPr lang="en-US" altLang="zh-CN" dirty="0" smtClean="0">
              <a:latin typeface="微软雅黑" pitchFamily="34" charset="-122"/>
              <a:ea typeface="微软雅黑" pitchFamily="34" charset="-122"/>
            </a:endParaRPr>
          </a:p>
          <a:p>
            <a:pPr algn="r" latinLnBrk="1"/>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高性能</a:t>
            </a:r>
            <a:r>
              <a:rPr lang="en-US" altLang="zh-CN" dirty="0" smtClean="0">
                <a:latin typeface="微软雅黑" pitchFamily="34" charset="-122"/>
                <a:ea typeface="微软雅黑" pitchFamily="34" charset="-122"/>
              </a:rPr>
              <a:t>MySQL》</a:t>
            </a:r>
          </a:p>
        </p:txBody>
      </p:sp>
    </p:spTree>
    <p:extLst>
      <p:ext uri="{BB962C8B-B14F-4D97-AF65-F5344CB8AC3E}">
        <p14:creationId xmlns:p14="http://schemas.microsoft.com/office/powerpoint/2010/main" val="35066242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934" y="2632344"/>
            <a:ext cx="7505700" cy="227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标题 2"/>
          <p:cNvSpPr>
            <a:spLocks noGrp="1"/>
          </p:cNvSpPr>
          <p:nvPr>
            <p:ph type="title"/>
          </p:nvPr>
        </p:nvSpPr>
        <p:spPr>
          <a:xfrm>
            <a:off x="243078" y="438150"/>
            <a:ext cx="6273138" cy="758602"/>
          </a:xfr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索引简介</a:t>
            </a:r>
            <a:r>
              <a:rPr lang="en-US" altLang="zh-CN" sz="3600" dirty="0">
                <a:latin typeface="微软雅黑" pitchFamily="34" charset="-122"/>
                <a:ea typeface="微软雅黑" pitchFamily="34" charset="-122"/>
              </a:rPr>
              <a:t>-</a:t>
            </a:r>
            <a:r>
              <a:rPr lang="zh-CN" altLang="en-US" sz="3600" dirty="0">
                <a:latin typeface="微软雅黑" pitchFamily="34" charset="-122"/>
                <a:ea typeface="微软雅黑" pitchFamily="34" charset="-122"/>
              </a:rPr>
              <a:t>存储引擎</a:t>
            </a:r>
          </a:p>
        </p:txBody>
      </p:sp>
      <p:pic>
        <p:nvPicPr>
          <p:cNvPr id="7"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666934" y="5085183"/>
            <a:ext cx="7522333" cy="93610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zh-CN" altLang="en-US" dirty="0" smtClean="0">
                <a:latin typeface="微软雅黑" pitchFamily="34" charset="-122"/>
                <a:ea typeface="微软雅黑" pitchFamily="34" charset="-122"/>
              </a:rPr>
              <a:t>支持的索引与存储引擎有关，索引的具体实现也与存储引擎有关。</a:t>
            </a:r>
            <a:endParaRPr lang="en-US" altLang="zh-CN" dirty="0" smtClean="0">
              <a:latin typeface="微软雅黑" pitchFamily="34" charset="-122"/>
              <a:ea typeface="微软雅黑" pitchFamily="34" charset="-122"/>
            </a:endParaRPr>
          </a:p>
        </p:txBody>
      </p:sp>
      <p:sp>
        <p:nvSpPr>
          <p:cNvPr id="9" name="矩形 8"/>
          <p:cNvSpPr/>
          <p:nvPr/>
        </p:nvSpPr>
        <p:spPr>
          <a:xfrm>
            <a:off x="650301" y="1412776"/>
            <a:ext cx="7522333" cy="93610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zh-CN" altLang="en-US" dirty="0" smtClean="0">
                <a:latin typeface="微软雅黑" pitchFamily="34" charset="-122"/>
                <a:ea typeface="微软雅黑" pitchFamily="34" charset="-122"/>
              </a:rPr>
              <a:t>存储引擎：简单概括为数据存储</a:t>
            </a:r>
            <a:r>
              <a:rPr lang="zh-CN" altLang="en-US" dirty="0" smtClean="0">
                <a:latin typeface="微软雅黑" pitchFamily="34" charset="-122"/>
                <a:ea typeface="微软雅黑" pitchFamily="34" charset="-122"/>
              </a:rPr>
              <a:t>方式</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MySQL </a:t>
            </a:r>
            <a:r>
              <a:rPr lang="en-US" altLang="zh-CN" dirty="0" err="1" smtClean="0">
                <a:latin typeface="微软雅黑" pitchFamily="34" charset="-122"/>
                <a:ea typeface="微软雅黑" pitchFamily="34" charset="-122"/>
              </a:rPr>
              <a:t>InnoDB</a:t>
            </a:r>
            <a:r>
              <a:rPr lang="zh-CN" altLang="en-US" dirty="0" smtClean="0">
                <a:latin typeface="微软雅黑" pitchFamily="34" charset="-122"/>
                <a:ea typeface="微软雅黑" pitchFamily="34" charset="-122"/>
              </a:rPr>
              <a:t>使用页式存取，页大小默认</a:t>
            </a:r>
            <a:r>
              <a:rPr lang="en-US" altLang="zh-CN" dirty="0" smtClean="0">
                <a:latin typeface="微软雅黑" pitchFamily="34" charset="-122"/>
                <a:ea typeface="微软雅黑" pitchFamily="34" charset="-122"/>
              </a:rPr>
              <a:t>16K</a:t>
            </a:r>
            <a:r>
              <a:rPr lang="zh-CN" altLang="en-US" dirty="0" smtClean="0">
                <a:latin typeface="微软雅黑" pitchFamily="34" charset="-122"/>
                <a:ea typeface="微软雅黑" pitchFamily="34" charset="-122"/>
              </a:rPr>
              <a:t>（</a:t>
            </a:r>
            <a:r>
              <a:rPr lang="en-US" altLang="zh-CN" dirty="0"/>
              <a:t>@@</a:t>
            </a:r>
            <a:r>
              <a:rPr lang="en-US" altLang="zh-CN" dirty="0" err="1"/>
              <a:t>innodb_page_size</a:t>
            </a:r>
            <a:r>
              <a:rPr lang="zh-CN" altLang="en-US" dirty="0" smtClean="0">
                <a:latin typeface="微软雅黑" pitchFamily="34" charset="-122"/>
                <a:ea typeface="微软雅黑" pitchFamily="34" charset="-122"/>
              </a:rPr>
              <a:t>），页的大小会影响各项性能</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p:txBody>
      </p:sp>
    </p:spTree>
    <p:extLst>
      <p:ext uri="{BB962C8B-B14F-4D97-AF65-F5344CB8AC3E}">
        <p14:creationId xmlns:p14="http://schemas.microsoft.com/office/powerpoint/2010/main" val="26823262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2"/>
          <p:cNvSpPr>
            <a:spLocks noGrp="1"/>
          </p:cNvSpPr>
          <p:nvPr>
            <p:ph type="title"/>
          </p:nvPr>
        </p:nvSpPr>
        <p:spPr>
          <a:xfrm>
            <a:off x="243078" y="438150"/>
            <a:ext cx="6273138" cy="758602"/>
          </a:xfr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索引简介</a:t>
            </a:r>
            <a:r>
              <a:rPr lang="en-US" altLang="zh-CN" sz="3600" dirty="0">
                <a:latin typeface="微软雅黑" pitchFamily="34" charset="-122"/>
                <a:ea typeface="微软雅黑" pitchFamily="34" charset="-122"/>
              </a:rPr>
              <a:t>-</a:t>
            </a:r>
            <a:r>
              <a:rPr lang="zh-CN" altLang="en-US" sz="3600" dirty="0">
                <a:latin typeface="微软雅黑" pitchFamily="34" charset="-122"/>
                <a:ea typeface="微软雅黑" pitchFamily="34" charset="-122"/>
              </a:rPr>
              <a:t>存储引擎</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descr="å¨è¿éæå¥å¾çæ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1" y="1779971"/>
            <a:ext cx="6903922" cy="4133353"/>
          </a:xfrm>
          <a:prstGeom prst="rect">
            <a:avLst/>
          </a:prstGeom>
          <a:noFill/>
          <a:extLst>
            <a:ext uri="{909E8E84-426E-40DD-AFC4-6F175D3DCCD1}">
              <a14:hiddenFill xmlns:a14="http://schemas.microsoft.com/office/drawing/2010/main">
                <a:solidFill>
                  <a:srgbClr val="FFFFFF"/>
                </a:solidFill>
              </a14:hiddenFill>
            </a:ext>
          </a:extLst>
        </p:spPr>
      </p:pic>
      <p:sp>
        <p:nvSpPr>
          <p:cNvPr id="4" name="圆角矩形 3"/>
          <p:cNvSpPr/>
          <p:nvPr/>
        </p:nvSpPr>
        <p:spPr>
          <a:xfrm>
            <a:off x="7155443" y="2932099"/>
            <a:ext cx="1724191"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atin typeface="微软雅黑" panose="020B0503020204020204" pitchFamily="34" charset="-122"/>
                <a:ea typeface="微软雅黑" panose="020B0503020204020204" pitchFamily="34" charset="-122"/>
              </a:rPr>
              <a:t>External</a:t>
            </a:r>
          </a:p>
          <a:p>
            <a:pPr algn="ctr"/>
            <a:r>
              <a:rPr lang="en-US" altLang="zh-CN" dirty="0" smtClean="0">
                <a:latin typeface="微软雅黑" panose="020B0503020204020204" pitchFamily="34" charset="-122"/>
                <a:ea typeface="微软雅黑" panose="020B0503020204020204" pitchFamily="34" charset="-122"/>
              </a:rPr>
              <a:t>off-page</a:t>
            </a:r>
            <a:endParaRPr lang="zh-CN" altLang="en-US" dirty="0">
              <a:latin typeface="微软雅黑" panose="020B0503020204020204" pitchFamily="34" charset="-122"/>
              <a:ea typeface="微软雅黑" panose="020B0503020204020204" pitchFamily="34" charset="-122"/>
            </a:endParaRPr>
          </a:p>
        </p:txBody>
      </p:sp>
      <p:sp>
        <p:nvSpPr>
          <p:cNvPr id="5" name="TextBox 4"/>
          <p:cNvSpPr txBox="1"/>
          <p:nvPr/>
        </p:nvSpPr>
        <p:spPr>
          <a:xfrm>
            <a:off x="2512290" y="6084004"/>
            <a:ext cx="2382383" cy="369332"/>
          </a:xfrm>
          <a:prstGeom prst="rect">
            <a:avLst/>
          </a:prstGeom>
          <a:noFill/>
        </p:spPr>
        <p:txBody>
          <a:bodyPr wrap="none" rtlCol="0">
            <a:spAutoFit/>
          </a:bodyPr>
          <a:lstStyle/>
          <a:p>
            <a:r>
              <a:rPr lang="zh-CN" altLang="en-US" dirty="0" smtClean="0">
                <a:latin typeface="微软雅黑" panose="020B0503020204020204" pitchFamily="34" charset="-122"/>
                <a:ea typeface="微软雅黑" panose="020B0503020204020204" pitchFamily="34" charset="-122"/>
              </a:rPr>
              <a:t>表空间</a:t>
            </a:r>
            <a:r>
              <a:rPr lang="en-US" altLang="zh-CN" dirty="0" smtClean="0">
                <a:latin typeface="微软雅黑" panose="020B0503020204020204" pitchFamily="34" charset="-122"/>
                <a:ea typeface="微软雅黑" panose="020B0503020204020204" pitchFamily="34" charset="-122"/>
              </a:rPr>
              <a:t>-&gt;</a:t>
            </a:r>
            <a:r>
              <a:rPr lang="zh-CN" altLang="en-US" dirty="0" smtClean="0">
                <a:latin typeface="微软雅黑" panose="020B0503020204020204" pitchFamily="34" charset="-122"/>
                <a:ea typeface="微软雅黑" panose="020B0503020204020204" pitchFamily="34" charset="-122"/>
              </a:rPr>
              <a:t>段</a:t>
            </a:r>
            <a:r>
              <a:rPr lang="en-US" altLang="zh-CN" dirty="0" smtClean="0">
                <a:latin typeface="微软雅黑" panose="020B0503020204020204" pitchFamily="34" charset="-122"/>
                <a:ea typeface="微软雅黑" panose="020B0503020204020204" pitchFamily="34" charset="-122"/>
              </a:rPr>
              <a:t>-&gt;</a:t>
            </a:r>
            <a:r>
              <a:rPr lang="zh-CN" altLang="en-US" dirty="0" smtClean="0">
                <a:latin typeface="微软雅黑" panose="020B0503020204020204" pitchFamily="34" charset="-122"/>
                <a:ea typeface="微软雅黑" panose="020B0503020204020204" pitchFamily="34" charset="-122"/>
              </a:rPr>
              <a:t>区</a:t>
            </a:r>
            <a:r>
              <a:rPr lang="en-US" altLang="zh-CN" dirty="0" smtClean="0">
                <a:latin typeface="微软雅黑" panose="020B0503020204020204" pitchFamily="34" charset="-122"/>
                <a:ea typeface="微软雅黑" panose="020B0503020204020204" pitchFamily="34" charset="-122"/>
              </a:rPr>
              <a:t>-&gt;</a:t>
            </a:r>
            <a:r>
              <a:rPr lang="zh-CN" altLang="en-US" dirty="0" smtClean="0">
                <a:latin typeface="微软雅黑" panose="020B0503020204020204" pitchFamily="34" charset="-122"/>
                <a:ea typeface="微软雅黑" panose="020B0503020204020204" pitchFamily="34" charset="-122"/>
              </a:rPr>
              <a:t>页</a:t>
            </a:r>
            <a:endParaRPr lang="zh-CN" altLang="en-US" dirty="0">
              <a:latin typeface="微软雅黑" panose="020B0503020204020204" pitchFamily="34" charset="-122"/>
              <a:ea typeface="微软雅黑" panose="020B0503020204020204" pitchFamily="34" charset="-122"/>
            </a:endParaRPr>
          </a:p>
        </p:txBody>
      </p:sp>
      <p:sp>
        <p:nvSpPr>
          <p:cNvPr id="10" name="TextBox 9"/>
          <p:cNvSpPr txBox="1"/>
          <p:nvPr/>
        </p:nvSpPr>
        <p:spPr>
          <a:xfrm>
            <a:off x="7236297" y="3846647"/>
            <a:ext cx="1643338" cy="1754326"/>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当行超过一定长度时，超出部分使用扩展页存储。</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当页使用超过</a:t>
            </a:r>
            <a:r>
              <a:rPr lang="en-US" altLang="zh-CN" dirty="0" smtClean="0">
                <a:latin typeface="微软雅黑" panose="020B0503020204020204" pitchFamily="34" charset="-122"/>
                <a:ea typeface="微软雅黑" panose="020B0503020204020204" pitchFamily="34" charset="-122"/>
              </a:rPr>
              <a:t>15/16</a:t>
            </a:r>
            <a:r>
              <a:rPr lang="zh-CN" altLang="en-US" dirty="0" smtClean="0">
                <a:latin typeface="微软雅黑" panose="020B0503020204020204" pitchFamily="34" charset="-122"/>
                <a:ea typeface="微软雅黑" panose="020B0503020204020204" pitchFamily="34" charset="-122"/>
              </a:rPr>
              <a:t>时分页。</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568800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a:spLocks noGrp="1"/>
          </p:cNvSpPr>
          <p:nvPr>
            <p:ph type="title"/>
          </p:nvPr>
        </p:nvSpPr>
        <p:spPr>
          <a:xfrm>
            <a:off x="243078" y="438150"/>
            <a:ext cx="6273138" cy="758602"/>
          </a:xfr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索引简介</a:t>
            </a:r>
            <a:r>
              <a:rPr lang="en-US" altLang="zh-CN" sz="3600" dirty="0">
                <a:latin typeface="微软雅黑" pitchFamily="34" charset="-122"/>
                <a:ea typeface="微软雅黑" pitchFamily="34" charset="-122"/>
              </a:rPr>
              <a:t>-</a:t>
            </a:r>
            <a:r>
              <a:rPr lang="zh-CN" altLang="en-US" sz="3600" dirty="0">
                <a:latin typeface="微软雅黑" pitchFamily="34" charset="-122"/>
                <a:ea typeface="微软雅黑" pitchFamily="34" charset="-122"/>
              </a:rPr>
              <a:t>支持的索引</a:t>
            </a:r>
          </a:p>
        </p:txBody>
      </p:sp>
      <p:pic>
        <p:nvPicPr>
          <p:cNvPr id="5"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605087" y="1340769"/>
            <a:ext cx="8029326" cy="21602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en-US" altLang="zh-CN" dirty="0" smtClean="0">
                <a:latin typeface="微软雅黑" pitchFamily="34" charset="-122"/>
                <a:ea typeface="微软雅黑" pitchFamily="34" charset="-122"/>
              </a:rPr>
              <a:t>MySQL</a:t>
            </a:r>
            <a:r>
              <a:rPr lang="zh-CN" altLang="en-US" dirty="0" smtClean="0">
                <a:latin typeface="微软雅黑" pitchFamily="34" charset="-122"/>
                <a:ea typeface="微软雅黑" pitchFamily="34" charset="-122"/>
              </a:rPr>
              <a:t>支持的索引类型：</a:t>
            </a:r>
            <a:endParaRPr lang="en-US" altLang="zh-CN" dirty="0" smtClean="0">
              <a:latin typeface="微软雅黑" pitchFamily="34" charset="-122"/>
              <a:ea typeface="微软雅黑" pitchFamily="34" charset="-122"/>
            </a:endParaRPr>
          </a:p>
          <a:p>
            <a:pPr marL="742950" lvl="1" indent="-285750" latinLnBrk="1">
              <a:buFont typeface="Wingdings" pitchFamily="2" charset="2"/>
              <a:buChar char="u"/>
            </a:pPr>
            <a:r>
              <a:rPr lang="en-US" altLang="zh-CN" dirty="0" err="1" smtClean="0">
                <a:latin typeface="微软雅黑" pitchFamily="34" charset="-122"/>
                <a:ea typeface="微软雅黑" pitchFamily="34" charset="-122"/>
              </a:rPr>
              <a:t>BTree</a:t>
            </a:r>
            <a:r>
              <a:rPr lang="zh-CN" altLang="en-US" dirty="0" smtClean="0">
                <a:latin typeface="微软雅黑" pitchFamily="34" charset="-122"/>
                <a:ea typeface="微软雅黑" pitchFamily="34" charset="-122"/>
              </a:rPr>
              <a:t>索引</a:t>
            </a:r>
            <a:endParaRPr lang="en-US" altLang="zh-CN" dirty="0" smtClean="0">
              <a:latin typeface="微软雅黑" pitchFamily="34" charset="-122"/>
              <a:ea typeface="微软雅黑" pitchFamily="34" charset="-122"/>
            </a:endParaRPr>
          </a:p>
          <a:p>
            <a:pPr marL="1200150" lvl="2" indent="-285750" latinLnBrk="1">
              <a:buFont typeface="Wingdings" pitchFamily="2" charset="2"/>
              <a:buChar char="l"/>
            </a:pPr>
            <a:r>
              <a:rPr lang="en-US" altLang="zh-CN" dirty="0" err="1" smtClean="0">
                <a:latin typeface="微软雅黑" pitchFamily="34" charset="-122"/>
                <a:ea typeface="微软雅黑" pitchFamily="34" charset="-122"/>
              </a:rPr>
              <a:t>B+Tree</a:t>
            </a:r>
            <a:endParaRPr lang="en-US" altLang="zh-CN" dirty="0" smtClean="0">
              <a:latin typeface="微软雅黑" pitchFamily="34" charset="-122"/>
              <a:ea typeface="微软雅黑" pitchFamily="34" charset="-122"/>
            </a:endParaRPr>
          </a:p>
          <a:p>
            <a:pPr marL="1200150" lvl="2" indent="-285750" latinLnBrk="1">
              <a:buFont typeface="Wingdings" pitchFamily="2" charset="2"/>
              <a:buChar char="l"/>
            </a:pPr>
            <a:r>
              <a:rPr lang="en-US" altLang="zh-CN" dirty="0" err="1" smtClean="0">
                <a:latin typeface="微软雅黑" pitchFamily="34" charset="-122"/>
                <a:ea typeface="微软雅黑" pitchFamily="34" charset="-122"/>
              </a:rPr>
              <a:t>Ttree</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NDB</a:t>
            </a:r>
            <a:r>
              <a:rPr lang="zh-CN" altLang="en-US" dirty="0" smtClean="0">
                <a:latin typeface="微软雅黑" pitchFamily="34" charset="-122"/>
                <a:ea typeface="微软雅黑" pitchFamily="34" charset="-122"/>
              </a:rPr>
              <a:t>的实现）</a:t>
            </a:r>
            <a:endParaRPr lang="en-US" altLang="zh-CN" dirty="0" smtClean="0">
              <a:latin typeface="微软雅黑" pitchFamily="34" charset="-122"/>
              <a:ea typeface="微软雅黑" pitchFamily="34" charset="-122"/>
            </a:endParaRPr>
          </a:p>
          <a:p>
            <a:pPr marL="742950" lvl="1" indent="-285750" latinLnBrk="1">
              <a:buFont typeface="Wingdings" pitchFamily="2" charset="2"/>
              <a:buChar char="u"/>
            </a:pPr>
            <a:r>
              <a:rPr lang="en-US" altLang="zh-CN" dirty="0" smtClean="0">
                <a:latin typeface="微软雅黑" pitchFamily="34" charset="-122"/>
                <a:ea typeface="微软雅黑" pitchFamily="34" charset="-122"/>
              </a:rPr>
              <a:t>Hash</a:t>
            </a:r>
            <a:r>
              <a:rPr lang="zh-CN" altLang="en-US" dirty="0" smtClean="0">
                <a:latin typeface="微软雅黑" pitchFamily="34" charset="-122"/>
                <a:ea typeface="微软雅黑" pitchFamily="34" charset="-122"/>
              </a:rPr>
              <a:t>索引</a:t>
            </a:r>
            <a:endParaRPr lang="en-US" altLang="zh-CN" dirty="0" smtClean="0">
              <a:latin typeface="微软雅黑" pitchFamily="34" charset="-122"/>
              <a:ea typeface="微软雅黑" pitchFamily="34" charset="-122"/>
            </a:endParaRPr>
          </a:p>
          <a:p>
            <a:pPr marL="742950" lvl="1" indent="-285750" latinLnBrk="1">
              <a:buFont typeface="Wingdings" pitchFamily="2" charset="2"/>
              <a:buChar char="u"/>
            </a:pPr>
            <a:r>
              <a:rPr lang="zh-CN" altLang="en-US" dirty="0" smtClean="0">
                <a:latin typeface="微软雅黑" pitchFamily="34" charset="-122"/>
                <a:ea typeface="微软雅黑" pitchFamily="34" charset="-122"/>
              </a:rPr>
              <a:t>空间索引（</a:t>
            </a:r>
            <a:r>
              <a:rPr lang="en-US" altLang="zh-CN" dirty="0" err="1" smtClean="0">
                <a:latin typeface="微软雅黑" pitchFamily="34" charset="-122"/>
                <a:ea typeface="微软雅黑" pitchFamily="34" charset="-122"/>
              </a:rPr>
              <a:t>RTree</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marL="742950" lvl="1" indent="-285750" latinLnBrk="1">
              <a:buFont typeface="Wingdings" pitchFamily="2" charset="2"/>
              <a:buChar char="u"/>
            </a:pPr>
            <a:r>
              <a:rPr lang="zh-CN" altLang="en-US" dirty="0" smtClean="0">
                <a:latin typeface="微软雅黑" pitchFamily="34" charset="-122"/>
                <a:ea typeface="微软雅黑" pitchFamily="34" charset="-122"/>
              </a:rPr>
              <a:t>全文索引</a:t>
            </a:r>
            <a:endParaRPr lang="en-US" altLang="zh-CN" dirty="0" smtClean="0">
              <a:latin typeface="微软雅黑" pitchFamily="34" charset="-122"/>
              <a:ea typeface="微软雅黑" pitchFamily="34" charset="-122"/>
            </a:endParaRP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087" y="4437112"/>
            <a:ext cx="523875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605087" y="4060914"/>
            <a:ext cx="4895892" cy="369332"/>
          </a:xfrm>
          <a:prstGeom prst="rect">
            <a:avLst/>
          </a:prstGeom>
        </p:spPr>
        <p:txBody>
          <a:bodyPr wrap="none">
            <a:spAutoFit/>
          </a:bodyPr>
          <a:lstStyle/>
          <a:p>
            <a:r>
              <a:rPr lang="en-US" altLang="zh-CN" dirty="0">
                <a:latin typeface="微软雅黑" pitchFamily="34" charset="-122"/>
                <a:ea typeface="微软雅黑" pitchFamily="34" charset="-122"/>
              </a:rPr>
              <a:t>MySQL</a:t>
            </a:r>
            <a:r>
              <a:rPr lang="zh-CN" altLang="en-US" dirty="0">
                <a:latin typeface="微软雅黑" pitchFamily="34" charset="-122"/>
                <a:ea typeface="微软雅黑" pitchFamily="34" charset="-122"/>
              </a:rPr>
              <a:t>支持的索引</a:t>
            </a:r>
            <a:r>
              <a:rPr lang="zh-CN" altLang="en-US" dirty="0" smtClean="0">
                <a:latin typeface="微软雅黑" pitchFamily="34" charset="-122"/>
                <a:ea typeface="微软雅黑" pitchFamily="34" charset="-122"/>
              </a:rPr>
              <a:t>类型与存储引擎类型有关：</a:t>
            </a:r>
            <a:endParaRPr lang="zh-CN" altLang="en-US" dirty="0"/>
          </a:p>
        </p:txBody>
      </p:sp>
    </p:spTree>
    <p:extLst>
      <p:ext uri="{BB962C8B-B14F-4D97-AF65-F5344CB8AC3E}">
        <p14:creationId xmlns:p14="http://schemas.microsoft.com/office/powerpoint/2010/main" val="28619104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08911" y="1700808"/>
            <a:ext cx="7501058" cy="2246769"/>
          </a:xfrm>
          <a:prstGeom prst="rect">
            <a:avLst/>
          </a:prstGeom>
        </p:spPr>
        <p:txBody>
          <a:bodyPr wrap="square">
            <a:spAutoFit/>
          </a:bodyPr>
          <a:lstStyle/>
          <a:p>
            <a:r>
              <a:rPr lang="en-US" altLang="zh-CN" sz="1400" dirty="0" smtClean="0">
                <a:latin typeface="微软雅黑" pitchFamily="34" charset="-122"/>
                <a:ea typeface="微软雅黑" pitchFamily="34" charset="-122"/>
              </a:rPr>
              <a:t>&gt;show create table </a:t>
            </a:r>
            <a:r>
              <a:rPr lang="en-US" altLang="zh-CN" sz="1400" dirty="0" err="1" smtClean="0">
                <a:latin typeface="微软雅黑" pitchFamily="34" charset="-122"/>
                <a:ea typeface="微软雅黑" pitchFamily="34" charset="-122"/>
              </a:rPr>
              <a:t>t_test_idx</a:t>
            </a:r>
            <a:r>
              <a:rPr lang="en-US" altLang="zh-CN" sz="1400" dirty="0" smtClean="0">
                <a:latin typeface="微软雅黑" pitchFamily="34" charset="-122"/>
                <a:ea typeface="微软雅黑" pitchFamily="34" charset="-122"/>
              </a:rPr>
              <a:t>;</a:t>
            </a:r>
          </a:p>
          <a:p>
            <a:r>
              <a:rPr lang="en-US" altLang="zh-CN" sz="1400" dirty="0" smtClean="0">
                <a:latin typeface="微软雅黑" pitchFamily="34" charset="-122"/>
                <a:ea typeface="微软雅黑" pitchFamily="34" charset="-122"/>
              </a:rPr>
              <a:t>| </a:t>
            </a:r>
            <a:r>
              <a:rPr lang="en-US" altLang="zh-CN" sz="1400" dirty="0" err="1">
                <a:latin typeface="微软雅黑" pitchFamily="34" charset="-122"/>
                <a:ea typeface="微软雅黑" pitchFamily="34" charset="-122"/>
              </a:rPr>
              <a:t>t_test_idx</a:t>
            </a:r>
            <a:r>
              <a:rPr lang="en-US" altLang="zh-CN" sz="1400" dirty="0">
                <a:latin typeface="微软雅黑" pitchFamily="34" charset="-122"/>
                <a:ea typeface="微软雅黑" pitchFamily="34" charset="-122"/>
              </a:rPr>
              <a:t> | CREATE TABLE `</a:t>
            </a:r>
            <a:r>
              <a:rPr lang="en-US" altLang="zh-CN" sz="1400" dirty="0" err="1">
                <a:latin typeface="微软雅黑" pitchFamily="34" charset="-122"/>
                <a:ea typeface="微软雅黑" pitchFamily="34" charset="-122"/>
              </a:rPr>
              <a:t>t_test_idx</a:t>
            </a:r>
            <a:r>
              <a:rPr lang="en-US" altLang="zh-CN" sz="1400" dirty="0">
                <a:latin typeface="微软雅黑" pitchFamily="34" charset="-122"/>
                <a:ea typeface="微软雅黑" pitchFamily="34" charset="-122"/>
              </a:rPr>
              <a:t>` (</a:t>
            </a:r>
          </a:p>
          <a:p>
            <a:r>
              <a:rPr lang="en-US" altLang="zh-CN" sz="1400" dirty="0">
                <a:latin typeface="微软雅黑" pitchFamily="34" charset="-122"/>
                <a:ea typeface="微软雅黑" pitchFamily="34" charset="-122"/>
              </a:rPr>
              <a:t>  `id` </a:t>
            </a:r>
            <a:r>
              <a:rPr lang="en-US" altLang="zh-CN" sz="1400" dirty="0" err="1">
                <a:latin typeface="微软雅黑" pitchFamily="34" charset="-122"/>
                <a:ea typeface="微软雅黑" pitchFamily="34" charset="-122"/>
              </a:rPr>
              <a:t>int</a:t>
            </a:r>
            <a:r>
              <a:rPr lang="en-US" altLang="zh-CN" sz="1400" dirty="0">
                <a:latin typeface="微软雅黑" pitchFamily="34" charset="-122"/>
                <a:ea typeface="微软雅黑" pitchFamily="34" charset="-122"/>
              </a:rPr>
              <a:t>(11) NOT NULL,</a:t>
            </a:r>
          </a:p>
          <a:p>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user_name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varchar</a:t>
            </a:r>
            <a:r>
              <a:rPr lang="en-US" altLang="zh-CN" sz="1400" dirty="0">
                <a:latin typeface="微软雅黑" pitchFamily="34" charset="-122"/>
                <a:ea typeface="微软雅黑" pitchFamily="34" charset="-122"/>
              </a:rPr>
              <a:t>(50) NOT NULL,</a:t>
            </a:r>
          </a:p>
          <a:p>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user_psw</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varchar</a:t>
            </a:r>
            <a:r>
              <a:rPr lang="en-US" altLang="zh-CN" sz="1400" dirty="0">
                <a:latin typeface="微软雅黑" pitchFamily="34" charset="-122"/>
                <a:ea typeface="微软雅黑" pitchFamily="34" charset="-122"/>
              </a:rPr>
              <a:t>(255) DEFAULT NULL,</a:t>
            </a:r>
          </a:p>
          <a:p>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create_time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datetime</a:t>
            </a:r>
            <a:r>
              <a:rPr lang="en-US" altLang="zh-CN" sz="1400" dirty="0">
                <a:latin typeface="微软雅黑" pitchFamily="34" charset="-122"/>
                <a:ea typeface="微软雅黑" pitchFamily="34" charset="-122"/>
              </a:rPr>
              <a:t> DEFAULT NULL,</a:t>
            </a:r>
          </a:p>
          <a:p>
            <a:r>
              <a:rPr lang="en-US" altLang="zh-CN" sz="1400" dirty="0">
                <a:latin typeface="微软雅黑" pitchFamily="34" charset="-122"/>
                <a:ea typeface="微软雅黑" pitchFamily="34" charset="-122"/>
              </a:rPr>
              <a:t>  PRIMARY KEY (`id`),</a:t>
            </a:r>
          </a:p>
          <a:p>
            <a:r>
              <a:rPr lang="en-US" altLang="zh-CN" sz="1400" dirty="0">
                <a:latin typeface="微软雅黑" pitchFamily="34" charset="-122"/>
                <a:ea typeface="微软雅黑" pitchFamily="34" charset="-122"/>
              </a:rPr>
              <a:t>  UNIQUE KEY `</a:t>
            </a:r>
            <a:r>
              <a:rPr lang="en-US" altLang="zh-CN" sz="1400" dirty="0" err="1">
                <a:latin typeface="微软雅黑" pitchFamily="34" charset="-122"/>
                <a:ea typeface="微软雅黑" pitchFamily="34" charset="-122"/>
              </a:rPr>
              <a:t>idx_user_name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user_name</a:t>
            </a:r>
            <a:r>
              <a:rPr lang="en-US" altLang="zh-CN" sz="1400" dirty="0">
                <a:latin typeface="微软雅黑" pitchFamily="34" charset="-122"/>
                <a:ea typeface="微软雅黑" pitchFamily="34" charset="-122"/>
              </a:rPr>
              <a:t>`) USING </a:t>
            </a:r>
            <a:r>
              <a:rPr lang="en-US" altLang="zh-CN" sz="1400" b="1" dirty="0">
                <a:solidFill>
                  <a:srgbClr val="FF0000"/>
                </a:solidFill>
                <a:latin typeface="微软雅黑" pitchFamily="34" charset="-122"/>
                <a:ea typeface="微软雅黑" pitchFamily="34" charset="-122"/>
              </a:rPr>
              <a:t>HASH</a:t>
            </a:r>
            <a:r>
              <a:rPr lang="en-US" altLang="zh-CN" sz="1400" dirty="0">
                <a:latin typeface="微软雅黑" pitchFamily="34" charset="-122"/>
                <a:ea typeface="微软雅黑" pitchFamily="34" charset="-122"/>
              </a:rPr>
              <a:t>,</a:t>
            </a:r>
          </a:p>
          <a:p>
            <a:r>
              <a:rPr lang="en-US" altLang="zh-CN" sz="1400" dirty="0">
                <a:latin typeface="微软雅黑" pitchFamily="34" charset="-122"/>
                <a:ea typeface="微软雅黑" pitchFamily="34" charset="-122"/>
              </a:rPr>
              <a:t>  KEY `</a:t>
            </a:r>
            <a:r>
              <a:rPr lang="en-US" altLang="zh-CN" sz="1400" dirty="0" err="1">
                <a:latin typeface="微软雅黑" pitchFamily="34" charset="-122"/>
                <a:ea typeface="微软雅黑" pitchFamily="34" charset="-122"/>
              </a:rPr>
              <a:t>idx_create_time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create_time</a:t>
            </a:r>
            <a:r>
              <a:rPr lang="en-US" altLang="zh-CN" sz="1400" dirty="0">
                <a:latin typeface="微软雅黑" pitchFamily="34" charset="-122"/>
                <a:ea typeface="微软雅黑" pitchFamily="34" charset="-122"/>
              </a:rPr>
              <a:t>`) USING BTREE</a:t>
            </a:r>
          </a:p>
          <a:p>
            <a:r>
              <a:rPr lang="en-US" altLang="zh-CN" sz="1400" dirty="0">
                <a:latin typeface="微软雅黑" pitchFamily="34" charset="-122"/>
                <a:ea typeface="微软雅黑" pitchFamily="34" charset="-122"/>
              </a:rPr>
              <a:t>) ENGINE=</a:t>
            </a:r>
            <a:r>
              <a:rPr lang="en-US" altLang="zh-CN" sz="1400" dirty="0" err="1">
                <a:latin typeface="微软雅黑" pitchFamily="34" charset="-122"/>
                <a:ea typeface="微软雅黑" pitchFamily="34" charset="-122"/>
              </a:rPr>
              <a:t>InnoDB</a:t>
            </a:r>
            <a:r>
              <a:rPr lang="en-US" altLang="zh-CN" sz="1400" dirty="0">
                <a:latin typeface="微软雅黑" pitchFamily="34" charset="-122"/>
                <a:ea typeface="微软雅黑" pitchFamily="34" charset="-122"/>
              </a:rPr>
              <a:t> DEFAULT CHARSET=utf8 </a:t>
            </a:r>
            <a:r>
              <a:rPr lang="en-US" altLang="zh-CN" sz="1400" dirty="0" smtClean="0">
                <a:latin typeface="微软雅黑" pitchFamily="34" charset="-122"/>
                <a:ea typeface="微软雅黑" pitchFamily="34" charset="-122"/>
              </a:rPr>
              <a:t>|</a:t>
            </a:r>
            <a:endParaRPr lang="en-US" altLang="zh-CN" sz="1400" dirty="0">
              <a:latin typeface="微软雅黑" pitchFamily="34" charset="-122"/>
              <a:ea typeface="微软雅黑" pitchFamily="34" charset="-122"/>
            </a:endParaRPr>
          </a:p>
        </p:txBody>
      </p:sp>
      <p:sp>
        <p:nvSpPr>
          <p:cNvPr id="5" name="标题 2"/>
          <p:cNvSpPr>
            <a:spLocks noGrp="1"/>
          </p:cNvSpPr>
          <p:nvPr>
            <p:ph type="title"/>
          </p:nvPr>
        </p:nvSpPr>
        <p:spPr>
          <a:xfrm>
            <a:off x="243078" y="438150"/>
            <a:ext cx="4474840" cy="758602"/>
          </a:xfr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索引简介</a:t>
            </a:r>
          </a:p>
        </p:txBody>
      </p:sp>
      <p:sp>
        <p:nvSpPr>
          <p:cNvPr id="6" name="矩形 5"/>
          <p:cNvSpPr/>
          <p:nvPr/>
        </p:nvSpPr>
        <p:spPr>
          <a:xfrm>
            <a:off x="472717" y="5519035"/>
            <a:ext cx="7522333" cy="93610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en-US" altLang="zh-CN" dirty="0" err="1" smtClean="0">
                <a:latin typeface="微软雅黑" pitchFamily="34" charset="-122"/>
                <a:ea typeface="微软雅黑" pitchFamily="34" charset="-122"/>
              </a:rPr>
              <a:t>InnoDB</a:t>
            </a:r>
            <a:r>
              <a:rPr lang="zh-CN" altLang="en-US" dirty="0" smtClean="0">
                <a:latin typeface="微软雅黑" pitchFamily="34" charset="-122"/>
                <a:ea typeface="微软雅黑" pitchFamily="34" charset="-122"/>
              </a:rPr>
              <a:t>中，用户自定义的</a:t>
            </a:r>
            <a:r>
              <a:rPr lang="en-US" altLang="zh-CN" dirty="0" smtClean="0">
                <a:latin typeface="微软雅黑" pitchFamily="34" charset="-122"/>
                <a:ea typeface="微软雅黑" pitchFamily="34" charset="-122"/>
              </a:rPr>
              <a:t>HASH</a:t>
            </a:r>
            <a:r>
              <a:rPr lang="zh-CN" altLang="en-US" dirty="0" smtClean="0">
                <a:latin typeface="微软雅黑" pitchFamily="34" charset="-122"/>
                <a:ea typeface="微软雅黑" pitchFamily="34" charset="-122"/>
              </a:rPr>
              <a:t>索引底层实现为</a:t>
            </a:r>
            <a:r>
              <a:rPr lang="en-US" altLang="zh-CN" dirty="0" smtClean="0">
                <a:latin typeface="微软雅黑" pitchFamily="34" charset="-122"/>
                <a:ea typeface="微软雅黑" pitchFamily="34" charset="-122"/>
              </a:rPr>
              <a:t>BTREE</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5980775" y="2094692"/>
            <a:ext cx="2664296" cy="136931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en-US" altLang="zh-CN" b="1" dirty="0" err="1" smtClean="0">
                <a:solidFill>
                  <a:srgbClr val="FF0000"/>
                </a:solidFill>
                <a:latin typeface="微软雅黑" pitchFamily="34" charset="-122"/>
                <a:ea typeface="微软雅黑" pitchFamily="34" charset="-122"/>
              </a:rPr>
              <a:t>InnoDB</a:t>
            </a:r>
            <a:r>
              <a:rPr lang="zh-CN" altLang="en-US" b="1" dirty="0" smtClean="0">
                <a:solidFill>
                  <a:srgbClr val="FF0000"/>
                </a:solidFill>
                <a:latin typeface="微软雅黑" pitchFamily="34" charset="-122"/>
                <a:ea typeface="微软雅黑" pitchFamily="34" charset="-122"/>
              </a:rPr>
              <a:t>中添加的</a:t>
            </a:r>
            <a:r>
              <a:rPr lang="en-US" altLang="zh-CN" b="1" dirty="0" smtClean="0">
                <a:solidFill>
                  <a:srgbClr val="FF0000"/>
                </a:solidFill>
                <a:latin typeface="微软雅黑" pitchFamily="34" charset="-122"/>
                <a:ea typeface="微软雅黑" pitchFamily="34" charset="-122"/>
              </a:rPr>
              <a:t>Hash</a:t>
            </a:r>
            <a:r>
              <a:rPr lang="zh-CN" altLang="en-US" b="1" dirty="0" smtClean="0">
                <a:solidFill>
                  <a:srgbClr val="FF0000"/>
                </a:solidFill>
                <a:latin typeface="微软雅黑" pitchFamily="34" charset="-122"/>
                <a:ea typeface="微软雅黑" pitchFamily="34" charset="-122"/>
              </a:rPr>
              <a:t>索引是什么类型？</a:t>
            </a:r>
            <a:endParaRPr lang="en-US" altLang="zh-CN" b="1" dirty="0" smtClean="0">
              <a:solidFill>
                <a:srgbClr val="FF0000"/>
              </a:solidFill>
              <a:latin typeface="微软雅黑" pitchFamily="34" charset="-122"/>
              <a:ea typeface="微软雅黑" pitchFamily="34" charset="-122"/>
            </a:endParaRPr>
          </a:p>
        </p:txBody>
      </p:sp>
      <p:sp>
        <p:nvSpPr>
          <p:cNvPr id="9" name="矩形 8"/>
          <p:cNvSpPr/>
          <p:nvPr/>
        </p:nvSpPr>
        <p:spPr>
          <a:xfrm>
            <a:off x="472717" y="4149080"/>
            <a:ext cx="7537252" cy="1169551"/>
          </a:xfrm>
          <a:prstGeom prst="rect">
            <a:avLst/>
          </a:prstGeom>
        </p:spPr>
        <p:txBody>
          <a:bodyPr wrap="square">
            <a:spAutoFit/>
          </a:bodyPr>
          <a:lstStyle/>
          <a:p>
            <a:r>
              <a:rPr lang="en-US" altLang="zh-CN" sz="1400" dirty="0" smtClean="0">
                <a:latin typeface="微软雅黑" pitchFamily="34" charset="-122"/>
                <a:ea typeface="微软雅黑" pitchFamily="34" charset="-122"/>
              </a:rPr>
              <a:t>&gt;</a:t>
            </a:r>
            <a:r>
              <a:rPr lang="en-US" altLang="zh-CN" sz="1400" dirty="0">
                <a:latin typeface="微软雅黑" pitchFamily="34" charset="-122"/>
                <a:ea typeface="微软雅黑" pitchFamily="34" charset="-122"/>
              </a:rPr>
              <a:t>show </a:t>
            </a:r>
            <a:r>
              <a:rPr lang="en-US" altLang="zh-CN" sz="1400" dirty="0" smtClean="0">
                <a:latin typeface="微软雅黑" pitchFamily="34" charset="-122"/>
                <a:ea typeface="微软雅黑" pitchFamily="34" charset="-122"/>
              </a:rPr>
              <a:t>index from </a:t>
            </a:r>
            <a:r>
              <a:rPr lang="en-US" altLang="zh-CN" sz="1400" dirty="0" err="1">
                <a:latin typeface="微软雅黑" pitchFamily="34" charset="-122"/>
                <a:ea typeface="微软雅黑" pitchFamily="34" charset="-122"/>
              </a:rPr>
              <a:t>t_test_idx</a:t>
            </a:r>
            <a:r>
              <a:rPr lang="en-US" altLang="zh-CN" sz="1400" dirty="0">
                <a:latin typeface="微软雅黑" pitchFamily="34" charset="-122"/>
                <a:ea typeface="微软雅黑" pitchFamily="34" charset="-122"/>
              </a:rPr>
              <a:t>;</a:t>
            </a:r>
          </a:p>
          <a:p>
            <a:r>
              <a:rPr lang="en-US" altLang="zh-CN" sz="1400" dirty="0" smtClean="0">
                <a:latin typeface="微软雅黑" pitchFamily="34" charset="-122"/>
                <a:ea typeface="微软雅黑" pitchFamily="34" charset="-122"/>
              </a:rPr>
              <a:t>| </a:t>
            </a:r>
            <a:r>
              <a:rPr lang="en-US" altLang="zh-CN" sz="1400" dirty="0">
                <a:latin typeface="微软雅黑" pitchFamily="34" charset="-122"/>
                <a:ea typeface="微软雅黑" pitchFamily="34" charset="-122"/>
              </a:rPr>
              <a:t>Table     </a:t>
            </a:r>
            <a:r>
              <a:rPr lang="en-US" altLang="zh-CN" sz="1400" dirty="0" smtClean="0">
                <a:latin typeface="微软雅黑" pitchFamily="34" charset="-122"/>
                <a:ea typeface="微软雅黑" pitchFamily="34" charset="-122"/>
              </a:rPr>
              <a:t>  </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Non_unique</a:t>
            </a:r>
            <a:r>
              <a:rPr lang="en-US" altLang="zh-CN" sz="1400" dirty="0">
                <a:latin typeface="微软雅黑" pitchFamily="34" charset="-122"/>
                <a:ea typeface="微软雅黑" pitchFamily="34" charset="-122"/>
              </a:rPr>
              <a:t> | </a:t>
            </a:r>
            <a:r>
              <a:rPr lang="en-US" altLang="zh-CN" sz="1400" dirty="0" err="1">
                <a:latin typeface="微软雅黑" pitchFamily="34" charset="-122"/>
                <a:ea typeface="微软雅黑" pitchFamily="34" charset="-122"/>
              </a:rPr>
              <a:t>Key_name</a:t>
            </a:r>
            <a:r>
              <a:rPr lang="en-US" altLang="zh-CN" sz="1400" dirty="0">
                <a:latin typeface="微软雅黑" pitchFamily="34" charset="-122"/>
                <a:ea typeface="微软雅黑" pitchFamily="34" charset="-122"/>
              </a:rPr>
              <a:t>        </a:t>
            </a:r>
            <a:r>
              <a:rPr lang="en-US" altLang="zh-CN" sz="1400" dirty="0" smtClean="0">
                <a:latin typeface="微软雅黑" pitchFamily="34" charset="-122"/>
                <a:ea typeface="微软雅黑" pitchFamily="34" charset="-122"/>
              </a:rPr>
              <a:t>  | </a:t>
            </a:r>
            <a:r>
              <a:rPr lang="en-US" altLang="zh-CN" sz="1400" dirty="0" err="1">
                <a:latin typeface="微软雅黑" pitchFamily="34" charset="-122"/>
                <a:ea typeface="微软雅黑" pitchFamily="34" charset="-122"/>
              </a:rPr>
              <a:t>Column_name</a:t>
            </a:r>
            <a:r>
              <a:rPr lang="en-US" altLang="zh-CN" sz="1400" dirty="0">
                <a:latin typeface="微软雅黑" pitchFamily="34" charset="-122"/>
                <a:ea typeface="微软雅黑" pitchFamily="34" charset="-122"/>
              </a:rPr>
              <a:t> | </a:t>
            </a:r>
            <a:r>
              <a:rPr lang="en-US" altLang="zh-CN" sz="1400" dirty="0" err="1">
                <a:latin typeface="微软雅黑" pitchFamily="34" charset="-122"/>
                <a:ea typeface="微软雅黑" pitchFamily="34" charset="-122"/>
              </a:rPr>
              <a:t>Index_type</a:t>
            </a:r>
            <a:r>
              <a:rPr lang="en-US" altLang="zh-CN" sz="1400" dirty="0">
                <a:latin typeface="微软雅黑" pitchFamily="34" charset="-122"/>
                <a:ea typeface="微软雅黑" pitchFamily="34" charset="-122"/>
              </a:rPr>
              <a:t> |</a:t>
            </a:r>
          </a:p>
          <a:p>
            <a:r>
              <a:rPr lang="en-US" altLang="zh-CN" sz="1400" dirty="0" smtClean="0">
                <a:latin typeface="微软雅黑" pitchFamily="34" charset="-122"/>
                <a:ea typeface="微软雅黑" pitchFamily="34" charset="-122"/>
              </a:rPr>
              <a:t>| </a:t>
            </a:r>
            <a:r>
              <a:rPr lang="en-US" altLang="zh-CN" sz="1400" dirty="0" err="1">
                <a:latin typeface="微软雅黑" pitchFamily="34" charset="-122"/>
                <a:ea typeface="微软雅黑" pitchFamily="34" charset="-122"/>
              </a:rPr>
              <a:t>t_test_idx</a:t>
            </a:r>
            <a:r>
              <a:rPr lang="en-US" altLang="zh-CN" sz="1400" dirty="0">
                <a:latin typeface="微软雅黑" pitchFamily="34" charset="-122"/>
                <a:ea typeface="微软雅黑" pitchFamily="34" charset="-122"/>
              </a:rPr>
              <a:t> |          0 </a:t>
            </a:r>
            <a:r>
              <a:rPr lang="en-US" altLang="zh-CN" sz="1400" dirty="0" smtClean="0">
                <a:latin typeface="微软雅黑" pitchFamily="34" charset="-122"/>
                <a:ea typeface="微软雅黑" pitchFamily="34" charset="-122"/>
              </a:rPr>
              <a:t>         | </a:t>
            </a:r>
            <a:r>
              <a:rPr lang="en-US" altLang="zh-CN" sz="1400" dirty="0">
                <a:latin typeface="微软雅黑" pitchFamily="34" charset="-122"/>
                <a:ea typeface="微软雅黑" pitchFamily="34" charset="-122"/>
              </a:rPr>
              <a:t>PRIMARY        </a:t>
            </a:r>
            <a:r>
              <a:rPr lang="en-US" altLang="zh-CN" sz="1400" dirty="0" smtClean="0">
                <a:latin typeface="微软雅黑" pitchFamily="34" charset="-122"/>
                <a:ea typeface="微软雅黑" pitchFamily="34" charset="-122"/>
              </a:rPr>
              <a:t>   </a:t>
            </a:r>
            <a:r>
              <a:rPr lang="en-US" altLang="zh-CN" sz="1400" dirty="0">
                <a:latin typeface="微软雅黑" pitchFamily="34" charset="-122"/>
                <a:ea typeface="微软雅黑" pitchFamily="34" charset="-122"/>
              </a:rPr>
              <a:t>| id         </a:t>
            </a:r>
            <a:r>
              <a:rPr lang="en-US" altLang="zh-CN" sz="1400" dirty="0" smtClean="0">
                <a:latin typeface="微软雅黑" pitchFamily="34" charset="-122"/>
                <a:ea typeface="微软雅黑" pitchFamily="34" charset="-122"/>
              </a:rPr>
              <a:t>            </a:t>
            </a:r>
            <a:r>
              <a:rPr lang="en-US" altLang="zh-CN" sz="1400" dirty="0">
                <a:latin typeface="微软雅黑" pitchFamily="34" charset="-122"/>
                <a:ea typeface="微软雅黑" pitchFamily="34" charset="-122"/>
              </a:rPr>
              <a:t>| BTREE      |</a:t>
            </a:r>
          </a:p>
          <a:p>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t_test_idx</a:t>
            </a:r>
            <a:r>
              <a:rPr lang="en-US" altLang="zh-CN" sz="1400" dirty="0">
                <a:latin typeface="微软雅黑" pitchFamily="34" charset="-122"/>
                <a:ea typeface="微软雅黑" pitchFamily="34" charset="-122"/>
              </a:rPr>
              <a:t> |          0  </a:t>
            </a:r>
            <a:r>
              <a:rPr lang="en-US" altLang="zh-CN" sz="1400" dirty="0" smtClean="0">
                <a:latin typeface="微软雅黑" pitchFamily="34" charset="-122"/>
                <a:ea typeface="微软雅黑" pitchFamily="34" charset="-122"/>
              </a:rPr>
              <a:t>        | </a:t>
            </a:r>
            <a:r>
              <a:rPr lang="en-US" altLang="zh-CN" sz="1400" dirty="0" err="1">
                <a:latin typeface="微软雅黑" pitchFamily="34" charset="-122"/>
                <a:ea typeface="微软雅黑" pitchFamily="34" charset="-122"/>
              </a:rPr>
              <a:t>idx_user_name</a:t>
            </a:r>
            <a:r>
              <a:rPr lang="en-US" altLang="zh-CN" sz="1400" dirty="0">
                <a:latin typeface="微软雅黑" pitchFamily="34" charset="-122"/>
                <a:ea typeface="微软雅黑" pitchFamily="34" charset="-122"/>
              </a:rPr>
              <a:t>   | </a:t>
            </a:r>
            <a:r>
              <a:rPr lang="en-US" altLang="zh-CN" sz="1400" dirty="0" err="1">
                <a:latin typeface="微软雅黑" pitchFamily="34" charset="-122"/>
                <a:ea typeface="微软雅黑" pitchFamily="34" charset="-122"/>
              </a:rPr>
              <a:t>user_name</a:t>
            </a:r>
            <a:r>
              <a:rPr lang="en-US" altLang="zh-CN" sz="1400" dirty="0">
                <a:latin typeface="微软雅黑" pitchFamily="34" charset="-122"/>
                <a:ea typeface="微软雅黑" pitchFamily="34" charset="-122"/>
              </a:rPr>
              <a:t>  </a:t>
            </a:r>
            <a:r>
              <a:rPr lang="en-US" altLang="zh-CN" sz="1400" dirty="0" smtClean="0">
                <a:latin typeface="微软雅黑" pitchFamily="34" charset="-122"/>
                <a:ea typeface="微软雅黑" pitchFamily="34" charset="-122"/>
              </a:rPr>
              <a:t>    </a:t>
            </a:r>
            <a:r>
              <a:rPr lang="en-US" altLang="zh-CN" sz="1400" dirty="0">
                <a:latin typeface="微软雅黑" pitchFamily="34" charset="-122"/>
                <a:ea typeface="微软雅黑" pitchFamily="34" charset="-122"/>
              </a:rPr>
              <a:t>| BTREE      |</a:t>
            </a:r>
          </a:p>
          <a:p>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t_test_idx</a:t>
            </a:r>
            <a:r>
              <a:rPr lang="en-US" altLang="zh-CN" sz="1400" dirty="0">
                <a:latin typeface="微软雅黑" pitchFamily="34" charset="-122"/>
                <a:ea typeface="微软雅黑" pitchFamily="34" charset="-122"/>
              </a:rPr>
              <a:t> |          1 </a:t>
            </a:r>
            <a:r>
              <a:rPr lang="en-US" altLang="zh-CN" sz="1400" dirty="0" smtClean="0">
                <a:latin typeface="微软雅黑" pitchFamily="34" charset="-122"/>
                <a:ea typeface="微软雅黑" pitchFamily="34" charset="-122"/>
              </a:rPr>
              <a:t>         | </a:t>
            </a:r>
            <a:r>
              <a:rPr lang="en-US" altLang="zh-CN" sz="1400" dirty="0" err="1">
                <a:latin typeface="微软雅黑" pitchFamily="34" charset="-122"/>
                <a:ea typeface="微软雅黑" pitchFamily="34" charset="-122"/>
              </a:rPr>
              <a:t>idx_create_time</a:t>
            </a:r>
            <a:r>
              <a:rPr lang="en-US" altLang="zh-CN" sz="1400" dirty="0">
                <a:latin typeface="微软雅黑" pitchFamily="34" charset="-122"/>
                <a:ea typeface="微软雅黑" pitchFamily="34" charset="-122"/>
              </a:rPr>
              <a:t> </a:t>
            </a:r>
            <a:r>
              <a:rPr lang="en-US" altLang="zh-CN" sz="1400" dirty="0" smtClean="0">
                <a:latin typeface="微软雅黑" pitchFamily="34" charset="-122"/>
                <a:ea typeface="微软雅黑" pitchFamily="34" charset="-122"/>
              </a:rPr>
              <a:t> | </a:t>
            </a:r>
            <a:r>
              <a:rPr lang="en-US" altLang="zh-CN" sz="1400" dirty="0" err="1">
                <a:latin typeface="微软雅黑" pitchFamily="34" charset="-122"/>
                <a:ea typeface="微软雅黑" pitchFamily="34" charset="-122"/>
              </a:rPr>
              <a:t>create_time</a:t>
            </a:r>
            <a:r>
              <a:rPr lang="en-US" altLang="zh-CN" sz="1400" dirty="0">
                <a:latin typeface="微软雅黑" pitchFamily="34" charset="-122"/>
                <a:ea typeface="微软雅黑" pitchFamily="34" charset="-122"/>
              </a:rPr>
              <a:t> </a:t>
            </a:r>
            <a:r>
              <a:rPr lang="en-US" altLang="zh-CN" sz="1400" dirty="0" smtClean="0">
                <a:latin typeface="微软雅黑" pitchFamily="34" charset="-122"/>
                <a:ea typeface="微软雅黑" pitchFamily="34" charset="-122"/>
              </a:rPr>
              <a:t>    | </a:t>
            </a:r>
            <a:r>
              <a:rPr lang="en-US" altLang="zh-CN" sz="1400" dirty="0">
                <a:latin typeface="微软雅黑" pitchFamily="34" charset="-122"/>
                <a:ea typeface="微软雅黑" pitchFamily="34" charset="-122"/>
              </a:rPr>
              <a:t>BTREE      </a:t>
            </a:r>
            <a:r>
              <a:rPr lang="en-US" altLang="zh-CN" sz="1400" dirty="0" smtClean="0">
                <a:latin typeface="微软雅黑" pitchFamily="34" charset="-122"/>
                <a:ea typeface="微软雅黑" pitchFamily="34" charset="-122"/>
              </a:rPr>
              <a:t>|</a:t>
            </a:r>
            <a:endParaRPr lang="en-US" altLang="zh-CN" sz="1400" dirty="0">
              <a:latin typeface="微软雅黑" pitchFamily="34" charset="-122"/>
              <a:ea typeface="微软雅黑" pitchFamily="34" charset="-122"/>
            </a:endParaRPr>
          </a:p>
        </p:txBody>
      </p:sp>
    </p:spTree>
    <p:extLst>
      <p:ext uri="{BB962C8B-B14F-4D97-AF65-F5344CB8AC3E}">
        <p14:creationId xmlns:p14="http://schemas.microsoft.com/office/powerpoint/2010/main" val="1244893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6273138" cy="758602"/>
          </a:xfr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a:t>
            </a:r>
            <a:r>
              <a:rPr lang="zh-CN" altLang="en-US" sz="3600" dirty="0" smtClean="0">
                <a:latin typeface="微软雅黑" pitchFamily="34" charset="-122"/>
                <a:ea typeface="微软雅黑" pitchFamily="34" charset="-122"/>
              </a:rPr>
              <a:t>简介</a:t>
            </a:r>
            <a:r>
              <a:rPr lang="en-US" altLang="zh-CN" sz="3600" dirty="0" smtClean="0">
                <a:latin typeface="微软雅黑" pitchFamily="34" charset="-122"/>
                <a:ea typeface="微软雅黑" pitchFamily="34" charset="-122"/>
              </a:rPr>
              <a:t>-</a:t>
            </a:r>
            <a:r>
              <a:rPr lang="zh-CN" altLang="en-US" sz="3600" dirty="0" smtClean="0">
                <a:latin typeface="微软雅黑" pitchFamily="34" charset="-122"/>
                <a:ea typeface="微软雅黑" pitchFamily="34" charset="-122"/>
              </a:rPr>
              <a:t>索引实现</a:t>
            </a:r>
            <a:endParaRPr lang="zh-CN" altLang="en-US" sz="3600" dirty="0">
              <a:latin typeface="微软雅黑" pitchFamily="34" charset="-122"/>
              <a:ea typeface="微软雅黑" pitchFamily="34" charset="-122"/>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索引结构</a:t>
            </a:r>
            <a:endParaRPr lang="zh-CN" altLang="en-US" dirty="0"/>
          </a:p>
        </p:txBody>
      </p:sp>
      <p:pic>
        <p:nvPicPr>
          <p:cNvPr id="3074" name="Picture 2" descr="https://upload.wikimedia.org/wikipedia/commons/3/37/Bplustre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4369" y="1484784"/>
            <a:ext cx="7763175" cy="3573416"/>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1076532" y="5157192"/>
            <a:ext cx="7560044" cy="152181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en-US" altLang="zh-CN" sz="1600" b="1" dirty="0" smtClean="0">
                <a:solidFill>
                  <a:srgbClr val="FF0000"/>
                </a:solidFill>
                <a:latin typeface="微软雅黑" pitchFamily="34" charset="-122"/>
                <a:ea typeface="微软雅黑" pitchFamily="34" charset="-122"/>
              </a:rPr>
              <a:t>B+</a:t>
            </a:r>
            <a:r>
              <a:rPr lang="zh-CN" altLang="en-US" sz="1600" b="1" dirty="0" smtClean="0">
                <a:solidFill>
                  <a:srgbClr val="FF0000"/>
                </a:solidFill>
                <a:latin typeface="微软雅黑" pitchFamily="34" charset="-122"/>
                <a:ea typeface="微软雅黑" pitchFamily="34" charset="-122"/>
              </a:rPr>
              <a:t>树的重要特征：</a:t>
            </a:r>
            <a:endParaRPr lang="en-US" altLang="zh-CN" sz="1600" b="1" dirty="0" smtClean="0">
              <a:solidFill>
                <a:srgbClr val="FF0000"/>
              </a:solidFill>
              <a:latin typeface="微软雅黑" pitchFamily="34" charset="-122"/>
              <a:ea typeface="微软雅黑" pitchFamily="34" charset="-122"/>
            </a:endParaRPr>
          </a:p>
          <a:p>
            <a:pPr latinLnBrk="1"/>
            <a:r>
              <a:rPr lang="en-US" altLang="zh-CN" sz="1600" b="1" dirty="0" smtClean="0">
                <a:solidFill>
                  <a:srgbClr val="FF0000"/>
                </a:solidFill>
                <a:latin typeface="微软雅黑" pitchFamily="34" charset="-122"/>
                <a:ea typeface="微软雅黑" pitchFamily="34" charset="-122"/>
              </a:rPr>
              <a:t>  1</a:t>
            </a:r>
            <a:r>
              <a:rPr lang="zh-CN" altLang="en-US" sz="1600" b="1" dirty="0" smtClean="0">
                <a:solidFill>
                  <a:srgbClr val="FF0000"/>
                </a:solidFill>
                <a:latin typeface="微软雅黑" pitchFamily="34" charset="-122"/>
                <a:ea typeface="微软雅黑" pitchFamily="34" charset="-122"/>
              </a:rPr>
              <a:t>、</a:t>
            </a:r>
            <a:r>
              <a:rPr lang="en-US" altLang="zh-CN" sz="1600" b="1" dirty="0" smtClean="0">
                <a:solidFill>
                  <a:srgbClr val="FF0000"/>
                </a:solidFill>
                <a:latin typeface="微软雅黑" pitchFamily="34" charset="-122"/>
                <a:ea typeface="微软雅黑" pitchFamily="34" charset="-122"/>
              </a:rPr>
              <a:t>n</a:t>
            </a:r>
            <a:r>
              <a:rPr lang="zh-CN" altLang="en-US" sz="1600" b="1" dirty="0" smtClean="0">
                <a:solidFill>
                  <a:srgbClr val="FF0000"/>
                </a:solidFill>
                <a:latin typeface="微软雅黑" pitchFamily="34" charset="-122"/>
                <a:ea typeface="微软雅黑" pitchFamily="34" charset="-122"/>
              </a:rPr>
              <a:t>阶</a:t>
            </a:r>
            <a:r>
              <a:rPr lang="zh-CN" altLang="en-US" sz="1600" b="1" dirty="0" smtClean="0">
                <a:solidFill>
                  <a:srgbClr val="FF0000"/>
                </a:solidFill>
                <a:latin typeface="微软雅黑" pitchFamily="34" charset="-122"/>
                <a:ea typeface="微软雅黑" pitchFamily="34" charset="-122"/>
              </a:rPr>
              <a:t>（</a:t>
            </a:r>
            <a:r>
              <a:rPr lang="en-US" altLang="zh-CN" sz="1600" b="1" dirty="0" smtClean="0">
                <a:solidFill>
                  <a:srgbClr val="FF0000"/>
                </a:solidFill>
                <a:latin typeface="微软雅黑" pitchFamily="34" charset="-122"/>
                <a:ea typeface="微软雅黑" pitchFamily="34" charset="-122"/>
              </a:rPr>
              <a:t>n&gt;=2</a:t>
            </a:r>
            <a:r>
              <a:rPr lang="zh-CN" altLang="en-US" sz="1600" b="1" dirty="0" smtClean="0">
                <a:solidFill>
                  <a:srgbClr val="FF0000"/>
                </a:solidFill>
                <a:latin typeface="微软雅黑" pitchFamily="34" charset="-122"/>
                <a:ea typeface="微软雅黑" pitchFamily="34" charset="-122"/>
              </a:rPr>
              <a:t>）</a:t>
            </a:r>
            <a:endParaRPr lang="en-US" altLang="zh-CN" sz="1600" b="1" dirty="0" smtClean="0">
              <a:solidFill>
                <a:srgbClr val="FF0000"/>
              </a:solidFill>
              <a:latin typeface="微软雅黑" pitchFamily="34" charset="-122"/>
              <a:ea typeface="微软雅黑" pitchFamily="34" charset="-122"/>
            </a:endParaRPr>
          </a:p>
          <a:p>
            <a:pPr latinLnBrk="1"/>
            <a:r>
              <a:rPr lang="en-US" altLang="zh-CN" sz="1600" b="1" dirty="0">
                <a:solidFill>
                  <a:srgbClr val="FF0000"/>
                </a:solidFill>
                <a:latin typeface="微软雅黑" pitchFamily="34" charset="-122"/>
                <a:ea typeface="微软雅黑" pitchFamily="34" charset="-122"/>
              </a:rPr>
              <a:t> </a:t>
            </a:r>
            <a:r>
              <a:rPr lang="en-US" altLang="zh-CN" sz="1600" b="1" dirty="0" smtClean="0">
                <a:solidFill>
                  <a:srgbClr val="FF0000"/>
                </a:solidFill>
                <a:latin typeface="微软雅黑" pitchFamily="34" charset="-122"/>
                <a:ea typeface="微软雅黑" pitchFamily="34" charset="-122"/>
              </a:rPr>
              <a:t> 2</a:t>
            </a:r>
            <a:r>
              <a:rPr lang="zh-CN" altLang="en-US" sz="1600" b="1" dirty="0" smtClean="0">
                <a:solidFill>
                  <a:srgbClr val="FF0000"/>
                </a:solidFill>
                <a:latin typeface="微软雅黑" pitchFamily="34" charset="-122"/>
                <a:ea typeface="微软雅黑" pitchFamily="34" charset="-122"/>
              </a:rPr>
              <a:t>、非叶子节点中存储的数据指向子节点；</a:t>
            </a:r>
            <a:endParaRPr lang="en-US" altLang="zh-CN" sz="1600" b="1" dirty="0" smtClean="0">
              <a:solidFill>
                <a:srgbClr val="FF0000"/>
              </a:solidFill>
              <a:latin typeface="微软雅黑" pitchFamily="34" charset="-122"/>
              <a:ea typeface="微软雅黑" pitchFamily="34" charset="-122"/>
            </a:endParaRPr>
          </a:p>
          <a:p>
            <a:pPr latinLnBrk="1"/>
            <a:r>
              <a:rPr lang="en-US" altLang="zh-CN" sz="1600" b="1" dirty="0">
                <a:solidFill>
                  <a:srgbClr val="FF0000"/>
                </a:solidFill>
                <a:latin typeface="微软雅黑" pitchFamily="34" charset="-122"/>
                <a:ea typeface="微软雅黑" pitchFamily="34" charset="-122"/>
              </a:rPr>
              <a:t> </a:t>
            </a:r>
            <a:r>
              <a:rPr lang="en-US" altLang="zh-CN" sz="1600" b="1" dirty="0" smtClean="0">
                <a:solidFill>
                  <a:srgbClr val="FF0000"/>
                </a:solidFill>
                <a:latin typeface="微软雅黑" pitchFamily="34" charset="-122"/>
                <a:ea typeface="微软雅黑" pitchFamily="34" charset="-122"/>
              </a:rPr>
              <a:t> 3</a:t>
            </a:r>
            <a:r>
              <a:rPr lang="zh-CN" altLang="en-US" sz="1600" b="1" dirty="0" smtClean="0">
                <a:solidFill>
                  <a:srgbClr val="FF0000"/>
                </a:solidFill>
                <a:latin typeface="微软雅黑" pitchFamily="34" charset="-122"/>
                <a:ea typeface="微软雅黑" pitchFamily="34" charset="-122"/>
              </a:rPr>
              <a:t>、叶子节点存储“数据”</a:t>
            </a:r>
            <a:endParaRPr lang="en-US" altLang="zh-CN" sz="1600" b="1" dirty="0" smtClean="0">
              <a:solidFill>
                <a:srgbClr val="FF0000"/>
              </a:solidFill>
              <a:latin typeface="微软雅黑" pitchFamily="34" charset="-122"/>
              <a:ea typeface="微软雅黑" pitchFamily="34" charset="-122"/>
            </a:endParaRPr>
          </a:p>
          <a:p>
            <a:pPr latinLnBrk="1"/>
            <a:r>
              <a:rPr lang="en-US" altLang="zh-CN" sz="1600" b="1" dirty="0">
                <a:solidFill>
                  <a:srgbClr val="FF0000"/>
                </a:solidFill>
                <a:latin typeface="微软雅黑" pitchFamily="34" charset="-122"/>
                <a:ea typeface="微软雅黑" pitchFamily="34" charset="-122"/>
              </a:rPr>
              <a:t> </a:t>
            </a:r>
            <a:r>
              <a:rPr lang="en-US" altLang="zh-CN" sz="1600" b="1" dirty="0" smtClean="0">
                <a:solidFill>
                  <a:srgbClr val="FF0000"/>
                </a:solidFill>
                <a:latin typeface="微软雅黑" pitchFamily="34" charset="-122"/>
                <a:ea typeface="微软雅黑" pitchFamily="34" charset="-122"/>
              </a:rPr>
              <a:t> 4</a:t>
            </a:r>
            <a:r>
              <a:rPr lang="zh-CN" altLang="en-US" sz="1600" b="1" dirty="0" smtClean="0">
                <a:solidFill>
                  <a:srgbClr val="FF0000"/>
                </a:solidFill>
                <a:latin typeface="微软雅黑" pitchFamily="34" charset="-122"/>
                <a:ea typeface="微软雅黑" pitchFamily="34" charset="-122"/>
              </a:rPr>
              <a:t>、叶子节点之间有指针链接</a:t>
            </a:r>
            <a:endParaRPr lang="en-US" altLang="zh-CN" sz="1600"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38025999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6273138" cy="758602"/>
          </a:xfr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a:t>
            </a:r>
            <a:r>
              <a:rPr lang="zh-CN" altLang="en-US" sz="3600" dirty="0" smtClean="0">
                <a:latin typeface="微软雅黑" pitchFamily="34" charset="-122"/>
                <a:ea typeface="微软雅黑" pitchFamily="34" charset="-122"/>
              </a:rPr>
              <a:t>简介</a:t>
            </a:r>
            <a:endParaRPr lang="zh-CN" altLang="en-US" sz="3600" dirty="0">
              <a:latin typeface="微软雅黑" pitchFamily="34" charset="-122"/>
              <a:ea typeface="微软雅黑" pitchFamily="34" charset="-122"/>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索引结构</a:t>
            </a:r>
            <a:endParaRPr lang="zh-CN" altLang="en-US" dirty="0"/>
          </a:p>
        </p:txBody>
      </p:sp>
      <p:pic>
        <p:nvPicPr>
          <p:cNvPr id="6145" name="Picture 1" descr="D://Users/yetc/AppData/Local/YNote/data/ytc270@163.com/a1305492a36f46398efd9a615a5d8faa/clipboar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1484784"/>
            <a:ext cx="4779502" cy="3879564"/>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5607086" y="3501008"/>
            <a:ext cx="3429410" cy="137092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en-US" altLang="zh-CN" sz="1600" dirty="0" err="1" smtClean="0">
                <a:latin typeface="微软雅黑" pitchFamily="34" charset="-122"/>
                <a:ea typeface="微软雅黑" pitchFamily="34" charset="-122"/>
              </a:rPr>
              <a:t>InnoDB</a:t>
            </a:r>
            <a:r>
              <a:rPr lang="en-US" altLang="zh-CN" sz="1600" dirty="0" smtClean="0">
                <a:latin typeface="微软雅黑" pitchFamily="34" charset="-122"/>
                <a:ea typeface="微软雅黑" pitchFamily="34" charset="-122"/>
              </a:rPr>
              <a:t> Cluster Index</a:t>
            </a:r>
            <a:r>
              <a:rPr lang="zh-CN" altLang="en-US" sz="1600" dirty="0" smtClean="0">
                <a:latin typeface="微软雅黑" pitchFamily="34" charset="-122"/>
                <a:ea typeface="微软雅黑" pitchFamily="34" charset="-122"/>
              </a:rPr>
              <a:t>的选择顺序：</a:t>
            </a:r>
            <a:r>
              <a:rPr lang="en-US" altLang="zh-CN" sz="1600" dirty="0" smtClean="0">
                <a:latin typeface="微软雅黑" panose="020B0503020204020204" pitchFamily="34" charset="-122"/>
                <a:ea typeface="微软雅黑" panose="020B0503020204020204" pitchFamily="34" charset="-122"/>
              </a:rPr>
              <a:t>1</a:t>
            </a:r>
            <a:r>
              <a:rPr lang="zh-CN" altLang="en-US" sz="1600" dirty="0" smtClean="0">
                <a:latin typeface="微软雅黑" panose="020B0503020204020204" pitchFamily="34" charset="-122"/>
                <a:ea typeface="微软雅黑" panose="020B0503020204020204" pitchFamily="34" charset="-122"/>
              </a:rPr>
              <a:t>、</a:t>
            </a:r>
            <a:r>
              <a:rPr lang="en-US" altLang="zh-CN" sz="1600" dirty="0" smtClean="0">
                <a:latin typeface="微软雅黑" panose="020B0503020204020204" pitchFamily="34" charset="-122"/>
                <a:ea typeface="微软雅黑" panose="020B0503020204020204" pitchFamily="34" charset="-122"/>
              </a:rPr>
              <a:t>PRIMARY KEY</a:t>
            </a:r>
          </a:p>
          <a:p>
            <a:pPr latinLnBrk="1"/>
            <a:r>
              <a:rPr lang="en-US" altLang="zh-CN" sz="1600" dirty="0" smtClean="0">
                <a:latin typeface="微软雅黑" panose="020B0503020204020204" pitchFamily="34" charset="-122"/>
                <a:ea typeface="微软雅黑" panose="020B0503020204020204" pitchFamily="34" charset="-122"/>
              </a:rPr>
              <a:t>2</a:t>
            </a:r>
            <a:r>
              <a:rPr lang="zh-CN" altLang="en-US" sz="1600" dirty="0" smtClean="0">
                <a:latin typeface="微软雅黑" panose="020B0503020204020204" pitchFamily="34" charset="-122"/>
                <a:ea typeface="微软雅黑" panose="020B0503020204020204" pitchFamily="34" charset="-122"/>
              </a:rPr>
              <a:t>、</a:t>
            </a:r>
            <a:r>
              <a:rPr lang="en-US" altLang="zh-CN" sz="1600" dirty="0" smtClean="0">
                <a:latin typeface="微软雅黑" panose="020B0503020204020204" pitchFamily="34" charset="-122"/>
                <a:ea typeface="微软雅黑" panose="020B0503020204020204" pitchFamily="34" charset="-122"/>
              </a:rPr>
              <a:t>the </a:t>
            </a:r>
            <a:r>
              <a:rPr lang="en-US" altLang="zh-CN" sz="1600" dirty="0">
                <a:latin typeface="微软雅黑" panose="020B0503020204020204" pitchFamily="34" charset="-122"/>
                <a:ea typeface="微软雅黑" panose="020B0503020204020204" pitchFamily="34" charset="-122"/>
              </a:rPr>
              <a:t>first UNIQUE </a:t>
            </a:r>
            <a:r>
              <a:rPr lang="en-US" altLang="zh-CN" sz="1600" dirty="0" smtClean="0">
                <a:latin typeface="微软雅黑" pitchFamily="34" charset="-122"/>
                <a:ea typeface="微软雅黑" pitchFamily="34" charset="-122"/>
              </a:rPr>
              <a:t>index</a:t>
            </a:r>
          </a:p>
          <a:p>
            <a:pPr latinLnBrk="1"/>
            <a:r>
              <a:rPr lang="en-US" altLang="zh-CN" sz="1600" dirty="0" smtClean="0">
                <a:latin typeface="微软雅黑" pitchFamily="34" charset="-122"/>
                <a:ea typeface="微软雅黑" pitchFamily="34" charset="-122"/>
              </a:rPr>
              <a:t>3</a:t>
            </a:r>
            <a:r>
              <a:rPr lang="zh-CN" altLang="en-US" sz="1600" dirty="0" smtClean="0">
                <a:latin typeface="微软雅黑" pitchFamily="34" charset="-122"/>
                <a:ea typeface="微软雅黑" pitchFamily="34" charset="-122"/>
              </a:rPr>
              <a:t>、</a:t>
            </a:r>
            <a:r>
              <a:rPr lang="en-US" altLang="zh-CN" sz="1600" dirty="0" smtClean="0">
                <a:latin typeface="微软雅黑" pitchFamily="34" charset="-122"/>
                <a:ea typeface="微软雅黑" pitchFamily="34" charset="-122"/>
              </a:rPr>
              <a:t>internally </a:t>
            </a:r>
            <a:r>
              <a:rPr lang="en-US" altLang="zh-CN" sz="1600" dirty="0">
                <a:latin typeface="微软雅黑" panose="020B0503020204020204" pitchFamily="34" charset="-122"/>
                <a:ea typeface="微软雅黑" panose="020B0503020204020204" pitchFamily="34" charset="-122"/>
              </a:rPr>
              <a:t>generates a hidden clustered </a:t>
            </a:r>
            <a:r>
              <a:rPr lang="en-US" altLang="zh-CN" sz="1600" dirty="0" smtClean="0">
                <a:latin typeface="微软雅黑" pitchFamily="34" charset="-122"/>
                <a:ea typeface="微软雅黑" pitchFamily="34" charset="-122"/>
              </a:rPr>
              <a:t>index</a:t>
            </a:r>
          </a:p>
        </p:txBody>
      </p:sp>
      <p:sp>
        <p:nvSpPr>
          <p:cNvPr id="11" name="矩形 10"/>
          <p:cNvSpPr/>
          <p:nvPr/>
        </p:nvSpPr>
        <p:spPr>
          <a:xfrm>
            <a:off x="5619606" y="1733445"/>
            <a:ext cx="3429410" cy="163844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en-US" altLang="zh-CN" sz="1600" dirty="0" err="1" smtClean="0">
                <a:latin typeface="微软雅黑" pitchFamily="34" charset="-122"/>
                <a:ea typeface="微软雅黑" pitchFamily="34" charset="-122"/>
              </a:rPr>
              <a:t>MyISAM</a:t>
            </a:r>
            <a:r>
              <a:rPr lang="zh-CN" altLang="en-US" sz="1600" dirty="0" smtClean="0">
                <a:latin typeface="微软雅黑" pitchFamily="34" charset="-122"/>
                <a:ea typeface="微软雅黑" pitchFamily="34" charset="-122"/>
              </a:rPr>
              <a:t>：索引中节点中存储索引值，叶子中存储数据页的地址；</a:t>
            </a:r>
            <a:endParaRPr lang="en-US" altLang="zh-CN" sz="1600" dirty="0" smtClean="0">
              <a:latin typeface="微软雅黑" pitchFamily="34" charset="-122"/>
              <a:ea typeface="微软雅黑" pitchFamily="34" charset="-122"/>
            </a:endParaRPr>
          </a:p>
          <a:p>
            <a:pPr latinLnBrk="1"/>
            <a:r>
              <a:rPr lang="en-US" altLang="zh-CN" sz="1600" dirty="0" err="1" smtClean="0">
                <a:latin typeface="微软雅黑" pitchFamily="34" charset="-122"/>
                <a:ea typeface="微软雅黑" pitchFamily="34" charset="-122"/>
              </a:rPr>
              <a:t>InnoDB</a:t>
            </a:r>
            <a:r>
              <a:rPr lang="zh-CN" altLang="en-US" sz="1600" dirty="0" smtClean="0">
                <a:latin typeface="微软雅黑" pitchFamily="34" charset="-122"/>
                <a:ea typeface="微软雅黑" pitchFamily="34" charset="-122"/>
              </a:rPr>
              <a:t>：</a:t>
            </a:r>
            <a:r>
              <a:rPr lang="en-US" altLang="zh-CN" sz="1600" dirty="0" smtClean="0">
                <a:latin typeface="微软雅黑" pitchFamily="34" charset="-122"/>
                <a:ea typeface="微软雅黑" pitchFamily="34" charset="-122"/>
              </a:rPr>
              <a:t>Cluster Index</a:t>
            </a:r>
            <a:r>
              <a:rPr lang="zh-CN" altLang="en-US" sz="1600" dirty="0" smtClean="0">
                <a:latin typeface="微软雅黑" pitchFamily="34" charset="-122"/>
                <a:ea typeface="微软雅黑" pitchFamily="34" charset="-122"/>
              </a:rPr>
              <a:t>节点中</a:t>
            </a:r>
            <a:r>
              <a:rPr lang="zh-CN" altLang="en-US" sz="1600" dirty="0">
                <a:latin typeface="微软雅黑" pitchFamily="34" charset="-122"/>
                <a:ea typeface="微软雅黑" pitchFamily="34" charset="-122"/>
              </a:rPr>
              <a:t>存储</a:t>
            </a:r>
            <a:r>
              <a:rPr lang="zh-CN" altLang="en-US" sz="1600" dirty="0" smtClean="0">
                <a:latin typeface="微软雅黑" pitchFamily="34" charset="-122"/>
                <a:ea typeface="微软雅黑" pitchFamily="34" charset="-122"/>
              </a:rPr>
              <a:t>“主键值”，叶子中存储数据页的地址，</a:t>
            </a:r>
            <a:r>
              <a:rPr lang="en-US" altLang="zh-CN" sz="1600" dirty="0" smtClean="0">
                <a:latin typeface="微软雅黑" pitchFamily="34" charset="-122"/>
                <a:ea typeface="微软雅黑" pitchFamily="34" charset="-122"/>
              </a:rPr>
              <a:t>Secondary Index</a:t>
            </a:r>
            <a:r>
              <a:rPr lang="zh-CN" altLang="en-US" sz="1600" dirty="0" smtClean="0">
                <a:latin typeface="微软雅黑" pitchFamily="34" charset="-122"/>
                <a:ea typeface="微软雅黑" pitchFamily="34" charset="-122"/>
              </a:rPr>
              <a:t>中节点存储索引值，叶子中</a:t>
            </a:r>
            <a:r>
              <a:rPr lang="zh-CN" altLang="en-US" sz="1600" dirty="0">
                <a:latin typeface="微软雅黑" pitchFamily="34" charset="-122"/>
                <a:ea typeface="微软雅黑" pitchFamily="34" charset="-122"/>
              </a:rPr>
              <a:t>存储“主键值” </a:t>
            </a:r>
            <a:r>
              <a:rPr lang="zh-CN" altLang="en-US" sz="1600" dirty="0" smtClean="0">
                <a:latin typeface="微软雅黑" pitchFamily="34" charset="-122"/>
                <a:ea typeface="微软雅黑" pitchFamily="34" charset="-122"/>
              </a:rPr>
              <a:t>。</a:t>
            </a:r>
            <a:endParaRPr lang="en-US" altLang="zh-CN" sz="1600" b="1" dirty="0">
              <a:solidFill>
                <a:srgbClr val="FF0000"/>
              </a:solidFill>
              <a:latin typeface="微软雅黑" pitchFamily="34" charset="-122"/>
              <a:ea typeface="微软雅黑" pitchFamily="34" charset="-122"/>
            </a:endParaRPr>
          </a:p>
        </p:txBody>
      </p:sp>
      <p:sp>
        <p:nvSpPr>
          <p:cNvPr id="12" name="矩形 11"/>
          <p:cNvSpPr/>
          <p:nvPr/>
        </p:nvSpPr>
        <p:spPr>
          <a:xfrm>
            <a:off x="768096" y="5508364"/>
            <a:ext cx="8280920" cy="115212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en-US" altLang="zh-CN" b="1" dirty="0" smtClean="0">
                <a:solidFill>
                  <a:srgbClr val="FF0000"/>
                </a:solidFill>
                <a:latin typeface="微软雅黑" pitchFamily="34" charset="-122"/>
                <a:ea typeface="微软雅黑" pitchFamily="34" charset="-122"/>
              </a:rPr>
              <a:t>If </a:t>
            </a:r>
            <a:r>
              <a:rPr lang="en-US" altLang="zh-CN" b="1" dirty="0">
                <a:solidFill>
                  <a:srgbClr val="FF0000"/>
                </a:solidFill>
                <a:latin typeface="微软雅黑" pitchFamily="34" charset="-122"/>
                <a:ea typeface="微软雅黑" pitchFamily="34" charset="-122"/>
              </a:rPr>
              <a:t>the primary key is long, the secondary indexes use more space</a:t>
            </a:r>
            <a:r>
              <a:rPr lang="en-US" altLang="zh-CN" b="1" dirty="0" smtClean="0">
                <a:solidFill>
                  <a:srgbClr val="FF0000"/>
                </a:solidFill>
                <a:latin typeface="微软雅黑" pitchFamily="34" charset="-122"/>
                <a:ea typeface="微软雅黑" pitchFamily="34" charset="-122"/>
              </a:rPr>
              <a:t>.</a:t>
            </a:r>
            <a:endParaRPr lang="en-US" altLang="zh-CN"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257746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索引简介</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二级索引</a:t>
            </a:r>
            <a:endParaRPr lang="zh-CN" altLang="en-US" dirty="0"/>
          </a:p>
        </p:txBody>
      </p:sp>
      <p:pic>
        <p:nvPicPr>
          <p:cNvPr id="5124" name="Picture 4" descr="http://source.mycookies.cn/201805191537_258.gif?imageView1/JannLee/md/01"/>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903290" y="1484784"/>
            <a:ext cx="4629150" cy="151447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ource.mycookies.cn/201805191538_202.gif?imageView1/JannLee/md/01"/>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861247" y="3274680"/>
            <a:ext cx="4629150" cy="1514475"/>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p:cNvSpPr/>
          <p:nvPr/>
        </p:nvSpPr>
        <p:spPr>
          <a:xfrm>
            <a:off x="1392568" y="1484784"/>
            <a:ext cx="2510721" cy="86409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zh-CN" altLang="en-US" dirty="0" smtClean="0">
                <a:latin typeface="微软雅黑" pitchFamily="34" charset="-122"/>
                <a:ea typeface="微软雅黑" pitchFamily="34" charset="-122"/>
              </a:rPr>
              <a:t>顺序插入时树的变化集中在右侧上界处，可能出现上界竞争。</a:t>
            </a:r>
            <a:endParaRPr lang="en-US" altLang="zh-CN" dirty="0" smtClean="0">
              <a:latin typeface="微软雅黑" pitchFamily="34" charset="-122"/>
              <a:ea typeface="微软雅黑" pitchFamily="34" charset="-122"/>
            </a:endParaRPr>
          </a:p>
        </p:txBody>
      </p:sp>
      <p:sp>
        <p:nvSpPr>
          <p:cNvPr id="17" name="矩形 16"/>
          <p:cNvSpPr/>
          <p:nvPr/>
        </p:nvSpPr>
        <p:spPr>
          <a:xfrm>
            <a:off x="1350526" y="3280066"/>
            <a:ext cx="2510721" cy="86409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zh-CN" altLang="en-US" dirty="0" smtClean="0">
                <a:latin typeface="微软雅黑" pitchFamily="34" charset="-122"/>
                <a:ea typeface="微软雅黑" pitchFamily="34" charset="-122"/>
              </a:rPr>
              <a:t>乱序插入时树的变化点多、数据碎片化，空间利用率下降。</a:t>
            </a:r>
            <a:endParaRPr lang="en-US" altLang="zh-CN" dirty="0" smtClean="0">
              <a:latin typeface="微软雅黑" pitchFamily="34" charset="-122"/>
              <a:ea typeface="微软雅黑" pitchFamily="34" charset="-122"/>
            </a:endParaRPr>
          </a:p>
        </p:txBody>
      </p:sp>
      <p:sp>
        <p:nvSpPr>
          <p:cNvPr id="2" name="TextBox 1"/>
          <p:cNvSpPr txBox="1"/>
          <p:nvPr/>
        </p:nvSpPr>
        <p:spPr>
          <a:xfrm>
            <a:off x="1350526" y="4943475"/>
            <a:ext cx="7139871" cy="177281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defPPr>
              <a:defRPr lang="zh-CN"/>
            </a:defPPr>
            <a:lvl1pPr latinLnBrk="1">
              <a:defRPr>
                <a:solidFill>
                  <a:schemeClr val="dk1"/>
                </a:solidFill>
                <a:latin typeface="微软雅黑" pitchFamily="34" charset="-122"/>
                <a:ea typeface="微软雅黑" pitchFamily="34"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If index records are inserted in a sequential order (ascending or descending), the resulting index pages are about 15/16 full. If records are inserted in a random order, the pages are from 1/2 to 15/16 full</a:t>
            </a:r>
            <a:r>
              <a:rPr lang="en-US" altLang="zh-CN" dirty="0"/>
              <a:t>.</a:t>
            </a:r>
          </a:p>
          <a:p>
            <a:r>
              <a:rPr lang="zh-CN" altLang="en-US" dirty="0" smtClean="0"/>
              <a:t>结论</a:t>
            </a:r>
            <a:r>
              <a:rPr lang="zh-CN" altLang="en-US" dirty="0" smtClean="0"/>
              <a:t>：主键尽量选择有序的列，如没有，可以选择自增</a:t>
            </a:r>
            <a:r>
              <a:rPr lang="en-US" altLang="zh-CN" dirty="0" smtClean="0"/>
              <a:t>ID+UNIQUE INDEX</a:t>
            </a:r>
            <a:r>
              <a:rPr lang="zh-CN" altLang="en-US" dirty="0" smtClean="0"/>
              <a:t>的</a:t>
            </a:r>
            <a:r>
              <a:rPr lang="zh-CN" altLang="en-US" dirty="0" smtClean="0"/>
              <a:t>方案。</a:t>
            </a:r>
            <a:endParaRPr lang="zh-CN" altLang="en-US" dirty="0"/>
          </a:p>
        </p:txBody>
      </p:sp>
    </p:spTree>
    <p:extLst>
      <p:ext uri="{BB962C8B-B14F-4D97-AF65-F5344CB8AC3E}">
        <p14:creationId xmlns:p14="http://schemas.microsoft.com/office/powerpoint/2010/main" val="27261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索引简介</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二级索引</a:t>
            </a:r>
            <a:endParaRPr lang="zh-CN" altLang="en-US" dirty="0"/>
          </a:p>
        </p:txBody>
      </p:sp>
      <p:sp>
        <p:nvSpPr>
          <p:cNvPr id="11" name="矩形 10"/>
          <p:cNvSpPr/>
          <p:nvPr/>
        </p:nvSpPr>
        <p:spPr>
          <a:xfrm>
            <a:off x="1494541" y="2276872"/>
            <a:ext cx="6893883" cy="309634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latinLnBrk="1"/>
            <a:r>
              <a:rPr lang="zh-CN" altLang="en-US" dirty="0" smtClean="0">
                <a:latin typeface="微软雅黑" pitchFamily="34" charset="-122"/>
                <a:ea typeface="微软雅黑" pitchFamily="34" charset="-122"/>
              </a:rPr>
              <a:t>关于</a:t>
            </a:r>
            <a:r>
              <a:rPr lang="en-US" altLang="zh-CN" dirty="0" err="1" smtClean="0">
                <a:latin typeface="微软雅黑" pitchFamily="34" charset="-122"/>
                <a:ea typeface="微软雅黑" pitchFamily="34" charset="-122"/>
              </a:rPr>
              <a:t>InnoDB</a:t>
            </a:r>
            <a:r>
              <a:rPr lang="zh-CN" altLang="en-US" dirty="0" smtClean="0">
                <a:latin typeface="微软雅黑" pitchFamily="34" charset="-122"/>
                <a:ea typeface="微软雅黑" pitchFamily="34" charset="-122"/>
              </a:rPr>
              <a:t>索引的一些</a:t>
            </a:r>
            <a:r>
              <a:rPr lang="zh-CN" altLang="en-US" dirty="0" smtClean="0">
                <a:latin typeface="微软雅黑" pitchFamily="34" charset="-122"/>
                <a:ea typeface="微软雅黑" pitchFamily="34" charset="-122"/>
              </a:rPr>
              <a:t>约束：</a:t>
            </a:r>
            <a:endParaRPr lang="en-US" altLang="zh-CN" dirty="0" smtClean="0">
              <a:latin typeface="微软雅黑" pitchFamily="34" charset="-122"/>
              <a:ea typeface="微软雅黑" pitchFamily="34" charset="-122"/>
            </a:endParaRPr>
          </a:p>
          <a:p>
            <a:pPr latinLnBrk="1"/>
            <a:r>
              <a:rPr lang="en-US" altLang="zh-CN" dirty="0" smtClean="0">
                <a:latin typeface="微软雅黑" pitchFamily="34" charset="-122"/>
                <a:ea typeface="微软雅黑" pitchFamily="34" charset="-122"/>
              </a:rPr>
              <a:t>  1</a:t>
            </a:r>
            <a:r>
              <a:rPr lang="zh-CN" altLang="en-US" dirty="0" smtClean="0">
                <a:latin typeface="微软雅黑" pitchFamily="34" charset="-122"/>
                <a:ea typeface="微软雅黑" pitchFamily="34" charset="-122"/>
              </a:rPr>
              <a:t>、一个表只有一个</a:t>
            </a:r>
            <a:r>
              <a:rPr lang="en-US" altLang="zh-CN" dirty="0" smtClean="0">
                <a:latin typeface="微软雅黑" pitchFamily="34" charset="-122"/>
                <a:ea typeface="微软雅黑" pitchFamily="34" charset="-122"/>
              </a:rPr>
              <a:t>Cluster Index</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latinLnBrk="1"/>
            <a:r>
              <a:rPr lang="en-US" altLang="zh-CN" dirty="0" smtClean="0">
                <a:latin typeface="微软雅黑" pitchFamily="34" charset="-122"/>
                <a:ea typeface="微软雅黑" pitchFamily="34" charset="-122"/>
              </a:rPr>
              <a:t>  2</a:t>
            </a:r>
            <a:r>
              <a:rPr lang="zh-CN" altLang="en-US" dirty="0" smtClean="0">
                <a:latin typeface="微软雅黑" pitchFamily="34" charset="-122"/>
                <a:ea typeface="微软雅黑" pitchFamily="34" charset="-122"/>
              </a:rPr>
              <a:t>、一个表最多支持</a:t>
            </a:r>
            <a:r>
              <a:rPr lang="en-US" altLang="zh-CN" dirty="0" smtClean="0">
                <a:latin typeface="微软雅黑" pitchFamily="34" charset="-122"/>
                <a:ea typeface="微软雅黑" pitchFamily="34" charset="-122"/>
              </a:rPr>
              <a:t>64</a:t>
            </a:r>
            <a:r>
              <a:rPr lang="zh-CN" altLang="en-US" dirty="0" smtClean="0">
                <a:latin typeface="微软雅黑" pitchFamily="34" charset="-122"/>
                <a:ea typeface="微软雅黑" pitchFamily="34" charset="-122"/>
              </a:rPr>
              <a:t>个 </a:t>
            </a:r>
            <a:r>
              <a:rPr lang="en-US" altLang="zh-CN" dirty="0" smtClean="0">
                <a:latin typeface="微软雅黑" pitchFamily="34" charset="-122"/>
                <a:ea typeface="微软雅黑" pitchFamily="34" charset="-122"/>
              </a:rPr>
              <a:t>Secondary Index</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latinLnBrk="1"/>
            <a:r>
              <a:rPr lang="en-US" altLang="zh-CN" dirty="0" smtClean="0">
                <a:latin typeface="微软雅黑" pitchFamily="34" charset="-122"/>
                <a:ea typeface="微软雅黑" pitchFamily="34" charset="-122"/>
              </a:rPr>
              <a:t>  3</a:t>
            </a:r>
            <a:r>
              <a:rPr lang="zh-CN" altLang="en-US" dirty="0" smtClean="0">
                <a:latin typeface="微软雅黑" pitchFamily="34" charset="-122"/>
                <a:ea typeface="微软雅黑" pitchFamily="34" charset="-122"/>
              </a:rPr>
              <a:t>、组合索引最多支持</a:t>
            </a:r>
            <a:r>
              <a:rPr lang="en-US" altLang="zh-CN" dirty="0" smtClean="0">
                <a:latin typeface="微软雅黑" pitchFamily="34" charset="-122"/>
                <a:ea typeface="微软雅黑" pitchFamily="34" charset="-122"/>
              </a:rPr>
              <a:t>16</a:t>
            </a:r>
            <a:r>
              <a:rPr lang="zh-CN" altLang="en-US" dirty="0" smtClean="0">
                <a:latin typeface="微软雅黑" pitchFamily="34" charset="-122"/>
                <a:ea typeface="微软雅黑" pitchFamily="34" charset="-122"/>
              </a:rPr>
              <a:t>个</a:t>
            </a:r>
            <a:r>
              <a:rPr lang="zh-CN" altLang="en-US" dirty="0" smtClean="0">
                <a:latin typeface="微软雅黑" pitchFamily="34" charset="-122"/>
                <a:ea typeface="微软雅黑" pitchFamily="34" charset="-122"/>
              </a:rPr>
              <a:t>列（一个表最多支持</a:t>
            </a:r>
            <a:r>
              <a:rPr lang="en-US" altLang="zh-CN" dirty="0" smtClean="0">
                <a:latin typeface="微软雅黑" pitchFamily="34" charset="-122"/>
                <a:ea typeface="微软雅黑" pitchFamily="34" charset="-122"/>
              </a:rPr>
              <a:t>1017</a:t>
            </a:r>
            <a:r>
              <a:rPr lang="zh-CN" altLang="en-US" dirty="0" smtClean="0">
                <a:latin typeface="微软雅黑" pitchFamily="34" charset="-122"/>
                <a:ea typeface="微软雅黑" pitchFamily="34" charset="-122"/>
              </a:rPr>
              <a:t>列</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latinLnBrk="1"/>
            <a:r>
              <a:rPr lang="en-US" altLang="zh-CN" dirty="0" smtClean="0">
                <a:latin typeface="微软雅黑" pitchFamily="34" charset="-122"/>
                <a:ea typeface="微软雅黑" pitchFamily="34" charset="-122"/>
              </a:rPr>
              <a:t>  4</a:t>
            </a:r>
            <a:r>
              <a:rPr lang="zh-CN" altLang="en-US" dirty="0" smtClean="0">
                <a:latin typeface="微软雅黑" pitchFamily="34" charset="-122"/>
                <a:ea typeface="微软雅黑" pitchFamily="34" charset="-122"/>
              </a:rPr>
              <a:t>、除非可变列后的行</a:t>
            </a:r>
            <a:r>
              <a:rPr lang="zh-CN" altLang="en-US" dirty="0">
                <a:latin typeface="微软雅黑" pitchFamily="34" charset="-122"/>
                <a:ea typeface="微软雅黑" pitchFamily="34" charset="-122"/>
              </a:rPr>
              <a:t>最大长度略小于页大小的</a:t>
            </a:r>
            <a:r>
              <a:rPr lang="zh-CN" altLang="en-US" dirty="0" smtClean="0">
                <a:latin typeface="微软雅黑" pitchFamily="34" charset="-122"/>
                <a:ea typeface="微软雅黑" pitchFamily="34" charset="-122"/>
              </a:rPr>
              <a:t>一半，索引</a:t>
            </a:r>
            <a:r>
              <a:rPr lang="zh-CN" altLang="en-US" dirty="0" smtClean="0">
                <a:latin typeface="微软雅黑" pitchFamily="34" charset="-122"/>
                <a:ea typeface="微软雅黑" pitchFamily="34" charset="-122"/>
              </a:rPr>
              <a:t>定义长度不能</a:t>
            </a:r>
            <a:r>
              <a:rPr lang="zh-CN" altLang="en-US" dirty="0" smtClean="0">
                <a:latin typeface="微软雅黑" pitchFamily="34" charset="-122"/>
                <a:ea typeface="微软雅黑" pitchFamily="34" charset="-122"/>
              </a:rPr>
              <a:t>超</a:t>
            </a:r>
            <a:r>
              <a:rPr lang="zh-CN" altLang="en-US" dirty="0">
                <a:latin typeface="微软雅黑" pitchFamily="34" charset="-122"/>
                <a:ea typeface="微软雅黑" pitchFamily="34" charset="-122"/>
              </a:rPr>
              <a:t>过</a:t>
            </a:r>
            <a:r>
              <a:rPr lang="en-US" altLang="zh-CN" dirty="0" smtClean="0">
                <a:latin typeface="微软雅黑" pitchFamily="34" charset="-122"/>
                <a:ea typeface="微软雅黑" pitchFamily="34" charset="-122"/>
              </a:rPr>
              <a:t>3072</a:t>
            </a:r>
            <a:r>
              <a:rPr lang="en-US" altLang="zh-CN" dirty="0" smtClean="0">
                <a:latin typeface="微软雅黑" panose="020B0503020204020204" pitchFamily="34" charset="-122"/>
                <a:ea typeface="微软雅黑" panose="020B0503020204020204" pitchFamily="34" charset="-122"/>
              </a:rPr>
              <a:t>Bytes</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a:t>
            </a:r>
            <a:r>
              <a:rPr lang="en-US" altLang="zh-CN" dirty="0" err="1" smtClean="0">
                <a:latin typeface="微软雅黑" panose="020B0503020204020204" pitchFamily="34" charset="-122"/>
                <a:ea typeface="微软雅黑" panose="020B0503020204020204" pitchFamily="34" charset="-122"/>
              </a:rPr>
              <a:t>innodb_large_prefix</a:t>
            </a:r>
            <a:r>
              <a:rPr lang="en-US" altLang="zh-CN" dirty="0" smtClean="0">
                <a:latin typeface="微软雅黑" panose="020B0503020204020204" pitchFamily="34" charset="-122"/>
                <a:ea typeface="微软雅黑" panose="020B0503020204020204" pitchFamily="34" charset="-122"/>
              </a:rPr>
              <a:t>=1</a:t>
            </a:r>
            <a:r>
              <a:rPr lang="zh-CN" altLang="en-US" dirty="0" smtClean="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en-US" altLang="zh-CN" dirty="0" err="1" smtClean="0">
                <a:latin typeface="微软雅黑" panose="020B0503020204020204" pitchFamily="34" charset="-122"/>
                <a:ea typeface="微软雅黑" panose="020B0503020204020204" pitchFamily="34" charset="-122"/>
              </a:rPr>
              <a:t>innodb_page_size</a:t>
            </a:r>
            <a:r>
              <a:rPr lang="en-US" altLang="zh-CN" dirty="0" smtClean="0">
                <a:latin typeface="微软雅黑" panose="020B0503020204020204" pitchFamily="34" charset="-122"/>
                <a:ea typeface="微软雅黑" panose="020B0503020204020204" pitchFamily="34" charset="-122"/>
              </a:rPr>
              <a:t>=16384</a:t>
            </a:r>
            <a:r>
              <a:rPr lang="zh-CN" altLang="en-US" dirty="0" smtClean="0">
                <a:latin typeface="微软雅黑" panose="020B0503020204020204" pitchFamily="34" charset="-122"/>
                <a:ea typeface="微软雅黑" panose="020B0503020204020204" pitchFamily="34" charset="-122"/>
              </a:rPr>
              <a:t>时</a:t>
            </a:r>
            <a:r>
              <a:rPr lang="zh-CN" altLang="en-US"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itchFamily="34" charset="-122"/>
              <a:ea typeface="微软雅黑" pitchFamily="34" charset="-122"/>
            </a:endParaRPr>
          </a:p>
        </p:txBody>
      </p:sp>
    </p:spTree>
    <p:extLst>
      <p:ext uri="{BB962C8B-B14F-4D97-AF65-F5344CB8AC3E}">
        <p14:creationId xmlns:p14="http://schemas.microsoft.com/office/powerpoint/2010/main" val="2565702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chemeClr val="accent3"/>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索引使用</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圆角矩形 15"/>
          <p:cNvSpPr/>
          <p:nvPr/>
        </p:nvSpPr>
        <p:spPr>
          <a:xfrm>
            <a:off x="179512" y="2636912"/>
            <a:ext cx="576064" cy="152401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创建索引</a:t>
            </a:r>
            <a:endParaRPr lang="zh-CN" altLang="en-US" dirty="0"/>
          </a:p>
        </p:txBody>
      </p:sp>
      <p:sp>
        <p:nvSpPr>
          <p:cNvPr id="8" name="矩形 7"/>
          <p:cNvSpPr/>
          <p:nvPr/>
        </p:nvSpPr>
        <p:spPr>
          <a:xfrm>
            <a:off x="850586" y="2060848"/>
            <a:ext cx="8208912" cy="2880320"/>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pPr latinLnBrk="1"/>
            <a:r>
              <a:rPr lang="zh-CN" altLang="en-US" dirty="0">
                <a:latin typeface="微软雅黑" pitchFamily="34" charset="-122"/>
                <a:ea typeface="微软雅黑" pitchFamily="34" charset="-122"/>
              </a:rPr>
              <a:t>索引多个值进行排序的依据是</a:t>
            </a:r>
            <a:r>
              <a:rPr lang="zh-CN" altLang="en-US" b="1" dirty="0">
                <a:solidFill>
                  <a:srgbClr val="FF0000"/>
                </a:solidFill>
                <a:latin typeface="微软雅黑" pitchFamily="34" charset="-122"/>
                <a:ea typeface="微软雅黑" pitchFamily="34" charset="-122"/>
              </a:rPr>
              <a:t>索引定义时列的顺序</a:t>
            </a:r>
            <a:r>
              <a:rPr lang="zh-CN" altLang="en-US" dirty="0" smtClean="0">
                <a:latin typeface="微软雅黑" pitchFamily="34" charset="-122"/>
                <a:ea typeface="微软雅黑" pitchFamily="34" charset="-122"/>
              </a:rPr>
              <a:t>。</a:t>
            </a:r>
            <a:r>
              <a:rPr lang="en-US" altLang="zh-CN" b="1" dirty="0" smtClean="0">
                <a:latin typeface="微软雅黑" pitchFamily="34" charset="-122"/>
                <a:ea typeface="微软雅黑" pitchFamily="34" charset="-122"/>
              </a:rPr>
              <a:t>BTREE</a:t>
            </a:r>
            <a:r>
              <a:rPr lang="zh-CN" altLang="en-US" b="1" dirty="0" smtClean="0">
                <a:latin typeface="微软雅黑" pitchFamily="34" charset="-122"/>
                <a:ea typeface="微软雅黑" pitchFamily="34" charset="-122"/>
              </a:rPr>
              <a:t>索引适用于以下场景的查询：</a:t>
            </a:r>
            <a:endParaRPr lang="en-US" altLang="zh-CN" b="1" dirty="0" smtClean="0">
              <a:latin typeface="微软雅黑" pitchFamily="34" charset="-122"/>
              <a:ea typeface="微软雅黑" pitchFamily="34" charset="-122"/>
            </a:endParaRPr>
          </a:p>
          <a:p>
            <a:pPr latinLnBrk="1"/>
            <a:r>
              <a:rPr lang="en-US" altLang="zh-CN" dirty="0" smtClean="0">
                <a:latin typeface="微软雅黑" pitchFamily="34" charset="-122"/>
                <a:ea typeface="微软雅黑" pitchFamily="34" charset="-122"/>
              </a:rPr>
              <a:t>  1</a:t>
            </a:r>
            <a:r>
              <a:rPr lang="zh-CN" altLang="en-US" dirty="0" smtClean="0">
                <a:latin typeface="微软雅黑" pitchFamily="34" charset="-122"/>
                <a:ea typeface="微软雅黑" pitchFamily="34" charset="-122"/>
              </a:rPr>
              <a:t>、全值匹配；</a:t>
            </a:r>
            <a:endParaRPr lang="en-US" altLang="zh-CN" dirty="0" smtClean="0">
              <a:latin typeface="微软雅黑" pitchFamily="34" charset="-122"/>
              <a:ea typeface="微软雅黑" pitchFamily="34" charset="-122"/>
            </a:endParaRPr>
          </a:p>
          <a:p>
            <a:pPr latinLnBrk="1"/>
            <a:r>
              <a:rPr lang="en-US" altLang="zh-CN" dirty="0" smtClean="0">
                <a:latin typeface="微软雅黑" pitchFamily="34" charset="-122"/>
                <a:ea typeface="微软雅黑" pitchFamily="34" charset="-122"/>
              </a:rPr>
              <a:t>  2</a:t>
            </a:r>
            <a:r>
              <a:rPr lang="zh-CN" altLang="en-US" dirty="0" smtClean="0">
                <a:latin typeface="微软雅黑" pitchFamily="34" charset="-122"/>
                <a:ea typeface="微软雅黑" pitchFamily="34" charset="-122"/>
              </a:rPr>
              <a:t>、匹配靠左的列</a:t>
            </a:r>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leftmost prefixes</a:t>
            </a:r>
            <a:r>
              <a:rPr lang="zh-CN" altLang="en-US" dirty="0">
                <a:latin typeface="微软雅黑" pitchFamily="34" charset="-122"/>
                <a:ea typeface="微软雅黑" pitchFamily="34" charset="-122"/>
              </a:rPr>
              <a:t>）</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latinLnBrk="1"/>
            <a:r>
              <a:rPr lang="en-US" altLang="zh-CN" dirty="0" smtClean="0">
                <a:latin typeface="微软雅黑" pitchFamily="34" charset="-122"/>
                <a:ea typeface="微软雅黑" pitchFamily="34" charset="-122"/>
              </a:rPr>
              <a:t>  3</a:t>
            </a:r>
            <a:r>
              <a:rPr lang="zh-CN" altLang="en-US" dirty="0" smtClean="0">
                <a:latin typeface="微软雅黑" pitchFamily="34" charset="-122"/>
                <a:ea typeface="微软雅黑" pitchFamily="34" charset="-122"/>
              </a:rPr>
              <a:t>、</a:t>
            </a:r>
            <a:r>
              <a:rPr lang="zh-CN" altLang="en-US" dirty="0">
                <a:latin typeface="微软雅黑" pitchFamily="34" charset="-122"/>
                <a:ea typeface="微软雅黑" pitchFamily="34" charset="-122"/>
              </a:rPr>
              <a:t>匹配列值的</a:t>
            </a:r>
            <a:r>
              <a:rPr lang="zh-CN" altLang="en-US" dirty="0" smtClean="0">
                <a:latin typeface="微软雅黑" pitchFamily="34" charset="-122"/>
                <a:ea typeface="微软雅黑" pitchFamily="34" charset="-122"/>
              </a:rPr>
              <a:t>最左部分；</a:t>
            </a:r>
            <a:endParaRPr lang="en-US" altLang="zh-CN" dirty="0" smtClean="0">
              <a:latin typeface="微软雅黑" pitchFamily="34" charset="-122"/>
              <a:ea typeface="微软雅黑" pitchFamily="34" charset="-122"/>
            </a:endParaRPr>
          </a:p>
          <a:p>
            <a:pPr latinLnBrk="1"/>
            <a:r>
              <a:rPr lang="en-US" altLang="zh-CN" dirty="0" smtClean="0">
                <a:latin typeface="微软雅黑" pitchFamily="34" charset="-122"/>
                <a:ea typeface="微软雅黑" pitchFamily="34" charset="-122"/>
              </a:rPr>
              <a:t>  4</a:t>
            </a:r>
            <a:r>
              <a:rPr lang="zh-CN" altLang="en-US" dirty="0" smtClean="0">
                <a:latin typeface="微软雅黑" pitchFamily="34" charset="-122"/>
                <a:ea typeface="微软雅黑" pitchFamily="34" charset="-122"/>
              </a:rPr>
              <a:t>、匹配范围值；</a:t>
            </a:r>
            <a:endParaRPr lang="en-US" altLang="zh-CN" dirty="0" smtClean="0">
              <a:latin typeface="微软雅黑" pitchFamily="34" charset="-122"/>
              <a:ea typeface="微软雅黑" pitchFamily="34" charset="-122"/>
            </a:endParaRPr>
          </a:p>
          <a:p>
            <a:pPr latinLnBrk="1"/>
            <a:r>
              <a:rPr lang="en-US" altLang="zh-CN" dirty="0" smtClean="0">
                <a:latin typeface="微软雅黑" pitchFamily="34" charset="-122"/>
                <a:ea typeface="微软雅黑" pitchFamily="34" charset="-122"/>
              </a:rPr>
              <a:t>  5</a:t>
            </a:r>
            <a:r>
              <a:rPr lang="zh-CN" altLang="en-US" dirty="0" smtClean="0">
                <a:latin typeface="微软雅黑" pitchFamily="34" charset="-122"/>
                <a:ea typeface="微软雅黑" pitchFamily="34" charset="-122"/>
              </a:rPr>
              <a:t>、精确匹配某一列并范围匹配另外一列；</a:t>
            </a:r>
            <a:endParaRPr lang="en-US" altLang="zh-CN" dirty="0" smtClean="0">
              <a:latin typeface="微软雅黑" pitchFamily="34" charset="-122"/>
              <a:ea typeface="微软雅黑" pitchFamily="34" charset="-122"/>
            </a:endParaRPr>
          </a:p>
          <a:p>
            <a:pPr latinLnBrk="1"/>
            <a:r>
              <a:rPr lang="en-US" altLang="zh-CN" dirty="0" smtClean="0">
                <a:latin typeface="微软雅黑" pitchFamily="34" charset="-122"/>
                <a:ea typeface="微软雅黑" pitchFamily="34" charset="-122"/>
              </a:rPr>
              <a:t>  6</a:t>
            </a:r>
            <a:r>
              <a:rPr lang="zh-CN" altLang="en-US" dirty="0" smtClean="0">
                <a:latin typeface="微软雅黑" pitchFamily="34" charset="-122"/>
                <a:ea typeface="微软雅黑" pitchFamily="34" charset="-122"/>
              </a:rPr>
              <a:t>、只访问索引的查询；</a:t>
            </a:r>
            <a:endParaRPr lang="en-US" altLang="zh-CN" dirty="0" smtClean="0">
              <a:latin typeface="微软雅黑" pitchFamily="34" charset="-122"/>
              <a:ea typeface="微软雅黑" pitchFamily="34" charset="-122"/>
            </a:endParaRPr>
          </a:p>
          <a:p>
            <a:pPr latinLnBrk="1"/>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7</a:t>
            </a:r>
            <a:r>
              <a:rPr lang="zh-CN" altLang="en-US" dirty="0" smtClean="0">
                <a:latin typeface="微软雅黑" pitchFamily="34" charset="-122"/>
                <a:ea typeface="微软雅黑" pitchFamily="34" charset="-122"/>
              </a:rPr>
              <a:t>、适用于</a:t>
            </a:r>
            <a:r>
              <a:rPr lang="en-US" altLang="zh-CN" dirty="0" err="1" smtClean="0">
                <a:latin typeface="微软雅黑" pitchFamily="34" charset="-122"/>
                <a:ea typeface="微软雅黑" pitchFamily="34" charset="-122"/>
              </a:rPr>
              <a:t>in,between</a:t>
            </a:r>
            <a:r>
              <a:rPr lang="en-US" altLang="zh-CN" dirty="0" smtClean="0">
                <a:latin typeface="微软雅黑" pitchFamily="34" charset="-122"/>
                <a:ea typeface="微软雅黑" pitchFamily="34" charset="-122"/>
              </a:rPr>
              <a:t>,=,&gt;,&lt;,&gt;=,&lt;=</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latinLnBrk="1"/>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8</a:t>
            </a:r>
            <a:r>
              <a:rPr lang="zh-CN" altLang="en-US" dirty="0" smtClean="0">
                <a:latin typeface="微软雅黑" pitchFamily="34" charset="-122"/>
                <a:ea typeface="微软雅黑" pitchFamily="34" charset="-122"/>
              </a:rPr>
              <a:t>、排序、连接等场景；</a:t>
            </a:r>
            <a:endParaRPr lang="en-US" altLang="zh-CN" dirty="0">
              <a:latin typeface="微软雅黑" pitchFamily="34" charset="-122"/>
              <a:ea typeface="微软雅黑" pitchFamily="34" charset="-122"/>
            </a:endParaRPr>
          </a:p>
        </p:txBody>
      </p:sp>
      <p:sp>
        <p:nvSpPr>
          <p:cNvPr id="4" name="TextBox 3"/>
          <p:cNvSpPr txBox="1"/>
          <p:nvPr/>
        </p:nvSpPr>
        <p:spPr>
          <a:xfrm>
            <a:off x="862206" y="5373216"/>
            <a:ext cx="8185672" cy="369332"/>
          </a:xfrm>
          <a:prstGeom prst="rect">
            <a:avLst/>
          </a:prstGeom>
          <a:noFill/>
        </p:spPr>
        <p:txBody>
          <a:bodyPr wrap="square" rtlCol="0">
            <a:spAutoFit/>
          </a:bodyPr>
          <a:lstStyle/>
          <a:p>
            <a:pPr algn="ctr"/>
            <a:r>
              <a:rPr lang="zh-CN" altLang="en-US" b="1" dirty="0" smtClean="0">
                <a:solidFill>
                  <a:srgbClr val="FF0000"/>
                </a:solidFill>
                <a:latin typeface="微软雅黑" panose="020B0503020204020204" pitchFamily="34" charset="-122"/>
                <a:ea typeface="微软雅黑" panose="020B0503020204020204" pitchFamily="34" charset="-122"/>
              </a:rPr>
              <a:t>举一反三：</a:t>
            </a:r>
            <a:r>
              <a:rPr lang="en-US" altLang="zh-CN" b="1" dirty="0" smtClean="0">
                <a:solidFill>
                  <a:srgbClr val="FF0000"/>
                </a:solidFill>
                <a:latin typeface="微软雅黑" panose="020B0503020204020204" pitchFamily="34" charset="-122"/>
                <a:ea typeface="微软雅黑" panose="020B0503020204020204" pitchFamily="34" charset="-122"/>
              </a:rPr>
              <a:t>HASH</a:t>
            </a:r>
            <a:r>
              <a:rPr lang="zh-CN" altLang="en-US" b="1" dirty="0" smtClean="0">
                <a:solidFill>
                  <a:srgbClr val="FF0000"/>
                </a:solidFill>
                <a:latin typeface="微软雅黑" panose="020B0503020204020204" pitchFamily="34" charset="-122"/>
                <a:ea typeface="微软雅黑" panose="020B0503020204020204" pitchFamily="34" charset="-122"/>
              </a:rPr>
              <a:t>索引适合</a:t>
            </a:r>
            <a:r>
              <a:rPr lang="zh-CN" altLang="en-US" b="1" dirty="0" smtClean="0">
                <a:solidFill>
                  <a:srgbClr val="FF0000"/>
                </a:solidFill>
                <a:latin typeface="微软雅黑" panose="020B0503020204020204" pitchFamily="34" charset="-122"/>
                <a:ea typeface="微软雅黑" panose="020B0503020204020204" pitchFamily="34" charset="-122"/>
              </a:rPr>
              <a:t>哪些场景，不适宜哪些场景？</a:t>
            </a:r>
            <a:endParaRPr lang="zh-CN" altLang="en-US"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12627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chemeClr val="accent3"/>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索引使用</a:t>
            </a:r>
          </a:p>
        </p:txBody>
      </p:sp>
      <p:sp>
        <p:nvSpPr>
          <p:cNvPr id="11268" name="内容占位符 3"/>
          <p:cNvSpPr>
            <a:spLocks noGrp="1"/>
          </p:cNvSpPr>
          <p:nvPr>
            <p:ph idx="1"/>
          </p:nvPr>
        </p:nvSpPr>
        <p:spPr>
          <a:xfrm>
            <a:off x="503238" y="1065213"/>
            <a:ext cx="8143875" cy="5029200"/>
          </a:xfrm>
        </p:spPr>
        <p:txBody>
          <a:bodyPr/>
          <a:lstStyle/>
          <a:p>
            <a:pPr marL="0" indent="0" eaLnBrk="1" hangingPunct="1">
              <a:buFont typeface="Arial" pitchFamily="34" charset="0"/>
              <a:buNone/>
            </a:pPr>
            <a:r>
              <a:rPr lang="en-US" altLang="zh-CN" dirty="0" smtClean="0"/>
              <a:t>   </a:t>
            </a:r>
            <a:endParaRPr lang="zh-CN" altLang="en-US" dirty="0" smtClean="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创建索引</a:t>
            </a:r>
            <a:endParaRPr lang="zh-CN" altLang="en-US" dirty="0"/>
          </a:p>
        </p:txBody>
      </p:sp>
      <p:sp>
        <p:nvSpPr>
          <p:cNvPr id="8" name="矩形 7"/>
          <p:cNvSpPr/>
          <p:nvPr/>
        </p:nvSpPr>
        <p:spPr>
          <a:xfrm>
            <a:off x="850978" y="1556792"/>
            <a:ext cx="8208912" cy="4968552"/>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pPr latinLnBrk="1"/>
            <a:r>
              <a:rPr lang="en-US" altLang="zh-CN" sz="1400" dirty="0">
                <a:latin typeface="微软雅黑" pitchFamily="34" charset="-122"/>
                <a:ea typeface="微软雅黑" pitchFamily="34" charset="-122"/>
              </a:rPr>
              <a:t>CREATE [TEMPORARY] TABLE [IF NOT EXISTS] </a:t>
            </a:r>
            <a:r>
              <a:rPr lang="en-US" altLang="zh-CN" sz="1400" dirty="0" err="1">
                <a:latin typeface="微软雅黑" pitchFamily="34" charset="-122"/>
                <a:ea typeface="微软雅黑" pitchFamily="34" charset="-122"/>
              </a:rPr>
              <a:t>tbl_name</a:t>
            </a:r>
            <a:endParaRPr lang="en-US" altLang="zh-CN" sz="1400" dirty="0">
              <a:latin typeface="微软雅黑" pitchFamily="34" charset="-122"/>
              <a:ea typeface="微软雅黑" pitchFamily="34" charset="-122"/>
            </a:endParaRPr>
          </a:p>
          <a:p>
            <a:pPr latinLnBrk="1"/>
            <a:r>
              <a:rPr lang="en-US" altLang="zh-CN" sz="1400" dirty="0">
                <a:latin typeface="微软雅黑" pitchFamily="34" charset="-122"/>
                <a:ea typeface="微软雅黑" pitchFamily="34" charset="-122"/>
              </a:rPr>
              <a:t>    (</a:t>
            </a:r>
            <a:r>
              <a:rPr lang="en-US" altLang="zh-CN" sz="1400" dirty="0" err="1">
                <a:solidFill>
                  <a:srgbClr val="FF0000"/>
                </a:solidFill>
                <a:latin typeface="微软雅黑" pitchFamily="34" charset="-122"/>
                <a:ea typeface="微软雅黑" pitchFamily="34" charset="-122"/>
              </a:rPr>
              <a:t>create_definition</a:t>
            </a:r>
            <a:r>
              <a:rPr lang="en-US" altLang="zh-CN" sz="1400" dirty="0" smtClean="0">
                <a:latin typeface="微软雅黑" pitchFamily="34" charset="-122"/>
                <a:ea typeface="微软雅黑" pitchFamily="34" charset="-122"/>
              </a:rPr>
              <a:t>,...) [</a:t>
            </a:r>
            <a:r>
              <a:rPr lang="en-US" altLang="zh-CN" sz="1400" dirty="0" err="1">
                <a:latin typeface="微软雅黑" pitchFamily="34" charset="-122"/>
                <a:ea typeface="微软雅黑" pitchFamily="34" charset="-122"/>
              </a:rPr>
              <a:t>table_options</a:t>
            </a:r>
            <a:r>
              <a:rPr lang="en-US" altLang="zh-CN" sz="1400" dirty="0" smtClean="0">
                <a:latin typeface="微软雅黑" pitchFamily="34" charset="-122"/>
                <a:ea typeface="微软雅黑" pitchFamily="34" charset="-122"/>
              </a:rPr>
              <a:t>] [</a:t>
            </a:r>
            <a:r>
              <a:rPr lang="en-US" altLang="zh-CN" sz="1400" dirty="0" err="1">
                <a:latin typeface="微软雅黑" pitchFamily="34" charset="-122"/>
                <a:ea typeface="微软雅黑" pitchFamily="34" charset="-122"/>
              </a:rPr>
              <a:t>partition_options</a:t>
            </a:r>
            <a:r>
              <a:rPr lang="en-US" altLang="zh-CN" sz="1400" dirty="0">
                <a:latin typeface="微软雅黑" pitchFamily="34" charset="-122"/>
                <a:ea typeface="微软雅黑" pitchFamily="34" charset="-122"/>
              </a:rPr>
              <a:t>]</a:t>
            </a:r>
          </a:p>
          <a:p>
            <a:pPr latinLnBrk="1"/>
            <a:endParaRPr lang="en-US" altLang="zh-CN" sz="1400" dirty="0">
              <a:latin typeface="微软雅黑" pitchFamily="34" charset="-122"/>
              <a:ea typeface="微软雅黑" pitchFamily="34" charset="-122"/>
            </a:endParaRPr>
          </a:p>
          <a:p>
            <a:pPr latinLnBrk="1"/>
            <a:r>
              <a:rPr lang="en-US" altLang="zh-CN" sz="1400" dirty="0" err="1">
                <a:solidFill>
                  <a:srgbClr val="FF0000"/>
                </a:solidFill>
                <a:latin typeface="微软雅黑" pitchFamily="34" charset="-122"/>
                <a:ea typeface="微软雅黑" pitchFamily="34" charset="-122"/>
              </a:rPr>
              <a:t>create_definition</a:t>
            </a:r>
            <a:r>
              <a:rPr lang="en-US" altLang="zh-CN" sz="1400" dirty="0">
                <a:latin typeface="微软雅黑" pitchFamily="34" charset="-122"/>
                <a:ea typeface="微软雅黑" pitchFamily="34" charset="-122"/>
              </a:rPr>
              <a:t>:</a:t>
            </a:r>
          </a:p>
          <a:p>
            <a:pPr latinLnBrk="1"/>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col_name</a:t>
            </a:r>
            <a:r>
              <a:rPr lang="en-US" altLang="zh-CN" sz="1400" dirty="0">
                <a:latin typeface="微软雅黑" pitchFamily="34" charset="-122"/>
                <a:ea typeface="微软雅黑" pitchFamily="34" charset="-122"/>
              </a:rPr>
              <a:t> </a:t>
            </a:r>
            <a:r>
              <a:rPr lang="en-US" altLang="zh-CN" sz="1400" dirty="0" err="1">
                <a:solidFill>
                  <a:srgbClr val="92D050"/>
                </a:solidFill>
                <a:latin typeface="微软雅黑" pitchFamily="34" charset="-122"/>
                <a:ea typeface="微软雅黑" pitchFamily="34" charset="-122"/>
              </a:rPr>
              <a:t>column_definition</a:t>
            </a:r>
            <a:endParaRPr lang="en-US" altLang="zh-CN" sz="1400" dirty="0">
              <a:solidFill>
                <a:srgbClr val="92D050"/>
              </a:solidFill>
              <a:latin typeface="微软雅黑" pitchFamily="34" charset="-122"/>
              <a:ea typeface="微软雅黑" pitchFamily="34" charset="-122"/>
            </a:endParaRPr>
          </a:p>
          <a:p>
            <a:pPr latinLnBrk="1"/>
            <a:r>
              <a:rPr lang="en-US" altLang="zh-CN" sz="1400" dirty="0">
                <a:latin typeface="微软雅黑" pitchFamily="34" charset="-122"/>
                <a:ea typeface="微软雅黑" pitchFamily="34" charset="-122"/>
              </a:rPr>
              <a:t>  |</a:t>
            </a:r>
            <a:r>
              <a:rPr lang="en-US" altLang="zh-CN" sz="1400" b="1" dirty="0">
                <a:latin typeface="微软雅黑" pitchFamily="34" charset="-122"/>
                <a:ea typeface="微软雅黑" pitchFamily="34" charset="-122"/>
              </a:rPr>
              <a:t> {INDEX|KEY} </a:t>
            </a:r>
            <a:r>
              <a:rPr lang="en-US" altLang="zh-CN" sz="1400" dirty="0">
                <a:latin typeface="微软雅黑" pitchFamily="34" charset="-122"/>
                <a:ea typeface="微软雅黑" pitchFamily="34" charset="-122"/>
              </a:rPr>
              <a:t>[</a:t>
            </a:r>
            <a:r>
              <a:rPr lang="en-US" altLang="zh-CN" sz="1400" dirty="0" err="1">
                <a:latin typeface="微软雅黑" pitchFamily="34" charset="-122"/>
                <a:ea typeface="微软雅黑" pitchFamily="34" charset="-122"/>
              </a:rPr>
              <a:t>index_name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index_type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key_part</a:t>
            </a:r>
            <a:r>
              <a:rPr lang="en-US" altLang="zh-CN" sz="1400" dirty="0">
                <a:latin typeface="微软雅黑" pitchFamily="34" charset="-122"/>
                <a:ea typeface="微软雅黑" pitchFamily="34" charset="-122"/>
              </a:rPr>
              <a:t>,...)[</a:t>
            </a:r>
            <a:r>
              <a:rPr lang="en-US" altLang="zh-CN" sz="1400" dirty="0" err="1">
                <a:latin typeface="微软雅黑" pitchFamily="34" charset="-122"/>
                <a:ea typeface="微软雅黑" pitchFamily="34" charset="-122"/>
              </a:rPr>
              <a:t>index_option</a:t>
            </a:r>
            <a:r>
              <a:rPr lang="en-US" altLang="zh-CN" sz="1400" dirty="0">
                <a:latin typeface="微软雅黑" pitchFamily="34" charset="-122"/>
                <a:ea typeface="微软雅黑" pitchFamily="34" charset="-122"/>
              </a:rPr>
              <a:t>] ...</a:t>
            </a:r>
          </a:p>
          <a:p>
            <a:pPr latinLnBrk="1"/>
            <a:r>
              <a:rPr lang="en-US" altLang="zh-CN" sz="1400" dirty="0">
                <a:latin typeface="微软雅黑" pitchFamily="34" charset="-122"/>
                <a:ea typeface="微软雅黑" pitchFamily="34" charset="-122"/>
              </a:rPr>
              <a:t>  | </a:t>
            </a:r>
            <a:r>
              <a:rPr lang="en-US" altLang="zh-CN" sz="1400" b="1" dirty="0">
                <a:latin typeface="微软雅黑" pitchFamily="34" charset="-122"/>
                <a:ea typeface="微软雅黑" pitchFamily="34" charset="-122"/>
              </a:rPr>
              <a:t>{FULLTEXT|SPATIAL} [INDEX|KEY] </a:t>
            </a:r>
            <a:r>
              <a:rPr lang="en-US" altLang="zh-CN" sz="1400" dirty="0">
                <a:latin typeface="微软雅黑" pitchFamily="34" charset="-122"/>
                <a:ea typeface="微软雅黑" pitchFamily="34" charset="-122"/>
              </a:rPr>
              <a:t>[</a:t>
            </a:r>
            <a:r>
              <a:rPr lang="en-US" altLang="zh-CN" sz="1400" dirty="0" err="1">
                <a:latin typeface="微软雅黑" pitchFamily="34" charset="-122"/>
                <a:ea typeface="微软雅黑" pitchFamily="34" charset="-122"/>
              </a:rPr>
              <a:t>index_name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key_part</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index_option</a:t>
            </a:r>
            <a:r>
              <a:rPr lang="en-US" altLang="zh-CN" sz="1400" dirty="0">
                <a:latin typeface="微软雅黑" pitchFamily="34" charset="-122"/>
                <a:ea typeface="微软雅黑" pitchFamily="34" charset="-122"/>
              </a:rPr>
              <a:t>] ...</a:t>
            </a:r>
          </a:p>
          <a:p>
            <a:pPr latinLnBrk="1"/>
            <a:r>
              <a:rPr lang="en-US" altLang="zh-CN" sz="1400" dirty="0">
                <a:latin typeface="微软雅黑" pitchFamily="34" charset="-122"/>
                <a:ea typeface="微软雅黑" pitchFamily="34" charset="-122"/>
              </a:rPr>
              <a:t>  | </a:t>
            </a:r>
            <a:r>
              <a:rPr lang="en-US" altLang="zh-CN" sz="1400" b="1" dirty="0">
                <a:latin typeface="微软雅黑" pitchFamily="34" charset="-122"/>
                <a:ea typeface="微软雅黑" pitchFamily="34" charset="-122"/>
              </a:rPr>
              <a:t>[CONSTRAINT [symbol]] PRIMARY KEY</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index_type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key_part</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index_option</a:t>
            </a:r>
            <a:r>
              <a:rPr lang="en-US" altLang="zh-CN" sz="1400" dirty="0">
                <a:latin typeface="微软雅黑" pitchFamily="34" charset="-122"/>
                <a:ea typeface="微软雅黑" pitchFamily="34" charset="-122"/>
              </a:rPr>
              <a:t>] ...</a:t>
            </a:r>
          </a:p>
          <a:p>
            <a:pPr latinLnBrk="1"/>
            <a:r>
              <a:rPr lang="en-US" altLang="zh-CN" sz="1400" dirty="0">
                <a:latin typeface="微软雅黑" pitchFamily="34" charset="-122"/>
                <a:ea typeface="微软雅黑" pitchFamily="34" charset="-122"/>
              </a:rPr>
              <a:t>  | </a:t>
            </a:r>
            <a:r>
              <a:rPr lang="en-US" altLang="zh-CN" sz="1400" b="1" dirty="0">
                <a:latin typeface="微软雅黑" pitchFamily="34" charset="-122"/>
                <a:ea typeface="微软雅黑" pitchFamily="34" charset="-122"/>
              </a:rPr>
              <a:t>[CONSTRAINT [symbol]] UNIQUE [INDEX|KEY] </a:t>
            </a:r>
            <a:r>
              <a:rPr lang="en-US" altLang="zh-CN" sz="1400" dirty="0">
                <a:latin typeface="微软雅黑" pitchFamily="34" charset="-122"/>
                <a:ea typeface="微软雅黑" pitchFamily="34" charset="-122"/>
              </a:rPr>
              <a:t>[</a:t>
            </a:r>
            <a:r>
              <a:rPr lang="en-US" altLang="zh-CN" sz="1400" dirty="0" err="1">
                <a:latin typeface="微软雅黑" pitchFamily="34" charset="-122"/>
                <a:ea typeface="微软雅黑" pitchFamily="34" charset="-122"/>
              </a:rPr>
              <a:t>index_name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index_type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key_part</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index_option</a:t>
            </a:r>
            <a:r>
              <a:rPr lang="en-US" altLang="zh-CN" sz="1400" dirty="0">
                <a:latin typeface="微软雅黑" pitchFamily="34" charset="-122"/>
                <a:ea typeface="微软雅黑" pitchFamily="34" charset="-122"/>
              </a:rPr>
              <a:t>] ...</a:t>
            </a:r>
          </a:p>
          <a:p>
            <a:pPr latinLnBrk="1"/>
            <a:r>
              <a:rPr lang="en-US" altLang="zh-CN" sz="1400" dirty="0">
                <a:latin typeface="微软雅黑" pitchFamily="34" charset="-122"/>
                <a:ea typeface="微软雅黑" pitchFamily="34" charset="-122"/>
              </a:rPr>
              <a:t>  | </a:t>
            </a:r>
            <a:r>
              <a:rPr lang="en-US" altLang="zh-CN" sz="1400" b="1" dirty="0">
                <a:latin typeface="微软雅黑" pitchFamily="34" charset="-122"/>
                <a:ea typeface="微软雅黑" pitchFamily="34" charset="-122"/>
              </a:rPr>
              <a:t>[CONSTRAINT [symbol]] FOREIGN KEY</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index_name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col_name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reference_definition</a:t>
            </a:r>
            <a:endParaRPr lang="en-US" altLang="zh-CN" sz="1400" dirty="0">
              <a:latin typeface="微软雅黑" pitchFamily="34" charset="-122"/>
              <a:ea typeface="微软雅黑" pitchFamily="34" charset="-122"/>
            </a:endParaRPr>
          </a:p>
          <a:p>
            <a:pPr latinLnBrk="1"/>
            <a:r>
              <a:rPr lang="en-US" altLang="zh-CN" sz="1400" dirty="0">
                <a:latin typeface="微软雅黑" pitchFamily="34" charset="-122"/>
                <a:ea typeface="微软雅黑" pitchFamily="34" charset="-122"/>
              </a:rPr>
              <a:t>	  </a:t>
            </a:r>
          </a:p>
          <a:p>
            <a:pPr latinLnBrk="1"/>
            <a:r>
              <a:rPr lang="en-US" altLang="zh-CN" sz="1400" dirty="0" err="1">
                <a:solidFill>
                  <a:srgbClr val="92D050"/>
                </a:solidFill>
                <a:latin typeface="微软雅黑" pitchFamily="34" charset="-122"/>
                <a:ea typeface="微软雅黑" pitchFamily="34" charset="-122"/>
              </a:rPr>
              <a:t>column_definition</a:t>
            </a:r>
            <a:r>
              <a:rPr lang="en-US" altLang="zh-CN" sz="1400" dirty="0">
                <a:latin typeface="微软雅黑" pitchFamily="34" charset="-122"/>
                <a:ea typeface="微软雅黑" pitchFamily="34" charset="-122"/>
              </a:rPr>
              <a:t>:</a:t>
            </a:r>
          </a:p>
          <a:p>
            <a:pPr latinLnBrk="1"/>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data_type</a:t>
            </a:r>
            <a:r>
              <a:rPr lang="en-US" altLang="zh-CN" sz="1400" dirty="0">
                <a:latin typeface="微软雅黑" pitchFamily="34" charset="-122"/>
                <a:ea typeface="微软雅黑" pitchFamily="34" charset="-122"/>
              </a:rPr>
              <a:t> [NOT NULL | NULL] [DEFAULT </a:t>
            </a:r>
            <a:r>
              <a:rPr lang="en-US" altLang="zh-CN" sz="1400" dirty="0" err="1">
                <a:latin typeface="微软雅黑" pitchFamily="34" charset="-122"/>
                <a:ea typeface="微软雅黑" pitchFamily="34" charset="-122"/>
              </a:rPr>
              <a:t>default_value</a:t>
            </a:r>
            <a:r>
              <a:rPr lang="en-US" altLang="zh-CN" sz="1400" dirty="0">
                <a:latin typeface="微软雅黑" pitchFamily="34" charset="-122"/>
                <a:ea typeface="微软雅黑" pitchFamily="34" charset="-122"/>
              </a:rPr>
              <a:t>]</a:t>
            </a:r>
          </a:p>
          <a:p>
            <a:pPr latinLnBrk="1"/>
            <a:r>
              <a:rPr lang="en-US" altLang="zh-CN" sz="1400" dirty="0">
                <a:latin typeface="微软雅黑" pitchFamily="34" charset="-122"/>
                <a:ea typeface="微软雅黑" pitchFamily="34" charset="-122"/>
              </a:rPr>
              <a:t>      [AUTO_INCREMENT] </a:t>
            </a:r>
            <a:r>
              <a:rPr lang="en-US" altLang="zh-CN" sz="1400" b="1" dirty="0">
                <a:latin typeface="微软雅黑" pitchFamily="34" charset="-122"/>
                <a:ea typeface="微软雅黑" pitchFamily="34" charset="-122"/>
              </a:rPr>
              <a:t>[UNIQUE [KEY]] [[PRIMARY] KEY]</a:t>
            </a:r>
          </a:p>
          <a:p>
            <a:pPr latinLnBrk="1"/>
            <a:endParaRPr lang="en-US" altLang="zh-CN" sz="1400" dirty="0">
              <a:latin typeface="微软雅黑" pitchFamily="34" charset="-122"/>
              <a:ea typeface="微软雅黑" pitchFamily="34" charset="-122"/>
            </a:endParaRPr>
          </a:p>
          <a:p>
            <a:pPr latinLnBrk="1"/>
            <a:r>
              <a:rPr lang="en-US" altLang="zh-CN" sz="1400" b="1" dirty="0" err="1">
                <a:latin typeface="微软雅黑" pitchFamily="34" charset="-122"/>
                <a:ea typeface="微软雅黑" pitchFamily="34" charset="-122"/>
              </a:rPr>
              <a:t>key_part</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col_name</a:t>
            </a:r>
            <a:r>
              <a:rPr lang="en-US" altLang="zh-CN" sz="1400" dirty="0">
                <a:latin typeface="微软雅黑" pitchFamily="34" charset="-122"/>
                <a:ea typeface="微软雅黑" pitchFamily="34" charset="-122"/>
              </a:rPr>
              <a:t> [(length)] [ASC | DESC]</a:t>
            </a:r>
          </a:p>
          <a:p>
            <a:pPr latinLnBrk="1"/>
            <a:r>
              <a:rPr lang="en-US" altLang="zh-CN" sz="1400" b="1" dirty="0" err="1">
                <a:latin typeface="微软雅黑" pitchFamily="34" charset="-122"/>
                <a:ea typeface="微软雅黑" pitchFamily="34" charset="-122"/>
              </a:rPr>
              <a:t>index_type</a:t>
            </a:r>
            <a:r>
              <a:rPr lang="en-US" altLang="zh-CN" sz="1400" dirty="0">
                <a:latin typeface="微软雅黑" pitchFamily="34" charset="-122"/>
                <a:ea typeface="微软雅黑" pitchFamily="34" charset="-122"/>
              </a:rPr>
              <a:t>: USING {BTREE | HASH}</a:t>
            </a:r>
          </a:p>
          <a:p>
            <a:pPr latinLnBrk="1"/>
            <a:r>
              <a:rPr lang="en-US" altLang="zh-CN" sz="1400" b="1" dirty="0" err="1">
                <a:latin typeface="微软雅黑" pitchFamily="34" charset="-122"/>
                <a:ea typeface="微软雅黑" pitchFamily="34" charset="-122"/>
              </a:rPr>
              <a:t>index_option</a:t>
            </a:r>
            <a:r>
              <a:rPr lang="en-US" altLang="zh-CN" sz="1400" dirty="0">
                <a:latin typeface="微软雅黑" pitchFamily="34" charset="-122"/>
                <a:ea typeface="微软雅黑" pitchFamily="34" charset="-122"/>
              </a:rPr>
              <a:t>:</a:t>
            </a:r>
          </a:p>
          <a:p>
            <a:pPr latinLnBrk="1"/>
            <a:r>
              <a:rPr lang="en-US" altLang="zh-CN" sz="1400" dirty="0">
                <a:latin typeface="微软雅黑" pitchFamily="34" charset="-122"/>
                <a:ea typeface="微软雅黑" pitchFamily="34" charset="-122"/>
              </a:rPr>
              <a:t>  KEY_BLOCK_SIZE [=] value</a:t>
            </a:r>
          </a:p>
          <a:p>
            <a:pPr latinLnBrk="1"/>
            <a:r>
              <a:rPr lang="en-US" altLang="zh-CN" sz="1400" dirty="0">
                <a:latin typeface="微软雅黑" pitchFamily="34" charset="-122"/>
                <a:ea typeface="微软雅黑" pitchFamily="34" charset="-122"/>
              </a:rPr>
              <a:t>  | </a:t>
            </a:r>
            <a:r>
              <a:rPr lang="en-US" altLang="zh-CN" sz="1400" dirty="0" err="1">
                <a:latin typeface="微软雅黑" pitchFamily="34" charset="-122"/>
                <a:ea typeface="微软雅黑" pitchFamily="34" charset="-122"/>
              </a:rPr>
              <a:t>index_type</a:t>
            </a:r>
            <a:endParaRPr lang="en-US" altLang="zh-CN" sz="1400" dirty="0">
              <a:latin typeface="微软雅黑" pitchFamily="34" charset="-122"/>
              <a:ea typeface="微软雅黑" pitchFamily="34" charset="-122"/>
            </a:endParaRPr>
          </a:p>
          <a:p>
            <a:pPr latinLnBrk="1"/>
            <a:r>
              <a:rPr lang="en-US" altLang="zh-CN" sz="1400" dirty="0">
                <a:latin typeface="微软雅黑" pitchFamily="34" charset="-122"/>
                <a:ea typeface="微软雅黑" pitchFamily="34" charset="-122"/>
              </a:rPr>
              <a:t>  | WITH PARSER </a:t>
            </a:r>
            <a:r>
              <a:rPr lang="en-US" altLang="zh-CN" sz="1400" dirty="0" err="1">
                <a:latin typeface="微软雅黑" pitchFamily="34" charset="-122"/>
                <a:ea typeface="微软雅黑" pitchFamily="34" charset="-122"/>
              </a:rPr>
              <a:t>parser_name</a:t>
            </a:r>
            <a:endParaRPr lang="en-US" altLang="zh-CN" sz="1400" dirty="0">
              <a:latin typeface="微软雅黑" pitchFamily="34" charset="-122"/>
              <a:ea typeface="微软雅黑" pitchFamily="34" charset="-122"/>
            </a:endParaRPr>
          </a:p>
          <a:p>
            <a:pPr latinLnBrk="1"/>
            <a:r>
              <a:rPr lang="en-US" altLang="zh-CN" sz="1400" dirty="0">
                <a:latin typeface="微软雅黑" pitchFamily="34" charset="-122"/>
                <a:ea typeface="微软雅黑" pitchFamily="34" charset="-122"/>
              </a:rPr>
              <a:t>  | COMMENT 'string'</a:t>
            </a:r>
          </a:p>
          <a:p>
            <a:pPr latinLnBrk="1"/>
            <a:endParaRPr lang="en-US" altLang="zh-CN" sz="1400" dirty="0" smtClean="0">
              <a:latin typeface="微软雅黑" pitchFamily="34" charset="-122"/>
              <a:ea typeface="微软雅黑" pitchFamily="34" charset="-122"/>
            </a:endParaRPr>
          </a:p>
        </p:txBody>
      </p:sp>
    </p:spTree>
    <p:extLst>
      <p:ext uri="{BB962C8B-B14F-4D97-AF65-F5344CB8AC3E}">
        <p14:creationId xmlns:p14="http://schemas.microsoft.com/office/powerpoint/2010/main" val="20401820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chemeClr val="accent3"/>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索引使用</a:t>
            </a:r>
          </a:p>
        </p:txBody>
      </p:sp>
      <p:sp>
        <p:nvSpPr>
          <p:cNvPr id="11268" name="内容占位符 3"/>
          <p:cNvSpPr>
            <a:spLocks noGrp="1"/>
          </p:cNvSpPr>
          <p:nvPr>
            <p:ph idx="1"/>
          </p:nvPr>
        </p:nvSpPr>
        <p:spPr>
          <a:xfrm>
            <a:off x="503238" y="1065213"/>
            <a:ext cx="8143875" cy="5029200"/>
          </a:xfrm>
        </p:spPr>
        <p:txBody>
          <a:bodyPr/>
          <a:lstStyle/>
          <a:p>
            <a:pPr marL="0" indent="0" eaLnBrk="1" hangingPunct="1">
              <a:buFont typeface="Arial" pitchFamily="34" charset="0"/>
              <a:buNone/>
            </a:pPr>
            <a:r>
              <a:rPr lang="en-US" altLang="zh-CN" dirty="0" smtClean="0"/>
              <a:t>   </a:t>
            </a:r>
            <a:endParaRPr lang="zh-CN" altLang="en-US" dirty="0" smtClean="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创建索引</a:t>
            </a:r>
            <a:endParaRPr lang="zh-CN" altLang="en-US" dirty="0"/>
          </a:p>
        </p:txBody>
      </p:sp>
      <p:sp>
        <p:nvSpPr>
          <p:cNvPr id="8" name="矩形 7"/>
          <p:cNvSpPr/>
          <p:nvPr/>
        </p:nvSpPr>
        <p:spPr>
          <a:xfrm>
            <a:off x="852533" y="2348880"/>
            <a:ext cx="8208912" cy="3168352"/>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pPr latinLnBrk="1"/>
            <a:r>
              <a:rPr lang="en-US" altLang="zh-CN" sz="1400" dirty="0">
                <a:latin typeface="微软雅黑" pitchFamily="34" charset="-122"/>
                <a:ea typeface="微软雅黑" pitchFamily="34" charset="-122"/>
              </a:rPr>
              <a:t>ALTER TABLE </a:t>
            </a:r>
            <a:r>
              <a:rPr lang="en-US" altLang="zh-CN" sz="1400" dirty="0" err="1">
                <a:latin typeface="微软雅黑" pitchFamily="34" charset="-122"/>
                <a:ea typeface="微软雅黑" pitchFamily="34" charset="-122"/>
              </a:rPr>
              <a:t>tbl_name</a:t>
            </a:r>
            <a:endParaRPr lang="en-US" altLang="zh-CN" sz="1400" dirty="0">
              <a:latin typeface="微软雅黑" pitchFamily="34" charset="-122"/>
              <a:ea typeface="微软雅黑" pitchFamily="34" charset="-122"/>
            </a:endParaRPr>
          </a:p>
          <a:p>
            <a:pPr latinLnBrk="1"/>
            <a:r>
              <a:rPr lang="en-US" altLang="zh-CN" sz="1400" dirty="0">
                <a:latin typeface="微软雅黑" pitchFamily="34" charset="-122"/>
                <a:ea typeface="微软雅黑" pitchFamily="34" charset="-122"/>
              </a:rPr>
              <a:t>	</a:t>
            </a:r>
          </a:p>
          <a:p>
            <a:pPr latinLnBrk="1"/>
            <a:r>
              <a:rPr lang="en-US" altLang="zh-CN" sz="1400" dirty="0">
                <a:latin typeface="微软雅黑" pitchFamily="34" charset="-122"/>
                <a:ea typeface="微软雅黑" pitchFamily="34" charset="-122"/>
              </a:rPr>
              <a:t>| ADD {INDEX|KEY} [</a:t>
            </a:r>
            <a:r>
              <a:rPr lang="en-US" altLang="zh-CN" sz="1400" dirty="0" err="1">
                <a:latin typeface="微软雅黑" pitchFamily="34" charset="-122"/>
                <a:ea typeface="微软雅黑" pitchFamily="34" charset="-122"/>
              </a:rPr>
              <a:t>index_name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index_type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key_part</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index_option</a:t>
            </a:r>
            <a:r>
              <a:rPr lang="en-US" altLang="zh-CN" sz="1400" dirty="0">
                <a:latin typeface="微软雅黑" pitchFamily="34" charset="-122"/>
                <a:ea typeface="微软雅黑" pitchFamily="34" charset="-122"/>
              </a:rPr>
              <a:t>] ...</a:t>
            </a:r>
          </a:p>
          <a:p>
            <a:pPr latinLnBrk="1"/>
            <a:r>
              <a:rPr lang="en-US" altLang="zh-CN" sz="1400" dirty="0">
                <a:latin typeface="微软雅黑" pitchFamily="34" charset="-122"/>
                <a:ea typeface="微软雅黑" pitchFamily="34" charset="-122"/>
              </a:rPr>
              <a:t>| ADD {FULLTEXT|SPATIAL} [INDEX|KEY] [</a:t>
            </a:r>
            <a:r>
              <a:rPr lang="en-US" altLang="zh-CN" sz="1400" dirty="0" err="1">
                <a:latin typeface="微软雅黑" pitchFamily="34" charset="-122"/>
                <a:ea typeface="微软雅黑" pitchFamily="34" charset="-122"/>
              </a:rPr>
              <a:t>index_name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key_part</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index_option</a:t>
            </a:r>
            <a:r>
              <a:rPr lang="en-US" altLang="zh-CN" sz="1400" dirty="0">
                <a:latin typeface="微软雅黑" pitchFamily="34" charset="-122"/>
                <a:ea typeface="微软雅黑" pitchFamily="34" charset="-122"/>
              </a:rPr>
              <a:t>] ...</a:t>
            </a:r>
          </a:p>
          <a:p>
            <a:pPr latinLnBrk="1"/>
            <a:r>
              <a:rPr lang="en-US" altLang="zh-CN" sz="1400" dirty="0">
                <a:latin typeface="微软雅黑" pitchFamily="34" charset="-122"/>
                <a:ea typeface="微软雅黑" pitchFamily="34" charset="-122"/>
              </a:rPr>
              <a:t>| ADD [CONSTRAINT [symbol]] PRIMARY KEY [</a:t>
            </a:r>
            <a:r>
              <a:rPr lang="en-US" altLang="zh-CN" sz="1400" dirty="0" err="1">
                <a:latin typeface="微软雅黑" pitchFamily="34" charset="-122"/>
                <a:ea typeface="微软雅黑" pitchFamily="34" charset="-122"/>
              </a:rPr>
              <a:t>index_type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key_part</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index_option</a:t>
            </a:r>
            <a:r>
              <a:rPr lang="en-US" altLang="zh-CN" sz="1400" dirty="0">
                <a:latin typeface="微软雅黑" pitchFamily="34" charset="-122"/>
                <a:ea typeface="微软雅黑" pitchFamily="34" charset="-122"/>
              </a:rPr>
              <a:t>] ...</a:t>
            </a:r>
          </a:p>
          <a:p>
            <a:pPr latinLnBrk="1"/>
            <a:r>
              <a:rPr lang="en-US" altLang="zh-CN" sz="1400" dirty="0">
                <a:latin typeface="微软雅黑" pitchFamily="34" charset="-122"/>
                <a:ea typeface="微软雅黑" pitchFamily="34" charset="-122"/>
              </a:rPr>
              <a:t>| ADD [CONSTRAINT [symbol]] UNIQUE [INDEX|KEY] [</a:t>
            </a:r>
            <a:r>
              <a:rPr lang="en-US" altLang="zh-CN" sz="1400" dirty="0" err="1">
                <a:latin typeface="微软雅黑" pitchFamily="34" charset="-122"/>
                <a:ea typeface="微软雅黑" pitchFamily="34" charset="-122"/>
              </a:rPr>
              <a:t>index_name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index_type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key_part</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index_option</a:t>
            </a:r>
            <a:r>
              <a:rPr lang="en-US" altLang="zh-CN" sz="1400" dirty="0">
                <a:latin typeface="微软雅黑" pitchFamily="34" charset="-122"/>
                <a:ea typeface="微软雅黑" pitchFamily="34" charset="-122"/>
              </a:rPr>
              <a:t>] ...</a:t>
            </a:r>
          </a:p>
          <a:p>
            <a:pPr latinLnBrk="1"/>
            <a:r>
              <a:rPr lang="en-US" altLang="zh-CN" sz="1400" dirty="0">
                <a:latin typeface="微软雅黑" pitchFamily="34" charset="-122"/>
                <a:ea typeface="微软雅黑" pitchFamily="34" charset="-122"/>
              </a:rPr>
              <a:t>| ADD [CONSTRAINT [symbol]] FOREIGN KEY [</a:t>
            </a:r>
            <a:r>
              <a:rPr lang="en-US" altLang="zh-CN" sz="1400" dirty="0" err="1">
                <a:latin typeface="微软雅黑" pitchFamily="34" charset="-122"/>
                <a:ea typeface="微软雅黑" pitchFamily="34" charset="-122"/>
              </a:rPr>
              <a:t>index_name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col_name</a:t>
            </a:r>
            <a:r>
              <a:rPr lang="en-US" altLang="zh-CN" sz="1400" dirty="0">
                <a:latin typeface="微软雅黑" pitchFamily="34" charset="-122"/>
                <a:ea typeface="微软雅黑" pitchFamily="34" charset="-122"/>
              </a:rPr>
              <a:t>,...) </a:t>
            </a:r>
            <a:r>
              <a:rPr lang="en-US" altLang="zh-CN" sz="1400" dirty="0" err="1">
                <a:latin typeface="微软雅黑" pitchFamily="34" charset="-122"/>
                <a:ea typeface="微软雅黑" pitchFamily="34" charset="-122"/>
              </a:rPr>
              <a:t>reference_definition</a:t>
            </a:r>
            <a:endParaRPr lang="en-US" altLang="zh-CN" sz="1400" dirty="0">
              <a:latin typeface="微软雅黑" pitchFamily="34" charset="-122"/>
              <a:ea typeface="微软雅黑" pitchFamily="34" charset="-122"/>
            </a:endParaRPr>
          </a:p>
          <a:p>
            <a:pPr latinLnBrk="1"/>
            <a:r>
              <a:rPr lang="en-US" altLang="zh-CN" sz="1400" dirty="0">
                <a:latin typeface="微软雅黑" pitchFamily="34" charset="-122"/>
                <a:ea typeface="微软雅黑" pitchFamily="34" charset="-122"/>
              </a:rPr>
              <a:t>	</a:t>
            </a:r>
          </a:p>
          <a:p>
            <a:pPr latinLnBrk="1"/>
            <a:r>
              <a:rPr lang="en-US" altLang="zh-CN" sz="1400" dirty="0">
                <a:latin typeface="微软雅黑" pitchFamily="34" charset="-122"/>
                <a:ea typeface="微软雅黑" pitchFamily="34" charset="-122"/>
              </a:rPr>
              <a:t>| DROP {INDEX|KEY} </a:t>
            </a:r>
            <a:r>
              <a:rPr lang="en-US" altLang="zh-CN" sz="1400" dirty="0" err="1">
                <a:latin typeface="微软雅黑" pitchFamily="34" charset="-122"/>
                <a:ea typeface="微软雅黑" pitchFamily="34" charset="-122"/>
              </a:rPr>
              <a:t>index_name</a:t>
            </a:r>
            <a:endParaRPr lang="en-US" altLang="zh-CN" sz="1400" dirty="0">
              <a:latin typeface="微软雅黑" pitchFamily="34" charset="-122"/>
              <a:ea typeface="微软雅黑" pitchFamily="34" charset="-122"/>
            </a:endParaRPr>
          </a:p>
          <a:p>
            <a:pPr latinLnBrk="1"/>
            <a:r>
              <a:rPr lang="en-US" altLang="zh-CN" sz="1400" dirty="0">
                <a:latin typeface="微软雅黑" pitchFamily="34" charset="-122"/>
                <a:ea typeface="微软雅黑" pitchFamily="34" charset="-122"/>
              </a:rPr>
              <a:t>| DROP PRIMARY KEY</a:t>
            </a:r>
          </a:p>
          <a:p>
            <a:pPr latinLnBrk="1"/>
            <a:r>
              <a:rPr lang="en-US" altLang="zh-CN" sz="1400" dirty="0">
                <a:latin typeface="微软雅黑" pitchFamily="34" charset="-122"/>
                <a:ea typeface="微软雅黑" pitchFamily="34" charset="-122"/>
              </a:rPr>
              <a:t>| DROP FOREIGN KEY </a:t>
            </a:r>
            <a:r>
              <a:rPr lang="en-US" altLang="zh-CN" sz="1400" dirty="0" err="1">
                <a:latin typeface="微软雅黑" pitchFamily="34" charset="-122"/>
                <a:ea typeface="微软雅黑" pitchFamily="34" charset="-122"/>
              </a:rPr>
              <a:t>fk_symbol</a:t>
            </a:r>
            <a:endParaRPr lang="en-US" altLang="zh-CN" sz="1400" dirty="0">
              <a:latin typeface="微软雅黑" pitchFamily="34" charset="-122"/>
              <a:ea typeface="微软雅黑" pitchFamily="34" charset="-122"/>
            </a:endParaRPr>
          </a:p>
          <a:p>
            <a:pPr latinLnBrk="1"/>
            <a:endParaRPr lang="en-US" altLang="zh-CN" sz="1400" dirty="0">
              <a:latin typeface="微软雅黑" pitchFamily="34" charset="-122"/>
              <a:ea typeface="微软雅黑" pitchFamily="34" charset="-122"/>
            </a:endParaRPr>
          </a:p>
          <a:p>
            <a:pPr latinLnBrk="1"/>
            <a:r>
              <a:rPr lang="en-US" altLang="zh-CN" sz="1400" dirty="0">
                <a:latin typeface="微软雅黑" pitchFamily="34" charset="-122"/>
                <a:ea typeface="微软雅黑" pitchFamily="34" charset="-122"/>
              </a:rPr>
              <a:t>| RENAME {INDEX|KEY} </a:t>
            </a:r>
            <a:r>
              <a:rPr lang="en-US" altLang="zh-CN" sz="1400" dirty="0" err="1">
                <a:latin typeface="微软雅黑" pitchFamily="34" charset="-122"/>
                <a:ea typeface="微软雅黑" pitchFamily="34" charset="-122"/>
              </a:rPr>
              <a:t>old_index_name</a:t>
            </a:r>
            <a:r>
              <a:rPr lang="en-US" altLang="zh-CN" sz="1400" dirty="0">
                <a:latin typeface="微软雅黑" pitchFamily="34" charset="-122"/>
                <a:ea typeface="微软雅黑" pitchFamily="34" charset="-122"/>
              </a:rPr>
              <a:t> TO </a:t>
            </a:r>
            <a:r>
              <a:rPr lang="en-US" altLang="zh-CN" sz="1400" dirty="0" err="1" smtClean="0">
                <a:latin typeface="微软雅黑" pitchFamily="34" charset="-122"/>
                <a:ea typeface="微软雅黑" pitchFamily="34" charset="-122"/>
              </a:rPr>
              <a:t>new_index_name</a:t>
            </a:r>
            <a:endParaRPr lang="en-US" altLang="zh-CN" sz="1400" dirty="0" smtClean="0">
              <a:latin typeface="微软雅黑" pitchFamily="34" charset="-122"/>
              <a:ea typeface="微软雅黑" pitchFamily="34" charset="-122"/>
            </a:endParaRPr>
          </a:p>
        </p:txBody>
      </p:sp>
    </p:spTree>
    <p:extLst>
      <p:ext uri="{BB962C8B-B14F-4D97-AF65-F5344CB8AC3E}">
        <p14:creationId xmlns:p14="http://schemas.microsoft.com/office/powerpoint/2010/main" val="6793588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chemeClr val="accent3"/>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索引使用</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索引原则</a:t>
            </a:r>
            <a:endParaRPr lang="zh-CN" altLang="en-US" dirty="0"/>
          </a:p>
        </p:txBody>
      </p:sp>
      <p:sp>
        <p:nvSpPr>
          <p:cNvPr id="8" name="矩形 7"/>
          <p:cNvSpPr/>
          <p:nvPr/>
        </p:nvSpPr>
        <p:spPr>
          <a:xfrm>
            <a:off x="1331640" y="2132856"/>
            <a:ext cx="6840760" cy="3456384"/>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pPr marL="342900" indent="-342900" latinLnBrk="1">
              <a:buAutoNum type="arabicPeriod"/>
            </a:pPr>
            <a:r>
              <a:rPr lang="zh-CN" altLang="en-US" dirty="0" smtClean="0">
                <a:latin typeface="微软雅黑" pitchFamily="34" charset="-122"/>
                <a:ea typeface="微软雅黑" pitchFamily="34" charset="-122"/>
              </a:rPr>
              <a:t>搜索</a:t>
            </a:r>
            <a:r>
              <a:rPr lang="zh-CN" altLang="en-US" dirty="0">
                <a:latin typeface="微软雅黑" pitchFamily="34" charset="-122"/>
                <a:ea typeface="微软雅黑" pitchFamily="34" charset="-122"/>
              </a:rPr>
              <a:t>的列不一定是所要选择的</a:t>
            </a:r>
            <a:r>
              <a:rPr lang="zh-CN" altLang="en-US" dirty="0" smtClean="0">
                <a:latin typeface="微软雅黑" pitchFamily="34" charset="-122"/>
                <a:ea typeface="微软雅黑" pitchFamily="34" charset="-122"/>
              </a:rPr>
              <a:t>列</a:t>
            </a:r>
            <a:r>
              <a:rPr lang="en-US" altLang="zh-CN" dirty="0" smtClean="0">
                <a:latin typeface="微软雅黑" pitchFamily="34" charset="-122"/>
                <a:ea typeface="微软雅黑" pitchFamily="34" charset="-122"/>
              </a:rPr>
              <a:t>:</a:t>
            </a:r>
          </a:p>
          <a:p>
            <a:pPr lvl="1" latinLnBrk="1"/>
            <a:r>
              <a:rPr lang="zh-CN" altLang="en-US" dirty="0" smtClean="0">
                <a:latin typeface="微软雅黑" pitchFamily="34" charset="-122"/>
                <a:ea typeface="微软雅黑" pitchFamily="34" charset="-122"/>
              </a:rPr>
              <a:t>最适合索引的列是出现在</a:t>
            </a:r>
            <a:r>
              <a:rPr lang="en-US" altLang="zh-CN" dirty="0" smtClean="0">
                <a:latin typeface="微软雅黑" pitchFamily="34" charset="-122"/>
                <a:ea typeface="微软雅黑" pitchFamily="34" charset="-122"/>
              </a:rPr>
              <a:t>where</a:t>
            </a:r>
            <a:r>
              <a:rPr lang="zh-CN" altLang="en-US" dirty="0" smtClean="0">
                <a:latin typeface="微软雅黑" pitchFamily="34" charset="-122"/>
                <a:ea typeface="微软雅黑" pitchFamily="34" charset="-122"/>
              </a:rPr>
              <a:t>中的列。</a:t>
            </a:r>
            <a:endParaRPr lang="zh-CN" altLang="en-US" dirty="0">
              <a:latin typeface="微软雅黑" pitchFamily="34" charset="-122"/>
              <a:ea typeface="微软雅黑" pitchFamily="34" charset="-122"/>
            </a:endParaRPr>
          </a:p>
          <a:p>
            <a:pPr marL="342900" indent="-342900" latinLnBrk="1">
              <a:buAutoNum type="arabicPeriod" startAt="2"/>
            </a:pPr>
            <a:r>
              <a:rPr lang="zh-CN" altLang="en-US" dirty="0" smtClean="0">
                <a:latin typeface="微软雅黑" pitchFamily="34" charset="-122"/>
                <a:ea typeface="微软雅黑" pitchFamily="34" charset="-122"/>
              </a:rPr>
              <a:t>使用唯一索引：</a:t>
            </a:r>
            <a:endParaRPr lang="en-US" altLang="zh-CN" dirty="0" smtClean="0">
              <a:latin typeface="微软雅黑" pitchFamily="34" charset="-122"/>
              <a:ea typeface="微软雅黑" pitchFamily="34" charset="-122"/>
            </a:endParaRPr>
          </a:p>
          <a:p>
            <a:pPr lvl="1" latinLnBrk="1"/>
            <a:r>
              <a:rPr lang="zh-CN" altLang="en-US" dirty="0" smtClean="0">
                <a:latin typeface="微软雅黑" pitchFamily="34" charset="-122"/>
                <a:ea typeface="微软雅黑" pitchFamily="34" charset="-122"/>
              </a:rPr>
              <a:t>索引列的</a:t>
            </a:r>
            <a:r>
              <a:rPr lang="zh-CN" altLang="en-US" b="1" dirty="0" smtClean="0">
                <a:latin typeface="微软雅黑" pitchFamily="34" charset="-122"/>
                <a:ea typeface="微软雅黑" pitchFamily="34" charset="-122"/>
              </a:rPr>
              <a:t>基数</a:t>
            </a:r>
            <a:r>
              <a:rPr lang="zh-CN" altLang="en-US" dirty="0" smtClean="0">
                <a:latin typeface="微软雅黑" pitchFamily="34" charset="-122"/>
                <a:ea typeface="微软雅黑" pitchFamily="34" charset="-122"/>
              </a:rPr>
              <a:t>（</a:t>
            </a:r>
            <a:r>
              <a:rPr lang="zh-CN" altLang="en-US" dirty="0">
                <a:latin typeface="微软雅黑" pitchFamily="34" charset="-122"/>
                <a:ea typeface="微软雅黑" pitchFamily="34" charset="-122"/>
              </a:rPr>
              <a:t>不重复的索引</a:t>
            </a:r>
            <a:r>
              <a:rPr lang="zh-CN" altLang="en-US" dirty="0" smtClean="0">
                <a:latin typeface="微软雅黑" pitchFamily="34" charset="-122"/>
                <a:ea typeface="微软雅黑" pitchFamily="34" charset="-122"/>
              </a:rPr>
              <a:t>值域）越大，索引效果越好。</a:t>
            </a:r>
            <a:endParaRPr lang="en-US" altLang="zh-CN" dirty="0" smtClean="0">
              <a:latin typeface="微软雅黑" pitchFamily="34" charset="-122"/>
              <a:ea typeface="微软雅黑" pitchFamily="34" charset="-122"/>
            </a:endParaRPr>
          </a:p>
          <a:p>
            <a:pPr marL="342900" indent="-342900" latinLnBrk="1">
              <a:buAutoNum type="arabicPeriod" startAt="2"/>
            </a:pPr>
            <a:r>
              <a:rPr lang="zh-CN" altLang="en-US" dirty="0">
                <a:latin typeface="微软雅黑" pitchFamily="34" charset="-122"/>
                <a:ea typeface="微软雅黑" pitchFamily="34" charset="-122"/>
              </a:rPr>
              <a:t>使用短索引：</a:t>
            </a:r>
            <a:endParaRPr lang="en-US" altLang="zh-CN" dirty="0">
              <a:latin typeface="微软雅黑" pitchFamily="34" charset="-122"/>
              <a:ea typeface="微软雅黑" pitchFamily="34" charset="-122"/>
            </a:endParaRPr>
          </a:p>
          <a:p>
            <a:pPr lvl="1" latinLnBrk="1"/>
            <a:r>
              <a:rPr lang="zh-CN" altLang="en-US" dirty="0" smtClean="0">
                <a:latin typeface="微软雅黑" pitchFamily="34" charset="-122"/>
                <a:ea typeface="微软雅黑" pitchFamily="34" charset="-122"/>
              </a:rPr>
              <a:t>例如对</a:t>
            </a:r>
            <a:r>
              <a:rPr lang="zh-CN" altLang="en-US" dirty="0">
                <a:latin typeface="微软雅黑" pitchFamily="34" charset="-122"/>
                <a:ea typeface="微软雅黑" pitchFamily="34" charset="-122"/>
              </a:rPr>
              <a:t>字符串</a:t>
            </a:r>
            <a:r>
              <a:rPr lang="zh-CN" altLang="en-US" dirty="0" smtClean="0">
                <a:latin typeface="微软雅黑" pitchFamily="34" charset="-122"/>
                <a:ea typeface="微软雅黑" pitchFamily="34" charset="-122"/>
              </a:rPr>
              <a:t>进行模糊查找，尽可能创建指定前缀长度的索引。</a:t>
            </a:r>
            <a:endParaRPr lang="en-US" altLang="zh-CN" dirty="0">
              <a:latin typeface="微软雅黑" pitchFamily="34" charset="-122"/>
              <a:ea typeface="微软雅黑" pitchFamily="34" charset="-122"/>
            </a:endParaRPr>
          </a:p>
          <a:p>
            <a:pPr marL="342900" indent="-342900" latinLnBrk="1">
              <a:buAutoNum type="arabicPeriod" startAt="2"/>
            </a:pPr>
            <a:r>
              <a:rPr lang="zh-CN" altLang="en-US" dirty="0" smtClean="0">
                <a:latin typeface="微软雅黑" pitchFamily="34" charset="-122"/>
                <a:ea typeface="微软雅黑" pitchFamily="34" charset="-122"/>
              </a:rPr>
              <a:t>利用最左前缀：</a:t>
            </a:r>
            <a:endParaRPr lang="en-US" altLang="zh-CN" dirty="0">
              <a:latin typeface="微软雅黑" pitchFamily="34" charset="-122"/>
              <a:ea typeface="微软雅黑" pitchFamily="34" charset="-122"/>
            </a:endParaRPr>
          </a:p>
          <a:p>
            <a:pPr lvl="1" latinLnBrk="1"/>
            <a:r>
              <a:rPr lang="zh-CN" altLang="en-US" dirty="0" smtClean="0">
                <a:latin typeface="微软雅黑" pitchFamily="34" charset="-122"/>
                <a:ea typeface="微软雅黑" pitchFamily="34" charset="-122"/>
              </a:rPr>
              <a:t>多列索引，</a:t>
            </a:r>
            <a:r>
              <a:rPr lang="zh-CN" altLang="en-US" dirty="0">
                <a:latin typeface="微软雅黑" pitchFamily="34" charset="-122"/>
                <a:ea typeface="微软雅黑" pitchFamily="34" charset="-122"/>
              </a:rPr>
              <a:t>最</a:t>
            </a:r>
            <a:r>
              <a:rPr lang="zh-CN" altLang="en-US" dirty="0" smtClean="0">
                <a:latin typeface="微软雅黑" pitchFamily="34" charset="-122"/>
                <a:ea typeface="微软雅黑" pitchFamily="34" charset="-122"/>
              </a:rPr>
              <a:t>左匹配原则，基数大的列位于左侧。</a:t>
            </a:r>
            <a:endParaRPr lang="en-US" altLang="zh-CN" dirty="0">
              <a:latin typeface="微软雅黑" pitchFamily="34" charset="-122"/>
              <a:ea typeface="微软雅黑" pitchFamily="34" charset="-122"/>
            </a:endParaRPr>
          </a:p>
          <a:p>
            <a:pPr marL="342900" indent="-342900" latinLnBrk="1">
              <a:buAutoNum type="arabicPeriod" startAt="2"/>
            </a:pPr>
            <a:r>
              <a:rPr lang="zh-CN" altLang="en-US" dirty="0" smtClean="0">
                <a:latin typeface="微软雅黑" pitchFamily="34" charset="-122"/>
                <a:ea typeface="微软雅黑" pitchFamily="34" charset="-122"/>
              </a:rPr>
              <a:t>不过渡索引：</a:t>
            </a:r>
            <a:endParaRPr lang="en-US" altLang="zh-CN" dirty="0">
              <a:latin typeface="微软雅黑" pitchFamily="34" charset="-122"/>
              <a:ea typeface="微软雅黑" pitchFamily="34" charset="-122"/>
            </a:endParaRPr>
          </a:p>
          <a:p>
            <a:pPr lvl="1" latinLnBrk="1"/>
            <a:r>
              <a:rPr lang="zh-CN" altLang="en-US" dirty="0" smtClean="0">
                <a:latin typeface="微软雅黑" pitchFamily="34" charset="-122"/>
                <a:ea typeface="微软雅黑" pitchFamily="34" charset="-122"/>
              </a:rPr>
              <a:t>索引占用额外的磁盘空间，降低写性能，增加查询时索引选择。</a:t>
            </a:r>
            <a:endParaRPr lang="en-US" altLang="zh-CN" dirty="0" smtClean="0">
              <a:latin typeface="微软雅黑" pitchFamily="34" charset="-122"/>
              <a:ea typeface="微软雅黑" pitchFamily="34" charset="-122"/>
            </a:endParaRPr>
          </a:p>
          <a:p>
            <a:pPr marL="342900" indent="-342900" latinLnBrk="1">
              <a:buAutoNum type="arabicPeriod" startAt="2"/>
            </a:pPr>
            <a:r>
              <a:rPr lang="zh-CN" altLang="en-US" dirty="0" smtClean="0">
                <a:latin typeface="微软雅黑" pitchFamily="34" charset="-122"/>
                <a:ea typeface="微软雅黑" pitchFamily="34" charset="-122"/>
              </a:rPr>
              <a:t>主键尽可能选择较短的数据类型：</a:t>
            </a:r>
            <a:endParaRPr lang="en-US" altLang="zh-CN" dirty="0">
              <a:latin typeface="微软雅黑" pitchFamily="34" charset="-122"/>
              <a:ea typeface="微软雅黑" pitchFamily="34" charset="-122"/>
            </a:endParaRPr>
          </a:p>
          <a:p>
            <a:pPr lvl="1" latinLnBrk="1"/>
            <a:r>
              <a:rPr lang="en-US" altLang="zh-CN" dirty="0" err="1" smtClean="0">
                <a:latin typeface="微软雅黑" pitchFamily="34" charset="-122"/>
                <a:ea typeface="微软雅黑" pitchFamily="34" charset="-122"/>
              </a:rPr>
              <a:t>InnoDB</a:t>
            </a:r>
            <a:r>
              <a:rPr lang="zh-CN" altLang="en-US" dirty="0" smtClean="0">
                <a:latin typeface="微软雅黑" pitchFamily="34" charset="-122"/>
                <a:ea typeface="微软雅黑" pitchFamily="34" charset="-122"/>
              </a:rPr>
              <a:t>引擎中，二级索引会保存主键的值。</a:t>
            </a:r>
            <a:endParaRPr lang="en-US" altLang="zh-CN" dirty="0">
              <a:latin typeface="微软雅黑" pitchFamily="34" charset="-122"/>
              <a:ea typeface="微软雅黑" pitchFamily="34" charset="-122"/>
            </a:endParaRPr>
          </a:p>
          <a:p>
            <a:pPr lvl="1" latinLnBrk="1"/>
            <a:endParaRPr lang="en-US" altLang="zh-CN" dirty="0">
              <a:latin typeface="微软雅黑" pitchFamily="34" charset="-122"/>
              <a:ea typeface="微软雅黑" pitchFamily="34" charset="-122"/>
            </a:endParaRPr>
          </a:p>
          <a:p>
            <a:pPr lvl="1" latinLnBrk="1"/>
            <a:endParaRPr lang="zh-CN" altLang="en-US" dirty="0">
              <a:latin typeface="微软雅黑" pitchFamily="34" charset="-122"/>
              <a:ea typeface="微软雅黑" pitchFamily="34" charset="-122"/>
            </a:endParaRPr>
          </a:p>
          <a:p>
            <a:pPr latinLnBrk="1"/>
            <a:endParaRPr lang="en-US" altLang="zh-CN" dirty="0" smtClean="0">
              <a:latin typeface="微软雅黑" pitchFamily="34" charset="-122"/>
              <a:ea typeface="微软雅黑" pitchFamily="34" charset="-122"/>
            </a:endParaRPr>
          </a:p>
        </p:txBody>
      </p:sp>
    </p:spTree>
    <p:extLst>
      <p:ext uri="{BB962C8B-B14F-4D97-AF65-F5344CB8AC3E}">
        <p14:creationId xmlns:p14="http://schemas.microsoft.com/office/powerpoint/2010/main" val="37314527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chemeClr val="accent3"/>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en-US" altLang="zh-CN" sz="3600" dirty="0">
                <a:latin typeface="微软雅黑" pitchFamily="34" charset="-122"/>
                <a:ea typeface="微软雅黑" pitchFamily="34" charset="-122"/>
              </a:rPr>
              <a:t>MySQL</a:t>
            </a:r>
            <a:r>
              <a:rPr lang="zh-CN" altLang="en-US" sz="3600" dirty="0">
                <a:latin typeface="微软雅黑" pitchFamily="34" charset="-122"/>
                <a:ea typeface="微软雅黑" pitchFamily="34" charset="-122"/>
              </a:rPr>
              <a:t>索引使用</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索引原则</a:t>
            </a:r>
            <a:endParaRPr lang="zh-CN" altLang="en-US" dirty="0"/>
          </a:p>
        </p:txBody>
      </p:sp>
      <p:sp>
        <p:nvSpPr>
          <p:cNvPr id="10" name="矩形 9"/>
          <p:cNvSpPr/>
          <p:nvPr/>
        </p:nvSpPr>
        <p:spPr>
          <a:xfrm>
            <a:off x="852533" y="1412776"/>
            <a:ext cx="8208912" cy="5256584"/>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pPr marL="0" lvl="1" latinLnBrk="1"/>
            <a:r>
              <a:rPr lang="zh-CN" altLang="en-US" dirty="0">
                <a:latin typeface="微软雅黑" pitchFamily="34" charset="-122"/>
                <a:ea typeface="微软雅黑" pitchFamily="34" charset="-122"/>
              </a:rPr>
              <a:t>使用</a:t>
            </a:r>
            <a:r>
              <a:rPr lang="en-US" altLang="zh-CN" dirty="0">
                <a:latin typeface="微软雅黑" pitchFamily="34" charset="-122"/>
                <a:ea typeface="微软雅黑" pitchFamily="34" charset="-122"/>
              </a:rPr>
              <a:t>explain</a:t>
            </a:r>
            <a:r>
              <a:rPr lang="zh-CN" altLang="en-US" dirty="0">
                <a:latin typeface="微软雅黑" pitchFamily="34" charset="-122"/>
                <a:ea typeface="微软雅黑" pitchFamily="34" charset="-122"/>
              </a:rPr>
              <a:t>查看索引命中</a:t>
            </a:r>
            <a:r>
              <a:rPr lang="zh-CN" altLang="en-US" dirty="0" smtClean="0">
                <a:latin typeface="微软雅黑" pitchFamily="34" charset="-122"/>
                <a:ea typeface="微软雅黑" pitchFamily="34" charset="-122"/>
              </a:rPr>
              <a:t>情况</a:t>
            </a:r>
            <a:endParaRPr lang="en-US" altLang="zh-CN" dirty="0" smtClean="0">
              <a:latin typeface="微软雅黑" pitchFamily="34" charset="-122"/>
              <a:ea typeface="微软雅黑" pitchFamily="34" charset="-122"/>
            </a:endParaRPr>
          </a:p>
          <a:p>
            <a:pPr marL="0" lvl="1" latinLnBrk="1"/>
            <a:endParaRPr lang="en-US" altLang="zh-CN" dirty="0">
              <a:latin typeface="微软雅黑" pitchFamily="34" charset="-122"/>
              <a:ea typeface="微软雅黑" pitchFamily="34" charset="-122"/>
            </a:endParaRPr>
          </a:p>
          <a:p>
            <a:pPr marL="0" lvl="1" latinLnBrk="1"/>
            <a:endParaRPr lang="en-US" altLang="zh-CN" dirty="0" smtClean="0">
              <a:latin typeface="微软雅黑" pitchFamily="34" charset="-122"/>
              <a:ea typeface="微软雅黑" pitchFamily="34" charset="-122"/>
            </a:endParaRPr>
          </a:p>
          <a:p>
            <a:pPr marL="0" lvl="1" latinLnBrk="1"/>
            <a:endParaRPr lang="en-US" altLang="zh-CN" dirty="0">
              <a:latin typeface="微软雅黑" pitchFamily="34" charset="-122"/>
              <a:ea typeface="微软雅黑" pitchFamily="34" charset="-122"/>
            </a:endParaRPr>
          </a:p>
          <a:p>
            <a:pPr marL="0" lvl="1" latinLnBrk="1"/>
            <a:endParaRPr lang="en-US" altLang="zh-CN" dirty="0">
              <a:latin typeface="微软雅黑" pitchFamily="34" charset="-122"/>
              <a:ea typeface="微软雅黑" pitchFamily="34" charset="-122"/>
            </a:endParaRPr>
          </a:p>
          <a:p>
            <a:pPr marL="0" lvl="1" latinLnBrk="1"/>
            <a:r>
              <a:rPr lang="zh-CN" altLang="en-US" b="1" dirty="0" smtClean="0">
                <a:latin typeface="微软雅黑" pitchFamily="34" charset="-122"/>
                <a:ea typeface="微软雅黑" pitchFamily="34" charset="-122"/>
              </a:rPr>
              <a:t>重要参数说明：</a:t>
            </a:r>
            <a:endParaRPr lang="en-US" altLang="zh-CN" b="1" dirty="0" smtClean="0">
              <a:latin typeface="微软雅黑" pitchFamily="34" charset="-122"/>
              <a:ea typeface="微软雅黑" pitchFamily="34" charset="-122"/>
            </a:endParaRPr>
          </a:p>
          <a:p>
            <a:pPr marL="0" lvl="1" latinLnBrk="1"/>
            <a:r>
              <a:rPr lang="en-US" altLang="zh-CN" dirty="0" smtClean="0">
                <a:latin typeface="微软雅黑" pitchFamily="34" charset="-122"/>
                <a:ea typeface="微软雅黑" pitchFamily="34" charset="-122"/>
              </a:rPr>
              <a:t>  type</a:t>
            </a:r>
            <a:r>
              <a:rPr lang="zh-CN" altLang="en-US" dirty="0" smtClean="0">
                <a:latin typeface="微软雅黑" pitchFamily="34" charset="-122"/>
                <a:ea typeface="微软雅黑" pitchFamily="34" charset="-122"/>
              </a:rPr>
              <a:t>：</a:t>
            </a:r>
            <a:r>
              <a:rPr lang="en-US" altLang="zh-CN" dirty="0" smtClean="0">
                <a:latin typeface="微软雅黑" panose="020B0503020204020204" pitchFamily="34" charset="-122"/>
                <a:ea typeface="微软雅黑" panose="020B0503020204020204" pitchFamily="34" charset="-122"/>
              </a:rPr>
              <a:t>ALL</a:t>
            </a:r>
            <a:r>
              <a:rPr lang="en-US" altLang="zh-CN" dirty="0">
                <a:latin typeface="微软雅黑" panose="020B0503020204020204" pitchFamily="34" charset="-122"/>
                <a:ea typeface="微软雅黑" panose="020B0503020204020204" pitchFamily="34" charset="-122"/>
              </a:rPr>
              <a:t>, index,  range, ref, </a:t>
            </a:r>
            <a:r>
              <a:rPr lang="en-US" altLang="zh-CN" dirty="0" err="1">
                <a:latin typeface="微软雅黑" panose="020B0503020204020204" pitchFamily="34" charset="-122"/>
                <a:ea typeface="微软雅黑" panose="020B0503020204020204" pitchFamily="34" charset="-122"/>
              </a:rPr>
              <a:t>eq_ref</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const</a:t>
            </a:r>
            <a:r>
              <a:rPr lang="en-US" altLang="zh-CN" dirty="0">
                <a:latin typeface="微软雅黑" panose="020B0503020204020204" pitchFamily="34" charset="-122"/>
                <a:ea typeface="微软雅黑" panose="020B0503020204020204" pitchFamily="34" charset="-122"/>
              </a:rPr>
              <a:t>, system, </a:t>
            </a:r>
            <a:r>
              <a:rPr lang="en-US" altLang="zh-CN" dirty="0" smtClean="0">
                <a:latin typeface="微软雅黑" panose="020B0503020204020204" pitchFamily="34" charset="-122"/>
                <a:ea typeface="微软雅黑" panose="020B0503020204020204" pitchFamily="34" charset="-122"/>
              </a:rPr>
              <a:t>NULL</a:t>
            </a:r>
            <a:r>
              <a:rPr lang="zh-CN" altLang="en-US" dirty="0" smtClean="0">
                <a:latin typeface="微软雅黑" panose="020B0503020204020204" pitchFamily="34" charset="-122"/>
                <a:ea typeface="微软雅黑" panose="020B0503020204020204" pitchFamily="34" charset="-122"/>
              </a:rPr>
              <a:t>性能由低到高</a:t>
            </a:r>
            <a:endParaRPr lang="en-US" altLang="zh-CN" dirty="0" smtClean="0">
              <a:latin typeface="微软雅黑" panose="020B0503020204020204" pitchFamily="34" charset="-122"/>
              <a:ea typeface="微软雅黑" panose="020B0503020204020204" pitchFamily="34" charset="-122"/>
            </a:endParaRPr>
          </a:p>
          <a:p>
            <a:pPr marL="0" lvl="1" latinLnBrk="1"/>
            <a:r>
              <a:rPr lang="en-US" altLang="zh-CN" dirty="0" smtClean="0">
                <a:latin typeface="微软雅黑" panose="020B0503020204020204" pitchFamily="34" charset="-122"/>
                <a:ea typeface="微软雅黑" panose="020B0503020204020204" pitchFamily="34" charset="-122"/>
              </a:rPr>
              <a:t>  </a:t>
            </a:r>
            <a:r>
              <a:rPr lang="en-US" altLang="zh-CN" dirty="0" err="1" smtClean="0">
                <a:latin typeface="微软雅黑" panose="020B0503020204020204" pitchFamily="34" charset="-122"/>
                <a:ea typeface="微软雅黑" panose="020B0503020204020204" pitchFamily="34" charset="-122"/>
              </a:rPr>
              <a:t>possible_keys</a:t>
            </a:r>
            <a:r>
              <a:rPr lang="zh-CN" altLang="en-US" dirty="0" smtClean="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能</a:t>
            </a:r>
            <a:r>
              <a:rPr lang="zh-CN" altLang="en-US" dirty="0" smtClean="0">
                <a:latin typeface="微软雅黑" panose="020B0503020204020204" pitchFamily="34" charset="-122"/>
                <a:ea typeface="微软雅黑" panose="020B0503020204020204" pitchFamily="34" charset="-122"/>
              </a:rPr>
              <a:t>使用的索引，但</a:t>
            </a:r>
            <a:r>
              <a:rPr lang="zh-CN" altLang="en-US" dirty="0">
                <a:latin typeface="微软雅黑" panose="020B0503020204020204" pitchFamily="34" charset="-122"/>
                <a:ea typeface="微软雅黑" panose="020B0503020204020204" pitchFamily="34" charset="-122"/>
              </a:rPr>
              <a:t>不一定被查询</a:t>
            </a:r>
            <a:r>
              <a:rPr lang="zh-CN" altLang="en-US" dirty="0" smtClean="0">
                <a:latin typeface="微软雅黑" panose="020B0503020204020204" pitchFamily="34" charset="-122"/>
                <a:ea typeface="微软雅黑" panose="020B0503020204020204" pitchFamily="34" charset="-122"/>
              </a:rPr>
              <a:t>使用</a:t>
            </a:r>
            <a:endParaRPr lang="en-US" altLang="zh-CN" dirty="0" smtClean="0">
              <a:latin typeface="微软雅黑" pitchFamily="34" charset="-122"/>
              <a:ea typeface="微软雅黑" pitchFamily="34" charset="-122"/>
            </a:endParaRPr>
          </a:p>
          <a:p>
            <a:pPr marL="0" lvl="1" latinLnBrk="1"/>
            <a:r>
              <a:rPr lang="en-US" altLang="zh-CN" dirty="0" smtClean="0">
                <a:latin typeface="微软雅黑" pitchFamily="34" charset="-122"/>
                <a:ea typeface="微软雅黑" pitchFamily="34" charset="-122"/>
              </a:rPr>
              <a:t>  key</a:t>
            </a:r>
            <a:r>
              <a:rPr lang="zh-CN" altLang="en-US" dirty="0" smtClean="0">
                <a:latin typeface="微软雅黑" pitchFamily="34" charset="-122"/>
                <a:ea typeface="微软雅黑" pitchFamily="34" charset="-122"/>
              </a:rPr>
              <a:t>：</a:t>
            </a:r>
            <a:r>
              <a:rPr lang="en-US" altLang="zh-CN" dirty="0">
                <a:latin typeface="微软雅黑" panose="020B0503020204020204" pitchFamily="34" charset="-122"/>
                <a:ea typeface="微软雅黑" panose="020B0503020204020204" pitchFamily="34" charset="-122"/>
              </a:rPr>
              <a:t>MySQL</a:t>
            </a:r>
            <a:r>
              <a:rPr lang="zh-CN" altLang="en-US" dirty="0">
                <a:latin typeface="微软雅黑" panose="020B0503020204020204" pitchFamily="34" charset="-122"/>
                <a:ea typeface="微软雅黑" panose="020B0503020204020204" pitchFamily="34" charset="-122"/>
              </a:rPr>
              <a:t>实际决定使用</a:t>
            </a:r>
            <a:r>
              <a:rPr lang="zh-CN" altLang="en-US" dirty="0" smtClean="0">
                <a:latin typeface="微软雅黑" panose="020B0503020204020204" pitchFamily="34" charset="-122"/>
                <a:ea typeface="微软雅黑" panose="020B0503020204020204" pitchFamily="34" charset="-122"/>
              </a:rPr>
              <a:t>的索引</a:t>
            </a:r>
            <a:endParaRPr lang="en-US" altLang="zh-CN" dirty="0">
              <a:latin typeface="微软雅黑" panose="020B0503020204020204" pitchFamily="34" charset="-122"/>
              <a:ea typeface="微软雅黑" panose="020B0503020204020204" pitchFamily="34" charset="-122"/>
            </a:endParaRPr>
          </a:p>
          <a:p>
            <a:pPr marL="0" lvl="1" latinLnBrk="1"/>
            <a:r>
              <a:rPr lang="en-US" altLang="zh-CN" dirty="0" smtClean="0">
                <a:latin typeface="微软雅黑" panose="020B0503020204020204" pitchFamily="34" charset="-122"/>
                <a:ea typeface="微软雅黑" panose="020B0503020204020204" pitchFamily="34" charset="-122"/>
              </a:rPr>
              <a:t>  </a:t>
            </a:r>
            <a:r>
              <a:rPr lang="en-US" altLang="zh-CN" dirty="0" err="1" smtClean="0">
                <a:latin typeface="微软雅黑" panose="020B0503020204020204" pitchFamily="34" charset="-122"/>
                <a:ea typeface="微软雅黑" panose="020B0503020204020204" pitchFamily="34" charset="-122"/>
              </a:rPr>
              <a:t>key_len</a:t>
            </a:r>
            <a:r>
              <a:rPr lang="zh-CN" altLang="en-US" dirty="0" smtClean="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根据表</a:t>
            </a:r>
            <a:r>
              <a:rPr lang="zh-CN" altLang="en-US" dirty="0" smtClean="0">
                <a:latin typeface="微软雅黑" panose="020B0503020204020204" pitchFamily="34" charset="-122"/>
                <a:ea typeface="微软雅黑" panose="020B0503020204020204" pitchFamily="34" charset="-122"/>
              </a:rPr>
              <a:t>定义得到的索引长度</a:t>
            </a:r>
            <a:endParaRPr lang="en-US" altLang="zh-CN" dirty="0" smtClean="0">
              <a:latin typeface="微软雅黑" pitchFamily="34" charset="-122"/>
              <a:ea typeface="微软雅黑" pitchFamily="34" charset="-122"/>
            </a:endParaRPr>
          </a:p>
          <a:p>
            <a:pPr marL="0" lvl="1" latinLnBrk="1"/>
            <a:r>
              <a:rPr lang="en-US" altLang="zh-CN" dirty="0" smtClean="0">
                <a:latin typeface="微软雅黑" pitchFamily="34" charset="-122"/>
                <a:ea typeface="微软雅黑" pitchFamily="34" charset="-122"/>
              </a:rPr>
              <a:t>  ref</a:t>
            </a:r>
            <a:r>
              <a:rPr lang="zh-CN" altLang="en-US" dirty="0" smtClean="0">
                <a:latin typeface="微软雅黑" pitchFamily="34" charset="-122"/>
                <a:ea typeface="微软雅黑" pitchFamily="34" charset="-122"/>
              </a:rPr>
              <a:t>：哪些</a:t>
            </a:r>
            <a:r>
              <a:rPr lang="zh-CN" altLang="en-US" dirty="0">
                <a:latin typeface="微软雅黑" panose="020B0503020204020204" pitchFamily="34" charset="-122"/>
                <a:ea typeface="微软雅黑" panose="020B0503020204020204" pitchFamily="34" charset="-122"/>
              </a:rPr>
              <a:t>列或常量被用于查找索引列上的</a:t>
            </a:r>
            <a:r>
              <a:rPr lang="zh-CN" altLang="en-US" dirty="0" smtClean="0">
                <a:latin typeface="微软雅黑" panose="020B0503020204020204" pitchFamily="34" charset="-122"/>
                <a:ea typeface="微软雅黑" panose="020B0503020204020204" pitchFamily="34" charset="-122"/>
              </a:rPr>
              <a:t>值</a:t>
            </a:r>
            <a:endParaRPr lang="en-US" altLang="zh-CN" dirty="0" smtClean="0">
              <a:latin typeface="微软雅黑" panose="020B0503020204020204" pitchFamily="34" charset="-122"/>
              <a:ea typeface="微软雅黑" panose="020B0503020204020204" pitchFamily="34" charset="-122"/>
            </a:endParaRPr>
          </a:p>
          <a:p>
            <a:pPr marL="0" lvl="1" latinLnBrk="1"/>
            <a:r>
              <a:rPr lang="en-US" altLang="zh-CN" dirty="0" smtClean="0">
                <a:latin typeface="微软雅黑" panose="020B0503020204020204" pitchFamily="34" charset="-122"/>
                <a:ea typeface="微软雅黑" panose="020B0503020204020204" pitchFamily="34" charset="-122"/>
              </a:rPr>
              <a:t>  rows</a:t>
            </a:r>
            <a:r>
              <a:rPr lang="zh-CN" altLang="en-US" dirty="0" smtClean="0">
                <a:latin typeface="微软雅黑" panose="020B0503020204020204" pitchFamily="34" charset="-122"/>
                <a:ea typeface="微软雅黑" panose="020B0503020204020204" pitchFamily="34" charset="-122"/>
              </a:rPr>
              <a:t>：根据</a:t>
            </a:r>
            <a:r>
              <a:rPr lang="zh-CN" altLang="en-US" dirty="0">
                <a:latin typeface="微软雅黑" panose="020B0503020204020204" pitchFamily="34" charset="-122"/>
                <a:ea typeface="微软雅黑" panose="020B0503020204020204" pitchFamily="34" charset="-122"/>
              </a:rPr>
              <a:t>表统计信息及索引选用情况，估算的找到所需的记录所需要读取的行</a:t>
            </a:r>
            <a:r>
              <a:rPr lang="zh-CN" altLang="en-US" dirty="0" smtClean="0">
                <a:latin typeface="微软雅黑" panose="020B0503020204020204" pitchFamily="34" charset="-122"/>
                <a:ea typeface="微软雅黑" panose="020B0503020204020204" pitchFamily="34" charset="-122"/>
              </a:rPr>
              <a:t>数</a:t>
            </a:r>
            <a:endParaRPr lang="en-US" altLang="zh-CN" dirty="0" smtClean="0">
              <a:latin typeface="微软雅黑" panose="020B0503020204020204" pitchFamily="34" charset="-122"/>
              <a:ea typeface="微软雅黑" panose="020B0503020204020204" pitchFamily="34" charset="-122"/>
            </a:endParaRPr>
          </a:p>
          <a:p>
            <a:pPr marL="0" lvl="1" latinLnBrk="1"/>
            <a:endParaRPr lang="en-US" altLang="zh-CN" dirty="0" smtClean="0">
              <a:latin typeface="微软雅黑" panose="020B0503020204020204" pitchFamily="34" charset="-122"/>
              <a:ea typeface="微软雅黑" panose="020B0503020204020204" pitchFamily="34" charset="-122"/>
            </a:endParaRPr>
          </a:p>
          <a:p>
            <a:pPr marL="0" lvl="1" latinLnBrk="1"/>
            <a:r>
              <a:rPr lang="en-US" altLang="zh-CN" b="1" dirty="0" smtClean="0">
                <a:latin typeface="微软雅黑" pitchFamily="34" charset="-122"/>
                <a:ea typeface="微软雅黑" pitchFamily="34" charset="-122"/>
              </a:rPr>
              <a:t>Explain</a:t>
            </a:r>
            <a:r>
              <a:rPr lang="zh-CN" altLang="en-US" b="1" dirty="0" smtClean="0">
                <a:latin typeface="微软雅黑" pitchFamily="34" charset="-122"/>
                <a:ea typeface="微软雅黑" pitchFamily="34" charset="-122"/>
              </a:rPr>
              <a:t>不会告诉你的是：</a:t>
            </a:r>
            <a:endParaRPr lang="en-US" altLang="zh-CN" b="1" dirty="0" smtClean="0">
              <a:latin typeface="微软雅黑" pitchFamily="34" charset="-122"/>
              <a:ea typeface="微软雅黑" pitchFamily="34" charset="-122"/>
            </a:endParaRPr>
          </a:p>
          <a:p>
            <a:pPr marL="0" lvl="1" latinLnBrk="1"/>
            <a:r>
              <a:rPr lang="en-US" altLang="zh-CN" dirty="0" smtClean="0">
                <a:latin typeface="微软雅黑" pitchFamily="34" charset="-122"/>
                <a:ea typeface="微软雅黑" pitchFamily="34" charset="-122"/>
              </a:rPr>
              <a:t>  1</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explain</a:t>
            </a:r>
            <a:r>
              <a:rPr lang="zh-CN" altLang="en-US" dirty="0" smtClean="0">
                <a:latin typeface="微软雅黑" pitchFamily="34" charset="-122"/>
                <a:ea typeface="微软雅黑" pitchFamily="34" charset="-122"/>
              </a:rPr>
              <a:t>只能</a:t>
            </a:r>
            <a:r>
              <a:rPr lang="zh-CN" altLang="en-US" dirty="0" smtClean="0">
                <a:latin typeface="微软雅黑" pitchFamily="34" charset="-122"/>
                <a:ea typeface="微软雅黑" pitchFamily="34" charset="-122"/>
              </a:rPr>
              <a:t>用于简单查询</a:t>
            </a:r>
            <a:r>
              <a:rPr lang="zh-CN" altLang="en-US" dirty="0" smtClean="0">
                <a:latin typeface="微软雅黑" pitchFamily="34" charset="-122"/>
                <a:ea typeface="微软雅黑" pitchFamily="34" charset="-122"/>
              </a:rPr>
              <a:t>语句的分析；</a:t>
            </a:r>
            <a:endParaRPr lang="en-US" altLang="zh-CN" dirty="0" smtClean="0">
              <a:latin typeface="微软雅黑" pitchFamily="34" charset="-122"/>
              <a:ea typeface="微软雅黑" pitchFamily="34" charset="-122"/>
            </a:endParaRPr>
          </a:p>
          <a:p>
            <a:pPr marL="0" lvl="1" latinLnBrk="1"/>
            <a:r>
              <a:rPr lang="en-US" altLang="zh-CN" dirty="0" smtClean="0">
                <a:latin typeface="微软雅黑" pitchFamily="34" charset="-122"/>
                <a:ea typeface="微软雅黑" pitchFamily="34" charset="-122"/>
              </a:rPr>
              <a:t>  2</a:t>
            </a:r>
            <a:r>
              <a:rPr lang="zh-CN" altLang="en-US" dirty="0" smtClean="0">
                <a:latin typeface="微软雅黑" pitchFamily="34" charset="-122"/>
                <a:ea typeface="微软雅黑" pitchFamily="34" charset="-122"/>
              </a:rPr>
              <a:t>、不会展示所有</a:t>
            </a:r>
            <a:r>
              <a:rPr lang="en-US" altLang="zh-CN" dirty="0" smtClean="0">
                <a:latin typeface="微软雅黑" pitchFamily="34" charset="-122"/>
                <a:ea typeface="微软雅黑" pitchFamily="34" charset="-122"/>
              </a:rPr>
              <a:t>MySQL</a:t>
            </a:r>
            <a:r>
              <a:rPr lang="zh-CN" altLang="en-US" dirty="0" smtClean="0">
                <a:latin typeface="微软雅黑" pitchFamily="34" charset="-122"/>
                <a:ea typeface="微软雅黑" pitchFamily="34" charset="-122"/>
              </a:rPr>
              <a:t>优化细节；</a:t>
            </a:r>
            <a:endParaRPr lang="en-US" altLang="zh-CN" dirty="0" smtClean="0">
              <a:latin typeface="微软雅黑" pitchFamily="34" charset="-122"/>
              <a:ea typeface="微软雅黑" pitchFamily="34" charset="-122"/>
            </a:endParaRPr>
          </a:p>
          <a:p>
            <a:pPr marL="0" lvl="1" latinLnBrk="1"/>
            <a:r>
              <a:rPr lang="en-US" altLang="zh-CN" dirty="0" smtClean="0">
                <a:latin typeface="微软雅黑" pitchFamily="34" charset="-122"/>
                <a:ea typeface="微软雅黑" pitchFamily="34" charset="-122"/>
              </a:rPr>
              <a:t>  3</a:t>
            </a:r>
            <a:r>
              <a:rPr lang="zh-CN" altLang="en-US" dirty="0" smtClean="0">
                <a:latin typeface="微软雅黑" pitchFamily="34" charset="-122"/>
                <a:ea typeface="微软雅黑" pitchFamily="34" charset="-122"/>
              </a:rPr>
              <a:t>、不会考虑有</a:t>
            </a:r>
            <a:r>
              <a:rPr lang="en-US" altLang="zh-CN" dirty="0" smtClean="0">
                <a:latin typeface="微软雅黑" pitchFamily="34" charset="-122"/>
                <a:ea typeface="微软雅黑" pitchFamily="34" charset="-122"/>
              </a:rPr>
              <a:t>cache</a:t>
            </a:r>
            <a:r>
              <a:rPr lang="zh-CN" altLang="en-US" dirty="0" smtClean="0">
                <a:latin typeface="微软雅黑" pitchFamily="34" charset="-122"/>
                <a:ea typeface="微软雅黑" pitchFamily="34" charset="-122"/>
              </a:rPr>
              <a:t>、触发器、函数等的影响；</a:t>
            </a:r>
            <a:endParaRPr lang="en-US" altLang="zh-CN" dirty="0" smtClean="0">
              <a:latin typeface="微软雅黑" pitchFamily="34" charset="-122"/>
              <a:ea typeface="微软雅黑" pitchFamily="34" charset="-122"/>
            </a:endParaRPr>
          </a:p>
          <a:p>
            <a:pPr marL="0" lvl="1" latinLnBrk="1"/>
            <a:r>
              <a:rPr lang="en-US" altLang="zh-CN" dirty="0" smtClean="0">
                <a:latin typeface="微软雅黑" pitchFamily="34" charset="-122"/>
                <a:ea typeface="微软雅黑" pitchFamily="34" charset="-122"/>
              </a:rPr>
              <a:t>  4</a:t>
            </a:r>
            <a:r>
              <a:rPr lang="zh-CN" altLang="en-US" dirty="0" smtClean="0">
                <a:latin typeface="微软雅黑" pitchFamily="34" charset="-122"/>
                <a:ea typeface="微软雅黑" pitchFamily="34" charset="-122"/>
              </a:rPr>
              <a:t>、估计而非精确；</a:t>
            </a:r>
            <a:endParaRPr lang="en-US" altLang="zh-CN" dirty="0" smtClean="0">
              <a:latin typeface="微软雅黑" pitchFamily="34" charset="-122"/>
              <a:ea typeface="微软雅黑" pitchFamily="34" charset="-122"/>
            </a:endParaRPr>
          </a:p>
        </p:txBody>
      </p:sp>
      <p:pic>
        <p:nvPicPr>
          <p:cNvPr id="1025" name="Picture 1" descr="D://Users/yetc/AppData/Local/YNote/data/ytc270@163.com/9d183a4e21354df8a8d9bb29ee5ca43c/clipboar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533" y="1807470"/>
            <a:ext cx="8208912" cy="829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46607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rgbClr val="C00000"/>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zh-CN" altLang="en-US" sz="3600" dirty="0">
                <a:latin typeface="微软雅黑" pitchFamily="34" charset="-122"/>
                <a:ea typeface="微软雅黑" pitchFamily="34" charset="-122"/>
              </a:rPr>
              <a:t>索引注意事项</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a:t>主</a:t>
            </a:r>
            <a:r>
              <a:rPr lang="zh-CN" altLang="en-US" dirty="0" smtClean="0"/>
              <a:t>键问题</a:t>
            </a:r>
            <a:endParaRPr lang="zh-CN" altLang="en-US" dirty="0"/>
          </a:p>
        </p:txBody>
      </p:sp>
      <p:sp>
        <p:nvSpPr>
          <p:cNvPr id="8" name="矩形 7"/>
          <p:cNvSpPr/>
          <p:nvPr/>
        </p:nvSpPr>
        <p:spPr>
          <a:xfrm>
            <a:off x="1331640" y="2420888"/>
            <a:ext cx="6768752" cy="2532122"/>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r>
              <a:rPr lang="en-US" altLang="zh-CN" dirty="0" smtClean="0"/>
              <a:t>  </a:t>
            </a:r>
          </a:p>
          <a:p>
            <a:r>
              <a:rPr lang="en-US" altLang="zh-CN" dirty="0"/>
              <a:t> </a:t>
            </a:r>
            <a:r>
              <a:rPr lang="en-US" altLang="zh-CN" dirty="0" smtClean="0"/>
              <a:t> 1</a:t>
            </a:r>
            <a:r>
              <a:rPr lang="en-US" altLang="zh-CN" dirty="0"/>
              <a:t>: </a:t>
            </a:r>
            <a:r>
              <a:rPr lang="en-US" altLang="zh-CN" dirty="0" err="1" smtClean="0"/>
              <a:t>InnoDB</a:t>
            </a:r>
            <a:r>
              <a:rPr lang="zh-CN" altLang="en-US" dirty="0" smtClean="0"/>
              <a:t>主</a:t>
            </a:r>
            <a:r>
              <a:rPr lang="zh-CN" altLang="en-US" dirty="0"/>
              <a:t>键索引 既存储索引值</a:t>
            </a:r>
            <a:r>
              <a:rPr lang="en-US" altLang="zh-CN" dirty="0"/>
              <a:t>,</a:t>
            </a:r>
            <a:r>
              <a:rPr lang="zh-CN" altLang="en-US" dirty="0"/>
              <a:t>又在叶子中存储行的数据</a:t>
            </a:r>
          </a:p>
          <a:p>
            <a:r>
              <a:rPr lang="en-US" altLang="zh-CN" dirty="0" smtClean="0"/>
              <a:t>  2</a:t>
            </a:r>
            <a:r>
              <a:rPr lang="en-US" altLang="zh-CN" dirty="0"/>
              <a:t>: </a:t>
            </a:r>
            <a:r>
              <a:rPr lang="zh-CN" altLang="en-US" dirty="0"/>
              <a:t>如果没有主键</a:t>
            </a:r>
            <a:r>
              <a:rPr lang="en-US" altLang="zh-CN" dirty="0"/>
              <a:t>, </a:t>
            </a:r>
            <a:r>
              <a:rPr lang="zh-CN" altLang="en-US" dirty="0"/>
              <a:t>则会</a:t>
            </a:r>
            <a:r>
              <a:rPr lang="en-US" altLang="zh-CN" dirty="0"/>
              <a:t>Unique key</a:t>
            </a:r>
            <a:r>
              <a:rPr lang="zh-CN" altLang="en-US" dirty="0"/>
              <a:t>做主键 </a:t>
            </a:r>
            <a:r>
              <a:rPr lang="zh-CN" altLang="en-US" dirty="0" smtClean="0"/>
              <a:t>，如果</a:t>
            </a:r>
            <a:r>
              <a:rPr lang="zh-CN" altLang="en-US" dirty="0"/>
              <a:t>没有</a:t>
            </a:r>
            <a:r>
              <a:rPr lang="en-US" altLang="zh-CN" dirty="0"/>
              <a:t>unique,</a:t>
            </a:r>
            <a:r>
              <a:rPr lang="zh-CN" altLang="en-US" dirty="0"/>
              <a:t>则系统生成一个内部的</a:t>
            </a:r>
            <a:r>
              <a:rPr lang="en-US" altLang="zh-CN" dirty="0" err="1"/>
              <a:t>rowid</a:t>
            </a:r>
            <a:r>
              <a:rPr lang="zh-CN" altLang="en-US" dirty="0"/>
              <a:t>做主键</a:t>
            </a:r>
            <a:r>
              <a:rPr lang="en-US" altLang="zh-CN" dirty="0" smtClean="0"/>
              <a:t>.</a:t>
            </a:r>
          </a:p>
          <a:p>
            <a:r>
              <a:rPr lang="en-US" altLang="zh-CN" dirty="0"/>
              <a:t> </a:t>
            </a:r>
            <a:r>
              <a:rPr lang="en-US" altLang="zh-CN" dirty="0" smtClean="0"/>
              <a:t> </a:t>
            </a:r>
            <a:r>
              <a:rPr lang="en-US" altLang="zh-CN" dirty="0"/>
              <a:t>3</a:t>
            </a:r>
            <a:r>
              <a:rPr lang="en-US" altLang="zh-CN" dirty="0" smtClean="0"/>
              <a:t>. </a:t>
            </a:r>
            <a:r>
              <a:rPr lang="zh-CN" altLang="en-US" dirty="0" smtClean="0"/>
              <a:t>二级索引都会存储主键值，因此：</a:t>
            </a:r>
            <a:endParaRPr lang="en-US" altLang="zh-CN" dirty="0" smtClean="0"/>
          </a:p>
          <a:p>
            <a:r>
              <a:rPr lang="en-US" altLang="zh-CN" dirty="0"/>
              <a:t> </a:t>
            </a:r>
            <a:r>
              <a:rPr lang="en-US" altLang="zh-CN" dirty="0" smtClean="0"/>
              <a:t>           </a:t>
            </a:r>
            <a:r>
              <a:rPr lang="zh-CN" altLang="en-US" dirty="0" smtClean="0"/>
              <a:t>主键尽可能是小数据类型值；</a:t>
            </a:r>
            <a:endParaRPr lang="en-US" altLang="zh-CN" dirty="0" smtClean="0"/>
          </a:p>
          <a:p>
            <a:r>
              <a:rPr lang="en-US" altLang="zh-CN" dirty="0"/>
              <a:t> </a:t>
            </a:r>
            <a:r>
              <a:rPr lang="en-US" altLang="zh-CN" dirty="0" smtClean="0"/>
              <a:t>           </a:t>
            </a:r>
            <a:r>
              <a:rPr lang="zh-CN" altLang="en-US" dirty="0" smtClean="0"/>
              <a:t>尽量不要使用联合索引做主键；</a:t>
            </a:r>
            <a:endParaRPr lang="en-US" altLang="zh-CN" dirty="0" smtClean="0"/>
          </a:p>
          <a:p>
            <a:r>
              <a:rPr lang="en-US" altLang="zh-CN" dirty="0" smtClean="0"/>
              <a:t>  4. </a:t>
            </a:r>
            <a:r>
              <a:rPr lang="zh-CN" altLang="en-US" dirty="0">
                <a:solidFill>
                  <a:srgbClr val="FF0000"/>
                </a:solidFill>
              </a:rPr>
              <a:t>自</a:t>
            </a:r>
            <a:r>
              <a:rPr lang="zh-CN" altLang="en-US" dirty="0" smtClean="0">
                <a:solidFill>
                  <a:srgbClr val="FF0000"/>
                </a:solidFill>
              </a:rPr>
              <a:t>增属性的主键更有利于磁盘存储，减少页分裂。</a:t>
            </a:r>
            <a:endParaRPr lang="en-US" altLang="zh-CN" dirty="0" smtClean="0">
              <a:solidFill>
                <a:srgbClr val="FF0000"/>
              </a:solidFill>
            </a:endParaRPr>
          </a:p>
        </p:txBody>
      </p:sp>
    </p:spTree>
    <p:extLst>
      <p:ext uri="{BB962C8B-B14F-4D97-AF65-F5344CB8AC3E}">
        <p14:creationId xmlns:p14="http://schemas.microsoft.com/office/powerpoint/2010/main" val="2729770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rgbClr val="C00000"/>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zh-CN" altLang="en-US" sz="3600" dirty="0">
                <a:latin typeface="微软雅黑" pitchFamily="34" charset="-122"/>
                <a:ea typeface="微软雅黑" pitchFamily="34" charset="-122"/>
              </a:rPr>
              <a:t>索引注意事项</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smtClean="0"/>
              <a:t>索引失效</a:t>
            </a:r>
            <a:endParaRPr lang="zh-CN" altLang="en-US" dirty="0"/>
          </a:p>
        </p:txBody>
      </p:sp>
      <p:sp>
        <p:nvSpPr>
          <p:cNvPr id="8" name="矩形 7"/>
          <p:cNvSpPr/>
          <p:nvPr/>
        </p:nvSpPr>
        <p:spPr>
          <a:xfrm>
            <a:off x="1331640" y="1628800"/>
            <a:ext cx="6768752" cy="1152128"/>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r>
              <a:rPr lang="en-US" altLang="zh-CN" dirty="0" smtClean="0">
                <a:latin typeface="微软雅黑" pitchFamily="34" charset="-122"/>
                <a:ea typeface="微软雅黑" pitchFamily="34" charset="-122"/>
              </a:rPr>
              <a:t>  </a:t>
            </a:r>
          </a:p>
          <a:p>
            <a:r>
              <a:rPr lang="en-US" altLang="zh-CN" dirty="0" smtClean="0">
                <a:latin typeface="微软雅黑" pitchFamily="34" charset="-122"/>
                <a:ea typeface="微软雅黑" pitchFamily="34" charset="-122"/>
              </a:rPr>
              <a:t>BTREE</a:t>
            </a:r>
            <a:r>
              <a:rPr lang="zh-CN" altLang="en-US" dirty="0" smtClean="0">
                <a:latin typeface="微软雅黑" pitchFamily="34" charset="-122"/>
                <a:ea typeface="微软雅黑" pitchFamily="34" charset="-122"/>
              </a:rPr>
              <a:t>索引不支持左侧不明确的查询，如</a:t>
            </a:r>
            <a:r>
              <a:rPr lang="en-US" altLang="zh-CN" dirty="0" smtClean="0">
                <a:latin typeface="微软雅黑" pitchFamily="34" charset="-122"/>
                <a:ea typeface="微软雅黑" pitchFamily="34" charset="-122"/>
              </a:rPr>
              <a:t>’%</a:t>
            </a:r>
            <a:r>
              <a:rPr lang="en-US" altLang="zh-CN" dirty="0" err="1" smtClean="0">
                <a:latin typeface="微软雅黑" pitchFamily="34" charset="-122"/>
                <a:ea typeface="微软雅黑" pitchFamily="34" charset="-122"/>
              </a:rPr>
              <a:t>aa</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 。</a:t>
            </a:r>
            <a:endParaRPr lang="en-US" altLang="zh-CN" dirty="0" smtClean="0">
              <a:latin typeface="微软雅黑" pitchFamily="34" charset="-122"/>
              <a:ea typeface="微软雅黑" pitchFamily="34" charset="-122"/>
            </a:endParaRPr>
          </a:p>
        </p:txBody>
      </p:sp>
    </p:spTree>
    <p:extLst>
      <p:ext uri="{BB962C8B-B14F-4D97-AF65-F5344CB8AC3E}">
        <p14:creationId xmlns:p14="http://schemas.microsoft.com/office/powerpoint/2010/main" val="7645358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rgbClr val="C00000"/>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zh-CN" altLang="en-US" sz="3600" dirty="0">
                <a:latin typeface="微软雅黑" pitchFamily="34" charset="-122"/>
                <a:ea typeface="微软雅黑" pitchFamily="34" charset="-122"/>
              </a:rPr>
              <a:t>索引注意事项</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smtClean="0"/>
              <a:t>索引失效</a:t>
            </a:r>
            <a:endParaRPr lang="zh-CN" altLang="en-US" dirty="0"/>
          </a:p>
        </p:txBody>
      </p:sp>
      <p:sp>
        <p:nvSpPr>
          <p:cNvPr id="8" name="矩形 7"/>
          <p:cNvSpPr/>
          <p:nvPr/>
        </p:nvSpPr>
        <p:spPr>
          <a:xfrm>
            <a:off x="1331640" y="1628800"/>
            <a:ext cx="6768752" cy="2664296"/>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r>
              <a:rPr lang="en-US" altLang="zh-CN" dirty="0" smtClean="0">
                <a:latin typeface="微软雅黑" pitchFamily="34" charset="-122"/>
                <a:ea typeface="微软雅黑" pitchFamily="34" charset="-122"/>
              </a:rPr>
              <a:t>  </a:t>
            </a:r>
          </a:p>
          <a:p>
            <a:r>
              <a:rPr lang="zh-CN" altLang="en-US" dirty="0" smtClean="0">
                <a:latin typeface="微软雅黑" pitchFamily="34" charset="-122"/>
                <a:ea typeface="微软雅黑" pitchFamily="34" charset="-122"/>
              </a:rPr>
              <a:t>不能跳过索引中的</a:t>
            </a:r>
            <a:r>
              <a:rPr lang="zh-CN" altLang="en-US" dirty="0" smtClean="0">
                <a:latin typeface="微软雅黑" pitchFamily="34" charset="-122"/>
                <a:ea typeface="微软雅黑" pitchFamily="34" charset="-122"/>
              </a:rPr>
              <a:t>列。</a:t>
            </a:r>
            <a:endParaRPr lang="en-US" altLang="zh-CN" dirty="0" smtClean="0">
              <a:latin typeface="微软雅黑" pitchFamily="34" charset="-122"/>
              <a:ea typeface="微软雅黑" pitchFamily="34" charset="-122"/>
            </a:endParaRPr>
          </a:p>
          <a:p>
            <a:endParaRPr lang="en-US" altLang="zh-CN" dirty="0">
              <a:latin typeface="微软雅黑" pitchFamily="34" charset="-122"/>
              <a:ea typeface="微软雅黑" pitchFamily="34" charset="-122"/>
            </a:endParaRPr>
          </a:p>
          <a:p>
            <a:endParaRPr lang="en-US" altLang="zh-CN" dirty="0" smtClean="0">
              <a:latin typeface="微软雅黑" pitchFamily="34" charset="-122"/>
              <a:ea typeface="微软雅黑" pitchFamily="34" charset="-122"/>
            </a:endParaRPr>
          </a:p>
          <a:p>
            <a:r>
              <a:rPr lang="en-US" altLang="zh-CN" dirty="0" err="1">
                <a:latin typeface="微软雅黑" pitchFamily="34" charset="-122"/>
                <a:ea typeface="微软雅黑" pitchFamily="34" charset="-122"/>
              </a:rPr>
              <a:t>Idx_a</a:t>
            </a:r>
            <a:r>
              <a:rPr lang="en-US" altLang="zh-CN" dirty="0">
                <a:latin typeface="微软雅黑" pitchFamily="34" charset="-122"/>
                <a:ea typeface="微软雅黑" pitchFamily="34" charset="-122"/>
              </a:rPr>
              <a:t>(col1, col2, col3)</a:t>
            </a:r>
          </a:p>
          <a:p>
            <a:r>
              <a:rPr lang="zh-CN" altLang="en-US" dirty="0">
                <a:latin typeface="微软雅黑" pitchFamily="34" charset="-122"/>
                <a:ea typeface="微软雅黑" pitchFamily="34" charset="-122"/>
              </a:rPr>
              <a:t>相当于可以使用索引</a:t>
            </a:r>
            <a:r>
              <a:rPr lang="en-US" altLang="zh-CN" dirty="0">
                <a:latin typeface="微软雅黑" pitchFamily="34" charset="-122"/>
                <a:ea typeface="微软雅黑" pitchFamily="34" charset="-122"/>
              </a:rPr>
              <a:t>(col1), (col1, col2), (col1, col2, col3)</a:t>
            </a:r>
          </a:p>
          <a:p>
            <a:endParaRPr lang="en-US" altLang="zh-CN" dirty="0">
              <a:latin typeface="微软雅黑" pitchFamily="34" charset="-122"/>
              <a:ea typeface="微软雅黑" pitchFamily="34" charset="-122"/>
            </a:endParaRPr>
          </a:p>
          <a:p>
            <a:r>
              <a:rPr lang="zh-CN" altLang="en-US" dirty="0">
                <a:latin typeface="微软雅黑" pitchFamily="34" charset="-122"/>
                <a:ea typeface="微软雅黑" pitchFamily="34" charset="-122"/>
              </a:rPr>
              <a:t>但是查询条件为 </a:t>
            </a:r>
            <a:r>
              <a:rPr lang="en-US" altLang="zh-CN" dirty="0">
                <a:latin typeface="微软雅黑" pitchFamily="34" charset="-122"/>
                <a:ea typeface="微软雅黑" pitchFamily="34" charset="-122"/>
              </a:rPr>
              <a:t>col2=</a:t>
            </a:r>
            <a:r>
              <a:rPr lang="zh-CN" altLang="en-US" dirty="0">
                <a:latin typeface="微软雅黑" pitchFamily="34" charset="-122"/>
                <a:ea typeface="微软雅黑" pitchFamily="34" charset="-122"/>
              </a:rPr>
              <a:t>‘’ </a:t>
            </a:r>
            <a:r>
              <a:rPr lang="en-US" altLang="zh-CN" dirty="0">
                <a:latin typeface="微软雅黑" pitchFamily="34" charset="-122"/>
                <a:ea typeface="微软雅黑" pitchFamily="34" charset="-122"/>
              </a:rPr>
              <a:t>AND col3=‘’</a:t>
            </a:r>
            <a:r>
              <a:rPr lang="zh-CN" altLang="en-US" dirty="0">
                <a:latin typeface="微软雅黑" pitchFamily="34" charset="-122"/>
                <a:ea typeface="微软雅黑" pitchFamily="34" charset="-122"/>
              </a:rPr>
              <a:t>时无法命中索引。</a:t>
            </a:r>
            <a:endParaRPr lang="en-US" altLang="zh-CN" dirty="0">
              <a:latin typeface="微软雅黑" pitchFamily="34" charset="-122"/>
              <a:ea typeface="微软雅黑" pitchFamily="34" charset="-122"/>
            </a:endParaRPr>
          </a:p>
          <a:p>
            <a:r>
              <a:rPr lang="en-US" altLang="zh-CN" dirty="0">
                <a:latin typeface="微软雅黑" pitchFamily="34" charset="-122"/>
                <a:ea typeface="微软雅黑" pitchFamily="34" charset="-122"/>
              </a:rPr>
              <a:t>	</a:t>
            </a:r>
            <a:endParaRPr lang="en-US" altLang="zh-CN" dirty="0" smtClean="0">
              <a:latin typeface="微软雅黑" pitchFamily="34" charset="-122"/>
              <a:ea typeface="微软雅黑" pitchFamily="34" charset="-122"/>
            </a:endParaRPr>
          </a:p>
          <a:p>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a:p>
            <a:pPr lvl="1" latinLnBrk="1"/>
            <a:endParaRPr lang="en-US" altLang="zh-CN" dirty="0" smtClean="0">
              <a:latin typeface="微软雅黑" pitchFamily="34" charset="-122"/>
              <a:ea typeface="微软雅黑" pitchFamily="34" charset="-122"/>
            </a:endParaRPr>
          </a:p>
          <a:p>
            <a:pPr lvl="1" latinLnBrk="1"/>
            <a:endParaRPr lang="zh-CN" altLang="en-US" dirty="0">
              <a:latin typeface="微软雅黑" pitchFamily="34" charset="-122"/>
              <a:ea typeface="微软雅黑" pitchFamily="34" charset="-122"/>
            </a:endParaRPr>
          </a:p>
          <a:p>
            <a:pPr latinLnBrk="1"/>
            <a:endParaRPr lang="en-US" altLang="zh-CN" dirty="0" smtClean="0">
              <a:latin typeface="微软雅黑" pitchFamily="34" charset="-122"/>
              <a:ea typeface="微软雅黑" pitchFamily="34" charset="-122"/>
            </a:endParaRPr>
          </a:p>
        </p:txBody>
      </p:sp>
    </p:spTree>
    <p:extLst>
      <p:ext uri="{BB962C8B-B14F-4D97-AF65-F5344CB8AC3E}">
        <p14:creationId xmlns:p14="http://schemas.microsoft.com/office/powerpoint/2010/main" val="30440093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rgbClr val="C00000"/>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zh-CN" altLang="en-US" sz="3600" dirty="0">
                <a:latin typeface="微软雅黑" pitchFamily="34" charset="-122"/>
                <a:ea typeface="微软雅黑" pitchFamily="34" charset="-122"/>
              </a:rPr>
              <a:t>索引注意事项</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smtClean="0"/>
              <a:t>索引失效</a:t>
            </a:r>
            <a:endParaRPr lang="zh-CN" altLang="en-US" dirty="0"/>
          </a:p>
        </p:txBody>
      </p:sp>
      <p:sp>
        <p:nvSpPr>
          <p:cNvPr id="8" name="矩形 7"/>
          <p:cNvSpPr/>
          <p:nvPr/>
        </p:nvSpPr>
        <p:spPr>
          <a:xfrm>
            <a:off x="1331640" y="1628800"/>
            <a:ext cx="6768752" cy="3168352"/>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r>
              <a:rPr lang="en-US" altLang="zh-CN" dirty="0" smtClean="0">
                <a:latin typeface="微软雅黑" pitchFamily="34" charset="-122"/>
                <a:ea typeface="微软雅黑" pitchFamily="34" charset="-122"/>
              </a:rPr>
              <a:t>  </a:t>
            </a:r>
          </a:p>
          <a:p>
            <a:r>
              <a:rPr lang="zh-CN" altLang="en-US" dirty="0" smtClean="0">
                <a:latin typeface="微软雅黑" pitchFamily="34" charset="-122"/>
                <a:ea typeface="微软雅黑" pitchFamily="34" charset="-122"/>
              </a:rPr>
              <a:t>若查询中有某个列的范围查询，则其右侧的列无法</a:t>
            </a:r>
            <a:r>
              <a:rPr lang="zh-CN" altLang="en-US" dirty="0" smtClean="0">
                <a:latin typeface="微软雅黑" pitchFamily="34" charset="-122"/>
                <a:ea typeface="微软雅黑" pitchFamily="34" charset="-122"/>
              </a:rPr>
              <a:t>使用索引</a:t>
            </a:r>
            <a:endParaRPr lang="en-US" altLang="zh-CN" dirty="0" smtClean="0">
              <a:latin typeface="微软雅黑" pitchFamily="34" charset="-122"/>
              <a:ea typeface="微软雅黑" pitchFamily="34" charset="-122"/>
            </a:endParaRPr>
          </a:p>
          <a:p>
            <a:pPr lvl="1" latinLnBrk="1"/>
            <a:endParaRPr lang="zh-CN" altLang="en-US" dirty="0">
              <a:latin typeface="微软雅黑" pitchFamily="34" charset="-122"/>
              <a:ea typeface="微软雅黑" pitchFamily="34" charset="-122"/>
            </a:endParaRPr>
          </a:p>
          <a:p>
            <a:pPr latinLnBrk="1"/>
            <a:endParaRPr lang="en-US" altLang="zh-CN" dirty="0" smtClean="0">
              <a:latin typeface="微软雅黑" pitchFamily="34" charset="-122"/>
              <a:ea typeface="微软雅黑" pitchFamily="34" charset="-122"/>
            </a:endParaRPr>
          </a:p>
          <a:p>
            <a:pPr latinLnBrk="1"/>
            <a:endParaRPr lang="en-US" altLang="zh-CN" dirty="0">
              <a:latin typeface="微软雅黑" pitchFamily="34" charset="-122"/>
              <a:ea typeface="微软雅黑" pitchFamily="34" charset="-122"/>
            </a:endParaRPr>
          </a:p>
          <a:p>
            <a:pPr latinLnBrk="1"/>
            <a:r>
              <a:rPr lang="zh-CN" altLang="en-US" dirty="0" smtClean="0">
                <a:latin typeface="微软雅黑" pitchFamily="34" charset="-122"/>
                <a:ea typeface="微软雅黑" pitchFamily="34" charset="-122"/>
              </a:rPr>
              <a:t>即左侧列不确定时，右侧列索引将失效。</a:t>
            </a:r>
            <a:endParaRPr lang="en-US" altLang="zh-CN" dirty="0" smtClean="0">
              <a:latin typeface="微软雅黑" pitchFamily="34" charset="-122"/>
              <a:ea typeface="微软雅黑" pitchFamily="34" charset="-122"/>
            </a:endParaRPr>
          </a:p>
        </p:txBody>
      </p:sp>
    </p:spTree>
    <p:extLst>
      <p:ext uri="{BB962C8B-B14F-4D97-AF65-F5344CB8AC3E}">
        <p14:creationId xmlns:p14="http://schemas.microsoft.com/office/powerpoint/2010/main" val="16376737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rgbClr val="C00000"/>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zh-CN" altLang="en-US" sz="3600" dirty="0">
                <a:latin typeface="微软雅黑" pitchFamily="34" charset="-122"/>
                <a:ea typeface="微软雅黑" pitchFamily="34" charset="-122"/>
              </a:rPr>
              <a:t>索引注意事项</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smtClean="0"/>
              <a:t>索引失效</a:t>
            </a:r>
            <a:endParaRPr lang="zh-CN" altLang="en-US" dirty="0"/>
          </a:p>
        </p:txBody>
      </p:sp>
      <p:sp>
        <p:nvSpPr>
          <p:cNvPr id="8" name="矩形 7"/>
          <p:cNvSpPr/>
          <p:nvPr/>
        </p:nvSpPr>
        <p:spPr>
          <a:xfrm>
            <a:off x="1331640" y="1844824"/>
            <a:ext cx="7128792" cy="2664296"/>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r>
              <a:rPr lang="en-US" altLang="zh-CN" dirty="0" smtClean="0">
                <a:latin typeface="微软雅黑" pitchFamily="34" charset="-122"/>
                <a:ea typeface="微软雅黑" pitchFamily="34" charset="-122"/>
              </a:rPr>
              <a:t>  </a:t>
            </a:r>
          </a:p>
          <a:p>
            <a:r>
              <a:rPr lang="en-US" altLang="zh-CN" dirty="0">
                <a:latin typeface="微软雅黑" pitchFamily="34" charset="-122"/>
                <a:ea typeface="微软雅黑" pitchFamily="34" charset="-122"/>
              </a:rPr>
              <a:t> </a:t>
            </a:r>
            <a:r>
              <a:rPr lang="zh-CN" altLang="en-US" dirty="0" smtClean="0">
                <a:latin typeface="微软雅黑" pitchFamily="34" charset="-122"/>
                <a:ea typeface="微软雅黑" pitchFamily="34" charset="-122"/>
              </a:rPr>
              <a:t>检索列位于函数、存储过程入参中时，索引将</a:t>
            </a:r>
            <a:r>
              <a:rPr lang="zh-CN" altLang="en-US" dirty="0" smtClean="0">
                <a:latin typeface="微软雅黑" pitchFamily="34" charset="-122"/>
                <a:ea typeface="微软雅黑" pitchFamily="34" charset="-122"/>
              </a:rPr>
              <a:t>失效</a:t>
            </a:r>
            <a:endParaRPr lang="en-US" altLang="zh-CN" dirty="0" smtClean="0">
              <a:latin typeface="微软雅黑" pitchFamily="34" charset="-122"/>
              <a:ea typeface="微软雅黑" pitchFamily="34" charset="-122"/>
            </a:endParaRPr>
          </a:p>
          <a:p>
            <a:endParaRPr lang="en-US" altLang="zh-CN" dirty="0">
              <a:latin typeface="微软雅黑" pitchFamily="34" charset="-122"/>
              <a:ea typeface="微软雅黑" pitchFamily="34" charset="-122"/>
            </a:endParaRPr>
          </a:p>
          <a:p>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  </a:t>
            </a:r>
          </a:p>
          <a:p>
            <a:r>
              <a:rPr lang="en-US" altLang="zh-CN" dirty="0" smtClean="0">
                <a:latin typeface="微软雅黑" pitchFamily="34" charset="-122"/>
                <a:ea typeface="微软雅黑" pitchFamily="34" charset="-122"/>
              </a:rPr>
              <a:t>SELECT *</a:t>
            </a:r>
            <a:r>
              <a:rPr lang="zh-CN" altLang="en-US"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FROM </a:t>
            </a:r>
            <a:r>
              <a:rPr lang="en-US" altLang="zh-CN" dirty="0" err="1" smtClean="0">
                <a:latin typeface="微软雅黑" pitchFamily="34" charset="-122"/>
                <a:ea typeface="微软雅黑" pitchFamily="34" charset="-122"/>
              </a:rPr>
              <a:t>t_table</a:t>
            </a:r>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WHERE </a:t>
            </a:r>
            <a:r>
              <a:rPr lang="en-US" altLang="zh-CN" dirty="0" smtClean="0"/>
              <a:t>DATE_FORMAT(</a:t>
            </a:r>
            <a:r>
              <a:rPr lang="en-US" altLang="zh-CN" dirty="0" err="1" smtClean="0"/>
              <a:t>create_time</a:t>
            </a:r>
            <a:r>
              <a:rPr lang="en-US" altLang="zh-CN" dirty="0" smtClean="0"/>
              <a:t>, ‘%</a:t>
            </a:r>
            <a:r>
              <a:rPr lang="en-US" altLang="zh-CN" dirty="0"/>
              <a:t>Y-%m-%d %</a:t>
            </a:r>
            <a:r>
              <a:rPr lang="en-US" altLang="zh-CN" dirty="0" smtClean="0"/>
              <a:t>T’) &gt; ‘2019-01-01’ </a:t>
            </a:r>
          </a:p>
          <a:p>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AND </a:t>
            </a:r>
            <a:r>
              <a:rPr lang="en-US" altLang="zh-CN" dirty="0"/>
              <a:t>DATE_FORMAT(</a:t>
            </a:r>
            <a:r>
              <a:rPr lang="en-US" altLang="zh-CN" dirty="0" err="1"/>
              <a:t>create_time</a:t>
            </a:r>
            <a:r>
              <a:rPr lang="en-US" altLang="zh-CN" dirty="0"/>
              <a:t>, ‘%Y-%m-%d %T’) </a:t>
            </a:r>
            <a:r>
              <a:rPr lang="en-US" altLang="zh-CN" dirty="0" smtClean="0"/>
              <a:t>&lt; ‘2019-01-02’ </a:t>
            </a:r>
            <a:endParaRPr lang="zh-CN" altLang="en-US" dirty="0">
              <a:latin typeface="微软雅黑" pitchFamily="34" charset="-122"/>
              <a:ea typeface="微软雅黑" pitchFamily="34" charset="-122"/>
            </a:endParaRPr>
          </a:p>
          <a:p>
            <a:pPr lvl="1" latinLnBrk="1"/>
            <a:endParaRPr lang="en-US" altLang="zh-CN" dirty="0" smtClean="0">
              <a:latin typeface="微软雅黑" pitchFamily="34" charset="-122"/>
              <a:ea typeface="微软雅黑" pitchFamily="34" charset="-122"/>
            </a:endParaRPr>
          </a:p>
          <a:p>
            <a:pPr lvl="1" latinLnBrk="1"/>
            <a:endParaRPr lang="zh-CN" altLang="en-US" dirty="0">
              <a:latin typeface="微软雅黑" pitchFamily="34" charset="-122"/>
              <a:ea typeface="微软雅黑" pitchFamily="34" charset="-122"/>
            </a:endParaRPr>
          </a:p>
          <a:p>
            <a:pPr latinLnBrk="1"/>
            <a:endParaRPr lang="en-US" altLang="zh-CN" dirty="0" smtClean="0">
              <a:latin typeface="微软雅黑" pitchFamily="34" charset="-122"/>
              <a:ea typeface="微软雅黑" pitchFamily="34" charset="-122"/>
            </a:endParaRPr>
          </a:p>
        </p:txBody>
      </p:sp>
    </p:spTree>
    <p:extLst>
      <p:ext uri="{BB962C8B-B14F-4D97-AF65-F5344CB8AC3E}">
        <p14:creationId xmlns:p14="http://schemas.microsoft.com/office/powerpoint/2010/main" val="17425336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rgbClr val="C00000"/>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zh-CN" altLang="en-US" sz="3600" dirty="0">
                <a:latin typeface="微软雅黑" pitchFamily="34" charset="-122"/>
                <a:ea typeface="微软雅黑" pitchFamily="34" charset="-122"/>
              </a:rPr>
              <a:t>索引注意事项</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smtClean="0"/>
              <a:t>索引失效</a:t>
            </a:r>
            <a:endParaRPr lang="zh-CN" altLang="en-US" dirty="0"/>
          </a:p>
        </p:txBody>
      </p:sp>
      <p:sp>
        <p:nvSpPr>
          <p:cNvPr id="8" name="矩形 7"/>
          <p:cNvSpPr/>
          <p:nvPr/>
        </p:nvSpPr>
        <p:spPr>
          <a:xfrm>
            <a:off x="1331640" y="1628800"/>
            <a:ext cx="6768752" cy="720080"/>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r>
              <a:rPr lang="en-US" altLang="zh-CN" dirty="0" smtClean="0">
                <a:latin typeface="微软雅黑" pitchFamily="34" charset="-122"/>
                <a:ea typeface="微软雅黑" pitchFamily="34" charset="-122"/>
              </a:rPr>
              <a:t>MySQL</a:t>
            </a:r>
            <a:r>
              <a:rPr lang="zh-CN" altLang="en-US" dirty="0" smtClean="0">
                <a:latin typeface="微软雅黑" pitchFamily="34" charset="-122"/>
                <a:ea typeface="微软雅黑" pitchFamily="34" charset="-122"/>
              </a:rPr>
              <a:t>估计使用索引比全表扫描更慢，则不使用索引。当返回记录比例较大，</a:t>
            </a:r>
            <a:r>
              <a:rPr lang="en-US" altLang="zh-CN" dirty="0" smtClean="0">
                <a:latin typeface="微软雅黑" pitchFamily="34" charset="-122"/>
                <a:ea typeface="微软雅黑" pitchFamily="34" charset="-122"/>
              </a:rPr>
              <a:t>MySQL</a:t>
            </a:r>
            <a:r>
              <a:rPr lang="zh-CN" altLang="en-US" dirty="0" smtClean="0">
                <a:latin typeface="微软雅黑" pitchFamily="34" charset="-122"/>
                <a:ea typeface="微软雅黑" pitchFamily="34" charset="-122"/>
              </a:rPr>
              <a:t>预估扫描索引不如全表扫描。</a:t>
            </a:r>
            <a:endParaRPr lang="en-US" altLang="zh-CN" dirty="0" smtClean="0">
              <a:latin typeface="微软雅黑" pitchFamily="34" charset="-122"/>
              <a:ea typeface="微软雅黑" pitchFamily="34" charset="-122"/>
            </a:endParaRPr>
          </a:p>
        </p:txBody>
      </p:sp>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2996952"/>
            <a:ext cx="7975600"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104" y="4460552"/>
            <a:ext cx="7940104" cy="166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58559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rgbClr val="C00000"/>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zh-CN" altLang="en-US" sz="3600" dirty="0">
                <a:latin typeface="微软雅黑" pitchFamily="34" charset="-122"/>
                <a:ea typeface="微软雅黑" pitchFamily="34" charset="-122"/>
              </a:rPr>
              <a:t>索引注意事项</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smtClean="0"/>
              <a:t>索引失效</a:t>
            </a:r>
            <a:endParaRPr lang="zh-CN" altLang="en-US" dirty="0"/>
          </a:p>
        </p:txBody>
      </p:sp>
      <p:sp>
        <p:nvSpPr>
          <p:cNvPr id="8" name="矩形 7"/>
          <p:cNvSpPr/>
          <p:nvPr/>
        </p:nvSpPr>
        <p:spPr>
          <a:xfrm>
            <a:off x="1331640" y="1628800"/>
            <a:ext cx="6768752" cy="864096"/>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r>
              <a:rPr lang="en-US" altLang="zh-CN" dirty="0" smtClean="0">
                <a:latin typeface="微软雅黑" pitchFamily="34" charset="-122"/>
                <a:ea typeface="微软雅黑" pitchFamily="34" charset="-122"/>
              </a:rPr>
              <a:t>  </a:t>
            </a:r>
          </a:p>
          <a:p>
            <a:r>
              <a:rPr lang="en-US" altLang="zh-CN" dirty="0" smtClean="0">
                <a:latin typeface="微软雅黑" pitchFamily="34" charset="-122"/>
                <a:ea typeface="微软雅黑" pitchFamily="34" charset="-122"/>
              </a:rPr>
              <a:t>or </a:t>
            </a:r>
            <a:r>
              <a:rPr lang="zh-CN" altLang="en-US" dirty="0" smtClean="0">
                <a:latin typeface="微软雅黑" pitchFamily="34" charset="-122"/>
                <a:ea typeface="微软雅黑" pitchFamily="34" charset="-122"/>
              </a:rPr>
              <a:t>的两端有不是索引列，涉及索引都不会命中</a:t>
            </a:r>
            <a:endParaRPr lang="en-US" altLang="zh-CN" dirty="0" smtClean="0">
              <a:latin typeface="微软雅黑" pitchFamily="34" charset="-122"/>
              <a:ea typeface="微软雅黑" pitchFamily="34" charset="-122"/>
            </a:endParaRPr>
          </a:p>
          <a:p>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a:p>
            <a:pPr lvl="1" latinLnBrk="1"/>
            <a:endParaRPr lang="en-US" altLang="zh-CN" dirty="0" smtClean="0">
              <a:latin typeface="微软雅黑" pitchFamily="34" charset="-122"/>
              <a:ea typeface="微软雅黑" pitchFamily="34" charset="-122"/>
            </a:endParaRPr>
          </a:p>
          <a:p>
            <a:pPr lvl="1" latinLnBrk="1"/>
            <a:endParaRPr lang="zh-CN" altLang="en-US" dirty="0">
              <a:latin typeface="微软雅黑" pitchFamily="34" charset="-122"/>
              <a:ea typeface="微软雅黑" pitchFamily="34" charset="-122"/>
            </a:endParaRPr>
          </a:p>
          <a:p>
            <a:pPr latinLnBrk="1"/>
            <a:endParaRPr lang="en-US" altLang="zh-CN" dirty="0" smtClean="0">
              <a:latin typeface="微软雅黑" pitchFamily="34" charset="-122"/>
              <a:ea typeface="微软雅黑" pitchFamily="34" charset="-122"/>
            </a:endParaRPr>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606" y="2815780"/>
            <a:ext cx="7738807"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21903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rgbClr val="0070C0"/>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zh-CN" altLang="en-US" sz="3600" dirty="0">
                <a:latin typeface="微软雅黑" pitchFamily="34" charset="-122"/>
                <a:ea typeface="微软雅黑" pitchFamily="34" charset="-122"/>
              </a:rPr>
              <a:t>索引优化</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a:t>分</a:t>
            </a:r>
            <a:r>
              <a:rPr lang="zh-CN" altLang="en-US" dirty="0" smtClean="0"/>
              <a:t>页优化</a:t>
            </a:r>
            <a:endParaRPr lang="zh-CN" altLang="en-US" dirty="0"/>
          </a:p>
        </p:txBody>
      </p:sp>
      <p:sp>
        <p:nvSpPr>
          <p:cNvPr id="8" name="矩形 7"/>
          <p:cNvSpPr/>
          <p:nvPr/>
        </p:nvSpPr>
        <p:spPr>
          <a:xfrm>
            <a:off x="1317411" y="1700808"/>
            <a:ext cx="6768752" cy="720080"/>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r>
              <a:rPr lang="zh-CN" altLang="en-US" dirty="0" smtClean="0">
                <a:latin typeface="微软雅黑" pitchFamily="34" charset="-122"/>
                <a:ea typeface="微软雅黑" pitchFamily="34" charset="-122"/>
              </a:rPr>
              <a:t>在</a:t>
            </a:r>
            <a:r>
              <a:rPr lang="zh-CN" altLang="en-US" dirty="0" smtClean="0">
                <a:latin typeface="微软雅黑" pitchFamily="34" charset="-122"/>
                <a:ea typeface="微软雅黑" pitchFamily="34" charset="-122"/>
              </a:rPr>
              <a:t>索引上完成排序分页的操作，最后根据主键关联回原表查询所需要的其他列内容</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p:txBody>
      </p:sp>
      <p:pic>
        <p:nvPicPr>
          <p:cNvPr id="143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6056" y="4281884"/>
            <a:ext cx="779145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1723" y="2917681"/>
            <a:ext cx="7801458" cy="103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790857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rgbClr val="0070C0"/>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zh-CN" altLang="en-US" sz="3600" dirty="0">
                <a:latin typeface="微软雅黑" pitchFamily="34" charset="-122"/>
                <a:ea typeface="微软雅黑" pitchFamily="34" charset="-122"/>
              </a:rPr>
              <a:t>索引优化</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smtClean="0"/>
              <a:t>覆盖索引</a:t>
            </a:r>
            <a:endParaRPr lang="zh-CN" altLang="en-US" dirty="0"/>
          </a:p>
        </p:txBody>
      </p:sp>
      <p:sp>
        <p:nvSpPr>
          <p:cNvPr id="8" name="矩形 7"/>
          <p:cNvSpPr/>
          <p:nvPr/>
        </p:nvSpPr>
        <p:spPr>
          <a:xfrm>
            <a:off x="1331640" y="1628800"/>
            <a:ext cx="6768752" cy="1008112"/>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r>
              <a:rPr lang="zh-CN" altLang="en-US" dirty="0" smtClean="0">
                <a:latin typeface="微软雅黑" pitchFamily="34" charset="-122"/>
                <a:ea typeface="微软雅黑" pitchFamily="34" charset="-122"/>
              </a:rPr>
              <a:t>覆盖索引</a:t>
            </a:r>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如果一个索引包含所有需要查询的字段值，我们就称为‘索引覆盖’，覆盖索引可以不再回表查找再走一次主键索引。</a:t>
            </a:r>
            <a:r>
              <a:rPr lang="en-US" altLang="zh-CN" dirty="0">
                <a:latin typeface="微软雅黑" pitchFamily="34" charset="-122"/>
                <a:ea typeface="微软雅黑" pitchFamily="34" charset="-122"/>
              </a:rPr>
              <a:t>	</a:t>
            </a:r>
            <a:endParaRPr lang="en-US" altLang="zh-CN" dirty="0" smtClean="0">
              <a:latin typeface="微软雅黑" pitchFamily="34" charset="-122"/>
              <a:ea typeface="微软雅黑" pitchFamily="34" charset="-122"/>
            </a:endParaRPr>
          </a:p>
          <a:p>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a:p>
            <a:pPr lvl="1" latinLnBrk="1"/>
            <a:endParaRPr lang="en-US" altLang="zh-CN" dirty="0" smtClean="0">
              <a:latin typeface="微软雅黑" pitchFamily="34" charset="-122"/>
              <a:ea typeface="微软雅黑" pitchFamily="34" charset="-122"/>
            </a:endParaRPr>
          </a:p>
          <a:p>
            <a:pPr lvl="1" latinLnBrk="1"/>
            <a:endParaRPr lang="zh-CN" altLang="en-US" dirty="0">
              <a:latin typeface="微软雅黑" pitchFamily="34" charset="-122"/>
              <a:ea typeface="微软雅黑" pitchFamily="34" charset="-122"/>
            </a:endParaRPr>
          </a:p>
          <a:p>
            <a:pPr latinLnBrk="1"/>
            <a:endParaRPr lang="en-US" altLang="zh-CN" dirty="0" smtClean="0">
              <a:latin typeface="微软雅黑" pitchFamily="34" charset="-122"/>
              <a:ea typeface="微软雅黑" pitchFamily="34" charset="-122"/>
            </a:endParaRPr>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5680" y="2858203"/>
            <a:ext cx="5052640" cy="376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08256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rgbClr val="0070C0"/>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zh-CN" altLang="en-US" sz="3600" dirty="0">
                <a:latin typeface="微软雅黑" pitchFamily="34" charset="-122"/>
                <a:ea typeface="微软雅黑" pitchFamily="34" charset="-122"/>
              </a:rPr>
              <a:t>索引优化</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smtClean="0"/>
              <a:t>索引排序</a:t>
            </a:r>
            <a:endParaRPr lang="zh-CN" altLang="en-US" dirty="0"/>
          </a:p>
        </p:txBody>
      </p:sp>
      <p:sp>
        <p:nvSpPr>
          <p:cNvPr id="8" name="矩形 7"/>
          <p:cNvSpPr/>
          <p:nvPr/>
        </p:nvSpPr>
        <p:spPr>
          <a:xfrm>
            <a:off x="1331640" y="1628800"/>
            <a:ext cx="6768752" cy="4104456"/>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r>
              <a:rPr lang="en-US" altLang="zh-CN" dirty="0" smtClean="0">
                <a:latin typeface="微软雅黑" pitchFamily="34" charset="-122"/>
                <a:ea typeface="微软雅黑" pitchFamily="34" charset="-122"/>
              </a:rPr>
              <a:t>  </a:t>
            </a:r>
          </a:p>
          <a:p>
            <a:r>
              <a:rPr lang="zh-CN" altLang="en-US" dirty="0" smtClean="0">
                <a:latin typeface="微软雅黑" pitchFamily="34" charset="-122"/>
                <a:ea typeface="微软雅黑" pitchFamily="34" charset="-122"/>
              </a:rPr>
              <a:t>使用</a:t>
            </a:r>
            <a:r>
              <a:rPr lang="zh-CN" altLang="en-US" dirty="0" smtClean="0">
                <a:latin typeface="微软雅黑" pitchFamily="34" charset="-122"/>
                <a:ea typeface="微软雅黑" pitchFamily="34" charset="-122"/>
              </a:rPr>
              <a:t>索引扫描来做排序</a:t>
            </a:r>
            <a:endParaRPr lang="en-US" altLang="zh-CN" dirty="0" smtClean="0">
              <a:latin typeface="微软雅黑" pitchFamily="34" charset="-122"/>
              <a:ea typeface="微软雅黑" pitchFamily="34" charset="-122"/>
            </a:endParaRPr>
          </a:p>
          <a:p>
            <a:pPr marL="285750" indent="-285750">
              <a:buFont typeface="Arial" pitchFamily="34" charset="0"/>
              <a:buChar char="•"/>
            </a:pP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如果索引不能覆盖所需的全部列，那就不得不每扫描一条索引就都回表查询一次对应的行。</a:t>
            </a:r>
            <a:endParaRPr lang="en-US" altLang="zh-CN" dirty="0">
              <a:latin typeface="微软雅黑" pitchFamily="34" charset="-122"/>
              <a:ea typeface="微软雅黑" pitchFamily="34" charset="-122"/>
            </a:endParaRPr>
          </a:p>
          <a:p>
            <a:pPr marL="285750" indent="-285750">
              <a:buFont typeface="Arial" pitchFamily="34" charset="0"/>
              <a:buChar char="•"/>
            </a:pPr>
            <a:r>
              <a:rPr lang="en-US" altLang="zh-CN" dirty="0" smtClean="0">
                <a:latin typeface="微软雅黑" pitchFamily="34" charset="-122"/>
                <a:ea typeface="微软雅黑" pitchFamily="34" charset="-122"/>
              </a:rPr>
              <a:t>         MySQL</a:t>
            </a:r>
            <a:r>
              <a:rPr lang="zh-CN" altLang="en-US" dirty="0" smtClean="0">
                <a:latin typeface="微软雅黑" pitchFamily="34" charset="-122"/>
                <a:ea typeface="微软雅黑" pitchFamily="34" charset="-122"/>
              </a:rPr>
              <a:t>可以使用同一个索引既满足排序，又用于查找行。</a:t>
            </a:r>
            <a:endParaRPr lang="en-US" altLang="zh-CN" dirty="0">
              <a:latin typeface="微软雅黑" pitchFamily="34" charset="-122"/>
              <a:ea typeface="微软雅黑" pitchFamily="34" charset="-122"/>
            </a:endParaRPr>
          </a:p>
          <a:p>
            <a:pPr marL="285750" indent="-285750">
              <a:buFont typeface="Arial" pitchFamily="34" charset="0"/>
              <a:buChar char="•"/>
            </a:pP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只有</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当索引的列顺序和</a:t>
            </a:r>
            <a:r>
              <a:rPr lang="en-US" altLang="zh-CN" dirty="0" smtClean="0">
                <a:latin typeface="微软雅黑" pitchFamily="34" charset="-122"/>
                <a:ea typeface="微软雅黑" pitchFamily="34" charset="-122"/>
              </a:rPr>
              <a:t>ORDER BY</a:t>
            </a:r>
            <a:r>
              <a:rPr lang="zh-CN" altLang="en-US" dirty="0" smtClean="0">
                <a:latin typeface="微软雅黑" pitchFamily="34" charset="-122"/>
                <a:ea typeface="微软雅黑" pitchFamily="34" charset="-122"/>
              </a:rPr>
              <a:t>字句的顺序完全一致，并且所有列的排序方式与对应索引的排序方式都一样时，</a:t>
            </a:r>
            <a:r>
              <a:rPr lang="en-US" altLang="zh-CN" dirty="0" smtClean="0">
                <a:latin typeface="微软雅黑" pitchFamily="34" charset="-122"/>
                <a:ea typeface="微软雅黑" pitchFamily="34" charset="-122"/>
              </a:rPr>
              <a:t>MySQL</a:t>
            </a:r>
            <a:r>
              <a:rPr lang="zh-CN" altLang="en-US" dirty="0" smtClean="0">
                <a:latin typeface="微软雅黑" pitchFamily="34" charset="-122"/>
                <a:ea typeface="微软雅黑" pitchFamily="34" charset="-122"/>
              </a:rPr>
              <a:t>才能够使用索引来对结果排序。</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p>
          <a:p>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a:p>
            <a:pPr lvl="1" latinLnBrk="1"/>
            <a:endParaRPr lang="en-US" altLang="zh-CN" dirty="0" smtClean="0">
              <a:latin typeface="微软雅黑" pitchFamily="34" charset="-122"/>
              <a:ea typeface="微软雅黑" pitchFamily="34" charset="-122"/>
            </a:endParaRPr>
          </a:p>
          <a:p>
            <a:pPr lvl="1" latinLnBrk="1"/>
            <a:endParaRPr lang="zh-CN" altLang="en-US" dirty="0">
              <a:latin typeface="微软雅黑" pitchFamily="34" charset="-122"/>
              <a:ea typeface="微软雅黑" pitchFamily="34" charset="-122"/>
            </a:endParaRPr>
          </a:p>
          <a:p>
            <a:pPr latinLnBrk="1"/>
            <a:endParaRPr lang="en-US" altLang="zh-CN" dirty="0" smtClean="0">
              <a:latin typeface="微软雅黑" pitchFamily="34" charset="-122"/>
              <a:ea typeface="微软雅黑" pitchFamily="34" charset="-122"/>
            </a:endParaRPr>
          </a:p>
        </p:txBody>
      </p:sp>
    </p:spTree>
    <p:extLst>
      <p:ext uri="{BB962C8B-B14F-4D97-AF65-F5344CB8AC3E}">
        <p14:creationId xmlns:p14="http://schemas.microsoft.com/office/powerpoint/2010/main" val="41063718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a:solidFill>
            <a:srgbClr val="0070C0"/>
          </a:solidFill>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rmAutofit/>
          </a:bodyPr>
          <a:lstStyle/>
          <a:p>
            <a:pPr algn="l"/>
            <a:r>
              <a:rPr lang="zh-CN" altLang="en-US" sz="3600" dirty="0">
                <a:latin typeface="微软雅黑" pitchFamily="34" charset="-122"/>
                <a:ea typeface="微软雅黑" pitchFamily="34" charset="-122"/>
              </a:rPr>
              <a:t>索引优化</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smtClean="0"/>
              <a:t>索引列顺序</a:t>
            </a:r>
            <a:endParaRPr lang="zh-CN" altLang="en-US" dirty="0"/>
          </a:p>
        </p:txBody>
      </p:sp>
      <p:sp>
        <p:nvSpPr>
          <p:cNvPr id="8" name="矩形 7"/>
          <p:cNvSpPr/>
          <p:nvPr/>
        </p:nvSpPr>
        <p:spPr>
          <a:xfrm>
            <a:off x="1331640" y="1628800"/>
            <a:ext cx="6768752" cy="2532122"/>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r>
              <a:rPr lang="en-US" altLang="zh-CN" dirty="0" smtClean="0">
                <a:latin typeface="微软雅黑" pitchFamily="34" charset="-122"/>
                <a:ea typeface="微软雅黑" pitchFamily="34" charset="-122"/>
              </a:rPr>
              <a:t>  </a:t>
            </a:r>
          </a:p>
          <a:p>
            <a:r>
              <a:rPr lang="zh-CN" altLang="en-US" dirty="0" smtClean="0">
                <a:latin typeface="微软雅黑" pitchFamily="34" charset="-122"/>
                <a:ea typeface="微软雅黑" pitchFamily="34" charset="-122"/>
              </a:rPr>
              <a:t>当</a:t>
            </a:r>
            <a:r>
              <a:rPr lang="zh-CN" altLang="en-US" dirty="0" smtClean="0">
                <a:latin typeface="微软雅黑" pitchFamily="34" charset="-122"/>
                <a:ea typeface="微软雅黑" pitchFamily="34" charset="-122"/>
              </a:rPr>
              <a:t>不需要考虑排序和分组时，将选择性最高的列放在前面，对于优化</a:t>
            </a:r>
            <a:r>
              <a:rPr lang="en-US" altLang="zh-CN" dirty="0" smtClean="0">
                <a:latin typeface="微软雅黑" pitchFamily="34" charset="-122"/>
                <a:ea typeface="微软雅黑" pitchFamily="34" charset="-122"/>
              </a:rPr>
              <a:t>where</a:t>
            </a:r>
            <a:r>
              <a:rPr lang="zh-CN" altLang="en-US" dirty="0" smtClean="0">
                <a:latin typeface="微软雅黑" pitchFamily="34" charset="-122"/>
                <a:ea typeface="微软雅黑" pitchFamily="34" charset="-122"/>
              </a:rPr>
              <a:t>有更大的帮助</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endParaRPr lang="en-US" altLang="zh-CN" dirty="0">
              <a:latin typeface="微软雅黑" pitchFamily="34" charset="-122"/>
              <a:ea typeface="微软雅黑" pitchFamily="34" charset="-122"/>
            </a:endParaRPr>
          </a:p>
          <a:p>
            <a:r>
              <a:rPr lang="zh-CN" altLang="en-US" dirty="0" smtClean="0">
                <a:latin typeface="微软雅黑" pitchFamily="34" charset="-122"/>
                <a:ea typeface="微软雅黑" pitchFamily="34" charset="-122"/>
              </a:rPr>
              <a:t>性能</a:t>
            </a:r>
            <a:r>
              <a:rPr lang="zh-CN" altLang="en-US" dirty="0" smtClean="0">
                <a:latin typeface="微软雅黑" pitchFamily="34" charset="-122"/>
                <a:ea typeface="微软雅黑" pitchFamily="34" charset="-122"/>
              </a:rPr>
              <a:t>不只是依赖于索引列的选择性（整体基数），也和查询条件的具体值的分布有关；在不能很好的预测或得到值的分布影响时，最好将列的基数大者放多列索引的前面。</a:t>
            </a:r>
            <a:endParaRPr lang="en-US" altLang="zh-CN" dirty="0" smtClean="0">
              <a:latin typeface="微软雅黑" pitchFamily="34" charset="-122"/>
              <a:ea typeface="微软雅黑" pitchFamily="34" charset="-122"/>
            </a:endParaRPr>
          </a:p>
          <a:p>
            <a:pPr lvl="1" latinLnBrk="1"/>
            <a:endParaRPr lang="zh-CN" altLang="en-US" dirty="0">
              <a:latin typeface="微软雅黑" pitchFamily="34" charset="-122"/>
              <a:ea typeface="微软雅黑" pitchFamily="34" charset="-122"/>
            </a:endParaRPr>
          </a:p>
          <a:p>
            <a:pPr latinLnBrk="1"/>
            <a:endParaRPr lang="en-US" altLang="zh-CN" dirty="0" smtClean="0">
              <a:latin typeface="微软雅黑" pitchFamily="34" charset="-122"/>
              <a:ea typeface="微软雅黑" pitchFamily="34" charset="-122"/>
            </a:endParaRPr>
          </a:p>
        </p:txBody>
      </p:sp>
    </p:spTree>
    <p:extLst>
      <p:ext uri="{BB962C8B-B14F-4D97-AF65-F5344CB8AC3E}">
        <p14:creationId xmlns:p14="http://schemas.microsoft.com/office/powerpoint/2010/main" val="13490301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323528" y="2708920"/>
            <a:ext cx="8517632" cy="1143000"/>
          </a:xfrm>
        </p:spPr>
        <p:style>
          <a:lnRef idx="2">
            <a:schemeClr val="accent3">
              <a:shade val="50000"/>
            </a:schemeClr>
          </a:lnRef>
          <a:fillRef idx="1">
            <a:schemeClr val="accent3"/>
          </a:fillRef>
          <a:effectRef idx="0">
            <a:schemeClr val="accent3"/>
          </a:effectRef>
          <a:fontRef idx="minor">
            <a:schemeClr val="lt1"/>
          </a:fontRef>
        </p:style>
        <p:txBody>
          <a:bodyPr/>
          <a:lstStyle/>
          <a:p>
            <a:r>
              <a:rPr lang="en-US" altLang="zh-CN" dirty="0" smtClean="0">
                <a:latin typeface="微软雅黑" pitchFamily="34" charset="-122"/>
                <a:ea typeface="微软雅黑" pitchFamily="34" charset="-122"/>
              </a:rPr>
              <a:t>Thanks</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5224431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复合">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20583</TotalTime>
  <Words>1971</Words>
  <Application>Microsoft Office PowerPoint</Application>
  <PresentationFormat>全屏显示(4:3)</PresentationFormat>
  <Paragraphs>334</Paragraphs>
  <Slides>28</Slides>
  <Notes>28</Notes>
  <HiddenSlides>0</HiddenSlides>
  <MMClips>0</MMClips>
  <ScaleCrop>false</ScaleCrop>
  <HeadingPairs>
    <vt:vector size="4" baseType="variant">
      <vt:variant>
        <vt:lpstr>主题</vt:lpstr>
      </vt:variant>
      <vt:variant>
        <vt:i4>1</vt:i4>
      </vt:variant>
      <vt:variant>
        <vt:lpstr>幻灯片标题</vt:lpstr>
      </vt:variant>
      <vt:variant>
        <vt:i4>28</vt:i4>
      </vt:variant>
    </vt:vector>
  </HeadingPairs>
  <TitlesOfParts>
    <vt:vector size="29" baseType="lpstr">
      <vt:lpstr>Office 主题</vt:lpstr>
      <vt:lpstr>MySQL InnoDB BTREE索引使用</vt:lpstr>
      <vt:lpstr>目录</vt:lpstr>
      <vt:lpstr>MySQL索引简介</vt:lpstr>
      <vt:lpstr>MySQL索引简介-存储引擎</vt:lpstr>
      <vt:lpstr>MySQL索引简介-存储引擎</vt:lpstr>
      <vt:lpstr>MySQL索引简介-支持的索引</vt:lpstr>
      <vt:lpstr>MySQL索引简介</vt:lpstr>
      <vt:lpstr>MySQL索引简介-索引实现</vt:lpstr>
      <vt:lpstr>MySQL索引简介</vt:lpstr>
      <vt:lpstr>MySQL索引简介</vt:lpstr>
      <vt:lpstr>MySQL索引简介</vt:lpstr>
      <vt:lpstr>MySQL索引使用</vt:lpstr>
      <vt:lpstr>MySQL索引使用</vt:lpstr>
      <vt:lpstr>MySQL索引使用</vt:lpstr>
      <vt:lpstr>MySQL索引使用</vt:lpstr>
      <vt:lpstr>MySQL索引使用</vt:lpstr>
      <vt:lpstr>索引注意事项</vt:lpstr>
      <vt:lpstr>索引注意事项</vt:lpstr>
      <vt:lpstr>索引注意事项</vt:lpstr>
      <vt:lpstr>索引注意事项</vt:lpstr>
      <vt:lpstr>索引注意事项</vt:lpstr>
      <vt:lpstr>索引注意事项</vt:lpstr>
      <vt:lpstr>索引注意事项</vt:lpstr>
      <vt:lpstr>索引优化</vt:lpstr>
      <vt:lpstr>索引优化</vt:lpstr>
      <vt:lpstr>索引优化</vt:lpstr>
      <vt:lpstr>索引优化</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Kafka消息系统</dc:title>
  <dc:creator>张帆</dc:creator>
  <cp:lastModifiedBy>叶腾超</cp:lastModifiedBy>
  <cp:revision>830</cp:revision>
  <dcterms:created xsi:type="dcterms:W3CDTF">2017-09-25T01:39:17Z</dcterms:created>
  <dcterms:modified xsi:type="dcterms:W3CDTF">2019-04-19T07:33:59Z</dcterms:modified>
</cp:coreProperties>
</file>
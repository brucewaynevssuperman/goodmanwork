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390" r:id="rId4"/>
    <p:sldId id="341" r:id="rId5"/>
    <p:sldId id="363" r:id="rId6"/>
    <p:sldId id="358" r:id="rId7"/>
    <p:sldId id="372" r:id="rId8"/>
    <p:sldId id="374" r:id="rId9"/>
    <p:sldId id="361" r:id="rId10"/>
    <p:sldId id="364" r:id="rId11"/>
    <p:sldId id="348" r:id="rId12"/>
    <p:sldId id="391" r:id="rId13"/>
    <p:sldId id="389" r:id="rId14"/>
    <p:sldId id="366" r:id="rId15"/>
    <p:sldId id="368" r:id="rId16"/>
    <p:sldId id="356" r:id="rId17"/>
    <p:sldId id="354" r:id="rId18"/>
    <p:sldId id="370" r:id="rId19"/>
    <p:sldId id="355" r:id="rId20"/>
    <p:sldId id="353" r:id="rId21"/>
    <p:sldId id="351" r:id="rId22"/>
    <p:sldId id="357" r:id="rId23"/>
    <p:sldId id="349" r:id="rId24"/>
    <p:sldId id="347" r:id="rId25"/>
    <p:sldId id="401" r:id="rId26"/>
    <p:sldId id="379" r:id="rId27"/>
    <p:sldId id="350" r:id="rId28"/>
    <p:sldId id="373" r:id="rId29"/>
    <p:sldId id="365" r:id="rId30"/>
    <p:sldId id="399" r:id="rId31"/>
    <p:sldId id="404" r:id="rId32"/>
    <p:sldId id="392" r:id="rId33"/>
    <p:sldId id="352" r:id="rId34"/>
    <p:sldId id="367" r:id="rId35"/>
    <p:sldId id="383" r:id="rId36"/>
    <p:sldId id="384" r:id="rId37"/>
    <p:sldId id="400" r:id="rId38"/>
    <p:sldId id="387" r:id="rId39"/>
    <p:sldId id="393" r:id="rId40"/>
    <p:sldId id="386" r:id="rId41"/>
    <p:sldId id="403" r:id="rId42"/>
    <p:sldId id="397" r:id="rId43"/>
    <p:sldId id="388" r:id="rId44"/>
    <p:sldId id="402" r:id="rId45"/>
    <p:sldId id="395" r:id="rId46"/>
    <p:sldId id="377" r:id="rId47"/>
    <p:sldId id="276" r:id="rId48"/>
  </p:sldIdLst>
  <p:sldSz cx="12190413" cy="6840538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ED6"/>
    <a:srgbClr val="88E838"/>
    <a:srgbClr val="0088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 autoAdjust="0"/>
    <p:restoredTop sz="88767" autoAdjust="0"/>
  </p:normalViewPr>
  <p:slideViewPr>
    <p:cSldViewPr>
      <p:cViewPr>
        <p:scale>
          <a:sx n="74" d="100"/>
          <a:sy n="74" d="100"/>
        </p:scale>
        <p:origin x="-979" y="-144"/>
      </p:cViewPr>
      <p:guideLst>
        <p:guide orient="horz" pos="2154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-3139" y="-8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71163A-2D27-4ACC-9273-13E73CED2A3F}" type="datetimeFigureOut">
              <a:rPr lang="zh-CN" altLang="en-US" smtClean="0"/>
              <a:t>2019-8-21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74650" y="685800"/>
            <a:ext cx="61087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64E0C-8B64-4036-B2BC-04C59079E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563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smtClean="0">
                <a:latin typeface="微软雅黑" pitchFamily="34" charset="-122"/>
                <a:ea typeface="微软雅黑" pitchFamily="34" charset="-122"/>
              </a:rPr>
              <a:t>高性能的虚拟机平台（</a:t>
            </a:r>
            <a:r>
              <a:rPr lang="en-US" altLang="zh-CN" sz="1200" b="0" smtClean="0">
                <a:latin typeface="微软雅黑" pitchFamily="34" charset="-122"/>
                <a:ea typeface="微软雅黑" pitchFamily="34" charset="-122"/>
              </a:rPr>
              <a:t>VMware</a:t>
            </a:r>
            <a:r>
              <a:rPr lang="zh-CN" altLang="en-US" sz="1200" b="0" smtClean="0">
                <a:latin typeface="微软雅黑" pitchFamily="34" charset="-122"/>
                <a:ea typeface="微软雅黑" pitchFamily="34" charset="-122"/>
              </a:rPr>
              <a:t>），区别在于</a:t>
            </a:r>
            <a:r>
              <a:rPr lang="en-US" altLang="zh-CN" sz="1200" b="0" smtClean="0">
                <a:latin typeface="微软雅黑" pitchFamily="34" charset="-122"/>
                <a:ea typeface="微软雅黑" pitchFamily="34" charset="-122"/>
              </a:rPr>
              <a:t>VM</a:t>
            </a:r>
            <a:r>
              <a:rPr lang="zh-CN" altLang="en-US" sz="1200" b="0" smtClean="0">
                <a:latin typeface="微软雅黑" pitchFamily="34" charset="-122"/>
                <a:ea typeface="微软雅黑" pitchFamily="34" charset="-122"/>
              </a:rPr>
              <a:t>平台提供的是虚拟物理主机，你可以在之上安装任何其他操作系统。 </a:t>
            </a:r>
            <a:endParaRPr lang="en-US" altLang="zh-CN" sz="1200" b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200" b="0" smtClean="0">
                <a:latin typeface="微软雅黑" pitchFamily="34" charset="-122"/>
                <a:ea typeface="微软雅黑" pitchFamily="34" charset="-122"/>
              </a:rPr>
              <a:t>Docker</a:t>
            </a:r>
            <a:r>
              <a:rPr lang="zh-CN" altLang="en-US" sz="1200" b="0" smtClean="0">
                <a:latin typeface="微软雅黑" pitchFamily="34" charset="-122"/>
                <a:ea typeface="微软雅黑" pitchFamily="34" charset="-122"/>
              </a:rPr>
              <a:t>提供的是</a:t>
            </a:r>
            <a:r>
              <a:rPr lang="en-US" altLang="zh-CN" sz="1200" b="0" smtClean="0">
                <a:latin typeface="微软雅黑" pitchFamily="34" charset="-122"/>
                <a:ea typeface="微软雅黑" pitchFamily="34" charset="-122"/>
              </a:rPr>
              <a:t>Linux</a:t>
            </a:r>
            <a:r>
              <a:rPr lang="zh-CN" altLang="en-US" sz="1200" b="0" smtClean="0">
                <a:latin typeface="微软雅黑" pitchFamily="34" charset="-122"/>
                <a:ea typeface="微软雅黑" pitchFamily="34" charset="-122"/>
              </a:rPr>
              <a:t>虚拟操作系统，把你电脑上的各种运行环境打包（像</a:t>
            </a:r>
            <a:r>
              <a:rPr lang="en-US" altLang="zh-CN" sz="1200" b="0" smtClean="0">
                <a:latin typeface="微软雅黑" pitchFamily="34" charset="-122"/>
                <a:ea typeface="微软雅黑" pitchFamily="34" charset="-122"/>
              </a:rPr>
              <a:t>Window</a:t>
            </a:r>
            <a:r>
              <a:rPr lang="zh-CN" altLang="en-US" sz="1200" b="0" smtClean="0">
                <a:latin typeface="微软雅黑" pitchFamily="34" charset="-122"/>
                <a:ea typeface="微软雅黑" pitchFamily="34" charset="-122"/>
              </a:rPr>
              <a:t>的克隆</a:t>
            </a:r>
            <a:r>
              <a:rPr lang="en-US" altLang="zh-CN" sz="1200" b="0" smtClean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1200" b="0" smtClean="0">
                <a:latin typeface="微软雅黑" pitchFamily="34" charset="-122"/>
                <a:ea typeface="微软雅黑" pitchFamily="34" charset="-122"/>
              </a:rPr>
              <a:t>盘）成镜象，</a:t>
            </a:r>
            <a:endParaRPr lang="en-US" altLang="zh-CN" sz="1200" b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200" b="0" smtClean="0">
                <a:latin typeface="微软雅黑" pitchFamily="34" charset="-122"/>
                <a:ea typeface="微软雅黑" pitchFamily="34" charset="-122"/>
              </a:rPr>
              <a:t>然后把镜象上传到提供有</a:t>
            </a:r>
            <a:r>
              <a:rPr lang="en-US" altLang="zh-CN" sz="1200" b="0" smtClean="0">
                <a:latin typeface="微软雅黑" pitchFamily="34" charset="-122"/>
                <a:ea typeface="微软雅黑" pitchFamily="34" charset="-122"/>
              </a:rPr>
              <a:t>DK</a:t>
            </a:r>
            <a:r>
              <a:rPr lang="zh-CN" altLang="en-US" sz="1200" b="0" smtClean="0">
                <a:latin typeface="微软雅黑" pitchFamily="34" charset="-122"/>
                <a:ea typeface="微软雅黑" pitchFamily="34" charset="-122"/>
              </a:rPr>
              <a:t>环境的云平台，这时云平台能够加载镜象并还原出应用系统需要的运行环境。</a:t>
            </a:r>
            <a:endParaRPr lang="en-US" altLang="zh-CN" sz="1200" b="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200" b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 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是世界领先的软件容器平台。</a:t>
            </a:r>
          </a:p>
          <a:p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使用 </a:t>
            </a:r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Google 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公司推出的 </a:t>
            </a:r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 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语言 进行开发实现，基于 </a:t>
            </a:r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Linux 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内核 的</a:t>
            </a:r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cgroup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namespace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，以及</a:t>
            </a:r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AUFS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类的</a:t>
            </a:r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UnionFS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等技术，对进程进行封装隔离，属于操作系统层面的虚拟化技术。 由于隔离的进程独立于宿主和其它的隔离的进 程，因此也称其为容器。</a:t>
            </a:r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最初实现是基于 </a:t>
            </a:r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LXC.</a:t>
            </a:r>
            <a:endParaRPr lang="zh-CN" altLang="en-US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 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能够自动执行重复性任务，例如搭建和配置开发环境，从而解放了开发人员以便他们专注在真正重要的事情上：构建杰出的软件。</a:t>
            </a:r>
          </a:p>
          <a:p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用户可以方便地创建和使用容器，把自己的应用放入容器。容器还可以进行版本管理、复制、分享、修改，就像管理普通的代码一样。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smtClean="0">
                <a:latin typeface="微软雅黑" pitchFamily="34" charset="-122"/>
                <a:ea typeface="微软雅黑" pitchFamily="34" charset="-122"/>
              </a:rPr>
              <a:t>Docker</a:t>
            </a:r>
            <a:r>
              <a:rPr lang="zh-CN" altLang="en-US" sz="1200" b="1" smtClean="0">
                <a:latin typeface="微软雅黑" pitchFamily="34" charset="-122"/>
                <a:ea typeface="微软雅黑" pitchFamily="34" charset="-122"/>
              </a:rPr>
              <a:t>相比于传统虚拟化方式具有更多的优势：</a:t>
            </a:r>
            <a:endParaRPr lang="zh-CN" altLang="en-US" sz="12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200" b="1" smtClean="0">
                <a:latin typeface="微软雅黑" pitchFamily="34" charset="-122"/>
                <a:ea typeface="微软雅黑" pitchFamily="34" charset="-122"/>
              </a:rPr>
              <a:t>启动时间：</a:t>
            </a:r>
            <a:r>
              <a:rPr lang="en-US" altLang="zh-CN" sz="1200" b="0" smtClean="0">
                <a:latin typeface="微软雅黑" pitchFamily="34" charset="-122"/>
                <a:ea typeface="微软雅黑" pitchFamily="34" charset="-122"/>
              </a:rPr>
              <a:t>D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ocker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启动快速属于秒级别。虚拟机通常需要几分钟去启动</a:t>
            </a:r>
          </a:p>
          <a:p>
            <a:r>
              <a:rPr lang="zh-CN" altLang="en-US" sz="1200" b="1" smtClean="0">
                <a:latin typeface="微软雅黑" pitchFamily="34" charset="-122"/>
                <a:ea typeface="微软雅黑" pitchFamily="34" charset="-122"/>
              </a:rPr>
              <a:t>性能比较：</a:t>
            </a:r>
            <a:r>
              <a:rPr lang="en-US" altLang="zh-CN" sz="1200" b="0" smtClean="0">
                <a:latin typeface="微软雅黑" pitchFamily="34" charset="-122"/>
                <a:ea typeface="微软雅黑" pitchFamily="34" charset="-122"/>
              </a:rPr>
              <a:t>D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ocker</a:t>
            </a:r>
            <a:r>
              <a:rPr lang="zh-CN" altLang="en-US" sz="1200" b="0" smtClean="0">
                <a:latin typeface="微软雅黑" pitchFamily="34" charset="-122"/>
                <a:ea typeface="微软雅黑" pitchFamily="34" charset="-122"/>
              </a:rPr>
              <a:t>需要的资源更少， </a:t>
            </a:r>
            <a:r>
              <a:rPr lang="en-US" altLang="zh-CN" sz="1200" b="0" smtClean="0">
                <a:latin typeface="微软雅黑" pitchFamily="34" charset="-122"/>
                <a:ea typeface="微软雅黑" pitchFamily="34" charset="-122"/>
              </a:rPr>
              <a:t>D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ocker</a:t>
            </a:r>
            <a:r>
              <a:rPr lang="zh-CN" altLang="en-US" sz="1200" b="0" smtClean="0">
                <a:latin typeface="微软雅黑" pitchFamily="34" charset="-122"/>
                <a:ea typeface="微软雅黑" pitchFamily="34" charset="-122"/>
              </a:rPr>
              <a:t>在操作系统级别进行虚拟化，</a:t>
            </a:r>
            <a:r>
              <a:rPr lang="en-US" altLang="zh-CN" sz="1200" b="0" smtClean="0">
                <a:latin typeface="微软雅黑" pitchFamily="34" charset="-122"/>
                <a:ea typeface="微软雅黑" pitchFamily="34" charset="-122"/>
              </a:rPr>
              <a:t>D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ocker</a:t>
            </a:r>
            <a:r>
              <a:rPr lang="zh-CN" altLang="en-US" sz="1200" b="0" smtClean="0">
                <a:latin typeface="微软雅黑" pitchFamily="34" charset="-122"/>
                <a:ea typeface="微软雅黑" pitchFamily="34" charset="-122"/>
              </a:rPr>
              <a:t>容器和内核交互，几乎没有性能损耗，性能优于通过</a:t>
            </a:r>
            <a:r>
              <a:rPr lang="en-US" altLang="zh-CN" sz="1200" b="0" smtClean="0">
                <a:latin typeface="微软雅黑" pitchFamily="34" charset="-122"/>
                <a:ea typeface="微软雅黑" pitchFamily="34" charset="-122"/>
              </a:rPr>
              <a:t>Hypervisor</a:t>
            </a:r>
            <a:r>
              <a:rPr lang="zh-CN" altLang="en-US" sz="1200" b="0" smtClean="0">
                <a:latin typeface="微软雅黑" pitchFamily="34" charset="-122"/>
                <a:ea typeface="微软雅黑" pitchFamily="34" charset="-122"/>
              </a:rPr>
              <a:t>层与内核层的虚拟化</a:t>
            </a:r>
          </a:p>
          <a:p>
            <a:r>
              <a:rPr lang="zh-CN" altLang="en-US" sz="1200" b="1" smtClean="0">
                <a:latin typeface="微软雅黑" pitchFamily="34" charset="-122"/>
                <a:ea typeface="微软雅黑" pitchFamily="34" charset="-122"/>
              </a:rPr>
              <a:t>存储：</a:t>
            </a:r>
            <a:r>
              <a:rPr lang="en-US" altLang="zh-CN" sz="1200" b="0" smtClean="0">
                <a:latin typeface="微软雅黑" pitchFamily="34" charset="-122"/>
                <a:ea typeface="微软雅黑" pitchFamily="34" charset="-122"/>
              </a:rPr>
              <a:t>D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ocker</a:t>
            </a:r>
            <a:r>
              <a:rPr lang="zh-CN" altLang="en-US" sz="1200" b="0" smtClean="0">
                <a:latin typeface="微软雅黑" pitchFamily="34" charset="-122"/>
                <a:ea typeface="微软雅黑" pitchFamily="34" charset="-122"/>
              </a:rPr>
              <a:t>更轻量，</a:t>
            </a:r>
            <a:r>
              <a:rPr lang="en-US" altLang="zh-CN" sz="1200" b="0" smtClean="0">
                <a:latin typeface="微软雅黑" pitchFamily="34" charset="-122"/>
                <a:ea typeface="微软雅黑" pitchFamily="34" charset="-122"/>
              </a:rPr>
              <a:t>D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ocker</a:t>
            </a:r>
            <a:r>
              <a:rPr lang="zh-CN" altLang="en-US" sz="1200" b="0" smtClean="0">
                <a:latin typeface="微软雅黑" pitchFamily="34" charset="-122"/>
                <a:ea typeface="微软雅黑" pitchFamily="34" charset="-122"/>
              </a:rPr>
              <a:t>的架构可以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共用一个内核与共享应用程序库，所占内存极小。</a:t>
            </a:r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200" b="1" smtClean="0">
                <a:latin typeface="微软雅黑" pitchFamily="34" charset="-122"/>
                <a:ea typeface="微软雅黑" pitchFamily="34" charset="-122"/>
              </a:rPr>
              <a:t>集群规模：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同样的硬件环境， 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Docker 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运行的镜像数远多于虚拟机数量，对系统的利用率非常高</a:t>
            </a:r>
          </a:p>
          <a:p>
            <a:r>
              <a:rPr lang="zh-CN" altLang="en-US" sz="1200" b="1" smtClean="0">
                <a:latin typeface="微软雅黑" pitchFamily="34" charset="-122"/>
                <a:ea typeface="微软雅黑" pitchFamily="34" charset="-122"/>
              </a:rPr>
              <a:t>隔离级别：</a:t>
            </a:r>
            <a:r>
              <a:rPr lang="en-US" altLang="zh-CN" sz="1200" b="0" smtClean="0">
                <a:latin typeface="微软雅黑" pitchFamily="34" charset="-122"/>
                <a:ea typeface="微软雅黑" pitchFamily="34" charset="-122"/>
              </a:rPr>
              <a:t>D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ocker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属于进程之间的隔离，虚拟机可实现系统级别隔离，与虚拟机相比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docker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隔离性更弱 </a:t>
            </a:r>
          </a:p>
          <a:p>
            <a:r>
              <a:rPr lang="zh-CN" altLang="en-US" sz="1200" b="1" smtClean="0">
                <a:latin typeface="微软雅黑" pitchFamily="34" charset="-122"/>
                <a:ea typeface="微软雅黑" pitchFamily="34" charset="-122"/>
              </a:rPr>
              <a:t>安全性：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 </a:t>
            </a:r>
            <a:r>
              <a:rPr lang="en-US" altLang="zh-CN" sz="1200" b="0" smtClean="0">
                <a:latin typeface="微软雅黑" pitchFamily="34" charset="-122"/>
                <a:ea typeface="微软雅黑" pitchFamily="34" charset="-122"/>
              </a:rPr>
              <a:t>D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ocker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的安全性也更弱。 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Docker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的租户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root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和宿主机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root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等同，一旦容器内的用户从普通用户权限提升为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root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权限，它就直接具备了宿主机的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root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权限，进而可进行无限制的操作。虚拟机租户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root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权限和宿主机的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root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虚拟机权限是分离的，并且虚拟机利用如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Intel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VT-d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VT-x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ring-1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硬件隔离技术，这种隔离技术可以防止虚拟机突破和彼此交互，而容器至今还没有任何形式的硬件隔离，这使得容器容易受到攻击</a:t>
            </a:r>
          </a:p>
          <a:p>
            <a:r>
              <a:rPr lang="zh-CN" altLang="en-US" sz="1200" b="1" smtClean="0">
                <a:latin typeface="微软雅黑" pitchFamily="34" charset="-122"/>
                <a:ea typeface="微软雅黑" pitchFamily="34" charset="-122"/>
              </a:rPr>
              <a:t>可管理性：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 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docker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的集中化管理工具还不算成熟。各种虚拟化技术都有成熟的管理工具，例如 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VMware vCenter 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提供完备的虚拟机管理能力</a:t>
            </a:r>
          </a:p>
          <a:p>
            <a:r>
              <a:rPr lang="zh-CN" altLang="en-US" sz="1200" b="1" smtClean="0">
                <a:latin typeface="微软雅黑" pitchFamily="34" charset="-122"/>
                <a:ea typeface="微软雅黑" pitchFamily="34" charset="-122"/>
              </a:rPr>
              <a:t>高可用和可恢复性：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 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docker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对业务的高可用支持是通过快速重新部署实现的。虚拟化具备负载均衡，高可用，容错，迁移和数据保护等经过生产实践检验的成熟保障机制， 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VMware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可承诺虚拟机 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99.999% 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高可用，保证业务连续性</a:t>
            </a:r>
          </a:p>
          <a:p>
            <a:r>
              <a:rPr lang="zh-CN" altLang="en-US" sz="1200" b="1" smtClean="0">
                <a:latin typeface="微软雅黑" pitchFamily="34" charset="-122"/>
                <a:ea typeface="微软雅黑" pitchFamily="34" charset="-122"/>
              </a:rPr>
              <a:t>快速创建、删除：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虚拟化创建是分钟级别的， 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Docker 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容器创建是秒级别的， 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Docker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的快速迭代性，决定了无论是开发、测试、部署都可以节约大量时间</a:t>
            </a:r>
          </a:p>
          <a:p>
            <a:r>
              <a:rPr lang="zh-CN" altLang="en-US" sz="1200" b="1" smtClean="0">
                <a:latin typeface="微软雅黑" pitchFamily="34" charset="-122"/>
                <a:ea typeface="微软雅黑" pitchFamily="34" charset="-122"/>
              </a:rPr>
              <a:t>交付、部署：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虚拟机可以通过镜像实现环境交付的一致性，但镜像分发无法体系化。 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Docker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Dockerfile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中记录了容器构建过程，可在集群中实现快速分发和快速部署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理解了这三个概念，就理解了 </a:t>
            </a:r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 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的整个生命周期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最终容器运行的时候，虽然不会看到这个文件，但是实际上该文件会一直跟随镜像。因此，在构建镜像的时候，需要额外小心，每一层尽量只包含该层需要添加的东西，任何额外的东西应该在该层构建结束前清理掉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从下载过程中可以看到我们之前提及的分层存储的概念，镜像是由多层存储所构成。下载也是一层层的去下载，并非单一文件。</a:t>
            </a:r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下载过程中给出了每一层的 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ID 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的前 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12 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位。并且下载结束后，给出该镜像完整的 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sha256 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的摘要，以确保下载一致性。</a:t>
            </a:r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、虚悬镜像：已经失去了存在的价值，是可以随意删除的，可以用下面的命令删除。</a:t>
            </a:r>
          </a:p>
          <a:p>
            <a:r>
              <a:rPr lang="en-US" altLang="zh-CN" smtClean="0"/>
              <a:t>$ docker image prune</a:t>
            </a:r>
          </a:p>
          <a:p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、中间层镜像：无标签的镜像很多都是中间层镜像，是其它镜像所依赖的镜像。这些无标签镜像不应该删除，否则会导致上层镜像因为依赖丢失而出错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Unionfs 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是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2004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年在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stony brook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大学开始的，它是一个可叠放的联合文件系统，它能够联合多个目录（因此可称为分支）同时独立地保持它们的物理内容。</a:t>
            </a:r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它允许任何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ro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rw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分支的 结合，同时允许在分支中修改和删除不使用的分支。</a:t>
            </a:r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Unionfs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可以使用在几个方面，例如联合在不同磁盘上的不同的文件系统到一个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home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目录，或者把几 张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cd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合并成一个统一的归档镜像</a:t>
            </a:r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https://docs.docker.com/storage/storagedriver/</a:t>
            </a:r>
          </a:p>
          <a:p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1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Union FS </a:t>
            </a:r>
            <a:r>
              <a:rPr lang="zh-CN" altLang="en-US" sz="1200" b="0" i="1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是有最大层数限制的，比如 </a:t>
            </a:r>
            <a:r>
              <a:rPr lang="en-US" altLang="zh-CN" sz="1200" b="0" i="1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AUFS</a:t>
            </a:r>
            <a:r>
              <a:rPr lang="zh-CN" altLang="en-US" sz="1200" b="0" i="1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，曾经是最大不得超过 </a:t>
            </a:r>
            <a:r>
              <a:rPr lang="en-US" altLang="zh-CN" sz="1200" b="0" i="1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42 </a:t>
            </a:r>
            <a:r>
              <a:rPr lang="zh-CN" altLang="en-US" sz="1200" b="0" i="1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层，现在是不得超过 </a:t>
            </a:r>
            <a:r>
              <a:rPr lang="en-US" altLang="zh-CN" sz="1200" b="0" i="1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127 </a:t>
            </a:r>
            <a:r>
              <a:rPr lang="zh-CN" altLang="en-US" sz="1200" b="0" i="1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docker manifest inspect </a:t>
            </a:r>
            <a:r>
              <a:rPr lang="zh-CN" altLang="en-US" smtClean="0"/>
              <a:t>镜像名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镜像（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Image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）和容器（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Container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）的关系，就跟咱们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Java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的类和实例一样，镜像是静态的定义，容器是镜像运行时的实体</a:t>
            </a:r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容器可以被创建、启动、停止、删除、暂停等。</a:t>
            </a:r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Docker </a:t>
            </a:r>
            <a:r>
              <a:rPr lang="zh-CN" altLang="en-US" smtClean="0"/>
              <a:t>使用 </a:t>
            </a:r>
            <a:r>
              <a:rPr lang="en-US" altLang="zh-CN" smtClean="0"/>
              <a:t>Google </a:t>
            </a:r>
            <a:r>
              <a:rPr lang="zh-CN" altLang="en-US" smtClean="0"/>
              <a:t>公司推出的 </a:t>
            </a:r>
            <a:r>
              <a:rPr lang="en-US" altLang="zh-CN" smtClean="0"/>
              <a:t>Go </a:t>
            </a:r>
            <a:r>
              <a:rPr lang="zh-CN" altLang="en-US" smtClean="0"/>
              <a:t>语言 进行开发实现，基于 </a:t>
            </a:r>
            <a:r>
              <a:rPr lang="en-US" altLang="zh-CN" smtClean="0"/>
              <a:t>Linux </a:t>
            </a:r>
            <a:r>
              <a:rPr lang="zh-CN" altLang="en-US" smtClean="0"/>
              <a:t>内核的 </a:t>
            </a:r>
            <a:r>
              <a:rPr lang="en-US" altLang="zh-CN" smtClean="0"/>
              <a:t>cgroup</a:t>
            </a:r>
            <a:r>
              <a:rPr lang="zh-CN" altLang="en-US" smtClean="0"/>
              <a:t>，</a:t>
            </a:r>
            <a:r>
              <a:rPr lang="en-US" altLang="zh-CN" smtClean="0"/>
              <a:t>namespace</a:t>
            </a:r>
            <a:r>
              <a:rPr lang="zh-CN" altLang="en-US" smtClean="0"/>
              <a:t>，以及</a:t>
            </a:r>
            <a:r>
              <a:rPr lang="en-US" altLang="zh-CN" smtClean="0"/>
              <a:t>AUFS </a:t>
            </a:r>
            <a:r>
              <a:rPr lang="zh-CN" altLang="en-US" smtClean="0"/>
              <a:t>类的 </a:t>
            </a:r>
            <a:r>
              <a:rPr lang="en-US" altLang="zh-CN" smtClean="0"/>
              <a:t>Union FS </a:t>
            </a:r>
            <a:r>
              <a:rPr lang="zh-CN" altLang="en-US" smtClean="0"/>
              <a:t>等技术，对进程进行封装隔离，属于操作系统层面的虚拟化技术。</a:t>
            </a:r>
            <a:endParaRPr lang="en-US" altLang="zh-CN" smtClean="0"/>
          </a:p>
          <a:p>
            <a:r>
              <a:rPr lang="zh-CN" altLang="en-US" smtClean="0"/>
              <a:t>由于隔离的进程独立于宿主和其它的隔离的进程，因此也称其为容器。</a:t>
            </a:r>
            <a:endParaRPr lang="en-US" altLang="zh-CN" smtClean="0"/>
          </a:p>
          <a:p>
            <a:r>
              <a:rPr lang="zh-CN" altLang="en-US" smtClean="0"/>
              <a:t>最初实现是基于 </a:t>
            </a:r>
            <a:r>
              <a:rPr lang="en-US" altLang="zh-CN" smtClean="0"/>
              <a:t>LXC</a:t>
            </a:r>
            <a:r>
              <a:rPr lang="zh-CN" altLang="en-US" smtClean="0"/>
              <a:t>，从 </a:t>
            </a:r>
            <a:r>
              <a:rPr lang="en-US" altLang="zh-CN" smtClean="0"/>
              <a:t>0.7 </a:t>
            </a:r>
            <a:r>
              <a:rPr lang="zh-CN" altLang="en-US" smtClean="0"/>
              <a:t>版本以后开始去除 </a:t>
            </a:r>
            <a:r>
              <a:rPr lang="en-US" altLang="zh-CN" smtClean="0"/>
              <a:t>LXC</a:t>
            </a:r>
            <a:r>
              <a:rPr lang="zh-CN" altLang="en-US" smtClean="0"/>
              <a:t>，转而使用自行开发的 </a:t>
            </a:r>
            <a:r>
              <a:rPr lang="en-US" altLang="zh-CN" smtClean="0"/>
              <a:t>libcontainer</a:t>
            </a:r>
            <a:r>
              <a:rPr lang="zh-CN" altLang="en-US" smtClean="0"/>
              <a:t>，从 </a:t>
            </a:r>
            <a:r>
              <a:rPr lang="en-US" altLang="zh-CN" smtClean="0"/>
              <a:t>1.11 </a:t>
            </a:r>
            <a:r>
              <a:rPr lang="zh-CN" altLang="en-US" smtClean="0"/>
              <a:t>开始，则进一步演进为使用 </a:t>
            </a:r>
            <a:r>
              <a:rPr lang="en-US" altLang="zh-CN" smtClean="0"/>
              <a:t>runC </a:t>
            </a:r>
            <a:r>
              <a:rPr lang="zh-CN" altLang="en-US" smtClean="0"/>
              <a:t>和 </a:t>
            </a:r>
            <a:r>
              <a:rPr lang="en-US" altLang="zh-CN" smtClean="0"/>
              <a:t>containerd</a:t>
            </a:r>
            <a:r>
              <a:rPr lang="zh-CN" altLang="en-US" smtClean="0"/>
              <a:t>。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Docker</a:t>
            </a:r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使用 </a:t>
            </a:r>
            <a:r>
              <a:rPr lang="en-US" altLang="zh-CN" smtClean="0"/>
              <a:t>C/S</a:t>
            </a:r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结构，即</a:t>
            </a:r>
            <a:r>
              <a:rPr lang="zh-CN" altLang="en-US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客户端</a:t>
            </a:r>
            <a:r>
              <a:rPr lang="en-US" altLang="zh-CN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CN" altLang="en-US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服务器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体系结构。 </a:t>
            </a:r>
            <a:endParaRPr lang="en-US" altLang="zh-CN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mtClean="0"/>
              <a:t>Docker</a:t>
            </a:r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客户端与 </a:t>
            </a:r>
            <a:r>
              <a:rPr lang="en-US" altLang="zh-CN" smtClean="0"/>
              <a:t>Docker</a:t>
            </a:r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服务器（</a:t>
            </a:r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 Daemon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）进行交互，</a:t>
            </a:r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服务端负责构建、运行和分发 </a:t>
            </a:r>
            <a:r>
              <a:rPr lang="en-US" altLang="zh-CN" smtClean="0"/>
              <a:t>Docker</a:t>
            </a:r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镜像。 </a:t>
            </a:r>
            <a:endParaRPr lang="en-US" altLang="zh-CN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mtClean="0"/>
              <a:t>Docker</a:t>
            </a:r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客户端和服务端可以运行在一台机器上，也可以通过 </a:t>
            </a:r>
            <a:r>
              <a:rPr lang="en-US" altLang="zh-CN" smtClean="0"/>
              <a:t>RESTful</a:t>
            </a:r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 </a:t>
            </a:r>
            <a:r>
              <a:rPr lang="en-US" altLang="zh-CN" smtClean="0"/>
              <a:t>stock</a:t>
            </a:r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或网络接口与远程 </a:t>
            </a:r>
            <a:r>
              <a:rPr lang="en-US" altLang="zh-CN" smtClean="0"/>
              <a:t>Docker</a:t>
            </a:r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服务端进行通信。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Docker</a:t>
            </a:r>
            <a:r>
              <a:rPr lang="en-US" altLang="zh-CN" sz="1200" b="0" i="0" kern="1200" baseline="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 Daemon</a:t>
            </a:r>
            <a:r>
              <a:rPr lang="zh-CN" altLang="en-US" sz="1200" b="0" i="0" kern="1200" baseline="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工作原理：</a:t>
            </a:r>
            <a:endParaRPr lang="en-US" altLang="zh-CN" sz="1200" b="0" i="0" kern="1200" baseline="0" smtClean="0">
              <a:solidFill>
                <a:schemeClr val="tx1"/>
              </a:solidFill>
              <a:effectLst/>
              <a:latin typeface="微软雅黑" pitchFamily="34" charset="-122"/>
              <a:ea typeface="微软雅黑" pitchFamily="34" charset="-122"/>
              <a:cs typeface="+mn-cs"/>
            </a:endParaRPr>
          </a:p>
          <a:p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Docker Daemon 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可以认为是通过 </a:t>
            </a:r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Docker Server 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模块接受 </a:t>
            </a:r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Docker Client 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的请求，并在 </a:t>
            </a:r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Engine 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中处理请求，然后根据请求类型，创建出指定的 </a:t>
            </a:r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Job 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并运行。 </a:t>
            </a:r>
            <a:endParaRPr lang="en-US" altLang="zh-CN" sz="1200" b="0" i="0" kern="1200" smtClean="0">
              <a:solidFill>
                <a:schemeClr val="tx1"/>
              </a:solidFill>
              <a:effectLst/>
              <a:latin typeface="微软雅黑" pitchFamily="34" charset="-122"/>
              <a:ea typeface="微软雅黑" pitchFamily="34" charset="-122"/>
              <a:cs typeface="+mn-cs"/>
            </a:endParaRPr>
          </a:p>
          <a:p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Docker Daemon 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运行在 </a:t>
            </a:r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Docker Host 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上，负责创建、运行、监控容器，构建、存储镜像。</a:t>
            </a:r>
          </a:p>
          <a:p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运行过程的作用有以下几种可能：</a:t>
            </a:r>
          </a:p>
          <a:p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向 </a:t>
            </a:r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Docker Registry 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获取镜像</a:t>
            </a:r>
          </a:p>
          <a:p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通过 </a:t>
            </a:r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graphdriver 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执行容器镜像的本地化操作</a:t>
            </a:r>
          </a:p>
          <a:p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通过 </a:t>
            </a:r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networkdriver 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执行容器网络环境的配置</a:t>
            </a:r>
          </a:p>
          <a:p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通过 </a:t>
            </a:r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execdriver 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执行容器内部运行的执行工作</a:t>
            </a:r>
          </a:p>
          <a:p>
            <a:endParaRPr lang="en-US" altLang="zh-CN" sz="1200" b="0" i="0" kern="1200" smtClean="0">
              <a:solidFill>
                <a:schemeClr val="tx1"/>
              </a:solidFill>
              <a:effectLst/>
              <a:latin typeface="微软雅黑" pitchFamily="34" charset="-122"/>
              <a:ea typeface="微软雅黑" pitchFamily="34" charset="-122"/>
              <a:cs typeface="+mn-cs"/>
            </a:endParaRPr>
          </a:p>
          <a:p>
            <a:r>
              <a:rPr lang="zh-CN" altLang="en-US" sz="1200" b="1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远程控制</a:t>
            </a:r>
            <a:r>
              <a:rPr lang="en-US" altLang="zh-CN" sz="1200" b="1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Docker</a:t>
            </a:r>
            <a:r>
              <a:rPr lang="en-US" altLang="zh-CN" sz="1200" b="1" i="0" kern="1200" baseline="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 Daemon</a:t>
            </a:r>
            <a:r>
              <a:rPr lang="zh-CN" altLang="en-US" sz="1200" b="1" i="0" kern="1200" baseline="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：</a:t>
            </a:r>
            <a:endParaRPr lang="en-US" altLang="zh-CN" sz="1200" b="1" i="0" kern="1200" baseline="0" smtClean="0">
              <a:solidFill>
                <a:schemeClr val="tx1"/>
              </a:solidFill>
              <a:effectLst/>
              <a:latin typeface="微软雅黑" pitchFamily="34" charset="-122"/>
              <a:ea typeface="微软雅黑" pitchFamily="34" charset="-122"/>
              <a:cs typeface="+mn-cs"/>
            </a:endParaRPr>
          </a:p>
          <a:p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默认配置下， 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Docker daemon 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只能响应来自本地 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Host 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的客户端请求。如果要允许远程客户端请求，需要在配置文件中打开 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TCP 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监听。配置步骤：</a:t>
            </a:r>
          </a:p>
          <a:p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、编辑配置文件 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/usr/lib/systemd/system/docker.service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，在环境变量 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ExecStart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后面添加 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-H tcp://0.0.0.0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，允许来自任意 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的客户端连接</a:t>
            </a:r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、重启 </a:t>
            </a:r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Docker daemon</a:t>
            </a:r>
          </a:p>
          <a:p>
            <a:r>
              <a:rPr lang="en-US" altLang="zh-CN" sz="120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systemctl daemon-reload</a:t>
            </a:r>
          </a:p>
          <a:p>
            <a:r>
              <a:rPr lang="en-US" altLang="zh-CN" sz="120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systemctl restart docker.service</a:t>
            </a:r>
          </a:p>
          <a:p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以下命令即可实现与远程服务器通信</a:t>
            </a:r>
            <a:endParaRPr lang="en-US" altLang="zh-CN" sz="1200" b="0" i="0" kern="1200" smtClean="0">
              <a:solidFill>
                <a:schemeClr val="tx1"/>
              </a:solidFill>
              <a:effectLst/>
              <a:latin typeface="微软雅黑" pitchFamily="34" charset="-122"/>
              <a:ea typeface="微软雅黑" pitchFamily="34" charset="-122"/>
              <a:cs typeface="+mn-cs"/>
            </a:endParaRPr>
          </a:p>
          <a:p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docker -H 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服务器</a:t>
            </a:r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IP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地址 </a:t>
            </a:r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rPr>
              <a:t>info</a:t>
            </a:r>
            <a:endParaRPr lang="zh-CN" altLang="en-US" sz="120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200" b="0" i="0" kern="1200" baseline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baseline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smtClean="0">
                <a:latin typeface="微软雅黑" pitchFamily="34" charset="-122"/>
                <a:ea typeface="微软雅黑" pitchFamily="34" charset="-122"/>
              </a:rPr>
              <a:t>Docker build </a:t>
            </a:r>
            <a:r>
              <a:rPr lang="zh-CN" altLang="en-US" sz="1200" b="1" smtClean="0">
                <a:latin typeface="微软雅黑" pitchFamily="34" charset="-122"/>
                <a:ea typeface="微软雅黑" pitchFamily="34" charset="-122"/>
              </a:rPr>
              <a:t>的工作原理：</a:t>
            </a:r>
            <a:endParaRPr lang="en-US" altLang="zh-CN" sz="1200" b="1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Docker 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在运行时分为 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Docker 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引擎（也就是服务端守护进程）和客户端工具。</a:t>
            </a:r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Docker 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的引擎提供了一组 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REST API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，被称为 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Docker Remote API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，</a:t>
            </a:r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而如 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docker 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命令这样的客户端工具，则是通过这组 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API 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与 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Docker 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引擎交互，从而完成各种功能。</a:t>
            </a:r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因此，虽然表面上我们好像是在本机执行各种 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docker 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功能，但实际上，一切都是使用的远程调用形式在服务端（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Docker 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引擎）完成。</a:t>
            </a:r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也因为这种 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C/S 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设计，让我们操作远程服务器的 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Docker 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引擎变得轻而易举</a:t>
            </a:r>
          </a:p>
          <a:p>
            <a:endParaRPr lang="en-US" altLang="zh-CN" sz="1200" b="0" i="0" kern="1200" baseline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1</a:t>
            </a:r>
            <a:r>
              <a:rPr lang="zh-CN" altLang="en-US" smtClean="0"/>
              <a:t>、创建</a:t>
            </a:r>
            <a:r>
              <a:rPr lang="en-US" altLang="zh-CN" smtClean="0"/>
              <a:t>Dockerfile</a:t>
            </a:r>
            <a:r>
              <a:rPr lang="zh-CN" altLang="en-US" smtClean="0"/>
              <a:t>：拷贝一个文件包作为镜像资料</a:t>
            </a:r>
            <a:endParaRPr lang="en-US" altLang="zh-CN" smtClean="0"/>
          </a:p>
          <a:p>
            <a:r>
              <a:rPr lang="en-US" altLang="zh-CN" smtClean="0"/>
              <a:t>2</a:t>
            </a:r>
            <a:r>
              <a:rPr lang="zh-CN" altLang="en-US" smtClean="0"/>
              <a:t>、查看</a:t>
            </a:r>
            <a:r>
              <a:rPr lang="en-US" altLang="zh-CN" smtClean="0"/>
              <a:t>Dockerfile</a:t>
            </a:r>
            <a:r>
              <a:rPr lang="zh-CN" altLang="en-US" smtClean="0"/>
              <a:t>所在目录的文件总大小</a:t>
            </a:r>
            <a:endParaRPr lang="en-US" altLang="zh-CN" smtClean="0"/>
          </a:p>
          <a:p>
            <a:r>
              <a:rPr lang="en-US" altLang="zh-CN" smtClean="0"/>
              <a:t>3</a:t>
            </a:r>
            <a:r>
              <a:rPr lang="zh-CN" altLang="en-US" smtClean="0"/>
              <a:t>、构建镜像：</a:t>
            </a:r>
            <a:r>
              <a:rPr lang="en-US" altLang="zh-CN" smtClean="0"/>
              <a:t>context-copy:v1</a:t>
            </a:r>
          </a:p>
          <a:p>
            <a:r>
              <a:rPr lang="en-US" altLang="zh-CN" smtClean="0"/>
              <a:t>4</a:t>
            </a:r>
            <a:r>
              <a:rPr lang="zh-CN" altLang="en-US" smtClean="0"/>
              <a:t>、查看镜像大小</a:t>
            </a:r>
            <a:endParaRPr lang="en-US" altLang="zh-CN" smtClean="0"/>
          </a:p>
          <a:p>
            <a:endParaRPr lang="en-US" altLang="zh-CN" smtClean="0"/>
          </a:p>
          <a:p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当构建的时候，用户会指定构建镜像上下文的路径，</a:t>
            </a:r>
            <a:r>
              <a:rPr lang="en-US" altLang="zh-CN" smtClean="0"/>
              <a:t>docker build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命令得知这个路径后，会将路径下的所有内容打包，然后上传给 </a:t>
            </a:r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 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引擎。这样 </a:t>
            </a:r>
            <a:r>
              <a:rPr lang="en-US" altLang="zh-CN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 </a:t>
            </a:r>
            <a:r>
              <a:rPr lang="zh-CN" altLang="en-US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引擎收到这个上下文包后，展开就会获得构建镜像所需的一切文件。</a:t>
            </a:r>
            <a:endParaRPr lang="en-US" altLang="zh-CN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mtClean="0"/>
              <a:t>结论：在构建镜像时，不要将非镜像必要文件放置在</a:t>
            </a:r>
            <a:r>
              <a:rPr lang="en-US" altLang="zh-CN" smtClean="0"/>
              <a:t>Dockerfile</a:t>
            </a:r>
            <a:r>
              <a:rPr lang="zh-CN" altLang="en-US" smtClean="0"/>
              <a:t>目录，放置构建镜像需要的文件即可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容器启动过程如下：</a:t>
            </a:r>
          </a:p>
          <a:p>
            <a:r>
              <a:rPr lang="en-US" altLang="zh-CN" smtClean="0"/>
              <a:t>Docker </a:t>
            </a:r>
            <a:r>
              <a:rPr lang="zh-CN" altLang="en-US" smtClean="0"/>
              <a:t>客户端执行 </a:t>
            </a:r>
            <a:r>
              <a:rPr lang="en-US" altLang="zh-CN" smtClean="0"/>
              <a:t>docker run </a:t>
            </a:r>
            <a:r>
              <a:rPr lang="zh-CN" altLang="en-US" smtClean="0"/>
              <a:t>命令</a:t>
            </a:r>
          </a:p>
          <a:p>
            <a:r>
              <a:rPr lang="en-US" altLang="zh-CN" smtClean="0"/>
              <a:t>Docker daemon </a:t>
            </a:r>
            <a:r>
              <a:rPr lang="zh-CN" altLang="en-US" smtClean="0"/>
              <a:t>发现本地没有 </a:t>
            </a:r>
            <a:r>
              <a:rPr lang="en-US" altLang="zh-CN" smtClean="0"/>
              <a:t>hello-world </a:t>
            </a:r>
            <a:r>
              <a:rPr lang="zh-CN" altLang="en-US" smtClean="0"/>
              <a:t>镜像</a:t>
            </a:r>
          </a:p>
          <a:p>
            <a:r>
              <a:rPr lang="en-US" altLang="zh-CN" smtClean="0"/>
              <a:t>daemon </a:t>
            </a:r>
            <a:r>
              <a:rPr lang="zh-CN" altLang="en-US" smtClean="0"/>
              <a:t>从 </a:t>
            </a:r>
            <a:r>
              <a:rPr lang="en-US" altLang="zh-CN" smtClean="0"/>
              <a:t>Docker Hub </a:t>
            </a:r>
            <a:r>
              <a:rPr lang="zh-CN" altLang="en-US" smtClean="0"/>
              <a:t>下载镜像</a:t>
            </a:r>
          </a:p>
          <a:p>
            <a:r>
              <a:rPr lang="zh-CN" altLang="en-US" smtClean="0"/>
              <a:t>下载完成，镜像 </a:t>
            </a:r>
            <a:r>
              <a:rPr lang="en-US" altLang="zh-CN" smtClean="0"/>
              <a:t>hello-world </a:t>
            </a:r>
            <a:r>
              <a:rPr lang="zh-CN" altLang="en-US" smtClean="0"/>
              <a:t>被保存到本地</a:t>
            </a:r>
          </a:p>
          <a:p>
            <a:r>
              <a:rPr lang="en-US" altLang="zh-CN" smtClean="0"/>
              <a:t>Docker daemon </a:t>
            </a:r>
            <a:r>
              <a:rPr lang="zh-CN" altLang="en-US" smtClean="0"/>
              <a:t>启动容器</a:t>
            </a:r>
          </a:p>
          <a:p>
            <a:endParaRPr lang="zh-CN" alt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使用</a:t>
            </a:r>
            <a:r>
              <a:rPr lang="en-US" altLang="zh-CN" smtClean="0"/>
              <a:t>docker info</a:t>
            </a:r>
            <a:r>
              <a:rPr lang="zh-CN" altLang="en-US" smtClean="0"/>
              <a:t>查看存储驱动信息</a:t>
            </a:r>
            <a:endParaRPr lang="en-US" altLang="zh-CN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1</a:t>
            </a:r>
            <a:r>
              <a:rPr lang="zh-CN" altLang="en-US" smtClean="0"/>
              <a:t>、商户组的磁盘要满了</a:t>
            </a:r>
            <a:endParaRPr lang="en-US" altLang="zh-CN" smtClean="0"/>
          </a:p>
          <a:p>
            <a:r>
              <a:rPr lang="en-US" altLang="zh-CN" smtClean="0"/>
              <a:t>2</a:t>
            </a:r>
            <a:r>
              <a:rPr lang="zh-CN" altLang="en-US" smtClean="0"/>
              <a:t>、查看磁盘空间：</a:t>
            </a:r>
            <a:r>
              <a:rPr lang="en-US" altLang="zh-CN" smtClean="0"/>
              <a:t>df</a:t>
            </a:r>
            <a:r>
              <a:rPr lang="en-US" altLang="zh-CN" baseline="0" smtClean="0"/>
              <a:t> –h</a:t>
            </a:r>
          </a:p>
          <a:p>
            <a:r>
              <a:rPr lang="en-US" altLang="zh-CN" baseline="0" smtClean="0"/>
              <a:t>3</a:t>
            </a:r>
            <a:r>
              <a:rPr lang="zh-CN" altLang="en-US" baseline="0" smtClean="0"/>
              <a:t>、查看原因：镜像占用过多</a:t>
            </a:r>
            <a:endParaRPr lang="en-US" altLang="zh-CN" baseline="0" smtClean="0"/>
          </a:p>
          <a:p>
            <a:r>
              <a:rPr lang="en-US" altLang="zh-CN" baseline="0" smtClean="0"/>
              <a:t>4</a:t>
            </a:r>
            <a:r>
              <a:rPr lang="zh-CN" altLang="en-US" baseline="0" smtClean="0"/>
              <a:t>、解决办法：启动容器时，指定名称</a:t>
            </a:r>
            <a:r>
              <a:rPr lang="en-US" altLang="zh-CN" baseline="0" smtClean="0"/>
              <a:t>--name</a:t>
            </a:r>
            <a:r>
              <a:rPr lang="zh-CN" altLang="en-US" baseline="0" smtClean="0"/>
              <a:t>，每个程序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44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https://yeasy.gitbooks.io/docker_practice/appendix/best_practices.html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45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74650" y="685800"/>
            <a:ext cx="61087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64E0C-8B64-4036-B2BC-04C59079EC3A}" type="slidenum">
              <a:rPr lang="zh-CN" altLang="en-US" smtClean="0"/>
              <a:t>46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281" y="2125001"/>
            <a:ext cx="10361851" cy="146628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562" y="3876305"/>
            <a:ext cx="8533289" cy="17481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2019-8-21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2019-8-21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395679"/>
            <a:ext cx="10361851" cy="135860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899312"/>
            <a:ext cx="10361851" cy="149636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2019-8-21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596126"/>
            <a:ext cx="5384099" cy="451443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596126"/>
            <a:ext cx="5384099" cy="451443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2019-8-21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1204"/>
            <a:ext cx="5386216" cy="63813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69337"/>
            <a:ext cx="5386216" cy="394122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1" y="1531204"/>
            <a:ext cx="5388332" cy="63813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1" y="2169337"/>
            <a:ext cx="5388332" cy="394122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2019-8-21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2019-8-21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2019-8-21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21" y="272355"/>
            <a:ext cx="4010562" cy="115909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113" y="272355"/>
            <a:ext cx="6814779" cy="583821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521" y="1431446"/>
            <a:ext cx="4010562" cy="46791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2019-8-21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06" y="4788377"/>
            <a:ext cx="7314248" cy="56529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06" y="611215"/>
            <a:ext cx="7314248" cy="410432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06" y="5353671"/>
            <a:ext cx="7314248" cy="8028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2019-8-21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2019-8-21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3939"/>
            <a:ext cx="2742843" cy="5836626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3939"/>
            <a:ext cx="8025355" cy="5836626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2019-8-21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3939"/>
            <a:ext cx="10971372" cy="1140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96126"/>
            <a:ext cx="10971372" cy="4514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40166"/>
            <a:ext cx="2844430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2019-8-21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40166"/>
            <a:ext cx="3860297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40166"/>
            <a:ext cx="2844430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docker-library/docs" TargetMode="External"/><Relationship Id="rId5" Type="http://schemas.openxmlformats.org/officeDocument/2006/relationships/hyperlink" Target="https://docs.docker.com/develop/develop-images/dockerfile_best-practices/" TargetMode="External"/><Relationship Id="rId4" Type="http://schemas.openxmlformats.org/officeDocument/2006/relationships/hyperlink" Target="https://docs.docker.com/engine/reference/builder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jpe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notesSlide" Target="../notesSlides/notesSlide41.xml"/><Relationship Id="rId7" Type="http://schemas.openxmlformats.org/officeDocument/2006/relationships/image" Target="../media/image51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png"/><Relationship Id="rId4" Type="http://schemas.openxmlformats.org/officeDocument/2006/relationships/image" Target="../media/image5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7" Type="http://schemas.openxmlformats.org/officeDocument/2006/relationships/image" Target="../media/image62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63.png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4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17382" y="2988221"/>
            <a:ext cx="12207796" cy="690932"/>
          </a:xfrm>
          <a:solidFill>
            <a:schemeClr val="tx2">
              <a:lumMod val="75000"/>
            </a:schemeClr>
          </a:solidFill>
          <a:ln>
            <a:solidFill>
              <a:srgbClr val="002060"/>
            </a:solidFill>
          </a:ln>
        </p:spPr>
        <p:txBody>
          <a:bodyPr>
            <a:normAutofit fontScale="90000"/>
          </a:bodyPr>
          <a:lstStyle/>
          <a:p>
            <a:r>
              <a:rPr lang="en-US" altLang="zh-CN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Docker</a:t>
            </a: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919172" y="6005957"/>
            <a:ext cx="4117373" cy="527118"/>
          </a:xfrm>
        </p:spPr>
        <p:txBody>
          <a:bodyPr>
            <a:normAutofit/>
          </a:bodyPr>
          <a:lstStyle/>
          <a:p>
            <a:r>
              <a:rPr lang="zh-CN" altLang="en-US" sz="16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彭雪波</a:t>
            </a:r>
          </a:p>
        </p:txBody>
      </p:sp>
      <p:pic>
        <p:nvPicPr>
          <p:cNvPr id="8196" name="Picture 4" descr="E:\支付指南\技术分享\Docker\docker-logo-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104" y="0"/>
            <a:ext cx="1680309" cy="1260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/>
          <p:cNvSpPr/>
          <p:nvPr/>
        </p:nvSpPr>
        <p:spPr>
          <a:xfrm>
            <a:off x="3874968" y="3230771"/>
            <a:ext cx="764116" cy="51928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 cap="flat">
            <a:solidFill>
              <a:schemeClr val="tx1">
                <a:lumMod val="65000"/>
                <a:lumOff val="35000"/>
              </a:schemeClr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3</a:t>
            </a: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3874968" y="4025973"/>
            <a:ext cx="764116" cy="51928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 cap="flat">
            <a:solidFill>
              <a:schemeClr val="tx1">
                <a:lumMod val="65000"/>
                <a:lumOff val="35000"/>
              </a:schemeClr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4</a:t>
            </a: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3874968" y="2430846"/>
            <a:ext cx="764116" cy="51928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 cap="flat">
            <a:solidFill>
              <a:schemeClr val="tx1">
                <a:lumMod val="65000"/>
                <a:lumOff val="35000"/>
              </a:schemeClr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1578303" y="611957"/>
            <a:ext cx="1424422" cy="738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4000" b="1">
                <a:latin typeface="微软雅黑" pitchFamily="34" charset="-122"/>
                <a:ea typeface="微软雅黑" pitchFamily="34" charset="-122"/>
              </a:rPr>
              <a:t>目 录</a:t>
            </a:r>
          </a:p>
        </p:txBody>
      </p:sp>
      <p:sp>
        <p:nvSpPr>
          <p:cNvPr id="14" name="TextBox 19"/>
          <p:cNvSpPr txBox="1">
            <a:spLocks noChangeArrowheads="1"/>
          </p:cNvSpPr>
          <p:nvPr/>
        </p:nvSpPr>
        <p:spPr bwMode="auto">
          <a:xfrm>
            <a:off x="1414686" y="1404064"/>
            <a:ext cx="1902118" cy="49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CONTENTS</a:t>
            </a:r>
            <a:endParaRPr lang="zh-CN" altLang="en-US" sz="2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文本框 18"/>
          <p:cNvSpPr>
            <a:spLocks noChangeArrowheads="1"/>
          </p:cNvSpPr>
          <p:nvPr/>
        </p:nvSpPr>
        <p:spPr bwMode="auto">
          <a:xfrm>
            <a:off x="4035834" y="2443975"/>
            <a:ext cx="442384" cy="49303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  <a:extLst/>
        </p:spPr>
        <p:txBody>
          <a:bodyPr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egoe UI Black" pitchFamily="2" charset="0"/>
              </a:rPr>
              <a:t>2</a:t>
            </a:r>
          </a:p>
        </p:txBody>
      </p:sp>
      <p:sp>
        <p:nvSpPr>
          <p:cNvPr id="16" name="文本框 22"/>
          <p:cNvSpPr>
            <a:spLocks noChangeArrowheads="1"/>
          </p:cNvSpPr>
          <p:nvPr/>
        </p:nvSpPr>
        <p:spPr bwMode="auto">
          <a:xfrm>
            <a:off x="4927435" y="2389044"/>
            <a:ext cx="2548466" cy="55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zh-CN" altLang="en-US" sz="2800" b="1" smtClean="0">
                <a:ea typeface="微软雅黑" pitchFamily="34" charset="-122"/>
                <a:sym typeface="Tahoma" pitchFamily="34" charset="0"/>
              </a:rPr>
              <a:t>概念及使用</a:t>
            </a:r>
            <a:endParaRPr lang="zh-CN" altLang="en-US" sz="2800" b="1">
              <a:ea typeface="微软雅黑" pitchFamily="34" charset="-122"/>
              <a:sym typeface="Tahoma" pitchFamily="34" charset="0"/>
            </a:endParaRPr>
          </a:p>
        </p:txBody>
      </p:sp>
      <p:sp>
        <p:nvSpPr>
          <p:cNvPr id="17" name="文本框 22"/>
          <p:cNvSpPr>
            <a:spLocks noChangeArrowheads="1"/>
          </p:cNvSpPr>
          <p:nvPr/>
        </p:nvSpPr>
        <p:spPr bwMode="auto">
          <a:xfrm>
            <a:off x="4927434" y="3202098"/>
            <a:ext cx="2548467" cy="55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zh-CN" altLang="en-US" sz="2800" b="1" smtClean="0">
                <a:ea typeface="微软雅黑" pitchFamily="34" charset="-122"/>
                <a:sym typeface="Tahoma" pitchFamily="34" charset="0"/>
              </a:rPr>
              <a:t>架构</a:t>
            </a:r>
            <a:endParaRPr lang="zh-CN" altLang="en-US" sz="2800" b="1">
              <a:ea typeface="微软雅黑" pitchFamily="34" charset="-122"/>
              <a:sym typeface="Tahoma" pitchFamily="34" charset="0"/>
            </a:endParaRPr>
          </a:p>
        </p:txBody>
      </p:sp>
      <p:sp>
        <p:nvSpPr>
          <p:cNvPr id="18" name="文本框 22"/>
          <p:cNvSpPr>
            <a:spLocks noChangeArrowheads="1"/>
          </p:cNvSpPr>
          <p:nvPr/>
        </p:nvSpPr>
        <p:spPr bwMode="auto">
          <a:xfrm>
            <a:off x="4927435" y="4014644"/>
            <a:ext cx="2548466" cy="55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800" b="1" smtClean="0">
                <a:ea typeface="微软雅黑" pitchFamily="34" charset="-122"/>
                <a:sym typeface="Tahoma" pitchFamily="34" charset="0"/>
              </a:rPr>
              <a:t>存储</a:t>
            </a:r>
            <a:endParaRPr lang="zh-CN" altLang="en-US" sz="2800" b="1">
              <a:ea typeface="微软雅黑" pitchFamily="34" charset="-122"/>
              <a:sym typeface="Tahoma" pitchFamily="34" charset="0"/>
            </a:endParaRPr>
          </a:p>
        </p:txBody>
      </p:sp>
      <p:sp>
        <p:nvSpPr>
          <p:cNvPr id="21" name="文本框 22"/>
          <p:cNvSpPr>
            <a:spLocks noChangeArrowheads="1"/>
          </p:cNvSpPr>
          <p:nvPr/>
        </p:nvSpPr>
        <p:spPr bwMode="auto">
          <a:xfrm>
            <a:off x="4929615" y="1616292"/>
            <a:ext cx="2548466" cy="55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微软雅黑" pitchFamily="34" charset="-122"/>
                <a:sym typeface="Tahoma" pitchFamily="34" charset="0"/>
              </a:rPr>
              <a:t>简介</a:t>
            </a:r>
          </a:p>
        </p:txBody>
      </p:sp>
      <p:sp>
        <p:nvSpPr>
          <p:cNvPr id="22" name="圆角矩形 21"/>
          <p:cNvSpPr/>
          <p:nvPr/>
        </p:nvSpPr>
        <p:spPr>
          <a:xfrm>
            <a:off x="3877681" y="1688300"/>
            <a:ext cx="764116" cy="51928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 cap="flat">
            <a:solidFill>
              <a:schemeClr val="tx1">
                <a:lumMod val="65000"/>
                <a:lumOff val="35000"/>
              </a:schemeClr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23" name="文本框 18"/>
          <p:cNvSpPr>
            <a:spLocks noChangeArrowheads="1"/>
          </p:cNvSpPr>
          <p:nvPr/>
        </p:nvSpPr>
        <p:spPr bwMode="auto">
          <a:xfrm>
            <a:off x="4038547" y="1701429"/>
            <a:ext cx="442384" cy="49303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extLst/>
        </p:spPr>
        <p:txBody>
          <a:bodyPr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egoe UI Black" pitchFamily="2" charset="0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/>
          <p:cNvSpPr/>
          <p:nvPr/>
        </p:nvSpPr>
        <p:spPr>
          <a:xfrm>
            <a:off x="3874968" y="3230771"/>
            <a:ext cx="764116" cy="51928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 cap="flat">
            <a:solidFill>
              <a:schemeClr val="tx1">
                <a:lumMod val="65000"/>
                <a:lumOff val="35000"/>
              </a:schemeClr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3</a:t>
            </a: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3874968" y="4025973"/>
            <a:ext cx="764116" cy="51928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 cap="flat">
            <a:solidFill>
              <a:schemeClr val="tx1">
                <a:lumMod val="65000"/>
                <a:lumOff val="35000"/>
              </a:schemeClr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4</a:t>
            </a: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3874968" y="2430846"/>
            <a:ext cx="764116" cy="51928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 cap="flat">
            <a:solidFill>
              <a:schemeClr val="tx1">
                <a:lumMod val="65000"/>
                <a:lumOff val="35000"/>
              </a:schemeClr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1578303" y="611957"/>
            <a:ext cx="1424422" cy="738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4000" b="1">
                <a:latin typeface="微软雅黑" pitchFamily="34" charset="-122"/>
                <a:ea typeface="微软雅黑" pitchFamily="34" charset="-122"/>
              </a:rPr>
              <a:t>目 录</a:t>
            </a:r>
          </a:p>
        </p:txBody>
      </p:sp>
      <p:sp>
        <p:nvSpPr>
          <p:cNvPr id="14" name="TextBox 19"/>
          <p:cNvSpPr txBox="1">
            <a:spLocks noChangeArrowheads="1"/>
          </p:cNvSpPr>
          <p:nvPr/>
        </p:nvSpPr>
        <p:spPr bwMode="auto">
          <a:xfrm>
            <a:off x="1414686" y="1404064"/>
            <a:ext cx="1902118" cy="49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CONTENTS</a:t>
            </a:r>
            <a:endParaRPr lang="zh-CN" altLang="en-US" sz="2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文本框 18"/>
          <p:cNvSpPr>
            <a:spLocks noChangeArrowheads="1"/>
          </p:cNvSpPr>
          <p:nvPr/>
        </p:nvSpPr>
        <p:spPr bwMode="auto">
          <a:xfrm>
            <a:off x="4035834" y="2443975"/>
            <a:ext cx="442384" cy="49303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  <a:extLst/>
        </p:spPr>
        <p:txBody>
          <a:bodyPr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egoe UI Black" pitchFamily="2" charset="0"/>
              </a:rPr>
              <a:t>2</a:t>
            </a:r>
          </a:p>
        </p:txBody>
      </p:sp>
      <p:sp>
        <p:nvSpPr>
          <p:cNvPr id="16" name="文本框 22"/>
          <p:cNvSpPr>
            <a:spLocks noChangeArrowheads="1"/>
          </p:cNvSpPr>
          <p:nvPr/>
        </p:nvSpPr>
        <p:spPr bwMode="auto">
          <a:xfrm>
            <a:off x="4927435" y="2389044"/>
            <a:ext cx="2548466" cy="55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zh-CN" altLang="en-US" sz="2800" b="1" smtClean="0">
                <a:ea typeface="微软雅黑" pitchFamily="34" charset="-122"/>
                <a:sym typeface="Tahoma" pitchFamily="34" charset="0"/>
              </a:rPr>
              <a:t>概念及使用</a:t>
            </a:r>
            <a:endParaRPr lang="zh-CN" altLang="en-US" sz="2800" b="1">
              <a:ea typeface="微软雅黑" pitchFamily="34" charset="-122"/>
              <a:sym typeface="Tahoma" pitchFamily="34" charset="0"/>
            </a:endParaRPr>
          </a:p>
        </p:txBody>
      </p:sp>
      <p:sp>
        <p:nvSpPr>
          <p:cNvPr id="17" name="文本框 22"/>
          <p:cNvSpPr>
            <a:spLocks noChangeArrowheads="1"/>
          </p:cNvSpPr>
          <p:nvPr/>
        </p:nvSpPr>
        <p:spPr bwMode="auto">
          <a:xfrm>
            <a:off x="4927434" y="3202098"/>
            <a:ext cx="2548467" cy="55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zh-CN" altLang="en-US" sz="2800" b="1" smtClean="0">
                <a:ea typeface="微软雅黑" pitchFamily="34" charset="-122"/>
                <a:sym typeface="Tahoma" pitchFamily="34" charset="0"/>
              </a:rPr>
              <a:t>架构</a:t>
            </a:r>
            <a:endParaRPr lang="zh-CN" altLang="en-US" sz="2800" b="1">
              <a:ea typeface="微软雅黑" pitchFamily="34" charset="-122"/>
              <a:sym typeface="Tahoma" pitchFamily="34" charset="0"/>
            </a:endParaRPr>
          </a:p>
        </p:txBody>
      </p:sp>
      <p:sp>
        <p:nvSpPr>
          <p:cNvPr id="18" name="文本框 22"/>
          <p:cNvSpPr>
            <a:spLocks noChangeArrowheads="1"/>
          </p:cNvSpPr>
          <p:nvPr/>
        </p:nvSpPr>
        <p:spPr bwMode="auto">
          <a:xfrm>
            <a:off x="4927435" y="4014644"/>
            <a:ext cx="2548466" cy="55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800" b="1" smtClean="0">
                <a:ea typeface="微软雅黑" pitchFamily="34" charset="-122"/>
                <a:sym typeface="Tahoma" pitchFamily="34" charset="0"/>
              </a:rPr>
              <a:t>存储</a:t>
            </a:r>
            <a:endParaRPr lang="zh-CN" altLang="en-US" sz="2800" b="1">
              <a:ea typeface="微软雅黑" pitchFamily="34" charset="-122"/>
              <a:sym typeface="Tahoma" pitchFamily="34" charset="0"/>
            </a:endParaRPr>
          </a:p>
        </p:txBody>
      </p:sp>
      <p:sp>
        <p:nvSpPr>
          <p:cNvPr id="21" name="文本框 22"/>
          <p:cNvSpPr>
            <a:spLocks noChangeArrowheads="1"/>
          </p:cNvSpPr>
          <p:nvPr/>
        </p:nvSpPr>
        <p:spPr bwMode="auto">
          <a:xfrm>
            <a:off x="4929615" y="1616292"/>
            <a:ext cx="2548466" cy="55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微软雅黑" pitchFamily="34" charset="-122"/>
                <a:sym typeface="Tahoma" pitchFamily="34" charset="0"/>
              </a:rPr>
              <a:t>简介</a:t>
            </a:r>
          </a:p>
        </p:txBody>
      </p:sp>
      <p:sp>
        <p:nvSpPr>
          <p:cNvPr id="22" name="圆角矩形 21"/>
          <p:cNvSpPr/>
          <p:nvPr/>
        </p:nvSpPr>
        <p:spPr>
          <a:xfrm>
            <a:off x="3877681" y="1688300"/>
            <a:ext cx="764116" cy="51928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 cap="flat">
            <a:solidFill>
              <a:schemeClr val="tx1">
                <a:lumMod val="65000"/>
                <a:lumOff val="35000"/>
              </a:schemeClr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23" name="文本框 18"/>
          <p:cNvSpPr>
            <a:spLocks noChangeArrowheads="1"/>
          </p:cNvSpPr>
          <p:nvPr/>
        </p:nvSpPr>
        <p:spPr bwMode="auto">
          <a:xfrm>
            <a:off x="4038547" y="1701429"/>
            <a:ext cx="442384" cy="49303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extLst/>
        </p:spPr>
        <p:txBody>
          <a:bodyPr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egoe UI Black" pitchFamily="2" charset="0"/>
              </a:rPr>
              <a:t>1</a:t>
            </a:r>
          </a:p>
        </p:txBody>
      </p:sp>
      <p:sp>
        <p:nvSpPr>
          <p:cNvPr id="2" name="矩形 1"/>
          <p:cNvSpPr/>
          <p:nvPr/>
        </p:nvSpPr>
        <p:spPr>
          <a:xfrm>
            <a:off x="3718942" y="1608594"/>
            <a:ext cx="2952200" cy="651849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0725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Docker</a:t>
            </a:r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79456" y="3060229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什么是</a:t>
            </a: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Docker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42877" y="4509681"/>
            <a:ext cx="2117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为什么要用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D</a:t>
            </a: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ocker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55802" y="3780309"/>
            <a:ext cx="1751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微软雅黑" pitchFamily="34" charset="-122"/>
                <a:ea typeface="微软雅黑" pitchFamily="34" charset="-122"/>
              </a:rPr>
              <a:t>D</a:t>
            </a: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ocker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发展史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79456" y="1626476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什么是容器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79456" y="2340149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什么是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虚拟机</a:t>
            </a:r>
          </a:p>
        </p:txBody>
      </p:sp>
    </p:spTree>
    <p:extLst>
      <p:ext uri="{BB962C8B-B14F-4D97-AF65-F5344CB8AC3E}">
        <p14:creationId xmlns:p14="http://schemas.microsoft.com/office/powerpoint/2010/main" val="579357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349" y="682076"/>
            <a:ext cx="5362575" cy="1381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什么是容器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直接连接符 5"/>
          <p:cNvCxnSpPr/>
          <p:nvPr/>
        </p:nvCxnSpPr>
        <p:spPr>
          <a:xfrm>
            <a:off x="364625" y="2660339"/>
            <a:ext cx="13890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2558" y="2340149"/>
            <a:ext cx="9502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l"/>
            </a:pP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轻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量的、可执行的独立软件包 ，包含软件运行所需的所有内容：代码、运行时环境、系统工具、系统库和设置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422843" y="2660339"/>
            <a:ext cx="87267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V="1">
            <a:off x="364625" y="4088086"/>
            <a:ext cx="647905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75853" y="3767592"/>
            <a:ext cx="6756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l"/>
            </a:pP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赋予软件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独立性，使其免受外在环境差异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（如：开发、生产环境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的差异）的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影响</a:t>
            </a:r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377920" y="3358933"/>
            <a:ext cx="13890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75853" y="3038743"/>
            <a:ext cx="6567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l"/>
            </a:pP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适用于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基于</a:t>
            </a:r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Linux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Windows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的应用，在任何环境中都能够始终如一地运行</a:t>
            </a:r>
            <a:endParaRPr lang="zh-CN" altLang="en-US" sz="1400"/>
          </a:p>
        </p:txBody>
      </p:sp>
      <p:cxnSp>
        <p:nvCxnSpPr>
          <p:cNvPr id="28" name="直接连接符 27"/>
          <p:cNvCxnSpPr/>
          <p:nvPr/>
        </p:nvCxnSpPr>
        <p:spPr>
          <a:xfrm flipV="1">
            <a:off x="436138" y="3358933"/>
            <a:ext cx="597715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83924" y="1620069"/>
            <a:ext cx="65938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Package Software into Standardized Units for Development, Shipment and </a:t>
            </a:r>
            <a:r>
              <a:rPr lang="en-US" altLang="zh-CN" sz="1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Deployment</a:t>
            </a:r>
          </a:p>
          <a:p>
            <a:r>
              <a:rPr lang="zh-CN" altLang="en-US" sz="1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容器</a:t>
            </a:r>
            <a:r>
              <a:rPr lang="zh-CN" altLang="en-US" sz="1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就是将软件打包成标准化单元，以用于开发、交付和部署</a:t>
            </a:r>
          </a:p>
        </p:txBody>
      </p:sp>
      <p:pic>
        <p:nvPicPr>
          <p:cNvPr id="13314" name="Picture 2" descr="1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7334" y="3038743"/>
            <a:ext cx="4238625" cy="3457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Box 36"/>
          <p:cNvSpPr txBox="1"/>
          <p:nvPr/>
        </p:nvSpPr>
        <p:spPr>
          <a:xfrm>
            <a:off x="297699" y="5940549"/>
            <a:ext cx="2646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通俗一点：存放东西的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地方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64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什么是虚拟机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直接连接符 5"/>
          <p:cNvCxnSpPr/>
          <p:nvPr/>
        </p:nvCxnSpPr>
        <p:spPr>
          <a:xfrm>
            <a:off x="1054646" y="1992522"/>
            <a:ext cx="69847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52579" y="1469302"/>
            <a:ext cx="88024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在容器技术之前，业界的网红是</a:t>
            </a:r>
            <a:r>
              <a:rPr lang="zh-CN" altLang="en-US" sz="1400" b="1">
                <a:latin typeface="微软雅黑" pitchFamily="34" charset="-122"/>
                <a:ea typeface="微软雅黑" pitchFamily="34" charset="-122"/>
              </a:rPr>
              <a:t>虚拟机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。虚拟机技术的代表，是</a:t>
            </a:r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VMWare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1400" smtClean="0">
                <a:latin typeface="微软雅黑" pitchFamily="34" charset="-122"/>
                <a:ea typeface="微软雅黑" pitchFamily="34" charset="-122"/>
              </a:rPr>
              <a:t>OpenStack</a:t>
            </a:r>
          </a:p>
          <a:p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虚拟机，就是在你的操作系统里面，装一个软件，然后通过这个软件，再模拟一台甚至多台“子电脑”出来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1400"/>
          </a:p>
        </p:txBody>
      </p:sp>
      <p:cxnSp>
        <p:nvCxnSpPr>
          <p:cNvPr id="12" name="直接连接符 11"/>
          <p:cNvCxnSpPr/>
          <p:nvPr/>
        </p:nvCxnSpPr>
        <p:spPr>
          <a:xfrm>
            <a:off x="1112864" y="1992522"/>
            <a:ext cx="93028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2494806" y="2487195"/>
            <a:ext cx="6480720" cy="36004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195145" y="2915962"/>
            <a:ext cx="5029016" cy="274286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903681" y="3652478"/>
            <a:ext cx="3600400" cy="179032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623761" y="4146662"/>
            <a:ext cx="720080" cy="108012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042579" y="4146662"/>
            <a:ext cx="720080" cy="108012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854846" y="2560393"/>
            <a:ext cx="12146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PC</a:t>
            </a:r>
            <a:r>
              <a:rPr lang="zh-CN" altLang="en-US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sz="14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物理机</a:t>
            </a:r>
            <a:r>
              <a:rPr lang="zh-CN" altLang="en-US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sz="14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232707" y="2994534"/>
            <a:ext cx="1391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OS</a:t>
            </a:r>
            <a:r>
              <a:rPr lang="zh-CN" altLang="en-US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sz="14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操作系统</a:t>
            </a:r>
            <a:r>
              <a:rPr lang="zh-CN" altLang="en-US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sz="14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928234" y="3714614"/>
            <a:ext cx="1391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虚拟化软件</a:t>
            </a:r>
            <a:endParaRPr lang="zh-CN" altLang="en-US" sz="14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612311" y="4532833"/>
            <a:ext cx="803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虚拟机</a:t>
            </a:r>
            <a:r>
              <a:rPr lang="en-US" altLang="zh-CN" sz="12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2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042579" y="4531344"/>
            <a:ext cx="803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虚拟机</a:t>
            </a:r>
            <a:r>
              <a:rPr lang="en-US" altLang="zh-CN" sz="12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endParaRPr lang="zh-CN" altLang="en-US" sz="12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398402" y="4531343"/>
            <a:ext cx="593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·······</a:t>
            </a:r>
            <a:endParaRPr lang="zh-CN" altLang="en-US" sz="12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458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6"/>
          <p:cNvGrpSpPr/>
          <p:nvPr/>
        </p:nvGrpSpPr>
        <p:grpSpPr>
          <a:xfrm>
            <a:off x="1" y="1980109"/>
            <a:ext cx="5447134" cy="2952328"/>
            <a:chOff x="1" y="1980109"/>
            <a:chExt cx="5447134" cy="2952328"/>
          </a:xfrm>
        </p:grpSpPr>
        <p:pic>
          <p:nvPicPr>
            <p:cNvPr id="15364" name="Picture 4" descr="3.jpe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" y="1980109"/>
              <a:ext cx="5447134" cy="24285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/>
            <p:cNvSpPr txBox="1"/>
            <p:nvPr/>
          </p:nvSpPr>
          <p:spPr>
            <a:xfrm>
              <a:off x="2121699" y="4563105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虚拟机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068298" y="2016620"/>
            <a:ext cx="5190021" cy="2993782"/>
            <a:chOff x="6068298" y="2016620"/>
            <a:chExt cx="5190021" cy="2993782"/>
          </a:xfrm>
        </p:grpSpPr>
        <p:pic>
          <p:nvPicPr>
            <p:cNvPr id="15366" name="Picture 6" descr="4.jpe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8298" y="2016620"/>
              <a:ext cx="5190021" cy="26642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TextBox 23"/>
            <p:cNvSpPr txBox="1"/>
            <p:nvPr/>
          </p:nvSpPr>
          <p:spPr>
            <a:xfrm>
              <a:off x="7535366" y="4641070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容器</a:t>
              </a:r>
            </a:p>
          </p:txBody>
        </p:sp>
      </p:grpSp>
      <p:sp>
        <p:nvSpPr>
          <p:cNvPr id="27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虚拟机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容器（通俗）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9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632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9070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什么是</a:t>
            </a:r>
            <a:r>
              <a:rPr lang="en-US" altLang="zh-CN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ocker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直接连接符 5"/>
          <p:cNvCxnSpPr/>
          <p:nvPr/>
        </p:nvCxnSpPr>
        <p:spPr>
          <a:xfrm>
            <a:off x="1054646" y="2660339"/>
            <a:ext cx="13890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52579" y="2340149"/>
            <a:ext cx="1491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l"/>
            </a:pPr>
            <a:r>
              <a:rPr lang="en-US" altLang="zh-CN" sz="1400" smtClean="0">
                <a:latin typeface="微软雅黑" pitchFamily="34" charset="-122"/>
                <a:ea typeface="微软雅黑" pitchFamily="34" charset="-122"/>
              </a:rPr>
              <a:t>Go 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语言开发</a:t>
            </a:r>
            <a:endParaRPr lang="zh-CN" altLang="en-US" sz="1400"/>
          </a:p>
        </p:txBody>
      </p:sp>
      <p:cxnSp>
        <p:nvCxnSpPr>
          <p:cNvPr id="12" name="直接连接符 11"/>
          <p:cNvCxnSpPr/>
          <p:nvPr/>
        </p:nvCxnSpPr>
        <p:spPr>
          <a:xfrm>
            <a:off x="1112864" y="2660339"/>
            <a:ext cx="13308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054646" y="4088086"/>
            <a:ext cx="28979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054646" y="4808166"/>
            <a:ext cx="34563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65874" y="3767592"/>
            <a:ext cx="2448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l"/>
            </a:pP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独立于宿主机和其他进程</a:t>
            </a:r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59755" y="4531167"/>
            <a:ext cx="36423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l"/>
            </a:pPr>
            <a:r>
              <a:rPr lang="zh-CN" altLang="en-US" sz="1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操作系统层面的虚拟化</a:t>
            </a:r>
            <a:r>
              <a:rPr lang="zh-CN" altLang="en-US" sz="1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技术，轻</a:t>
            </a:r>
            <a:r>
              <a:rPr lang="zh-CN" altLang="en-US" sz="1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量的</a:t>
            </a:r>
            <a:r>
              <a:rPr lang="en-US" altLang="zh-CN" sz="1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VM</a:t>
            </a:r>
            <a:endParaRPr lang="en-US" altLang="zh-TW" sz="140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1067941" y="3358933"/>
            <a:ext cx="13890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65874" y="3038743"/>
            <a:ext cx="16433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l"/>
            </a:pP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基于</a:t>
            </a:r>
            <a:r>
              <a:rPr lang="en-US" altLang="zh-CN" sz="1400" smtClean="0">
                <a:latin typeface="微软雅黑" pitchFamily="34" charset="-122"/>
                <a:ea typeface="微软雅黑" pitchFamily="34" charset="-122"/>
              </a:rPr>
              <a:t>Linux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内核</a:t>
            </a:r>
            <a:endParaRPr lang="zh-CN" altLang="en-US" sz="1400"/>
          </a:p>
        </p:txBody>
      </p:sp>
      <p:cxnSp>
        <p:nvCxnSpPr>
          <p:cNvPr id="28" name="直接连接符 27"/>
          <p:cNvCxnSpPr/>
          <p:nvPr/>
        </p:nvCxnSpPr>
        <p:spPr>
          <a:xfrm>
            <a:off x="1126159" y="3358933"/>
            <a:ext cx="13308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4566" y="1692077"/>
            <a:ext cx="47484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l"/>
            </a:pPr>
            <a:r>
              <a:rPr lang="en-US" altLang="zh-CN" sz="1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Linux </a:t>
            </a:r>
            <a:r>
              <a:rPr lang="zh-CN" altLang="en-US" sz="1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容器的一种封装，提供简单易用的容器使用接口</a:t>
            </a:r>
            <a:endParaRPr lang="en-US" altLang="zh-TW" sz="140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90966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altLang="zh-CN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ocker</a:t>
            </a:r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发展史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6" name="Picture 2" descr="E:\支付指南\技术分享\Docker\Docker发展史-黑色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582" y="1500188"/>
            <a:ext cx="10985480" cy="4080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3001225"/>
              </p:ext>
            </p:extLst>
          </p:nvPr>
        </p:nvGraphicFramePr>
        <p:xfrm>
          <a:off x="11038285" y="6383396"/>
          <a:ext cx="1152128" cy="428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2" name="包装程序外壳对象" showAsIcon="1" r:id="rId6" imgW="2323080" imgH="863640" progId="Package">
                  <p:embed/>
                </p:oleObj>
              </mc:Choice>
              <mc:Fallback>
                <p:oleObj name="包装程序外壳对象" showAsIcon="1" r:id="rId6" imgW="2323080" imgH="86364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038285" y="6383396"/>
                        <a:ext cx="1152128" cy="4284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0060" y="6403955"/>
            <a:ext cx="9064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容器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十年 </a:t>
            </a:r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一部软件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交付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编年史</a:t>
            </a:r>
            <a:r>
              <a:rPr lang="en-US" altLang="zh-CN" sz="1600" smtClean="0"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mtClean="0"/>
              <a:t>https</a:t>
            </a:r>
            <a:r>
              <a:rPr lang="en-US" altLang="zh-CN"/>
              <a:t>://mp.weixin.qq.com/s/pIGz-628RANwVMJt7f2vog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0946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为什么要用</a:t>
            </a:r>
            <a:r>
              <a:rPr lang="en-US" altLang="zh-CN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ocker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34566" y="1260029"/>
            <a:ext cx="9627828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itchFamily="2" charset="2"/>
              <a:buChar char="l"/>
            </a:pPr>
            <a:r>
              <a:rPr lang="zh-CN" altLang="en-US" sz="200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一致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的运行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环境</a:t>
            </a:r>
            <a:endParaRPr lang="en-US" altLang="zh-CN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Docker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的镜像提供了除内核外完整的运行时环境，确保了应用运行环境一致性，从而不会再出现“这段代码在我机器上没问题啊”这类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问题</a:t>
            </a:r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  <a:p>
            <a:pPr marL="171450" indent="-171450">
              <a:buFont typeface="Wingdings" pitchFamily="2" charset="2"/>
              <a:buChar char="l"/>
            </a:pPr>
            <a:r>
              <a:rPr lang="zh-CN" altLang="en-US" sz="200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更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快速的启动时间</a:t>
            </a:r>
          </a:p>
          <a:p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可以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做到秒级、甚至毫秒级的启动时间。大大的节约了开发、测试、部署的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时间</a:t>
            </a:r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  <a:p>
            <a:pPr marL="171450" indent="-171450">
              <a:buFont typeface="Wingdings" pitchFamily="2" charset="2"/>
              <a:buChar char="l"/>
            </a:pPr>
            <a:r>
              <a:rPr lang="zh-CN" altLang="en-US" sz="200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隔离性</a:t>
            </a:r>
            <a:endParaRPr lang="en-US" altLang="zh-CN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避免公用的服务器，资源会容易受到其他用户的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影响</a:t>
            </a:r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  <a:p>
            <a:pPr marL="171450" indent="-171450">
              <a:buFont typeface="Wingdings" pitchFamily="2" charset="2"/>
              <a:buChar char="l"/>
            </a:pP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 弹性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伸缩，快速扩展</a:t>
            </a:r>
          </a:p>
          <a:p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善于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处理集中爆发的服务器使用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压力</a:t>
            </a:r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200">
              <a:latin typeface="微软雅黑" pitchFamily="34" charset="-122"/>
              <a:ea typeface="微软雅黑" pitchFamily="34" charset="-122"/>
            </a:endParaRPr>
          </a:p>
          <a:p>
            <a:pPr marL="171450" indent="-171450">
              <a:buFont typeface="Wingdings" pitchFamily="2" charset="2"/>
              <a:buChar char="l"/>
            </a:pPr>
            <a:r>
              <a:rPr lang="zh-CN" altLang="en-US" sz="200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迁移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方便</a:t>
            </a:r>
          </a:p>
          <a:p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可以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很轻易的将在一个平台上运行的应用，迁移到另一个平台上，而不用担心运行环境的变化导致应用无法正常运行的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情况</a:t>
            </a:r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  <a:p>
            <a:pPr marL="171450" indent="-171450">
              <a:buFont typeface="Wingdings" pitchFamily="2" charset="2"/>
              <a:buChar char="l"/>
            </a:pPr>
            <a:r>
              <a:rPr lang="zh-CN" altLang="en-US" sz="200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持续交付和部署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Docker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可以通过定制应用镜像来实现持续集成、持续交付、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部署</a:t>
            </a:r>
            <a:endParaRPr lang="zh-CN" altLang="en-US" sz="120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6157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altLang="zh-CN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Docker </a:t>
            </a:r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优劣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AutoShape 2" descr="Container stack exampl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27" name="Picture 3" descr="E:\支付指南\技术分享\Docker\Container@2x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749" y="923457"/>
            <a:ext cx="3498507" cy="3136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:\支付指南\技术分享\Docker\VM@2x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9262" y="891698"/>
            <a:ext cx="3525456" cy="316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209209"/>
              </p:ext>
            </p:extLst>
          </p:nvPr>
        </p:nvGraphicFramePr>
        <p:xfrm>
          <a:off x="1918743" y="4709909"/>
          <a:ext cx="8205976" cy="1950720"/>
        </p:xfrm>
        <a:graphic>
          <a:graphicData uri="http://schemas.openxmlformats.org/drawingml/2006/table">
            <a:tbl>
              <a:tblPr/>
              <a:tblGrid>
                <a:gridCol w="2382380"/>
                <a:gridCol w="3088271"/>
                <a:gridCol w="2735325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特性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容器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虚拟机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隔离级别</a:t>
                      </a:r>
                      <a:endParaRPr lang="zh-CN" altLang="en-US" sz="12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进程级</a:t>
                      </a:r>
                      <a:endParaRPr lang="zh-CN" altLang="en-US" sz="12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操作系统级</a:t>
                      </a:r>
                      <a:endParaRPr lang="zh-CN" altLang="en-US" sz="12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隔离策略</a:t>
                      </a:r>
                      <a:endParaRPr lang="zh-CN" altLang="en-US" sz="12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CGroups</a:t>
                      </a:r>
                      <a:endParaRPr lang="zh-CN" altLang="en-US" sz="12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Hypervisor</a:t>
                      </a:r>
                      <a:endParaRPr lang="zh-CN" altLang="en-US" sz="12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启动时间</a:t>
                      </a:r>
                      <a:endParaRPr lang="zh-CN" altLang="en-US" sz="12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秒级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分钟级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镜像存储</a:t>
                      </a:r>
                      <a:endParaRPr lang="zh-CN" altLang="en-US" sz="12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一般为 </a:t>
                      </a:r>
                      <a:r>
                        <a:rPr lang="en-US" sz="12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MB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一般为 </a:t>
                      </a:r>
                      <a:r>
                        <a:rPr lang="en-US" sz="12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GB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性能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接近原生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弱于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集群规模</a:t>
                      </a:r>
                      <a:endParaRPr lang="zh-CN" altLang="en-US" sz="120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单机支持上千个容器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一般几十个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311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/>
          <p:cNvSpPr/>
          <p:nvPr/>
        </p:nvSpPr>
        <p:spPr>
          <a:xfrm>
            <a:off x="3874968" y="3230771"/>
            <a:ext cx="764116" cy="51928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 cap="flat">
            <a:solidFill>
              <a:schemeClr val="tx1">
                <a:lumMod val="65000"/>
                <a:lumOff val="35000"/>
              </a:schemeClr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3</a:t>
            </a: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3874968" y="4025973"/>
            <a:ext cx="764116" cy="51928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 cap="flat">
            <a:solidFill>
              <a:schemeClr val="tx1">
                <a:lumMod val="65000"/>
                <a:lumOff val="35000"/>
              </a:schemeClr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4</a:t>
            </a: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3874968" y="2430846"/>
            <a:ext cx="764116" cy="51928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 cap="flat">
            <a:solidFill>
              <a:schemeClr val="tx1">
                <a:lumMod val="65000"/>
                <a:lumOff val="35000"/>
              </a:schemeClr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1578303" y="611957"/>
            <a:ext cx="1424422" cy="738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4000" b="1">
                <a:latin typeface="微软雅黑" pitchFamily="34" charset="-122"/>
                <a:ea typeface="微软雅黑" pitchFamily="34" charset="-122"/>
              </a:rPr>
              <a:t>目 录</a:t>
            </a:r>
          </a:p>
        </p:txBody>
      </p:sp>
      <p:sp>
        <p:nvSpPr>
          <p:cNvPr id="14" name="TextBox 19"/>
          <p:cNvSpPr txBox="1">
            <a:spLocks noChangeArrowheads="1"/>
          </p:cNvSpPr>
          <p:nvPr/>
        </p:nvSpPr>
        <p:spPr bwMode="auto">
          <a:xfrm>
            <a:off x="1414686" y="1404064"/>
            <a:ext cx="1902118" cy="49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CONTENTS</a:t>
            </a:r>
            <a:endParaRPr lang="zh-CN" altLang="en-US" sz="2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文本框 18"/>
          <p:cNvSpPr>
            <a:spLocks noChangeArrowheads="1"/>
          </p:cNvSpPr>
          <p:nvPr/>
        </p:nvSpPr>
        <p:spPr bwMode="auto">
          <a:xfrm>
            <a:off x="4035834" y="2443975"/>
            <a:ext cx="442384" cy="49303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  <a:extLst/>
        </p:spPr>
        <p:txBody>
          <a:bodyPr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egoe UI Black" pitchFamily="2" charset="0"/>
              </a:rPr>
              <a:t>2</a:t>
            </a:r>
          </a:p>
        </p:txBody>
      </p:sp>
      <p:sp>
        <p:nvSpPr>
          <p:cNvPr id="16" name="文本框 22"/>
          <p:cNvSpPr>
            <a:spLocks noChangeArrowheads="1"/>
          </p:cNvSpPr>
          <p:nvPr/>
        </p:nvSpPr>
        <p:spPr bwMode="auto">
          <a:xfrm>
            <a:off x="4927435" y="2389044"/>
            <a:ext cx="2548466" cy="55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zh-CN" altLang="en-US" sz="2800" b="1" smtClean="0">
                <a:ea typeface="微软雅黑" pitchFamily="34" charset="-122"/>
                <a:sym typeface="Tahoma" pitchFamily="34" charset="0"/>
              </a:rPr>
              <a:t>概念及使用</a:t>
            </a:r>
            <a:endParaRPr lang="zh-CN" altLang="en-US" sz="2800" b="1">
              <a:ea typeface="微软雅黑" pitchFamily="34" charset="-122"/>
              <a:sym typeface="Tahoma" pitchFamily="34" charset="0"/>
            </a:endParaRPr>
          </a:p>
        </p:txBody>
      </p:sp>
      <p:sp>
        <p:nvSpPr>
          <p:cNvPr id="17" name="文本框 22"/>
          <p:cNvSpPr>
            <a:spLocks noChangeArrowheads="1"/>
          </p:cNvSpPr>
          <p:nvPr/>
        </p:nvSpPr>
        <p:spPr bwMode="auto">
          <a:xfrm>
            <a:off x="4927434" y="3202098"/>
            <a:ext cx="2548467" cy="55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zh-CN" altLang="en-US" sz="2800" b="1" smtClean="0">
                <a:ea typeface="微软雅黑" pitchFamily="34" charset="-122"/>
                <a:sym typeface="Tahoma" pitchFamily="34" charset="0"/>
              </a:rPr>
              <a:t>架构</a:t>
            </a:r>
            <a:endParaRPr lang="zh-CN" altLang="en-US" sz="2800" b="1">
              <a:ea typeface="微软雅黑" pitchFamily="34" charset="-122"/>
              <a:sym typeface="Tahoma" pitchFamily="34" charset="0"/>
            </a:endParaRPr>
          </a:p>
        </p:txBody>
      </p:sp>
      <p:sp>
        <p:nvSpPr>
          <p:cNvPr id="18" name="文本框 22"/>
          <p:cNvSpPr>
            <a:spLocks noChangeArrowheads="1"/>
          </p:cNvSpPr>
          <p:nvPr/>
        </p:nvSpPr>
        <p:spPr bwMode="auto">
          <a:xfrm>
            <a:off x="4927435" y="4014644"/>
            <a:ext cx="2548466" cy="55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800" b="1" smtClean="0">
                <a:ea typeface="微软雅黑" pitchFamily="34" charset="-122"/>
                <a:sym typeface="Tahoma" pitchFamily="34" charset="0"/>
              </a:rPr>
              <a:t>存储</a:t>
            </a:r>
            <a:endParaRPr lang="zh-CN" altLang="en-US" sz="2800" b="1">
              <a:ea typeface="微软雅黑" pitchFamily="34" charset="-122"/>
              <a:sym typeface="Tahoma" pitchFamily="34" charset="0"/>
            </a:endParaRPr>
          </a:p>
        </p:txBody>
      </p:sp>
      <p:sp>
        <p:nvSpPr>
          <p:cNvPr id="21" name="文本框 22"/>
          <p:cNvSpPr>
            <a:spLocks noChangeArrowheads="1"/>
          </p:cNvSpPr>
          <p:nvPr/>
        </p:nvSpPr>
        <p:spPr bwMode="auto">
          <a:xfrm>
            <a:off x="4929615" y="1616292"/>
            <a:ext cx="2548466" cy="55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微软雅黑" pitchFamily="34" charset="-122"/>
                <a:sym typeface="Tahoma" pitchFamily="34" charset="0"/>
              </a:rPr>
              <a:t>简介</a:t>
            </a:r>
          </a:p>
        </p:txBody>
      </p:sp>
      <p:sp>
        <p:nvSpPr>
          <p:cNvPr id="22" name="圆角矩形 21"/>
          <p:cNvSpPr/>
          <p:nvPr/>
        </p:nvSpPr>
        <p:spPr>
          <a:xfrm>
            <a:off x="3877681" y="1688300"/>
            <a:ext cx="764116" cy="51928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 cap="flat">
            <a:solidFill>
              <a:schemeClr val="tx1">
                <a:lumMod val="65000"/>
                <a:lumOff val="35000"/>
              </a:schemeClr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23" name="文本框 18"/>
          <p:cNvSpPr>
            <a:spLocks noChangeArrowheads="1"/>
          </p:cNvSpPr>
          <p:nvPr/>
        </p:nvSpPr>
        <p:spPr bwMode="auto">
          <a:xfrm>
            <a:off x="4038547" y="1701429"/>
            <a:ext cx="442384" cy="49303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extLst/>
        </p:spPr>
        <p:txBody>
          <a:bodyPr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egoe UI Black" pitchFamily="2" charset="0"/>
              </a:rPr>
              <a:t>1</a:t>
            </a:r>
          </a:p>
        </p:txBody>
      </p:sp>
      <p:sp>
        <p:nvSpPr>
          <p:cNvPr id="2" name="矩形 1"/>
          <p:cNvSpPr/>
          <p:nvPr/>
        </p:nvSpPr>
        <p:spPr>
          <a:xfrm>
            <a:off x="3718942" y="2364565"/>
            <a:ext cx="3240360" cy="651849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321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基本</a:t>
            </a:r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概念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371668"/>
              </p:ext>
            </p:extLst>
          </p:nvPr>
        </p:nvGraphicFramePr>
        <p:xfrm>
          <a:off x="10697091" y="6337524"/>
          <a:ext cx="1493323" cy="5030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9" name="包装程序外壳对象" showAsIcon="1" r:id="rId5" imgW="2564280" imgH="863640" progId="Package">
                  <p:embed/>
                </p:oleObj>
              </mc:Choice>
              <mc:Fallback>
                <p:oleObj name="包装程序外壳对象" showAsIcon="1" r:id="rId5" imgW="2564280" imgH="86364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697091" y="6337524"/>
                        <a:ext cx="1493323" cy="5030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96" name="Picture 100" descr="E:\支付指南\技术分享\Docker\Docker基本概念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862" y="2340149"/>
            <a:ext cx="5191125" cy="187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9138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仓库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4000" b="1" smtClean="0"/>
              <a:t>Repository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52328" y="1384300"/>
            <a:ext cx="9547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smtClean="0">
                <a:latin typeface="微软雅黑" pitchFamily="34" charset="-122"/>
                <a:ea typeface="微软雅黑" pitchFamily="34" charset="-122"/>
              </a:rPr>
              <a:t>Registry</a:t>
            </a:r>
            <a:r>
              <a:rPr lang="zh-CN" altLang="en-US" sz="1400" b="1" smtClean="0">
                <a:latin typeface="微软雅黑" pitchFamily="34" charset="-122"/>
                <a:ea typeface="微软雅黑" pitchFamily="34" charset="-122"/>
              </a:rPr>
              <a:t>（仓库注册服务器）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：注册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服务器可以理解为 </a:t>
            </a:r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GitHub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 这样的托管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服务，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用于集中的存储、分发镜像的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服务</a:t>
            </a:r>
            <a:endParaRPr lang="en-US" altLang="zh-CN" sz="140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2328" y="971997"/>
            <a:ext cx="4038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smtClean="0">
                <a:latin typeface="微软雅黑" pitchFamily="34" charset="-122"/>
                <a:ea typeface="微软雅黑" pitchFamily="34" charset="-122"/>
              </a:rPr>
              <a:t>Repository</a:t>
            </a:r>
            <a:r>
              <a:rPr lang="zh-CN" altLang="en-US" sz="1400" b="1" smtClean="0">
                <a:latin typeface="微软雅黑" pitchFamily="34" charset="-122"/>
                <a:ea typeface="微软雅黑" pitchFamily="34" charset="-122"/>
              </a:rPr>
              <a:t>（仓库）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：集中存放镜像文件的场所</a:t>
            </a:r>
            <a:endParaRPr lang="en-US" altLang="zh-CN" sz="140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0757" y="6156572"/>
            <a:ext cx="9978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一个 </a:t>
            </a:r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Docker Registry 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中可以包含多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个仓库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Repository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）；每个仓库可以包含多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个标签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Tag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）；每个标签对应一个镜像</a:t>
            </a:r>
          </a:p>
        </p:txBody>
      </p:sp>
      <p:sp>
        <p:nvSpPr>
          <p:cNvPr id="14" name="流程图: 磁盘 13"/>
          <p:cNvSpPr/>
          <p:nvPr/>
        </p:nvSpPr>
        <p:spPr>
          <a:xfrm>
            <a:off x="4727054" y="3403529"/>
            <a:ext cx="1591302" cy="1154550"/>
          </a:xfrm>
          <a:prstGeom prst="flowChartMagneticDisk">
            <a:avLst/>
          </a:prstGeom>
          <a:solidFill>
            <a:srgbClr val="009E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Repository</a:t>
            </a:r>
            <a:endParaRPr lang="zh-CN" altLang="en-US"/>
          </a:p>
        </p:txBody>
      </p:sp>
      <p:sp>
        <p:nvSpPr>
          <p:cNvPr id="13" name="云形 12"/>
          <p:cNvSpPr/>
          <p:nvPr/>
        </p:nvSpPr>
        <p:spPr>
          <a:xfrm>
            <a:off x="4046541" y="1835096"/>
            <a:ext cx="2952328" cy="936104"/>
          </a:xfrm>
          <a:prstGeom prst="cloud">
            <a:avLst/>
          </a:prstGeom>
          <a:solidFill>
            <a:schemeClr val="bg1"/>
          </a:solidFill>
          <a:ln w="3175">
            <a:solidFill>
              <a:srgbClr val="009E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Registry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流程图: 磁盘 17"/>
          <p:cNvSpPr/>
          <p:nvPr/>
        </p:nvSpPr>
        <p:spPr>
          <a:xfrm>
            <a:off x="2494806" y="3403754"/>
            <a:ext cx="1591302" cy="1154550"/>
          </a:xfrm>
          <a:prstGeom prst="flowChartMagneticDisk">
            <a:avLst/>
          </a:prstGeom>
          <a:solidFill>
            <a:srgbClr val="009E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Repository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9" name="流程图: 磁盘 18"/>
          <p:cNvSpPr/>
          <p:nvPr/>
        </p:nvSpPr>
        <p:spPr>
          <a:xfrm>
            <a:off x="7535366" y="3402948"/>
            <a:ext cx="1591302" cy="1154550"/>
          </a:xfrm>
          <a:prstGeom prst="flowChartMagneticDisk">
            <a:avLst/>
          </a:prstGeom>
          <a:solidFill>
            <a:srgbClr val="009E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Repository</a:t>
            </a:r>
            <a:endParaRPr lang="zh-CN" altLang="en-US"/>
          </a:p>
        </p:txBody>
      </p:sp>
      <p:cxnSp>
        <p:nvCxnSpPr>
          <p:cNvPr id="17" name="直接箭头连接符 16"/>
          <p:cNvCxnSpPr>
            <a:stCxn id="13" idx="1"/>
            <a:endCxn id="18" idx="1"/>
          </p:cNvCxnSpPr>
          <p:nvPr/>
        </p:nvCxnSpPr>
        <p:spPr>
          <a:xfrm flipH="1">
            <a:off x="3290457" y="2770203"/>
            <a:ext cx="2232248" cy="63355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13" idx="1"/>
            <a:endCxn id="14" idx="1"/>
          </p:cNvCxnSpPr>
          <p:nvPr/>
        </p:nvCxnSpPr>
        <p:spPr>
          <a:xfrm>
            <a:off x="5522705" y="2770203"/>
            <a:ext cx="0" cy="6333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13" idx="1"/>
            <a:endCxn id="19" idx="1"/>
          </p:cNvCxnSpPr>
          <p:nvPr/>
        </p:nvCxnSpPr>
        <p:spPr>
          <a:xfrm>
            <a:off x="5522705" y="2770203"/>
            <a:ext cx="2808312" cy="6327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612623" y="3769453"/>
            <a:ext cx="634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smtClean="0">
                <a:solidFill>
                  <a:srgbClr val="009ED6"/>
                </a:solidFill>
                <a:latin typeface="微软雅黑" pitchFamily="34" charset="-122"/>
                <a:ea typeface="微软雅黑" pitchFamily="34" charset="-122"/>
              </a:rPr>
              <a:t>……</a:t>
            </a:r>
            <a:endParaRPr lang="zh-CN" altLang="en-US" b="1">
              <a:solidFill>
                <a:srgbClr val="009ED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流程图: 文档 34"/>
          <p:cNvSpPr/>
          <p:nvPr/>
        </p:nvSpPr>
        <p:spPr>
          <a:xfrm>
            <a:off x="1362275" y="4789565"/>
            <a:ext cx="772491" cy="430904"/>
          </a:xfrm>
          <a:prstGeom prst="flowChartDocument">
            <a:avLst/>
          </a:prstGeom>
          <a:solidFill>
            <a:srgbClr val="009E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Tag</a:t>
            </a:r>
            <a:endParaRPr lang="zh-CN" altLang="en-US"/>
          </a:p>
        </p:txBody>
      </p:sp>
      <p:sp>
        <p:nvSpPr>
          <p:cNvPr id="37" name="流程图: 数据 36"/>
          <p:cNvSpPr/>
          <p:nvPr/>
        </p:nvSpPr>
        <p:spPr>
          <a:xfrm>
            <a:off x="1227048" y="5552702"/>
            <a:ext cx="864096" cy="306324"/>
          </a:xfrm>
          <a:prstGeom prst="flowChartInputOutput">
            <a:avLst/>
          </a:prstGeom>
          <a:solidFill>
            <a:srgbClr val="009E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微软雅黑" pitchFamily="34" charset="-122"/>
                <a:ea typeface="微软雅黑" pitchFamily="34" charset="-122"/>
              </a:rPr>
              <a:t>image</a:t>
            </a:r>
            <a:endParaRPr lang="zh-CN" altLang="en-US" sz="8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流程图: 文档 41"/>
          <p:cNvSpPr/>
          <p:nvPr/>
        </p:nvSpPr>
        <p:spPr>
          <a:xfrm>
            <a:off x="2422798" y="4801036"/>
            <a:ext cx="772491" cy="430904"/>
          </a:xfrm>
          <a:prstGeom prst="flowChartDocument">
            <a:avLst/>
          </a:prstGeom>
          <a:solidFill>
            <a:srgbClr val="009E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Tag</a:t>
            </a:r>
            <a:endParaRPr lang="zh-CN" altLang="en-US"/>
          </a:p>
        </p:txBody>
      </p:sp>
      <p:sp>
        <p:nvSpPr>
          <p:cNvPr id="43" name="流程图: 文档 42"/>
          <p:cNvSpPr/>
          <p:nvPr/>
        </p:nvSpPr>
        <p:spPr>
          <a:xfrm>
            <a:off x="3479896" y="4822571"/>
            <a:ext cx="772491" cy="430904"/>
          </a:xfrm>
          <a:prstGeom prst="flowChartDocument">
            <a:avLst/>
          </a:prstGeom>
          <a:solidFill>
            <a:srgbClr val="009E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Tag</a:t>
            </a:r>
            <a:endParaRPr lang="zh-CN" altLang="en-US"/>
          </a:p>
        </p:txBody>
      </p:sp>
      <p:cxnSp>
        <p:nvCxnSpPr>
          <p:cNvPr id="51" name="直接箭头连接符 50"/>
          <p:cNvCxnSpPr>
            <a:stCxn id="18" idx="3"/>
            <a:endCxn id="35" idx="0"/>
          </p:cNvCxnSpPr>
          <p:nvPr/>
        </p:nvCxnSpPr>
        <p:spPr>
          <a:xfrm flipH="1">
            <a:off x="1748521" y="4558304"/>
            <a:ext cx="1541936" cy="23126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>
            <a:stCxn id="18" idx="3"/>
            <a:endCxn id="42" idx="0"/>
          </p:cNvCxnSpPr>
          <p:nvPr/>
        </p:nvCxnSpPr>
        <p:spPr>
          <a:xfrm flipH="1">
            <a:off x="2809044" y="4558304"/>
            <a:ext cx="481413" cy="2427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>
            <a:stCxn id="18" idx="3"/>
            <a:endCxn id="43" idx="0"/>
          </p:cNvCxnSpPr>
          <p:nvPr/>
        </p:nvCxnSpPr>
        <p:spPr>
          <a:xfrm>
            <a:off x="3290457" y="4558304"/>
            <a:ext cx="575685" cy="26426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3146061" y="4768035"/>
            <a:ext cx="333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smtClean="0">
                <a:solidFill>
                  <a:srgbClr val="009ED6"/>
                </a:solidFill>
                <a:latin typeface="微软雅黑" pitchFamily="34" charset="-122"/>
                <a:ea typeface="微软雅黑" pitchFamily="34" charset="-122"/>
              </a:rPr>
              <a:t>…</a:t>
            </a:r>
            <a:endParaRPr lang="zh-CN" altLang="en-US" b="1">
              <a:solidFill>
                <a:srgbClr val="009ED6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zh-CN" altLang="en-US" b="1">
              <a:solidFill>
                <a:srgbClr val="009ED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1" name="流程图: 文档 60"/>
          <p:cNvSpPr/>
          <p:nvPr/>
        </p:nvSpPr>
        <p:spPr>
          <a:xfrm>
            <a:off x="4495002" y="4842742"/>
            <a:ext cx="772491" cy="430904"/>
          </a:xfrm>
          <a:prstGeom prst="flowChartDocument">
            <a:avLst/>
          </a:prstGeom>
          <a:solidFill>
            <a:srgbClr val="009E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Tag</a:t>
            </a:r>
            <a:endParaRPr lang="zh-CN" altLang="en-US"/>
          </a:p>
        </p:txBody>
      </p:sp>
      <p:sp>
        <p:nvSpPr>
          <p:cNvPr id="62" name="流程图: 文档 61"/>
          <p:cNvSpPr/>
          <p:nvPr/>
        </p:nvSpPr>
        <p:spPr>
          <a:xfrm>
            <a:off x="5555525" y="4854213"/>
            <a:ext cx="772491" cy="430904"/>
          </a:xfrm>
          <a:prstGeom prst="flowChartDocument">
            <a:avLst/>
          </a:prstGeom>
          <a:solidFill>
            <a:srgbClr val="009E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Tag</a:t>
            </a:r>
            <a:endParaRPr lang="zh-CN" altLang="en-US"/>
          </a:p>
        </p:txBody>
      </p:sp>
      <p:sp>
        <p:nvSpPr>
          <p:cNvPr id="63" name="流程图: 文档 62"/>
          <p:cNvSpPr/>
          <p:nvPr/>
        </p:nvSpPr>
        <p:spPr>
          <a:xfrm>
            <a:off x="6612623" y="4875748"/>
            <a:ext cx="772491" cy="430904"/>
          </a:xfrm>
          <a:prstGeom prst="flowChartDocument">
            <a:avLst/>
          </a:prstGeom>
          <a:solidFill>
            <a:srgbClr val="009E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Tag</a:t>
            </a:r>
            <a:endParaRPr lang="zh-CN" altLang="en-US"/>
          </a:p>
        </p:txBody>
      </p:sp>
      <p:cxnSp>
        <p:nvCxnSpPr>
          <p:cNvPr id="64" name="直接箭头连接符 63"/>
          <p:cNvCxnSpPr>
            <a:stCxn id="14" idx="3"/>
            <a:endCxn id="61" idx="0"/>
          </p:cNvCxnSpPr>
          <p:nvPr/>
        </p:nvCxnSpPr>
        <p:spPr>
          <a:xfrm flipH="1">
            <a:off x="4881248" y="4558079"/>
            <a:ext cx="641457" cy="2846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>
            <a:stCxn id="14" idx="3"/>
            <a:endCxn id="62" idx="0"/>
          </p:cNvCxnSpPr>
          <p:nvPr/>
        </p:nvCxnSpPr>
        <p:spPr>
          <a:xfrm>
            <a:off x="5522705" y="4558079"/>
            <a:ext cx="419066" cy="2961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>
            <a:stCxn id="14" idx="3"/>
            <a:endCxn id="63" idx="0"/>
          </p:cNvCxnSpPr>
          <p:nvPr/>
        </p:nvCxnSpPr>
        <p:spPr>
          <a:xfrm>
            <a:off x="5522705" y="4558079"/>
            <a:ext cx="1476164" cy="31766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6278788" y="4821212"/>
            <a:ext cx="333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smtClean="0">
                <a:solidFill>
                  <a:srgbClr val="009ED6"/>
                </a:solidFill>
                <a:latin typeface="微软雅黑" pitchFamily="34" charset="-122"/>
                <a:ea typeface="微软雅黑" pitchFamily="34" charset="-122"/>
              </a:rPr>
              <a:t>…</a:t>
            </a:r>
            <a:endParaRPr lang="zh-CN" altLang="en-US" b="1">
              <a:solidFill>
                <a:srgbClr val="009ED6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zh-CN" altLang="en-US" b="1">
              <a:solidFill>
                <a:srgbClr val="009ED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" name="流程图: 文档 70"/>
          <p:cNvSpPr/>
          <p:nvPr/>
        </p:nvSpPr>
        <p:spPr>
          <a:xfrm>
            <a:off x="7509402" y="4821207"/>
            <a:ext cx="772491" cy="430904"/>
          </a:xfrm>
          <a:prstGeom prst="flowChartDocument">
            <a:avLst/>
          </a:prstGeom>
          <a:solidFill>
            <a:srgbClr val="009E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Tag</a:t>
            </a:r>
            <a:endParaRPr lang="zh-CN" altLang="en-US"/>
          </a:p>
        </p:txBody>
      </p:sp>
      <p:sp>
        <p:nvSpPr>
          <p:cNvPr id="72" name="流程图: 文档 71"/>
          <p:cNvSpPr/>
          <p:nvPr/>
        </p:nvSpPr>
        <p:spPr>
          <a:xfrm>
            <a:off x="8569925" y="4832678"/>
            <a:ext cx="772491" cy="430904"/>
          </a:xfrm>
          <a:prstGeom prst="flowChartDocument">
            <a:avLst/>
          </a:prstGeom>
          <a:solidFill>
            <a:srgbClr val="009E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Tag</a:t>
            </a:r>
            <a:endParaRPr lang="zh-CN" altLang="en-US"/>
          </a:p>
        </p:txBody>
      </p:sp>
      <p:sp>
        <p:nvSpPr>
          <p:cNvPr id="73" name="流程图: 文档 72"/>
          <p:cNvSpPr/>
          <p:nvPr/>
        </p:nvSpPr>
        <p:spPr>
          <a:xfrm>
            <a:off x="9627023" y="4854213"/>
            <a:ext cx="772491" cy="430904"/>
          </a:xfrm>
          <a:prstGeom prst="flowChartDocument">
            <a:avLst/>
          </a:prstGeom>
          <a:solidFill>
            <a:srgbClr val="009E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Tag</a:t>
            </a:r>
            <a:endParaRPr lang="zh-CN" altLang="en-US"/>
          </a:p>
        </p:txBody>
      </p:sp>
      <p:cxnSp>
        <p:nvCxnSpPr>
          <p:cNvPr id="74" name="直接箭头连接符 73"/>
          <p:cNvCxnSpPr>
            <a:stCxn id="19" idx="3"/>
            <a:endCxn id="71" idx="0"/>
          </p:cNvCxnSpPr>
          <p:nvPr/>
        </p:nvCxnSpPr>
        <p:spPr>
          <a:xfrm flipH="1">
            <a:off x="7895648" y="4557498"/>
            <a:ext cx="435369" cy="26370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>
            <a:stCxn id="19" idx="3"/>
            <a:endCxn id="72" idx="0"/>
          </p:cNvCxnSpPr>
          <p:nvPr/>
        </p:nvCxnSpPr>
        <p:spPr>
          <a:xfrm>
            <a:off x="8331017" y="4557498"/>
            <a:ext cx="625154" cy="2751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>
            <a:stCxn id="19" idx="3"/>
            <a:endCxn id="73" idx="0"/>
          </p:cNvCxnSpPr>
          <p:nvPr/>
        </p:nvCxnSpPr>
        <p:spPr>
          <a:xfrm>
            <a:off x="8331017" y="4557498"/>
            <a:ext cx="1682252" cy="2967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9293188" y="4799677"/>
            <a:ext cx="333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smtClean="0">
                <a:solidFill>
                  <a:srgbClr val="009ED6"/>
                </a:solidFill>
                <a:latin typeface="微软雅黑" pitchFamily="34" charset="-122"/>
                <a:ea typeface="微软雅黑" pitchFamily="34" charset="-122"/>
              </a:rPr>
              <a:t>…</a:t>
            </a:r>
            <a:endParaRPr lang="zh-CN" altLang="en-US" b="1">
              <a:solidFill>
                <a:srgbClr val="009ED6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zh-CN" altLang="en-US" b="1">
              <a:solidFill>
                <a:srgbClr val="009ED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9" name="流程图: 数据 88"/>
          <p:cNvSpPr/>
          <p:nvPr/>
        </p:nvSpPr>
        <p:spPr>
          <a:xfrm>
            <a:off x="2376996" y="5562217"/>
            <a:ext cx="864096" cy="306324"/>
          </a:xfrm>
          <a:prstGeom prst="flowChartInputOutput">
            <a:avLst/>
          </a:prstGeom>
          <a:solidFill>
            <a:srgbClr val="009E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微软雅黑" pitchFamily="34" charset="-122"/>
                <a:ea typeface="微软雅黑" pitchFamily="34" charset="-122"/>
              </a:rPr>
              <a:t>image</a:t>
            </a:r>
            <a:endParaRPr lang="zh-CN" altLang="en-US" sz="8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0" name="流程图: 数据 89"/>
          <p:cNvSpPr/>
          <p:nvPr/>
        </p:nvSpPr>
        <p:spPr>
          <a:xfrm>
            <a:off x="3430910" y="5552702"/>
            <a:ext cx="864096" cy="306324"/>
          </a:xfrm>
          <a:prstGeom prst="flowChartInputOutput">
            <a:avLst/>
          </a:prstGeom>
          <a:solidFill>
            <a:srgbClr val="009E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微软雅黑" pitchFamily="34" charset="-122"/>
                <a:ea typeface="微软雅黑" pitchFamily="34" charset="-122"/>
              </a:rPr>
              <a:t>image</a:t>
            </a:r>
            <a:endParaRPr lang="zh-CN" altLang="en-US" sz="8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5" name="流程图: 数据 94"/>
          <p:cNvSpPr/>
          <p:nvPr/>
        </p:nvSpPr>
        <p:spPr>
          <a:xfrm>
            <a:off x="9581221" y="5551577"/>
            <a:ext cx="864096" cy="306324"/>
          </a:xfrm>
          <a:prstGeom prst="flowChartInputOutput">
            <a:avLst/>
          </a:prstGeom>
          <a:solidFill>
            <a:srgbClr val="009E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微软雅黑" pitchFamily="34" charset="-122"/>
                <a:ea typeface="微软雅黑" pitchFamily="34" charset="-122"/>
              </a:rPr>
              <a:t>image</a:t>
            </a:r>
            <a:endParaRPr lang="zh-CN" altLang="en-US" sz="8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6" name="流程图: 数据 95"/>
          <p:cNvSpPr/>
          <p:nvPr/>
        </p:nvSpPr>
        <p:spPr>
          <a:xfrm>
            <a:off x="8524122" y="5538230"/>
            <a:ext cx="864096" cy="306324"/>
          </a:xfrm>
          <a:prstGeom prst="flowChartInputOutput">
            <a:avLst/>
          </a:prstGeom>
          <a:solidFill>
            <a:srgbClr val="009E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微软雅黑" pitchFamily="34" charset="-122"/>
                <a:ea typeface="微软雅黑" pitchFamily="34" charset="-122"/>
              </a:rPr>
              <a:t>image</a:t>
            </a:r>
            <a:endParaRPr lang="zh-CN" altLang="en-US" sz="8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624414" y="5629872"/>
            <a:ext cx="6347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 smtClean="0">
                <a:solidFill>
                  <a:srgbClr val="009ED6"/>
                </a:solidFill>
                <a:latin typeface="微软雅黑" pitchFamily="34" charset="-122"/>
                <a:ea typeface="微软雅黑" pitchFamily="34" charset="-122"/>
              </a:rPr>
              <a:t>……</a:t>
            </a:r>
            <a:endParaRPr lang="zh-CN" altLang="en-US" sz="800" b="1">
              <a:solidFill>
                <a:srgbClr val="009ED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88" name="直接箭头连接符 87"/>
          <p:cNvCxnSpPr>
            <a:stCxn id="35" idx="2"/>
            <a:endCxn id="37" idx="0"/>
          </p:cNvCxnSpPr>
          <p:nvPr/>
        </p:nvCxnSpPr>
        <p:spPr>
          <a:xfrm flipH="1">
            <a:off x="1745506" y="5191981"/>
            <a:ext cx="3015" cy="3607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>
            <a:stCxn id="73" idx="2"/>
            <a:endCxn id="95" idx="1"/>
          </p:cNvCxnSpPr>
          <p:nvPr/>
        </p:nvCxnSpPr>
        <p:spPr>
          <a:xfrm>
            <a:off x="10013269" y="5256629"/>
            <a:ext cx="0" cy="2949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/>
          <p:cNvCxnSpPr>
            <a:stCxn id="72" idx="2"/>
            <a:endCxn id="96" idx="1"/>
          </p:cNvCxnSpPr>
          <p:nvPr/>
        </p:nvCxnSpPr>
        <p:spPr>
          <a:xfrm flipH="1">
            <a:off x="8956170" y="5235094"/>
            <a:ext cx="1" cy="3031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/>
          <p:cNvCxnSpPr>
            <a:stCxn id="42" idx="2"/>
            <a:endCxn id="89" idx="1"/>
          </p:cNvCxnSpPr>
          <p:nvPr/>
        </p:nvCxnSpPr>
        <p:spPr>
          <a:xfrm>
            <a:off x="2809044" y="5203452"/>
            <a:ext cx="0" cy="3587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箭头连接符 110"/>
          <p:cNvCxnSpPr>
            <a:stCxn id="43" idx="2"/>
            <a:endCxn id="90" idx="1"/>
          </p:cNvCxnSpPr>
          <p:nvPr/>
        </p:nvCxnSpPr>
        <p:spPr>
          <a:xfrm flipH="1">
            <a:off x="3862958" y="5224987"/>
            <a:ext cx="3184" cy="3277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3234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仓库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4000" b="1" smtClean="0"/>
              <a:t>Repository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262558" y="899989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smtClean="0">
                <a:latin typeface="微软雅黑" pitchFamily="34" charset="-122"/>
                <a:ea typeface="微软雅黑" pitchFamily="34" charset="-122"/>
              </a:rPr>
              <a:t>国内仓库</a:t>
            </a:r>
            <a:endParaRPr lang="zh-CN" altLang="en-US" sz="20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2558" y="1452079"/>
            <a:ext cx="35718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smtClean="0">
                <a:latin typeface="微软雅黑" pitchFamily="34" charset="-122"/>
                <a:ea typeface="微软雅黑" pitchFamily="34" charset="-122"/>
              </a:rPr>
              <a:t>阿里云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https://dev.aliyun.com/search.html</a:t>
            </a:r>
          </a:p>
          <a:p>
            <a:r>
              <a:rPr lang="zh-CN" altLang="en-US" sz="1200" b="1">
                <a:latin typeface="微软雅黑" pitchFamily="34" charset="-122"/>
                <a:ea typeface="微软雅黑" pitchFamily="34" charset="-122"/>
              </a:rPr>
              <a:t>网</a:t>
            </a:r>
            <a:r>
              <a:rPr lang="zh-CN" altLang="en-US" sz="1200" b="1" smtClean="0">
                <a:latin typeface="微软雅黑" pitchFamily="34" charset="-122"/>
                <a:ea typeface="微软雅黑" pitchFamily="34" charset="-122"/>
              </a:rPr>
              <a:t>易云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https://c.163yun.com/hub#/m/home/</a:t>
            </a:r>
          </a:p>
          <a:p>
            <a:r>
              <a:rPr lang="zh-CN" altLang="en-US" sz="1200" b="1" smtClean="0">
                <a:latin typeface="微软雅黑" pitchFamily="34" charset="-122"/>
                <a:ea typeface="微软雅黑" pitchFamily="34" charset="-122"/>
              </a:rPr>
              <a:t>时速云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https://hub.tenxcloud.com/</a:t>
            </a:r>
          </a:p>
          <a:p>
            <a:r>
              <a:rPr lang="en-US" altLang="zh-CN" sz="1200" b="1" smtClean="0">
                <a:latin typeface="微软雅黑" pitchFamily="34" charset="-122"/>
                <a:ea typeface="微软雅黑" pitchFamily="34" charset="-122"/>
              </a:rPr>
              <a:t>DaoCloud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https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://hub.daocloud.io/</a:t>
            </a:r>
            <a:endParaRPr lang="zh-CN" altLang="en-US" sz="12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03117" y="899989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smtClean="0">
                <a:latin typeface="微软雅黑" pitchFamily="34" charset="-122"/>
                <a:ea typeface="微软雅黑" pitchFamily="34" charset="-122"/>
              </a:rPr>
              <a:t>国外仓库</a:t>
            </a:r>
            <a:endParaRPr lang="zh-CN" altLang="en-US" sz="20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286533" y="1452079"/>
            <a:ext cx="3037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smtClean="0">
                <a:latin typeface="微软雅黑" pitchFamily="34" charset="-122"/>
                <a:ea typeface="微软雅黑" pitchFamily="34" charset="-122"/>
              </a:rPr>
              <a:t>Docker Hub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https://hub.docker.com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/</a:t>
            </a:r>
            <a:endParaRPr lang="en-US" altLang="zh-CN" sz="120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200" b="1" smtClean="0">
                <a:latin typeface="微软雅黑" pitchFamily="34" charset="-122"/>
                <a:ea typeface="微软雅黑" pitchFamily="34" charset="-122"/>
              </a:rPr>
              <a:t>Quay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https://quay.io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/</a:t>
            </a:r>
            <a:endParaRPr lang="en-US" altLang="zh-CN" sz="12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0284" y="3058759"/>
            <a:ext cx="3293787" cy="2277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smtClean="0">
                <a:latin typeface="微软雅黑" pitchFamily="34" charset="-122"/>
                <a:ea typeface="微软雅黑" pitchFamily="34" charset="-122"/>
              </a:rPr>
              <a:t>国内</a:t>
            </a:r>
            <a:r>
              <a:rPr lang="zh-CN" altLang="en-US" sz="2000">
                <a:latin typeface="微软雅黑" pitchFamily="34" charset="-122"/>
                <a:ea typeface="微软雅黑" pitchFamily="34" charset="-122"/>
              </a:rPr>
              <a:t>加速</a:t>
            </a:r>
            <a:r>
              <a:rPr lang="zh-CN" altLang="en-US" sz="2000" smtClean="0">
                <a:latin typeface="微软雅黑" pitchFamily="34" charset="-122"/>
                <a:ea typeface="微软雅黑" pitchFamily="34" charset="-122"/>
              </a:rPr>
              <a:t>站点</a:t>
            </a:r>
            <a:endParaRPr lang="en-US" altLang="zh-CN" sz="2000" smtClean="0">
              <a:latin typeface="微软雅黑" pitchFamily="34" charset="-122"/>
              <a:ea typeface="微软雅黑" pitchFamily="34" charset="-122"/>
            </a:endParaRPr>
          </a:p>
          <a:p>
            <a:endParaRPr lang="zh-CN" altLang="en-US" sz="200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https://registry.docker-cn.com</a:t>
            </a:r>
          </a:p>
          <a:p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http://hub-mirror.c.163.com</a:t>
            </a:r>
          </a:p>
          <a:p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https://3laho3y3.mirror.aliyuncs.com</a:t>
            </a:r>
          </a:p>
          <a:p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http://f1361db2.m.daocloud.io</a:t>
            </a:r>
          </a:p>
          <a:p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https://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mirror.ccs.tencentyun.com</a:t>
            </a:r>
          </a:p>
          <a:p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Azure 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中国镜像 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https://dockerhub.azk8s.cn</a:t>
            </a:r>
          </a:p>
          <a:p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七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牛云加速器 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https://reg-mirror.qiniu.com</a:t>
            </a:r>
          </a:p>
          <a:p>
            <a:endParaRPr lang="zh-CN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5908" y="2710942"/>
            <a:ext cx="5400675" cy="200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351804" y="2098866"/>
            <a:ext cx="50282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配置镜像加速站点：</a:t>
            </a:r>
            <a:r>
              <a:rPr lang="en-US" altLang="zh-CN" sz="1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vi /</a:t>
            </a:r>
            <a:r>
              <a:rPr lang="en-US" altLang="zh-CN" sz="1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etc/docker/daemon.json 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，修改后重启服务：</a:t>
            </a:r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200" smtClean="0"/>
              <a:t>$ </a:t>
            </a:r>
            <a:r>
              <a:rPr lang="en-US" altLang="zh-CN" sz="1200"/>
              <a:t>sudo systemctl daemon-reload </a:t>
            </a:r>
            <a:endParaRPr lang="en-US" altLang="zh-CN" sz="1200" smtClean="0"/>
          </a:p>
          <a:p>
            <a:r>
              <a:rPr lang="en-US" altLang="zh-CN" sz="1200" smtClean="0"/>
              <a:t>$ </a:t>
            </a:r>
            <a:r>
              <a:rPr lang="en-US" altLang="zh-CN" sz="1200"/>
              <a:t>sudo systemctl restart </a:t>
            </a:r>
            <a:r>
              <a:rPr lang="en-US" altLang="zh-CN" sz="1200" smtClean="0"/>
              <a:t>docker</a:t>
            </a:r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9190" y="5230813"/>
            <a:ext cx="4162425" cy="160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279494" y="4976276"/>
            <a:ext cx="239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sv-SE" sz="1200">
                <a:latin typeface="微软雅黑" pitchFamily="34" charset="-122"/>
                <a:ea typeface="微软雅黑" pitchFamily="34" charset="-122"/>
              </a:rPr>
              <a:t>查看是否配置成功：</a:t>
            </a:r>
            <a:r>
              <a:rPr lang="sv-SE" altLang="zh-CN" sz="1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docker info</a:t>
            </a:r>
          </a:p>
        </p:txBody>
      </p:sp>
    </p:spTree>
    <p:extLst>
      <p:ext uri="{BB962C8B-B14F-4D97-AF65-F5344CB8AC3E}">
        <p14:creationId xmlns:p14="http://schemas.microsoft.com/office/powerpoint/2010/main" val="3230466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镜像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-Image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6534" y="1836093"/>
            <a:ext cx="11709680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l"/>
            </a:pP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一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个能够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D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ocker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容器运行的软件</a:t>
            </a:r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l"/>
            </a:pP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提供了容器运行时所需的程序、库、资源、配置等文件外，还包含了一些为运行时准备的一些配置参数（如匿名卷、环境变量、用户等），是一个完整的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root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文件系统</a:t>
            </a:r>
            <a:endParaRPr lang="en-US" altLang="zh-CN" sz="120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l"/>
            </a:pPr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l"/>
            </a:pP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镜像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不包含任何动态数据，其内容在构建之后也不会被改变。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542" y="3780309"/>
            <a:ext cx="23439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smtClean="0">
                <a:latin typeface="微软雅黑" pitchFamily="34" charset="-122"/>
                <a:ea typeface="微软雅黑" pitchFamily="34" charset="-122"/>
              </a:rPr>
              <a:t>镜像命名：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&lt;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仓库名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&gt;:&lt;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标签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&gt;</a:t>
            </a:r>
            <a:endParaRPr lang="zh-CN" altLang="en-US" sz="12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1463" y="1840716"/>
            <a:ext cx="11639822" cy="1152128"/>
          </a:xfrm>
          <a:prstGeom prst="rect">
            <a:avLst/>
          </a:prstGeom>
          <a:noFill/>
          <a:ln>
            <a:solidFill>
              <a:srgbClr val="009ED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790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镜像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层存储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95364" y="971997"/>
            <a:ext cx="6723764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因为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镜像包含操作系统完整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1400" smtClean="0">
                <a:latin typeface="微软雅黑" pitchFamily="34" charset="-122"/>
                <a:ea typeface="微软雅黑" pitchFamily="34" charset="-122"/>
              </a:rPr>
              <a:t>root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文件系统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，其体积往往是庞大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的；</a:t>
            </a:r>
            <a:endParaRPr lang="en-US" altLang="zh-CN" sz="140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40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因此在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设计</a:t>
            </a:r>
            <a:r>
              <a:rPr lang="en-US" altLang="zh-CN" sz="1400" smtClean="0">
                <a:latin typeface="微软雅黑" pitchFamily="34" charset="-122"/>
                <a:ea typeface="微软雅黑" pitchFamily="34" charset="-122"/>
              </a:rPr>
              <a:t>Docker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时，利用</a:t>
            </a:r>
            <a:r>
              <a:rPr lang="en-US" altLang="zh-CN" sz="1400" smtClean="0">
                <a:latin typeface="微软雅黑" pitchFamily="34" charset="-122"/>
                <a:ea typeface="微软雅黑" pitchFamily="34" charset="-122"/>
              </a:rPr>
              <a:t>linux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1400" b="1" smtClean="0">
                <a:latin typeface="微软雅黑" pitchFamily="34" charset="-122"/>
                <a:ea typeface="微软雅黑" pitchFamily="34" charset="-122"/>
              </a:rPr>
              <a:t>Union </a:t>
            </a:r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FS 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的技术，将其设计为分层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存储架构；</a:t>
            </a:r>
            <a:endParaRPr lang="en-US" altLang="zh-CN" sz="140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4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所以镜像是有由多层文件系统联合组成的（只读）</a:t>
            </a:r>
            <a:endParaRPr lang="en-US" altLang="zh-CN" sz="1400" smtClean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Picture 2" descr=" 10张图带你深入理解Docker容器和镜像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392" y="2340149"/>
            <a:ext cx="5943600" cy="1781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328083" y="971997"/>
            <a:ext cx="6494535" cy="1169551"/>
          </a:xfrm>
          <a:prstGeom prst="rect">
            <a:avLst/>
          </a:prstGeom>
          <a:noFill/>
          <a:ln>
            <a:solidFill>
              <a:srgbClr val="009ED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2558" y="4866505"/>
            <a:ext cx="844333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镜像构建时，会一层层构建，前一层是后一层的基础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40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4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每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一层构建完就不会再发生改变，后一层上的任何改变只发生在自己这一层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40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4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比如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，删除前一层文件的操作，实际不是真的删除前一层的文件，而是仅在当前层标记为该文件已删除。</a:t>
            </a:r>
            <a:endParaRPr lang="en-US" altLang="zh-CN" sz="140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8083" y="4716413"/>
            <a:ext cx="8222727" cy="1319644"/>
          </a:xfrm>
          <a:prstGeom prst="rect">
            <a:avLst/>
          </a:prstGeom>
          <a:noFill/>
          <a:ln>
            <a:solidFill>
              <a:srgbClr val="009ED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1808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镜像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拉</a:t>
            </a:r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取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62558" y="971997"/>
            <a:ext cx="8804141" cy="58169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从镜像源拉取镜像，一般来说是从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Docker Hub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拉取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镜像</a:t>
            </a:r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命令：</a:t>
            </a:r>
            <a:r>
              <a:rPr lang="en-US" altLang="zh-CN" sz="1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docker pull </a:t>
            </a:r>
            <a:r>
              <a:rPr lang="en-US" altLang="zh-CN" sz="1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[</a:t>
            </a:r>
            <a:r>
              <a:rPr lang="en-US" altLang="zh-CN" sz="1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OPTIONS</a:t>
            </a:r>
            <a:r>
              <a:rPr lang="en-US" altLang="zh-CN" sz="1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] </a:t>
            </a:r>
            <a:r>
              <a:rPr lang="en-US" altLang="zh-CN" sz="1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[Docker Registry </a:t>
            </a:r>
            <a:r>
              <a:rPr lang="zh-CN" altLang="en-US" sz="1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  <a:r>
              <a:rPr lang="en-US" altLang="zh-CN" sz="1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[:</a:t>
            </a:r>
            <a:r>
              <a:rPr lang="zh-CN" altLang="en-US" sz="1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端口号</a:t>
            </a:r>
            <a:r>
              <a:rPr lang="en-US" altLang="zh-CN" sz="1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]/]</a:t>
            </a:r>
            <a:r>
              <a:rPr lang="zh-CN" altLang="en-US" sz="1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仓库名</a:t>
            </a:r>
            <a:r>
              <a:rPr lang="en-US" altLang="zh-CN" sz="1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[:</a:t>
            </a:r>
            <a:r>
              <a:rPr lang="zh-CN" altLang="en-US" sz="1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标签</a:t>
            </a:r>
            <a:r>
              <a:rPr lang="en-US" altLang="zh-CN" sz="1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]</a:t>
            </a:r>
          </a:p>
          <a:p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选项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OPTIONS 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：（通过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docker pull –help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查看）</a:t>
            </a:r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20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20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20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20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20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20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20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20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20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20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20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zh-CN" altLang="en-US" sz="120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20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仓库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地址：地址的格式一般是 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&lt;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域名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/IP&gt;[: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端口号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]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。默认地址是 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Docker Hub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仓库名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：两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段式名称，即 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&lt;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用户名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&gt;/&lt;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软件名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。对于 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Docker Hub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，如果不给出用户名，则默认为 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library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，也就是官方镜像。</a:t>
            </a:r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20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200" b="1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200" b="1" smtClean="0">
                <a:latin typeface="微软雅黑" pitchFamily="34" charset="-122"/>
                <a:ea typeface="微软雅黑" pitchFamily="34" charset="-122"/>
              </a:rPr>
              <a:t>、默认</a:t>
            </a:r>
            <a:r>
              <a:rPr lang="en-US" altLang="zh-CN" sz="1200" b="1" smtClean="0">
                <a:latin typeface="微软雅黑" pitchFamily="34" charset="-122"/>
                <a:ea typeface="微软雅黑" pitchFamily="34" charset="-122"/>
              </a:rPr>
              <a:t>Docker Hub</a:t>
            </a:r>
            <a:r>
              <a:rPr lang="zh-CN" altLang="en-US" sz="1200" b="1" smtClean="0">
                <a:latin typeface="微软雅黑" pitchFamily="34" charset="-122"/>
                <a:ea typeface="微软雅黑" pitchFamily="34" charset="-122"/>
              </a:rPr>
              <a:t>服务</a:t>
            </a:r>
            <a:endParaRPr lang="en-US" altLang="zh-CN" sz="1200" b="1" smtClean="0">
              <a:latin typeface="微软雅黑" pitchFamily="34" charset="-122"/>
              <a:ea typeface="微软雅黑" pitchFamily="34" charset="-122"/>
            </a:endParaRPr>
          </a:p>
          <a:p>
            <a:pPr marL="171450" indent="-171450">
              <a:buFont typeface="Wingdings" pitchFamily="2" charset="2"/>
              <a:buChar char="n"/>
            </a:pPr>
            <a:r>
              <a:rPr lang="zh-CN" altLang="en-US" sz="1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最新</a:t>
            </a:r>
            <a:r>
              <a:rPr lang="zh-CN" altLang="en-US" sz="1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拉取：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docker 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pull nginx</a:t>
            </a:r>
          </a:p>
          <a:p>
            <a:pPr marL="171450" indent="-171450">
              <a:buFont typeface="Wingdings" pitchFamily="2" charset="2"/>
              <a:buChar char="n"/>
            </a:pPr>
            <a:r>
              <a:rPr lang="en-US" altLang="zh-CN" sz="1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TAG</a:t>
            </a:r>
            <a:r>
              <a:rPr lang="zh-CN" altLang="en-US" sz="1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拉取：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docker pull nginx:1.17</a:t>
            </a:r>
          </a:p>
          <a:p>
            <a:pPr marL="171450" indent="-171450">
              <a:buFont typeface="Wingdings" pitchFamily="2" charset="2"/>
              <a:buChar char="n"/>
            </a:pPr>
            <a:r>
              <a:rPr lang="zh-CN" altLang="en-US" sz="1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摘要拉</a:t>
            </a:r>
            <a:r>
              <a:rPr lang="zh-CN" altLang="en-US" sz="1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取：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docker pull nginx@sha256:099019968725f0fc12c4b69b289a347ae74cc56da0f0ef56e8eb8e0134fc7911</a:t>
            </a:r>
          </a:p>
          <a:p>
            <a:pPr marL="171450" indent="-171450">
              <a:buFont typeface="Wingdings" pitchFamily="2" charset="2"/>
              <a:buChar char="n"/>
            </a:pPr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200" b="1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200" b="1" smtClean="0">
                <a:latin typeface="微软雅黑" pitchFamily="34" charset="-122"/>
                <a:ea typeface="微软雅黑" pitchFamily="34" charset="-122"/>
              </a:rPr>
              <a:t>、其他服务拉取</a:t>
            </a:r>
            <a:endParaRPr lang="en-US" altLang="zh-CN" sz="1200" b="1" smtClean="0">
              <a:latin typeface="微软雅黑" pitchFamily="34" charset="-122"/>
              <a:ea typeface="微软雅黑" pitchFamily="34" charset="-122"/>
            </a:endParaRPr>
          </a:p>
          <a:p>
            <a:pPr marL="171450" indent="-171450">
              <a:buFont typeface="Wingdings" pitchFamily="2" charset="2"/>
              <a:buChar char="n"/>
            </a:pPr>
            <a:r>
              <a:rPr lang="zh-CN" altLang="en-US" sz="1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指定服务地址拉取：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docker 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pull 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localregistry.example:6666/testing/test-image:1.0.0</a:t>
            </a:r>
            <a:endParaRPr lang="zh-CN" altLang="en-US" sz="12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171450" indent="-171450">
              <a:buFont typeface="Wingdings" pitchFamily="2" charset="2"/>
              <a:buChar char="n"/>
            </a:pPr>
            <a:endParaRPr lang="en-US" altLang="zh-CN" sz="120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20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zh-CN" altLang="en-US" sz="120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203" y="1832610"/>
            <a:ext cx="7715250" cy="204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8233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镜像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拉</a:t>
            </a:r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取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453" y="827981"/>
            <a:ext cx="7820025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453" y="3852317"/>
            <a:ext cx="10487025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453" y="2700189"/>
            <a:ext cx="802005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矩形 9"/>
          <p:cNvSpPr/>
          <p:nvPr/>
        </p:nvSpPr>
        <p:spPr>
          <a:xfrm>
            <a:off x="5750664" y="3234809"/>
            <a:ext cx="6874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nginx</a:t>
            </a:r>
            <a:endParaRPr lang="zh-CN" altLang="en-US"/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453" y="5076453"/>
            <a:ext cx="6661150" cy="90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7018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镜像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种类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190550" y="3218183"/>
            <a:ext cx="1440160" cy="504056"/>
          </a:xfrm>
          <a:prstGeom prst="rect">
            <a:avLst/>
          </a:prstGeom>
          <a:solidFill>
            <a:srgbClr val="009E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虚悬镜像</a:t>
            </a:r>
            <a:endParaRPr lang="zh-CN" altLang="en-US" sz="12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1981" y="5023029"/>
            <a:ext cx="1440160" cy="504056"/>
          </a:xfrm>
          <a:prstGeom prst="rect">
            <a:avLst/>
          </a:prstGeom>
          <a:solidFill>
            <a:srgbClr val="009E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中间层镜像</a:t>
            </a:r>
            <a:endParaRPr lang="zh-CN" altLang="en-US" sz="12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91981" y="1476053"/>
            <a:ext cx="1440160" cy="504056"/>
          </a:xfrm>
          <a:prstGeom prst="rect">
            <a:avLst/>
          </a:prstGeom>
          <a:solidFill>
            <a:srgbClr val="009E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顶层</a:t>
            </a:r>
            <a:r>
              <a:rPr lang="zh-CN" altLang="en-US" sz="12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镜像</a:t>
            </a:r>
            <a:endParaRPr lang="zh-CN" altLang="en-US" sz="12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" name="直接连接符 4"/>
          <p:cNvCxnSpPr>
            <a:stCxn id="7" idx="3"/>
          </p:cNvCxnSpPr>
          <p:nvPr/>
        </p:nvCxnSpPr>
        <p:spPr>
          <a:xfrm>
            <a:off x="1632141" y="1728081"/>
            <a:ext cx="1080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868943" y="1476053"/>
            <a:ext cx="28069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docker images 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或者 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docker image ls</a:t>
            </a:r>
            <a:endParaRPr lang="zh-CN" altLang="en-US" sz="120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1" name="直接连接符 10"/>
          <p:cNvCxnSpPr>
            <a:stCxn id="3" idx="3"/>
          </p:cNvCxnSpPr>
          <p:nvPr/>
        </p:nvCxnSpPr>
        <p:spPr>
          <a:xfrm>
            <a:off x="1630710" y="3470211"/>
            <a:ext cx="7935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861859" y="3177533"/>
            <a:ext cx="3074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查看：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docker 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image ls -f dangling=true</a:t>
            </a:r>
            <a:endParaRPr lang="zh-CN" altLang="en-US" sz="120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632141" y="5275057"/>
            <a:ext cx="7920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916027" y="4905725"/>
            <a:ext cx="3262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docker 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images –a 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或者 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docker image 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ls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-a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US" sz="120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50" y="2002954"/>
            <a:ext cx="10915650" cy="105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1848164" y="3445240"/>
            <a:ext cx="21225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删除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docker image prune</a:t>
            </a:r>
            <a:endParaRPr lang="zh-CN" altLang="en-US" sz="120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50" y="5553797"/>
            <a:ext cx="10791825" cy="108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50" y="3897613"/>
            <a:ext cx="8315325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矩形 16"/>
          <p:cNvSpPr/>
          <p:nvPr/>
        </p:nvSpPr>
        <p:spPr>
          <a:xfrm>
            <a:off x="196301" y="775561"/>
            <a:ext cx="1440160" cy="504056"/>
          </a:xfrm>
          <a:prstGeom prst="rect">
            <a:avLst/>
          </a:prstGeom>
          <a:solidFill>
            <a:srgbClr val="009E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基础</a:t>
            </a:r>
            <a:r>
              <a:rPr lang="zh-CN" altLang="en-US" sz="12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镜像</a:t>
            </a:r>
            <a:endParaRPr lang="zh-CN" altLang="en-US" sz="12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9" name="直接连接符 18"/>
          <p:cNvCxnSpPr>
            <a:stCxn id="17" idx="3"/>
          </p:cNvCxnSpPr>
          <p:nvPr/>
        </p:nvCxnSpPr>
        <p:spPr>
          <a:xfrm>
            <a:off x="1636461" y="1027589"/>
            <a:ext cx="12729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48164" y="747078"/>
            <a:ext cx="55894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、不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依赖其他镜像，从 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scratch 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构建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、其他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镜像可以之为基础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进行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扩展</a:t>
            </a:r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通常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都是各种 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Linux 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发行版的 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Docker 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镜像，比如 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Ubuntu, Debian, CentOS</a:t>
            </a:r>
            <a:endParaRPr lang="zh-CN" altLang="en-US" sz="120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3700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镜像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体积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42" y="5580509"/>
            <a:ext cx="8134350" cy="117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42" y="827981"/>
            <a:ext cx="5467350" cy="459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" name="组合 5"/>
          <p:cNvGrpSpPr/>
          <p:nvPr/>
        </p:nvGrpSpPr>
        <p:grpSpPr>
          <a:xfrm>
            <a:off x="6923298" y="4037139"/>
            <a:ext cx="3976124" cy="661829"/>
            <a:chOff x="6923298" y="4037139"/>
            <a:chExt cx="3976124" cy="661829"/>
          </a:xfrm>
        </p:grpSpPr>
        <p:sp>
          <p:nvSpPr>
            <p:cNvPr id="3" name="TextBox 2"/>
            <p:cNvSpPr txBox="1"/>
            <p:nvPr/>
          </p:nvSpPr>
          <p:spPr>
            <a:xfrm>
              <a:off x="7175326" y="4237303"/>
              <a:ext cx="3724096" cy="461665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20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Unionfs</a:t>
              </a:r>
              <a:r>
                <a:rPr lang="zh-CN" altLang="en-US" sz="120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：可叠放的联合文件系统</a:t>
              </a:r>
              <a:endParaRPr lang="en-US" altLang="zh-CN" sz="12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sz="120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能够联合多个目录，同时独立地保持它们的物理内容</a:t>
              </a:r>
              <a:endParaRPr lang="zh-CN" altLang="en-US" sz="12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" name="六角星 4"/>
            <p:cNvSpPr/>
            <p:nvPr/>
          </p:nvSpPr>
          <p:spPr>
            <a:xfrm>
              <a:off x="6923298" y="4037139"/>
              <a:ext cx="252028" cy="256830"/>
            </a:xfrm>
            <a:prstGeom prst="star6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175326" y="3318644"/>
            <a:ext cx="3724096" cy="276999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每个镜像文件都那么大，为什么总占用空间如此小？</a:t>
            </a:r>
            <a:endParaRPr lang="zh-CN" altLang="en-US" sz="12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15286" y="5211177"/>
            <a:ext cx="4664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https://docs.docker.com/storage/storagedriver/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2844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镜像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构建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62558" y="971997"/>
            <a:ext cx="3871381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构建方式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：</a:t>
            </a:r>
          </a:p>
          <a:p>
            <a:pPr marL="628650" lvl="1" indent="-171450">
              <a:buFont typeface="Wingdings" pitchFamily="2" charset="2"/>
              <a:buChar char="l"/>
            </a:pPr>
            <a:r>
              <a:rPr lang="zh-CN" altLang="en-US" sz="1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通过</a:t>
            </a:r>
            <a:r>
              <a:rPr lang="en-US" altLang="zh-CN" sz="1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Dockerfile</a:t>
            </a:r>
            <a:r>
              <a:rPr lang="zh-CN" altLang="en-US" sz="1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文件构建（这种用得非常多</a:t>
            </a:r>
            <a:r>
              <a:rPr lang="zh-CN" altLang="en-US" sz="1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120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628650" lvl="1" indent="-171450">
              <a:buFont typeface="Wingdings" pitchFamily="2" charset="2"/>
              <a:buChar char="l"/>
            </a:pP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通过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容器构建</a:t>
            </a:r>
          </a:p>
          <a:p>
            <a:pPr marL="171450" indent="-171450">
              <a:buFont typeface="Wingdings" pitchFamily="2" charset="2"/>
              <a:buChar char="n"/>
            </a:pPr>
            <a:endParaRPr lang="en-US" altLang="zh-CN" sz="120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20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zh-CN" altLang="en-US" sz="120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" name="Picture 4" descr="9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566" y="2752005"/>
            <a:ext cx="10199662" cy="2838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34566" y="1980109"/>
            <a:ext cx="11323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zh-CN" altLang="en-US" sz="1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通过</a:t>
            </a:r>
            <a:r>
              <a:rPr lang="en-US" altLang="zh-CN" sz="1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Dockerfile</a:t>
            </a:r>
            <a:r>
              <a:rPr lang="zh-CN" altLang="en-US" sz="1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文件</a:t>
            </a:r>
            <a:r>
              <a:rPr lang="zh-CN" altLang="en-US" sz="1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构建步骤：</a:t>
            </a:r>
            <a:endParaRPr lang="en-US" altLang="zh-CN" sz="120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lvl="1" indent="-285750">
              <a:buFont typeface="Wingdings" pitchFamily="2" charset="2"/>
              <a:buChar char="l"/>
            </a:pPr>
            <a:r>
              <a:rPr lang="zh-CN" altLang="en-US" sz="1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书写</a:t>
            </a:r>
            <a:r>
              <a:rPr lang="en-US" altLang="zh-CN" sz="1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Dockerfile 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Dockerfile 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是一个文本文件，其内包含了一条条</a:t>
            </a:r>
            <a:r>
              <a:rPr lang="zh-CN" altLang="en-US" sz="1200" b="1">
                <a:latin typeface="微软雅黑" pitchFamily="34" charset="-122"/>
                <a:ea typeface="微软雅黑" pitchFamily="34" charset="-122"/>
              </a:rPr>
              <a:t>指令</a:t>
            </a:r>
            <a:r>
              <a:rPr lang="en-US" altLang="zh-CN" sz="1200" b="1">
                <a:latin typeface="微软雅黑" pitchFamily="34" charset="-122"/>
                <a:ea typeface="微软雅黑" pitchFamily="34" charset="-122"/>
              </a:rPr>
              <a:t>(Instruction)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，每一条指令构建一层，因此每一条指令的内容，就是描述该层应当如何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构建</a:t>
            </a:r>
            <a:endParaRPr lang="en-US" altLang="zh-CN" sz="120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lvl="1" indent="-285750">
              <a:buFont typeface="Wingdings" pitchFamily="2" charset="2"/>
              <a:buChar char="l"/>
            </a:pPr>
            <a:r>
              <a:rPr lang="en-US" altLang="zh-CN" sz="1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docker build –t </a:t>
            </a:r>
            <a:r>
              <a:rPr lang="zh-CN" altLang="en-US" sz="1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镜像名：标签 </a:t>
            </a:r>
            <a:r>
              <a:rPr lang="en-US" altLang="zh-CN" sz="1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&lt;</a:t>
            </a:r>
            <a:r>
              <a:rPr lang="zh-CN" altLang="en-US" sz="1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上下文路径</a:t>
            </a:r>
            <a:r>
              <a:rPr lang="en-US" altLang="zh-CN" sz="1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/URL/-&gt;</a:t>
            </a:r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295006" y="5868541"/>
            <a:ext cx="3017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微软雅黑" pitchFamily="34" charset="-122"/>
                <a:ea typeface="微软雅黑" pitchFamily="34" charset="-122"/>
              </a:rPr>
              <a:t>docker build 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命令执行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过程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3642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镜像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-Dockerfile</a:t>
            </a:r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指令列表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73835" y="5768077"/>
            <a:ext cx="7837595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参考文档</a:t>
            </a:r>
          </a:p>
          <a:p>
            <a:pPr marL="171450" indent="-171450">
              <a:buFont typeface="Wingdings" pitchFamily="2" charset="2"/>
              <a:buChar char="l"/>
            </a:pP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Dockerfie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 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官方文档：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  <a:hlinkClick r:id="rId4"/>
              </a:rPr>
              <a:t>https://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  <a:hlinkClick r:id="rId4"/>
              </a:rPr>
              <a:t>docs.docker.com/engine/reference/builder/</a:t>
            </a:r>
            <a:endParaRPr lang="en-US" altLang="zh-CN" sz="1200">
              <a:latin typeface="微软雅黑" pitchFamily="34" charset="-122"/>
              <a:ea typeface="微软雅黑" pitchFamily="34" charset="-122"/>
            </a:endParaRPr>
          </a:p>
          <a:p>
            <a:pPr marL="171450" indent="-171450">
              <a:buFont typeface="Wingdings" pitchFamily="2" charset="2"/>
              <a:buChar char="l"/>
            </a:pP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Dockerfile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 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最佳实践文档：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  <a:hlinkClick r:id="rId5"/>
              </a:rPr>
              <a:t>https://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  <a:hlinkClick r:id="rId5"/>
              </a:rPr>
              <a:t>docs.docker.com/develop/develop-images/dockerfile_best-practices/</a:t>
            </a:r>
            <a:endParaRPr lang="en-US" altLang="zh-CN" sz="1200">
              <a:latin typeface="微软雅黑" pitchFamily="34" charset="-122"/>
              <a:ea typeface="微软雅黑" pitchFamily="34" charset="-122"/>
            </a:endParaRPr>
          </a:p>
          <a:p>
            <a:pPr marL="171450" indent="-171450">
              <a:buFont typeface="Wingdings" pitchFamily="2" charset="2"/>
              <a:buChar char="l"/>
            </a:pP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Docker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 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官方镜像 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Dockerfile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  <a:hlinkClick r:id="rId6"/>
              </a:rPr>
              <a:t>https://github.com/docker-library/docs</a:t>
            </a:r>
            <a:endParaRPr lang="en-US" altLang="zh-CN" sz="12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4305" y="97551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smtClean="0">
                <a:latin typeface="微软雅黑" pitchFamily="34" charset="-122"/>
                <a:ea typeface="微软雅黑" pitchFamily="34" charset="-122"/>
              </a:rPr>
              <a:t>指令列表</a:t>
            </a:r>
            <a:endParaRPr lang="zh-CN" altLang="en-US" b="1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566" y="1343736"/>
            <a:ext cx="2124075" cy="4236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061986" y="1703110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指定基础镜像</a:t>
            </a:r>
            <a:endParaRPr lang="zh-CN" altLang="en-US" sz="12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61986" y="1997172"/>
            <a:ext cx="18774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标签信息，可以指定作者</a:t>
            </a:r>
            <a:endParaRPr lang="zh-CN" altLang="en-US" sz="12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4340" y="2351182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执行命令行命令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4340" y="2690153"/>
            <a:ext cx="2031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执行容器主进程的启动命令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4340" y="2997056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指定映射端口</a:t>
            </a:r>
            <a:endParaRPr lang="zh-CN" altLang="en-US" sz="12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64340" y="3323622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设置环境变量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0723" y="3628944"/>
            <a:ext cx="18287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复制文件，一般用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COPY</a:t>
            </a:r>
            <a:endParaRPr lang="zh-CN" altLang="en-US" sz="12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40723" y="3996333"/>
            <a:ext cx="28007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执行容器主进程的启动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命令及配置参数</a:t>
            </a:r>
            <a:endParaRPr lang="zh-CN" altLang="en-US" sz="12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40722" y="4292228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映射宿主机目录</a:t>
            </a:r>
            <a:endParaRPr lang="zh-CN" altLang="en-US" sz="12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37281" y="4644405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指定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当前用户</a:t>
            </a:r>
            <a:endParaRPr lang="zh-CN" altLang="en-US" sz="12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22037" y="4935304"/>
            <a:ext cx="22088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指定构建过程使用的公共目录</a:t>
            </a:r>
            <a:endParaRPr lang="zh-CN" altLang="en-US" sz="12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37281" y="5282666"/>
            <a:ext cx="22088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绑定执行命令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，添加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触发器</a:t>
            </a:r>
          </a:p>
        </p:txBody>
      </p:sp>
    </p:spTree>
    <p:extLst>
      <p:ext uri="{BB962C8B-B14F-4D97-AF65-F5344CB8AC3E}">
        <p14:creationId xmlns:p14="http://schemas.microsoft.com/office/powerpoint/2010/main" val="4017724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Dockerfile </a:t>
            </a:r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书写规范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06574" y="971997"/>
            <a:ext cx="75456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l"/>
            </a:pPr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Dockerfile 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支持 </a:t>
            </a:r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Shell 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类的行尾添加 </a:t>
            </a:r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\ 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的命令换行方式，以及行首 </a:t>
            </a:r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# 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进行注释的格式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4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良好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的格式，比如换行、缩进、注释等，会让维护、排障更为容易，这是一个比较好的习惯。</a:t>
            </a:r>
            <a:endParaRPr lang="zh-CN" altLang="en-US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869" y="2014964"/>
            <a:ext cx="5562600" cy="250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8709" y="1692077"/>
            <a:ext cx="5991225" cy="3781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5" name="组合 14"/>
          <p:cNvGrpSpPr/>
          <p:nvPr/>
        </p:nvGrpSpPr>
        <p:grpSpPr>
          <a:xfrm>
            <a:off x="1774726" y="5110658"/>
            <a:ext cx="1419590" cy="391158"/>
            <a:chOff x="1774726" y="5110658"/>
            <a:chExt cx="1419590" cy="391158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1774726" y="5501816"/>
              <a:ext cx="141959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2049691" y="5110658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不规范</a:t>
              </a:r>
              <a:endPara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8255446" y="5909431"/>
            <a:ext cx="1419590" cy="391158"/>
            <a:chOff x="1774726" y="5110658"/>
            <a:chExt cx="1419590" cy="391158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1774726" y="5501816"/>
              <a:ext cx="141959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2134766" y="5110658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smtClean="0">
                  <a:solidFill>
                    <a:srgbClr val="00B050"/>
                  </a:solidFill>
                  <a:latin typeface="微软雅黑" pitchFamily="34" charset="-122"/>
                  <a:ea typeface="微软雅黑" pitchFamily="34" charset="-122"/>
                </a:rPr>
                <a:t>规范</a:t>
              </a:r>
              <a:endParaRPr lang="zh-CN" altLang="en-US" b="1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9992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镜像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构建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demo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198" y="1101271"/>
            <a:ext cx="5505450" cy="481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566" y="1548061"/>
            <a:ext cx="5162550" cy="279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22598" y="6228581"/>
            <a:ext cx="5250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命令：</a:t>
            </a: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docker 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build </a:t>
            </a:r>
            <a:r>
              <a:rPr lang="en-US" altLang="zh-CN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en-US" altLang="zh-CN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 </a:t>
            </a:r>
            <a:r>
              <a:rPr lang="en-US" altLang="zh-CN">
                <a:latin typeface="微软雅黑" pitchFamily="34" charset="-122"/>
                <a:ea typeface="微软雅黑" pitchFamily="34" charset="-122"/>
              </a:rPr>
              <a:t>edp-app-dev-img:1.0.0 </a:t>
            </a:r>
            <a:r>
              <a:rPr lang="en-US" altLang="zh-CN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.</a:t>
            </a:r>
            <a:endParaRPr lang="zh-CN" altLang="en-US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9143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镜像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构建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62558" y="971997"/>
            <a:ext cx="3871381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构建方式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：</a:t>
            </a:r>
          </a:p>
          <a:p>
            <a:pPr marL="628650" lvl="1" indent="-171450">
              <a:buFont typeface="Wingdings" pitchFamily="2" charset="2"/>
              <a:buChar char="l"/>
            </a:pP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通过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Dockerfile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文件构建（这种用得非常多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1200">
              <a:latin typeface="微软雅黑" pitchFamily="34" charset="-122"/>
              <a:ea typeface="微软雅黑" pitchFamily="34" charset="-122"/>
            </a:endParaRPr>
          </a:p>
          <a:p>
            <a:pPr marL="628650" lvl="1" indent="-171450">
              <a:buFont typeface="Wingdings" pitchFamily="2" charset="2"/>
              <a:buChar char="l"/>
            </a:pPr>
            <a:r>
              <a:rPr lang="zh-CN" altLang="en-US" sz="1200" b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通过</a:t>
            </a:r>
            <a:r>
              <a:rPr lang="zh-CN" altLang="en-US" sz="1200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容器构建</a:t>
            </a:r>
          </a:p>
          <a:p>
            <a:pPr marL="171450" indent="-171450">
              <a:buFont typeface="Wingdings" pitchFamily="2" charset="2"/>
              <a:buChar char="n"/>
            </a:pPr>
            <a:endParaRPr lang="en-US" altLang="zh-CN" sz="120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20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zh-CN" altLang="en-US" sz="120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3752" y="1980109"/>
            <a:ext cx="3592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smtClean="0">
                <a:latin typeface="微软雅黑" pitchFamily="34" charset="-122"/>
                <a:ea typeface="微软雅黑" pitchFamily="34" charset="-122"/>
              </a:rPr>
              <a:t>命令：</a:t>
            </a:r>
            <a:r>
              <a:rPr lang="en-US" altLang="zh-CN" b="1" smtClean="0"/>
              <a:t>docker </a:t>
            </a:r>
            <a:r>
              <a:rPr lang="en-US" altLang="zh-CN" b="1"/>
              <a:t>commit &lt;container-id</a:t>
            </a:r>
            <a:r>
              <a:rPr lang="en-US" altLang="zh-CN" b="1" smtClean="0"/>
              <a:t>&gt;</a:t>
            </a:r>
            <a:endParaRPr lang="en-US" altLang="zh-CN" b="1"/>
          </a:p>
        </p:txBody>
      </p:sp>
      <p:pic>
        <p:nvPicPr>
          <p:cNvPr id="26626" name="Picture 2" descr=" 10张图带你深入理解Docker容器和镜像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77" y="2556173"/>
            <a:ext cx="5534025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5832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2585" y="450241"/>
            <a:ext cx="7629525" cy="588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 descr="这里写图片描述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827978"/>
            <a:ext cx="9505056" cy="5536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镜像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支持多种</a:t>
            </a:r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系统架构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0" y="6501984"/>
            <a:ext cx="5646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manifest </a:t>
            </a:r>
            <a:r>
              <a:rPr lang="zh-CN" altLang="en-US" sz="1600" smtClean="0">
                <a:latin typeface="微软雅黑" pitchFamily="34" charset="-122"/>
                <a:ea typeface="微软雅黑" pitchFamily="34" charset="-122"/>
              </a:rPr>
              <a:t>列表：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https://docs.docker.com/registry/spec/manifest-v2-2/</a:t>
            </a:r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646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容器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-Container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30469" y="986563"/>
            <a:ext cx="10235494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l"/>
            </a:pP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要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有</a:t>
            </a:r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Container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首先要有</a:t>
            </a:r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Image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，也就是说</a:t>
            </a:r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Container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是通过</a:t>
            </a:r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image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创建的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40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1400" smtClean="0">
                <a:latin typeface="微软雅黑" pitchFamily="34" charset="-122"/>
                <a:ea typeface="微软雅黑" pitchFamily="34" charset="-122"/>
              </a:rPr>
              <a:t>Container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是在原先的</a:t>
            </a:r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Image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之上新加的一层，称作</a:t>
            </a:r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Container layer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，这一层是可读可写的（</a:t>
            </a:r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Image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是只读的）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40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1400" smtClean="0">
                <a:latin typeface="微软雅黑" pitchFamily="34" charset="-122"/>
                <a:ea typeface="微软雅黑" pitchFamily="34" charset="-122"/>
              </a:rPr>
              <a:t>Image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跟</a:t>
            </a:r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Container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可以类比面向对象中的类跟对象，</a:t>
            </a:r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Image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就相当于抽象的类，</a:t>
            </a:r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Container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就相当于具体实例化的对象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40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l"/>
            </a:pPr>
            <a:r>
              <a:rPr lang="en-US" altLang="zh-CN" sz="1400" smtClean="0">
                <a:latin typeface="微软雅黑" pitchFamily="34" charset="-122"/>
                <a:ea typeface="微软雅黑" pitchFamily="34" charset="-122"/>
              </a:rPr>
              <a:t>Image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跟</a:t>
            </a:r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Container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的职责区别：</a:t>
            </a:r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Image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负责</a:t>
            </a:r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APP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的存储和分发，</a:t>
            </a:r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Container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负责运行</a:t>
            </a:r>
            <a:r>
              <a:rPr lang="en-US" altLang="zh-CN" sz="1400" smtClean="0">
                <a:latin typeface="微软雅黑" pitchFamily="34" charset="-122"/>
                <a:ea typeface="微软雅黑" pitchFamily="34" charset="-122"/>
              </a:rPr>
              <a:t>APP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40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l"/>
            </a:pPr>
            <a:endParaRPr lang="en-US" altLang="zh-CN" sz="1400" smtClean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Picture 2" descr="https://img2018.cnblogs.com/blog/1100338/201810/1100338-20181010205425262-96072140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969" y="2122958"/>
            <a:ext cx="6200775" cy="1657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261465" y="4122926"/>
            <a:ext cx="9090950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l"/>
            </a:pP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运行程序的载体，实质是进程，但与直接在宿主执行的进程不同，容器进程运行于属于自己的独立的命名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空间</a:t>
            </a:r>
            <a:endParaRPr lang="en-US" altLang="zh-CN" sz="140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l"/>
            </a:pP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容器可以拥有自己的</a:t>
            </a:r>
            <a:r>
              <a:rPr lang="en-US" altLang="zh-CN" sz="1400" smtClean="0">
                <a:latin typeface="微软雅黑" pitchFamily="34" charset="-122"/>
                <a:ea typeface="微软雅黑" pitchFamily="34" charset="-122"/>
              </a:rPr>
              <a:t>root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文件系统、网络配置、进程空间，用户</a:t>
            </a:r>
            <a:r>
              <a:rPr lang="en-US" altLang="zh-CN" sz="1400" smtClean="0">
                <a:latin typeface="微软雅黑" pitchFamily="34" charset="-122"/>
                <a:ea typeface="微软雅黑" pitchFamily="34" charset="-122"/>
              </a:rPr>
              <a:t>ID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空间。</a:t>
            </a:r>
            <a:endParaRPr lang="en-US" altLang="zh-CN" sz="140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l"/>
            </a:pP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容器内的进程是运行在一个隔离的环境里，使用起来，就好像是在一个独立于宿主的系统下操作一样。   </a:t>
            </a:r>
            <a:endParaRPr lang="en-US" altLang="zh-CN" sz="140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l"/>
            </a:pP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这种特性使得容器封装的应用比直接在宿主运行更加安全。</a:t>
            </a:r>
            <a:endParaRPr lang="en-US" altLang="zh-CN" sz="140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l"/>
            </a:pP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也因为这种隔离的特性，很多人初学 </a:t>
            </a:r>
            <a:r>
              <a:rPr lang="en-US" altLang="zh-CN" sz="1400" smtClean="0">
                <a:latin typeface="微软雅黑" pitchFamily="34" charset="-122"/>
                <a:ea typeface="微软雅黑" pitchFamily="34" charset="-122"/>
              </a:rPr>
              <a:t>Docker 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时常常会把容器和虚拟机搞混。</a:t>
            </a:r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2558" y="4122926"/>
            <a:ext cx="9217024" cy="1169551"/>
          </a:xfrm>
          <a:prstGeom prst="rect">
            <a:avLst/>
          </a:prstGeom>
          <a:noFill/>
          <a:ln w="12700">
            <a:solidFill>
              <a:srgbClr val="009ED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Picture 3" descr="E:\支付指南\技术分享\Docker\image-container-relations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7327" y="2162200"/>
            <a:ext cx="5210175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7871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容器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-Container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283615" y="971997"/>
            <a:ext cx="6228416" cy="2880320"/>
          </a:xfrm>
          <a:prstGeom prst="rect">
            <a:avLst/>
          </a:prstGeom>
          <a:noFill/>
          <a:ln w="12700">
            <a:solidFill>
              <a:srgbClr val="009ED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64167" y="1076627"/>
            <a:ext cx="6247864" cy="2893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操作容器的一些命令：</a:t>
            </a:r>
            <a:endParaRPr lang="en-US" altLang="zh-CN" sz="140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l"/>
            </a:pP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运行容器：</a:t>
            </a:r>
            <a:r>
              <a:rPr lang="en-US" altLang="zh-CN" sz="1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docekr </a:t>
            </a:r>
            <a:r>
              <a:rPr lang="en-US" altLang="zh-CN" sz="1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run &lt;IMAGE STRING</a:t>
            </a:r>
            <a:r>
              <a:rPr lang="en-US" altLang="zh-CN" sz="1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（运行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完后，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容器自动退出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140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l"/>
            </a:pP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具有交互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效果的启动容器： </a:t>
            </a:r>
            <a:r>
              <a:rPr lang="en-US" altLang="zh-CN" sz="1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docker run -it </a:t>
            </a:r>
            <a:r>
              <a:rPr lang="en-US" altLang="zh-CN" sz="1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&lt;IMAGE STRING</a:t>
            </a:r>
            <a:r>
              <a:rPr lang="en-US" altLang="zh-CN" sz="1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&gt;</a:t>
            </a:r>
          </a:p>
          <a:p>
            <a:pPr marL="285750" indent="-285750">
              <a:buFont typeface="Wingdings" pitchFamily="2" charset="2"/>
              <a:buChar char="l"/>
            </a:pP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后台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运行容器：</a:t>
            </a:r>
            <a:r>
              <a:rPr lang="en-US" altLang="zh-CN" sz="1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docker </a:t>
            </a:r>
            <a:r>
              <a:rPr lang="en-US" altLang="zh-CN" sz="1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run -d &lt;IMAGE STRING</a:t>
            </a:r>
            <a:r>
              <a:rPr lang="en-US" altLang="zh-CN" sz="1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&gt;</a:t>
            </a:r>
            <a:endParaRPr lang="en-US" altLang="zh-CN" sz="140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l"/>
            </a:pP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重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启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容器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1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docker restart </a:t>
            </a:r>
            <a:r>
              <a:rPr lang="zh-CN" altLang="en-US" sz="1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容器名</a:t>
            </a:r>
            <a:r>
              <a:rPr lang="en-US" altLang="zh-CN" sz="1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1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ID</a:t>
            </a:r>
          </a:p>
          <a:p>
            <a:pPr marL="285750" indent="-285750">
              <a:buFont typeface="Wingdings" pitchFamily="2" charset="2"/>
              <a:buChar char="l"/>
            </a:pP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启动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容器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1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docker </a:t>
            </a:r>
            <a:r>
              <a:rPr lang="en-US" altLang="zh-CN" sz="1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start </a:t>
            </a:r>
            <a:r>
              <a:rPr lang="zh-CN" altLang="en-US" sz="1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容器名</a:t>
            </a:r>
            <a:r>
              <a:rPr lang="en-US" altLang="zh-CN" sz="1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1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ID</a:t>
            </a:r>
          </a:p>
          <a:p>
            <a:pPr marL="285750" indent="-285750">
              <a:buFont typeface="Wingdings" pitchFamily="2" charset="2"/>
              <a:buChar char="l"/>
            </a:pP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停止容器：</a:t>
            </a:r>
            <a:r>
              <a:rPr lang="en-US" altLang="zh-CN" sz="1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docker stop </a:t>
            </a:r>
            <a:r>
              <a:rPr lang="zh-CN" altLang="en-US" sz="1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容器</a:t>
            </a:r>
            <a:r>
              <a:rPr lang="zh-CN" altLang="en-US" sz="1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名</a:t>
            </a:r>
            <a:r>
              <a:rPr lang="en-US" altLang="zh-CN" sz="1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/ID</a:t>
            </a:r>
            <a:endParaRPr lang="en-US" altLang="zh-CN" sz="140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l"/>
            </a:pP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查看所有运行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中的容器：</a:t>
            </a:r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docker </a:t>
            </a:r>
            <a:r>
              <a:rPr lang="en-US" altLang="zh-CN" sz="1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ps</a:t>
            </a:r>
          </a:p>
          <a:p>
            <a:pPr marL="285750" indent="-285750">
              <a:buFont typeface="Wingdings" pitchFamily="2" charset="2"/>
              <a:buChar char="l"/>
            </a:pP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查看所有容器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1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docker ps </a:t>
            </a:r>
            <a:r>
              <a:rPr lang="en-US" altLang="zh-CN" sz="1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–a</a:t>
            </a:r>
          </a:p>
          <a:p>
            <a:pPr marL="285750" indent="-285750">
              <a:buFont typeface="Wingdings" pitchFamily="2" charset="2"/>
              <a:buChar char="l"/>
            </a:pP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删除容器：</a:t>
            </a:r>
            <a:r>
              <a:rPr lang="en-US" altLang="zh-CN" sz="1400"/>
              <a:t> </a:t>
            </a:r>
            <a:r>
              <a:rPr lang="en-US" altLang="zh-CN" sz="1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docker </a:t>
            </a:r>
            <a:r>
              <a:rPr lang="en-US" altLang="zh-CN" sz="1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rm </a:t>
            </a:r>
            <a:r>
              <a:rPr lang="zh-CN" altLang="en-US" sz="1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容器</a:t>
            </a:r>
            <a:r>
              <a:rPr lang="zh-CN" altLang="en-US" sz="1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名</a:t>
            </a:r>
            <a:r>
              <a:rPr lang="en-US" altLang="zh-CN" sz="1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1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ID</a:t>
            </a:r>
          </a:p>
          <a:p>
            <a:pPr marL="285750" indent="-285750">
              <a:buFont typeface="Wingdings" pitchFamily="2" charset="2"/>
              <a:buChar char="l"/>
            </a:pP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进入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容器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命令：</a:t>
            </a:r>
            <a:r>
              <a:rPr lang="en-US" altLang="zh-CN" sz="1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docker </a:t>
            </a:r>
            <a:r>
              <a:rPr lang="en-US" altLang="zh-CN" sz="1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exec –</a:t>
            </a:r>
            <a:r>
              <a:rPr lang="en-US" altLang="zh-CN" sz="1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it </a:t>
            </a:r>
            <a:r>
              <a:rPr lang="zh-CN" altLang="en-US" sz="1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容器名</a:t>
            </a:r>
            <a:r>
              <a:rPr lang="en-US" altLang="zh-CN" sz="1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/ID bash</a:t>
            </a:r>
            <a:endParaRPr lang="en-US" altLang="zh-CN" sz="140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l"/>
            </a:pPr>
            <a:endParaRPr lang="en-US" altLang="zh-CN" sz="140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l"/>
            </a:pPr>
            <a:endParaRPr lang="zh-CN" altLang="en-US" sz="140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7968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容器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Container-</a:t>
            </a:r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实践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/>
          <p:cNvGrpSpPr/>
          <p:nvPr/>
        </p:nvGrpSpPr>
        <p:grpSpPr>
          <a:xfrm>
            <a:off x="290261" y="961053"/>
            <a:ext cx="11034831" cy="1265612"/>
            <a:chOff x="250395" y="3841373"/>
            <a:chExt cx="11034831" cy="2880320"/>
          </a:xfrm>
        </p:grpSpPr>
        <p:sp>
          <p:nvSpPr>
            <p:cNvPr id="7" name="TextBox 6"/>
            <p:cNvSpPr txBox="1"/>
            <p:nvPr/>
          </p:nvSpPr>
          <p:spPr>
            <a:xfrm>
              <a:off x="290260" y="4140349"/>
              <a:ext cx="10994965" cy="2171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>
                  <a:latin typeface="微软雅黑" pitchFamily="34" charset="-122"/>
                  <a:ea typeface="微软雅黑" pitchFamily="34" charset="-122"/>
                </a:rPr>
                <a:t>按照 </a:t>
              </a:r>
              <a:r>
                <a:rPr lang="en-US" altLang="zh-CN" sz="1400">
                  <a:latin typeface="微软雅黑" pitchFamily="34" charset="-122"/>
                  <a:ea typeface="微软雅黑" pitchFamily="34" charset="-122"/>
                </a:rPr>
                <a:t>Docker </a:t>
              </a:r>
              <a:r>
                <a:rPr lang="zh-CN" altLang="en-US" sz="1400">
                  <a:latin typeface="微软雅黑" pitchFamily="34" charset="-122"/>
                  <a:ea typeface="微软雅黑" pitchFamily="34" charset="-122"/>
                </a:rPr>
                <a:t>最佳</a:t>
              </a:r>
              <a:r>
                <a:rPr lang="zh-CN" altLang="en-US" sz="1400" smtClean="0">
                  <a:latin typeface="微软雅黑" pitchFamily="34" charset="-122"/>
                  <a:ea typeface="微软雅黑" pitchFamily="34" charset="-122"/>
                </a:rPr>
                <a:t>实践</a:t>
              </a:r>
              <a:r>
                <a:rPr lang="zh-CN" altLang="en-US" sz="1400">
                  <a:latin typeface="微软雅黑" pitchFamily="34" charset="-122"/>
                  <a:ea typeface="微软雅黑" pitchFamily="34" charset="-122"/>
                </a:rPr>
                <a:t>要求</a:t>
              </a:r>
              <a:r>
                <a:rPr lang="zh-CN" altLang="en-US" sz="1400" smtClean="0">
                  <a:latin typeface="微软雅黑" pitchFamily="34" charset="-122"/>
                  <a:ea typeface="微软雅黑" pitchFamily="34" charset="-122"/>
                </a:rPr>
                <a:t>：</a:t>
              </a:r>
              <a:endParaRPr lang="en-US" altLang="zh-CN" sz="1400" smtClean="0">
                <a:latin typeface="微软雅黑" pitchFamily="34" charset="-122"/>
                <a:ea typeface="微软雅黑" pitchFamily="34" charset="-122"/>
              </a:endParaRPr>
            </a:p>
            <a:p>
              <a:pPr marL="285750" indent="-285750">
                <a:buFont typeface="Wingdings" pitchFamily="2" charset="2"/>
                <a:buChar char="l"/>
              </a:pPr>
              <a:r>
                <a:rPr lang="zh-CN" altLang="en-US" sz="1400" smtClean="0">
                  <a:latin typeface="微软雅黑" pitchFamily="34" charset="-122"/>
                  <a:ea typeface="微软雅黑" pitchFamily="34" charset="-122"/>
                </a:rPr>
                <a:t>容器</a:t>
              </a:r>
              <a:r>
                <a:rPr lang="zh-CN" altLang="en-US" sz="1400">
                  <a:latin typeface="微软雅黑" pitchFamily="34" charset="-122"/>
                  <a:ea typeface="微软雅黑" pitchFamily="34" charset="-122"/>
                </a:rPr>
                <a:t>不应该向其存储层内写入任何数据，容器存储层要保持无状态化</a:t>
              </a:r>
              <a:r>
                <a:rPr lang="zh-CN" altLang="en-US" sz="1400" smtClean="0">
                  <a:latin typeface="微软雅黑" pitchFamily="34" charset="-122"/>
                  <a:ea typeface="微软雅黑" pitchFamily="34" charset="-122"/>
                </a:rPr>
                <a:t>。</a:t>
              </a:r>
              <a:endParaRPr lang="en-US" altLang="zh-CN" sz="1400" smtClean="0">
                <a:latin typeface="微软雅黑" pitchFamily="34" charset="-122"/>
                <a:ea typeface="微软雅黑" pitchFamily="34" charset="-122"/>
              </a:endParaRPr>
            </a:p>
            <a:p>
              <a:pPr marL="285750" indent="-285750">
                <a:buFont typeface="Wingdings" pitchFamily="2" charset="2"/>
                <a:buChar char="l"/>
              </a:pPr>
              <a:r>
                <a:rPr lang="zh-CN" altLang="en-US" sz="1400" smtClean="0">
                  <a:latin typeface="微软雅黑" pitchFamily="34" charset="-122"/>
                  <a:ea typeface="微软雅黑" pitchFamily="34" charset="-122"/>
                </a:rPr>
                <a:t>所有</a:t>
              </a:r>
              <a:r>
                <a:rPr lang="zh-CN" altLang="en-US" sz="1400">
                  <a:latin typeface="微软雅黑" pitchFamily="34" charset="-122"/>
                  <a:ea typeface="微软雅黑" pitchFamily="34" charset="-122"/>
                </a:rPr>
                <a:t>的文件写入操作，都应该</a:t>
              </a:r>
              <a:r>
                <a:rPr lang="zh-CN" altLang="en-US" sz="1400" smtClean="0">
                  <a:latin typeface="微软雅黑" pitchFamily="34" charset="-122"/>
                  <a:ea typeface="微软雅黑" pitchFamily="34" charset="-122"/>
                </a:rPr>
                <a:t>使用数据</a:t>
              </a:r>
              <a:r>
                <a:rPr lang="zh-CN" altLang="en-US" sz="1400">
                  <a:latin typeface="微软雅黑" pitchFamily="34" charset="-122"/>
                  <a:ea typeface="微软雅黑" pitchFamily="34" charset="-122"/>
                </a:rPr>
                <a:t>卷（</a:t>
              </a:r>
              <a:r>
                <a:rPr lang="en-US" altLang="zh-CN" sz="1400">
                  <a:latin typeface="微软雅黑" pitchFamily="34" charset="-122"/>
                  <a:ea typeface="微软雅黑" pitchFamily="34" charset="-122"/>
                </a:rPr>
                <a:t>Volume</a:t>
              </a:r>
              <a:r>
                <a:rPr lang="zh-CN" altLang="en-US" sz="1400">
                  <a:latin typeface="微软雅黑" pitchFamily="34" charset="-122"/>
                  <a:ea typeface="微软雅黑" pitchFamily="34" charset="-122"/>
                </a:rPr>
                <a:t>）、</a:t>
              </a:r>
              <a:r>
                <a:rPr lang="zh-CN" altLang="en-US" sz="1400" smtClean="0">
                  <a:latin typeface="微软雅黑" pitchFamily="34" charset="-122"/>
                  <a:ea typeface="微软雅黑" pitchFamily="34" charset="-122"/>
                </a:rPr>
                <a:t>或绑定</a:t>
              </a:r>
              <a:r>
                <a:rPr lang="zh-CN" altLang="en-US" sz="1400">
                  <a:latin typeface="微软雅黑" pitchFamily="34" charset="-122"/>
                  <a:ea typeface="微软雅黑" pitchFamily="34" charset="-122"/>
                </a:rPr>
                <a:t>宿主目录</a:t>
              </a:r>
              <a:r>
                <a:rPr lang="zh-CN" altLang="en-US" sz="1400" smtClean="0">
                  <a:latin typeface="微软雅黑" pitchFamily="34" charset="-122"/>
                  <a:ea typeface="微软雅黑" pitchFamily="34" charset="-122"/>
                </a:rPr>
                <a:t>，直接</a:t>
              </a:r>
              <a:r>
                <a:rPr lang="zh-CN" altLang="en-US" sz="1400">
                  <a:latin typeface="微软雅黑" pitchFamily="34" charset="-122"/>
                  <a:ea typeface="微软雅黑" pitchFamily="34" charset="-122"/>
                </a:rPr>
                <a:t>对宿主</a:t>
              </a:r>
              <a:r>
                <a:rPr lang="en-US" altLang="zh-CN" sz="1400">
                  <a:latin typeface="微软雅黑" pitchFamily="34" charset="-122"/>
                  <a:ea typeface="微软雅黑" pitchFamily="34" charset="-122"/>
                </a:rPr>
                <a:t>(</a:t>
              </a:r>
              <a:r>
                <a:rPr lang="zh-CN" altLang="en-US" sz="1400">
                  <a:latin typeface="微软雅黑" pitchFamily="34" charset="-122"/>
                  <a:ea typeface="微软雅黑" pitchFamily="34" charset="-122"/>
                </a:rPr>
                <a:t>或网络存储</a:t>
              </a:r>
              <a:r>
                <a:rPr lang="en-US" altLang="zh-CN" sz="1400">
                  <a:latin typeface="微软雅黑" pitchFamily="34" charset="-122"/>
                  <a:ea typeface="微软雅黑" pitchFamily="34" charset="-122"/>
                </a:rPr>
                <a:t>)</a:t>
              </a:r>
              <a:r>
                <a:rPr lang="zh-CN" altLang="en-US" sz="1400">
                  <a:latin typeface="微软雅黑" pitchFamily="34" charset="-122"/>
                  <a:ea typeface="微软雅黑" pitchFamily="34" charset="-122"/>
                </a:rPr>
                <a:t>发生读写，其性能和稳定性更高。    </a:t>
              </a:r>
              <a:endParaRPr lang="en-US" altLang="zh-CN" sz="1400" smtClean="0">
                <a:latin typeface="微软雅黑" pitchFamily="34" charset="-122"/>
                <a:ea typeface="微软雅黑" pitchFamily="34" charset="-122"/>
              </a:endParaRPr>
            </a:p>
            <a:p>
              <a:pPr marL="285750" indent="-285750">
                <a:buFont typeface="Wingdings" pitchFamily="2" charset="2"/>
                <a:buChar char="l"/>
              </a:pPr>
              <a:r>
                <a:rPr lang="zh-CN" altLang="en-US" sz="1400" smtClean="0">
                  <a:latin typeface="微软雅黑" pitchFamily="34" charset="-122"/>
                  <a:ea typeface="微软雅黑" pitchFamily="34" charset="-122"/>
                </a:rPr>
                <a:t>数据</a:t>
              </a:r>
              <a:r>
                <a:rPr lang="zh-CN" altLang="en-US" sz="1400">
                  <a:latin typeface="微软雅黑" pitchFamily="34" charset="-122"/>
                  <a:ea typeface="微软雅黑" pitchFamily="34" charset="-122"/>
                </a:rPr>
                <a:t>卷的生存周期独立于容器，容器消亡，数据卷不会消亡。因此，使用数据卷后，容器可以随意删除、</a:t>
              </a:r>
              <a:r>
                <a:rPr lang="zh-CN" altLang="en-US" sz="1400" smtClean="0">
                  <a:latin typeface="微软雅黑" pitchFamily="34" charset="-122"/>
                  <a:ea typeface="微软雅黑" pitchFamily="34" charset="-122"/>
                </a:rPr>
                <a:t>重新</a:t>
              </a:r>
              <a:r>
                <a:rPr lang="en-US" altLang="zh-CN" sz="1400" smtClean="0">
                  <a:latin typeface="微软雅黑" pitchFamily="34" charset="-122"/>
                  <a:ea typeface="微软雅黑" pitchFamily="34" charset="-122"/>
                </a:rPr>
                <a:t>run</a:t>
              </a:r>
              <a:r>
                <a:rPr lang="zh-CN" altLang="en-US" sz="1400">
                  <a:latin typeface="微软雅黑" pitchFamily="34" charset="-122"/>
                  <a:ea typeface="微软雅黑" pitchFamily="34" charset="-122"/>
                </a:rPr>
                <a:t>，数据却不会丢失</a:t>
              </a:r>
              <a:r>
                <a:rPr lang="zh-CN" altLang="en-US" sz="1400" smtClean="0">
                  <a:latin typeface="微软雅黑" pitchFamily="34" charset="-122"/>
                  <a:ea typeface="微软雅黑" pitchFamily="34" charset="-122"/>
                </a:rPr>
                <a:t>。</a:t>
              </a:r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250395" y="3841373"/>
              <a:ext cx="11034831" cy="2880320"/>
            </a:xfrm>
            <a:prstGeom prst="rect">
              <a:avLst/>
            </a:prstGeom>
            <a:noFill/>
            <a:ln w="12700">
              <a:solidFill>
                <a:srgbClr val="009ED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593" y="2277722"/>
            <a:ext cx="984885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593" y="3996333"/>
            <a:ext cx="7715250" cy="275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1919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基本概念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990750" y="2628181"/>
            <a:ext cx="72214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Dockerfile 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是软件的原材料，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Docker 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镜像是软件的交付品，而 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Docker 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容器则可以认为是软件的运行态</a:t>
            </a:r>
            <a:endParaRPr lang="zh-CN" altLang="en-US" sz="120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3731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/>
          <p:cNvSpPr/>
          <p:nvPr/>
        </p:nvSpPr>
        <p:spPr>
          <a:xfrm>
            <a:off x="3874968" y="3230771"/>
            <a:ext cx="764116" cy="51928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 cap="flat">
            <a:solidFill>
              <a:schemeClr val="tx1">
                <a:lumMod val="65000"/>
                <a:lumOff val="35000"/>
              </a:schemeClr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3</a:t>
            </a: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3874968" y="4025973"/>
            <a:ext cx="764116" cy="51928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 cap="flat">
            <a:solidFill>
              <a:schemeClr val="tx1">
                <a:lumMod val="65000"/>
                <a:lumOff val="35000"/>
              </a:schemeClr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4</a:t>
            </a: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3874968" y="2430846"/>
            <a:ext cx="764116" cy="51928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 cap="flat">
            <a:solidFill>
              <a:schemeClr val="tx1">
                <a:lumMod val="65000"/>
                <a:lumOff val="35000"/>
              </a:schemeClr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1578303" y="611957"/>
            <a:ext cx="1424422" cy="738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4000" b="1">
                <a:latin typeface="微软雅黑" pitchFamily="34" charset="-122"/>
                <a:ea typeface="微软雅黑" pitchFamily="34" charset="-122"/>
              </a:rPr>
              <a:t>目 录</a:t>
            </a:r>
          </a:p>
        </p:txBody>
      </p:sp>
      <p:sp>
        <p:nvSpPr>
          <p:cNvPr id="14" name="TextBox 19"/>
          <p:cNvSpPr txBox="1">
            <a:spLocks noChangeArrowheads="1"/>
          </p:cNvSpPr>
          <p:nvPr/>
        </p:nvSpPr>
        <p:spPr bwMode="auto">
          <a:xfrm>
            <a:off x="1414686" y="1404064"/>
            <a:ext cx="1902118" cy="49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CONTENTS</a:t>
            </a:r>
            <a:endParaRPr lang="zh-CN" altLang="en-US" sz="2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文本框 18"/>
          <p:cNvSpPr>
            <a:spLocks noChangeArrowheads="1"/>
          </p:cNvSpPr>
          <p:nvPr/>
        </p:nvSpPr>
        <p:spPr bwMode="auto">
          <a:xfrm>
            <a:off x="4035834" y="2443975"/>
            <a:ext cx="442384" cy="49303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  <a:extLst/>
        </p:spPr>
        <p:txBody>
          <a:bodyPr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egoe UI Black" pitchFamily="2" charset="0"/>
              </a:rPr>
              <a:t>2</a:t>
            </a:r>
          </a:p>
        </p:txBody>
      </p:sp>
      <p:sp>
        <p:nvSpPr>
          <p:cNvPr id="16" name="文本框 22"/>
          <p:cNvSpPr>
            <a:spLocks noChangeArrowheads="1"/>
          </p:cNvSpPr>
          <p:nvPr/>
        </p:nvSpPr>
        <p:spPr bwMode="auto">
          <a:xfrm>
            <a:off x="4927435" y="2389044"/>
            <a:ext cx="2548466" cy="55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zh-CN" altLang="en-US" sz="2800" b="1" smtClean="0">
                <a:ea typeface="微软雅黑" pitchFamily="34" charset="-122"/>
                <a:sym typeface="Tahoma" pitchFamily="34" charset="0"/>
              </a:rPr>
              <a:t>概念及使用</a:t>
            </a:r>
            <a:endParaRPr lang="zh-CN" altLang="en-US" sz="2800" b="1">
              <a:ea typeface="微软雅黑" pitchFamily="34" charset="-122"/>
              <a:sym typeface="Tahoma" pitchFamily="34" charset="0"/>
            </a:endParaRPr>
          </a:p>
        </p:txBody>
      </p:sp>
      <p:sp>
        <p:nvSpPr>
          <p:cNvPr id="17" name="文本框 22"/>
          <p:cNvSpPr>
            <a:spLocks noChangeArrowheads="1"/>
          </p:cNvSpPr>
          <p:nvPr/>
        </p:nvSpPr>
        <p:spPr bwMode="auto">
          <a:xfrm>
            <a:off x="4927434" y="3202098"/>
            <a:ext cx="2548467" cy="55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zh-CN" altLang="en-US" sz="2800" b="1" smtClean="0">
                <a:ea typeface="微软雅黑" pitchFamily="34" charset="-122"/>
                <a:sym typeface="Tahoma" pitchFamily="34" charset="0"/>
              </a:rPr>
              <a:t>架构</a:t>
            </a:r>
            <a:endParaRPr lang="zh-CN" altLang="en-US" sz="2800" b="1">
              <a:ea typeface="微软雅黑" pitchFamily="34" charset="-122"/>
              <a:sym typeface="Tahoma" pitchFamily="34" charset="0"/>
            </a:endParaRPr>
          </a:p>
        </p:txBody>
      </p:sp>
      <p:sp>
        <p:nvSpPr>
          <p:cNvPr id="18" name="文本框 22"/>
          <p:cNvSpPr>
            <a:spLocks noChangeArrowheads="1"/>
          </p:cNvSpPr>
          <p:nvPr/>
        </p:nvSpPr>
        <p:spPr bwMode="auto">
          <a:xfrm>
            <a:off x="4927435" y="4014644"/>
            <a:ext cx="2548466" cy="55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800" b="1" smtClean="0">
                <a:ea typeface="微软雅黑" pitchFamily="34" charset="-122"/>
                <a:sym typeface="Tahoma" pitchFamily="34" charset="0"/>
              </a:rPr>
              <a:t>存储</a:t>
            </a:r>
            <a:endParaRPr lang="zh-CN" altLang="en-US" sz="2800" b="1">
              <a:ea typeface="微软雅黑" pitchFamily="34" charset="-122"/>
              <a:sym typeface="Tahoma" pitchFamily="34" charset="0"/>
            </a:endParaRPr>
          </a:p>
        </p:txBody>
      </p:sp>
      <p:sp>
        <p:nvSpPr>
          <p:cNvPr id="21" name="文本框 22"/>
          <p:cNvSpPr>
            <a:spLocks noChangeArrowheads="1"/>
          </p:cNvSpPr>
          <p:nvPr/>
        </p:nvSpPr>
        <p:spPr bwMode="auto">
          <a:xfrm>
            <a:off x="4929615" y="1616292"/>
            <a:ext cx="2548466" cy="55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微软雅黑" pitchFamily="34" charset="-122"/>
                <a:sym typeface="Tahoma" pitchFamily="34" charset="0"/>
              </a:rPr>
              <a:t>简介</a:t>
            </a:r>
          </a:p>
        </p:txBody>
      </p:sp>
      <p:sp>
        <p:nvSpPr>
          <p:cNvPr id="22" name="圆角矩形 21"/>
          <p:cNvSpPr/>
          <p:nvPr/>
        </p:nvSpPr>
        <p:spPr>
          <a:xfrm>
            <a:off x="3877681" y="1688300"/>
            <a:ext cx="764116" cy="51928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 cap="flat">
            <a:solidFill>
              <a:schemeClr val="tx1">
                <a:lumMod val="65000"/>
                <a:lumOff val="35000"/>
              </a:schemeClr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23" name="文本框 18"/>
          <p:cNvSpPr>
            <a:spLocks noChangeArrowheads="1"/>
          </p:cNvSpPr>
          <p:nvPr/>
        </p:nvSpPr>
        <p:spPr bwMode="auto">
          <a:xfrm>
            <a:off x="4038547" y="1701429"/>
            <a:ext cx="442384" cy="49303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extLst/>
        </p:spPr>
        <p:txBody>
          <a:bodyPr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egoe UI Black" pitchFamily="2" charset="0"/>
              </a:rPr>
              <a:t>1</a:t>
            </a:r>
          </a:p>
        </p:txBody>
      </p:sp>
      <p:sp>
        <p:nvSpPr>
          <p:cNvPr id="2" name="矩形 1"/>
          <p:cNvSpPr/>
          <p:nvPr/>
        </p:nvSpPr>
        <p:spPr>
          <a:xfrm>
            <a:off x="3718942" y="3164490"/>
            <a:ext cx="3240360" cy="651849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4030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Docker</a:t>
            </a:r>
            <a:r>
              <a:rPr lang="en-US" altLang="zh-CN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 descr="E:\支付指南\技术分享\Docker\docker-on-linux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5940" y="767851"/>
            <a:ext cx="8533306" cy="5820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833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altLang="zh-CN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sv-SE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ocker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8" name="Picture 2" descr="E:\支付指南\技术分享\Docker\docker-c-s架构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932" y="712239"/>
            <a:ext cx="9745663" cy="506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9106989" y="4212357"/>
            <a:ext cx="2279150" cy="18774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Docker 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的核心组件包括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400" smtClean="0">
              <a:latin typeface="微软雅黑" pitchFamily="34" charset="-122"/>
              <a:ea typeface="微软雅黑" pitchFamily="34" charset="-122"/>
            </a:endParaRPr>
          </a:p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Docker Client</a:t>
            </a:r>
          </a:p>
          <a:p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Docker </a:t>
            </a:r>
            <a:r>
              <a:rPr lang="en-US" altLang="zh-CN" sz="1400" smtClean="0">
                <a:latin typeface="微软雅黑" pitchFamily="34" charset="-122"/>
                <a:ea typeface="微软雅黑" pitchFamily="34" charset="-122"/>
              </a:rPr>
              <a:t>Daemon</a:t>
            </a:r>
            <a:endParaRPr lang="en-US" altLang="zh-CN" sz="140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Docker Image</a:t>
            </a:r>
          </a:p>
          <a:p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Docker Registry</a:t>
            </a:r>
          </a:p>
          <a:p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Docker Container</a:t>
            </a: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746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altLang="zh-CN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sv-SE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ocker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-Client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90550" y="1188021"/>
            <a:ext cx="689034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mtClean="0">
                <a:latin typeface="微软雅黑" pitchFamily="34" charset="-122"/>
                <a:ea typeface="微软雅黑" pitchFamily="34" charset="-122"/>
              </a:rPr>
              <a:t>Docker 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客户端（</a:t>
            </a:r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400" smtClean="0">
                <a:latin typeface="微软雅黑" pitchFamily="34" charset="-122"/>
                <a:ea typeface="微软雅黑" pitchFamily="34" charset="-122"/>
              </a:rPr>
              <a:t>Docker 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命令）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4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其实就是</a:t>
            </a:r>
            <a:r>
              <a:rPr lang="en-US" altLang="zh-CN" sz="1400" smtClean="0">
                <a:latin typeface="微软雅黑" pitchFamily="34" charset="-122"/>
                <a:ea typeface="微软雅黑" pitchFamily="34" charset="-122"/>
              </a:rPr>
              <a:t>Docker 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提供命令行界面 </a:t>
            </a:r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(CLI) 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工具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，是用户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与 </a:t>
            </a:r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Docker 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进行交互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的主要方式</a:t>
            </a:r>
            <a:endParaRPr lang="en-US" altLang="zh-CN" sz="14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客户端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可以构建，运行和停止应用程序，还可以远程与</a:t>
            </a:r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Docker_Host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进行交互</a:t>
            </a:r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400" smtClean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565" y="2166218"/>
            <a:ext cx="5095875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565" y="3420269"/>
            <a:ext cx="4038600" cy="271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6692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altLang="zh-CN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sv-SE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ocker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-Daemon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6" name="Picture 2" descr="E:\支付指南\技术分享\Docker\Docker-Daemon-架构图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6" y="1044004"/>
            <a:ext cx="7704856" cy="5663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5406" y="4716413"/>
            <a:ext cx="4124325" cy="1381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895406" y="4347081"/>
            <a:ext cx="19879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远程控制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Docker Daemon</a:t>
            </a:r>
            <a:endParaRPr lang="zh-CN" altLang="en-US" sz="12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944" y="665652"/>
            <a:ext cx="3746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微软雅黑" pitchFamily="34" charset="-122"/>
                <a:ea typeface="微软雅黑" pitchFamily="34" charset="-122"/>
              </a:rPr>
              <a:t>Docker </a:t>
            </a: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Daemon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mtClean="0">
                <a:latin typeface="微软雅黑" pitchFamily="34" charset="-122"/>
                <a:ea typeface="微软雅黑" pitchFamily="34" charset="-122"/>
              </a:rPr>
              <a:t>Docker </a:t>
            </a:r>
            <a:r>
              <a:rPr lang="zh-CN" altLang="en-US" smtClean="0">
                <a:latin typeface="微软雅黑" pitchFamily="34" charset="-122"/>
                <a:ea typeface="微软雅黑" pitchFamily="34" charset="-122"/>
              </a:rPr>
              <a:t>客户端</a:t>
            </a:r>
            <a:endParaRPr lang="en-US" altLang="zh-CN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981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altLang="zh-CN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sv-SE" altLang="zh-CN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ocker</a:t>
            </a:r>
            <a:r>
              <a:rPr lang="en-US" altLang="zh-CN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r>
              <a:rPr lang="en-US" altLang="zh-CN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-Daemon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接箭头连接符 6"/>
          <p:cNvCxnSpPr/>
          <p:nvPr/>
        </p:nvCxnSpPr>
        <p:spPr>
          <a:xfrm flipV="1">
            <a:off x="11105207" y="1034852"/>
            <a:ext cx="360040" cy="39625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911630" y="757853"/>
            <a:ext cx="2204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Dockerfile </a:t>
            </a:r>
            <a:r>
              <a:rPr lang="zh-CN" altLang="en-US" sz="1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所在路径的上下文</a:t>
            </a:r>
            <a:endParaRPr lang="zh-CN" altLang="en-US" sz="120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2557" y="850186"/>
            <a:ext cx="2725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镜像构建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上下文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  <a:endParaRPr lang="zh-CN" altLang="en-US"/>
          </a:p>
        </p:txBody>
      </p:sp>
      <p:pic>
        <p:nvPicPr>
          <p:cNvPr id="11277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57" y="1222246"/>
            <a:ext cx="4933950" cy="135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8" name="Picture 1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231" y="2686050"/>
            <a:ext cx="3019425" cy="146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9" name="Picture 1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2203" y="1197500"/>
            <a:ext cx="5705475" cy="345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80" name="Picture 1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231" y="5004445"/>
            <a:ext cx="8486775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0317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altLang="zh-CN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sv-SE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ocker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组件协作运行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0" name="Picture 2" descr="E:\支付指南\技术分享\Docker\Docker协作运行流程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50" y="682076"/>
            <a:ext cx="11439525" cy="602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4653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/>
          <p:cNvSpPr/>
          <p:nvPr/>
        </p:nvSpPr>
        <p:spPr>
          <a:xfrm>
            <a:off x="3874968" y="3230771"/>
            <a:ext cx="764116" cy="51928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 cap="flat">
            <a:solidFill>
              <a:schemeClr val="tx1">
                <a:lumMod val="65000"/>
                <a:lumOff val="35000"/>
              </a:schemeClr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3</a:t>
            </a: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3874968" y="4025973"/>
            <a:ext cx="764116" cy="51928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 cap="flat">
            <a:solidFill>
              <a:schemeClr val="tx1">
                <a:lumMod val="65000"/>
                <a:lumOff val="35000"/>
              </a:schemeClr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4</a:t>
            </a: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3874968" y="2430846"/>
            <a:ext cx="764116" cy="51928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 cap="flat">
            <a:solidFill>
              <a:schemeClr val="tx1">
                <a:lumMod val="65000"/>
                <a:lumOff val="35000"/>
              </a:schemeClr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1578303" y="611957"/>
            <a:ext cx="1424422" cy="738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4000" b="1">
                <a:latin typeface="微软雅黑" pitchFamily="34" charset="-122"/>
                <a:ea typeface="微软雅黑" pitchFamily="34" charset="-122"/>
              </a:rPr>
              <a:t>目 录</a:t>
            </a:r>
          </a:p>
        </p:txBody>
      </p:sp>
      <p:sp>
        <p:nvSpPr>
          <p:cNvPr id="14" name="TextBox 19"/>
          <p:cNvSpPr txBox="1">
            <a:spLocks noChangeArrowheads="1"/>
          </p:cNvSpPr>
          <p:nvPr/>
        </p:nvSpPr>
        <p:spPr bwMode="auto">
          <a:xfrm>
            <a:off x="1414686" y="1404064"/>
            <a:ext cx="1902118" cy="49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CONTENTS</a:t>
            </a:r>
            <a:endParaRPr lang="zh-CN" altLang="en-US" sz="2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文本框 18"/>
          <p:cNvSpPr>
            <a:spLocks noChangeArrowheads="1"/>
          </p:cNvSpPr>
          <p:nvPr/>
        </p:nvSpPr>
        <p:spPr bwMode="auto">
          <a:xfrm>
            <a:off x="4035834" y="2443975"/>
            <a:ext cx="442384" cy="49303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  <a:extLst/>
        </p:spPr>
        <p:txBody>
          <a:bodyPr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egoe UI Black" pitchFamily="2" charset="0"/>
              </a:rPr>
              <a:t>2</a:t>
            </a:r>
          </a:p>
        </p:txBody>
      </p:sp>
      <p:sp>
        <p:nvSpPr>
          <p:cNvPr id="16" name="文本框 22"/>
          <p:cNvSpPr>
            <a:spLocks noChangeArrowheads="1"/>
          </p:cNvSpPr>
          <p:nvPr/>
        </p:nvSpPr>
        <p:spPr bwMode="auto">
          <a:xfrm>
            <a:off x="4927435" y="2389044"/>
            <a:ext cx="2548466" cy="55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zh-CN" altLang="en-US" sz="2800" b="1" smtClean="0">
                <a:ea typeface="微软雅黑" pitchFamily="34" charset="-122"/>
                <a:sym typeface="Tahoma" pitchFamily="34" charset="0"/>
              </a:rPr>
              <a:t>概念及使用</a:t>
            </a:r>
            <a:endParaRPr lang="zh-CN" altLang="en-US" sz="2800" b="1">
              <a:ea typeface="微软雅黑" pitchFamily="34" charset="-122"/>
              <a:sym typeface="Tahoma" pitchFamily="34" charset="0"/>
            </a:endParaRPr>
          </a:p>
        </p:txBody>
      </p:sp>
      <p:sp>
        <p:nvSpPr>
          <p:cNvPr id="17" name="文本框 22"/>
          <p:cNvSpPr>
            <a:spLocks noChangeArrowheads="1"/>
          </p:cNvSpPr>
          <p:nvPr/>
        </p:nvSpPr>
        <p:spPr bwMode="auto">
          <a:xfrm>
            <a:off x="4927434" y="3202098"/>
            <a:ext cx="2548467" cy="55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zh-CN" altLang="en-US" sz="2800" b="1" smtClean="0">
                <a:ea typeface="微软雅黑" pitchFamily="34" charset="-122"/>
                <a:sym typeface="Tahoma" pitchFamily="34" charset="0"/>
              </a:rPr>
              <a:t>架构</a:t>
            </a:r>
            <a:endParaRPr lang="zh-CN" altLang="en-US" sz="2800" b="1">
              <a:ea typeface="微软雅黑" pitchFamily="34" charset="-122"/>
              <a:sym typeface="Tahoma" pitchFamily="34" charset="0"/>
            </a:endParaRPr>
          </a:p>
        </p:txBody>
      </p:sp>
      <p:sp>
        <p:nvSpPr>
          <p:cNvPr id="18" name="文本框 22"/>
          <p:cNvSpPr>
            <a:spLocks noChangeArrowheads="1"/>
          </p:cNvSpPr>
          <p:nvPr/>
        </p:nvSpPr>
        <p:spPr bwMode="auto">
          <a:xfrm>
            <a:off x="4927435" y="4014644"/>
            <a:ext cx="2548466" cy="55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800" b="1" smtClean="0">
                <a:ea typeface="微软雅黑" pitchFamily="34" charset="-122"/>
                <a:sym typeface="Tahoma" pitchFamily="34" charset="0"/>
              </a:rPr>
              <a:t>存储</a:t>
            </a:r>
            <a:endParaRPr lang="zh-CN" altLang="en-US" sz="2800" b="1">
              <a:ea typeface="微软雅黑" pitchFamily="34" charset="-122"/>
              <a:sym typeface="Tahoma" pitchFamily="34" charset="0"/>
            </a:endParaRPr>
          </a:p>
        </p:txBody>
      </p:sp>
      <p:sp>
        <p:nvSpPr>
          <p:cNvPr id="21" name="文本框 22"/>
          <p:cNvSpPr>
            <a:spLocks noChangeArrowheads="1"/>
          </p:cNvSpPr>
          <p:nvPr/>
        </p:nvSpPr>
        <p:spPr bwMode="auto">
          <a:xfrm>
            <a:off x="4929615" y="1616292"/>
            <a:ext cx="2548466" cy="55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微软雅黑" pitchFamily="34" charset="-122"/>
                <a:sym typeface="Tahoma" pitchFamily="34" charset="0"/>
              </a:rPr>
              <a:t>简介</a:t>
            </a:r>
          </a:p>
        </p:txBody>
      </p:sp>
      <p:sp>
        <p:nvSpPr>
          <p:cNvPr id="22" name="圆角矩形 21"/>
          <p:cNvSpPr/>
          <p:nvPr/>
        </p:nvSpPr>
        <p:spPr>
          <a:xfrm>
            <a:off x="3877681" y="1688300"/>
            <a:ext cx="764116" cy="51928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2700" cap="flat">
            <a:solidFill>
              <a:schemeClr val="tx1">
                <a:lumMod val="65000"/>
                <a:lumOff val="35000"/>
              </a:schemeClr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23" name="文本框 18"/>
          <p:cNvSpPr>
            <a:spLocks noChangeArrowheads="1"/>
          </p:cNvSpPr>
          <p:nvPr/>
        </p:nvSpPr>
        <p:spPr bwMode="auto">
          <a:xfrm>
            <a:off x="4038547" y="1701429"/>
            <a:ext cx="442384" cy="49303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  <a:extLst/>
        </p:spPr>
        <p:txBody>
          <a:bodyPr lIns="121899" tIns="60949" rIns="121899" bIns="60949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egoe UI Black" pitchFamily="2" charset="0"/>
              </a:rPr>
              <a:t>1</a:t>
            </a:r>
          </a:p>
        </p:txBody>
      </p:sp>
      <p:sp>
        <p:nvSpPr>
          <p:cNvPr id="2" name="矩形 1"/>
          <p:cNvSpPr/>
          <p:nvPr/>
        </p:nvSpPr>
        <p:spPr>
          <a:xfrm>
            <a:off x="3718942" y="3965707"/>
            <a:ext cx="3240360" cy="651849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9716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altLang="zh-CN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sv-SE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ocker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存储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0" y="1044005"/>
            <a:ext cx="12041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Docker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为了节约存储空间共享数据会对镜像和容器进行分层，不同镜像可以共享相同数据，并且在镜像上为容器分配一个</a:t>
            </a:r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RW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层来加快容器的启动顺序</a:t>
            </a:r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345" name="Picture 129" descr="Docker image layer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42" y="1476053"/>
            <a:ext cx="6429375" cy="446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5591150" y="2034480"/>
            <a:ext cx="6092825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400">
                <a:latin typeface="微软雅黑" pitchFamily="34" charset="-122"/>
                <a:ea typeface="微软雅黑" pitchFamily="34" charset="-122"/>
              </a:rPr>
              <a:t>Docker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中的存储驱动用于管理镜像层和容器层，不同的存储驱动采用不同的算法和管理方式，在管理中使用的两大技术是</a:t>
            </a:r>
            <a:r>
              <a:rPr lang="zh-CN" altLang="en-US" sz="1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栈层式管理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1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写时复制</a:t>
            </a:r>
            <a:endParaRPr lang="zh-CN" altLang="en-US" sz="140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35166" y="4212357"/>
            <a:ext cx="6092825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写时复制</a:t>
            </a:r>
            <a:r>
              <a:rPr lang="zh-CN" altLang="en-US" sz="1400">
                <a:latin typeface="微软雅黑" pitchFamily="34" charset="-122"/>
                <a:ea typeface="微软雅黑" pitchFamily="34" charset="-122"/>
              </a:rPr>
              <a:t>采用了共享和复制技术，针对相同的数据系统只保留一份，所有操作都访问这一份数据。当有操作需要修改或添加数据时，操作系统会把这部分数据复制到新的地方再进行修改或添加，而其他操作仍然访问原数据区数据，通过这项技术节约了镜像的存储空间，加快了系统启动时间</a:t>
            </a:r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1103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1" name="Picture 5" descr="E:\支付指南\技术分享\Docker\Docker存储驱动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1144915"/>
            <a:ext cx="9515475" cy="435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altLang="zh-CN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sv-SE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ocker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存储驱动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45960" y="6300589"/>
            <a:ext cx="5561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smtClean="0">
                <a:latin typeface="微软雅黑" pitchFamily="34" charset="-122"/>
                <a:ea typeface="微软雅黑" pitchFamily="34" charset="-122"/>
              </a:rPr>
              <a:t>存储驱动：</a:t>
            </a:r>
            <a:r>
              <a:rPr lang="en-US" altLang="zh-CN" smtClean="0"/>
              <a:t>https</a:t>
            </a:r>
            <a:r>
              <a:rPr lang="en-US" altLang="zh-CN"/>
              <a:t>://docs.docker.com/storage/storagedriver/</a:t>
            </a:r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3968964"/>
              </p:ext>
            </p:extLst>
          </p:nvPr>
        </p:nvGraphicFramePr>
        <p:xfrm>
          <a:off x="10498113" y="6269030"/>
          <a:ext cx="1692300" cy="57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7" name="包装程序外壳对象" showAsIcon="1" r:id="rId6" imgW="2564280" imgH="863640" progId="Package">
                  <p:embed/>
                </p:oleObj>
              </mc:Choice>
              <mc:Fallback>
                <p:oleObj name="包装程序外壳对象" showAsIcon="1" r:id="rId6" imgW="2564280" imgH="86364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498113" y="6269030"/>
                        <a:ext cx="1692300" cy="570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334" name="Picture 11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5413" y="2052117"/>
            <a:ext cx="1905000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06392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altLang="zh-CN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sv-SE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ocker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存储驱动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726659" y="3132237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主数据</a:t>
            </a:r>
            <a:endParaRPr lang="zh-CN" altLang="en-US" sz="12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62428" y="4428381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支付</a:t>
            </a: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93" y="712490"/>
            <a:ext cx="4410075" cy="357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5126" y="682076"/>
            <a:ext cx="4019550" cy="2295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AutoShape 2" descr="https://upload-images.jianshu.io/upload_images/6820774-d80710e9a61282af.png?imageMogr2/auto-orient/strip%7CimageView2/2/w/1000/format/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0764" y="3442930"/>
            <a:ext cx="5295900" cy="2247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2356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镜像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储存</a:t>
            </a:r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043" y="2564904"/>
            <a:ext cx="7000875" cy="2295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043" y="4989190"/>
            <a:ext cx="8772525" cy="109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00087" y="6095598"/>
            <a:ext cx="98464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通过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Dockfile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创建了一个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Changed-nginx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镜像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，通过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docker history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可以查看镜像的镜像层及镜像大小，可以看到新建的镜像层占用空间为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0B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，</a:t>
            </a:r>
            <a:endParaRPr lang="en-US" altLang="zh-CN" sz="120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也就是说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changed-nginx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镜像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只会占用额外的一丢丢空间而</a:t>
            </a:r>
            <a:r>
              <a:rPr lang="zh-CN" altLang="en-US" sz="1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不需要为其他</a:t>
            </a:r>
            <a:r>
              <a:rPr lang="zh-CN" altLang="en-US" sz="12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的三个</a:t>
            </a:r>
            <a:r>
              <a:rPr lang="zh-CN" altLang="en-US" sz="1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镜像层分配存储空间</a:t>
            </a:r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169" y="683965"/>
            <a:ext cx="7820025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080" y="2628181"/>
            <a:ext cx="3228975" cy="86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5973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altLang="zh-CN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sv-SE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ocker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存储</a:t>
            </a:r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驱动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224" y="3132237"/>
            <a:ext cx="8782050" cy="249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582" y="1044005"/>
            <a:ext cx="7181850" cy="170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358902" y="5940549"/>
            <a:ext cx="1595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82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环境的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磁盘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要</a:t>
            </a:r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满了</a:t>
            </a:r>
            <a:endParaRPr lang="zh-CN" altLang="en-US" sz="120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4716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73346" y="6001524"/>
            <a:ext cx="72214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Dockerfile 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是软件的原材料，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Docker 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镜像是软件的交付品，而 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Docker 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容器则可以认为是软件的运行态</a:t>
            </a:r>
            <a:endParaRPr lang="zh-CN" altLang="en-US" sz="12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0248" y="6515844"/>
            <a:ext cx="64956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smtClean="0">
                <a:latin typeface="微软雅黑" pitchFamily="34" charset="-122"/>
                <a:ea typeface="微软雅黑" pitchFamily="34" charset="-122"/>
              </a:rPr>
              <a:t>最佳实践地址：</a:t>
            </a:r>
            <a:r>
              <a:rPr lang="en-US" altLang="zh-CN" sz="1200" smtClean="0">
                <a:latin typeface="微软雅黑" pitchFamily="34" charset="-122"/>
                <a:ea typeface="微软雅黑" pitchFamily="34" charset="-122"/>
              </a:rPr>
              <a:t>https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://yeasy.gitbooks.io/docker_practice/appendix/best_practices.html</a:t>
            </a:r>
            <a:endParaRPr lang="zh-CN" altLang="en-US" sz="120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4347" name="Picture 11" descr="E:\支付指南\技术分享\Docker\创建步骤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42" y="1072332"/>
            <a:ext cx="10648950" cy="454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8166479"/>
              </p:ext>
            </p:extLst>
          </p:nvPr>
        </p:nvGraphicFramePr>
        <p:xfrm>
          <a:off x="11284783" y="6372597"/>
          <a:ext cx="905630" cy="449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3" name="包装程序外壳对象" showAsIcon="1" r:id="rId6" imgW="1739160" imgH="863640" progId="Package">
                  <p:embed/>
                </p:oleObj>
              </mc:Choice>
              <mc:Fallback>
                <p:oleObj name="包装程序外壳对象" showAsIcon="1" r:id="rId6" imgW="1739160" imgH="86364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284783" y="6372597"/>
                        <a:ext cx="905630" cy="4495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98747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"/>
            <a:ext cx="12190413" cy="69093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命令</a:t>
            </a:r>
            <a:r>
              <a:rPr lang="en-US" altLang="zh-CN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040" y="0"/>
            <a:ext cx="1810374" cy="68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1" name="Picture 1" descr="E:\支付指南\技术分享\Docker\cmd_logic_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574" y="761999"/>
            <a:ext cx="10678233" cy="5610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3956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2989321"/>
            <a:ext cx="12190413" cy="690932"/>
          </a:xfrm>
          <a:solidFill>
            <a:schemeClr val="accent1">
              <a:lumMod val="75000"/>
            </a:schemeClr>
          </a:solidFill>
        </p:spPr>
        <p:txBody>
          <a:bodyPr>
            <a:normAutofit fontScale="90000"/>
          </a:bodyPr>
          <a:lstStyle/>
          <a:p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hanks</a:t>
            </a: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15672</TotalTime>
  <Words>2987</Words>
  <Application>Microsoft Office PowerPoint</Application>
  <PresentationFormat>自定义</PresentationFormat>
  <Paragraphs>484</Paragraphs>
  <Slides>47</Slides>
  <Notes>46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47</vt:i4>
      </vt:variant>
    </vt:vector>
  </HeadingPairs>
  <TitlesOfParts>
    <vt:vector size="50" baseType="lpstr">
      <vt:lpstr>Office 主题</vt:lpstr>
      <vt:lpstr>包装程序外壳对象</vt:lpstr>
      <vt:lpstr>程序包</vt:lpstr>
      <vt:lpstr>Docker</vt:lpstr>
      <vt:lpstr>PowerPoint 演示文稿</vt:lpstr>
      <vt:lpstr>PowerPoint 演示文稿</vt:lpstr>
      <vt:lpstr>Docker简介</vt:lpstr>
      <vt:lpstr>什么是容器</vt:lpstr>
      <vt:lpstr>什么是虚拟机</vt:lpstr>
      <vt:lpstr>虚拟机-容器（通俗）</vt:lpstr>
      <vt:lpstr>什么是Docker</vt:lpstr>
      <vt:lpstr>Docker发展史</vt:lpstr>
      <vt:lpstr>为什么要用Docker</vt:lpstr>
      <vt:lpstr>Docker 优劣</vt:lpstr>
      <vt:lpstr>PowerPoint 演示文稿</vt:lpstr>
      <vt:lpstr>基本概念</vt:lpstr>
      <vt:lpstr>仓库-Repository</vt:lpstr>
      <vt:lpstr>仓库-Repository</vt:lpstr>
      <vt:lpstr>镜像-Image</vt:lpstr>
      <vt:lpstr>镜像-分层存储</vt:lpstr>
      <vt:lpstr>镜像-拉取</vt:lpstr>
      <vt:lpstr>镜像-拉取</vt:lpstr>
      <vt:lpstr>镜像-种类</vt:lpstr>
      <vt:lpstr>镜像-体积</vt:lpstr>
      <vt:lpstr>镜像-构建</vt:lpstr>
      <vt:lpstr>镜像-Dockerfile指令列表</vt:lpstr>
      <vt:lpstr>Dockerfile 书写规范</vt:lpstr>
      <vt:lpstr>镜像-构建-demo</vt:lpstr>
      <vt:lpstr>镜像-构建</vt:lpstr>
      <vt:lpstr>镜像-支持多种系统架构</vt:lpstr>
      <vt:lpstr>容器-Container</vt:lpstr>
      <vt:lpstr>容器-Container</vt:lpstr>
      <vt:lpstr>容器-Container-实践</vt:lpstr>
      <vt:lpstr>基本概念-小结</vt:lpstr>
      <vt:lpstr>PowerPoint 演示文稿</vt:lpstr>
      <vt:lpstr>Docker-架构</vt:lpstr>
      <vt:lpstr>Docker-架构</vt:lpstr>
      <vt:lpstr>Docker-架构-Client</vt:lpstr>
      <vt:lpstr>Docker-架构-Daemon</vt:lpstr>
      <vt:lpstr>Docker-架构-Daemon</vt:lpstr>
      <vt:lpstr>Docker-组件协作运行</vt:lpstr>
      <vt:lpstr>PowerPoint 演示文稿</vt:lpstr>
      <vt:lpstr>Docker-存储</vt:lpstr>
      <vt:lpstr>Docker-存储驱动</vt:lpstr>
      <vt:lpstr>Docker-存储驱动</vt:lpstr>
      <vt:lpstr>镜像-储存分析</vt:lpstr>
      <vt:lpstr>Docker-存储驱动-实例</vt:lpstr>
      <vt:lpstr>使用总结</vt:lpstr>
      <vt:lpstr>命令-列表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服务器编程模型</dc:title>
  <dc:creator>彭雪波</dc:creator>
  <cp:lastModifiedBy>彭雪波</cp:lastModifiedBy>
  <cp:revision>828</cp:revision>
  <dcterms:created xsi:type="dcterms:W3CDTF">2017-09-21T09:27:00Z</dcterms:created>
  <dcterms:modified xsi:type="dcterms:W3CDTF">2019-08-22T07:53:23Z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2052-10.1.0.6749</vt:lpwstr>
  </property>
</Properties>
</file>
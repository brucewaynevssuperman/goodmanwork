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1"/>
  </p:notesMasterIdLst>
  <p:sldIdLst>
    <p:sldId id="256" r:id="rId2"/>
    <p:sldId id="296" r:id="rId3"/>
    <p:sldId id="297" r:id="rId4"/>
    <p:sldId id="257" r:id="rId5"/>
    <p:sldId id="259" r:id="rId6"/>
    <p:sldId id="295" r:id="rId7"/>
    <p:sldId id="294" r:id="rId8"/>
    <p:sldId id="258" r:id="rId9"/>
    <p:sldId id="290" r:id="rId10"/>
    <p:sldId id="289" r:id="rId11"/>
    <p:sldId id="291" r:id="rId12"/>
    <p:sldId id="269" r:id="rId13"/>
    <p:sldId id="274" r:id="rId14"/>
    <p:sldId id="271" r:id="rId15"/>
    <p:sldId id="272" r:id="rId16"/>
    <p:sldId id="273" r:id="rId17"/>
    <p:sldId id="260" r:id="rId18"/>
    <p:sldId id="263" r:id="rId19"/>
    <p:sldId id="270" r:id="rId20"/>
    <p:sldId id="267" r:id="rId21"/>
    <p:sldId id="292" r:id="rId22"/>
    <p:sldId id="268" r:id="rId23"/>
    <p:sldId id="276" r:id="rId24"/>
    <p:sldId id="277" r:id="rId25"/>
    <p:sldId id="275" r:id="rId26"/>
    <p:sldId id="278" r:id="rId27"/>
    <p:sldId id="293" r:id="rId28"/>
    <p:sldId id="279" r:id="rId29"/>
    <p:sldId id="280" r:id="rId30"/>
    <p:sldId id="281" r:id="rId31"/>
    <p:sldId id="282" r:id="rId32"/>
    <p:sldId id="285" r:id="rId33"/>
    <p:sldId id="283" r:id="rId34"/>
    <p:sldId id="284" r:id="rId35"/>
    <p:sldId id="286" r:id="rId36"/>
    <p:sldId id="287" r:id="rId37"/>
    <p:sldId id="288" r:id="rId38"/>
    <p:sldId id="298" r:id="rId39"/>
    <p:sldId id="29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925" autoAdjust="0"/>
  </p:normalViewPr>
  <p:slideViewPr>
    <p:cSldViewPr snapToGrid="0">
      <p:cViewPr varScale="1">
        <p:scale>
          <a:sx n="100" d="100"/>
          <a:sy n="100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E34CB-4EEE-4272-B96C-08E722461F3F}" type="datetimeFigureOut">
              <a:rPr lang="zh-CN" altLang="en-US" smtClean="0"/>
              <a:t>2017-10-25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9F932-8908-4E23-8967-C1311C08A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5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33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定义：是解决经常发生的问题的通用方法，要被反复使用。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被反复使用、多数人知晓的、经过分类的、代码设计经验的总结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11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开闭原则：</a:t>
            </a:r>
            <a:r>
              <a:rPr lang="zh-CN" altLang="en-US" sz="1200" dirty="0"/>
              <a:t>类应该对扩展开放，对修改关闭，在不修改原代码的情况下扩展。</a:t>
            </a: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里氏代换原则：</a:t>
            </a:r>
            <a:r>
              <a:rPr lang="zh-CN" altLang="en-US" dirty="0"/>
              <a:t>任何基类可以出现的地方，子类一定可以出现；</a:t>
            </a: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依赖倒转原则：</a:t>
            </a:r>
            <a:r>
              <a:rPr lang="zh-CN" altLang="en-US" sz="1200" b="0" dirty="0"/>
              <a:t>针对借口编程，</a:t>
            </a:r>
            <a:r>
              <a:rPr lang="zh-CN" altLang="en-US" sz="1200" dirty="0"/>
              <a:t>依赖抽象，不要依赖具体类；</a:t>
            </a: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接口隔离原则：</a:t>
            </a:r>
            <a:r>
              <a:rPr lang="zh-CN" altLang="en-US" dirty="0"/>
              <a:t>使用多个隔离的接口，比使用单个接口要好，每个接口只做自己的事情；</a:t>
            </a: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迪米特法则：</a:t>
            </a:r>
            <a:r>
              <a:rPr lang="zh-CN" altLang="en-US" dirty="0"/>
              <a:t>一个实体应当尽量少的与其他实体之间发生相互作用，使得系统功能模块相对独立，从而减少实体间的耦合；</a:t>
            </a: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合成复用原则：</a:t>
            </a:r>
            <a:r>
              <a:rPr lang="zh-CN" altLang="en-US" sz="1200" dirty="0"/>
              <a:t>多用组合，少用继承；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810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、用来创建对象，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对类的实例化过程进行了抽象，这样可以将模块中对象的创建和使用分离。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在调用这些对象时，只需要知道它们共同的接口，而不需要知道细节。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、结构型：解决的创建问题，就要考虑对象之间的关系。结构型模型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将类和者对象结合在一起形成更大的结构，结构的设计的好坏，</a:t>
            </a:r>
            <a:r>
              <a:rPr lang="zh-CN" altLang="en-US" dirty="0"/>
              <a:t>会影响后续程序的维护性、代码健壮性、耦合性等等。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、对象的创建和关系问题解决后，最后就是类和对象的行为问题。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行为型模式是对不同的类和对象之间划分责任和算法的抽象化</a:t>
            </a:r>
            <a:r>
              <a:rPr lang="zh-CN" altLang="en-US" dirty="0"/>
              <a:t>，行为设计的好，它们之间的协作效率就会提高。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行为型模式不仅仅关注类和对象的结构，而且重点关注它们之间的相互作用。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614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在创建什么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(What)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，由谁创建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(Who)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，何时创建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(When)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等方面都为我们提供了很打大的灵活性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13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根据模式处理类还是对象可分为</a:t>
            </a:r>
            <a:r>
              <a:rPr lang="en-US" altLang="zh-CN" dirty="0"/>
              <a:t>2</a:t>
            </a:r>
            <a:r>
              <a:rPr lang="zh-CN" altLang="en-US" dirty="0"/>
              <a:t>种</a:t>
            </a:r>
            <a:endParaRPr lang="en-US" altLang="zh-CN" dirty="0"/>
          </a:p>
          <a:p>
            <a:r>
              <a:rPr lang="zh-CN" altLang="en-US" dirty="0"/>
              <a:t>类结构模式：适配器模式。</a:t>
            </a:r>
            <a:endParaRPr lang="en-US" altLang="zh-CN" dirty="0"/>
          </a:p>
          <a:p>
            <a:r>
              <a:rPr lang="zh-CN" altLang="en-US" dirty="0"/>
              <a:t>类之间有继承和实现关系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对象结构模型：</a:t>
            </a:r>
            <a:endParaRPr lang="en-US" altLang="zh-CN" dirty="0"/>
          </a:p>
          <a:p>
            <a:r>
              <a:rPr lang="zh-CN" altLang="en-US" dirty="0"/>
              <a:t>关心类与对象的组合，通过各种关联关系，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可以在一个类中定义另一个类的实例对象，然后通过该对象调用其方法。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根据“合成复用原则”，尽量使用关联关系来替代继承关系。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883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类行为型模式：类的行为型模式使用继承关系在几个类之间分配行为；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对象行为型模式：对象的行为型模式则使用对象的聚合关联关系来分配行为。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107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PizzaStore</a:t>
            </a:r>
            <a:r>
              <a:rPr lang="zh-CN" altLang="en-US" dirty="0"/>
              <a:t>可以制作披萨，构造器使用一个工厂作为参数，通过工厂的</a:t>
            </a:r>
            <a:r>
              <a:rPr lang="en-US" altLang="zh-CN" dirty="0" err="1"/>
              <a:t>createPizza</a:t>
            </a:r>
            <a:r>
              <a:rPr lang="zh-CN" altLang="en-US" dirty="0"/>
              <a:t>方法来创建不同的披萨，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封装了创建对象的代码，不关心具体是什么披萨。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简单工厂，并不是工厂模式，不是一个设计模式，比较像是一个编程习惯。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将客户程序从具体类解耦。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804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PizzaStore</a:t>
            </a:r>
            <a:r>
              <a:rPr lang="zh-CN" altLang="en-US" dirty="0"/>
              <a:t>通过</a:t>
            </a:r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SimplePizzaFactory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取得比萨的实例；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SimplePizzaFactory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用到了具体的披萨；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Pizza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定义为抽象类，具有一些有用的实现，这些实现可以被覆盖。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当需要其他类型的工厂，就得修改构造器代码，使用</a:t>
            </a:r>
            <a:r>
              <a:rPr lang="en-US" altLang="zh-CN" dirty="0" err="1"/>
              <a:t>PizzaStore</a:t>
            </a:r>
            <a:r>
              <a:rPr lang="zh-CN" altLang="en-US" dirty="0"/>
              <a:t>的用户就得改代码，没有对修改封闭。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726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抽象出一个方法</a:t>
            </a:r>
            <a:r>
              <a:rPr lang="en-US" altLang="zh-CN" dirty="0"/>
              <a:t>——</a:t>
            </a:r>
            <a:r>
              <a:rPr lang="en-US" altLang="zh-CN" dirty="0" err="1"/>
              <a:t>createPizza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388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不同的披萨店继承</a:t>
            </a:r>
            <a:r>
              <a:rPr lang="en-US" altLang="zh-CN" dirty="0" err="1"/>
              <a:t>PizzaStore</a:t>
            </a:r>
            <a:r>
              <a:rPr lang="zh-CN" altLang="en-US" dirty="0"/>
              <a:t>，创建不同的披萨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05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定义：即是把实例化推迟到子类。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作用：减少应用程序和具体类之间的依赖，促进松耦合。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手段：工厂方法不一定是抽象的，可以有默认实现，这样在没有任何子类时依然可以创建产品。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424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、变量不要持有具体类的引用：如果使用</a:t>
            </a:r>
            <a:r>
              <a:rPr lang="en-US" altLang="zh-CN" sz="1200" dirty="0"/>
              <a:t>new</a:t>
            </a:r>
            <a:r>
              <a:rPr lang="zh-CN" altLang="en-US" sz="1200" dirty="0"/>
              <a:t>，就会持有具体类的引用，可以改用工厂来避开这种做法。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2</a:t>
            </a:r>
            <a:r>
              <a:rPr lang="zh-CN" altLang="en-US" sz="1200" dirty="0"/>
              <a:t>、不要让类派生自具体类：如果派生自具体类，就会依赖具体类，可以派生自接口或抽象类。</a:t>
            </a:r>
            <a:endParaRPr lang="en-US" altLang="zh-CN" sz="1200" dirty="0"/>
          </a:p>
          <a:p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3</a:t>
            </a:r>
            <a:r>
              <a:rPr lang="zh-CN" altLang="en-US" sz="1200" dirty="0"/>
              <a:t>、不要覆盖基类中已实现的方法：</a:t>
            </a:r>
            <a:r>
              <a:rPr lang="zh-CN" altLang="en-US" dirty="0"/>
              <a:t>如果覆盖基类已实现的方法，那么基类就不是一个真正适合被继承的抽象。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尽量达到这些原则，而不是随时都要遵循，如果有足够的理由，可以违反，例如不会改变的类可以直接实例化，比如</a:t>
            </a:r>
            <a:r>
              <a:rPr lang="en-US" altLang="zh-CN" dirty="0"/>
              <a:t>String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407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Creator</a:t>
            </a:r>
            <a:r>
              <a:rPr lang="zh-CN" altLang="en-US" dirty="0"/>
              <a:t>是一个类，实现了所有操纵产品的方法，但不实现工厂方法；</a:t>
            </a:r>
            <a:endParaRPr lang="en-US" altLang="zh-CN" dirty="0"/>
          </a:p>
          <a:p>
            <a:r>
              <a:rPr lang="en-US" altLang="zh-CN" dirty="0"/>
              <a:t>Creator</a:t>
            </a:r>
            <a:r>
              <a:rPr lang="zh-CN" altLang="en-US" dirty="0"/>
              <a:t>的所有子类都必须实现这个抽象的工厂方法。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ConcreteCreator</a:t>
            </a:r>
            <a:r>
              <a:rPr lang="zh-CN" altLang="en-US" dirty="0"/>
              <a:t>实现了工厂方法，来实际制造出产品。</a:t>
            </a:r>
            <a:endParaRPr lang="en-US" altLang="zh-CN" dirty="0"/>
          </a:p>
          <a:p>
            <a:r>
              <a:rPr lang="en-US" altLang="zh-CN" dirty="0" err="1"/>
              <a:t>ConcreteCreator</a:t>
            </a:r>
            <a:r>
              <a:rPr lang="zh-CN" altLang="en-US" dirty="0"/>
              <a:t>负责创建具体的产品。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所有的产品实现</a:t>
            </a:r>
            <a:r>
              <a:rPr lang="en-US" altLang="zh-CN" dirty="0"/>
              <a:t>Product</a:t>
            </a:r>
            <a:r>
              <a:rPr lang="zh-CN" altLang="en-US" dirty="0"/>
              <a:t>共同的接口，使用这些产品的类就可以引用这个接口，而不是具体类。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394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工厂方法单独提出来。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056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相对简单工厂，把工厂抽象出来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476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AbstractFactory</a:t>
            </a:r>
            <a:r>
              <a:rPr lang="zh-CN" altLang="en-US" dirty="0"/>
              <a:t>定义了一个接口，所有具体的工厂都必须实现此接口，接口包含一组方法用来生产产品；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具体的工厂</a:t>
            </a:r>
            <a:r>
              <a:rPr lang="en-US" altLang="zh-CN" dirty="0" err="1"/>
              <a:t>ConcreteFactory</a:t>
            </a:r>
            <a:r>
              <a:rPr lang="zh-CN" altLang="en-US" dirty="0"/>
              <a:t>实现不同的产品家族，客户创建一个产品，只需要使用其中一个工厂而不需要实例化任何产品对象；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068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、都是负责创建对象，工厂模式使用继承的方式，抽象工厂使用组合的方式；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、相对与工厂模式，抽象工厂可以把一群相关的产品集合起来；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、抽象工厂的具体工厂经常使用工厂模式来创建他们的产品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4345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糖果机有</a:t>
            </a:r>
            <a:r>
              <a:rPr lang="en-US" altLang="zh-CN" dirty="0"/>
              <a:t>4</a:t>
            </a:r>
            <a:r>
              <a:rPr lang="zh-CN" altLang="en-US" dirty="0"/>
              <a:t>个状态：没有钱，有钱，售出糖果，糖果售罄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动作：投入硬币，退回硬币，转动曲柄，发放糖果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933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定义每个状态的值，实例变量持有当前的状态，糖果机默认状态是售罄，初始化糖果数量；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dispense</a:t>
            </a:r>
            <a:r>
              <a:rPr lang="zh-CN" altLang="en-US" dirty="0"/>
              <a:t>方法是内部调用的，所以设置为</a:t>
            </a:r>
            <a:r>
              <a:rPr lang="en-US" altLang="zh-CN" dirty="0"/>
              <a:t>private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074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r>
              <a:rPr lang="zh-CN" altLang="en-US" dirty="0"/>
              <a:t>没有遵循</a:t>
            </a:r>
            <a:r>
              <a:rPr lang="en-US" altLang="zh-CN" dirty="0"/>
              <a:t>——</a:t>
            </a:r>
            <a:r>
              <a:rPr lang="zh-CN" altLang="en-US" dirty="0"/>
              <a:t>开放</a:t>
            </a:r>
            <a:r>
              <a:rPr lang="en-US" altLang="zh-CN" dirty="0"/>
              <a:t>-</a:t>
            </a:r>
            <a:r>
              <a:rPr lang="zh-CN" altLang="en-US" dirty="0"/>
              <a:t>关闭原则；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改变的部分没有封装起来；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语句很容易出错；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5403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定义一个状态接口，每个动作都有一个对应的方法。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机器中的每个状态实现状态类，负责对应状态下的机器的行为，把</a:t>
            </a:r>
            <a:r>
              <a:rPr lang="en-US" altLang="zh-CN" dirty="0"/>
              <a:t>if</a:t>
            </a:r>
            <a:r>
              <a:rPr lang="zh-CN" altLang="en-US" dirty="0"/>
              <a:t>条件语句中的代码移过来。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状态持有机器对象，可以改变机器的状态。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5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状态由</a:t>
            </a:r>
            <a:r>
              <a:rPr lang="en-US" altLang="zh-CN" dirty="0" err="1"/>
              <a:t>int</a:t>
            </a:r>
            <a:r>
              <a:rPr lang="zh-CN" altLang="en-US" dirty="0"/>
              <a:t>值替换为</a:t>
            </a:r>
            <a:r>
              <a:rPr lang="en-US" altLang="zh-CN" dirty="0"/>
              <a:t>State</a:t>
            </a:r>
            <a:r>
              <a:rPr lang="zh-CN" altLang="en-US" dirty="0"/>
              <a:t>类；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所有状态对象在构造器中创建并赋值；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机器的动作都委托当前状态；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dispense</a:t>
            </a:r>
            <a:r>
              <a:rPr lang="zh-CN" altLang="en-US" dirty="0"/>
              <a:t>方法是内部调用的，机器不需要该方法；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释放糖果的方法，减少糖果数量。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883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不同的状态，有不同的行为：对象在内部状态改变时改变它的行为，看起来像是修改了它的类。</a:t>
            </a:r>
            <a:endParaRPr lang="en-US" altLang="zh-CN" dirty="0"/>
          </a:p>
          <a:p>
            <a:r>
              <a:rPr lang="zh-CN" altLang="en-US" dirty="0"/>
              <a:t>糖果机在有硬币和没有硬币的状态时，投入一个硬币，会得到不同的行为。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337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定义了共同接口，具体状态都实现这个相同的接口，状态之间就可以互相替换；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也可以定义成抽象类，可以加入公共的方法。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ConcreteState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具体状态处理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的请求，每个</a:t>
            </a:r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ConcreteState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都提供了自己对于请求的实现，当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改变状态时行为也跟着改变；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拥有一些内部的状态，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CandyMachine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就是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当有人调用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方法时，它就会被委托到状态来处理。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593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赢家状态会发放</a:t>
            </a:r>
            <a:r>
              <a:rPr lang="en-US" altLang="zh-CN" dirty="0"/>
              <a:t>2</a:t>
            </a:r>
            <a:r>
              <a:rPr lang="zh-CN" altLang="en-US" dirty="0"/>
              <a:t>个糖果；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有硬币状态里，转动曲柄时有一定几率把机器变为赢家状态；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糖果机中添加和初始化赢家状态；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6327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赢家状态和发放糖果状态，几乎是一样的，差别在发放几个糖果。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发放两个糖果代码不放到</a:t>
            </a:r>
            <a:r>
              <a:rPr lang="en-US" altLang="zh-CN" dirty="0" err="1"/>
              <a:t>SoldState</a:t>
            </a:r>
            <a:r>
              <a:rPr lang="zh-CN" altLang="en-US" dirty="0"/>
              <a:t>的状态原因：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、相当于两个状态用一个类来代表，虽然减少了冗余代码，但是违反了“一个类，一个责任”的原则；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、如果改变需求，那么就得修改</a:t>
            </a:r>
            <a:r>
              <a:rPr lang="en-US" altLang="zh-CN" dirty="0" err="1"/>
              <a:t>SoldState</a:t>
            </a:r>
            <a:r>
              <a:rPr lang="zh-CN" altLang="en-US" dirty="0"/>
              <a:t>类，没有对修改封闭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640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、保持简单：设计时，首先用最简单的方式解决问题，当简单的方式无法满足需要时，就要考虑使用设计模式。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、预期系统会在未来发生改变：设计模式使系统更易于扩展。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、重构：目的是改变代码的结构，让程序更合理，更易于维护，这时就可以考虑使用设计模式。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35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B59DF-10BE-435D-866B-74425494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180646"/>
          </a:xfrm>
        </p:spPr>
        <p:txBody>
          <a:bodyPr/>
          <a:lstStyle/>
          <a:p>
            <a:r>
              <a:rPr lang="zh-CN" altLang="en-US" dirty="0"/>
              <a:t>设计模式浅析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B0CD50-01F9-4A6C-9079-465E970C2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7611102" cy="1371599"/>
          </a:xfrm>
        </p:spPr>
        <p:txBody>
          <a:bodyPr/>
          <a:lstStyle/>
          <a:p>
            <a:pPr algn="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王南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2017-10-27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22401F-BD2E-474C-AA47-894146CD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7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88BAC0-2936-4CC1-976F-9915100F5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903949B-C43A-446D-A25D-4F4E01275FFA}"/>
              </a:ext>
            </a:extLst>
          </p:cNvPr>
          <p:cNvSpPr txBox="1">
            <a:spLocks/>
          </p:cNvSpPr>
          <p:nvPr/>
        </p:nvSpPr>
        <p:spPr>
          <a:xfrm>
            <a:off x="1110303" y="2438399"/>
            <a:ext cx="10363826" cy="2962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（</a:t>
            </a:r>
            <a:r>
              <a:rPr lang="en-US" altLang="zh-CN" sz="2800" dirty="0"/>
              <a:t>Ⅰ</a:t>
            </a:r>
            <a:r>
              <a:rPr lang="zh-CN" altLang="en-US" sz="2800" dirty="0"/>
              <a:t>）模式的定义及原则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（</a:t>
            </a:r>
            <a:r>
              <a:rPr lang="en-US" altLang="zh-CN" sz="2800" dirty="0"/>
              <a:t>Ⅱ</a:t>
            </a:r>
            <a:r>
              <a:rPr lang="zh-CN" altLang="en-US" sz="2800" dirty="0"/>
              <a:t>）模式的分类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（</a:t>
            </a:r>
            <a:r>
              <a:rPr lang="en-US" altLang="zh-CN" sz="2800" dirty="0"/>
              <a:t>Ⅲ</a:t>
            </a:r>
            <a:r>
              <a:rPr lang="zh-CN" altLang="en-US" sz="2800" dirty="0"/>
              <a:t>）具体的模式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65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B7C0898-A2D4-4364-85C9-61FEE76F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13992"/>
            <a:ext cx="10364451" cy="1596177"/>
          </a:xfrm>
        </p:spPr>
        <p:txBody>
          <a:bodyPr/>
          <a:lstStyle/>
          <a:p>
            <a:r>
              <a:rPr lang="zh-CN" altLang="en-US" dirty="0"/>
              <a:t>模式的定义及原则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D797DC-3BFB-44CD-B803-4E7805F39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9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88BAC0-2936-4CC1-976F-9915100F5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72C916-8402-4AE6-9F3B-74B25B4F6A69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设计模式</a:t>
            </a:r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903949B-C43A-446D-A25D-4F4E01275FFA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定义：在某种情景下，针对某种问题的某种解决方案。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作用：可重用性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</a:t>
            </a:r>
            <a:r>
              <a:rPr lang="zh-CN" altLang="en-US" dirty="0"/>
              <a:t>容易被理解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</a:t>
            </a:r>
            <a:r>
              <a:rPr lang="zh-CN" altLang="en-US" dirty="0"/>
              <a:t>保证代码可靠性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20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FFFC54A-0BAB-41ED-8A36-963BE93E0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03C68F7-3ED8-44A8-A715-BC86D45C68DC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设计原则</a:t>
            </a:r>
            <a:endParaRPr lang="en-US" altLang="zh-CN" sz="20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8DF091B-25A9-475F-89C4-C633C1B596AF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开闭原则</a:t>
            </a:r>
            <a:endParaRPr lang="en-US" altLang="zh-CN" dirty="0"/>
          </a:p>
          <a:p>
            <a:r>
              <a:rPr lang="zh-CN" altLang="en-US" dirty="0"/>
              <a:t>里氏代换原则</a:t>
            </a:r>
            <a:endParaRPr lang="en-US" altLang="zh-CN" dirty="0"/>
          </a:p>
          <a:p>
            <a:r>
              <a:rPr lang="zh-CN" altLang="en-US" dirty="0"/>
              <a:t>依赖倒转原则</a:t>
            </a:r>
            <a:endParaRPr lang="en-US" altLang="zh-CN" dirty="0"/>
          </a:p>
          <a:p>
            <a:r>
              <a:rPr lang="zh-CN" altLang="en-US" dirty="0"/>
              <a:t>接口隔离原则</a:t>
            </a:r>
            <a:endParaRPr lang="en-US" altLang="zh-CN" dirty="0"/>
          </a:p>
          <a:p>
            <a:r>
              <a:rPr lang="zh-CN" altLang="en-US" dirty="0"/>
              <a:t>迪米特法则（最少知道原则）</a:t>
            </a:r>
            <a:endParaRPr lang="en-US" altLang="zh-CN" dirty="0"/>
          </a:p>
          <a:p>
            <a:r>
              <a:rPr lang="zh-CN" altLang="en-US" dirty="0"/>
              <a:t>合成复用原则</a:t>
            </a:r>
          </a:p>
        </p:txBody>
      </p:sp>
    </p:spTree>
    <p:extLst>
      <p:ext uri="{BB962C8B-B14F-4D97-AF65-F5344CB8AC3E}">
        <p14:creationId xmlns:p14="http://schemas.microsoft.com/office/powerpoint/2010/main" val="22791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B7C0898-A2D4-4364-85C9-61FEE76F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13992"/>
            <a:ext cx="10364451" cy="1596177"/>
          </a:xfrm>
        </p:spPr>
        <p:txBody>
          <a:bodyPr/>
          <a:lstStyle/>
          <a:p>
            <a:r>
              <a:rPr lang="zh-CN" altLang="en-US" dirty="0"/>
              <a:t>模式的分类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D797DC-3BFB-44CD-B803-4E7805F39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8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329C9D-C45B-4ABD-81ED-DADC162F0D4E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设计模式分类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分为三大类：</a:t>
            </a:r>
            <a:endParaRPr lang="en-US" altLang="zh-CN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0DBE1AE-6B28-4878-B1F6-93A8E54D9F99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创建型</a:t>
            </a:r>
            <a:endParaRPr lang="en-US" altLang="zh-CN" dirty="0"/>
          </a:p>
          <a:p>
            <a:r>
              <a:rPr lang="zh-CN" altLang="en-US" dirty="0"/>
              <a:t>结构型</a:t>
            </a:r>
            <a:endParaRPr lang="en-US" altLang="zh-CN" dirty="0"/>
          </a:p>
          <a:p>
            <a:r>
              <a:rPr lang="zh-CN" altLang="en-US" dirty="0"/>
              <a:t>行为型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483D4E-8E62-4689-8D1C-5ED67F528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9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5FAA1ED-07F5-4758-81E1-F16D506B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F7F9910-4C98-42BF-A5E1-E745D0ADA26F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设计模式分类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创建型</a:t>
            </a:r>
            <a:endParaRPr lang="en-US" altLang="zh-CN" sz="2000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73AF5BB-FBD9-4176-B61E-63376BE66276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工厂模式、单例模式、抽象工厂模式、建造者模式、原型模式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4212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4B1E21-33A7-43B2-A4FD-50DDB07C1FAB}"/>
              </a:ext>
            </a:extLst>
          </p:cNvPr>
          <p:cNvSpPr txBox="1"/>
          <p:nvPr/>
        </p:nvSpPr>
        <p:spPr>
          <a:xfrm>
            <a:off x="9505950" y="198145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类结构型模式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DFD80B-5189-4AD0-BBBD-24FB9D9E1CCB}"/>
              </a:ext>
            </a:extLst>
          </p:cNvPr>
          <p:cNvSpPr txBox="1"/>
          <p:nvPr/>
        </p:nvSpPr>
        <p:spPr>
          <a:xfrm>
            <a:off x="9505950" y="2467905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对象结构型模式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100ECB-E534-4DDE-8558-84DAAEF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C258CE-70D5-4AD9-84F4-BF8213C2B192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设计模式分类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结构型</a:t>
            </a:r>
            <a:endParaRPr lang="en-US" altLang="zh-CN" sz="2000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0712AB21-5C89-4E31-857A-DDDC64BB5484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适配器模式</a:t>
            </a:r>
            <a:endParaRPr lang="en-US" altLang="zh-CN" dirty="0"/>
          </a:p>
          <a:p>
            <a:r>
              <a:rPr lang="zh-CN" altLang="en-US" dirty="0"/>
              <a:t>外观模式、装饰模式、代理模式、组合模式、桥接模式、享元模式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48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77F621C-3F4E-449F-A1C4-B9574CE20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2EE90B0-979C-414A-89EE-A838F7F055B7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设计模式分类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行为型</a:t>
            </a:r>
            <a:endParaRPr lang="en-US" altLang="zh-CN" sz="2000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F88E661-6E1C-4B34-9B7F-A647E8824C3D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模版方法模式、解释器模式</a:t>
            </a:r>
            <a:endParaRPr lang="en-US" altLang="zh-CN" dirty="0"/>
          </a:p>
          <a:p>
            <a:r>
              <a:rPr lang="zh-CN" altLang="en-US" dirty="0"/>
              <a:t>观察者模式、命令模式、状态模式、迭代器模式、中介者模式、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访问者模式、备忘录模式、策略模式、责任链模式</a:t>
            </a:r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7B649F-B4FC-452F-BED2-47FA51350302}"/>
              </a:ext>
            </a:extLst>
          </p:cNvPr>
          <p:cNvSpPr txBox="1"/>
          <p:nvPr/>
        </p:nvSpPr>
        <p:spPr>
          <a:xfrm>
            <a:off x="9505950" y="198145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类行为型模式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B29990-F431-4388-904E-879E8B8D8A52}"/>
              </a:ext>
            </a:extLst>
          </p:cNvPr>
          <p:cNvSpPr txBox="1"/>
          <p:nvPr/>
        </p:nvSpPr>
        <p:spPr>
          <a:xfrm>
            <a:off x="9505950" y="279128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对象行为型模式</a:t>
            </a:r>
          </a:p>
        </p:txBody>
      </p:sp>
    </p:spTree>
    <p:extLst>
      <p:ext uri="{BB962C8B-B14F-4D97-AF65-F5344CB8AC3E}">
        <p14:creationId xmlns:p14="http://schemas.microsoft.com/office/powerpoint/2010/main" val="353280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36D39-E5A5-4626-8A8A-22383215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13992"/>
            <a:ext cx="10364451" cy="1596177"/>
          </a:xfrm>
        </p:spPr>
        <p:txBody>
          <a:bodyPr/>
          <a:lstStyle/>
          <a:p>
            <a:r>
              <a:rPr lang="zh-CN" altLang="en-US" dirty="0"/>
              <a:t>工厂模式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6D64D4-E66F-4CB8-903D-E7F0F15AD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7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FEB705-92E3-4943-A1F8-7F70E58C67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0302" y="1919417"/>
            <a:ext cx="10167297" cy="45397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提供创建对象的接口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227B69-9EAC-4E54-9ECE-DAA69BF74593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作用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9C543B-FF1B-44C9-9A6B-CA27115E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A5C039-F535-4887-B676-BB5702CA7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0302" y="2520389"/>
            <a:ext cx="48101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4DE3E1E3-126D-43B8-8F9F-6193689AF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175" y="2520389"/>
            <a:ext cx="394335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3">
            <a:extLst>
              <a:ext uri="{FF2B5EF4-FFF2-40B4-BE49-F238E27FC236}">
                <a16:creationId xmlns:a16="http://schemas.microsoft.com/office/drawing/2014/main" id="{33CF6243-5C38-4839-98CE-B23810B89D4E}"/>
              </a:ext>
            </a:extLst>
          </p:cNvPr>
          <p:cNvSpPr txBox="1"/>
          <p:nvPr/>
        </p:nvSpPr>
        <p:spPr>
          <a:xfrm>
            <a:off x="6975634" y="5194298"/>
            <a:ext cx="1311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highlight>
                  <a:srgbClr val="00FF00"/>
                </a:highlight>
              </a:rPr>
              <a:t>简单工厂</a:t>
            </a:r>
          </a:p>
        </p:txBody>
      </p:sp>
    </p:spTree>
    <p:extLst>
      <p:ext uri="{BB962C8B-B14F-4D97-AF65-F5344CB8AC3E}">
        <p14:creationId xmlns:p14="http://schemas.microsoft.com/office/powerpoint/2010/main" val="129981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246867A-B68E-4F8E-98AA-A76CB30F8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389B56-83B0-4489-8830-9B2D955AB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78" y="2125809"/>
            <a:ext cx="8497832" cy="43002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DDAA5C3-1CE7-471C-B0BB-C4EA54A858B9}"/>
              </a:ext>
            </a:extLst>
          </p:cNvPr>
          <p:cNvSpPr txBox="1"/>
          <p:nvPr/>
        </p:nvSpPr>
        <p:spPr>
          <a:xfrm>
            <a:off x="1110303" y="751458"/>
            <a:ext cx="678592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简单工厂类图</a:t>
            </a:r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888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5D82448-9FA3-4784-8E05-4A1DE5EAC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303" y="2219349"/>
            <a:ext cx="498157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226C5E-876A-418F-9183-AEA5BAA5B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219349"/>
            <a:ext cx="4607008" cy="35010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5C8ED2-3BC2-4358-9A36-E873CAA42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A198DB0-AD1B-42D2-B6AD-4D973E13CA03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修改</a:t>
            </a:r>
            <a:r>
              <a:rPr lang="en-US" altLang="zh-CN" sz="2000" dirty="0" err="1"/>
              <a:t>PisszStore</a:t>
            </a:r>
            <a:r>
              <a:rPr lang="zh-CN" altLang="en-US" sz="2000" dirty="0"/>
              <a:t>代码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391871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6EAB15-891B-4392-9FF9-180850911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303" y="2174144"/>
            <a:ext cx="471487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2C337-C765-48B4-BAD0-A913C9F4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9910" y="2174144"/>
            <a:ext cx="485775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78AA6A-5E0A-4FEF-8938-DDD076E6C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6D5D371-8DE6-47FD-90F3-F1085EBCC9A0}"/>
              </a:ext>
            </a:extLst>
          </p:cNvPr>
          <p:cNvSpPr txBox="1"/>
          <p:nvPr/>
        </p:nvSpPr>
        <p:spPr>
          <a:xfrm>
            <a:off x="1110303" y="751458"/>
            <a:ext cx="6785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04917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C2A58F0F-2668-4C0A-A12A-654FE52B0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303" y="2293938"/>
            <a:ext cx="501967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80ABAF-4643-4840-884A-21D5D4947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80" y="2293938"/>
            <a:ext cx="4552381" cy="23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1B6583-DAD1-4F72-914C-A1A3C2FA5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D9BAEF9-D5A5-434A-A392-BBB003292007}"/>
              </a:ext>
            </a:extLst>
          </p:cNvPr>
          <p:cNvSpPr txBox="1"/>
          <p:nvPr/>
        </p:nvSpPr>
        <p:spPr>
          <a:xfrm>
            <a:off x="1110303" y="751458"/>
            <a:ext cx="6785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02651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34E7C3-1ABE-4ABB-9F63-CC683007B2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0303" y="1976567"/>
            <a:ext cx="10363826" cy="3424107"/>
          </a:xfrm>
        </p:spPr>
        <p:txBody>
          <a:bodyPr/>
          <a:lstStyle/>
          <a:p>
            <a:r>
              <a:rPr lang="zh-CN" altLang="en-US" dirty="0"/>
              <a:t>定义：定义了创建对象的接口（工厂方法），由子类决定要实例化的具体类。</a:t>
            </a:r>
            <a:endParaRPr lang="en-US" altLang="zh-CN" dirty="0"/>
          </a:p>
          <a:p>
            <a:r>
              <a:rPr lang="zh-CN" altLang="en-US" dirty="0"/>
              <a:t>作用：用来封装对象的创建。</a:t>
            </a:r>
            <a:endParaRPr lang="en-US" altLang="zh-CN" dirty="0"/>
          </a:p>
          <a:p>
            <a:r>
              <a:rPr lang="zh-CN" altLang="en-US" dirty="0"/>
              <a:t>手段：通过实现工厂方法，让子类决定该创建的对象，从而将对象创建的过程封装。</a:t>
            </a:r>
            <a:endParaRPr lang="en-US" altLang="zh-CN" dirty="0"/>
          </a:p>
          <a:p>
            <a:r>
              <a:rPr lang="zh-CN" altLang="en-US" dirty="0"/>
              <a:t>涉及的原则：依赖倒置原则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84ABE9-E54D-444D-8378-09D8E1D6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5597F3-905F-4933-BC09-789E8DA2F15D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0791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9B7A14-1BFE-4C18-AAFC-C3932733A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7719FC-E599-470B-A209-E305EF69612A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依赖倒置指导方针</a:t>
            </a:r>
            <a:endParaRPr lang="en-US" altLang="zh-CN" sz="20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9EEE961-DD65-47D0-BC3C-0BC487D28643}"/>
              </a:ext>
            </a:extLst>
          </p:cNvPr>
          <p:cNvSpPr txBox="1">
            <a:spLocks/>
          </p:cNvSpPr>
          <p:nvPr/>
        </p:nvSpPr>
        <p:spPr>
          <a:xfrm>
            <a:off x="1110303" y="1976567"/>
            <a:ext cx="1036382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变量不要持有具体类的引用；</a:t>
            </a:r>
            <a:endParaRPr lang="en-US" altLang="zh-CN" dirty="0"/>
          </a:p>
          <a:p>
            <a:r>
              <a:rPr lang="zh-CN" altLang="en-US" dirty="0"/>
              <a:t>不要让类派生自具体类；</a:t>
            </a:r>
            <a:endParaRPr lang="en-US" altLang="zh-CN" dirty="0"/>
          </a:p>
          <a:p>
            <a:r>
              <a:rPr lang="zh-CN" altLang="en-US" dirty="0"/>
              <a:t>不要覆盖基类中已实现的方法；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860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4D844D7-09EF-484D-B6E7-B8CDC883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2B4B3E-CBAE-43DF-A6DC-FB55C2220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292" y="2297259"/>
            <a:ext cx="7542857" cy="326666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20F1B27-B369-495A-A8D7-94F9F33ACE03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工厂模式类图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40475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0EE9B-CA44-4575-A70A-647933DEA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0303" y="2205167"/>
            <a:ext cx="10363826" cy="3424107"/>
          </a:xfrm>
        </p:spPr>
        <p:txBody>
          <a:bodyPr/>
          <a:lstStyle/>
          <a:p>
            <a:r>
              <a:rPr lang="zh-CN" altLang="en-US" dirty="0"/>
              <a:t>简单工厂把全部的事情，在一个地方都处理完，然而工厂模式是创建一个框架，让子类决定如何实现。</a:t>
            </a:r>
            <a:endParaRPr lang="en-US" altLang="zh-CN" dirty="0"/>
          </a:p>
          <a:p>
            <a:r>
              <a:rPr lang="zh-CN" altLang="en-US" dirty="0"/>
              <a:t>简单工厂可以将对象的创建封装，但缺少工厂模式的弹性，不能变更正在创建的产品。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ED50E8-DD27-43F7-B441-276D8EBC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FB52BE-285E-4B25-9AC1-8C1A7B16A70F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简单工厂与工厂模式比较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51759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36D39-E5A5-4626-8A8A-22383215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13992"/>
            <a:ext cx="10364451" cy="1596177"/>
          </a:xfrm>
        </p:spPr>
        <p:txBody>
          <a:bodyPr/>
          <a:lstStyle/>
          <a:p>
            <a:r>
              <a:rPr lang="zh-CN" altLang="en-US" dirty="0"/>
              <a:t>抽象工厂模式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6D64D4-E66F-4CB8-903D-E7F0F15AD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92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77CAAA-64FE-4884-97C7-2144D87CE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8AFC2E-8305-4EB6-8101-CA231E37B1E1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抽象工厂模式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定义</a:t>
            </a:r>
            <a:endParaRPr lang="en-US" altLang="zh-CN" sz="20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2AD0723-7B8B-46AF-9BA0-BD1F9136BA73}"/>
              </a:ext>
            </a:extLst>
          </p:cNvPr>
          <p:cNvSpPr txBox="1">
            <a:spLocks/>
          </p:cNvSpPr>
          <p:nvPr/>
        </p:nvSpPr>
        <p:spPr>
          <a:xfrm>
            <a:off x="1110302" y="1919417"/>
            <a:ext cx="10167297" cy="4539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提供一个接口，用于创建相关或依赖对象的</a:t>
            </a:r>
            <a:r>
              <a:rPr lang="zh-CN" altLang="en-US" dirty="0">
                <a:solidFill>
                  <a:srgbClr val="FF0000"/>
                </a:solidFill>
              </a:rPr>
              <a:t>家族</a:t>
            </a:r>
            <a:r>
              <a:rPr lang="zh-CN" altLang="en-US" dirty="0"/>
              <a:t>，而不需要明确指定具体类。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489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E375C8B-856B-4375-9EF9-FEFA4AD0E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D33B0D0-4AD4-49F9-A3EF-1CEC6F045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914981"/>
            <a:ext cx="5286375" cy="26516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078A9E-1783-4716-BFE4-4E7B64E57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03" y="3914980"/>
            <a:ext cx="5329220" cy="26477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CD0764-CAD2-4CF0-9F74-38A1942DB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303" y="2012129"/>
            <a:ext cx="4238095" cy="178095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DEE1F28-6B4E-454A-BD22-F6C6AF9C642F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抽象工厂模式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修改工厂模式代码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19587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5D2FF63-47D7-493A-BA2F-CF1532B20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04" y="2352675"/>
            <a:ext cx="4220734" cy="34575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BF4933-8198-43DB-878A-E4ED49994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157" y="2352675"/>
            <a:ext cx="6304293" cy="260514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00667D-8393-4C23-8E07-BD668CB1FA80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抽象工厂模式</a:t>
            </a:r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1CA473-9C65-4B18-BAE6-29ED04F02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51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1DE9426-6DA8-4749-ADD1-7FE82C94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260" y="2157544"/>
            <a:ext cx="7443915" cy="39878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811B757-788F-437B-88CB-00A282EEC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128EDF-5A06-47A3-B32E-A6F427755A8C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抽象工厂模式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类图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87965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90CB7-A782-49E2-9433-FDA7D5FD98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0303" y="2100392"/>
            <a:ext cx="10363826" cy="3424107"/>
          </a:xfrm>
        </p:spPr>
        <p:txBody>
          <a:bodyPr/>
          <a:lstStyle/>
          <a:p>
            <a:r>
              <a:rPr lang="zh-CN" altLang="en-US" dirty="0"/>
              <a:t>工厂模式</a:t>
            </a:r>
            <a:r>
              <a:rPr lang="en-US" altLang="zh-CN" dirty="0"/>
              <a:t>——</a:t>
            </a:r>
            <a:r>
              <a:rPr lang="zh-CN" altLang="en-US" dirty="0"/>
              <a:t>继承，抽象工厂</a:t>
            </a:r>
            <a:r>
              <a:rPr lang="en-US" altLang="zh-CN" dirty="0"/>
              <a:t>——</a:t>
            </a:r>
            <a:r>
              <a:rPr lang="zh-CN" altLang="en-US" dirty="0"/>
              <a:t>组合；</a:t>
            </a:r>
            <a:endParaRPr lang="en-US" altLang="zh-CN" dirty="0"/>
          </a:p>
          <a:p>
            <a:r>
              <a:rPr lang="zh-CN" altLang="en-US" dirty="0"/>
              <a:t>抽象工厂包含一群产品的集合；</a:t>
            </a:r>
            <a:endParaRPr lang="en-US" altLang="zh-CN" dirty="0"/>
          </a:p>
          <a:p>
            <a:r>
              <a:rPr lang="zh-CN" altLang="en-US" dirty="0"/>
              <a:t>抽象工厂使用了工厂模式。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3815B4-C70F-4E29-8D20-6FC17363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DF70BE5-0886-46E2-B699-1C99E640193E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抽象工厂模式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工厂模式与抽象工厂的比较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05814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87D67A5-632F-4DDA-A1EF-C7A8CA91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13992"/>
            <a:ext cx="10364451" cy="1596177"/>
          </a:xfrm>
        </p:spPr>
        <p:txBody>
          <a:bodyPr/>
          <a:lstStyle/>
          <a:p>
            <a:r>
              <a:rPr lang="zh-CN" altLang="en-US" dirty="0"/>
              <a:t>状态模式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B33362-5925-4CD7-89C4-277108D7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14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4CFC90-E7CE-44E3-844C-A699DCD4A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240" y="2164329"/>
            <a:ext cx="8190174" cy="43023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CEC4F3-DACB-4FC2-ABC0-A340E861E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03" y="2164329"/>
            <a:ext cx="2388364" cy="43023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4C29C8-6D0E-4E83-84CB-DCDE04D01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B903748-DD53-41BA-AC7F-74EA8EE4643C}"/>
              </a:ext>
            </a:extLst>
          </p:cNvPr>
          <p:cNvSpPr txBox="1"/>
          <p:nvPr/>
        </p:nvSpPr>
        <p:spPr>
          <a:xfrm>
            <a:off x="1110303" y="1490121"/>
            <a:ext cx="962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糖果机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DEE548-D752-475C-B463-E0B3DCE7F05A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74761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667F18-B4A7-4F5F-BA34-85F8D6AB0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4AD5EC-B603-431D-9845-C6E500887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03" y="1609725"/>
            <a:ext cx="4985697" cy="51387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BB503FE-5F3D-4789-B9DB-CD2A740F7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058" y="1609725"/>
            <a:ext cx="5039167" cy="47711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07730A6-1560-4783-9D9C-D5BA8320207A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E66ACE-5573-4C3C-87B6-A9923E051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8550" y="1609725"/>
            <a:ext cx="4480430" cy="338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4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4E55B31-C7E0-454B-B5DC-82592F41D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03" y="2198923"/>
            <a:ext cx="5363200" cy="41132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EFF0E3-56AC-4B0E-8902-25F2D7FB6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C16F57E-08C3-4893-A5C4-A1570CEA867C}"/>
              </a:ext>
            </a:extLst>
          </p:cNvPr>
          <p:cNvSpPr txBox="1"/>
          <p:nvPr/>
        </p:nvSpPr>
        <p:spPr>
          <a:xfrm>
            <a:off x="10097127" y="2571750"/>
            <a:ext cx="1400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变更需求：</a:t>
            </a:r>
            <a:endParaRPr lang="en-US" altLang="zh-CN" dirty="0"/>
          </a:p>
          <a:p>
            <a:r>
              <a:rPr lang="zh-CN" altLang="en-US" dirty="0"/>
              <a:t>曲柄被转动，有</a:t>
            </a:r>
            <a:r>
              <a:rPr lang="en-US" altLang="zh-CN" dirty="0"/>
              <a:t>10%</a:t>
            </a:r>
            <a:r>
              <a:rPr lang="zh-CN" altLang="en-US" dirty="0"/>
              <a:t>的几率掉下来两个糖果！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7D6C7E-9B1D-4754-AAAE-DB58D251266C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测试结果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F8C3427-7690-4773-9139-B62E6E0C7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460" y="2846076"/>
            <a:ext cx="3104115" cy="346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0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243582F-B7D1-4E9B-BA38-EC9CB1C9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2D567C-E0B6-4473-AC17-27ED679D9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93" y="2000512"/>
            <a:ext cx="2961905" cy="23142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2A63959-9F13-4C52-A141-A6F212F07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851" y="2000512"/>
            <a:ext cx="5116988" cy="44954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A99069-48DB-4B04-ADE3-CD50D95D9B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725" y="2000512"/>
            <a:ext cx="5111861" cy="44955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D8E408-0A39-4304-8A98-8C509A011DBD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修改糖果机代码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43176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78523E3-FB88-4B9B-9CE4-E8AB5761A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49" y="919362"/>
            <a:ext cx="4629151" cy="58287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C54143-518C-4D30-A61A-FE13B65BAF7D}"/>
              </a:ext>
            </a:extLst>
          </p:cNvPr>
          <p:cNvSpPr txBox="1"/>
          <p:nvPr/>
        </p:nvSpPr>
        <p:spPr>
          <a:xfrm>
            <a:off x="1110303" y="751458"/>
            <a:ext cx="6785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CB23FB-0FDC-41BD-9B4E-1845CD525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41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261EB26-DE97-47AB-9AA8-2EA836DF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E4DFD77-2F81-4A0B-806F-64B378F4901A}"/>
              </a:ext>
            </a:extLst>
          </p:cNvPr>
          <p:cNvSpPr txBox="1"/>
          <p:nvPr/>
        </p:nvSpPr>
        <p:spPr>
          <a:xfrm>
            <a:off x="1110303" y="751458"/>
            <a:ext cx="6785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80AC964-0177-4564-9999-A5C987A7F2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0303" y="1976567"/>
            <a:ext cx="10363826" cy="3424107"/>
          </a:xfrm>
        </p:spPr>
        <p:txBody>
          <a:bodyPr/>
          <a:lstStyle/>
          <a:p>
            <a:r>
              <a:rPr lang="zh-CN" altLang="en-US" dirty="0"/>
              <a:t>定义：不同的状态，有不同的行为。</a:t>
            </a:r>
            <a:endParaRPr lang="en-US" altLang="zh-CN" dirty="0"/>
          </a:p>
          <a:p>
            <a:r>
              <a:rPr lang="zh-CN" altLang="en-US" dirty="0"/>
              <a:t>使用场景：使用</a:t>
            </a:r>
            <a:r>
              <a:rPr lang="en-US" altLang="zh-CN" dirty="0">
                <a:latin typeface="+mn-ea"/>
              </a:rPr>
              <a:t>if </a:t>
            </a:r>
            <a:r>
              <a:rPr lang="en-US" altLang="zh-CN" dirty="0" err="1">
                <a:latin typeface="+mn-ea"/>
              </a:rPr>
              <a:t>elseif</a:t>
            </a:r>
            <a:r>
              <a:rPr lang="zh-CN" altLang="en-US" dirty="0">
                <a:latin typeface="+mn-ea"/>
              </a:rPr>
              <a:t>频繁进行状态的切换</a:t>
            </a:r>
            <a:r>
              <a:rPr lang="zh-CN" altLang="en-US" sz="1400" dirty="0">
                <a:latin typeface="+mn-ea"/>
              </a:rPr>
              <a:t>；</a:t>
            </a: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r>
              <a:rPr lang="en-US" altLang="zh-CN" sz="1400" dirty="0">
                <a:latin typeface="+mn-ea"/>
              </a:rPr>
              <a:t>	       </a:t>
            </a:r>
            <a:r>
              <a:rPr lang="zh-CN" altLang="en-US" sz="2000" dirty="0"/>
              <a:t>对象属性的不同，对象的行为就不一样。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214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D816BD4-CCAA-4B4F-B038-0AC755A6B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374529"/>
            <a:ext cx="8377484" cy="31213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61375B-00AA-4575-8A30-77E0ECC2D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F65325-84F1-445C-B46E-375F059EA48D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类图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64184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382095E-D5FC-4963-95E7-207616FD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83" y="-1"/>
            <a:ext cx="1739317" cy="5359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05F82B7-96A3-4F38-91F6-A992413A83F5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添加赢家状态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DD40B8-1C04-4D29-BE05-D3A869003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37" y="1890231"/>
            <a:ext cx="4672995" cy="47720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E100BA1-C2E6-48E2-B8D3-76DD217DD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23" y="1890231"/>
            <a:ext cx="5617328" cy="40144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BFD1C37-3CAA-4522-995E-166F69A2B3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637" y="1890231"/>
            <a:ext cx="4841797" cy="355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1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19E2B3-316E-4037-B7E6-6615E09EB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03" y="2505075"/>
            <a:ext cx="5079304" cy="29763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831C4D2-9E3A-404D-8DE0-4501EBD199AF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测试糖果机</a:t>
            </a: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63C30F-D5DC-4D42-BCEC-43BEF2026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26" y="2681428"/>
            <a:ext cx="2619048" cy="2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97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F04ED9-FA95-4C42-858F-AD5C4E6F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527" y="2076449"/>
            <a:ext cx="5219283" cy="43858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A5AAAD-34B8-4428-B10B-B343ECA9B673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状态模式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思考：发放两个糖果代码不放到</a:t>
            </a:r>
            <a:r>
              <a:rPr lang="en-US" altLang="zh-CN" sz="2000" dirty="0" err="1"/>
              <a:t>SoldState</a:t>
            </a:r>
            <a:r>
              <a:rPr lang="zh-CN" altLang="en-US" sz="2000" dirty="0"/>
              <a:t>状态中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54693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8E16235-E870-4C51-B0D7-C89D9A9F9615}"/>
              </a:ext>
            </a:extLst>
          </p:cNvPr>
          <p:cNvSpPr txBox="1"/>
          <p:nvPr/>
        </p:nvSpPr>
        <p:spPr>
          <a:xfrm>
            <a:off x="1110303" y="751458"/>
            <a:ext cx="67859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何时使用设计模式？</a:t>
            </a:r>
            <a:endParaRPr lang="en-US" altLang="zh-CN" sz="20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E1EE34A-F27E-48C7-845B-ED42FD480E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0303" y="1976568"/>
            <a:ext cx="10363826" cy="43325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保持简单</a:t>
            </a:r>
            <a:endParaRPr lang="en-US" altLang="zh-CN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17DA5D1-D29C-465E-BDB0-DA51DF61B3FF}"/>
              </a:ext>
            </a:extLst>
          </p:cNvPr>
          <p:cNvSpPr txBox="1">
            <a:spLocks/>
          </p:cNvSpPr>
          <p:nvPr/>
        </p:nvSpPr>
        <p:spPr>
          <a:xfrm>
            <a:off x="1110303" y="2533650"/>
            <a:ext cx="10363826" cy="4286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预期系统会在未来发生改变</a:t>
            </a:r>
            <a:endParaRPr lang="en-US" altLang="zh-CN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2BDC650-0327-4F7C-B671-CDF6F2E95764}"/>
              </a:ext>
            </a:extLst>
          </p:cNvPr>
          <p:cNvSpPr txBox="1">
            <a:spLocks/>
          </p:cNvSpPr>
          <p:nvPr/>
        </p:nvSpPr>
        <p:spPr>
          <a:xfrm>
            <a:off x="1110303" y="3047998"/>
            <a:ext cx="10363826" cy="1438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重构代码时</a:t>
            </a:r>
          </a:p>
        </p:txBody>
      </p:sp>
    </p:spTree>
    <p:extLst>
      <p:ext uri="{BB962C8B-B14F-4D97-AF65-F5344CB8AC3E}">
        <p14:creationId xmlns:p14="http://schemas.microsoft.com/office/powerpoint/2010/main" val="362570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9721B-AB58-4C4C-B641-627A2C5FA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09242"/>
            <a:ext cx="10364451" cy="1596177"/>
          </a:xfrm>
        </p:spPr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668291887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TM04033925[[fn=水滴]]</Template>
  <TotalTime>3525</TotalTime>
  <Words>2134</Words>
  <Application>Microsoft Office PowerPoint</Application>
  <PresentationFormat>宽屏</PresentationFormat>
  <Paragraphs>292</Paragraphs>
  <Slides>39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4" baseType="lpstr">
      <vt:lpstr>等线</vt:lpstr>
      <vt:lpstr>宋体</vt:lpstr>
      <vt:lpstr>Arial</vt:lpstr>
      <vt:lpstr>Tw Cen MT</vt:lpstr>
      <vt:lpstr>水滴</vt:lpstr>
      <vt:lpstr>设计模式浅析</vt:lpstr>
      <vt:lpstr>PowerPoint 演示文稿</vt:lpstr>
      <vt:lpstr>模式的定义及原则</vt:lpstr>
      <vt:lpstr>PowerPoint 演示文稿</vt:lpstr>
      <vt:lpstr>PowerPoint 演示文稿</vt:lpstr>
      <vt:lpstr>模式的分类</vt:lpstr>
      <vt:lpstr>PowerPoint 演示文稿</vt:lpstr>
      <vt:lpstr>PowerPoint 演示文稿</vt:lpstr>
      <vt:lpstr>PowerPoint 演示文稿</vt:lpstr>
      <vt:lpstr>PowerPoint 演示文稿</vt:lpstr>
      <vt:lpstr>工厂模式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抽象工厂模式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状态模式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王南</dc:creator>
  <cp:lastModifiedBy>王南</cp:lastModifiedBy>
  <cp:revision>476</cp:revision>
  <dcterms:created xsi:type="dcterms:W3CDTF">2017-10-24T09:24:59Z</dcterms:created>
  <dcterms:modified xsi:type="dcterms:W3CDTF">2017-10-27T09:03:50Z</dcterms:modified>
</cp:coreProperties>
</file>
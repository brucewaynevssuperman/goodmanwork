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8"/>
  </p:notesMasterIdLst>
  <p:sldIdLst>
    <p:sldId id="257" r:id="rId2"/>
    <p:sldId id="258" r:id="rId3"/>
    <p:sldId id="404" r:id="rId4"/>
    <p:sldId id="405" r:id="rId5"/>
    <p:sldId id="406" r:id="rId6"/>
    <p:sldId id="268" r:id="rId7"/>
    <p:sldId id="394" r:id="rId8"/>
    <p:sldId id="395" r:id="rId9"/>
    <p:sldId id="313" r:id="rId10"/>
    <p:sldId id="384" r:id="rId11"/>
    <p:sldId id="393" r:id="rId12"/>
    <p:sldId id="389" r:id="rId13"/>
    <p:sldId id="390" r:id="rId14"/>
    <p:sldId id="391" r:id="rId15"/>
    <p:sldId id="400" r:id="rId16"/>
    <p:sldId id="408" r:id="rId17"/>
    <p:sldId id="383" r:id="rId18"/>
    <p:sldId id="321" r:id="rId19"/>
    <p:sldId id="369" r:id="rId20"/>
    <p:sldId id="339" r:id="rId21"/>
    <p:sldId id="340" r:id="rId22"/>
    <p:sldId id="341" r:id="rId23"/>
    <p:sldId id="342" r:id="rId24"/>
    <p:sldId id="344" r:id="rId25"/>
    <p:sldId id="345" r:id="rId26"/>
    <p:sldId id="346" r:id="rId27"/>
    <p:sldId id="347" r:id="rId28"/>
    <p:sldId id="348" r:id="rId29"/>
    <p:sldId id="349" r:id="rId30"/>
    <p:sldId id="343" r:id="rId31"/>
    <p:sldId id="320" r:id="rId32"/>
    <p:sldId id="325" r:id="rId33"/>
    <p:sldId id="388" r:id="rId34"/>
    <p:sldId id="327" r:id="rId35"/>
    <p:sldId id="328" r:id="rId36"/>
    <p:sldId id="329" r:id="rId37"/>
    <p:sldId id="330" r:id="rId38"/>
    <p:sldId id="331" r:id="rId39"/>
    <p:sldId id="332" r:id="rId40"/>
    <p:sldId id="333" r:id="rId41"/>
    <p:sldId id="336" r:id="rId42"/>
    <p:sldId id="401" r:id="rId43"/>
    <p:sldId id="403" r:id="rId44"/>
    <p:sldId id="338" r:id="rId45"/>
    <p:sldId id="350" r:id="rId46"/>
    <p:sldId id="380" r:id="rId47"/>
    <p:sldId id="381" r:id="rId48"/>
    <p:sldId id="382" r:id="rId49"/>
    <p:sldId id="355" r:id="rId50"/>
    <p:sldId id="363" r:id="rId51"/>
    <p:sldId id="379" r:id="rId52"/>
    <p:sldId id="365" r:id="rId53"/>
    <p:sldId id="364" r:id="rId54"/>
    <p:sldId id="366" r:id="rId55"/>
    <p:sldId id="399" r:id="rId56"/>
    <p:sldId id="264" r:id="rId57"/>
  </p:sldIdLst>
  <p:sldSz cx="9144000" cy="6858000" type="screen4x3"/>
  <p:notesSz cx="6858000" cy="9144000"/>
  <p:defaultTextStyle>
    <a:defPPr>
      <a:defRPr lang="zh-CN"/>
    </a:defPPr>
    <a:lvl1pPr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buFont typeface="Arial" pitchFamily="34" charset="0"/>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4F4F"/>
    <a:srgbClr val="4D4D4D"/>
    <a:srgbClr val="F00000"/>
    <a:srgbClr val="1C1C1C"/>
    <a:srgbClr val="1D324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9263" autoAdjust="0"/>
  </p:normalViewPr>
  <p:slideViewPr>
    <p:cSldViewPr>
      <p:cViewPr>
        <p:scale>
          <a:sx n="76" d="100"/>
          <a:sy n="76" d="100"/>
        </p:scale>
        <p:origin x="-1206" y="126"/>
      </p:cViewPr>
      <p:guideLst>
        <p:guide orient="horz" pos="2085"/>
        <p:guide pos="2903"/>
      </p:guideLst>
    </p:cSldViewPr>
  </p:slideViewPr>
  <p:notesTextViewPr>
    <p:cViewPr>
      <p:scale>
        <a:sx n="100" d="100"/>
        <a:sy n="100" d="100"/>
      </p:scale>
      <p:origin x="0" y="0"/>
    </p:cViewPr>
  </p:notesTextViewPr>
  <p:gridSpacing cx="71999" cy="71999"/>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9.wmf"/><Relationship Id="rId1" Type="http://schemas.openxmlformats.org/officeDocument/2006/relationships/image" Target="../media/image3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p:cNvSpPr>
          <p:nvPr>
            <p:ph type="sldImg" idx="2"/>
          </p:nvPr>
        </p:nvSpPr>
        <p:spPr bwMode="auto">
          <a:xfrm>
            <a:off x="1050925" y="754063"/>
            <a:ext cx="4572000" cy="3294062"/>
          </a:xfrm>
          <a:prstGeom prst="rect">
            <a:avLst/>
          </a:prstGeom>
          <a:noFill/>
          <a:ln w="9525">
            <a:noFill/>
            <a:miter lim="800000"/>
            <a:headEnd/>
            <a:tailEnd/>
          </a:ln>
        </p:spPr>
      </p:sp>
      <p:sp>
        <p:nvSpPr>
          <p:cNvPr id="2051" name="Rectangle 3"/>
          <p:cNvSpPr>
            <a:spLocks noGrp="1" noChangeArrowheads="1"/>
          </p:cNvSpPr>
          <p:nvPr>
            <p:ph type="body" sz="quarter" idx="3"/>
          </p:nvPr>
        </p:nvSpPr>
        <p:spPr bwMode="auto">
          <a:xfrm>
            <a:off x="538163" y="4387850"/>
            <a:ext cx="5780087" cy="395287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
第二级
第三级
第四级
第五级</a:t>
            </a:r>
          </a:p>
        </p:txBody>
      </p:sp>
      <p:sp>
        <p:nvSpPr>
          <p:cNvPr id="2052" name="Rectangle 4"/>
          <p:cNvSpPr>
            <a:spLocks noGrp="1" noChangeArrowheads="1"/>
          </p:cNvSpPr>
          <p:nvPr>
            <p:ph type="hdr" sz="quarter"/>
          </p:nvPr>
        </p:nvSpPr>
        <p:spPr bwMode="auto">
          <a:xfrm>
            <a:off x="0" y="0"/>
            <a:ext cx="2973388"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zh-CN" altLang="en-US"/>
          </a:p>
        </p:txBody>
      </p:sp>
      <p:sp>
        <p:nvSpPr>
          <p:cNvPr id="2053" name="Rectangle 5"/>
          <p:cNvSpPr>
            <a:spLocks noGrp="1" noChangeArrowheads="1"/>
          </p:cNvSpPr>
          <p:nvPr>
            <p:ph type="dt" idx="1"/>
          </p:nvPr>
        </p:nvSpPr>
        <p:spPr bwMode="auto">
          <a:xfrm>
            <a:off x="3883025" y="0"/>
            <a:ext cx="2974975"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endParaRPr lang="zh-CN" altLang="en-US"/>
          </a:p>
        </p:txBody>
      </p:sp>
      <p:sp>
        <p:nvSpPr>
          <p:cNvPr id="2054" name="Rectangle 6"/>
          <p:cNvSpPr>
            <a:spLocks noGrp="1" noChangeArrowheads="1"/>
          </p:cNvSpPr>
          <p:nvPr>
            <p:ph type="ftr" sz="quarter" idx="4"/>
          </p:nvPr>
        </p:nvSpPr>
        <p:spPr bwMode="auto">
          <a:xfrm>
            <a:off x="0" y="8686800"/>
            <a:ext cx="2973388"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endParaRPr lang="zh-CN" altLang="en-US"/>
          </a:p>
        </p:txBody>
      </p:sp>
      <p:sp>
        <p:nvSpPr>
          <p:cNvPr id="2055" name="Rectangle 7"/>
          <p:cNvSpPr>
            <a:spLocks noGrp="1" noChangeArrowheads="1"/>
          </p:cNvSpPr>
          <p:nvPr>
            <p:ph type="sldNum" sz="quarter" idx="5"/>
          </p:nvPr>
        </p:nvSpPr>
        <p:spPr bwMode="auto">
          <a:xfrm>
            <a:off x="3883025" y="8686800"/>
            <a:ext cx="2974975"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fld id="{388C5D72-2DC0-469E-A990-C92905A87D48}" type="slidenum">
              <a:rPr lang="zh-CN" altLang="en-US"/>
              <a:pPr/>
              <a:t>‹#›</a:t>
            </a:fld>
            <a:endParaRPr lang="zh-CN" altLang="en-US"/>
          </a:p>
        </p:txBody>
      </p:sp>
    </p:spTree>
    <p:extLst>
      <p:ext uri="{BB962C8B-B14F-4D97-AF65-F5344CB8AC3E}">
        <p14:creationId xmlns:p14="http://schemas.microsoft.com/office/powerpoint/2010/main" val="42916798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742950" indent="-28575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1143000" indent="-228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600200" indent="-228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2057400" indent="-228600" algn="l"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6</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7</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8</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9</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10</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11</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12</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13</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14</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15</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16</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17</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18</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19</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20</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21</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22</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23</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24</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25</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26</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27</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28</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29</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30</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31</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32</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33</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34</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35</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36</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37</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38</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39</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40</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41</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42</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43</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44</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45</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46</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47</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48</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49</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50</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51</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52</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53</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54</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1413" y="754063"/>
            <a:ext cx="4391025" cy="3294062"/>
          </a:xfrm>
        </p:spPr>
      </p:sp>
      <p:sp>
        <p:nvSpPr>
          <p:cNvPr id="3" name="备注占位符 2"/>
          <p:cNvSpPr>
            <a:spLocks noGrp="1"/>
          </p:cNvSpPr>
          <p:nvPr>
            <p:ph type="body" idx="1"/>
          </p:nvPr>
        </p:nvSpPr>
        <p:spPr/>
        <p:txBody>
          <a:bodyPr/>
          <a:lstStyle/>
          <a:p>
            <a:r>
              <a:rPr lang="en-US" altLang="zh-CN" sz="1200" b="0" i="0" kern="1200" dirty="0" smtClean="0">
                <a:solidFill>
                  <a:schemeClr val="tx1"/>
                </a:solidFill>
                <a:effectLst/>
                <a:latin typeface="Arial" pitchFamily="34" charset="0"/>
                <a:ea typeface="宋体" pitchFamily="2" charset="-122"/>
                <a:cs typeface="+mn-cs"/>
              </a:rPr>
              <a:t>1.</a:t>
            </a:r>
            <a:r>
              <a:rPr lang="zh-CN" altLang="en-US" sz="1200" b="0" i="0" kern="1200" dirty="0" smtClean="0">
                <a:solidFill>
                  <a:schemeClr val="tx1"/>
                </a:solidFill>
                <a:effectLst/>
                <a:latin typeface="Arial" pitchFamily="34" charset="0"/>
                <a:ea typeface="宋体" pitchFamily="2" charset="-122"/>
                <a:cs typeface="+mn-cs"/>
              </a:rPr>
              <a:t>节点客户端（</a:t>
            </a:r>
            <a:r>
              <a:rPr lang="en-US" altLang="zh-CN" sz="1200" b="0" i="0" kern="1200" dirty="0" smtClean="0">
                <a:solidFill>
                  <a:schemeClr val="tx1"/>
                </a:solidFill>
                <a:effectLst/>
                <a:latin typeface="Arial" pitchFamily="34" charset="0"/>
                <a:ea typeface="宋体" pitchFamily="2" charset="-122"/>
                <a:cs typeface="+mn-cs"/>
              </a:rPr>
              <a:t>Node client</a:t>
            </a:r>
            <a:r>
              <a:rPr lang="zh-CN" altLang="en-US" sz="1200" b="0" i="0" kern="1200" dirty="0" smtClean="0">
                <a:solidFill>
                  <a:schemeClr val="tx1"/>
                </a:solidFill>
                <a:effectLst/>
                <a:latin typeface="Arial" pitchFamily="34" charset="0"/>
                <a:ea typeface="宋体" pitchFamily="2" charset="-122"/>
                <a:cs typeface="+mn-cs"/>
              </a:rPr>
              <a:t>）节点客户端作为一个非数据节点加入到本地集群中。换句话说，它本身不保存任何数据，但是它知道数据在集群中的哪个节点中，并且可以把请求转发到正确的节点。</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2.</a:t>
            </a:r>
            <a:r>
              <a:rPr lang="zh-CN" altLang="en-US" sz="1200" b="0" i="0" kern="1200" dirty="0" smtClean="0">
                <a:solidFill>
                  <a:schemeClr val="tx1"/>
                </a:solidFill>
                <a:effectLst/>
                <a:latin typeface="Arial" pitchFamily="34" charset="0"/>
                <a:ea typeface="宋体" pitchFamily="2" charset="-122"/>
                <a:cs typeface="+mn-cs"/>
              </a:rPr>
              <a:t>传输客户端（</a:t>
            </a:r>
            <a:r>
              <a:rPr lang="en-US" altLang="zh-CN" sz="1200" b="0" i="0" kern="1200" dirty="0" smtClean="0">
                <a:solidFill>
                  <a:schemeClr val="tx1"/>
                </a:solidFill>
                <a:effectLst/>
                <a:latin typeface="Arial" pitchFamily="34" charset="0"/>
                <a:ea typeface="宋体" pitchFamily="2" charset="-122"/>
                <a:cs typeface="+mn-cs"/>
              </a:rPr>
              <a:t>Transport client</a:t>
            </a:r>
            <a:r>
              <a:rPr lang="zh-CN" altLang="en-US" sz="1200" b="0" i="0" kern="1200" dirty="0" smtClean="0">
                <a:solidFill>
                  <a:schemeClr val="tx1"/>
                </a:solidFill>
                <a:effectLst/>
                <a:latin typeface="Arial" pitchFamily="34" charset="0"/>
                <a:ea typeface="宋体" pitchFamily="2" charset="-122"/>
                <a:cs typeface="+mn-cs"/>
              </a:rPr>
              <a:t>）轻量级的传输客户端可以将请求发送到远程集群。它本身不加入集群，但是它可以将请求转发到集群中的一个节点上。</a:t>
            </a:r>
          </a:p>
          <a:p>
            <a:r>
              <a:rPr lang="zh-CN" altLang="en-US" sz="1200" b="0" i="0" kern="1200" dirty="0" smtClean="0">
                <a:solidFill>
                  <a:schemeClr val="tx1"/>
                </a:solidFill>
                <a:effectLst/>
                <a:latin typeface="Arial" pitchFamily="34" charset="0"/>
                <a:ea typeface="宋体" pitchFamily="2" charset="-122"/>
                <a:cs typeface="+mn-cs"/>
              </a:rPr>
              <a:t>两个 </a:t>
            </a:r>
            <a:r>
              <a:rPr lang="en-US" altLang="zh-CN" sz="1200" b="0" i="0" kern="1200" dirty="0" smtClean="0">
                <a:solidFill>
                  <a:schemeClr val="tx1"/>
                </a:solidFill>
                <a:effectLst/>
                <a:latin typeface="Arial" pitchFamily="34" charset="0"/>
                <a:ea typeface="宋体" pitchFamily="2" charset="-122"/>
                <a:cs typeface="+mn-cs"/>
              </a:rPr>
              <a:t>Java </a:t>
            </a:r>
            <a:r>
              <a:rPr lang="zh-CN" altLang="en-US" sz="1200" b="0" i="0" kern="1200" dirty="0" smtClean="0">
                <a:solidFill>
                  <a:schemeClr val="tx1"/>
                </a:solidFill>
                <a:effectLst/>
                <a:latin typeface="Arial" pitchFamily="34" charset="0"/>
                <a:ea typeface="宋体" pitchFamily="2" charset="-122"/>
                <a:cs typeface="+mn-cs"/>
              </a:rPr>
              <a:t>客户端都是通过 </a:t>
            </a:r>
            <a:r>
              <a:rPr lang="en-US" altLang="zh-CN" sz="1200" b="0" i="1" kern="1200" dirty="0" smtClean="0">
                <a:solidFill>
                  <a:schemeClr val="tx1"/>
                </a:solidFill>
                <a:effectLst/>
                <a:latin typeface="Arial" pitchFamily="34" charset="0"/>
                <a:ea typeface="宋体" pitchFamily="2" charset="-122"/>
                <a:cs typeface="+mn-cs"/>
              </a:rPr>
              <a:t>9300</a:t>
            </a:r>
            <a:r>
              <a:rPr lang="zh-CN" altLang="en-US" sz="1200" b="0" i="0" kern="1200" dirty="0" smtClean="0">
                <a:solidFill>
                  <a:schemeClr val="tx1"/>
                </a:solidFill>
                <a:effectLst/>
                <a:latin typeface="Arial" pitchFamily="34" charset="0"/>
                <a:ea typeface="宋体" pitchFamily="2" charset="-122"/>
                <a:cs typeface="+mn-cs"/>
              </a:rPr>
              <a:t> 端口并使用本地 </a:t>
            </a:r>
            <a:r>
              <a:rPr lang="en-US" altLang="zh-CN" sz="1200" b="0" i="0" kern="1200" dirty="0" smtClean="0">
                <a:solidFill>
                  <a:schemeClr val="tx1"/>
                </a:solidFill>
                <a:effectLst/>
                <a:latin typeface="Arial" pitchFamily="34" charset="0"/>
                <a:ea typeface="宋体" pitchFamily="2" charset="-122"/>
                <a:cs typeface="+mn-cs"/>
              </a:rPr>
              <a:t>Elasticsearch </a:t>
            </a:r>
            <a:r>
              <a:rPr lang="zh-CN" altLang="en-US" sz="1200" b="0" i="1" kern="1200" dirty="0" smtClean="0">
                <a:solidFill>
                  <a:schemeClr val="tx1"/>
                </a:solidFill>
                <a:effectLst/>
                <a:latin typeface="Arial" pitchFamily="34" charset="0"/>
                <a:ea typeface="宋体" pitchFamily="2" charset="-122"/>
                <a:cs typeface="+mn-cs"/>
              </a:rPr>
              <a:t>传输</a:t>
            </a:r>
            <a:r>
              <a:rPr lang="zh-CN" altLang="en-US" sz="1200" b="0" i="0" kern="1200" dirty="0" smtClean="0">
                <a:solidFill>
                  <a:schemeClr val="tx1"/>
                </a:solidFill>
                <a:effectLst/>
                <a:latin typeface="Arial" pitchFamily="34" charset="0"/>
                <a:ea typeface="宋体" pitchFamily="2" charset="-122"/>
                <a:cs typeface="+mn-cs"/>
              </a:rPr>
              <a:t> 协议和集群交互。</a:t>
            </a:r>
            <a:endParaRPr lang="en-US" altLang="zh-CN" sz="1200" b="0" i="0" kern="1200" dirty="0" smtClean="0">
              <a:solidFill>
                <a:schemeClr val="tx1"/>
              </a:solidFill>
              <a:effectLst/>
              <a:latin typeface="Arial" pitchFamily="34" charset="0"/>
              <a:ea typeface="宋体" pitchFamily="2" charset="-122"/>
              <a:cs typeface="+mn-cs"/>
            </a:endParaRPr>
          </a:p>
          <a:p>
            <a:r>
              <a:rPr lang="en-US" altLang="zh-CN" sz="1200" b="0" i="0" kern="1200" dirty="0" smtClean="0">
                <a:solidFill>
                  <a:schemeClr val="tx1"/>
                </a:solidFill>
                <a:effectLst/>
                <a:latin typeface="Arial" pitchFamily="34" charset="0"/>
                <a:ea typeface="宋体" pitchFamily="2" charset="-122"/>
                <a:cs typeface="+mn-cs"/>
              </a:rPr>
              <a:t>3.</a:t>
            </a:r>
            <a:r>
              <a:rPr lang="zh-CN" altLang="en-US" sz="1200" b="0" i="0" kern="1200" dirty="0" smtClean="0">
                <a:solidFill>
                  <a:schemeClr val="tx1"/>
                </a:solidFill>
                <a:effectLst/>
                <a:latin typeface="Arial" pitchFamily="34" charset="0"/>
                <a:ea typeface="宋体" pitchFamily="2" charset="-122"/>
                <a:cs typeface="+mn-cs"/>
              </a:rPr>
              <a:t>集群中的节点通过端口 </a:t>
            </a:r>
            <a:r>
              <a:rPr lang="en-US" altLang="zh-CN" sz="1200" b="0" i="0" kern="1200" dirty="0" smtClean="0">
                <a:solidFill>
                  <a:schemeClr val="tx1"/>
                </a:solidFill>
                <a:effectLst/>
                <a:latin typeface="Arial" pitchFamily="34" charset="0"/>
                <a:ea typeface="宋体" pitchFamily="2" charset="-122"/>
                <a:cs typeface="+mn-cs"/>
              </a:rPr>
              <a:t>9300 </a:t>
            </a:r>
            <a:r>
              <a:rPr lang="zh-CN" altLang="en-US" sz="1200" b="0" i="0" kern="1200" dirty="0" smtClean="0">
                <a:solidFill>
                  <a:schemeClr val="tx1"/>
                </a:solidFill>
                <a:effectLst/>
                <a:latin typeface="Arial" pitchFamily="34" charset="0"/>
                <a:ea typeface="宋体" pitchFamily="2" charset="-122"/>
                <a:cs typeface="+mn-cs"/>
              </a:rPr>
              <a:t>彼此通信。如果这个端口没有打开，节点将无法形成一个集群。</a:t>
            </a:r>
          </a:p>
          <a:p>
            <a:endParaRPr lang="zh-CN" altLang="en-US" dirty="0"/>
          </a:p>
        </p:txBody>
      </p:sp>
      <p:sp>
        <p:nvSpPr>
          <p:cNvPr id="4" name="灯片编号占位符 3"/>
          <p:cNvSpPr>
            <a:spLocks noGrp="1"/>
          </p:cNvSpPr>
          <p:nvPr>
            <p:ph type="sldNum" sz="quarter" idx="10"/>
          </p:nvPr>
        </p:nvSpPr>
        <p:spPr/>
        <p:txBody>
          <a:bodyPr/>
          <a:lstStyle/>
          <a:p>
            <a:fld id="{388C5D72-2DC0-469E-A990-C92905A87D48}" type="slidenum">
              <a:rPr lang="zh-CN" altLang="en-US" smtClean="0"/>
              <a:pPr/>
              <a:t>55</a:t>
            </a:fld>
            <a:endParaRPr lang="zh-CN" altLang="en-US"/>
          </a:p>
        </p:txBody>
      </p:sp>
    </p:spTree>
    <p:extLst>
      <p:ext uri="{BB962C8B-B14F-4D97-AF65-F5344CB8AC3E}">
        <p14:creationId xmlns:p14="http://schemas.microsoft.com/office/powerpoint/2010/main" val="37873721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B51A9C30-1C46-417B-8314-C34091DBC038}" type="slidenum">
              <a:rPr lang="zh-CN" altLang="en-US"/>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1959A14-3D3A-4B58-AD08-8E82E0BB97A2}" type="slidenum">
              <a:rPr lang="zh-CN" altLang="en-US"/>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184B5298-6082-4FE4-91C2-D29B6905757A}" type="slidenum">
              <a:rPr lang="zh-CN" altLang="en-US"/>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8D264C27-2F8B-4E1C-B855-A7C7B2E73F65}" type="slidenum">
              <a:rPr lang="zh-CN" altLang="en-US"/>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474C4F0D-2E6F-4BF4-A1BB-D3EFB9111576}" type="slidenum">
              <a:rPr lang="zh-CN" altLang="en-US"/>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033617BE-1B46-44D3-8378-34EEB074F89F}" type="slidenum">
              <a:rPr lang="zh-CN" altLang="en-US"/>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CC0CC262-CE52-4680-8285-3142B0AE8689}" type="slidenum">
              <a:rPr lang="zh-CN" altLang="en-US"/>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47F5AABA-332B-4506-85D2-CD687268C72B}" type="slidenum">
              <a:rPr lang="zh-CN" altLang="en-US"/>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117424F2-3AB8-4A48-87C4-3B067B58B277}" type="slidenum">
              <a:rPr lang="zh-CN" altLang="en-US"/>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96A62AEA-2B0B-43EF-B37F-D41B29DF9F2A}" type="slidenum">
              <a:rPr lang="zh-CN" altLang="en-US"/>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EC784372-A727-4FCE-8823-001464A91FA1}" type="slidenum">
              <a:rPr lang="zh-CN" altLang="en-US"/>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1D3245"/>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zh-CN"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smtClean="0"/>
              <a:t>单击此处编辑母版文本样式</a:t>
            </a:r>
          </a:p>
          <a:p>
            <a:pPr lvl="1"/>
            <a:r>
              <a:rPr lang="zh-CN" smtClean="0"/>
              <a:t>第二级</a:t>
            </a:r>
          </a:p>
          <a:p>
            <a:pPr lvl="2"/>
            <a:r>
              <a:rPr lang="zh-CN" smtClean="0"/>
              <a:t>第三级</a:t>
            </a:r>
          </a:p>
          <a:p>
            <a:pPr lvl="3"/>
            <a:r>
              <a:rPr lang="zh-CN" smtClean="0"/>
              <a:t>第四级</a:t>
            </a:r>
          </a:p>
          <a:p>
            <a:pPr lvl="4"/>
            <a:r>
              <a:rPr lang="zh-CN"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2B0CA5FD-BF3C-4019-B5B4-212F51382C20}"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eaLnBrk="0" fontAlgn="base" hangingPunct="0">
        <a:spcBef>
          <a:spcPct val="0"/>
        </a:spcBef>
        <a:spcAft>
          <a:spcPct val="0"/>
        </a:spcAft>
        <a:defRPr sz="4400">
          <a:solidFill>
            <a:schemeClr val="tx2"/>
          </a:solidFill>
          <a:latin typeface="Arial" pitchFamily="34" charset="0"/>
          <a:ea typeface="宋体" pitchFamily="2" charset="-122"/>
        </a:defRPr>
      </a:lvl6pPr>
      <a:lvl7pPr marL="914400" algn="ctr" rtl="0" eaLnBrk="0" fontAlgn="base" hangingPunct="0">
        <a:spcBef>
          <a:spcPct val="0"/>
        </a:spcBef>
        <a:spcAft>
          <a:spcPct val="0"/>
        </a:spcAft>
        <a:defRPr sz="4400">
          <a:solidFill>
            <a:schemeClr val="tx2"/>
          </a:solidFill>
          <a:latin typeface="Arial" pitchFamily="34" charset="0"/>
          <a:ea typeface="宋体" pitchFamily="2" charset="-122"/>
        </a:defRPr>
      </a:lvl7pPr>
      <a:lvl8pPr marL="1371600" algn="ctr" rtl="0" eaLnBrk="0" fontAlgn="base" hangingPunct="0">
        <a:spcBef>
          <a:spcPct val="0"/>
        </a:spcBef>
        <a:spcAft>
          <a:spcPct val="0"/>
        </a:spcAft>
        <a:defRPr sz="4400">
          <a:solidFill>
            <a:schemeClr val="tx2"/>
          </a:solidFill>
          <a:latin typeface="Arial" pitchFamily="34" charset="0"/>
          <a:ea typeface="宋体" pitchFamily="2" charset="-122"/>
        </a:defRPr>
      </a:lvl8pPr>
      <a:lvl9pPr marL="1828800" algn="ctr" rtl="0" eaLnBrk="0" fontAlgn="base" hangingPunct="0">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jpeg"/><Relationship Id="rId11" Type="http://schemas.openxmlformats.org/officeDocument/2006/relationships/image" Target="../media/image12.png"/><Relationship Id="rId5" Type="http://schemas.openxmlformats.org/officeDocument/2006/relationships/image" Target="../media/image6.jpeg"/><Relationship Id="rId10" Type="http://schemas.openxmlformats.org/officeDocument/2006/relationships/image" Target="../media/image11.png"/><Relationship Id="rId4" Type="http://schemas.openxmlformats.org/officeDocument/2006/relationships/image" Target="../media/image5.jpe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hyperlink" Target="https://www.elastic.co/downloads/elasticsearch" TargetMode="External"/><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hyperlink" Target="https://www.elastic.co/downloads/elasticsearch" TargetMode="External"/><Relationship Id="rId2" Type="http://schemas.openxmlformats.org/officeDocument/2006/relationships/notesSlide" Target="../notesSlides/notesSlide2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6.png"/></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8.png"/></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2.png"/></Relationships>
</file>

<file path=ppt/slides/_rels/slide3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4.png"/></Relationships>
</file>

<file path=ppt/slides/_rels/slide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6.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hyperlink" Target="http://10.16.74.58:9200/_cluster/health" TargetMode="External"/><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10.16.74.59:9200/_cluster/health?level=shards&amp;pretty" TargetMode="External"/><Relationship Id="rId4" Type="http://schemas.openxmlformats.org/officeDocument/2006/relationships/hyperlink" Target="http://10.16.74.59:9200/_cluster/health?level=indices&amp;pretty"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hyperlink" Target="http://10.16.74.58:9200/_nodes/stats" TargetMode="External"/><Relationship Id="rId2" Type="http://schemas.openxmlformats.org/officeDocument/2006/relationships/notesSlide" Target="../notesSlides/notesSlide4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37.png"/></Relationships>
</file>

<file path=ppt/slides/_rels/slide48.xml.rels><?xml version="1.0" encoding="UTF-8" standalone="yes"?>
<Relationships xmlns="http://schemas.openxmlformats.org/package/2006/relationships"><Relationship Id="rId3" Type="http://schemas.openxmlformats.org/officeDocument/2006/relationships/hyperlink" Target="http://10.16.74.58:9200/_cluster/stats/" TargetMode="External"/><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10.16.74.58:9200/_all/_stats/" TargetMode="External"/></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notesSlide" Target="../notesSlides/notesSlide44.xml"/><Relationship Id="rId7" Type="http://schemas.openxmlformats.org/officeDocument/2006/relationships/image" Target="../media/image38.wmf"/><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40.png"/><Relationship Id="rId10" Type="http://schemas.openxmlformats.org/officeDocument/2006/relationships/image" Target="../media/image3.png"/><Relationship Id="rId4" Type="http://schemas.openxmlformats.org/officeDocument/2006/relationships/hyperlink" Target="http://10.16.74.59:9200/_nodes/stats?pretty" TargetMode="External"/><Relationship Id="rId9" Type="http://schemas.openxmlformats.org/officeDocument/2006/relationships/image" Target="../media/image39.wmf"/></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3.png"/><Relationship Id="rId5" Type="http://schemas.openxmlformats.org/officeDocument/2006/relationships/image" Target="../media/image43.wmf"/><Relationship Id="rId4" Type="http://schemas.openxmlformats.org/officeDocument/2006/relationships/oleObject" Target="../embeddings/oleObject3.bin"/></Relationships>
</file>

<file path=ppt/slides/_rels/slide53.xml.rels><?xml version="1.0" encoding="UTF-8" standalone="yes"?>
<Relationships xmlns="http://schemas.openxmlformats.org/package/2006/relationships"><Relationship Id="rId3" Type="http://schemas.openxmlformats.org/officeDocument/2006/relationships/hyperlink" Target="https://github.com/jprante/elasticsearch-jdbc" TargetMode="External"/><Relationship Id="rId2" Type="http://schemas.openxmlformats.org/officeDocument/2006/relationships/notesSlide" Target="../notesSlides/notesSlide4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hyperlink" Target="https://github.com/siddontang/go-mysql-elasticsearch" TargetMode="External"/><Relationship Id="rId4" Type="http://schemas.openxmlformats.org/officeDocument/2006/relationships/hyperlink" Target="https://github.com/scharron/elasticsearch-river-mysql" TargetMode="External"/></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hyperlink" Target="https://www.elastic.co/guide/cn/elasticsearch/guide/current/index.html" TargetMode="External"/><Relationship Id="rId2" Type="http://schemas.openxmlformats.org/officeDocument/2006/relationships/notesSlide" Target="../notesSlides/notesSlide5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www.elastic.co/guide/en/elasticsearch/reference/2.4/index.html" TargetMode="Externa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bwMode="auto">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6" name="Text Box 4"/>
          <p:cNvSpPr txBox="1">
            <a:spLocks noChangeArrowheads="1"/>
          </p:cNvSpPr>
          <p:nvPr/>
        </p:nvSpPr>
        <p:spPr bwMode="auto">
          <a:xfrm>
            <a:off x="5795983" y="4292988"/>
            <a:ext cx="2820988" cy="461665"/>
          </a:xfrm>
          <a:prstGeom prst="rect">
            <a:avLst/>
          </a:prstGeom>
          <a:noFill/>
          <a:ln w="9525">
            <a:noFill/>
            <a:miter lim="800000"/>
            <a:headEnd/>
            <a:tailEnd/>
          </a:ln>
        </p:spPr>
        <p:txBody>
          <a:bodyPr>
            <a:spAutoFit/>
          </a:bodyPr>
          <a:lstStyle/>
          <a:p>
            <a:pPr algn="ctr"/>
            <a:r>
              <a:rPr lang="zh-CN" altLang="en-US" sz="2400" dirty="0" smtClean="0">
                <a:solidFill>
                  <a:schemeClr val="bg1"/>
                </a:solidFill>
                <a:latin typeface="Times New Roman" pitchFamily="18" charset="0"/>
              </a:rPr>
              <a:t>银行清算组</a:t>
            </a:r>
            <a:r>
              <a:rPr lang="en-US" altLang="zh-CN" sz="2400" dirty="0" smtClean="0">
                <a:solidFill>
                  <a:schemeClr val="bg1"/>
                </a:solidFill>
                <a:latin typeface="Times New Roman" pitchFamily="18" charset="0"/>
              </a:rPr>
              <a:t>-</a:t>
            </a:r>
            <a:r>
              <a:rPr lang="zh-CN" altLang="en-US" sz="2400" dirty="0" smtClean="0">
                <a:solidFill>
                  <a:schemeClr val="bg1"/>
                </a:solidFill>
                <a:latin typeface="Times New Roman" pitchFamily="18" charset="0"/>
              </a:rPr>
              <a:t>王标</a:t>
            </a:r>
            <a:endParaRPr lang="zh-CN" altLang="en-US" sz="2400" dirty="0">
              <a:solidFill>
                <a:schemeClr val="bg1"/>
              </a:solidFill>
              <a:latin typeface="Times New Roman" pitchFamily="18" charset="0"/>
            </a:endParaRPr>
          </a:p>
        </p:txBody>
      </p:sp>
      <p:sp>
        <p:nvSpPr>
          <p:cNvPr id="4" name="TextBox 3"/>
          <p:cNvSpPr txBox="1"/>
          <p:nvPr/>
        </p:nvSpPr>
        <p:spPr>
          <a:xfrm>
            <a:off x="3115531" y="3500999"/>
            <a:ext cx="3759362" cy="523220"/>
          </a:xfrm>
          <a:prstGeom prst="rect">
            <a:avLst/>
          </a:prstGeom>
          <a:noFill/>
        </p:spPr>
        <p:txBody>
          <a:bodyPr wrap="none" rtlCol="0">
            <a:spAutoFit/>
          </a:bodyPr>
          <a:lstStyle/>
          <a:p>
            <a:r>
              <a:rPr lang="en-US" altLang="zh-CN" sz="2800" dirty="0" smtClean="0">
                <a:solidFill>
                  <a:schemeClr val="bg1"/>
                </a:solidFill>
              </a:rPr>
              <a:t>Elasticsearch</a:t>
            </a:r>
            <a:r>
              <a:rPr lang="zh-CN" altLang="en-US" sz="2800" dirty="0" smtClean="0">
                <a:solidFill>
                  <a:schemeClr val="bg1"/>
                </a:solidFill>
              </a:rPr>
              <a:t>学习分享</a:t>
            </a:r>
            <a:endParaRPr lang="zh-CN" altLang="en-US" sz="2800" dirty="0">
              <a:solidFill>
                <a:schemeClr val="bg1"/>
              </a:solidFill>
            </a:endParaRPr>
          </a:p>
        </p:txBody>
      </p:sp>
      <p:sp>
        <p:nvSpPr>
          <p:cNvPr id="2" name="AutoShape 2" descr="Elasticsearch"/>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3" name="AutoShape 4" descr="http://img1.imgtn.bdimg.com/it/u=1314965714,3613449490&amp;fm=214&amp;gp=0.jp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1029" name="Picture 5" descr="D:\Users\wangbiao5\Desktop\elasticsearch_log.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72025" y="1053033"/>
            <a:ext cx="3728231" cy="194072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ChangeArrowheads="1"/>
          </p:cNvSpPr>
          <p:nvPr/>
        </p:nvSpPr>
        <p:spPr bwMode="auto">
          <a:xfrm>
            <a:off x="2820064" y="2370868"/>
            <a:ext cx="4175727" cy="433387"/>
          </a:xfrm>
          <a:prstGeom prst="rect">
            <a:avLst/>
          </a:prstGeom>
          <a:noFill/>
          <a:ln w="9525" cmpd="sng">
            <a:solidFill>
              <a:schemeClr val="bg1"/>
            </a:solidFill>
            <a:miter lim="800000"/>
            <a:headEnd/>
            <a:tailEnd/>
          </a:ln>
          <a:effectLst/>
        </p:spPr>
        <p:txBody>
          <a:bodyPr anchor="ctr"/>
          <a:lstStyle/>
          <a:p>
            <a:endParaRPr lang="zh-CN" altLang="en-US"/>
          </a:p>
        </p:txBody>
      </p:sp>
      <p:grpSp>
        <p:nvGrpSpPr>
          <p:cNvPr id="4099" name="Group 3"/>
          <p:cNvGrpSpPr>
            <a:grpSpLocks/>
          </p:cNvGrpSpPr>
          <p:nvPr/>
        </p:nvGrpSpPr>
        <p:grpSpPr bwMode="auto">
          <a:xfrm>
            <a:off x="3034376" y="2356580"/>
            <a:ext cx="936625" cy="792163"/>
            <a:chOff x="0" y="0"/>
            <a:chExt cx="1474" cy="1248"/>
          </a:xfrm>
        </p:grpSpPr>
        <p:sp>
          <p:nvSpPr>
            <p:cNvPr id="4100" name="AutoShape 4"/>
            <p:cNvSpPr>
              <a:spLocks noChangeArrowheads="1"/>
            </p:cNvSpPr>
            <p:nvPr/>
          </p:nvSpPr>
          <p:spPr bwMode="auto">
            <a:xfrm>
              <a:off x="0" y="0"/>
              <a:ext cx="1475" cy="1249"/>
            </a:xfrm>
            <a:prstGeom prst="flowChartProcess">
              <a:avLst/>
            </a:prstGeom>
            <a:solidFill>
              <a:srgbClr val="FF0000"/>
            </a:solidFill>
            <a:ln w="9525">
              <a:noFill/>
              <a:miter lim="800000"/>
              <a:headEnd/>
              <a:tailEnd/>
            </a:ln>
            <a:effectLst/>
          </p:spPr>
          <p:txBody>
            <a:bodyPr anchor="ctr"/>
            <a:lstStyle/>
            <a:p>
              <a:endParaRPr lang="zh-CN" altLang="en-US"/>
            </a:p>
          </p:txBody>
        </p:sp>
        <p:sp>
          <p:nvSpPr>
            <p:cNvPr id="4101" name="AutoShape 5"/>
            <p:cNvSpPr>
              <a:spLocks noChangeArrowheads="1"/>
            </p:cNvSpPr>
            <p:nvPr/>
          </p:nvSpPr>
          <p:spPr bwMode="auto">
            <a:xfrm>
              <a:off x="129" y="117"/>
              <a:ext cx="1202" cy="983"/>
            </a:xfrm>
            <a:prstGeom prst="flowChartProcess">
              <a:avLst/>
            </a:prstGeom>
            <a:noFill/>
            <a:ln w="9525" cmpd="sng">
              <a:solidFill>
                <a:srgbClr val="1C1C1C"/>
              </a:solidFill>
              <a:prstDash val="dash"/>
              <a:miter lim="800000"/>
              <a:headEnd/>
              <a:tailEnd/>
            </a:ln>
            <a:effectLst/>
          </p:spPr>
          <p:txBody>
            <a:bodyPr wrap="none" anchor="ctr"/>
            <a:lstStyle/>
            <a:p>
              <a:pPr algn="ctr"/>
              <a:r>
                <a:rPr lang="zh-CN" altLang="en-US" sz="3200">
                  <a:solidFill>
                    <a:schemeClr val="bg1"/>
                  </a:solidFill>
                  <a:latin typeface="Times New Roman" pitchFamily="18" charset="0"/>
                </a:rPr>
                <a:t>1</a:t>
              </a:r>
            </a:p>
          </p:txBody>
        </p:sp>
      </p:grpSp>
      <p:sp>
        <p:nvSpPr>
          <p:cNvPr id="4102" name="Text Box 6"/>
          <p:cNvSpPr txBox="1">
            <a:spLocks noChangeArrowheads="1"/>
          </p:cNvSpPr>
          <p:nvPr/>
        </p:nvSpPr>
        <p:spPr bwMode="auto">
          <a:xfrm>
            <a:off x="3955944" y="2381980"/>
            <a:ext cx="2951959" cy="400110"/>
          </a:xfrm>
          <a:prstGeom prst="rect">
            <a:avLst/>
          </a:prstGeom>
          <a:noFill/>
          <a:ln w="9525">
            <a:noFill/>
            <a:miter lim="800000"/>
            <a:headEnd/>
            <a:tailEnd/>
          </a:ln>
        </p:spPr>
        <p:txBody>
          <a:bodyPr wrap="square">
            <a:spAutoFit/>
          </a:bodyPr>
          <a:lstStyle/>
          <a:p>
            <a:r>
              <a:rPr lang="en-US" altLang="zh-CN" sz="2000" dirty="0" smtClean="0">
                <a:solidFill>
                  <a:schemeClr val="bg1"/>
                </a:solidFill>
                <a:latin typeface="Times New Roman" pitchFamily="18" charset="0"/>
              </a:rPr>
              <a:t>Elasticsearch</a:t>
            </a:r>
            <a:r>
              <a:rPr lang="zh-CN" altLang="en-US" sz="2000" dirty="0">
                <a:solidFill>
                  <a:schemeClr val="bg1"/>
                </a:solidFill>
                <a:latin typeface="Times New Roman" pitchFamily="18" charset="0"/>
              </a:rPr>
              <a:t>简介</a:t>
            </a:r>
          </a:p>
        </p:txBody>
      </p:sp>
      <p:sp>
        <p:nvSpPr>
          <p:cNvPr id="4103" name="Rectangle 7"/>
          <p:cNvSpPr>
            <a:spLocks noChangeArrowheads="1"/>
          </p:cNvSpPr>
          <p:nvPr/>
        </p:nvSpPr>
        <p:spPr bwMode="auto">
          <a:xfrm>
            <a:off x="2815301" y="3509038"/>
            <a:ext cx="4180490" cy="431800"/>
          </a:xfrm>
          <a:prstGeom prst="rect">
            <a:avLst/>
          </a:prstGeom>
          <a:noFill/>
          <a:ln w="9525" cmpd="sng">
            <a:solidFill>
              <a:schemeClr val="bg1"/>
            </a:solidFill>
            <a:miter lim="800000"/>
            <a:headEnd/>
            <a:tailEnd/>
          </a:ln>
          <a:effectLst/>
        </p:spPr>
        <p:txBody>
          <a:bodyPr anchor="ctr"/>
          <a:lstStyle/>
          <a:p>
            <a:endParaRPr lang="zh-CN" altLang="en-US"/>
          </a:p>
        </p:txBody>
      </p:sp>
      <p:grpSp>
        <p:nvGrpSpPr>
          <p:cNvPr id="4104" name="Group 8"/>
          <p:cNvGrpSpPr>
            <a:grpSpLocks/>
          </p:cNvGrpSpPr>
          <p:nvPr/>
        </p:nvGrpSpPr>
        <p:grpSpPr bwMode="auto">
          <a:xfrm>
            <a:off x="3029614" y="3494750"/>
            <a:ext cx="935037" cy="790575"/>
            <a:chOff x="0" y="0"/>
            <a:chExt cx="1474" cy="1244"/>
          </a:xfrm>
        </p:grpSpPr>
        <p:sp>
          <p:nvSpPr>
            <p:cNvPr id="4105" name="AutoShape 9"/>
            <p:cNvSpPr>
              <a:spLocks noChangeArrowheads="1"/>
            </p:cNvSpPr>
            <p:nvPr/>
          </p:nvSpPr>
          <p:spPr bwMode="auto">
            <a:xfrm>
              <a:off x="0" y="0"/>
              <a:ext cx="1475" cy="1245"/>
            </a:xfrm>
            <a:prstGeom prst="flowChartProcess">
              <a:avLst/>
            </a:prstGeom>
            <a:solidFill>
              <a:srgbClr val="FF0000"/>
            </a:solidFill>
            <a:ln w="9525">
              <a:noFill/>
              <a:miter lim="800000"/>
              <a:headEnd/>
              <a:tailEnd/>
            </a:ln>
            <a:effectLst/>
          </p:spPr>
          <p:txBody>
            <a:bodyPr anchor="ctr"/>
            <a:lstStyle/>
            <a:p>
              <a:endParaRPr lang="zh-CN" altLang="en-US"/>
            </a:p>
          </p:txBody>
        </p:sp>
        <p:sp>
          <p:nvSpPr>
            <p:cNvPr id="4106" name="AutoShape 10"/>
            <p:cNvSpPr>
              <a:spLocks noChangeArrowheads="1"/>
            </p:cNvSpPr>
            <p:nvPr/>
          </p:nvSpPr>
          <p:spPr bwMode="auto">
            <a:xfrm>
              <a:off x="129" y="116"/>
              <a:ext cx="1202" cy="982"/>
            </a:xfrm>
            <a:prstGeom prst="flowChartProcess">
              <a:avLst/>
            </a:prstGeom>
            <a:noFill/>
            <a:ln w="9525" cmpd="sng">
              <a:solidFill>
                <a:srgbClr val="1C1C1C"/>
              </a:solidFill>
              <a:prstDash val="dash"/>
              <a:miter lim="800000"/>
              <a:headEnd/>
              <a:tailEnd/>
            </a:ln>
            <a:effectLst/>
          </p:spPr>
          <p:txBody>
            <a:bodyPr wrap="none" anchor="ctr"/>
            <a:lstStyle/>
            <a:p>
              <a:pPr algn="ctr"/>
              <a:r>
                <a:rPr lang="zh-CN" altLang="en-US" sz="3200">
                  <a:solidFill>
                    <a:schemeClr val="bg1"/>
                  </a:solidFill>
                  <a:latin typeface="Times New Roman" pitchFamily="18" charset="0"/>
                </a:rPr>
                <a:t>2</a:t>
              </a:r>
            </a:p>
          </p:txBody>
        </p:sp>
      </p:grpSp>
      <p:sp>
        <p:nvSpPr>
          <p:cNvPr id="4107" name="Text Box 11"/>
          <p:cNvSpPr txBox="1">
            <a:spLocks noChangeArrowheads="1"/>
          </p:cNvSpPr>
          <p:nvPr/>
        </p:nvSpPr>
        <p:spPr bwMode="auto">
          <a:xfrm>
            <a:off x="3942802" y="3524883"/>
            <a:ext cx="3490683" cy="400110"/>
          </a:xfrm>
          <a:prstGeom prst="rect">
            <a:avLst/>
          </a:prstGeom>
          <a:noFill/>
          <a:ln w="9525">
            <a:noFill/>
            <a:miter lim="800000"/>
            <a:headEnd/>
            <a:tailEnd/>
          </a:ln>
          <a:effectLst/>
        </p:spPr>
        <p:txBody>
          <a:bodyPr wrap="square">
            <a:spAutoFit/>
          </a:bodyPr>
          <a:lstStyle/>
          <a:p>
            <a:r>
              <a:rPr lang="en-US" altLang="zh-CN" sz="2000" dirty="0" smtClean="0">
                <a:solidFill>
                  <a:schemeClr val="bg1"/>
                </a:solidFill>
                <a:latin typeface="Times New Roman" pitchFamily="18" charset="0"/>
              </a:rPr>
              <a:t>Elasticsearch</a:t>
            </a:r>
            <a:r>
              <a:rPr lang="zh-CN" altLang="en-US" sz="2000" dirty="0">
                <a:solidFill>
                  <a:schemeClr val="bg1"/>
                </a:solidFill>
                <a:latin typeface="Times New Roman" pitchFamily="18" charset="0"/>
              </a:rPr>
              <a:t>原理</a:t>
            </a:r>
            <a:r>
              <a:rPr lang="zh-CN" altLang="en-US" sz="2000" dirty="0" smtClean="0">
                <a:solidFill>
                  <a:schemeClr val="bg1"/>
                </a:solidFill>
                <a:latin typeface="Times New Roman" pitchFamily="18" charset="0"/>
              </a:rPr>
              <a:t>机制</a:t>
            </a:r>
            <a:endParaRPr lang="zh-CN" altLang="en-US" sz="2000" dirty="0">
              <a:solidFill>
                <a:schemeClr val="bg1"/>
              </a:solidFill>
              <a:latin typeface="Times New Roman" pitchFamily="18" charset="0"/>
            </a:endParaRPr>
          </a:p>
        </p:txBody>
      </p:sp>
      <p:sp>
        <p:nvSpPr>
          <p:cNvPr id="4108" name="Rectangle 12"/>
          <p:cNvSpPr>
            <a:spLocks noChangeArrowheads="1"/>
          </p:cNvSpPr>
          <p:nvPr/>
        </p:nvSpPr>
        <p:spPr bwMode="auto">
          <a:xfrm>
            <a:off x="2815300" y="4701710"/>
            <a:ext cx="4180490" cy="431800"/>
          </a:xfrm>
          <a:prstGeom prst="rect">
            <a:avLst/>
          </a:prstGeom>
          <a:noFill/>
          <a:ln w="9525" cmpd="sng">
            <a:solidFill>
              <a:schemeClr val="bg1"/>
            </a:solidFill>
            <a:miter lim="800000"/>
            <a:headEnd/>
            <a:tailEnd/>
          </a:ln>
          <a:effectLst/>
        </p:spPr>
        <p:txBody>
          <a:bodyPr anchor="ctr"/>
          <a:lstStyle/>
          <a:p>
            <a:endParaRPr lang="zh-CN" altLang="en-US"/>
          </a:p>
        </p:txBody>
      </p:sp>
      <p:grpSp>
        <p:nvGrpSpPr>
          <p:cNvPr id="4109" name="Group 13"/>
          <p:cNvGrpSpPr>
            <a:grpSpLocks/>
          </p:cNvGrpSpPr>
          <p:nvPr/>
        </p:nvGrpSpPr>
        <p:grpSpPr bwMode="auto">
          <a:xfrm>
            <a:off x="3029613" y="4687423"/>
            <a:ext cx="935037" cy="790575"/>
            <a:chOff x="0" y="0"/>
            <a:chExt cx="1474" cy="1244"/>
          </a:xfrm>
        </p:grpSpPr>
        <p:sp>
          <p:nvSpPr>
            <p:cNvPr id="4110" name="AutoShape 14"/>
            <p:cNvSpPr>
              <a:spLocks noChangeArrowheads="1"/>
            </p:cNvSpPr>
            <p:nvPr/>
          </p:nvSpPr>
          <p:spPr bwMode="auto">
            <a:xfrm>
              <a:off x="0" y="0"/>
              <a:ext cx="1475" cy="1245"/>
            </a:xfrm>
            <a:prstGeom prst="flowChartProcess">
              <a:avLst/>
            </a:prstGeom>
            <a:solidFill>
              <a:srgbClr val="FF0000"/>
            </a:solidFill>
            <a:ln w="9525">
              <a:noFill/>
              <a:miter lim="800000"/>
              <a:headEnd/>
              <a:tailEnd/>
            </a:ln>
            <a:effectLst/>
          </p:spPr>
          <p:txBody>
            <a:bodyPr anchor="ctr"/>
            <a:lstStyle/>
            <a:p>
              <a:endParaRPr lang="zh-CN" altLang="en-US"/>
            </a:p>
          </p:txBody>
        </p:sp>
        <p:sp>
          <p:nvSpPr>
            <p:cNvPr id="4111" name="AutoShape 15"/>
            <p:cNvSpPr>
              <a:spLocks noChangeArrowheads="1"/>
            </p:cNvSpPr>
            <p:nvPr/>
          </p:nvSpPr>
          <p:spPr bwMode="auto">
            <a:xfrm>
              <a:off x="129" y="116"/>
              <a:ext cx="1202" cy="982"/>
            </a:xfrm>
            <a:prstGeom prst="flowChartProcess">
              <a:avLst/>
            </a:prstGeom>
            <a:noFill/>
            <a:ln w="9525" cmpd="sng">
              <a:solidFill>
                <a:srgbClr val="1C1C1C"/>
              </a:solidFill>
              <a:prstDash val="dash"/>
              <a:miter lim="800000"/>
              <a:headEnd/>
              <a:tailEnd/>
            </a:ln>
            <a:effectLst/>
          </p:spPr>
          <p:txBody>
            <a:bodyPr wrap="none" anchor="ctr"/>
            <a:lstStyle/>
            <a:p>
              <a:pPr algn="ctr"/>
              <a:r>
                <a:rPr lang="zh-CN" altLang="en-US" sz="3200" dirty="0">
                  <a:solidFill>
                    <a:schemeClr val="bg1"/>
                  </a:solidFill>
                  <a:latin typeface="Times New Roman" pitchFamily="18" charset="0"/>
                </a:rPr>
                <a:t>3</a:t>
              </a:r>
            </a:p>
          </p:txBody>
        </p:sp>
      </p:grpSp>
      <p:sp>
        <p:nvSpPr>
          <p:cNvPr id="4112" name="Text Box 16"/>
          <p:cNvSpPr txBox="1">
            <a:spLocks noChangeArrowheads="1"/>
          </p:cNvSpPr>
          <p:nvPr/>
        </p:nvSpPr>
        <p:spPr bwMode="auto">
          <a:xfrm>
            <a:off x="3942802" y="4761142"/>
            <a:ext cx="3960142" cy="707886"/>
          </a:xfrm>
          <a:prstGeom prst="rect">
            <a:avLst/>
          </a:prstGeom>
          <a:noFill/>
          <a:ln w="9525">
            <a:noFill/>
            <a:miter lim="800000"/>
            <a:headEnd/>
            <a:tailEnd/>
          </a:ln>
          <a:effectLst/>
        </p:spPr>
        <p:txBody>
          <a:bodyPr wrap="square">
            <a:spAutoFit/>
          </a:bodyPr>
          <a:lstStyle/>
          <a:p>
            <a:r>
              <a:rPr lang="en-US" altLang="zh-CN" sz="2000" dirty="0" smtClean="0">
                <a:solidFill>
                  <a:schemeClr val="bg1"/>
                </a:solidFill>
                <a:latin typeface="Times New Roman" pitchFamily="18" charset="0"/>
              </a:rPr>
              <a:t>Elasticsearch</a:t>
            </a:r>
            <a:r>
              <a:rPr lang="zh-CN" altLang="en-US" sz="2000" dirty="0" smtClean="0">
                <a:solidFill>
                  <a:schemeClr val="bg1"/>
                </a:solidFill>
                <a:latin typeface="Times New Roman" pitchFamily="18" charset="0"/>
              </a:rPr>
              <a:t>日常使用</a:t>
            </a:r>
            <a:endParaRPr lang="zh-CN" altLang="en-US" sz="2000" dirty="0">
              <a:solidFill>
                <a:schemeClr val="bg1"/>
              </a:solidFill>
              <a:latin typeface="Times New Roman" pitchFamily="18" charset="0"/>
            </a:endParaRPr>
          </a:p>
          <a:p>
            <a:endParaRPr lang="zh-CN" altLang="en-US" sz="2000" dirty="0">
              <a:solidFill>
                <a:schemeClr val="bg1"/>
              </a:solidFill>
              <a:latin typeface="Times New Roman" pitchFamily="18" charset="0"/>
            </a:endParaRPr>
          </a:p>
        </p:txBody>
      </p:sp>
      <p:sp>
        <p:nvSpPr>
          <p:cNvPr id="4113" name="Text Box 17"/>
          <p:cNvSpPr txBox="1">
            <a:spLocks noChangeArrowheads="1"/>
          </p:cNvSpPr>
          <p:nvPr/>
        </p:nvSpPr>
        <p:spPr bwMode="auto">
          <a:xfrm>
            <a:off x="3854450" y="765175"/>
            <a:ext cx="2016125" cy="517525"/>
          </a:xfrm>
          <a:prstGeom prst="rect">
            <a:avLst/>
          </a:prstGeom>
          <a:noFill/>
          <a:ln w="9525">
            <a:noFill/>
            <a:miter lim="800000"/>
            <a:headEnd/>
            <a:tailEnd/>
          </a:ln>
        </p:spPr>
        <p:txBody>
          <a:bodyPr>
            <a:spAutoFit/>
          </a:bodyPr>
          <a:lstStyle/>
          <a:p>
            <a:r>
              <a:rPr lang="zh-CN" altLang="en-US" sz="2800" b="1">
                <a:solidFill>
                  <a:schemeClr val="bg1"/>
                </a:solidFill>
                <a:latin typeface="Times New Roman" pitchFamily="18" charset="0"/>
              </a:rPr>
              <a:t>CONTENT</a:t>
            </a:r>
          </a:p>
        </p:txBody>
      </p:sp>
      <p:pic>
        <p:nvPicPr>
          <p:cNvPr id="25"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1260475" y="618013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396875" y="1047631"/>
            <a:ext cx="3631138" cy="800219"/>
          </a:xfrm>
          <a:prstGeom prst="rect">
            <a:avLst/>
          </a:prstGeom>
          <a:noFill/>
          <a:ln w="9525">
            <a:noFill/>
            <a:miter lim="800000"/>
            <a:headEnd/>
            <a:tailEnd/>
          </a:ln>
          <a:effectLst/>
        </p:spPr>
        <p:txBody>
          <a:bodyPr wrap="square">
            <a:spAutoFit/>
          </a:bodyPr>
          <a:lstStyle/>
          <a:p>
            <a:pPr algn="ctr"/>
            <a:r>
              <a:rPr lang="en-US" altLang="zh-CN" sz="2800" dirty="0">
                <a:solidFill>
                  <a:schemeClr val="bg1"/>
                </a:solidFill>
                <a:latin typeface="Times New Roman" pitchFamily="18" charset="0"/>
              </a:rPr>
              <a:t>Elasticsearch</a:t>
            </a:r>
            <a:r>
              <a:rPr lang="zh-CN" altLang="en-US" sz="2800" dirty="0">
                <a:solidFill>
                  <a:schemeClr val="bg1"/>
                </a:solidFill>
                <a:latin typeface="Times New Roman" pitchFamily="18" charset="0"/>
              </a:rPr>
              <a:t>简介</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5129" name="曲线 329"/>
          <p:cNvSpPr>
            <a:spLocks/>
          </p:cNvSpPr>
          <p:nvPr/>
        </p:nvSpPr>
        <p:spPr bwMode="auto">
          <a:xfrm>
            <a:off x="1150938" y="2108200"/>
            <a:ext cx="7034212" cy="655638"/>
          </a:xfrm>
          <a:custGeom>
            <a:avLst/>
            <a:gdLst/>
            <a:ahLst/>
            <a:cxnLst>
              <a:cxn ang="0">
                <a:pos x="0" y="0"/>
              </a:cxn>
              <a:cxn ang="0">
                <a:pos x="2650" y="20762"/>
              </a:cxn>
              <a:cxn ang="0">
                <a:pos x="8775" y="4227"/>
              </a:cxn>
              <a:cxn ang="0">
                <a:pos x="13146" y="18083"/>
              </a:cxn>
              <a:cxn ang="0">
                <a:pos x="18232" y="5379"/>
              </a:cxn>
              <a:cxn ang="0">
                <a:pos x="21600" y="10004"/>
              </a:cxn>
            </a:cxnLst>
            <a:rect l="0" t="0" r="r" b="b"/>
            <a:pathLst>
              <a:path w="21600" h="21600">
                <a:moveTo>
                  <a:pt x="0" y="0"/>
                </a:moveTo>
                <a:cubicBezTo>
                  <a:pt x="407" y="4479"/>
                  <a:pt x="895" y="19925"/>
                  <a:pt x="2650" y="20762"/>
                </a:cubicBezTo>
                <a:cubicBezTo>
                  <a:pt x="4405" y="21600"/>
                  <a:pt x="6677" y="4772"/>
                  <a:pt x="8775" y="4227"/>
                </a:cubicBezTo>
                <a:cubicBezTo>
                  <a:pt x="10874" y="3683"/>
                  <a:pt x="11254" y="17853"/>
                  <a:pt x="13146" y="18083"/>
                </a:cubicBezTo>
                <a:cubicBezTo>
                  <a:pt x="15037" y="18313"/>
                  <a:pt x="16541" y="6990"/>
                  <a:pt x="18232" y="5379"/>
                </a:cubicBezTo>
                <a:cubicBezTo>
                  <a:pt x="19922" y="3767"/>
                  <a:pt x="21028" y="8832"/>
                  <a:pt x="21600" y="10004"/>
                </a:cubicBezTo>
              </a:path>
            </a:pathLst>
          </a:custGeom>
          <a:noFill/>
          <a:ln w="9525" cap="flat" cmpd="sng">
            <a:solidFill>
              <a:schemeClr val="bg2"/>
            </a:solidFill>
            <a:bevel/>
            <a:headEnd/>
            <a:tailEnd/>
          </a:ln>
          <a:effectLst/>
        </p:spPr>
        <p:txBody>
          <a:bodyPr/>
          <a:lstStyle/>
          <a:p>
            <a:endParaRPr lang="zh-CN" altLang="en-US"/>
          </a:p>
        </p:txBody>
      </p:sp>
      <p:sp>
        <p:nvSpPr>
          <p:cNvPr id="5142" name="AutoShape 22"/>
          <p:cNvSpPr>
            <a:spLocks/>
          </p:cNvSpPr>
          <p:nvPr/>
        </p:nvSpPr>
        <p:spPr bwMode="auto">
          <a:xfrm>
            <a:off x="4645025" y="2397125"/>
            <a:ext cx="142875" cy="144463"/>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sp>
        <p:nvSpPr>
          <p:cNvPr id="5143" name="AutoShape 23"/>
          <p:cNvSpPr>
            <a:spLocks/>
          </p:cNvSpPr>
          <p:nvPr/>
        </p:nvSpPr>
        <p:spPr bwMode="auto">
          <a:xfrm>
            <a:off x="7410450" y="2239963"/>
            <a:ext cx="144463" cy="144462"/>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sp>
        <p:nvSpPr>
          <p:cNvPr id="5144" name="AutoShape 24"/>
          <p:cNvSpPr>
            <a:spLocks/>
          </p:cNvSpPr>
          <p:nvPr/>
        </p:nvSpPr>
        <p:spPr bwMode="auto">
          <a:xfrm>
            <a:off x="1765300" y="2682875"/>
            <a:ext cx="144463" cy="142875"/>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sp>
        <p:nvSpPr>
          <p:cNvPr id="2" name="Rectangle 1"/>
          <p:cNvSpPr/>
          <p:nvPr/>
        </p:nvSpPr>
        <p:spPr>
          <a:xfrm>
            <a:off x="1294998" y="3500999"/>
            <a:ext cx="6890151" cy="923330"/>
          </a:xfrm>
          <a:prstGeom prst="rect">
            <a:avLst/>
          </a:prstGeom>
        </p:spPr>
        <p:txBody>
          <a:bodyPr wrap="square">
            <a:spAutoFit/>
          </a:bodyPr>
          <a:lstStyle/>
          <a:p>
            <a:pPr marL="285750" indent="-285750">
              <a:buFont typeface="Wingdings" pitchFamily="2" charset="2"/>
              <a:buChar char="n"/>
            </a:pPr>
            <a:r>
              <a:rPr lang="zh-CN" altLang="en-US" dirty="0" smtClean="0">
                <a:solidFill>
                  <a:schemeClr val="bg1"/>
                </a:solidFill>
              </a:rPr>
              <a:t>一个基于</a:t>
            </a:r>
            <a:r>
              <a:rPr lang="en-US" altLang="zh-CN" dirty="0" smtClean="0">
                <a:solidFill>
                  <a:schemeClr val="bg1"/>
                </a:solidFill>
              </a:rPr>
              <a:t>Lucene</a:t>
            </a:r>
            <a:r>
              <a:rPr lang="zh-CN" altLang="en-US" dirty="0" smtClean="0">
                <a:solidFill>
                  <a:schemeClr val="bg1"/>
                </a:solidFill>
              </a:rPr>
              <a:t>构建的开源、分布式、</a:t>
            </a:r>
            <a:r>
              <a:rPr lang="en-US" altLang="zh-CN" dirty="0" smtClean="0">
                <a:solidFill>
                  <a:schemeClr val="bg1"/>
                </a:solidFill>
              </a:rPr>
              <a:t>RESTful</a:t>
            </a:r>
            <a:r>
              <a:rPr lang="zh-CN" altLang="en-US" dirty="0" smtClean="0">
                <a:solidFill>
                  <a:schemeClr val="bg1"/>
                </a:solidFill>
              </a:rPr>
              <a:t>接口全文搜索引擎</a:t>
            </a:r>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一个分布式文档数据库</a:t>
            </a:r>
            <a:endParaRPr lang="en-US" altLang="zh-CN" dirty="0" smtClean="0">
              <a:solidFill>
                <a:schemeClr val="bg1"/>
              </a:solidFill>
            </a:endParaRPr>
          </a:p>
        </p:txBody>
      </p:sp>
      <p:pic>
        <p:nvPicPr>
          <p:cNvPr id="12"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3" name="AutoShape 2" descr="https://timgsa.baidu.com/timg?image&amp;quality=80&amp;size=b9999_10000&amp;sec=1508688421982&amp;di=f2d29a5d887f429a7004d91cd34a2e98&amp;imgtype=0&amp;src=http%3A%2F%2Fwww.fsvi.cn%2Fuploadfile%2F2010%2F0515%2Fwikipedia-logo.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4" descr="https://timgsa.baidu.com/timg?image&amp;quality=80&amp;size=b9999_10000&amp;sec=1508688421982&amp;di=f2d29a5d887f429a7004d91cd34a2e98&amp;imgtype=0&amp;src=http%3A%2F%2Fwww.fsvi.cn%2Fuploadfile%2F2010%2F0515%2Fwikipedia-logo.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9818446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1260475" y="618013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396875" y="1047631"/>
            <a:ext cx="3631138" cy="800219"/>
          </a:xfrm>
          <a:prstGeom prst="rect">
            <a:avLst/>
          </a:prstGeom>
          <a:noFill/>
          <a:ln w="9525">
            <a:noFill/>
            <a:miter lim="800000"/>
            <a:headEnd/>
            <a:tailEnd/>
          </a:ln>
          <a:effectLst/>
        </p:spPr>
        <p:txBody>
          <a:bodyPr wrap="square">
            <a:spAutoFit/>
          </a:bodyPr>
          <a:lstStyle/>
          <a:p>
            <a:pPr algn="ctr"/>
            <a:r>
              <a:rPr lang="en-US" altLang="zh-CN" sz="2800" dirty="0">
                <a:solidFill>
                  <a:schemeClr val="bg1"/>
                </a:solidFill>
                <a:latin typeface="Times New Roman" pitchFamily="18" charset="0"/>
              </a:rPr>
              <a:t>Elasticsearch</a:t>
            </a:r>
            <a:r>
              <a:rPr lang="zh-CN" altLang="en-US" sz="2800" dirty="0">
                <a:solidFill>
                  <a:schemeClr val="bg1"/>
                </a:solidFill>
                <a:latin typeface="Times New Roman" pitchFamily="18" charset="0"/>
              </a:rPr>
              <a:t>简介</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5129" name="曲线 329"/>
          <p:cNvSpPr>
            <a:spLocks/>
          </p:cNvSpPr>
          <p:nvPr/>
        </p:nvSpPr>
        <p:spPr bwMode="auto">
          <a:xfrm>
            <a:off x="1150938" y="2108200"/>
            <a:ext cx="7034212" cy="655638"/>
          </a:xfrm>
          <a:custGeom>
            <a:avLst/>
            <a:gdLst/>
            <a:ahLst/>
            <a:cxnLst>
              <a:cxn ang="0">
                <a:pos x="0" y="0"/>
              </a:cxn>
              <a:cxn ang="0">
                <a:pos x="2650" y="20762"/>
              </a:cxn>
              <a:cxn ang="0">
                <a:pos x="8775" y="4227"/>
              </a:cxn>
              <a:cxn ang="0">
                <a:pos x="13146" y="18083"/>
              </a:cxn>
              <a:cxn ang="0">
                <a:pos x="18232" y="5379"/>
              </a:cxn>
              <a:cxn ang="0">
                <a:pos x="21600" y="10004"/>
              </a:cxn>
            </a:cxnLst>
            <a:rect l="0" t="0" r="r" b="b"/>
            <a:pathLst>
              <a:path w="21600" h="21600">
                <a:moveTo>
                  <a:pt x="0" y="0"/>
                </a:moveTo>
                <a:cubicBezTo>
                  <a:pt x="407" y="4479"/>
                  <a:pt x="895" y="19925"/>
                  <a:pt x="2650" y="20762"/>
                </a:cubicBezTo>
                <a:cubicBezTo>
                  <a:pt x="4405" y="21600"/>
                  <a:pt x="6677" y="4772"/>
                  <a:pt x="8775" y="4227"/>
                </a:cubicBezTo>
                <a:cubicBezTo>
                  <a:pt x="10874" y="3683"/>
                  <a:pt x="11254" y="17853"/>
                  <a:pt x="13146" y="18083"/>
                </a:cubicBezTo>
                <a:cubicBezTo>
                  <a:pt x="15037" y="18313"/>
                  <a:pt x="16541" y="6990"/>
                  <a:pt x="18232" y="5379"/>
                </a:cubicBezTo>
                <a:cubicBezTo>
                  <a:pt x="19922" y="3767"/>
                  <a:pt x="21028" y="8832"/>
                  <a:pt x="21600" y="10004"/>
                </a:cubicBezTo>
              </a:path>
            </a:pathLst>
          </a:custGeom>
          <a:noFill/>
          <a:ln w="9525" cap="flat" cmpd="sng">
            <a:solidFill>
              <a:schemeClr val="bg2"/>
            </a:solidFill>
            <a:bevel/>
            <a:headEnd/>
            <a:tailEnd/>
          </a:ln>
          <a:effectLst/>
        </p:spPr>
        <p:txBody>
          <a:bodyPr/>
          <a:lstStyle/>
          <a:p>
            <a:endParaRPr lang="zh-CN" altLang="en-US"/>
          </a:p>
        </p:txBody>
      </p:sp>
      <p:sp>
        <p:nvSpPr>
          <p:cNvPr id="5142" name="AutoShape 22"/>
          <p:cNvSpPr>
            <a:spLocks/>
          </p:cNvSpPr>
          <p:nvPr/>
        </p:nvSpPr>
        <p:spPr bwMode="auto">
          <a:xfrm>
            <a:off x="4645025" y="2397125"/>
            <a:ext cx="142875" cy="144463"/>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sp>
        <p:nvSpPr>
          <p:cNvPr id="5143" name="AutoShape 23"/>
          <p:cNvSpPr>
            <a:spLocks/>
          </p:cNvSpPr>
          <p:nvPr/>
        </p:nvSpPr>
        <p:spPr bwMode="auto">
          <a:xfrm>
            <a:off x="7410450" y="2239963"/>
            <a:ext cx="144463" cy="144462"/>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sp>
        <p:nvSpPr>
          <p:cNvPr id="5144" name="AutoShape 24"/>
          <p:cNvSpPr>
            <a:spLocks/>
          </p:cNvSpPr>
          <p:nvPr/>
        </p:nvSpPr>
        <p:spPr bwMode="auto">
          <a:xfrm>
            <a:off x="1765300" y="2682875"/>
            <a:ext cx="144463" cy="142875"/>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pic>
        <p:nvPicPr>
          <p:cNvPr id="12"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pic>
        <p:nvPicPr>
          <p:cNvPr id="4096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41639" y="3674444"/>
            <a:ext cx="825606" cy="8510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64" name="Picture 4" descr="https://gss1.bdstatic.com/-vo3dSag_xI4khGkpoWK1HF6hhy/baike/w%3D268%3Bg%3D0/sign=3c4e049cc1cec3fd8b3ea073eeb3b302/6159252dd42a2834b1c7cf5b59b5c9ea15cebf79.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313304" y="3185269"/>
            <a:ext cx="971550" cy="971550"/>
          </a:xfrm>
          <a:prstGeom prst="rect">
            <a:avLst/>
          </a:prstGeom>
          <a:noFill/>
          <a:extLst>
            <a:ext uri="{909E8E84-426E-40DD-AFC4-6F175D3DCCD1}">
              <a14:hiddenFill xmlns:a14="http://schemas.microsoft.com/office/drawing/2010/main">
                <a:solidFill>
                  <a:srgbClr val="FFFFFF"/>
                </a:solidFill>
              </a14:hiddenFill>
            </a:ext>
          </a:extLst>
        </p:spPr>
      </p:pic>
      <p:sp>
        <p:nvSpPr>
          <p:cNvPr id="3" name="AutoShape 6" descr="data:image/jpeg;base64,/9j/4AAQSkZJRgABAQAAAQABAAD/2wBDAAgGBgcGBQgHBwcJCQgKDBQNDAsLDBkSEw8UHRofHh0aHBwgJC4nICIsIxwcKDcpLDAxNDQ0Hyc5PTgyPC4zNDL/2wBDAQkJCQwLDBgNDRgyIRwhMjIyMjIyMjIyMjIyMjIyMjIyMjIyMjIyMjIyMjIyMjIyMjIyMjIyMjIyMjIyMjIyMjL/wAARCADm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zRmgAooooAKKM0ZoAKKKKACijNGaACijNFABRRRmgAoozRQAUUUZoAKKM0ZoAKKKKACijNGaACiiigAoozRmgAoozRQAUUUZoAKKM0UAFFFGaACijNGaACiiigAoozRmgAooooAKKM0ZoAKKKKACiijNABRRmigAooooAKKKKACiiigAooooAKKKKAEyKSvGPHPifXdP8Y39raapcQW8fl7Y0IwMxqT29Sa57/hNPE3/AEG7v8x/hXRDCTlFSRi6yTsfRNFfO3/Ca+Jv+g3d/mP8KP8AhNfE3/Qbu/zH+FafUqgv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M0tfO3/CaeJf8AoN3f5j/Cum8AeJdb1Pxbb2t7qc88DRyExuRgkLx2rOeEnCLkxxrJux7IKKQDApa5zYKKKKACiiigAooooA8B+I3/ACPmpf8AbL/0UlcrXVfEb/kfNS/7Zf8AopK5Wvaw/wDDRwT+JhRRRWxAUUUUAFFFFABRRRQAUUUUAFFFFABRRRQAUUUUAFFFFABRRRQAUUUUAFFFFABRRRQAUUUUAFFFFABRRRQAUUUUAFFFFABRRRQAUUUUAFFFFABRRRQAUUUUAFFFFABRRRQAUUUUAFdh8MP+R5tf+uUv/oNcfXYfDD/kebX/AK5S/wDoNYYn+EzSn8SPeBRQKK8Y7gooooAKKKKACiiigDwH4jf8j7qX/bL/ANFJXK11XxG/5H3Uv+2X/opK5Wvbofw16HBP4mFFFFakBRRRQAVseHfDd/4lvzbWYVVQZlmf7sY/x9qx692+G2mJY+DrWUIBJdZmc+ueB+lc+JqunC63NKUOaWpn2Pwm0WGIfa57q5k7kMEX8AP8avf8Kv8ADH/PrP8A+BDf412RIHWsW58W+H7Od4LjVrVJUOGUvyDXme1qye7Ovkgjx3x9oVj4e16Kz09GSFrcSEM5Y7ixHU/SuVrsPiTqljq/iSG40+5juIRaqheM5AO5uK4+vWoX9mrnHP4nYKKKK1ICiiigAooooAKKKKACiiigAooooAKKKKALulaVea1qCWNjGJLhwWClgowOvJrsLT4S65Ng3F1Z247jJc/oP61R+GP/ACPFt/1wk/kK94xXn4nEThPlidFKnGSuzwPxh4MHhO2snN8bmS4cqw8vaFwM8cnNcpXq/wAY/wDj10n/AK6v/wCg15RXThpudPmkZ1UlKyCiiitzMKKKKACiiigAooooAKKKKACiiigAoooouB02jeAtc1yyivbaOBLWXlHllAyM46DJrpbX4P3R5vNVhQdxDEW/niuz+Hf/ACIul/7h/wDQjXUN0P0ryqmKqczSZ1xpRtc+XrqEW95cQA5EUrxg+u0kZ/Soqtal/wAha+/6+Zf/AEM1Vr1I6o5XuFFFFMQUUUUAFFFFABXYfDD/AJHm1/65S/8AoNcfXYfDD/kebX/rlL/6DWGJ/hM0p/Ej3iiiivGO4KKKKACiiigAooooA8B+I3/I+6l/2y/9FJXK11XxG/5H3Uv+2X/opK5Wvbofw16HBP4mFFFFakBRRRQAh6GvorwZ/wAibpI/6d1rmPAfhfQ9T8IWd1e6XbTzuX3SOmSfmNd9a2sNnbR21vEscMa7URRgKPSvKxdZT91LY66MHHUfKSImI64NfLrnc7s3JLEk+pzX1Iyhhg9PSsH/AIQjwyTn+xbP/v2KjD1lSvdFVIOWzPniiu08aaXYW3ju00ywtIoISsStHGuASzHP6V6l/wAIR4Z/6Aln/wB+xXbLFRgk7bnPGk22fPNFfQ58EeGSMf2LZ/8AfsVUuPh14XuFI/stIif4omKkfkan69DsV7CXc8Dor0HxV8MpNKtJL/SZpLi3jG6SCQZdV7kEdcelefDmumnVjUV4mUouO4UdOtdL4T8GXviiZpFf7PYxth5yMkn+6o7n+Ver6b8PfDenIv8AxL1uZAOZLk7yfwPH6VlUxUKbtuXGlKWp4DvT++v504EHoQfpX0oPD+jqu0aZaAe0K/4VTuvBnhy8XEuj2nPdIwp/MVj9ej2L9g+5870V1nxB0Cw8Pa3Bb6fG0cUkO8qzFuc44zUXhLwZd+KZmk3m3sI2xJPjJY/3VH9e1dSrR5Od7GXI72OY6DJ4FN3p/fX86+gNN+H3hzTUXGnR3EgHMlx+8Y/n0/CtUeH9G24/suzx6eSv+FczxseiNfYPufNmQenNFe/6j4B8N6ih3abFC56SQfu2H5V5V4v8EXXheRZ0kNzp8jbVlxhkP91v8a1pYqE3bZkSpSiS/DL/AJHq2/64yfyFe8V4P8Mf+R4tv+uEn8hXvFcWM/iG1D4Ty/4x/wDHrpP/AF1f/wBBrycuo6sB9TX0jrHh3TNeNudSthOIGLIpY4yeOQOtLD4Z0S3ULFpNmgHpCtVRxSpw5bBOk5SufNoYE4BB+lLX0Zc+E9AvIys2k2bA+kQB/MV5p43+Hsej2r6ppJdrVDmaBzuMYz95T1IHcGumni4zfK0ZSoyWp59RRXpPhX4Xm8t473XHkiRwGS1jOGx/tHt9BW9SrGmryM4xcnoeakgdSB+NIHU9GH519F2ngzw9ZJth0m1/3njDN+Zqy/hvRZV2yaVZsPeFf8K5fr0eiNvYPufNtFe3ax8MNCvomazjawnx8rRcrn3U8Y/KvI9b0O88P6k1leoA+Mo6/dkX1Fb0sRCpojOdNx3M2inwwy3E8cEMbSSyMFRFGSxPQV6v4e+FNtHCk+uu08xGfs8bFUT2JHLH9KqrWjS+IUIOT0PJCwHUgfjQGU9CD+NfR1v4T0C1QLDpFmoH/TIE/rT5vC+h3ClZdKs2B9YRXL9ej2NfYPufN9Fexa78K9MuoXl0gtZXAGQhJaNvbB5H4V5LfWNzpt9LZ3kRinibDqf6eoropV41NjKVNx3Pdvh1/wAiHpf/AFzP/oRrqG+6fpXL/Dv/AJETS/8Armf/AEI11B6H6V5M/jZ2R+FHzHqX/IWvf+vmX/0M1Vq1qX/IWvv+vmX/ANDNd58OPBtvqkMurarbLNanKQRSDIc92I/QV686qpwuzjUXKVkec0V9Df8ACEeGe+i2f/fsV5n8RRoenXUek6Tp1rDcJiS4ljTBX0QH9T+FZ08VGpLlSKlScVds4WiiiuoyCiiigArsPhh/yPNr/wBcpf8A0GuPrsPhh/yPNr/1yl/9BrDE/wAJmlP4ke8UUUV4x3BRRRQAUUUUAFFFFAHgPxG/5H3Uv+2X/opK5Wuq+I3/ACPupf8AbL/0UlcrXt0P4a9Dgn8TCiiitSAooooA9V8G+OtB0Xwxa2F7cypPGWLKsLMBlieoFej2F9BqVjDeWzFoJkDoSCCR9DXzEfun6V9FeDP+RO0n/r3WvLxdGMPeXU6qM29DdYhVJPQVx3/Cz/C+f+Pyb/wHf/Cuul5if6Gvl0/eP1qMNRjVvzFVajjsdZqevadffEmPWTK39nLPE28oc7VAzx165r0f/hZ/hfGftk3/AIDP/hXhfp7+g61s2nhPX76MSW+k3TIejMm0H8666lCnZcz2MY1JdD11Pib4WdgDfSLnu1vJj+VdPYahaapZpd2Nwk9vIPldDkGvBv8AhAvFP/QIk/77X/GvTvhtpGo6NoVzbalbtA5uS6KxByCq88e+a5K9KnGN4M2pzk3Zo7NlDLtIyDXzjrOkm28W3mlQLj/S/LjA7Bjkfln9K+jzXi+oxK/xqRGGQbuI/wDjop4WXK5egqyvY9Z0jTINI0u3sbdQscKBeO57n8anvb6202ylu7uVYreJdzu3QCrFcN8V3ZfBwAOA11GCPXqf5gVhCPPNJ9TVvliMk+LPh9HYJHfyAfxLCAD+ZBqa2+KfhqdsPLcwe8kBx/47mvD6K9D6nCxy+3kdl8RtWste12zm0u5S4Qw+XuTPDFuAa9i0LTIdH0SzsIVAWKMA8dT3P51866WAdXsQehuI8/8AfQr6cHSsMWuSMYI0ovmbbKep6jb6Vp09/dNtggQu5xngenvXnH/C41+0YXRW8jPU3A34+mMZ9s13/iHR117Q7nTGmMInCgyKuSMMD0/CuE/4U5B/0Gpf/Acf/FVjS9lb94XPnv7p6DpOp2+saZb39qxMM67lzwR6g+4PFGsadFq+lXVhMoKTxleex7H8Dg1W8N6Ivh7RIdOW4acRlj5jLtJyc9K16yvZ+6aW01PCvhvG0Pj+GJ/vJFKp+o4r3UdK8W8FgD4r3AHQPc/zr2odK3xTvNPyMqOxlazr2m6BbLPqV0sCscIMElj6ADk1zMfxX8OvOI2F5GhOPNeH5R7nBzj8KyvjIP8ARdJ/66v/AOg15RWtDCxnDmZFSrKMrI+ooZo54UliYPG4DKw6EGo762S8sp7aQApLGyMCOxBH9axfArM/gnSSTk/ZwMmuhb7p+lcjXLKxvvE8E+HmjLqfi6GOdd8VmDM4PQlTgZ/EivfMV5J8J1H/AAketHHIXA+nmH/CvXDWuJk3OxFJWjcxte8TaZ4ctkm1GcpvOEjVdzv9BWLpnxK8PapfR2ivcW8kjBUM8e1WPYZBIH41xPxadj4ntULHatqMD0+Y1wDHCkjgjkVvSwsZ0+Z7mc6zUrH1Oa4n4m6PHqHhWW7CZnsiJUYDnb0YflXYWhZrSFmOWKKSfwrO8UKG8Lamp6G2f+VclNuM1Y2kk4nmvwm0eO61S61SVN32VRHFkdGPU/lXsOK87+DwH/COXbdzcc/98ivRcVeIk5VGKkrRRzniDxpo/huRIb2V2uHG4QwrubHqew/E1DoPjzRPEF0LS2kliuCMrHOm0v8AQ8g/nXkvj5mbxzqm4k4dVH0CLWd4bdo/FGlMrEMLqPB/4EK6FhIulzdTJ1mpWPpM9K8u+LekJ5FprEagSK3kSkDqDyv9a9RxXF/FEA+Cpye00ZH51y0G41EbVFeLLnw7/wCRE0v/AHD/AOhGunPCn6VzHw6/5ETTP9w/+hGuob7p+lKp8b9Rw+FHzvp+hzeIfGE9hFkI11K0r/3EDnJr6AtLWGwtIrW3QJDEoRFHYCsDwh4aGh293cTAG9vJ3lkPXapYlVH4HP1PtXSsQqlmOAOSSegrSvV9o7LZE04cpi+Ktfi8N6FNevhpcbIIyfvueg+g6n2FfPNxPLdXMtxPIZJpXLu56sx5JrpPHPiY+I9dbyXJsbYmOAdj6t+P8q5eu/DUeSN3uznqz5noFFFFdRiFFFFABXYfDD/kebX/AK5S/wDoNcfXYfDD/kebX/rlL/6DWGJ/hM0p/Ej3iiiivGO4KKKKACiiigAooooA8B+I3/I+6l/2y/8ARSVytdV8Rv8AkfdS/wC2X/opK5Wvbofw16HBP4mFFFFakBRRRQAh6H6V9FeDP+RN0n/r3WvnU9D9K+i/Bn/Im6V/17rXBjvhR0Yfc2pf9U/+6a+XD1P1NfUUv+pf/dNfLjdT9TUYF7jxHQ9W+F3he2exOuXkSyTO5W3DjIQDgt9Sf5V6hXMfD1lbwNpmzHCMD9d7Zrpz0rlqycpu5tBJRI2ljQ4aRVPoWApyOrglGDD2Oa+fNY0PxIdculmstQmlaViHUMysM8EEcYr1H4caNqWjaFcR6nGYpZrgyKjPuIXao59Oh4qp0YwjzKQozbdrHaV41f8A/JbU/wCvuL/0AV7L2rwrxXef2f8AFKe8zgQ3ETk+wUZq8MruXoTV6Huw6VwnxZ/5FCP/AK+4/wCTV28UqSxLJGdyOAykdwax/FGhJ4i0KbTmk8pmIaOTGdrA8cenb8axpyUZpsuavF2PnSiu2l+FniVHKp9ikXswlIz+GKltvhPr0rDz7myhHqGLn+let9Yp23OT2ctrHH6X/wAhix/6+Y//AEIV9N9q+efE3h6Twhq1pCboXMm0T7lXbghun6V75p15Hf6dbXcTbo5o1cEe4rixj5uWS2NqKtdMj1XVLbRdMmv7xmW3hALlVyeSB0+prmf+Fo+GP+e9x/34NdHrelx61o93pszFUuI9m4dVPY/gcGvIrj4VeIopSsL2c6Z4bzCuR9MVlRhTknzuxc5TXwndf8LT8Mf8/Fx/34NL/wALS8Mf8/Fx/wB+DXBJ8KvErn5vsSe5mJ/pVwfCa/htJri61SBPKRn2Rxls4GepNbeyofzEc9TsVvAs6XXxOe4iyY5fPdMjHB5Fe2ivCPhj/wAjzbf9cZf5CvdxWeLVp28iqOx5f8Yxi10n/rq//oNeU17b8R/DWp+IrewXTY43aCRmcO+3gjHFcTZ/CzxFcTKlyba2iJ+aTzN5A9hjrXRh6sIUrNmVSDctEem+BOPBGk/9cBXRHoaqabYRaZptvYw58qCMRrn0FOv7pLKxuLqQ4SCNpGJ9AM/0rgb5pNo6VpE8v+E//Iw62fVf/ZzXrRrxL4VaisHiuWGU4N5AwH+8CG/xr2zNa4hWqEU/hPFvi2f+Kqt/+vUf+hGuBf7jfSvb/HngibxK0F5ZTRx3cK7Csg+V1znr2Ncjpfwp1aW+j/tKW3itAwMgjcszD0HHGfWuujiIRpJNmNSEnPQ9fsj/AKFB/wBc1/lVHxP/AMivqf8A17P/ACrUVAiBQMADArmvH1+th4M1FmIDSx+UnuzcV58dZqx0vSJgfB7/AJFq6/6+P6CvRjXlnwevkEOpacT84ZZlHqCMH9a9SJzxWldWqMmn8KPnvx7/AMjzqv8A11X/ANBWs/w9/wAjLpf/AF9R/wDoQr0rxr8PbzWdYfVNLmi8yYASwynbkgYyD7gD8qqeFPhpqFjrNvqGrSwLHbsJEiiYsWYdMnHAFdscRBUrX6GDpy59j1bvXF/FH/kSbj/rrH/Ouzrz74tXyQ+Hbeyz+8uJwcf7Kjn+Yrgo61EdE/hZs/Dv/kRdM/3D/wChGuob7tcv8O/+RF0z/cP/AKEa6hvumlP42EfhMfw9rkOu2Mk0eFlhmeCWMH7rKxH6gA/jWnPDHc28kMq7o5FKMvqCMEV4f4W8Rnw941u/OfFldXMkc47L852t+B/Svc1IZQQcg9/WnVpunIISUj5z8T6DL4c12ewfJizvgc/xRnp+XT8Kx691+IHhr+39EMkCZvrTMkWBy4/iT8e3uK8K7V6mGq+0h6HJUhysKKnt7O6uwxtraaYJ94xoWx+VQdCQQQRwQe1b3MwooopgFdh8MP8AkebX/rlL/wCg1x9dh8MP+R5tf+uUv/oNYYn+EzSn8SPeKKKK8Y7gooooAKKKKACiiigDwH4jf8j7qX/bL/0UlcrXVfEb/kfdS/7Zf+ikrla9uh/DXocE/iYUUUVqQFFFFACH7pr6J8Gf8idpQ/6d1r53rSg8Q63bQJBBq99FEgwiJOwVR6AVz4mi6qSRrTmou59Iy/6p/oa+XT1P1rUPifxARg63qH/gQ3+NZXfNRh6EqV7hUmp7HpXwx8WQWKvol9KsSO++3kY4XceqE9vavXOtfLNa9l4p17TolitNWuo4lGAhbcB9A2cVnWwnPLmiXCtZWZ9HECqa6pYHURp4uoWvChfyQwLADGSR26ivn278VeIL5ClxrF4yHqqybAf++cVn2l7dWFz9ps7mW3nwR5kbYbB681CwMrasp110R9P5Br5++IP/ACPOqf7yf+gCqX/CVeIv+g5qH/f81mXN1cXtw9xdTSTTv96SQ5Zvqa1w+GlTldsipUUlZHpXgLx9BbWsWj6xL5YT5YLlz8uOyse3sa9TjlSVBIjqyMMhlOQR618u1dsdY1PTP+PDULm2H92KQgfl0pVcGpPmjoEKzWjPprgUlfPQ8deJwu0axPj/AHU/wqpceKdfugRPrN8ynqBMVH5DFYrBT7mnt12Op+Lhz4ls/a2/9mp3gHx1Fo8Y0nVHK2W7MM/Xys9Vb/Z9+1efs7OxZ2Z2PUsST+tJXZ7BOmqcjD2jUuZH1BBcQ3UKzQSpLGwyrowII+oqbtXzHZalf6axaxvbi2J6+TIVB/CtdfHPihFwNauD/vKh/pXI8DLozZV11R9DdKpaof8AiU3uf+eD/wDoJrwOTxr4mlGG1u6H+6Qv8hWXdanqF8c3d/dT/wDXWZm/maI4KV9WDrrodJ8MSB45tuR/qZf5CveM18s5I5BIPsav22uatZ8W2qXsQ9EnYD8s1tXwrqS5kzOnVUVY+l8UV88R+N/E8Y+XWrk/721v5ilfxx4nkGG1q5x/shR/IVz/AFKfc19vE+gpZ4oImkmdY41GWZjgD6mvJviD47t9StX0fSJPMhYj7RcL0YA/dX1GeprgL3U7/UW3Xt7cXJHTzpS2PwNVa6KWDUXzSZnOs2rImtbqaxvIbu2cpNC4dGHYivdfC3jfTvEVukbSJb6gBh7d2xk+q+o/WvBKPT26VtWoRq+pEKjifU340cV832vijXrJAlvrF6iDoplLAfgc1O/jXxNIuG1u7A/2SF/UCuJ4Kfc39vE9+v8AUrPTLVrm9uYreFeryNgf/XrxDxz4xPie8SG1Dpp0BzGG4Mjf3iP5CuZubu5vZfNu7ia4k/vyuWI/E1DXTRwqpvmerMp1XLRGjoesXOg6vDqFry8ZwyHo6nqpr3nQPFGl+I7YSWc6+bj54HOJEPuP6ivnWlVmRw6MyuvRlJBH4iqrYdVdeooVHA+pfxo6V85QeLfEdsoWLW70KOgaTf8A+hZp0vjHxJOpV9bvMH+64X+QFcn1Kfc29uj3fWNf03QbQ3GoXKRDHypnLP7KOprwjxT4jn8T6y15IpjhUbIIs/cX39zWPLLJPKZZpHkkPV3YsT9SaZXXQw0aer1ZjOq5aHvvw758C6Z/uH/0I11BPyn6V8122v6xZ26W9rqt7BCnCxxzMqr9BUv/AAlHiD/oN6h/4ENXNLBzcm7mirJK1ilqQzqt9/18y/8AoZr2H4Z+Jv7V0j+zbqTN5ZgAEnl4+x/DpXizMzuzuxZmJLMepJ6nNTWl5dWE4ns7iW3mAx5kTlWx6ZFdVWj7SHL1MoT5Xc+ns5HFeHfEfw1/Ymt/brZMWV6xYYHEcnVl/HqPx9Kwf+Eo8Qf9BvUP/Ahv8agu9a1XUIfJvNSu7iLIOyWUsMjocGsKOHnTle5dSopq1jqtH8l9MtMQvNbeXHGqxxb/AC5tzeYXABIz8hzwSMYPFcxrrBtSG5le4WFFuWU5BlA+bnuegJ9RWcrsmdjsuRg7TjI/CkrrjT5XcycrqwUUUVoSFdh8MP8AkebX/rlL/wCg1x9dh8MP+R5tf+uUv/oNYYn+EzSn8SPeKKKK8Y7gooooAKKKKACiiigDwH4jf8j5qX/bL/0UlcrXU/Ed1Hj3UgSAf3Xf/pklcrvX+8Pzr2cO17NHBNe8xaKbvX+8Pzo3r/eH51tddyb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7D4Yf8jza/wDXKX/0GuO3r/eH512HwxYHx1a4YE+VL3/2awxDXs2XTXvI95FFA6UV453BRRRQAUUUUAFFFFAFaSztpX3yW8TuerMgJNJ9gtP+fSD/AL9j/CrVJRdisit/Z9n/AM+sH/fsUf2fZ/8APrB/37FWcUYouwsit9gs/wDn0g/79j/Cj7BZ/wDPpB/37H+FWaKLsLIrf2fZ/wDPrB/37FH9n2f/AD6wf9+xVnFGKLsLIrfYLP8A59IP+/Y/wo+wWf8Az6Qf9+x/hVmii7CyK32Cz/59IP8Av2P8KP7Ps/8An1g/79irNGKLsLIrf2fZ/wDPrB/37FH2Cz/59Lf/AL9j/CrNFF2FkVvsFn/z6Qf9+x/hR/Z9n/z6wf8AfsVZoxRdhZFb+z7P/n1g/wC/Yo+wWf8Az6Qf9+x/hVnFFF2FkVvsFn/z6Qf9+x/hR/Z9n/z6wf8AfsVZoouwsit/Z9n/AM+sH/fsUf2fZ/8APrB/37FWcUUXYWRW+wWf/Ppb/wDfsf4UfYLP/n0g/wC/Y/wqzRRdhZFb+z7P/n1g/wC/Yo/s+z/59YP+/YqzijFF2FkVvsFn/wA+kH/fsf4UfYLP/n0g/wC/Y/wqzRRdhZFb+z7P/n1g/wC/Yo/s+z/59YP+/YqzRii7CyK39n2f/PrB/wB+xR9gs/8An0t/+/Y/wqzRRdhZFb7BZ/8APpB/37H+FH9n2f8Az6wf9+xVmjFF2FkVv7Ps/wDn1g/79ij7BZ/8+kH/AH7H+FWcUUXYWRW+wWf/AD6Qf9+x/hR/Z9n/AM+sH/fsVZoouwsit/Z9n/z6wf8AfsUfYLP/AJ9IP+/Y/wAKs4oouwsit9gs/wDn0t/+/Y/wo+wWf/PpB/37H+FWaKLsLIrf2fZ/8+sH/fsUf2fZ/wDPrB/37FWcUYouwsit9gs/+fSD/v2P8KPsFn/z6Qf9+x/hVmii7CyK39n2f/PrB/37FH9n2f8Az6wf9+xVmjFF2FkVvsFn/wA+kH/fsf4UfYLP/n0t/wDv2P8ACrNFF2FkVvsFn/z6Qf8Afsf4Uf2fZ/8APrB/37FWaMUXYWRW/s+z/wCfWD/v2KPsFn/z6Qf9+x/hVnFFF2FkVvsNp/z6Qf8Afsf4U6O0ton3x28SN6qgBqxRRdhYQDApaKKBh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B//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8" descr="data:image/jpeg;base64,/9j/4AAQSkZJRgABAQAAAQABAAD/2wBDAAgGBgcGBQgHBwcJCQgKDBQNDAsLDBkSEw8UHRofHh0aHBwgJC4nICIsIxwcKDcpLDAxNDQ0Hyc5PTgyPC4zNDL/2wBDAQkJCQwLDBgNDRgyIRwhMjIyMjIyMjIyMjIyMjIyMjIyMjIyMjIyMjIyMjIyMjIyMjIyMjIyMjIyMjIyMjIyMjL/wAARCADm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zRmgAooooAKKM0ZoAKKKKACijNGaACijNFABRRRmgAoozRQAUUUZoAKKM0ZoAKKKKACijNGaACiiigAoozRmgAoozRQAUUUZoAKKM0UAFFFGaACijNGaACiiigAoozRmgAooooAKKM0ZoAKKKKACiijNABRRmigAooooAKKKKACiiigAooooAKKKKAEyKSvGPHPifXdP8Y39raapcQW8fl7Y0IwMxqT29Sa57/hNPE3/AEG7v8x/hXRDCTlFSRi6yTsfRNFfO3/Ca+Jv+g3d/mP8KP8AhNfE3/Qbu/zH+FafUqgv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M0tfO3/CaeJf8AoN3f5j/Cum8AeJdb1Pxbb2t7qc88DRyExuRgkLx2rOeEnCLkxxrJux7IKKQDApa5zYKKKKACiiigAooooA8B+I3/ACPmpf8AbL/0UlcrXVfEb/kfNS/7Zf8AopK5Wvaw/wDDRwT+JhRRRWxAUUUUAFFFFABRRRQAUUUUAFFFFABRRRQAUUUUAFFFFABRRRQAUUUUAFFFFABRRRQAUUUUAFFFFABRRRQAUUUUAFFFFABRRRQAUUUUAFFFFABRRRQAUUUUAFFFFABRRRQAUUUUAFdh8MP+R5tf+uUv/oNcfXYfDD/kebX/AK5S/wDoNYYn+EzSn8SPeBRQKK8Y7gooooAKKKKACiiigDwH4jf8j7qX/bL/ANFJXK11XxG/5H3Uv+2X/opK5Wvbofw16HBP4mFFFFakBRRRQAVseHfDd/4lvzbWYVVQZlmf7sY/x9qx692+G2mJY+DrWUIBJdZmc+ueB+lc+JqunC63NKUOaWpn2Pwm0WGIfa57q5k7kMEX8AP8avf8Kv8ADH/PrP8A+BDf412RIHWsW58W+H7Od4LjVrVJUOGUvyDXme1qye7Ovkgjx3x9oVj4e16Kz09GSFrcSEM5Y7ixHU/SuVrsPiTqljq/iSG40+5juIRaqheM5AO5uK4+vWoX9mrnHP4nYKKKK1ICiiigAooooAKKKKACiiigAooooAKKKKALulaVea1qCWNjGJLhwWClgowOvJrsLT4S65Ng3F1Z247jJc/oP61R+GP/ACPFt/1wk/kK94xXn4nEThPlidFKnGSuzwPxh4MHhO2snN8bmS4cqw8vaFwM8cnNcpXq/wAY/wDj10n/AK6v/wCg15RXThpudPmkZ1UlKyCiiitzMKKKKACiiigAooooAKKKKACiiigAoooouB02jeAtc1yyivbaOBLWXlHllAyM46DJrpbX4P3R5vNVhQdxDEW/niuz+Hf/ACIul/7h/wDQjXUN0P0ryqmKqczSZ1xpRtc+XrqEW95cQA5EUrxg+u0kZ/Soqtal/wAha+/6+Zf/AEM1Vr1I6o5XuFFFFMQUUUUAFFFFABXYfDD/AJHm1/65S/8AoNcfXYfDD/kebX/rlL/6DWGJ/hM0p/Ej3iiiivGO4KKKKACiiigAooooA8B+I3/I+6l/2y/9FJXK11XxG/5H3Uv+2X/opK5Wvbofw16HBP4mFFFFakBRRRQAh6GvorwZ/wAibpI/6d1rmPAfhfQ9T8IWd1e6XbTzuX3SOmSfmNd9a2sNnbR21vEscMa7URRgKPSvKxdZT91LY66MHHUfKSImI64NfLrnc7s3JLEk+pzX1Iyhhg9PSsH/AIQjwyTn+xbP/v2KjD1lSvdFVIOWzPniiu08aaXYW3ju00ywtIoISsStHGuASzHP6V6l/wAIR4Z/6Aln/wB+xXbLFRgk7bnPGk22fPNFfQ58EeGSMf2LZ/8AfsVUuPh14XuFI/stIif4omKkfkan69DsV7CXc8Dor0HxV8MpNKtJL/SZpLi3jG6SCQZdV7kEdcelefDmumnVjUV4mUouO4UdOtdL4T8GXviiZpFf7PYxth5yMkn+6o7n+Ver6b8PfDenIv8AxL1uZAOZLk7yfwPH6VlUxUKbtuXGlKWp4DvT++v504EHoQfpX0oPD+jqu0aZaAe0K/4VTuvBnhy8XEuj2nPdIwp/MVj9ej2L9g+5870V1nxB0Cw8Pa3Bb6fG0cUkO8qzFuc44zUXhLwZd+KZmk3m3sI2xJPjJY/3VH9e1dSrR5Od7GXI72OY6DJ4FN3p/fX86+gNN+H3hzTUXGnR3EgHMlx+8Y/n0/CtUeH9G24/suzx6eSv+FczxseiNfYPufNmQenNFe/6j4B8N6ih3abFC56SQfu2H5V5V4v8EXXheRZ0kNzp8jbVlxhkP91v8a1pYqE3bZkSpSiS/DL/AJHq2/64yfyFe8V4P8Mf+R4tv+uEn8hXvFcWM/iG1D4Ty/4x/wDHrpP/AF1f/wBBrycuo6sB9TX0jrHh3TNeNudSthOIGLIpY4yeOQOtLD4Z0S3ULFpNmgHpCtVRxSpw5bBOk5SufNoYE4BB+lLX0Zc+E9AvIys2k2bA+kQB/MV5p43+Hsej2r6ppJdrVDmaBzuMYz95T1IHcGumni4zfK0ZSoyWp59RRXpPhX4Xm8t473XHkiRwGS1jOGx/tHt9BW9SrGmryM4xcnoeakgdSB+NIHU9GH519F2ngzw9ZJth0m1/3njDN+Zqy/hvRZV2yaVZsPeFf8K5fr0eiNvYPufNtFe3ax8MNCvomazjawnx8rRcrn3U8Y/KvI9b0O88P6k1leoA+Mo6/dkX1Fb0sRCpojOdNx3M2inwwy3E8cEMbSSyMFRFGSxPQV6v4e+FNtHCk+uu08xGfs8bFUT2JHLH9KqrWjS+IUIOT0PJCwHUgfjQGU9CD+NfR1v4T0C1QLDpFmoH/TIE/rT5vC+h3ClZdKs2B9YRXL9ej2NfYPufN9Fexa78K9MuoXl0gtZXAGQhJaNvbB5H4V5LfWNzpt9LZ3kRinibDqf6eoropV41NjKVNx3Pdvh1/wAiHpf/AFzP/oRrqG+6fpXL/Dv/AJETS/8Armf/AEI11B6H6V5M/jZ2R+FHzHqX/IWvf+vmX/0M1Vq1qX/IWvv+vmX/ANDNd58OPBtvqkMurarbLNanKQRSDIc92I/QV686qpwuzjUXKVkec0V9Df8ACEeGe+i2f/fsV5n8RRoenXUek6Tp1rDcJiS4ljTBX0QH9T+FZ08VGpLlSKlScVds4WiiiuoyCiiigArsPhh/yPNr/wBcpf8A0GuPrsPhh/yPNr/1yl/9BrDE/wAJmlP4ke8UUUV4x3BRRRQAUUUUAFFFFAHgPxG/5H3Uv+2X/opK5Wuq+I3/ACPupf8AbL/0UlcrXt0P4a9Dgn8TCiiitSAooooA9V8G+OtB0Xwxa2F7cypPGWLKsLMBlieoFej2F9BqVjDeWzFoJkDoSCCR9DXzEfun6V9FeDP+RO0n/r3WvLxdGMPeXU6qM29DdYhVJPQVx3/Cz/C+f+Pyb/wHf/Cuul5if6Gvl0/eP1qMNRjVvzFVajjsdZqevadffEmPWTK39nLPE28oc7VAzx165r0f/hZ/hfGftk3/AIDP/hXhfp7+g61s2nhPX76MSW+k3TIejMm0H8666lCnZcz2MY1JdD11Pib4WdgDfSLnu1vJj+VdPYahaapZpd2Nwk9vIPldDkGvBv8AhAvFP/QIk/77X/GvTvhtpGo6NoVzbalbtA5uS6KxByCq88e+a5K9KnGN4M2pzk3Zo7NlDLtIyDXzjrOkm28W3mlQLj/S/LjA7Bjkfln9K+jzXi+oxK/xqRGGQbuI/wDjop4WXK5egqyvY9Z0jTINI0u3sbdQscKBeO57n8anvb6202ylu7uVYreJdzu3QCrFcN8V3ZfBwAOA11GCPXqf5gVhCPPNJ9TVvliMk+LPh9HYJHfyAfxLCAD+ZBqa2+KfhqdsPLcwe8kBx/47mvD6K9D6nCxy+3kdl8RtWste12zm0u5S4Qw+XuTPDFuAa9i0LTIdH0SzsIVAWKMA8dT3P51866WAdXsQehuI8/8AfQr6cHSsMWuSMYI0ovmbbKep6jb6Vp09/dNtggQu5xngenvXnH/C41+0YXRW8jPU3A34+mMZ9s13/iHR117Q7nTGmMInCgyKuSMMD0/CuE/4U5B/0Gpf/Acf/FVjS9lb94XPnv7p6DpOp2+saZb39qxMM67lzwR6g+4PFGsadFq+lXVhMoKTxleex7H8Dg1W8N6Ivh7RIdOW4acRlj5jLtJyc9K16yvZ+6aW01PCvhvG0Pj+GJ/vJFKp+o4r3UdK8W8FgD4r3AHQPc/zr2odK3xTvNPyMqOxlazr2m6BbLPqV0sCscIMElj6ADk1zMfxX8OvOI2F5GhOPNeH5R7nBzj8KyvjIP8ARdJ/66v/AOg15RWtDCxnDmZFSrKMrI+ooZo54UliYPG4DKw6EGo762S8sp7aQApLGyMCOxBH9axfArM/gnSSTk/ZwMmuhb7p+lcjXLKxvvE8E+HmjLqfi6GOdd8VmDM4PQlTgZ/EivfMV5J8J1H/AAketHHIXA+nmH/CvXDWuJk3OxFJWjcxte8TaZ4ctkm1GcpvOEjVdzv9BWLpnxK8PapfR2ivcW8kjBUM8e1WPYZBIH41xPxadj4ntULHatqMD0+Y1wDHCkjgjkVvSwsZ0+Z7mc6zUrH1Oa4n4m6PHqHhWW7CZnsiJUYDnb0YflXYWhZrSFmOWKKSfwrO8UKG8Lamp6G2f+VclNuM1Y2kk4nmvwm0eO61S61SVN32VRHFkdGPU/lXsOK87+DwH/COXbdzcc/98ivRcVeIk5VGKkrRRzniDxpo/huRIb2V2uHG4QwrubHqew/E1DoPjzRPEF0LS2kliuCMrHOm0v8AQ8g/nXkvj5mbxzqm4k4dVH0CLWd4bdo/FGlMrEMLqPB/4EK6FhIulzdTJ1mpWPpM9K8u+LekJ5FprEagSK3kSkDqDyv9a9RxXF/FEA+Cpye00ZH51y0G41EbVFeLLnw7/wCRE0v/AHD/AOhGunPCn6VzHw6/5ETTP9w/+hGuob7p+lKp8b9Rw+FHzvp+hzeIfGE9hFkI11K0r/3EDnJr6AtLWGwtIrW3QJDEoRFHYCsDwh4aGh293cTAG9vJ3lkPXapYlVH4HP1PtXSsQqlmOAOSSegrSvV9o7LZE04cpi+Ktfi8N6FNevhpcbIIyfvueg+g6n2FfPNxPLdXMtxPIZJpXLu56sx5JrpPHPiY+I9dbyXJsbYmOAdj6t+P8q5eu/DUeSN3uznqz5noFFFFdRiFFFFABXYfDD/kebX/AK5S/wDoNcfXYfDD/kebX/rlL/6DWGJ/hM0p/Ej3iiiivGO4KKKKACiiigAooooA8B+I3/I+6l/2y/8ARSVytdV8Rv8AkfdS/wC2X/opK5Wvbofw16HBP4mFFFFakBRRRQAh6H6V9FeDP+RN0n/r3WvnU9D9K+i/Bn/Im6V/17rXBjvhR0Yfc2pf9U/+6a+XD1P1NfUUv+pf/dNfLjdT9TUYF7jxHQ9W+F3he2exOuXkSyTO5W3DjIQDgt9Sf5V6hXMfD1lbwNpmzHCMD9d7Zrpz0rlqycpu5tBJRI2ljQ4aRVPoWApyOrglGDD2Oa+fNY0PxIdculmstQmlaViHUMysM8EEcYr1H4caNqWjaFcR6nGYpZrgyKjPuIXao59Oh4qp0YwjzKQozbdrHaV41f8A/JbU/wCvuL/0AV7L2rwrxXef2f8AFKe8zgQ3ETk+wUZq8MruXoTV6Huw6VwnxZ/5FCP/AK+4/wCTV28UqSxLJGdyOAykdwax/FGhJ4i0KbTmk8pmIaOTGdrA8cenb8axpyUZpsuavF2PnSiu2l+FniVHKp9ikXswlIz+GKltvhPr0rDz7myhHqGLn+let9Yp23OT2ctrHH6X/wAhix/6+Y//AEIV9N9q+efE3h6Twhq1pCboXMm0T7lXbghun6V75p15Hf6dbXcTbo5o1cEe4rixj5uWS2NqKtdMj1XVLbRdMmv7xmW3hALlVyeSB0+prmf+Fo+GP+e9x/34NdHrelx61o93pszFUuI9m4dVPY/gcGvIrj4VeIopSsL2c6Z4bzCuR9MVlRhTknzuxc5TXwndf8LT8Mf8/Fx/34NL/wALS8Mf8/Fx/wB+DXBJ8KvErn5vsSe5mJ/pVwfCa/htJri61SBPKRn2Rxls4GepNbeyofzEc9TsVvAs6XXxOe4iyY5fPdMjHB5Fe2ivCPhj/wAjzbf9cZf5CvdxWeLVp28iqOx5f8Yxi10n/rq//oNeU17b8R/DWp+IrewXTY43aCRmcO+3gjHFcTZ/CzxFcTKlyba2iJ+aTzN5A9hjrXRh6sIUrNmVSDctEem+BOPBGk/9cBXRHoaqabYRaZptvYw58qCMRrn0FOv7pLKxuLqQ4SCNpGJ9AM/0rgb5pNo6VpE8v+E//Iw62fVf/ZzXrRrxL4VaisHiuWGU4N5AwH+8CG/xr2zNa4hWqEU/hPFvi2f+Kqt/+vUf+hGuBf7jfSvb/HngibxK0F5ZTRx3cK7Csg+V1znr2Ncjpfwp1aW+j/tKW3itAwMgjcszD0HHGfWuujiIRpJNmNSEnPQ9fsj/AKFB/wBc1/lVHxP/AMivqf8A17P/ACrUVAiBQMADArmvH1+th4M1FmIDSx+UnuzcV58dZqx0vSJgfB7/AJFq6/6+P6CvRjXlnwevkEOpacT84ZZlHqCMH9a9SJzxWldWqMmn8KPnvx7/AMjzqv8A11X/ANBWs/w9/wAjLpf/AF9R/wDoQr0rxr8PbzWdYfVNLmi8yYASwynbkgYyD7gD8qqeFPhpqFjrNvqGrSwLHbsJEiiYsWYdMnHAFdscRBUrX6GDpy59j1bvXF/FH/kSbj/rrH/Ouzrz74tXyQ+Hbeyz+8uJwcf7Kjn+Yrgo61EdE/hZs/Dv/kRdM/3D/wChGuob7tcv8O/+RF0z/cP/AKEa6hvumlP42EfhMfw9rkOu2Mk0eFlhmeCWMH7rKxH6gA/jWnPDHc28kMq7o5FKMvqCMEV4f4W8Rnw941u/OfFldXMkc47L852t+B/Svc1IZQQcg9/WnVpunIISUj5z8T6DL4c12ewfJizvgc/xRnp+XT8Kx691+IHhr+39EMkCZvrTMkWBy4/iT8e3uK8K7V6mGq+0h6HJUhysKKnt7O6uwxtraaYJ94xoWx+VQdCQQQRwQe1b3MwooopgFdh8MP8AkebX/rlL/wCg1x9dh8MP+R5tf+uUv/oNYYn+EzSn8SPeKKKK8Y7gooooAKKKKACiiigDwH4jf8j7qX/bL/0UlcrXVfEb/kfdS/7Zf+ikrla9uh/DXocE/iYUUUVqQFFFFACH7pr6J8Gf8idpQ/6d1r53rSg8Q63bQJBBq99FEgwiJOwVR6AVz4mi6qSRrTmou59Iy/6p/oa+XT1P1rUPifxARg63qH/gQ3+NZXfNRh6EqV7hUmp7HpXwx8WQWKvol9KsSO++3kY4XceqE9vavXOtfLNa9l4p17TolitNWuo4lGAhbcB9A2cVnWwnPLmiXCtZWZ9HECqa6pYHURp4uoWvChfyQwLADGSR26ivn278VeIL5ClxrF4yHqqybAf++cVn2l7dWFz9ps7mW3nwR5kbYbB681CwMrasp110R9P5Br5++IP/ACPOqf7yf+gCqX/CVeIv+g5qH/f81mXN1cXtw9xdTSTTv96SQ5Zvqa1w+GlTldsipUUlZHpXgLx9BbWsWj6xL5YT5YLlz8uOyse3sa9TjlSVBIjqyMMhlOQR618u1dsdY1PTP+PDULm2H92KQgfl0pVcGpPmjoEKzWjPprgUlfPQ8deJwu0axPj/AHU/wqpceKdfugRPrN8ynqBMVH5DFYrBT7mnt12Op+Lhz4ls/a2/9mp3gHx1Fo8Y0nVHK2W7MM/Xys9Vb/Z9+1efs7OxZ2Z2PUsST+tJXZ7BOmqcjD2jUuZH1BBcQ3UKzQSpLGwyrowII+oqbtXzHZalf6axaxvbi2J6+TIVB/CtdfHPihFwNauD/vKh/pXI8DLozZV11R9DdKpaof8AiU3uf+eD/wDoJrwOTxr4mlGG1u6H+6Qv8hWXdanqF8c3d/dT/wDXWZm/maI4KV9WDrrodJ8MSB45tuR/qZf5CveM18s5I5BIPsav22uatZ8W2qXsQ9EnYD8s1tXwrqS5kzOnVUVY+l8UV88R+N/E8Y+XWrk/721v5ilfxx4nkGG1q5x/shR/IVz/AFKfc19vE+gpZ4oImkmdY41GWZjgD6mvJviD47t9StX0fSJPMhYj7RcL0YA/dX1GeprgL3U7/UW3Xt7cXJHTzpS2PwNVa6KWDUXzSZnOs2rImtbqaxvIbu2cpNC4dGHYivdfC3jfTvEVukbSJb6gBh7d2xk+q+o/WvBKPT26VtWoRq+pEKjifU340cV832vijXrJAlvrF6iDoplLAfgc1O/jXxNIuG1u7A/2SF/UCuJ4Kfc39vE9+v8AUrPTLVrm9uYreFeryNgf/XrxDxz4xPie8SG1Dpp0BzGG4Mjf3iP5CuZubu5vZfNu7ia4k/vyuWI/E1DXTRwqpvmerMp1XLRGjoesXOg6vDqFry8ZwyHo6nqpr3nQPFGl+I7YSWc6+bj54HOJEPuP6ivnWlVmRw6MyuvRlJBH4iqrYdVdeooVHA+pfxo6V85QeLfEdsoWLW70KOgaTf8A+hZp0vjHxJOpV9bvMH+64X+QFcn1Kfc29uj3fWNf03QbQ3GoXKRDHypnLP7KOprwjxT4jn8T6y15IpjhUbIIs/cX39zWPLLJPKZZpHkkPV3YsT9SaZXXQw0aer1ZjOq5aHvvw758C6Z/uH/0I11BPyn6V8122v6xZ26W9rqt7BCnCxxzMqr9BUv/AAlHiD/oN6h/4ENXNLBzcm7mirJK1ilqQzqt9/18y/8AoZr2H4Z+Jv7V0j+zbqTN5ZgAEnl4+x/DpXizMzuzuxZmJLMepJ6nNTWl5dWE4ns7iW3mAx5kTlWx6ZFdVWj7SHL1MoT5Xc+ns5HFeHfEfw1/Ymt/brZMWV6xYYHEcnVl/HqPx9Kwf+Eo8Qf9BvUP/Ahv8agu9a1XUIfJvNSu7iLIOyWUsMjocGsKOHnTle5dSopq1jqtH8l9MtMQvNbeXHGqxxb/AC5tzeYXABIz8hzwSMYPFcxrrBtSG5le4WFFuWU5BlA+bnuegJ9RWcrsmdjsuRg7TjI/CkrrjT5XcycrqwUUUVoSFdh8MP8AkebX/rlL/wCg1x9dh8MP+R5tf+uUv/oNYYn+EzSn8SPeKKKK8Y7gooooAKKKKACiiigDwH4jf8j5qX/bL/0UlcrXU/Ed1Hj3UgSAf3Xf/pklcrvX+8Pzr2cO17NHBNe8xaKbvX+8Pzo3r/eH51tddyb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7D4Yf8jza/wDXKX/0GuO3r/eH512HwxYHx1a4YE+VL3/2awxDXs2XTXvI95FFA6UV453BRRRQAUUUUAFFFFAFaSztpX3yW8TuerMgJNJ9gtP+fSD/AL9j/CrVJRdisit/Z9n/AM+sH/fsUf2fZ/8APrB/37FWcUYouwsit9gs/wDn0g/79j/Cj7BZ/wDPpB/37H+FWaKLsLIrf2fZ/wDPrB/37FH9n2f/AD6wf9+xVnFGKLsLIrfYLP8A59IP+/Y/wo+wWf8Az6Qf9+x/hVmii7CyK32Cz/59IP8Av2P8KP7Ps/8An1g/79irNGKLsLIrf2fZ/wDPrB/37FH2Cz/59Lf/AL9j/CrNFF2FkVvsFn/z6Qf9+x/hR/Z9n/z6wf8AfsVZoxRdhZFb+z7P/n1g/wC/Yo+wWf8Az6Qf9+x/hVnFFF2FkVvsFn/z6Qf9+x/hR/Z9n/z6wf8AfsVZoouwsit/Z9n/AM+sH/fsUf2fZ/8APrB/37FWcUUXYWRW+wWf/Ppb/wDfsf4UfYLP/n0g/wC/Y/wqzRRdhZFb+z7P/n1g/wC/Yo/s+z/59YP+/YqzijFF2FkVvsFn/wA+kH/fsf4UfYLP/n0g/wC/Y/wqzRRdhZFb+z7P/n1g/wC/Yo/s+z/59YP+/YqzRii7CyK39n2f/PrB/wB+xR9gs/8An0t/+/Y/wqzRRdhZFb7BZ/8APpB/37H+FH9n2f8Az6wf9+xVmjFF2FkVv7Ps/wDn1g/79ij7BZ/8+kH/AH7H+FWcUUXYWRW+wWf/AD6Qf9+x/hR/Z9n/AM+sH/fsVZoouwsit/Z9n/z6wf8AfsUfYLP/AJ9IP+/Y/wAKs4oouwsit9gs/wDn0t/+/Y/wo+wWf/PpB/37H+FWaKLsLIrf2fZ/8+sH/fsUf2fZ/wDPrB/37FWcUYouwsit9gs/+fSD/v2P8KPsFn/z6Qf9+x/hVmii7CyK39n2f/PrB/37FH9n2f8Az6wf9+xVmjFF2FkVvsFn/wA+kH/fsf4UfYLP/n0t/wDv2P8ACrNFF2FkVvsFn/z6Qf8Afsf4Uf2fZ/8APrB/37FWaMUXYWRW/s+z/wCfWD/v2KPsFn/z6Qf9+x/hVnFFF2FkVvsNp/z6Qf8Afsf4U6O0ton3x28SN6qgBqxRRdhYQDApaKKBh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B//2Q=="/>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AutoShape 10" descr="data:image/jpeg;base64,/9j/4AAQSkZJRgABAQAAAQABAAD/2wBDAAgGBgcGBQgHBwcJCQgKDBQNDAsLDBkSEw8UHRofHh0aHBwgJC4nICIsIxwcKDcpLDAxNDQ0Hyc5PTgyPC4zNDL/2wBDAQkJCQwLDBgNDRgyIRwhMjIyMjIyMjIyMjIyMjIyMjIyMjIyMjIyMjIyMjIyMjIyMjIyMjIyMjIyMjIyMjIyMjL/wAARCADm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ooAKKKKACiiigAoozRmgAooooAKKM0ZoAKKKKACijNGaACijNFABRRRmgAoozRQAUUUZoAKKM0ZoAKKKKACijNGaACiiigAoozRmgAoozRQAUUUZoAKKM0UAFFFGaACijNGaACiiigAoozRmgAooooAKKM0ZoAKKKKACiijNABRRmigAooooAKKKKACiiigAooooAKKKKAEyKSvGPHPifXdP8Y39raapcQW8fl7Y0IwMxqT29Sa57/hNPE3/AEG7v8x/hXRDCTlFSRi6yTsfRNFfO3/Ca+Jv+g3d/mP8KP8AhNfE3/Qbu/zH+FafUqgv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aK+dv+E18Tf9Bu7/Mf4Uf8Jr4m/wCg3d/mP8KPqVQPbo+iaK+dv+E18Tf9Bu7/ADH+FH/Ca+Jv+g3d/mP8KPqVQPbo+iM0tfO3/CaeJf8AoN3f5j/Cum8AeJdb1Pxbb2t7qc88DRyExuRgkLx2rOeEnCLkxxrJux7IKKQDApa5zYKKKKACiiigAooooA8B+I3/ACPmpf8AbL/0UlcrXVfEb/kfNS/7Zf8AopK5Wvaw/wDDRwT+JhRRRWxAUUUUAFFFFABRRRQAUUUUAFFFFABRRRQAUUUUAFFFFABRRRQAUUUUAFFFFABRRRQAUUUUAFFFFABRRRQAUUUUAFFFFABRRRQAUUUUAFFFFABRRRQAUUUUAFFFFABRRRQAUUUUAFdh8MP+R5tf+uUv/oNcfXYfDD/kebX/AK5S/wDoNYYn+EzSn8SPeBRQKK8Y7gooooAKKKKACiiigDwH4jf8j7qX/bL/ANFJXK11XxG/5H3Uv+2X/opK5Wvbofw16HBP4mFFFFakBRRRQAVseHfDd/4lvzbWYVVQZlmf7sY/x9qx692+G2mJY+DrWUIBJdZmc+ueB+lc+JqunC63NKUOaWpn2Pwm0WGIfa57q5k7kMEX8AP8avf8Kv8ADH/PrP8A+BDf412RIHWsW58W+H7Od4LjVrVJUOGUvyDXme1qye7Ovkgjx3x9oVj4e16Kz09GSFrcSEM5Y7ixHU/SuVrsPiTqljq/iSG40+5juIRaqheM5AO5uK4+vWoX9mrnHP4nYKKKK1ICiiigAooooAKKKKACiiigAooooAKKKKALulaVea1qCWNjGJLhwWClgowOvJrsLT4S65Ng3F1Z247jJc/oP61R+GP/ACPFt/1wk/kK94xXn4nEThPlidFKnGSuzwPxh4MHhO2snN8bmS4cqw8vaFwM8cnNcpXq/wAY/wDj10n/AK6v/wCg15RXThpudPmkZ1UlKyCiiitzMKKKKACiiigAooooAKKKKACiiigAoooouB02jeAtc1yyivbaOBLWXlHllAyM46DJrpbX4P3R5vNVhQdxDEW/niuz+Hf/ACIul/7h/wDQjXUN0P0ryqmKqczSZ1xpRtc+XrqEW95cQA5EUrxg+u0kZ/Soqtal/wAha+/6+Zf/AEM1Vr1I6o5XuFFFFMQUUUUAFFFFABXYfDD/AJHm1/65S/8AoNcfXYfDD/kebX/rlL/6DWGJ/hM0p/Ej3iiiivGO4KKKKACiiigAooooA8B+I3/I+6l/2y/9FJXK11XxG/5H3Uv+2X/opK5Wvbofw16HBP4mFFFFakBRRRQAh6GvorwZ/wAibpI/6d1rmPAfhfQ9T8IWd1e6XbTzuX3SOmSfmNd9a2sNnbR21vEscMa7URRgKPSvKxdZT91LY66MHHUfKSImI64NfLrnc7s3JLEk+pzX1Iyhhg9PSsH/AIQjwyTn+xbP/v2KjD1lSvdFVIOWzPniiu08aaXYW3ju00ywtIoISsStHGuASzHP6V6l/wAIR4Z/6Aln/wB+xXbLFRgk7bnPGk22fPNFfQ58EeGSMf2LZ/8AfsVUuPh14XuFI/stIif4omKkfkan69DsV7CXc8Dor0HxV8MpNKtJL/SZpLi3jG6SCQZdV7kEdcelefDmumnVjUV4mUouO4UdOtdL4T8GXviiZpFf7PYxth5yMkn+6o7n+Ver6b8PfDenIv8AxL1uZAOZLk7yfwPH6VlUxUKbtuXGlKWp4DvT++v504EHoQfpX0oPD+jqu0aZaAe0K/4VTuvBnhy8XEuj2nPdIwp/MVj9ej2L9g+5870V1nxB0Cw8Pa3Bb6fG0cUkO8qzFuc44zUXhLwZd+KZmk3m3sI2xJPjJY/3VH9e1dSrR5Od7GXI72OY6DJ4FN3p/fX86+gNN+H3hzTUXGnR3EgHMlx+8Y/n0/CtUeH9G24/suzx6eSv+FczxseiNfYPufNmQenNFe/6j4B8N6ih3abFC56SQfu2H5V5V4v8EXXheRZ0kNzp8jbVlxhkP91v8a1pYqE3bZkSpSiS/DL/AJHq2/64yfyFe8V4P8Mf+R4tv+uEn8hXvFcWM/iG1D4Ty/4x/wDHrpP/AF1f/wBBrycuo6sB9TX0jrHh3TNeNudSthOIGLIpY4yeOQOtLD4Z0S3ULFpNmgHpCtVRxSpw5bBOk5SufNoYE4BB+lLX0Zc+E9AvIys2k2bA+kQB/MV5p43+Hsej2r6ppJdrVDmaBzuMYz95T1IHcGumni4zfK0ZSoyWp59RRXpPhX4Xm8t473XHkiRwGS1jOGx/tHt9BW9SrGmryM4xcnoeakgdSB+NIHU9GH519F2ngzw9ZJth0m1/3njDN+Zqy/hvRZV2yaVZsPeFf8K5fr0eiNvYPufNtFe3ax8MNCvomazjawnx8rRcrn3U8Y/KvI9b0O88P6k1leoA+Mo6/dkX1Fb0sRCpojOdNx3M2inwwy3E8cEMbSSyMFRFGSxPQV6v4e+FNtHCk+uu08xGfs8bFUT2JHLH9KqrWjS+IUIOT0PJCwHUgfjQGU9CD+NfR1v4T0C1QLDpFmoH/TIE/rT5vC+h3ClZdKs2B9YRXL9ej2NfYPufN9Fexa78K9MuoXl0gtZXAGQhJaNvbB5H4V5LfWNzpt9LZ3kRinibDqf6eoropV41NjKVNx3Pdvh1/wAiHpf/AFzP/oRrqG+6fpXL/Dv/AJETS/8Armf/AEI11B6H6V5M/jZ2R+FHzHqX/IWvf+vmX/0M1Vq1qX/IWvv+vmX/ANDNd58OPBtvqkMurarbLNanKQRSDIc92I/QV686qpwuzjUXKVkec0V9Df8ACEeGe+i2f/fsV5n8RRoenXUek6Tp1rDcJiS4ljTBX0QH9T+FZ08VGpLlSKlScVds4WiiiuoyCiiigArsPhh/yPNr/wBcpf8A0GuPrsPhh/yPNr/1yl/9BrDE/wAJmlP4ke8UUUV4x3BRRRQAUUUUAFFFFAHgPxG/5H3Uv+2X/opK5Wuq+I3/ACPupf8AbL/0UlcrXt0P4a9Dgn8TCiiitSAooooA9V8G+OtB0Xwxa2F7cypPGWLKsLMBlieoFej2F9BqVjDeWzFoJkDoSCCR9DXzEfun6V9FeDP+RO0n/r3WvLxdGMPeXU6qM29DdYhVJPQVx3/Cz/C+f+Pyb/wHf/Cuul5if6Gvl0/eP1qMNRjVvzFVajjsdZqevadffEmPWTK39nLPE28oc7VAzx165r0f/hZ/hfGftk3/AIDP/hXhfp7+g61s2nhPX76MSW+k3TIejMm0H8666lCnZcz2MY1JdD11Pib4WdgDfSLnu1vJj+VdPYahaapZpd2Nwk9vIPldDkGvBv8AhAvFP/QIk/77X/GvTvhtpGo6NoVzbalbtA5uS6KxByCq88e+a5K9KnGN4M2pzk3Zo7NlDLtIyDXzjrOkm28W3mlQLj/S/LjA7Bjkfln9K+jzXi+oxK/xqRGGQbuI/wDjop4WXK5egqyvY9Z0jTINI0u3sbdQscKBeO57n8anvb6202ylu7uVYreJdzu3QCrFcN8V3ZfBwAOA11GCPXqf5gVhCPPNJ9TVvliMk+LPh9HYJHfyAfxLCAD+ZBqa2+KfhqdsPLcwe8kBx/47mvD6K9D6nCxy+3kdl8RtWste12zm0u5S4Qw+XuTPDFuAa9i0LTIdH0SzsIVAWKMA8dT3P51866WAdXsQehuI8/8AfQr6cHSsMWuSMYI0ovmbbKep6jb6Vp09/dNtggQu5xngenvXnH/C41+0YXRW8jPU3A34+mMZ9s13/iHR117Q7nTGmMInCgyKuSMMD0/CuE/4U5B/0Gpf/Acf/FVjS9lb94XPnv7p6DpOp2+saZb39qxMM67lzwR6g+4PFGsadFq+lXVhMoKTxleex7H8Dg1W8N6Ivh7RIdOW4acRlj5jLtJyc9K16yvZ+6aW01PCvhvG0Pj+GJ/vJFKp+o4r3UdK8W8FgD4r3AHQPc/zr2odK3xTvNPyMqOxlazr2m6BbLPqV0sCscIMElj6ADk1zMfxX8OvOI2F5GhOPNeH5R7nBzj8KyvjIP8ARdJ/66v/AOg15RWtDCxnDmZFSrKMrI+ooZo54UliYPG4DKw6EGo762S8sp7aQApLGyMCOxBH9axfArM/gnSSTk/ZwMmuhb7p+lcjXLKxvvE8E+HmjLqfi6GOdd8VmDM4PQlTgZ/EivfMV5J8J1H/AAketHHIXA+nmH/CvXDWuJk3OxFJWjcxte8TaZ4ctkm1GcpvOEjVdzv9BWLpnxK8PapfR2ivcW8kjBUM8e1WPYZBIH41xPxadj4ntULHatqMD0+Y1wDHCkjgjkVvSwsZ0+Z7mc6zUrH1Oa4n4m6PHqHhWW7CZnsiJUYDnb0YflXYWhZrSFmOWKKSfwrO8UKG8Lamp6G2f+VclNuM1Y2kk4nmvwm0eO61S61SVN32VRHFkdGPU/lXsOK87+DwH/COXbdzcc/98ivRcVeIk5VGKkrRRzniDxpo/huRIb2V2uHG4QwrubHqew/E1DoPjzRPEF0LS2kliuCMrHOm0v8AQ8g/nXkvj5mbxzqm4k4dVH0CLWd4bdo/FGlMrEMLqPB/4EK6FhIulzdTJ1mpWPpM9K8u+LekJ5FprEagSK3kSkDqDyv9a9RxXF/FEA+Cpye00ZH51y0G41EbVFeLLnw7/wCRE0v/AHD/AOhGunPCn6VzHw6/5ETTP9w/+hGuob7p+lKp8b9Rw+FHzvp+hzeIfGE9hFkI11K0r/3EDnJr6AtLWGwtIrW3QJDEoRFHYCsDwh4aGh293cTAG9vJ3lkPXapYlVH4HP1PtXSsQqlmOAOSSegrSvV9o7LZE04cpi+Ktfi8N6FNevhpcbIIyfvueg+g6n2FfPNxPLdXMtxPIZJpXLu56sx5JrpPHPiY+I9dbyXJsbYmOAdj6t+P8q5eu/DUeSN3uznqz5noFFFFdRiFFFFABXYfDD/kebX/AK5S/wDoNcfXYfDD/kebX/rlL/6DWGJ/hM0p/Ej3iiiivGO4KKKKACiiigAooooA8B+I3/I+6l/2y/8ARSVytdV8Rv8AkfdS/wC2X/opK5Wvbofw16HBP4mFFFFakBRRRQAh6H6V9FeDP+RN0n/r3WvnU9D9K+i/Bn/Im6V/17rXBjvhR0Yfc2pf9U/+6a+XD1P1NfUUv+pf/dNfLjdT9TUYF7jxHQ9W+F3he2exOuXkSyTO5W3DjIQDgt9Sf5V6hXMfD1lbwNpmzHCMD9d7Zrpz0rlqycpu5tBJRI2ljQ4aRVPoWApyOrglGDD2Oa+fNY0PxIdculmstQmlaViHUMysM8EEcYr1H4caNqWjaFcR6nGYpZrgyKjPuIXao59Oh4qp0YwjzKQozbdrHaV41f8A/JbU/wCvuL/0AV7L2rwrxXef2f8AFKe8zgQ3ETk+wUZq8MruXoTV6Huw6VwnxZ/5FCP/AK+4/wCTV28UqSxLJGdyOAykdwax/FGhJ4i0KbTmk8pmIaOTGdrA8cenb8axpyUZpsuavF2PnSiu2l+FniVHKp9ikXswlIz+GKltvhPr0rDz7myhHqGLn+let9Yp23OT2ctrHH6X/wAhix/6+Y//AEIV9N9q+efE3h6Twhq1pCboXMm0T7lXbghun6V75p15Hf6dbXcTbo5o1cEe4rixj5uWS2NqKtdMj1XVLbRdMmv7xmW3hALlVyeSB0+prmf+Fo+GP+e9x/34NdHrelx61o93pszFUuI9m4dVPY/gcGvIrj4VeIopSsL2c6Z4bzCuR9MVlRhTknzuxc5TXwndf8LT8Mf8/Fx/34NL/wALS8Mf8/Fx/wB+DXBJ8KvErn5vsSe5mJ/pVwfCa/htJri61SBPKRn2Rxls4GepNbeyofzEc9TsVvAs6XXxOe4iyY5fPdMjHB5Fe2ivCPhj/wAjzbf9cZf5CvdxWeLVp28iqOx5f8Yxi10n/rq//oNeU17b8R/DWp+IrewXTY43aCRmcO+3gjHFcTZ/CzxFcTKlyba2iJ+aTzN5A9hjrXRh6sIUrNmVSDctEem+BOPBGk/9cBXRHoaqabYRaZptvYw58qCMRrn0FOv7pLKxuLqQ4SCNpGJ9AM/0rgb5pNo6VpE8v+E//Iw62fVf/ZzXrRrxL4VaisHiuWGU4N5AwH+8CG/xr2zNa4hWqEU/hPFvi2f+Kqt/+vUf+hGuBf7jfSvb/HngibxK0F5ZTRx3cK7Csg+V1znr2Ncjpfwp1aW+j/tKW3itAwMgjcszD0HHGfWuujiIRpJNmNSEnPQ9fsj/AKFB/wBc1/lVHxP/AMivqf8A17P/ACrUVAiBQMADArmvH1+th4M1FmIDSx+UnuzcV58dZqx0vSJgfB7/AJFq6/6+P6CvRjXlnwevkEOpacT84ZZlHqCMH9a9SJzxWldWqMmn8KPnvx7/AMjzqv8A11X/ANBWs/w9/wAjLpf/AF9R/wDoQr0rxr8PbzWdYfVNLmi8yYASwynbkgYyD7gD8qqeFPhpqFjrNvqGrSwLHbsJEiiYsWYdMnHAFdscRBUrX6GDpy59j1bvXF/FH/kSbj/rrH/Ouzrz74tXyQ+Hbeyz+8uJwcf7Kjn+Yrgo61EdE/hZs/Dv/kRdM/3D/wChGuob7tcv8O/+RF0z/cP/AKEa6hvumlP42EfhMfw9rkOu2Mk0eFlhmeCWMH7rKxH6gA/jWnPDHc28kMq7o5FKMvqCMEV4f4W8Rnw941u/OfFldXMkc47L852t+B/Svc1IZQQcg9/WnVpunIISUj5z8T6DL4c12ewfJizvgc/xRnp+XT8Kx691+IHhr+39EMkCZvrTMkWBy4/iT8e3uK8K7V6mGq+0h6HJUhysKKnt7O6uwxtraaYJ94xoWx+VQdCQQQRwQe1b3MwooopgFdh8MP8AkebX/rlL/wCg1x9dh8MP+R5tf+uUv/oNYYn+EzSn8SPeKKKK8Y7gooooAKKKKACiiigDwH4jf8j7qX/bL/0UlcrXVfEb/kfdS/7Zf+ikrla9uh/DXocE/iYUUUVqQFFFFACH7pr6J8Gf8idpQ/6d1r53rSg8Q63bQJBBq99FEgwiJOwVR6AVz4mi6qSRrTmou59Iy/6p/oa+XT1P1rUPifxARg63qH/gQ3+NZXfNRh6EqV7hUmp7HpXwx8WQWKvol9KsSO++3kY4XceqE9vavXOtfLNa9l4p17TolitNWuo4lGAhbcB9A2cVnWwnPLmiXCtZWZ9HECqa6pYHURp4uoWvChfyQwLADGSR26ivn278VeIL5ClxrF4yHqqybAf++cVn2l7dWFz9ps7mW3nwR5kbYbB681CwMrasp110R9P5Br5++IP/ACPOqf7yf+gCqX/CVeIv+g5qH/f81mXN1cXtw9xdTSTTv96SQ5Zvqa1w+GlTldsipUUlZHpXgLx9BbWsWj6xL5YT5YLlz8uOyse3sa9TjlSVBIjqyMMhlOQR618u1dsdY1PTP+PDULm2H92KQgfl0pVcGpPmjoEKzWjPprgUlfPQ8deJwu0axPj/AHU/wqpceKdfugRPrN8ynqBMVH5DFYrBT7mnt12Op+Lhz4ls/a2/9mp3gHx1Fo8Y0nVHK2W7MM/Xys9Vb/Z9+1efs7OxZ2Z2PUsST+tJXZ7BOmqcjD2jUuZH1BBcQ3UKzQSpLGwyrowII+oqbtXzHZalf6axaxvbi2J6+TIVB/CtdfHPihFwNauD/vKh/pXI8DLozZV11R9DdKpaof8AiU3uf+eD/wDoJrwOTxr4mlGG1u6H+6Qv8hWXdanqF8c3d/dT/wDXWZm/maI4KV9WDrrodJ8MSB45tuR/qZf5CveM18s5I5BIPsav22uatZ8W2qXsQ9EnYD8s1tXwrqS5kzOnVUVY+l8UV88R+N/E8Y+XWrk/721v5ilfxx4nkGG1q5x/shR/IVz/AFKfc19vE+gpZ4oImkmdY41GWZjgD6mvJviD47t9StX0fSJPMhYj7RcL0YA/dX1GeprgL3U7/UW3Xt7cXJHTzpS2PwNVa6KWDUXzSZnOs2rImtbqaxvIbu2cpNC4dGHYivdfC3jfTvEVukbSJb6gBh7d2xk+q+o/WvBKPT26VtWoRq+pEKjifU340cV832vijXrJAlvrF6iDoplLAfgc1O/jXxNIuG1u7A/2SF/UCuJ4Kfc39vE9+v8AUrPTLVrm9uYreFeryNgf/XrxDxz4xPie8SG1Dpp0BzGG4Mjf3iP5CuZubu5vZfNu7ia4k/vyuWI/E1DXTRwqpvmerMp1XLRGjoesXOg6vDqFry8ZwyHo6nqpr3nQPFGl+I7YSWc6+bj54HOJEPuP6ivnWlVmRw6MyuvRlJBH4iqrYdVdeooVHA+pfxo6V85QeLfEdsoWLW70KOgaTf8A+hZp0vjHxJOpV9bvMH+64X+QFcn1Kfc29uj3fWNf03QbQ3GoXKRDHypnLP7KOprwjxT4jn8T6y15IpjhUbIIs/cX39zWPLLJPKZZpHkkPV3YsT9SaZXXQw0aer1ZjOq5aHvvw758C6Z/uH/0I11BPyn6V8122v6xZ26W9rqt7BCnCxxzMqr9BUv/AAlHiD/oN6h/4ENXNLBzcm7mirJK1ilqQzqt9/18y/8AoZr2H4Z+Jv7V0j+zbqTN5ZgAEnl4+x/DpXizMzuzuxZmJLMepJ6nNTWl5dWE4ns7iW3mAx5kTlWx6ZFdVWj7SHL1MoT5Xc+ns5HFeHfEfw1/Ymt/brZMWV6xYYHEcnVl/HqPx9Kwf+Eo8Qf9BvUP/Ahv8agu9a1XUIfJvNSu7iLIOyWUsMjocGsKOHnTle5dSopq1jqtH8l9MtMQvNbeXHGqxxb/AC5tzeYXABIz8hzwSMYPFcxrrBtSG5le4WFFuWU5BlA+bnuegJ9RWcrsmdjsuRg7TjI/CkrrjT5XcycrqwUUUVoSFdh8MP8AkebX/rlL/wCg1x9dh8MP+R5tf+uUv/oNYYn+EzSn8SPeKKKK8Y7gooooAKKKKACiiigDwH4jf8j5qX/bL/0UlcrXU/Ed1Hj3UgSAf3Xf/pklcrvX+8Pzr2cO17NHBNe8xaKbvX+8Pzo3r/eH51tddyb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KbvX+8Pzo3r/eH50XXcLDq7D4Yf8jza/wDXKX/0GuO3r/eH512HwxYHx1a4YE+VL3/2awxDXs2XTXvI95FFA6UV453BRRRQAUUUUAFFFFAFaSztpX3yW8TuerMgJNJ9gtP+fSD/AL9j/CrVJRdisit/Z9n/AM+sH/fsUf2fZ/8APrB/37FWcUYouwsit9gs/wDn0g/79j/Cj7BZ/wDPpB/37H+FWaKLsLIrf2fZ/wDPrB/37FH9n2f/AD6wf9+xVnFGKLsLIrfYLP8A59IP+/Y/wo+wWf8Az6Qf9+x/hVmii7CyK32Cz/59IP8Av2P8KP7Ps/8An1g/79irNGKLsLIrf2fZ/wDPrB/37FH2Cz/59Lf/AL9j/CrNFF2FkVvsFn/z6Qf9+x/hR/Z9n/z6wf8AfsVZoxRdhZFb+z7P/n1g/wC/Yo+wWf8Az6Qf9+x/hVnFFF2FkVvsFn/z6Qf9+x/hR/Z9n/z6wf8AfsVZoouwsit/Z9n/AM+sH/fsUf2fZ/8APrB/37FWcUUXYWRW+wWf/Ppb/wDfsf4UfYLP/n0g/wC/Y/wqzRRdhZFb+z7P/n1g/wC/Yo/s+z/59YP+/YqzijFF2FkVvsFn/wA+kH/fsf4UfYLP/n0g/wC/Y/wqzRRdhZFb+z7P/n1g/wC/Yo/s+z/59YP+/YqzRii7CyK39n2f/PrB/wB+xR9gs/8An0t/+/Y/wqzRRdhZFb7BZ/8APpB/37H+FH9n2f8Az6wf9+xVmjFF2FkVv7Ps/wDn1g/79ij7BZ/8+kH/AH7H+FWcUUXYWRW+wWf/AD6Qf9+x/hR/Z9n/AM+sH/fsVZoouwsit/Z9n/z6wf8AfsUfYLP/AJ9IP+/Y/wAKs4oouwsit9gs/wDn0t/+/Y/wo+wWf/PpB/37H+FWaKLsLIrf2fZ/8+sH/fsUf2fZ/wDPrB/37FWcUYouwsit9gs/+fSD/v2P8KPsFn/z6Qf9+x/hVmii7CyK39n2f/PrB/37FH9n2f8Az6wf9+xVmjFF2FkVvsFn/wA+kH/fsf4UfYLP/n0t/wDv2P8ACrNFF2FkVvsFn/z6Qf8Afsf4Uf2fZ/8APrB/37FWaMUXYWRW/s+z/wCfWD/v2KPsFn/z6Qf9+x/hVnFFF2FkVvsNp/z6Qf8Afsf4U6O0ton3x28SN6qgBqxRRdhYQDApaKKBh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AUUUUAFFFFABRRRQB//2Q=="/>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6" name="AutoShape 14" descr="Logo"/>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7" name="AutoShape 16" descr="Logo"/>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8" name="AutoShape 19" descr="Logo"/>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0981" name="Picture 21" descr="http://f12.baidu.com/it/u=3066631007,519151131&amp;fm=7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44654" y="4627355"/>
            <a:ext cx="812454" cy="812454"/>
          </a:xfrm>
          <a:prstGeom prst="rect">
            <a:avLst/>
          </a:prstGeom>
          <a:noFill/>
          <a:extLst>
            <a:ext uri="{909E8E84-426E-40DD-AFC4-6F175D3DCCD1}">
              <a14:hiddenFill xmlns:a14="http://schemas.microsoft.com/office/drawing/2010/main">
                <a:solidFill>
                  <a:srgbClr val="FFFFFF"/>
                </a:solidFill>
              </a14:hiddenFill>
            </a:ext>
          </a:extLst>
        </p:spPr>
      </p:pic>
      <p:sp>
        <p:nvSpPr>
          <p:cNvPr id="9" name="AutoShape 23" descr="Logo"/>
          <p:cNvSpPr>
            <a:spLocks noChangeAspect="1" noChangeArrowheads="1"/>
          </p:cNvSpPr>
          <p:nvPr/>
        </p:nvSpPr>
        <p:spPr bwMode="auto">
          <a:xfrm>
            <a:off x="1069975" y="769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0" name="AutoShape 25" descr="Logo"/>
          <p:cNvSpPr>
            <a:spLocks noChangeAspect="1" noChangeArrowheads="1"/>
          </p:cNvSpPr>
          <p:nvPr/>
        </p:nvSpPr>
        <p:spPr bwMode="auto">
          <a:xfrm>
            <a:off x="1222375" y="922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TextBox 10"/>
          <p:cNvSpPr txBox="1"/>
          <p:nvPr/>
        </p:nvSpPr>
        <p:spPr>
          <a:xfrm>
            <a:off x="4500001" y="5660969"/>
            <a:ext cx="4108882" cy="369332"/>
          </a:xfrm>
          <a:prstGeom prst="rect">
            <a:avLst/>
          </a:prstGeom>
          <a:noFill/>
        </p:spPr>
        <p:txBody>
          <a:bodyPr wrap="none" rtlCol="0">
            <a:spAutoFit/>
          </a:bodyPr>
          <a:lstStyle/>
          <a:p>
            <a:r>
              <a:rPr lang="en-US" altLang="zh-CN" dirty="0" smtClean="0">
                <a:solidFill>
                  <a:schemeClr val="bg1"/>
                </a:solidFill>
              </a:rPr>
              <a:t>From https</a:t>
            </a:r>
            <a:r>
              <a:rPr lang="en-US" altLang="zh-CN" dirty="0">
                <a:solidFill>
                  <a:schemeClr val="bg1"/>
                </a:solidFill>
              </a:rPr>
              <a:t>://www.elastic.co/use-cases</a:t>
            </a:r>
            <a:endParaRPr lang="zh-CN" altLang="en-US" dirty="0">
              <a:solidFill>
                <a:schemeClr val="bg1"/>
              </a:solidFill>
            </a:endParaRPr>
          </a:p>
        </p:txBody>
      </p:sp>
      <p:sp>
        <p:nvSpPr>
          <p:cNvPr id="13" name="AutoShape 27" descr="data:image/jpeg;base64,/9j/4AAQSkZJRgABAQAAAQABAAD/2wBDAAgGBgcGBQgHBwcJCQgKDBQNDAsLDBkSEw8UHRofHh0aHBwgJC4nICIsIxwcKDcpLDAxNDQ0Hyc5PTgyPC4zNDL/2wBDAQkJCQwLDBgNDRgyIRwhMjIyMjIyMjIyMjIyMjIyMjIyMjIyMjIyMjIyMjIyMjIyMjIyMjIyMjIyMjIyMjIyMjL/wAARCAHi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rJ1TxJpGjg/br2KNx/wAswdzn/gI5ritU+K8Kkppdg0mOklw20f8AfI5/UVvSw1Wr8ETmrYyjR+OR6XVO71Ox09N15dwW4/6ayBc/nXiOo+OfEGpZD37wof4LcbAPxHP61zzyPK5d2ZmPUsck1308pk9ZyseZVzqK/hxv6ntt58R/DtpkJPLcsO0MZP6nArn7v4tKMiz0pj6NNLj9AP615hRXZDLKEd7s4J5viJbOx2tz8UNemyIltYB22Rkn9Sayp/G/iS4+/qso/wCuaqn8hXP0V0xwtCO0UcssZXlvNmjLr2sT58zVb1/Y3D4/nVR7u5k+/cSt/vOTUNFaqEVsjF1JPdikljknJpKKKsgkSaWP7kjr9GIqxHquoQnMd/dIf9mZh/WqdFS4p7opTktmbMPizxBB9zV7s/78hb+ea07f4jeJIfv3ccw9JIl/oBXJ0VlLD0ZbxX3GscVWjtN/eeiWvxZvlI+16bbyf9cnKfzzW7Z/FTRpsC6t7q2PrtDr+hz+lePUVhPLsPLZWOqGaYmPW/qfQdl4r0PUcC21O3Zj0R32MfwbBrZBDDI5r5jrRsNd1XSyPsV/PCB/Crnb/wB8niuOplP8kvvO2lnT/wCXkfuPoyivINN+KeqW5C39tDdJ3ZP3b/4fpXZ6X8Q9B1Laj3BtJT/DcDaP++un61wVcFXp7x+49OjmGHq6KVn5nWUUyOVJkDxsrKRkMpyDT65TtTuFFFFABRRRQAUUUUAFFFFABRRRQAUUUUAFFFFABRRRQAUUUUAFFFFABRRRQAUUUUAFFFFABRRRQAUUUUAFFFFABRRRQAUUU1mCKSSAB1JoAdTHdYkLOwVQMkk4ArjfEHxG0zS90Nli9uRx8jfu1Pu3f8K8x1rxTq2vOftlyRFnIhj+VB+Hf8c13UMvq1dXojzcTmdGjotWeo618RtH0zdHbE3044xEfkB92/wzXnmr+Ptc1Xciz/ZIT/yzt/lP4t1rl6K9ijgKNLW135nhV8yr1tL2XkKzFmJYksTkk9TSUUV2HA3cKKKKYBRRU9vaXN2+22t5Zm/uxIWP6Um0tWNJvREFFdDa+B/Ed3gppkqKe8pCfzOa17f4Wa5LgzTWkI9C5Y/oP61hLF0I7yR0Rwdee0GcPRXpcPwklPM2rovskBP6lquR/CWyH+s1S4b/AHY1H+NYvMcOuv4G8crxT+z+J5RRXrw+E+kcbr6+P0KD/wBlpx+FGjdr2/8AxZP/AImp/tPD+f3F/wBkYnsvvPH6K9bf4Taac+XqN2P94Kf6CqsvwjQ/6rV2H+/Bn+TCmsyw76/gS8qxK6fieXUV6BP8J9TXPkahayem8Mv9DWXc/DrxJBkraxzAd4pR/XFaxxlCW0kYywGIjvBnJ0Vo3eg6tY5Nzp11EB/E0Rx+fSs6uiM4y+F3OaUJR+JWCiiiqJCiiigDR0zXdT0d91heSwjOSgOVP1U8V3ui/FT7sWsWmOxng/qp/ofwrzGiuathKVX4lqdVDG1qPwPQ+jtN1jT9Xh82xuo5077TyPqOo/Gr9fNNrd3FlOs9rNJDKvR42KkV32g/E+4h2wazF56dPPjGHH1HQ/hivIr5ZOGtPVfie5hs3pz0qqz/AAPWKKpabq1jq9sLixuY5o+5U8j2I6g/Wrtea007M9eMlJXQUUUUhhRRRQAUUUUAFFFFABRRRQAUUUUAFFFFABRRRQAUUUUAFFFFABRRRQAUUUUAFFFFABRRRQAUVHNNHBG0krqkajLMxwAK808U/ErO+z0P6NdEf+gj+p/+vW1GhOtLlgjnxGKp4ePNNnY6/wCLNN8PRH7TJvuCMrBGcsfr6D3NeSeIPGuqa+zRs/2e0PSCI8H/AHj3/l7Vz800lxM0szs8jnLO5ySfrUde9hsBTo6vVnzWLzKrX0WkQooorvPOCiirmn6XfarP5Njayzydwi8D6noPxqZSUVdjjFydkinSqCzAAEk9AK9I0b4VyybZdXuxGOvkwct+LHj8ga7zS/DGkaMB9iso0cf8tGG5z/wI8159bM6UNIas9ShlNaprP3UeOaZ4I1/VMNHZNDGf+Wk/yD8jyfwFdhpvwniGG1LUXY90gXA/M/4V6XRXm1Myrz2dj1qWU4eHxas52x8EeHtPwY9OikYfxTfvD+vFb0UMcKBIkREHRVGAKkorilOU3eTud8KUIK0UkFFFFSaBRRRQAUUUUAFFFFABRRRQAYzWZe6BpOpA/a9Pt5Sf4mjG78+tadFNScXdMmUIyVpK5w1/8L9FuQWtJJ7R+wDb1/I8/rXI6l8MdatMtaPDeJ2CnY/5Hj9a9norrp4+vDrf1OKrluHqfZt6HzXeWF3p8vlXdtLA/pIhXNVq+lrq0t72Ew3MEc0Z6rIoYfka4zWPhlpN4GksHeylPZfmT8jyPwNejSzWEtKiseVXyapHWk7njlFdFrPgrWtF3PLbmeAf8toPmXHuOo/Kudr04VIVFeDueTUpTpu01ZhRRRVmZa0/UrzS7oXNlcSQyj+JD19iO4+ten+GviXb3W221lVt5jwJ1+431H8P8vpXk1Fc1fC06695a9zqw2Mq4d+49Ox9NRyJKgdGDIwyGByCKfXgvhzxlqPh5xGjefZ5+aCQ8D/dPY/pXsWheI9P8QW3m2UvzqPnibh0+o/rXgYnB1KDu9V3PpsJj6eIVlo+xsUUUVyHcFFFFABRRRQAUUUUAFFFFABRRRQAUUUUAFFFFABRRRQAUUUUAFFFFABRRRQAVnaxrdloVkbq+lCJ/Co+859AO9Z/ifxVZeHLTdKRJdOP3UAPLe59BXiesa1e65etdXspdz91R91B6AV3YTBSrvmekTzcbmEcOuWOsvyNXxP4yvvEUpjyYLEH5IFPX3Y9zXNUUV9DTpxpx5YKyPl6tWdWXNN3YUUU5VLsFUEsTgAd6szG1b0/TL3VbkW9jbyTynso6e5PQCuz8N/Da6vglzq5a2tzyIR/rGHv/d/n9K9S03SrLSLYW9jbpDGOyjk+5PUmvNxOZQp+7T1f4HrYTKqlX3qmi/E4LQPhdEm2fWpvMfr5ERwo+rdT+GK9Bs7G10+AQWkEcMS9FRQBVmivFrYipWd5s+goYWlQVoIKKKKxOgKKKKACiiigAooooAKKKKACiiigAooooAKKKKACiiigAooooAKKKKADGa5bXPAeka1ul8v7LcnnzYRjJ9x0P866mirhUnTfNB2ZnUpQqrlmro8G17wTq2glpHj+0Wo/5bxDIA/2h1H8veubr6cZQwweRXE+I/h3p+qb7jT9tndnnAH7tz7jt9RXr4fNL+7W+88LFZQ171F/I8Zoq/qujX+i3Rt7+3aJ/wCE9VYeoPeqFevGSkrxd0eJKMoO0lZhVmyvrnTrpLm0meKZDkMp/wA5HtVaim0mrMUZOLuj2fwl49ttZCWd/tgv+g7LL9PQ+1dtXzGCVOQSCO4r0vwb8Qipj07WpMjhYrpu3s/+P5+teHjMucbzpbdj6HA5opWp1t+56jRTVYOMggg9DTq8k9wKKKKACiiigAooooAKKKKACiiigAooooAKKKKACiiigAooooAK5Xxd4wt/Dtt5Ue2W/kH7uLPC/wC03t/Ojxh4uh8O2nlxbZL+RT5cfZR/eb2/nXiV1dTXty9xcSNJNIdzuxySa9HBYL2r55/D+Z5GYZgqK9nT+L8h17fXOo3kl1dytLNIcszGq9FFfQpJKyPmZScndhRRXUeFfBt34ilEr5gsFOGmI5b2X1+vaoqVY04803ZF0qU6suWCuzI0fRL/AFy8FtYwl2/ic8Kg9Sa9h8MeB7DQUWaQC4vsczMOF/3R2+vWt3StJs9GsltbKFY41646sfUnuavV8/isfOt7sdIn0+Dy2FD3p6yCiiiuA9MKKKKACiiigAooooAKKKKACiiigAooooAKKKKACiiigAooooAKKKKACiiigAooooAKKKKACiiigCnqWl2erWjW17Ak0TdmHQ+oPY15F4q8A3ejb7ux3XNiOSMZeMe/qPevaaQgEYNdOHxVSg/d27HJisFTxC97fufMdFes+L/h7Hd777R0WO4+89uOFk9x6H9K8plikglaKVGSRDtZWGCD6GvocPiYV43jv2PlsThKmHlaf3jKKKK6TlO88FeOn0xk07U5GeyOFjlPJh/+x/lXr0ciyoHRgyMMqwOQRXzLXdeB/Gz6TImnai5axY4SQnmE/wDxP8q8fHYDm/eU1r1R7mXZly2pVXp0Z7HRTUdZFDKQykZBB4Ip1eIfRBRRRQAUUUUAFFFFABRRRQAUUUUAFFFFABRRRQAVz3irxPb+HNO81sPdSZEMWfvH1PsK0Na1i20LTJb66b5EHyqOrt2A968E1rWLrXNTkvbpsu3CqOiL2AruwWEdeV5fCjzcwxyw8eWPxMrX17cajeS3d1I0k0jZZj/npVeiivpEklZHykpOTuwoor0DwN4HN+yapqkZFqPmihYf633P+z/P6VlWrRow5pGuHw868+SBB4M8CyauU1DUlaOxBykfRpf8F/nXr8EEdvCsMKKkaDCqowAKeiKihVACgYAA6U6vmsRiZ15Xlt2PrsLhIYeFo79WFFFFc51BRRRQAUUUUAFFFFABRRRQAUUUUAFFFFABRRRQAUUUUAFFFFABRRRQAUUUUAFFFFABRRRQAUUUUAFFFFABRRRQAVyPi7wVbeIITcQbYdQUfLJjAk9m/wAa66irp1JU5c0XZmdWlCrFwmro+ar2yuNOu5LW6iaKaM4ZG7VXr3fxZ4StvEdmSNsV7GP3U2P/AB0+o/lXiN9Y3Om3klpdxtHNGcMp/n9K+kwmLjXj59j5PG4KWGl3i+pWooorsOE9D8A+MzaPHo+oyf6OxxBKx/1Z/un29PT+XrVfMVet/D3xf9uhXSL+TN1Gv7l2PMijsfcfyrxMwwdv3sPmfQZXj7/uany/yPQqKKK8c94KKKKACiiigAooooAKKKKACiiigAqOWZIImkkYKigszE4AA71JXmHxK8U/8wOzf0Nyyn8k/qfw962oUZVpqETnxOIjQpucjlvGXieTxFqh8tiLGElYU6Z9WPua5qiivqadONOChHZHxtWrKrNzluwoorqPBvhWTxFqO+UMthCQZX/vH+6Pc/yoq1I04uctkFKlKrNQjuzR8C+DDq8q6lqCEWCH5EP/AC1P/wASP1r2JECKFUAADAA7UyCCO2hSGJFSNFCqqjAAHapa+YxOIlXnzPbofYYTCww8OVb9QooornOoKKKKACiiigAooooAKKKKACiiigAooooAKKKKACiiigAooooAKKKKACiiigAooooAKKKKACiiigAooooAKKKKACiiigAooooAK5bxh4Sg8RWReMLHfxL+6k/vf7Le38q6mirp1JU5KUdzOrSjVg4TWjPmi5tprO4kt7iNo5Y2KujDBBqGvZPHvhAavbHULKP/AE+JfmUf8tVHb6jt+VeOEEHBBBHUV9NhcTGvDmW/U+QxmElh58r26CVJBNJbzJNC5SRGDKw6gjvUdFdLV9GcidndHvPg/wATR+ItKDsQt5FhZ0Hr/eHsf8a6Svnfw9rc+gavFew5Kj5ZEz99O4r3+xvoNRsoru2cPDKoZW9q+ax2F9hO6+Fn1uXYz6xTtL4kWaKKK4j0QooooAKKKKACiiigAooprMFGT0HU0AYfizX4/D2iyXOQZ3+SBD3Y/wBB1rwSaaS4meaVy8jsWZj1JPU10PjbxCde1x2ifNpb5jgHYju34n9MVzVfSYDDexp3e7Pksyxft6tl8KCiilVSxCqCSeAB3ruPONDRNHudc1SKxth8znLN2Re5Ne/aRpVtounRWVqu2OMde7HuT7msLwP4YXQdKEkyj7dcANKf7o7L+H866uvnMfivbT5Y/Cj6vLcH7CHPL4mFFFFcB6YUUUUAFFFFABRRRQAUUUUAFFFFABRRRQAUUUUAFFFFABRRRQAUUUUAFFFFABRRRQAUUUUAFFFFABRRRQAUUUUAFFFFABRRRQAUUUUAFFFFABXk3xG8J/ZZW1qxT9zIf9IRR91j/F9D39/rXrNQ3FvFdQSQTIHikUq6noQa3w9eVCakjmxWGjiKbg/kfNFFbvirw9J4d1h7fBa2f54HPdfT6jpWFX1MJxnFSjsz42pTlTk4S3QV6D8NfEv2S8/sa6f9xOcwE/wv/d/H+f1rz6nI7RuroxVlOQR1BqK9FVqbgzTDV5UKimj6bornvB+vr4g0KO4Yj7TH+7nX0Yd/x610NfKTg4ScZbo+0p1I1IqcdmFFFFSWFFFFABRRRQAVxXxG8Qf2Xon2KF8XN5lODyqfxH+n412busal2ICgZJJ6Cvn/AMVa02va/cXgJ8kHy4R6IOn58n8a7sBQ9rVu9kebmeJ9jRst2YlFFFfSnyYV3vw28N/b786tcpm3tmxED0aT1/D+ePSuN03T59V1GCxthmWZwo9vUn2A5r6F0rTYNI0yCxtxiOFQo9z3J9yea8zMsT7OHs47v8j1sqwntantJbL8y7RRRXz59QFFFFABRRRQAUUUUAFFFFABRRRQAUUUUAFFFFABRRRQAUUUUAFFFFABRRRQAUUUUAFFFFABRRRQAUUUUAFFFFABRRRQAUUUUAFFFFABRRRQAUUUUAFFFFAHPeL/AA+niHRXgUAXMfzwP6N6fQ9K8GkjaKRo3Uq6kqykcgivpqvIfiZ4e+x366vbpiG5O2UAfdk9fxH6j3r1ssxPLL2UtnseJm+E5o+2jutzgKKKK90+cOo8C68dD19BK+LS5xHLnoP7rfgf0Jr3WvmKvc/AWt/2z4djErZubb91JnqcfdP4j9Qa8XNKG1VfM9/J8TvRl6o6qiiivGPfCiiigAooooA474ja1/Znh020bYnvCYlweQv8R/Lj8a8TrqvH+r/2r4nmRGzBa/uU+o+8fzz+Qrla+lwFH2VFX3ep8hmVf21d22WgUUVc0vT5dU1O3sYf9ZM4QH0Hc/gOa7JNRV2cMYuTSR6P8LtB2QS61OnzPmKDP93+I/nx+Br0qq1jZRafZQ2kA2xRIEUewqzXymIrOtUc2fa4WgqFJQQUUUVidAUUUUAFFFFABRRRQAUUUUAFFFFABRRRQAUUUUAFFFFABRRRQAUUUUAFFFFABRRRQAUUUUAFFFFABRRRQAUUUUAFFFFABRRRQAUUUUAFFFFABRRRQAUUUUAFZ+s6XDrOk3FhN9yVMA4+6ex/A4rQopptO6JlFSTi9mfNN5aS2N5NaTrtlhco49xUFei/FLQ/IvINYiX5J/3c2P74HB/EcfhXnVfV4esq1NTPi8VQdCq4BXVfD/WTpPiWKN2xb3eIZPQE/dP58fia5WlVipBBII6EVdWmqkHB9SKNV0qimuh9OUVi+FtWGteHrS8LAyldkv8Avjg/4/jW1XyUouMnF9D7aE1OKktmFFFFSWFZXiPVBo+gXl9kbo4zsz3Y8L+pFatea/FfVNlrZaYh/wBYxmkA9Bwv6k/lW+Gpe1qxgc2LrexoymeXMxdizElicknuabRRX1h8U9Qr0j4V6N5lxc6vKvEf7mIn+8eWP5YH4mvOACxwOSeg9a+hPDGljRvD1pZYxIqBpPdzyf1Nebmdbkpci3Z6uU0PaVud7RNiiiivnj6kKKKKACiiigAooooAKKKKACiiigAooooAKKKKACiiigAooooAKKKKACiiigAooooAKKKKACiiigAooooAKKKKACiiigAooooAKKKKACiiigAooooAKKKKACiiigAooooAyvEekrrWhXVicbpEyhPZxyp/Ovnl0aN2R1KspIIPY19N14b8QtK/szxTLIi4iuh5y49T979efxr18qrWk6b66nh5zQvFVV00OUooor3D509I+FWrbLm70p2+WQedGPccN+mPyr1WvnXw/qJ0jX7K9zhY5Rv/AN08N+hNfRCsGAI6HpXzuZ0uStzLqfUZRW56PI/sjqKKK849YK8G8daj/aPi29YHKQt5CewXg/rmvbdTu1sNNubxvuwRNIffAzXzjJI0sjSOcu7FifUmvWymnecp9jw86q2hGn31GUUUV7p86dF4J0z+1PFdnEy7o4m86TjsvI/XA/Gve68z+E+m4hv9SYcswgQ+w5P81/KvTK+bzKrz17dj6vKaXJh+buFFFFcB6YUUUUAFFFFABRRRQAUUUUAFFFFABRRRQAUUUUAFFFFABRRTWYIpZiAAMkntQA6oY7mKWWSJJEZ4zh1DAlfr6V514u+Iqxb7DRHDOPle6HQey+p968+03XNQ0rUft1rcOJycuWOQ/s3rXo0ctqVIcz07HlV82pU6igte59GUVy/hbxpZeIYhE2IL4D5oSfve6+orqK4Z05U5cslZno0qsKseaDugoooqDQKKKKACiiigAooooAKKKKACiiigAooooAKKKKACiiigAooooAKKKKACiiigAooooAK4T4oaZ9q8PxXyjL2kmSf9huD+u2u7qlq1kupaVdWT/dniZPpkda1oVPZ1Iz7GGJpe1pSh3R830U+SNopGjcYZSVYehFMr61O58Q1bQK998Gaj/afhSwnZsyLH5T/VeP6Z/GvAq9U+E+oFrW/09j9x1mUfUYP8h+dedmlPmo83Y9XKKvLX5e56TRRRXzx9Scl8Rrz7J4PuEBw1w6xD88n9Aa8Pr1D4tXmItNswepeVh9MAfzNeX19FlkOWhfufKZtU5sRbsFFFT2lu13eQWyfelkWMfUnFeg3ZXZ5sVd2R7p4Hsf7P8I2EZGGkTzm+rc/yIroqjhiWCFIkGERQqj2FSV8fOXNNyfU+5pQ5IKK6IKinYpBIy9QpIqWobr/j1l/3D/KpW5ctjxI/ETxLn/j9X/v0v+FH/CxPEn/P6v8A36X/AArlj1NJX1aw1H+RfcfFvF17/G/vOq/4WJ4k/wCf5f8Av0v+FH/CxPEn/P8AL/36X/CuVoo+q0f5F9wvrdf+d/edV/wsTxJ/z/L/AN+l/wAKP+FieJP+f5f+/S/4VytFH1Wj/IvuD63X/nf3nWp8SPEiYzcxMPQxLWrZfFe/QgXthBKvcxsUP9a89oqZYKhLeJccfiI7TZ7jpPxC0PUysbzNaTH+GfgE+zdK6pHDqGUgqRkEHrXzJXQ+H/GOp+H5FWOQzWufmgkOR+HpXn18q0vSfyPTw2cu9qy+aPfKKxtA8S2HiG0860fEi/6yJj8yH39vetmvIlFxfLJWZ70JxnHmi7oKKKKkoKKKxPEPiew8O2vmXT7pWH7uFT8zn+g96qMZTfLFXZE5xhHmk7I0b+/tdNtHuruZYoUGSzV494s8d3OuF7Sy3W9h0Izhpfr6D2rG8QeJb/xFdebdPtiU/u4VPyp/ifesaveweXxp+/U1f5HzeOzOVX3KekfzCiiivTPIHwzSQSrLE7JIhyrKcEGvVfB/xDW7Men6wwW4OFjuOgc+jehrzCxsLrUrtLWzhaWZzwqj9T6CvYPCXgS20RUu7zbPf9c9Vj+nv715uYyoclp79O56uVxxHtL0/h69jtKKKjimjmUtG6uASCVOee4r54+puSUUUUAB6V4jc/EHxHFdzIl6oVXIH7pemfpXtvavmu9/4/7j/ro3869TLKcJuXOr7HjZvWnTjHkdtzov+FieJf8An9X/AL9L/hR/wsTxL/z+r/36X/CuVor1/qtH+VHh/XK/87+86r/hYniX/n9X/v0v+Fbvg/xlrer+J7WyvLpXgkD7l8tRnCkjoPavOK6n4ef8jtY/ST/0BqxxGGpKlJqK2ZvhsVWlWgnJ7rqe6UUUV80fXBRRRQAVyvj7WL3RNCiurCURymdUJKg8YJ7/AErqq4b4qf8AIrw/9fK/+gtW+FipVop9zlxsnHDzlF62OF/4WJ4l/wCf1f8Av0v+FH/CxPEn/P8AL/36X/CuVor6T6rR/kX3Hyf1uv8Azv7zqv8AhYniT/n+X/v0v+FH/CxPEn/P8v8A36X/AArlaKPqtH+RfcH1uv8Azv7z3PwFrF7regSXV/KJJROyAhQOAB6fWuqrh/hZ/wAirL/19P8A+grXcV83iUo1pJdz63BycqEG97BRRRWB0hRRRQAUUUUAeB+N7H7B4uv4wMJI/mr/AMCGT+pNc9XonxYstmpWF6B/rYmjJ/3Tn/2avO6+qwc+ehF+R8Xjqfs8RKPmFdd8N702ni+GMnC3MbxH8tw/9Brka0NDu/sOu2F1nAjnRj9MjP6Zq8RDnpSj5EYafs60ZdmfRtFFFfJH254x8UbnzvFSRA8Q26rj3JJ/qK4muh8cT/aPGWpPngSBP++VA/pXPV9XhI8tCK8j4rGS5sRN+YV0Pge1+1+MdOQjISQyH/gILD9QK56u4+Flv5vieaY9IrZiPqSB/LNGLly0JPyDBw568F5nstFFFfKH2oVDdf8AHrL/ALh/lU1Q3X/HrL/uH+VC3FLZnzSeppKU9TSV9ktj4N7hRRRTEFFFFABRRRQAUUUUAXNM1O70i+S8s5THKh/Bh6EdxXu3hnxDbeItLW5iwsq/LNFnlG/w9K+fa3PCmvyeHtajuQSbdyEnQd19fqOtcGOwirR5o/Ej0cvxroT5ZfCz6BoqD7VD9mFx5iiErv3k8Y9c15j4u+IrTb7DRXKx/de5HBb2X0HvXhUMPOtLlij6TEYqnQhzSZ0Hi3x5baKHtLIrPf8AQ91i+vv7V5BfX1zqV29zdzNLM5yWY/54quzFiSSSTySaSvosNhIUFpv3PlsXjamIl723YKKKK6jjCtrw/wCGb/xFdiO1TbCp/eTMPlT/ABPtWz4T8B3OtlLu+3W9h1HZpfp6D3r2CxsLbTbRLW0hSKFBgKorzMXmEafuU9X+R6+ByyVX36mkfzM7QPDNh4dtfKtUzIw/eTMPmc/4e1a800dvE0srqkajLMxwAKp6trFlolk11fTCOMdB3Y+gHevGfFHjO98RStEpaCxU/JCD1929a8uhhquKnzPbqz18RiqODhyxWvRG94t+Ij3Jex0ZykP3XuRwz/7voPeuX8PeKdQ8O3fmQOZIHOZIXPyt7+x96wqK96GEpQp+zS0Pm6mNrTqe0b1PoXQfEdh4htBPaSYcD95Ex+ZD7j+tbFfNmn6jdaXeJdWczRTJ0Ze/sfUV7H4S8c2uvKttchYNQx9z+GT3X/CvGxeAlR96GsfyPfwOZRre5U0l+Z1/avmu9/4/7j/ro386+lOxr5rvf+P+4/66N/Ot8p3n8jnzv4YfMr0UUV7Z88FdT8PP+R1sfpJ/6A1ctXU/Dz/kdbH6Sf8AoDVhif4MvRnRhP48PVHulFFFfJn2wUUUUAFcN8VP+RWh/wCvlf8A0Fq7muG+Kn/IrQ/9fS/+gtXTg/48PU5Mf/u0/Q8booor6o+MCiiigD2X4Wf8ipJ/19P/ACWu4rh/hb/yKkn/AF9P/wCgrXcV8pi/48/U+zwP+7Q9AooornOsKKKKACiiigDhPipa+b4bguAPmguBz7EEfzxXjte8+O7f7T4N1FcZKoJB/wABYH+leDV9BlUr0WuzPl84haun3QUUUV6Z5J9HaXcfbNJsrrOfOgR8/VQaKy/BE32jwbpr5+7GU/75Yr/SivjqnuzcezPuKNp04y7o8W1+XzvEWpS9d11IR9NxrOqa8fzL2d/70jH9ahr66CtFI+KqO8mwr0v4Rw5m1WYjosaD8SxP8hXmlesfCVMaZqMnrMq/kv8A9euTMXbDv5Hblavio/P8j0Wiiivmj64Khuv+PWX/AHD/ACqaobr/AI9Zf9w/yoW4pbM+aT1NJSnqaSvslsfBvcKKKKYj0L4ZaVYan/af220huPL8vZ5i5253Zx+VehHwpoBGP7ItP+/QrifhF/zF/wDtl/7PXp9fN46pNYiST/qx9XltKEsNFuK/pnI6j8OdAvUPlQNaSdmhbj8jxXmfiXwff+HHDyfvrRjhJ0HH0I7GveqrX1lBqFnLaXKB4ZVKsp7ipw+Oq0nq7orFZbRrR91WZ810Vo65pb6NrVzp7nPlPhW/vKeQfyxWdX0kZKSUlsz5ScXCTi90FFFFUSa114j1K70e20qSci1gXaFXjfzxu9cdKyaKKiMIw0irFTnKbvJ3Ciirul6VeaxepaWUJkkbr6KPUnsKcpKKu9hRi5Oy3KscbzSLHGrM7HCqoySfavUfCPw6WHZf60gaQfMlseQvoW9T7VveFPBVn4fjE0gWe/I+aUjhfZfT611RIA5rw8XmDn7lLbufR4HK1D362r7CKoVQqgADoBXOeJ/GFj4dh2sRNeMPkgU8/VvQVheLviHFY77HSGWW5HDz9Vj+nqa8pnnlup3mnkaSVzlnc5JNLCZe6nv1NF+Y8bmcafuUtX+Rc1jW77Xbxrm9lLt0VB91B6AVnUUV7sYqKtHY+cnOU3zSd2FFFdJ4Y8H33iKYOAYbJT887Dr7L6mpqVI04803ZFUqU6suWCuzK0nR73Wr1bWxhMkh6n+FR6k9q9m8LeDLLw7EJTie+I+aYjp7L6CtbRtEsdCsha2UQRerMfvOfUmrV3eW9hbPcXUqRQoMs7HAFfP4rHTrvlhovzPpsHl8MOueprL8iZjtBJ6V82XuDfXBHIMjfzrsPFvj+41YvZaaXgsujP0eX/Ae1cPXo5dhp0k5T6nl5pjIV2oQ6dQooor0zyQrqfh5/wAjrY/ST/0Bq5aup+Hn/I62P0k/9AasMT/Bl6M6MJ/Hh6o90ooor5M+2CiiigArhvip/wAivD/18r/6C1dzXDfFT/kV4f8Ar5X+TV04P+PD1OTH/wC7T9Dxuiiivqj4wKKKKAPZfhb/AMipJ/19P/6CtdxXD/C3/kVJP+vp/wD0Fa7ivlMX/Hn6n2eB/wB2h6BRRRXOdYUUUUAFFFFAGbr0P2jw/qMP9+2kX81NfOlfTFwglt5Iz0ZSPzFfM+MV7WUPSa9D57O4+9B+oUUUV7J4R7V8NZt/g+JSf9XNIv65/rRWd8MrpY/DU6uel22PpsSivl8VT/fS9T63CVrUIeh5OSWJJ6mkoor6g+SCvX/hOv8AxT14cdbs8/8AAFryCvYPhQf+Kaux6Xjf+gJXnZn/AAPmj08o/wB5XozvaKKK+dPqwqG5/wCPWX/cP8qmqG5/49pf9w/yoW4pbM+aT1NJSnqaSvslsfBvcKKKKYj074Rf8xf/ALZf+z16fXmHwi/5i3/bL/2avT6+YzD/AHiX9dD6/LP91j8/zCiiiuM7zx74q2wi8Q204GPNtxn3IJ/oRXB13nxVuRJ4gtYAc+VbjPsSx/oBXB19Rgb/AFeNz43MLfWZ27hRRRXWcYUUUUAFX9I1i90S9W6spSjjhh1Vh6Ed6oUVMoqSs9hxk4vmi9T3HQPHWmavYvJPKlpPEu6WORuMeoPcVxPi34gT6pvstLZ4bPo0nR5P8BXCUVxUsupU6nPuehVzStUp8m3d9wooorvPOClAyaltbWe9uUt7aJpZXOFRRkmvW/CPw/g0vZe6mFmvRysfVYv8TXNicVChG8t+x14XB1MRK0du5z3hH4eS32y+1dWituqQdGf6+g/WvWLe3itYEhhjWONBhUUYAFS1yHivxzaaCjW9vtnvyOEB+WP3b/CvAnUrYupb8D6WnSoYGnf8e5sa74isPD9mZ7uT5iP3cS/ec+w/rXi3iPxVf+I7ndO/l26n93Ap+Vfc+p96zdR1K71W8e6vZmllbue3sB2FVK9nCYGFFc0tZHg43MZ13yx0iFFFFd55oUUUUAFdT8PP+R1sfpJ/6A1ctXU/Dz/kdbH6Sf8AoDVhif4MvRnRhP48PVHulFFFfJn2wUUUUAFcN8VP+RXh/wCvlf5NXc1w3xU/5FeH/r5X+TV04P8Ajw9Tkx/+7T9Dxuiiivqj4wKKKKAPZfhb/wAipJ/19P8A+grXcVw/ws/5FWX/AK+n/wDQVruK+Uxf8efqfZ4H/doegUUUVznWFFFFABRRRQAjdDXzRcAC4kA6Bz/Ovpduhr5ouf8Aj6m/3z/OvYyjefyPBzvaHz/Qiooor2z5873wTO8ejTBSMfaGP/jq0VH4N/5A8v8A13P/AKCtFeFiP4svU9uh/CicTKuyZ0/usR+tMq5qsfk6vexHqk7r+TGqde3F3SZ40lZtBXrnwmfOiX0eelzn81H+FeR16l8JJcwarF/daNvzDD+lcWZK+HfyO/KnbEr5npdFFFfNn1oVDc/8e0v+4f5VNUNz/wAe0v8AuH+VNbilsz5pPekpT3pK+xWx8G9wooopiPTvhF/zFv8Atl/7NXp9eSfDHVbDTP7S+23cVvv8vZ5jYzjdmvQX8W6Ai5OrWuPaTNfN4+nN4iTS7fkfV5bVhHDRTa6/mbVVr29g0+zlu7mQJDGpZmNcxqPxH0GzQ+TM93IOixLx+ZrzTxL4wv8AxHIEk/c2inKwIePqT3NTh8BVqv3lZFYnMqNKPuu7M7XdUfWdaub9wR5r5VT/AAqOAPyArOoor6SMVGKitkfKTm5ycnuwoooqiQorXufDWp2ujW2qvATaTru3LzsGeM+mev41kVEZxnrF3KnTlDSSsFFFFWSFFFFABWpomgX2v3gt7KPIH35G+6g9Say63fDfii+8OXReA+Zbuf3kLdG9x6H3rKs6ig/Z7mtBU3UXtdj2Dw34TsPDlviFRJcsP3k7Dk+w9BW87rGhZyFUDJJPArAsvGWjXmjtqX2pYo4x+8Rz8yn0x3/CvMvFfjm715mtrYtb2GcbAfmk92/wr56nhq2IqPm+bZ9RUxeHwtJcnySN/wAXfEXl7DRH/wBl7ofyT/GvM3dpHLuxZmOSSckmm0V79DDwoRtE+axGKqYiXNNhRRTkRpHCIpZmOAAMkmtjnSuNor07wj8OuEv9bTn70dqf5t/hXnF4AL2cAAASMAB9awpYiFWbjDWx01cLUpQjOelyCiiiug5grqfh5/yOtj9JP/QGrlq3/Bl/baX4ptbu8lEUCB9zkE4ypA6VhiE3Rkl2ZvhWlWg33R79RXM/8J94a/6CS/8AfDf4Uf8ACfeGv+gkv/fDf4V8x9Xq/wAr+4+w+tUf519501Fcz/wn3hr/AKCS/wDfDf4Uf8J94a/6CS/98N/hR9Xq/wAr+4PrVH+dfedNXDfFT/kV4f8Ar5X+TV1Ola1Ya1C81hOJkRtrEAjB/GuW+Kn/ACK8P/Xyv/oLVrhE1iIp9zHGyUsLNrax43RRRX1J8cFFFFAHsvws/wCRVl/6+n/9BWu4ry/wB4o0fRvD8ltf3YhlNwzhSpPBA54HtXVf8J94a/6CS/8AfDf4V8xiqNR1pNRe/Y+uweIpRw8E5LbudNRXNf8ACfeGv+gkv/ftv8KP+E98Nf8AQTX/AL9t/hWHsKv8r+46frVD+dfedLRXNf8ACe+Gv+gmv/ftv8K6QEEZFTKnOHxKxcKsJ/A0xaKKKg0GucKSfSvmZ23yM3qSa+kNSl8nTLqXpshdvyBr5tr2coXxv0Pn87esF6hRRRXtHgnpfw9sjcaBO4UHF0w5H+ylFa/wxg2+FHbH37l2/RR/Sivm8TVtWkvM+mw1C9GL8jzbxXD5HivVExj/AEl2/M5/rWNXV/EW38nxndNjAlRJB/3yB/SuUr3sPLmpRfkjwMVHlrSXmwr0L4Tz7dYv4M/fgD4/3Wx/7NXntdb8OLnyPGVumcCaN4z+W7/2Ws8bHmoSXkaYCXLiYPzPcKKKK+WPswqG5/49pf8AcP8AKpqhuf8Aj2l/3D/KmtxS2Z80nvSUp70lfYrY+De4UUUUxBRRRQAUUUUAFFFFABW74T8PyeIdZjt9p+zRkPO47L6fU9KoaTpN3rN+lnZxl5G6nso7knsK918N+H7bw7pa2sPzSH5pZSOXb1+npXBjsWqMOWPxM9LL8E68+aXwo1PssP2cW/lr5IXZsI4x6YrzHxd8Omh332iIWT7z2o6j/d9fpXqlFeFQxE6MuaLPo8RhadeHLNHzGylSVYEMDgg9qSvafFvgS21tWu7ILBf9ScYWT6+/vXj99YXWm3b2t5C0UyHBVh/L2r6LDYuFdab9j5bF4Kphpa7dytRRRXUcYUUUUAHbFFFFABRRW74c8LX/AIiudsClLdT+8nYfKv09T7VE6kaceaTsi6dOVSXLBXZm6fpt3qt4lrZQtLK54A7e5PYV7F4U8DWmgotzcbbi/wAffI+WP2Uf1rZ0Lw7YeHrTyLOMbj/rJW+859z/AErXr5/F4+Vb3YaR/M+mwOWxo+/U1l+Qnavmu9/4/wC4/wCujfzr6U7V813v/H/cf9dG/nXRlO8/kc+d/DD5leiiivbPngooooAKKKKACiiigD1z4T/8gO+/6+f/AGUVY+Kn/Irw/wDXyv8A6C1V/hP/AMgO+/6+f/ZRVj4qf8ivD/18r/6C1fPv/f8A5n0y/wCRb8jxuiiivoD5kKKKKACiiigAooooAUdR9a+mY/8AVr9K+Zh1/GvpmP8A1a/SvFzf7HzPfyT7fyH0UUV4x75i+LZ/s/hTVJM4/wBGdR9SMf1r58r274k3PkeDp0zgzSJGPzz/ACWvEa97KY2pOXdnzOdSvWUeyCiiivVPHPcvh7D5PgqxOMFy7n/vs4/TFFafhi3+y+F9Mixgi2Qke5GT+por5GtLmqSfmz7bDrlpRj5I89+LFqU1awuscSQtH/3yc/8As1eeV7B8VbPzvD1vdKMmCcA/7rAj+eK8fr6DLp82HXkfM5pDkxL89QrT8PXf2HxFp9yThY7hCx9s4P6E1mUvQ8V2TjzRcX1OGEuWSl2Ppyis7Q70ajolleZyZoVY/XHP65rRr49pp2Z91GSlFNBUNz/x7S/7h/lU1RTqXgkVerKQKS3HLY+aD1NJXWn4ceJM/wDHrF/3+Wj/AIVx4l/59Yv+/wAtfVLFUP5kfGPB4i/wP7jkqK63/hXHiX/n1i/7/LR/wrjxL/z6xf8Af5af1uh/MhfU8R/IzkqK63/hXHiX/n1i/wC/y0f8K48S/wDPrF/3+Wj63Q/mQfU8R/IzkqK69Phr4jdgGghQepmH9K1bL4UXrsDe6hDEvcRKWP64qZY2hHeRccBiZbQZ53XSeHvBeqa86uIzb2hPM8gwD/ujvXp+k+AND0oiTyDczDkPP83P06V1IUKAAAAOgFefXzS6tSXzZ6eGybW9Z/JGToPh2x8PWfkWcfzH/WSt95z7n+la9FFePKTk+aT1PdhCMI8sVZBRRRSKCsTxB4ZsPEVr5V0m2VR+7mUfMh/qPatuiqjKUHzRdmROEZx5ZK6PnvxB4av/AA7d+VdJuiY/u5lHyv8A4H2rGr6TvrC21K1e2u4VlhcYKsK8f8W+A7nRGe7sQ1xYdT3aL6+o9693CZgqnuVNH+Z83jsslS9+nrH8jjKKKK9Q8gKKkhhkuJVihRnkc4VFGSTXqnhH4dx2nl32sqsk/DJb9VT/AHvU+3SufEYmFCN5HVhsJUxErQ27nPeEvANxq5S81ENBY9VXo8o9vQe9evWdnb2FsltaxJFCgwqKMAVOAAMAYFLXzmIxM68ry27H1OFwdPDxtHfuFFFFc51idjXzXe/8f9x/10b+dfSp6V4jdfD/AMRy3czrZKVaRmH71ehP1r1Msqwg5c7tseNm9KdSMORX3OQorqv+Fd+Jf+fJf+/q/wCNH/Cu/Ev/AD5L/wB/V/xr2PrNH+ZfeeF9Tr/yP7jlaK6r/hXfiX/nyX/v6v8AjR/wrvxL/wA+S/8Af1f8aPrVH+ZfeH1Ov/I/uOVorqv+Fd+Jf+fJf+/q/wCNH/Cu/Ev/AD5L/wB/V/xo+tUf5l94fU6/8j+45Wiuq/4V34l/58l/7+r/AI0f8K78S/8APkv/AH9X/Gj61R/mX3h9Tr/yP7jsvhP/AMgO+/6+f/ZRVj4qf8ivD/18r/6C1Wfh9ol/oWl3UN/CIpJJt6gMDkbQO1S+PtHvdb0KO2sIhJKJw5BYDjB9frXhupH67z30ufRKnP8As/ktrbY8Norqv+Fd+Jf+fJf+/q/40f8ACu/Ev/Pkv/f1f8a9z61R/mX3nzv1Ov8AyP7jlaK6r/hXfiX/AJ8l/wC/q/40f8K78S/8+S/9/V/xo+tUf5l94fU6/wDI/uOVorqv+Fd+Jf8AnyX/AL+r/jR/wrvxL/z5L/39X/Gj61R/mX3h9Tr/AMj+45Wiuq/4V34l/wCfJf8Av6v+NH/CvPEv/Pkv/f1f8aPrVH+ZfeH1Ov8AyP7jlh1/GvpmP/Vr9K8PHw78S5H+hL1/56r/AI17ggwgB6gV5OaVYVOXkd9z28no1KfPzq2w+iiivJPbPNfi1eYtdOswfvu0pH0GB/6Ea8srsviZe/avFZhB+W2iWPHufmP8x+VcbX0+AhyUI+ep8dmNTnxMn20CpbeFrm5igT70jqg+pOKirf8ABVn9u8X6dHjISXzT/wABBb+YFdFWXJBy7I5qMOepGPdnvMUSxQpGgwqKFA9hRUtFfIH3S0MTxbZf2h4W1G3AyxhLqPUr8w/UV8+19NsoZSD0NfOmtWJ0zW72yxgQysq/7ueP0xXs5TU+KHzPn87paxqfIz6KKK9o8E9m+GF/9q8MtasfmtZSmP8AZPzD9Sfyrt68b+F+p/ZfEMtkzYS7iwP95eR+m6vZK+Yx1P2deS76n1+W1faYePloFFFFcZ3hRRRQAUUUUAFFFFABRRRQAUUUUAFFFFABRRRQAUUUUAFIyhlIIBB4INLRQB5r4u+HSy77/RUCyfee2HAb3X0PtXn2m6HqGq6j9htrdzMDh9wwE9S3pX0XUUdvFFJJIkaK8nLsFALfX1r0KOZVKcOV69jyq+VUqlRTWnc5zwt4NsvD0IkIE98w+eYjp7L6CuooorinUlUlzSd2ejSpQpR5YKyCiiioNAooooAKKKKACiiigAooooAKKKKACiiigAooooAKKKKACiiigAooooAKKKKACiiigApruqKWYgKBkk9qdXOeONS/szwneyK2JJV8lPq3H8sn8KqEHOSiupnVmqcHN9DxPV746lrF5en/AJbTM49gTwPyxVGiivr4xUUkj4eUnKTk+oV6D8KbHzdYvb0jKwwhB9WP+Cn868+r2n4Zaf8AZPCwuGGHupWk567R8o/kT+NcWY1OSg130O/KqfPiE+2p2lFFFfNn1oV478UdN+za9DfKMJdRYY/7S8fy217FXIfEXS/7R8KyyouZLRhMPXA4b9CT+FdeCq+zrxffQ4cxo+1w8l1Wp4jRRRX1B8eW9NvZNN1K2vY/vwyK4Hrg9K+jLa4ju7aK4iO6OVA6n1BGRXzRXs/w01j7d4dNnI2ZrNtmM87Dyp/mPwryM1pXiqi6Ht5NXtN0n1O2ooorwz6MKKKKACiiigAooooAKKKKACiiigAooooAKKKKACiiigAooooAKKKKACiiigAooooAKKKKACiiigAooooAKKKKACiiigAooooAKKKKACiiigAooooAKKKKACiiigAooooAK8o+Kuq+ZeWmlo3yxL50gH948D9M/nXqc0yQQvLIwVEUsxPYDrXztrepNq+tXd+2f30hKg9l6AfkBXpZZS56vO9keTm9fko8i3Zn0UUV9CfLkkED3E8cMYzJI4RR6knAr6O02yTTtNtrOP7kEaoPfAxXjXw60v8AtHxTFKy5itFMzZ9ei/qc/hXuFeDmtW81BdD6PJqNoSqPqFFFFeUe2FRzQpPC8UihkdSrA9wetSUUCavofOOtaa+kaxdWEmcwyFQT3XqD+IxVCvS/ipou2S11iNeG/czEevVT/MfgK80r6rC1va0lI+LxlD2NaUArpvAus/2N4lhMjYt7j9zJnoMng/gcfrXM0VrVpqpBwfUypVHSmprofTtFc14J1z+3PDsUkjZuYP3U3PJI6H8Rg/nXS18nODhJxfQ+2pVFUgpx2YUUUVBoFFFFABRRRQAUUUUAFFFFABRRRQAUUUUAFFFFABRRRQAUUUUAFFFFABRRRQAUUUUAFFFFABRRRQAUUUUAFFFFABRRRQAUUUUAFFFFABRRRQAUUUUAFFFFABRRTWYKMngDvQBxfxK1oafoH2GNsT3p2cdkH3j/ACH414xW/wCMdbOu+IZ7hGJt4/3UP+6O/wCJyfxrAr6fA0PZUUnu9WfH5hiPb1m1stEFFFXtG02TV9XtrCLO6ZwpP90dz+AzXVKSinJ9DjhFykordnrPwz0n7D4dN5IuJb19/P8AcHC/1P4121Q21vHa28cEShY40CKo7ADAqavkq1R1Kjm+p9tQpKlTjBdAooorM2CiiigDN1zS49Z0a5sJMYmQhSf4W6g/gcV883FvJaXMtvMpWWJyjqexBwa+mK8j+J2g/ZtQj1eFf3Vx8kuB0cDg/iB+lepllfln7N7P8zxs3w3PBVY7r8jz6iiivfPmjqfAmv8A9h6+qyvi0usRy56A/wALfgf0Jr3MHIzXzHXtfw/8R/2xowtZ3zeWgCtk8unZv6H6e9eLmmH/AOX0fme9k+K3oy+R2VFFFeMfQBRRRQAUUUUAFFFFABRRRQAUUUUAFFFFABRRRQAUUUUAFFFFABRRRQAUUUUAFFFFABRRRQAUUUUAFFFFABRRRQAUUUUAFFFFABRRRQAUUUUAFFFFABRRRQAVxfxE8Qf2Xon2OF8XV4Cgx1VP4j/T8a666uYrO2kuJ2CRRqWdj2Ar5+8R61Lr+tTXr5CE7YkP8KDoP6/U13Zfh/a1LvZHmZnivY0uVbsyaKKK+lPlAr0/4WaHhLjWZl+9+5gz6fxH+Q/OvO9NsJtU1GCxtxmWZwo9vU/gOa+h9NsIdL06CygGI4UCL74715WZ1+WHs1u/yPYyjDc9T2r2X5luiiivBPpgooooAKKKKACs/WtKh1rSbiwm+7KuAcfdPY/ga0KKabTuiZRUk4vY+ar6ym06+ms7hdssLlGH0qvXqnxN8N+bCut2yZeMbbgAdV7N+HT6Y9K8rr6nC11WpqXXqfG4zDPD1XB7dArT0HWZ9C1eG/hydhw6Z4dD1FZlFbyipRcXsznhNwkpR3R9J6ffwanYw3ls++GVQymrVeOfDzxV/Zl5/Zd3Ji0uG/dsTxG5/of5/jXsdfLYnDuhUcXt0PssHiY4impLfqFFFFc51BRRRQAUUUUAFFFFABRRRQAUUUUAFFFFABRRRQAUUUUAFFFFABRRRQAUUUUAFFFFABRRRQAUUUUAFFFFABRRRQAUUUUAFFFFABRRRQAUUUUAFFFc14x8Sx+HdJLoQbybKwIfX+8fYVcISnJRjuzOrUjTg5y2RyXxL8T72/sO1f5QQ1ywPU9k/qfwrzSnyyvPK8srF5HYszE8knqaZX1OHoKjTUEfG4rESr1HNhRRWx4a0OXxBrUNkmRH9+Vx/Cg6/wCH41pOahFylsjKnB1JKMd2d58MPD3lwSa1OuHkzHACP4f4m/Hp+B9a9JqG2t47S3jt4VCRRqERR0AHSpq+Vr1nWqObPs8NQVCkoIKKKKxOgKKKKACiiigAooooAjmhS4heKVQ8bqVZT0IPUV4L4s8PSeHdYeAAm2ky8Dnuvp9R0r36sPxT4fi8RaQ9q+FmX54ZP7rf4Hoa7MFifYVNdnucGYYRYinp8S2Pn6ipru1msrqW2uIzHNExV1PYioa+mTTV0fItNOzCvYPh/wCLhqdsNLvpP9NiX92zHmVR/Uf5714/UttcS2lxHcQSNHLGwZHU8giufFYaNeHK9+h04PFSw9TmW3U+mKK5jwf4rh8R2GHIS+iA86P1/wBoe38q6evmJwlTk4y3R9hSqxqxU4PRhRRRUGgUUUUAFFFFABRRRQAUUUUAFFFFABRRRQAUUUUAFFFFABRRRQAUUUUAFFFFABRRRQAUUUUAFFFFABRRRQAUUUUAFFFFABRRRQAUUVDc3MNnbvPPII4o1LM7HAAFAm0ldlfVtUttG0+W9u32xRjPux7Ae5rwPXtbudf1SS9uDjdwiA8IvYCtPxh4ql8RX+2MsljEf3MZ7/7R9z+n51zNfQ4DB+yjzz+J/gfLZljvby5IfCvxCiiivSPLHKrOwVQSxOAB1Jr3LwR4aHh/RwZVH224w8x/u+i/h/PNcj8N/ChuJhrd5H+6jP8AoysPvN/e+g7e/wBK9XrwsyxXM/ZR2W59HlWD5V7ae72CiiivJPbCiiigAooooAKKKKACiiigAooooA4L4g+Ef7TtjqtlHm8hX94gHMqD+o/z2ryA8GvpyvJviD4NNnI+safH+4c5uI1H3D/eHse/pXsZdjLfup/L/I8HNMDf99TXr/med0UUV7Z8+W9N1K60m+jvLOQxzRnII6H1B9RXuXhfxPa+I7DzYyEuUAE0JPKn1HtXgVXNM1S60i/jvLOQpMh/Bh3BHcVxYzBxrxuviO/A46WGlZ6xZ9I0VzvhbxXa+I7PchEd2g/ewE8j3HqK6Kvm5wlCTjJWZ9ZTqRqRUou6CiiipLCiiigAooooAKKKKACiiigAooooAKKKKACiiigAooooAKKKKACiiigAooooAKKKKACiiigAooooAKKKKACiiigAooqG5uYbS3eeeRY4kG5nY4AFAm0tWLNPHbxNLK4SNAWZmOAAO5rxnxt4zfXpzZ2bMunRt9DKR3Pt6D8aPGfjWTXZWs7MtHpyn6GU+p9vQf5HG17uBwPJ+8qb/kfOZjmPtP3VLbr5hRRRXrHihXR+EPDEviPVArArZxENPJ7f3R7ms/Q9Fute1KOztV5PLuRwi9ya950bR7XQ9NjsbRcIg5Y9XbuT7152PxnsY8kfif4HqZdgXXlzz+FfiXLe3jtYEghRUjjUKqqOAB2qWiivnT6lK2iCiiigYUUUUAFFFFABRRRQAUUUUAFFFFABTJI1lQo6hlYEEEZBFPooB6ni3jfwY+iTtfWKFtOkbkDnySex9vQ1xdfTE8EdzC8MqK8bqVZGGQQe1eM+M/BcuhTNeWStJpzn6mI+h9vQ17uAx3PanUevQ+bzHLnB+1pLTquxxtFFFeseKWbG+udOvI7u0laKaM5VlP8AnI9q9k8JeN7bXo1trnbBqAHKZ+WT3X/CvEqckjRurozK6nKspwQfWuTE4SFeOu/c7cJjZ4aWm3Y+m6K8x8J/EcYSx1x8Hol16/7/APjXpcciyoHRgyMMhgcgivna9CdGXLNH1OHxNOvHmgx9FFFYnQFFFFABRRRQAUUUUAFFFFABRRRQAUUUUAFFFFABRRRQAUUUUAFFFFABRRRQAUUUUAFFFFABRRRQAUUVzviXxfp/h2HErebdsPkt0PJ9z6CqhCU5csVdkVKkaceabsjV1PVLPR7J7u9mWKJe56k+gHc14t4r8Y3XiOYxLuhsEPyQ55b3b1Pt2rM1zX7/AMQXn2i9lJA+5GvCoPQD+tZde/g8AqXvz1l+R8zjsylW9yGkfzCiiivSPKCrmmaZdavfx2dnGXmkPHoB3J9BRpumXer3sdpZxGSZz0HQD1PoK9w8LeFrXw3Y7ExJdOB50xHLH0HoK4sZjI0I2XxHfgcDLESu/hRL4Z8OWvhzThbwgPM+DNMRy7f4egrcoor5ucnOTlLc+shCMIqMVogoooqSwooooAKKKKACiiigAooooAKKKKACiiigAooooAKjmhjuImilRXjcEMrDIIqSigGrnjnjLwJJpTPf6YjSWPV4xy0X+K/yrha+nCoYEEAg9q808X/DsOXv9EjAY5aS1HQ+pT/D8vSvaweYfYq/f/mfP4/K7XqUfu/yPLqKc6NG5R1KspwVIwQabXsHgtWCul8NeNNR8POsQJuLLPMDnp/unt/KuaoqKlOFSPLNXRpSqzpS5oOzPoTQ/E2m+IIN9nN+8Ay8L8On1H9RxWzXzPbXM1pOs9vK8UqHKuhwR+Nei+Hvie6BLfXIy69PtMQ5/wCBL/UflXiYnLZw96nqj6HC5tCfu1tH36HqdFVbHUbTUrcXFnPHNEejI2f/ANVWq8xpp2Z7CakroKKKKQwooooAKKKKACiiigAooooAKKKKACiiigAooooAKKKKACiiigAooooAKKKQtgZPSgBainuIrWFpppFjjUZZ2OAB9a5XxB4/0rR90MDfbLsceXEflU/7Tf4c15VrnijU/EEu68nIiBysCcIv4dz7mu7D4CrW1eiPNxWZUqOkdWdt4n+JYAe00Lk9GumH/oI/qa80mnluJnmmkaSRzlnY5JPuajor3aGGp0FaKPnMRiqmIlebCiiiug5grS0bRL3Xb5bWyi3MeXc/dQepNX/DPhK+8Rz5QeVZqcSTsOPovqa9q0bRbLQrFbSyiCqOWY8s59Se5rzsZjo0fdjrL8j1MDl0q75p6R/MqeG/DFn4csvKgG+dxmWcj5nP9B7Vu0UV8/KTm+aW59PCEacVGKsgoooqSwooooAKKKKACiiigAooooAKKKKACiiigAooooAKKKKACiiigAooooA5LxT4HstfRp4ttvf44lA4f2Yd/r1rx7VdGvtFvDbX0DRP/CequPUHvX0dVHU9JstYtDbX0CyxHseoPqD2Nd+Fx86Puy1ieZjMthX96Okj5wort/Evw6vtLL3Om7ru0HJUD94g9wOo9x+VcSRj6179KtCrHmg7nzVbD1KMuWasJRRRWpiXNO1W+0m48+xupIJO5Q8H6jofxr0PRPimDti1m2x28+Acfiv+H5V5hRXPWwtKt8a1OqhjK1B+4z6P07V7DVYfNsbqOde+xuR9R1FXq+Z7e5ntJhNbzSRSjo8bFSPxFdjpXxM1ixAS9WO+jHd/lf8AMf1FeTWyqcdabue1QzmnLSqrHs9FcfpnxH0K+ws8j2ch7TL8v/fQ4/PFdTb3dvdxCW3mjmjPRo2DA/iK82pSnT+NWPVp16dVXhK5PRRRUGoUUUUAFFFFABRRRQAUUUUAFFFFABRRRQAUUhIA5rE1LxdoelZW51CLzB1jjO9vyHT8aqMZSdoq5E6kIK8nY3KY7rGhZ2CqBkknAFeZar8VjymlWP0luD/7KP8AGuH1XxHq2ssft17LImf9WDtQf8BHFd1LLa09ZaI82vm1GGkPeZ6vrfxF0bTA0du5vbgcbYT8o+rdPyzXm+ueN9Y1vdG832e2P/LGHgEehPU/y9q5uivWoYCjS1td+Z4uIzGvW0vZdkFFFFdpwBRRWro3h7UteuPKsYCyg/PI3CJ9T/TrUznGC5pOyKhCU3yxV2ZaqWIAGSegHevQfCnw4mvNl5rIaGDgrb9Hf/e9B7dfpXX+GvAthoIWeTFze4/1rjhT/sjt9etdZXiYrMnL3aWi7n0GDylR9+tv2Iba2itIEggjSOJBhUQYAFTUUV5J7aVlZBRRRQMKKKKACiiigAooooAKKKKACiiigAooooAKKKKACiiigAooooAKKKKACiiigAooooAK5XxD4F0vXd0wUWt4f+W0Y+8f9od/5+9dVRVwqSpvmg7Mzq0oVY8s1dHgGu+EdW0Bi1xB5lvnieLlPx9PxrBr6cZVZSrKCpGCCOtcXrnw30rU90tn/oNwef3YzGT7r2/DFevQzRbVV8zwsTk7XvUX8jxeiug1nwbrOibnmtjLAP8AlvD8y49+4/Gufr1oVIVFeLueNUpTpu01YKKK1YpWgsJ5kOGjiZgeOCBnvxROXKrhTp88uUy6mtru5s5PMtbiWB/70blT+lbeh6zqDlUWaK4dn2kbkxGCyqudvP8AFzx3GO+NuXVtTjjtswxFnleOUxx71G1mXIy6kDIUEnj5hyOlcEsdF6OJ6UcskteYzbH4ieIrLAa6S5Qdp0z+owf1ro7L4sjgX2ln3aGT+h/xpi3F9/a5t2MRtyivxCdy538E7sdF646/Wi41lLe8e2+x3cjK6JuRBtJfpgkj8fTvXNOWHnq4WOunDEw0jUv+J0Nr8S/DtwB5ks9uT2liJ/8AQc1sQeLNBuceVq1pk9mlCn8jiuHXWYW0w3xgnRAwXZIFVuW255OAM55JHQmorXXEnby2t5vNMjKAqDpuYLnJ4PynI68E4wM1yyo0X8N1/XodkK9dfFZ/16np0V5bXAzDcRSD/YcGpgwNeVf8JBEqW5ktbgPMF+VQp2ErnHUZPBHA5IIGcHBb+JJGsfMSC4e4WEyMkZABYKGwDn3H0yAeSAcXQXRmyxEuqPV6K87j1l5PPCSXP7kE4BJ3/wC6Aee35g9CCYrLxC99cPAj3KMoyC0ikMMKeCrH+8KPq/mP6z5HpGaa0qIMswUepOK8wv8AXru01aO3IkkgMYd2BJIzv7kgAfKOTwOcmjUNVkhjhkhCM0kbuI5SQx2gHA9+enJzxjqQew8w+sPoj0GfXtJtv9dqVpH/AL0yj+tZVz4/8N22QdREjekSM36gYrin1q4VSFiicrjBXJ8z/WYwO27YuOv3x17sTV750WUpAkLKMuyNhTlASeei7yD7oenbSNGmviuZSrVn8Nkbt58V9NjBFpY3Mx9XIQH+Z/SuevfinrM+Vtbe3tVPQ4LsPxPH6VJb65eSPGJbdYyzHKEEbRuA27snkAljkAgKeOc0x9fvAYylmrq6I/ykd0DY69SSQOOxwGPA6IfVoa8l/U5aixc/+XlvRHMX/iLWNUyLzUbiRT1TdtX/AL5GBWXXenW7oTMpWFY/lAk2EjlsFj83CqP14JU8Bk2u3X2B51giZwW/0dSS+QPukdiO/HrwAN1dkcbCOkY2OKeXVJu8p3OEorfutVmlcholAygz0znaCRycg5OPpwTzjIu/9bXZRrKpsefXw7pbleiirdjpt7qc/k2VtLPJ6IucfU9q1clFXZhGLk7JFSrFnZXWoXCwWkEk0rdFRcmvQdD+FsshWbWbkRr18iA5J9i3Qfhn616NpukWGkW/kWNrHCnfaOT9T1P415tfM6cNKer/AAPWw2U1amtTRfief+HvheMrca3ICev2aI/+hN/h+dejWlpBY2629tCkUSDCoi4AqxRXjVsRUrO82e/QwtKgrQQUUUVidAUUUUAFFFFABRRRQAUUUUAFFFFABRRRQAUUUUAFFFFABRRRQAUUUUAFFFFABRRRQAUUUUAFFFFABRRRQAUUUUAGK8c+Jlpb22qwGC3iiLqS5RAu4+px1oor0ss/jHkZv/BOGrb00AgAgEHqDRRXuVvhPnqHxnX6cisAWUEjpkVfS3hjXakMaqVC4VQBgZ4+nJ/OiivGlue9D4R4VV+6oHAHA7UtFFIobJGkqFJEV1ODhhketOoooDoNeNJCpdFbady5GcH1FOoooB7BRRRQIKKKKACiiigAooooGFMl/wBW30oooRL2OZ1L+KuSvP8AW0UV6uH2PHxQlooa6iDAEFwCCPevofSba3tdOhS3gihTYDtjQKM49qKK4s1+GJ3ZP8bL9FFFeGfSBRRRQAUUUUAFFFFABRRRQAUUUUAFFFFABRRRQAUUUUAFFFFAH//Z"/>
          <p:cNvSpPr>
            <a:spLocks noChangeAspect="1" noChangeArrowheads="1"/>
          </p:cNvSpPr>
          <p:nvPr/>
        </p:nvSpPr>
        <p:spPr bwMode="auto">
          <a:xfrm>
            <a:off x="1374775" y="1074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4" name="AutoShape 29" descr="data:image/jpeg;base64,/9j/4AAQSkZJRgABAQAAAQABAAD/2wBDAAgGBgcGBQgHBwcJCQgKDBQNDAsLDBkSEw8UHRofHh0aHBwgJC4nICIsIxwcKDcpLDAxNDQ0Hyc5PTgyPC4zNDL/2wBDAQkJCQwLDBgNDRgyIRwhMjIyMjIyMjIyMjIyMjIyMjIyMjIyMjIyMjIyMjIyMjIyMjIyMjIyMjIyMjIyMjIyMjL/wAARCAHi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rJ1TxJpGjg/br2KNx/wAswdzn/gI5ritU+K8Kkppdg0mOklw20f8AfI5/UVvSw1Wr8ETmrYyjR+OR6XVO71Ox09N15dwW4/6ayBc/nXiOo+OfEGpZD37wof4LcbAPxHP61zzyPK5d2ZmPUsck1308pk9ZyseZVzqK/hxv6ntt58R/DtpkJPLcsO0MZP6nArn7v4tKMiz0pj6NNLj9AP615hRXZDLKEd7s4J5viJbOx2tz8UNemyIltYB22Rkn9Sayp/G/iS4+/qso/wCuaqn8hXP0V0xwtCO0UcssZXlvNmjLr2sT58zVb1/Y3D4/nVR7u5k+/cSt/vOTUNFaqEVsjF1JPdikljknJpKKKsgkSaWP7kjr9GIqxHquoQnMd/dIf9mZh/WqdFS4p7opTktmbMPizxBB9zV7s/78hb+ea07f4jeJIfv3ccw9JIl/oBXJ0VlLD0ZbxX3GscVWjtN/eeiWvxZvlI+16bbyf9cnKfzzW7Z/FTRpsC6t7q2PrtDr+hz+lePUVhPLsPLZWOqGaYmPW/qfQdl4r0PUcC21O3Zj0R32MfwbBrZBDDI5r5jrRsNd1XSyPsV/PCB/Crnb/wB8niuOplP8kvvO2lnT/wCXkfuPoyivINN+KeqW5C39tDdJ3ZP3b/4fpXZ6X8Q9B1Laj3BtJT/DcDaP++un61wVcFXp7x+49OjmGHq6KVn5nWUUyOVJkDxsrKRkMpyDT65TtTuFFFFABRRRQAUUUUAFFFFABRRRQAUUUUAFFFFABRRRQAUUUUAFFFFABRRRQAUUUUAFFFFABRRRQAUUUUAFFFFABRRRQAUUU1mCKSSAB1JoAdTHdYkLOwVQMkk4ArjfEHxG0zS90Nli9uRx8jfu1Pu3f8K8x1rxTq2vOftlyRFnIhj+VB+Hf8c13UMvq1dXojzcTmdGjotWeo618RtH0zdHbE3044xEfkB92/wzXnmr+Ptc1Xciz/ZIT/yzt/lP4t1rl6K9ijgKNLW135nhV8yr1tL2XkKzFmJYksTkk9TSUUV2HA3cKKKKYBRRU9vaXN2+22t5Zm/uxIWP6Um0tWNJvREFFdDa+B/Ed3gppkqKe8pCfzOa17f4Wa5LgzTWkI9C5Y/oP61hLF0I7yR0Rwdee0GcPRXpcPwklPM2rovskBP6lquR/CWyH+s1S4b/AHY1H+NYvMcOuv4G8crxT+z+J5RRXrw+E+kcbr6+P0KD/wBlpx+FGjdr2/8AxZP/AImp/tPD+f3F/wBkYnsvvPH6K9bf4Taac+XqN2P94Kf6CqsvwjQ/6rV2H+/Bn+TCmsyw76/gS8qxK6fieXUV6BP8J9TXPkahayem8Mv9DWXc/DrxJBkraxzAd4pR/XFaxxlCW0kYywGIjvBnJ0Vo3eg6tY5Nzp11EB/E0Rx+fSs6uiM4y+F3OaUJR+JWCiiiqJCiiigDR0zXdT0d91heSwjOSgOVP1U8V3ui/FT7sWsWmOxng/qp/ofwrzGiuathKVX4lqdVDG1qPwPQ+jtN1jT9Xh82xuo5077TyPqOo/Gr9fNNrd3FlOs9rNJDKvR42KkV32g/E+4h2wazF56dPPjGHH1HQ/hivIr5ZOGtPVfie5hs3pz0qqz/AAPWKKpabq1jq9sLixuY5o+5U8j2I6g/Wrtea007M9eMlJXQUUUUhhRRRQAUUUUAFFFFABRRRQAUUUUAFFFFABRRRQAUUUUAFFFFABRRRQAUUUUAFFFFABRRRQAUVHNNHBG0krqkajLMxwAK808U/ErO+z0P6NdEf+gj+p/+vW1GhOtLlgjnxGKp4ePNNnY6/wCLNN8PRH7TJvuCMrBGcsfr6D3NeSeIPGuqa+zRs/2e0PSCI8H/AHj3/l7Vz800lxM0szs8jnLO5ySfrUde9hsBTo6vVnzWLzKrX0WkQooorvPOCiirmn6XfarP5Njayzydwi8D6noPxqZSUVdjjFydkinSqCzAAEk9AK9I0b4VyybZdXuxGOvkwct+LHj8ga7zS/DGkaMB9iso0cf8tGG5z/wI8159bM6UNIas9ShlNaprP3UeOaZ4I1/VMNHZNDGf+Wk/yD8jyfwFdhpvwniGG1LUXY90gXA/M/4V6XRXm1Myrz2dj1qWU4eHxas52x8EeHtPwY9OikYfxTfvD+vFb0UMcKBIkREHRVGAKkorilOU3eTud8KUIK0UkFFFFSaBRRRQAUUUUAFFFFABRRRQAYzWZe6BpOpA/a9Pt5Sf4mjG78+tadFNScXdMmUIyVpK5w1/8L9FuQWtJJ7R+wDb1/I8/rXI6l8MdatMtaPDeJ2CnY/5Hj9a9norrp4+vDrf1OKrluHqfZt6HzXeWF3p8vlXdtLA/pIhXNVq+lrq0t72Ew3MEc0Z6rIoYfka4zWPhlpN4GksHeylPZfmT8jyPwNejSzWEtKiseVXyapHWk7njlFdFrPgrWtF3PLbmeAf8toPmXHuOo/Kudr04VIVFeDueTUpTpu01ZhRRRVmZa0/UrzS7oXNlcSQyj+JD19iO4+ten+GviXb3W221lVt5jwJ1+431H8P8vpXk1Fc1fC06695a9zqw2Mq4d+49Ox9NRyJKgdGDIwyGByCKfXgvhzxlqPh5xGjefZ5+aCQ8D/dPY/pXsWheI9P8QW3m2UvzqPnibh0+o/rXgYnB1KDu9V3PpsJj6eIVlo+xsUUUVyHcFFFFABRRRQAUUUUAFFFFABRRRQAUUUUAFFFFABRRRQAUUUUAFFFFABRRRQAVnaxrdloVkbq+lCJ/Co+859AO9Z/ifxVZeHLTdKRJdOP3UAPLe59BXiesa1e65etdXspdz91R91B6AV3YTBSrvmekTzcbmEcOuWOsvyNXxP4yvvEUpjyYLEH5IFPX3Y9zXNUUV9DTpxpx5YKyPl6tWdWXNN3YUUU5VLsFUEsTgAd6szG1b0/TL3VbkW9jbyTynso6e5PQCuz8N/Da6vglzq5a2tzyIR/rGHv/d/n9K9S03SrLSLYW9jbpDGOyjk+5PUmvNxOZQp+7T1f4HrYTKqlX3qmi/E4LQPhdEm2fWpvMfr5ERwo+rdT+GK9Bs7G10+AQWkEcMS9FRQBVmivFrYipWd5s+goYWlQVoIKKKKxOgKKKKACiiigAooooAKKKKACiiigAooooAKKKKACiiigAooooAKKKKADGa5bXPAeka1ul8v7LcnnzYRjJ9x0P866mirhUnTfNB2ZnUpQqrlmro8G17wTq2glpHj+0Wo/5bxDIA/2h1H8veubr6cZQwweRXE+I/h3p+qb7jT9tndnnAH7tz7jt9RXr4fNL+7W+88LFZQ171F/I8Zoq/qujX+i3Rt7+3aJ/wCE9VYeoPeqFevGSkrxd0eJKMoO0lZhVmyvrnTrpLm0meKZDkMp/wA5HtVaim0mrMUZOLuj2fwl49ttZCWd/tgv+g7LL9PQ+1dtXzGCVOQSCO4r0vwb8Qipj07WpMjhYrpu3s/+P5+teHjMucbzpbdj6HA5opWp1t+56jRTVYOMggg9DTq8k9wKKKKACiiigAooooAKKKKACiiigAooooAKKKKACiiigAooooAK5Xxd4wt/Dtt5Ue2W/kH7uLPC/wC03t/Ojxh4uh8O2nlxbZL+RT5cfZR/eb2/nXiV1dTXty9xcSNJNIdzuxySa9HBYL2r55/D+Z5GYZgqK9nT+L8h17fXOo3kl1dytLNIcszGq9FFfQpJKyPmZScndhRRXUeFfBt34ilEr5gsFOGmI5b2X1+vaoqVY04803ZF0qU6suWCuzI0fRL/AFy8FtYwl2/ic8Kg9Sa9h8MeB7DQUWaQC4vsczMOF/3R2+vWt3StJs9GsltbKFY41646sfUnuavV8/isfOt7sdIn0+Dy2FD3p6yCiiiuA9MKKKKACiiigAooooAKKKKACiiigAooooAKKKKACiiigAooooAKKKKACiiigAooooAKKKKACiiigCnqWl2erWjW17Ak0TdmHQ+oPY15F4q8A3ejb7ux3XNiOSMZeMe/qPevaaQgEYNdOHxVSg/d27HJisFTxC97fufMdFes+L/h7Hd777R0WO4+89uOFk9x6H9K8plikglaKVGSRDtZWGCD6GvocPiYV43jv2PlsThKmHlaf3jKKKK6TlO88FeOn0xk07U5GeyOFjlPJh/+x/lXr0ciyoHRgyMMqwOQRXzLXdeB/Gz6TImnai5axY4SQnmE/wDxP8q8fHYDm/eU1r1R7mXZly2pVXp0Z7HRTUdZFDKQykZBB4Ip1eIfRBRRRQAUUUUAFFFFABRRRQAUUUUAFFFFABRRRQAVz3irxPb+HNO81sPdSZEMWfvH1PsK0Na1i20LTJb66b5EHyqOrt2A968E1rWLrXNTkvbpsu3CqOiL2AruwWEdeV5fCjzcwxyw8eWPxMrX17cajeS3d1I0k0jZZj/npVeiivpEklZHykpOTuwoor0DwN4HN+yapqkZFqPmihYf633P+z/P6VlWrRow5pGuHw868+SBB4M8CyauU1DUlaOxBykfRpf8F/nXr8EEdvCsMKKkaDCqowAKeiKihVACgYAA6U6vmsRiZ15Xlt2PrsLhIYeFo79WFFFFc51BRRRQAUUUUAFFFFABRRRQAUUUUAFFFFABRRRQAUUUUAFFFFABRRRQAUUUUAFFFFABRRRQAUUUUAFFFFABRRRQAVyPi7wVbeIITcQbYdQUfLJjAk9m/wAa66irp1JU5c0XZmdWlCrFwmro+ar2yuNOu5LW6iaKaM4ZG7VXr3fxZ4StvEdmSNsV7GP3U2P/AB0+o/lXiN9Y3Om3klpdxtHNGcMp/n9K+kwmLjXj59j5PG4KWGl3i+pWooorsOE9D8A+MzaPHo+oyf6OxxBKx/1Z/un29PT+XrVfMVet/D3xf9uhXSL+TN1Gv7l2PMijsfcfyrxMwwdv3sPmfQZXj7/uany/yPQqKKK8c94KKKKACiiigAooooAKKKKACiiigAqOWZIImkkYKigszE4AA71JXmHxK8U/8wOzf0Nyyn8k/qfw962oUZVpqETnxOIjQpucjlvGXieTxFqh8tiLGElYU6Z9WPua5qiivqadONOChHZHxtWrKrNzluwoorqPBvhWTxFqO+UMthCQZX/vH+6Pc/yoq1I04uctkFKlKrNQjuzR8C+DDq8q6lqCEWCH5EP/AC1P/wASP1r2JECKFUAADAA7UyCCO2hSGJFSNFCqqjAAHapa+YxOIlXnzPbofYYTCww8OVb9QooornOoKKKKACiiigAooooAKKKKACiiigAooooAKKKKACiiigAooooAKKKKACiiigAooooAKKKKACiiigAooooAKKKKACiiigAooooAK5bxh4Sg8RWReMLHfxL+6k/vf7Le38q6mirp1JU5KUdzOrSjVg4TWjPmi5tprO4kt7iNo5Y2KujDBBqGvZPHvhAavbHULKP/AE+JfmUf8tVHb6jt+VeOEEHBBBHUV9NhcTGvDmW/U+QxmElh58r26CVJBNJbzJNC5SRGDKw6gjvUdFdLV9GcidndHvPg/wATR+ItKDsQt5FhZ0Hr/eHsf8a6Svnfw9rc+gavFew5Kj5ZEz99O4r3+xvoNRsoru2cPDKoZW9q+ax2F9hO6+Fn1uXYz6xTtL4kWaKKK4j0QooooAKKKKACiiigAooprMFGT0HU0AYfizX4/D2iyXOQZ3+SBD3Y/wBB1rwSaaS4meaVy8jsWZj1JPU10PjbxCde1x2ifNpb5jgHYju34n9MVzVfSYDDexp3e7Pksyxft6tl8KCiilVSxCqCSeAB3ruPONDRNHudc1SKxth8znLN2Re5Ne/aRpVtounRWVqu2OMde7HuT7msLwP4YXQdKEkyj7dcANKf7o7L+H866uvnMfivbT5Y/Cj6vLcH7CHPL4mFFFFcB6YUUUUAFFFFABRRRQAUUUUAFFFFABRRRQAUUUUAFFFFABRRRQAUUUUAFFFFABRRRQAUUUUAFFFFABRRRQAUUUUAFFFFABRRRQAUUUUAFFFFABXk3xG8J/ZZW1qxT9zIf9IRR91j/F9D39/rXrNQ3FvFdQSQTIHikUq6noQa3w9eVCakjmxWGjiKbg/kfNFFbvirw9J4d1h7fBa2f54HPdfT6jpWFX1MJxnFSjsz42pTlTk4S3QV6D8NfEv2S8/sa6f9xOcwE/wv/d/H+f1rz6nI7RuroxVlOQR1BqK9FVqbgzTDV5UKimj6bornvB+vr4g0KO4Yj7TH+7nX0Yd/x610NfKTg4ScZbo+0p1I1IqcdmFFFFSWFFFFABRRRQAVxXxG8Qf2Xon2KF8XN5lODyqfxH+n412busal2ICgZJJ6Cvn/AMVa02va/cXgJ8kHy4R6IOn58n8a7sBQ9rVu9kebmeJ9jRst2YlFFFfSnyYV3vw28N/b786tcpm3tmxED0aT1/D+ePSuN03T59V1GCxthmWZwo9vUn2A5r6F0rTYNI0yCxtxiOFQo9z3J9yea8zMsT7OHs47v8j1sqwntantJbL8y7RRRXz59QFFFFABRRRQAUUUUAFFFFABRRRQAUUUUAFFFFABRRRQAUUUUAFFFFABRRRQAUUUUAFFFFABRRRQAUUUUAFFFFABRRRQAUUUUAFFFFABRRRQAUUUUAFFFFAHPeL/AA+niHRXgUAXMfzwP6N6fQ9K8GkjaKRo3Uq6kqykcgivpqvIfiZ4e+x366vbpiG5O2UAfdk9fxH6j3r1ssxPLL2UtnseJm+E5o+2jutzgKKKK90+cOo8C68dD19BK+LS5xHLnoP7rfgf0Jr3WvmKvc/AWt/2z4djErZubb91JnqcfdP4j9Qa8XNKG1VfM9/J8TvRl6o6qiiivGPfCiiigAooooA474ja1/Znh020bYnvCYlweQv8R/Lj8a8TrqvH+r/2r4nmRGzBa/uU+o+8fzz+Qrla+lwFH2VFX3ep8hmVf21d22WgUUVc0vT5dU1O3sYf9ZM4QH0Hc/gOa7JNRV2cMYuTSR6P8LtB2QS61OnzPmKDP93+I/nx+Br0qq1jZRafZQ2kA2xRIEUewqzXymIrOtUc2fa4WgqFJQQUUUVidAUUUUAFFFFABRRRQAUUUUAFFFFABRRRQAUUUUAFFFFABRRRQAUUUUAFFFFABRRRQAUUUUAFFFFABRRRQAUUUUAFFFFABRRRQAUUUUAFFFFABRRRQAUUUUAFZ+s6XDrOk3FhN9yVMA4+6ex/A4rQopptO6JlFSTi9mfNN5aS2N5NaTrtlhco49xUFei/FLQ/IvINYiX5J/3c2P74HB/EcfhXnVfV4esq1NTPi8VQdCq4BXVfD/WTpPiWKN2xb3eIZPQE/dP58fia5WlVipBBII6EVdWmqkHB9SKNV0qimuh9OUVi+FtWGteHrS8LAyldkv8Avjg/4/jW1XyUouMnF9D7aE1OKktmFFFFSWFZXiPVBo+gXl9kbo4zsz3Y8L+pFatea/FfVNlrZaYh/wBYxmkA9Bwv6k/lW+Gpe1qxgc2LrexoymeXMxdizElicknuabRRX1h8U9Qr0j4V6N5lxc6vKvEf7mIn+8eWP5YH4mvOACxwOSeg9a+hPDGljRvD1pZYxIqBpPdzyf1Nebmdbkpci3Z6uU0PaVud7RNiiiivnj6kKKKKACiiigAooooAKKKKACiiigAooooAKKKKACiiigAooooAKKKKACiiigAooooAKKKKACiiigAooooAKKKKACiiigAooooAKKKKACiiigAooooAKKKKACiiigAooooAyvEekrrWhXVicbpEyhPZxyp/Ovnl0aN2R1KspIIPY19N14b8QtK/szxTLIi4iuh5y49T979efxr18qrWk6b66nh5zQvFVV00OUooor3D509I+FWrbLm70p2+WQedGPccN+mPyr1WvnXw/qJ0jX7K9zhY5Rv/AN08N+hNfRCsGAI6HpXzuZ0uStzLqfUZRW56PI/sjqKKK849YK8G8daj/aPi29YHKQt5CewXg/rmvbdTu1sNNubxvuwRNIffAzXzjJI0sjSOcu7FifUmvWymnecp9jw86q2hGn31GUUUV7p86dF4J0z+1PFdnEy7o4m86TjsvI/XA/Gve68z+E+m4hv9SYcswgQ+w5P81/KvTK+bzKrz17dj6vKaXJh+buFFFFcB6YUUUUAFFFFABRRRQAUUUUAFFFFABRRRQAUUUUAFFFFABRRTWYIpZiAAMkntQA6oY7mKWWSJJEZ4zh1DAlfr6V514u+Iqxb7DRHDOPle6HQey+p968+03XNQ0rUft1rcOJycuWOQ/s3rXo0ctqVIcz07HlV82pU6igte59GUVy/hbxpZeIYhE2IL4D5oSfve6+orqK4Z05U5cslZno0qsKseaDugoooqDQKKKKACiiigAooooAKKKKACiiigAooooAKKKKACiiigAooooAKKKKACiiigAooooAK4T4oaZ9q8PxXyjL2kmSf9huD+u2u7qlq1kupaVdWT/dniZPpkda1oVPZ1Iz7GGJpe1pSh3R830U+SNopGjcYZSVYehFMr61O58Q1bQK998Gaj/afhSwnZsyLH5T/VeP6Z/GvAq9U+E+oFrW/09j9x1mUfUYP8h+dedmlPmo83Y9XKKvLX5e56TRRRXzx9Scl8Rrz7J4PuEBw1w6xD88n9Aa8Pr1D4tXmItNswepeVh9MAfzNeX19FlkOWhfufKZtU5sRbsFFFT2lu13eQWyfelkWMfUnFeg3ZXZ5sVd2R7p4Hsf7P8I2EZGGkTzm+rc/yIroqjhiWCFIkGERQqj2FSV8fOXNNyfU+5pQ5IKK6IKinYpBIy9QpIqWobr/j1l/3D/KpW5ctjxI/ETxLn/j9X/v0v+FH/CxPEn/P6v8A36X/AArlj1NJX1aw1H+RfcfFvF17/G/vOq/4WJ4k/wCf5f8Av0v+FH/CxPEn/P8AL/36X/CuVoo+q0f5F9wvrdf+d/edV/wsTxJ/z/L/AN+l/wAKP+FieJP+f5f+/S/4VytFH1Wj/IvuD63X/nf3nWp8SPEiYzcxMPQxLWrZfFe/QgXthBKvcxsUP9a89oqZYKhLeJccfiI7TZ7jpPxC0PUysbzNaTH+GfgE+zdK6pHDqGUgqRkEHrXzJXQ+H/GOp+H5FWOQzWufmgkOR+HpXn18q0vSfyPTw2cu9qy+aPfKKxtA8S2HiG0860fEi/6yJj8yH39vetmvIlFxfLJWZ70JxnHmi7oKKKKkoKKKxPEPiew8O2vmXT7pWH7uFT8zn+g96qMZTfLFXZE5xhHmk7I0b+/tdNtHuruZYoUGSzV494s8d3OuF7Sy3W9h0Izhpfr6D2rG8QeJb/xFdebdPtiU/u4VPyp/ifesaveweXxp+/U1f5HzeOzOVX3KekfzCiiivTPIHwzSQSrLE7JIhyrKcEGvVfB/xDW7Men6wwW4OFjuOgc+jehrzCxsLrUrtLWzhaWZzwqj9T6CvYPCXgS20RUu7zbPf9c9Vj+nv715uYyoclp79O56uVxxHtL0/h69jtKKKjimjmUtG6uASCVOee4r54+puSUUUUAB6V4jc/EHxHFdzIl6oVXIH7pemfpXtvavmu9/4/7j/ro3869TLKcJuXOr7HjZvWnTjHkdtzov+FieJf8An9X/AL9L/hR/wsTxL/z+r/36X/CuVor1/qtH+VHh/XK/87+86r/hYniX/n9X/v0v+Fbvg/xlrer+J7WyvLpXgkD7l8tRnCkjoPavOK6n4ef8jtY/ST/0BqxxGGpKlJqK2ZvhsVWlWgnJ7rqe6UUUV80fXBRRRQAVyvj7WL3RNCiurCURymdUJKg8YJ7/AErqq4b4qf8AIrw/9fK/+gtW+FipVop9zlxsnHDzlF62OF/4WJ4l/wCf1f8Av0v+FH/CxPEn/P8AL/36X/CuVor6T6rR/kX3Hyf1uv8Azv7zqv8AhYniT/n+X/v0v+FH/CxPEn/P8v8A36X/AArlaKPqtH+RfcH1uv8Azv7z3PwFrF7regSXV/KJJROyAhQOAB6fWuqrh/hZ/wAirL/19P8A+grXcV83iUo1pJdz63BycqEG97BRRRWB0hRRRQAUUUUAeB+N7H7B4uv4wMJI/mr/AMCGT+pNc9XonxYstmpWF6B/rYmjJ/3Tn/2avO6+qwc+ehF+R8Xjqfs8RKPmFdd8N702ni+GMnC3MbxH8tw/9Brka0NDu/sOu2F1nAjnRj9MjP6Zq8RDnpSj5EYafs60ZdmfRtFFFfJH254x8UbnzvFSRA8Q26rj3JJ/qK4muh8cT/aPGWpPngSBP++VA/pXPV9XhI8tCK8j4rGS5sRN+YV0Pge1+1+MdOQjISQyH/gILD9QK56u4+Flv5vieaY9IrZiPqSB/LNGLly0JPyDBw568F5nstFFFfKH2oVDdf8AHrL/ALh/lU1Q3X/HrL/uH+VC3FLZnzSeppKU9TSV9ktj4N7hRRRTEFFFFABRRRQAUUUUAXNM1O70i+S8s5THKh/Bh6EdxXu3hnxDbeItLW5iwsq/LNFnlG/w9K+fa3PCmvyeHtajuQSbdyEnQd19fqOtcGOwirR5o/Ej0cvxroT5ZfCz6BoqD7VD9mFx5iiErv3k8Y9c15j4u+IrTb7DRXKx/de5HBb2X0HvXhUMPOtLlij6TEYqnQhzSZ0Hi3x5baKHtLIrPf8AQ91i+vv7V5BfX1zqV29zdzNLM5yWY/54quzFiSSSTySaSvosNhIUFpv3PlsXjamIl723YKKKK6jjCtrw/wCGb/xFdiO1TbCp/eTMPlT/ABPtWz4T8B3OtlLu+3W9h1HZpfp6D3r2CxsLbTbRLW0hSKFBgKorzMXmEafuU9X+R6+ByyVX36mkfzM7QPDNh4dtfKtUzIw/eTMPmc/4e1a800dvE0srqkajLMxwAKp6trFlolk11fTCOMdB3Y+gHevGfFHjO98RStEpaCxU/JCD1929a8uhhquKnzPbqz18RiqODhyxWvRG94t+Ij3Jex0ZykP3XuRwz/7voPeuX8PeKdQ8O3fmQOZIHOZIXPyt7+x96wqK96GEpQp+zS0Pm6mNrTqe0b1PoXQfEdh4htBPaSYcD95Ex+ZD7j+tbFfNmn6jdaXeJdWczRTJ0Ze/sfUV7H4S8c2uvKttchYNQx9z+GT3X/CvGxeAlR96GsfyPfwOZRre5U0l+Z1/avmu9/4/7j/ro386+lOxr5rvf+P+4/66N/Ot8p3n8jnzv4YfMr0UUV7Z88FdT8PP+R1sfpJ/6A1ctXU/Dz/kdbH6Sf8AoDVhif4MvRnRhP48PVHulFFFfJn2wUUUUAFcN8VP+RWh/wCvlf8A0Fq7muG+Kn/IrQ/9fS/+gtXTg/48PU5Mf/u0/Q8booor6o+MCiiigD2X4Wf8ipJ/19P/ACWu4rh/hb/yKkn/AF9P/wCgrXcV8pi/48/U+zwP+7Q9AooornOsKKKKACiiigDhPipa+b4bguAPmguBz7EEfzxXjte8+O7f7T4N1FcZKoJB/wABYH+leDV9BlUr0WuzPl84haun3QUUUV6Z5J9HaXcfbNJsrrOfOgR8/VQaKy/BE32jwbpr5+7GU/75Yr/SivjqnuzcezPuKNp04y7o8W1+XzvEWpS9d11IR9NxrOqa8fzL2d/70jH9ahr66CtFI+KqO8mwr0v4Rw5m1WYjosaD8SxP8hXmlesfCVMaZqMnrMq/kv8A9euTMXbDv5Hblavio/P8j0Wiiivmj64Khuv+PWX/AHD/ACqaobr/AI9Zf9w/yoW4pbM+aT1NJSnqaSvslsfBvcKKKKYj0L4ZaVYan/af220huPL8vZ5i5253Zx+VehHwpoBGP7ItP+/QrifhF/zF/wDtl/7PXp9fN46pNYiST/qx9XltKEsNFuK/pnI6j8OdAvUPlQNaSdmhbj8jxXmfiXwff+HHDyfvrRjhJ0HH0I7GveqrX1lBqFnLaXKB4ZVKsp7ipw+Oq0nq7orFZbRrR91WZ810Vo65pb6NrVzp7nPlPhW/vKeQfyxWdX0kZKSUlsz5ScXCTi90FFFFUSa114j1K70e20qSci1gXaFXjfzxu9cdKyaKKiMIw0irFTnKbvJ3Ciirul6VeaxepaWUJkkbr6KPUnsKcpKKu9hRi5Oy3KscbzSLHGrM7HCqoySfavUfCPw6WHZf60gaQfMlseQvoW9T7VveFPBVn4fjE0gWe/I+aUjhfZfT611RIA5rw8XmDn7lLbufR4HK1D362r7CKoVQqgADoBXOeJ/GFj4dh2sRNeMPkgU8/VvQVheLviHFY77HSGWW5HDz9Vj+nqa8pnnlup3mnkaSVzlnc5JNLCZe6nv1NF+Y8bmcafuUtX+Rc1jW77Xbxrm9lLt0VB91B6AVnUUV7sYqKtHY+cnOU3zSd2FFFdJ4Y8H33iKYOAYbJT887Dr7L6mpqVI04803ZFUqU6suWCuzK0nR73Wr1bWxhMkh6n+FR6k9q9m8LeDLLw7EJTie+I+aYjp7L6CtbRtEsdCsha2UQRerMfvOfUmrV3eW9hbPcXUqRQoMs7HAFfP4rHTrvlhovzPpsHl8MOueprL8iZjtBJ6V82XuDfXBHIMjfzrsPFvj+41YvZaaXgsujP0eX/Ae1cPXo5dhp0k5T6nl5pjIV2oQ6dQooor0zyQrqfh5/wAjrY/ST/0Bq5aup+Hn/I62P0k/9AasMT/Bl6M6MJ/Hh6o90ooor5M+2CiiigArhvip/wAivD/18r/6C1dzXDfFT/kV4f8Ar5X+TV04P+PD1OTH/wC7T9Dxuiiivqj4wKKKKAPZfhb/AMipJ/19P/6CtdxXD/C3/kVJP+vp/wD0Fa7ivlMX/Hn6n2eB/wB2h6BRRRXOdYUUUUAFFFFAGbr0P2jw/qMP9+2kX81NfOlfTFwglt5Iz0ZSPzFfM+MV7WUPSa9D57O4+9B+oUUUV7J4R7V8NZt/g+JSf9XNIv65/rRWd8MrpY/DU6uel22PpsSivl8VT/fS9T63CVrUIeh5OSWJJ6mkoor6g+SCvX/hOv8AxT14cdbs8/8AAFryCvYPhQf+Kaux6Xjf+gJXnZn/AAPmj08o/wB5XozvaKKK+dPqwqG5/wCPWX/cP8qmqG5/49pf9w/yoW4pbM+aT1NJSnqaSvslsfBvcKKKKYj074Rf8xf/ALZf+z16fXmHwi/5i3/bL/2avT6+YzD/AHiX9dD6/LP91j8/zCiiiuM7zx74q2wi8Q204GPNtxn3IJ/oRXB13nxVuRJ4gtYAc+VbjPsSx/oBXB19Rgb/AFeNz43MLfWZ27hRRRXWcYUUUUAFX9I1i90S9W6spSjjhh1Vh6Ed6oUVMoqSs9hxk4vmi9T3HQPHWmavYvJPKlpPEu6WORuMeoPcVxPi34gT6pvstLZ4bPo0nR5P8BXCUVxUsupU6nPuehVzStUp8m3d9wooorvPOClAyaltbWe9uUt7aJpZXOFRRkmvW/CPw/g0vZe6mFmvRysfVYv8TXNicVChG8t+x14XB1MRK0du5z3hH4eS32y+1dWituqQdGf6+g/WvWLe3itYEhhjWONBhUUYAFS1yHivxzaaCjW9vtnvyOEB+WP3b/CvAnUrYupb8D6WnSoYGnf8e5sa74isPD9mZ7uT5iP3cS/ec+w/rXi3iPxVf+I7ndO/l26n93Ap+Vfc+p96zdR1K71W8e6vZmllbue3sB2FVK9nCYGFFc0tZHg43MZ13yx0iFFFFd55oUUUUAFdT8PP+R1sfpJ/6A1ctXU/Dz/kdbH6Sf8AoDVhif4MvRnRhP48PVHulFFFfJn2wUUUUAFcN8VP+RXh/wCvlf5NXc1w3xU/5FeH/r5X+TV04P8Ajw9Tkx/+7T9Dxuiiivqj4wKKKKAPZfhb/wAipJ/19P8A+grXcVw/ws/5FWX/AK+n/wDQVruK+Uxf8efqfZ4H/doegUUUVznWFFFFABRRRQAjdDXzRcAC4kA6Bz/Ovpduhr5ouf8Aj6m/3z/OvYyjefyPBzvaHz/Qiooor2z5873wTO8ejTBSMfaGP/jq0VH4N/5A8v8A13P/AKCtFeFiP4svU9uh/CicTKuyZ0/usR+tMq5qsfk6vexHqk7r+TGqde3F3SZ40lZtBXrnwmfOiX0eelzn81H+FeR16l8JJcwarF/daNvzDD+lcWZK+HfyO/KnbEr5npdFFFfNn1oVDc/8e0v+4f5VNUNz/wAe0v8AuH+VNbilsz5pPekpT3pK+xWx8G9wooopiPTvhF/zFv8Atl/7NXp9eSfDHVbDTP7S+23cVvv8vZ5jYzjdmvQX8W6Ai5OrWuPaTNfN4+nN4iTS7fkfV5bVhHDRTa6/mbVVr29g0+zlu7mQJDGpZmNcxqPxH0GzQ+TM93IOixLx+ZrzTxL4wv8AxHIEk/c2inKwIePqT3NTh8BVqv3lZFYnMqNKPuu7M7XdUfWdaub9wR5r5VT/AAqOAPyArOoor6SMVGKitkfKTm5ycnuwoooqiQorXufDWp2ujW2qvATaTru3LzsGeM+mev41kVEZxnrF3KnTlDSSsFFFFWSFFFFABWpomgX2v3gt7KPIH35G+6g9Say63fDfii+8OXReA+Zbuf3kLdG9x6H3rKs6ig/Z7mtBU3UXtdj2Dw34TsPDlviFRJcsP3k7Dk+w9BW87rGhZyFUDJJPArAsvGWjXmjtqX2pYo4x+8Rz8yn0x3/CvMvFfjm715mtrYtb2GcbAfmk92/wr56nhq2IqPm+bZ9RUxeHwtJcnySN/wAXfEXl7DRH/wBl7ofyT/GvM3dpHLuxZmOSSckmm0V79DDwoRtE+axGKqYiXNNhRRTkRpHCIpZmOAAMkmtjnSuNor07wj8OuEv9bTn70dqf5t/hXnF4AL2cAAASMAB9awpYiFWbjDWx01cLUpQjOelyCiiiug5grqfh5/yOtj9JP/QGrlq3/Bl/baX4ptbu8lEUCB9zkE4ypA6VhiE3Rkl2ZvhWlWg33R79RXM/8J94a/6CS/8AfDf4Uf8ACfeGv+gkv/fDf4V8x9Xq/wAr+4+w+tUf519501Fcz/wn3hr/AKCS/wDfDf4Uf8J94a/6CS/98N/hR9Xq/wAr+4PrVH+dfedNXDfFT/kV4f8Ar5X+TV1Ola1Ya1C81hOJkRtrEAjB/GuW+Kn/ACK8P/Xyv/oLVrhE1iIp9zHGyUsLNrax43RRRX1J8cFFFFAHsvws/wCRVl/6+n/9BWu4ry/wB4o0fRvD8ltf3YhlNwzhSpPBA54HtXVf8J94a/6CS/8AfDf4V8xiqNR1pNRe/Y+uweIpRw8E5LbudNRXNf8ACfeGv+gkv/ftv8KP+E98Nf8AQTX/AL9t/hWHsKv8r+46frVD+dfedLRXNf8ACe+Gv+gmv/ftv8K6QEEZFTKnOHxKxcKsJ/A0xaKKKg0GucKSfSvmZ23yM3qSa+kNSl8nTLqXpshdvyBr5tr2coXxv0Pn87esF6hRRRXtHgnpfw9sjcaBO4UHF0w5H+ylFa/wxg2+FHbH37l2/RR/Sivm8TVtWkvM+mw1C9GL8jzbxXD5HivVExj/AEl2/M5/rWNXV/EW38nxndNjAlRJB/3yB/SuUr3sPLmpRfkjwMVHlrSXmwr0L4Tz7dYv4M/fgD4/3Wx/7NXntdb8OLnyPGVumcCaN4z+W7/2Ws8bHmoSXkaYCXLiYPzPcKKKK+WPswqG5/49pf8AcP8AKpqhuf8Aj2l/3D/KmtxS2Z80nvSUp70lfYrY+De4UUUUxBRRRQAUUUUAFFFFABW74T8PyeIdZjt9p+zRkPO47L6fU9KoaTpN3rN+lnZxl5G6nso7knsK918N+H7bw7pa2sPzSH5pZSOXb1+npXBjsWqMOWPxM9LL8E68+aXwo1PssP2cW/lr5IXZsI4x6YrzHxd8Omh332iIWT7z2o6j/d9fpXqlFeFQxE6MuaLPo8RhadeHLNHzGylSVYEMDgg9qSvafFvgS21tWu7ILBf9ScYWT6+/vXj99YXWm3b2t5C0UyHBVh/L2r6LDYuFdab9j5bF4Kphpa7dytRRRXUcYUUUUAHbFFFFABRRW74c8LX/AIiudsClLdT+8nYfKv09T7VE6kaceaTsi6dOVSXLBXZm6fpt3qt4lrZQtLK54A7e5PYV7F4U8DWmgotzcbbi/wAffI+WP2Uf1rZ0Lw7YeHrTyLOMbj/rJW+859z/AErXr5/F4+Vb3YaR/M+mwOWxo+/U1l+Qnavmu9/4/wC4/wCujfzr6U7V813v/H/cf9dG/nXRlO8/kc+d/DD5leiiivbPngooooAKKKKACiiigD1z4T/8gO+/6+f/AGUVY+Kn/Irw/wDXyv8A6C1V/hP/AMgO+/6+f/ZRVj4qf8ivD/18r/6C1fPv/f8A5n0y/wCRb8jxuiiivoD5kKKKKACiiigAooooAUdR9a+mY/8AVr9K+Zh1/GvpmP8A1a/SvFzf7HzPfyT7fyH0UUV4x75i+LZ/s/hTVJM4/wBGdR9SMf1r58r274k3PkeDp0zgzSJGPzz/ACWvEa97KY2pOXdnzOdSvWUeyCiiivVPHPcvh7D5PgqxOMFy7n/vs4/TFFafhi3+y+F9Mixgi2Qke5GT+por5GtLmqSfmz7bDrlpRj5I89+LFqU1awuscSQtH/3yc/8As1eeV7B8VbPzvD1vdKMmCcA/7rAj+eK8fr6DLp82HXkfM5pDkxL89QrT8PXf2HxFp9yThY7hCx9s4P6E1mUvQ8V2TjzRcX1OGEuWSl2Ppyis7Q70ajolleZyZoVY/XHP65rRr49pp2Z91GSlFNBUNz/x7S/7h/lU1RTqXgkVerKQKS3HLY+aD1NJXWn4ceJM/wDHrF/3+Wj/AIVx4l/59Yv+/wAtfVLFUP5kfGPB4i/wP7jkqK63/hXHiX/n1i/7/LR/wrjxL/z6xf8Af5af1uh/MhfU8R/IzkqK63/hXHiX/n1i/wC/y0f8K48S/wDPrF/3+Wj63Q/mQfU8R/IzkqK69Phr4jdgGghQepmH9K1bL4UXrsDe6hDEvcRKWP64qZY2hHeRccBiZbQZ53XSeHvBeqa86uIzb2hPM8gwD/ujvXp+k+AND0oiTyDczDkPP83P06V1IUKAAAAOgFefXzS6tSXzZ6eGybW9Z/JGToPh2x8PWfkWcfzH/WSt95z7n+la9FFePKTk+aT1PdhCMI8sVZBRRRSKCsTxB4ZsPEVr5V0m2VR+7mUfMh/qPatuiqjKUHzRdmROEZx5ZK6PnvxB4av/AA7d+VdJuiY/u5lHyv8A4H2rGr6TvrC21K1e2u4VlhcYKsK8f8W+A7nRGe7sQ1xYdT3aL6+o9693CZgqnuVNH+Z83jsslS9+nrH8jjKKKK9Q8gKKkhhkuJVihRnkc4VFGSTXqnhH4dx2nl32sqsk/DJb9VT/AHvU+3SufEYmFCN5HVhsJUxErQ27nPeEvANxq5S81ENBY9VXo8o9vQe9evWdnb2FsltaxJFCgwqKMAVOAAMAYFLXzmIxM68ry27H1OFwdPDxtHfuFFFFc51idjXzXe/8f9x/10b+dfSp6V4jdfD/AMRy3czrZKVaRmH71ehP1r1Msqwg5c7tseNm9KdSMORX3OQorqv+Fd+Jf+fJf+/q/wCNH/Cu/Ev/AD5L/wB/V/xr2PrNH+ZfeeF9Tr/yP7jlaK6r/hXfiX/nyX/v6v8AjR/wrvxL/wA+S/8Af1f8aPrVH+ZfeH1Ov/I/uOVorqv+Fd+Jf+fJf+/q/wCNH/Cu/Ev/AD5L/wB/V/xo+tUf5l94fU6/8j+45Wiuq/4V34l/58l/7+r/AI0f8K78S/8APkv/AH9X/Gj61R/mX3h9Tr/yP7jsvhP/AMgO+/6+f/ZRVj4qf8ivD/18r/6C1Wfh9ol/oWl3UN/CIpJJt6gMDkbQO1S+PtHvdb0KO2sIhJKJw5BYDjB9frXhupH67z30ufRKnP8As/ktrbY8Norqv+Fd+Jf+fJf+/q/40f8ACu/Ev/Pkv/f1f8a9z61R/mX3nzv1Ov8AyP7jlaK6r/hXfiX/AJ8l/wC/q/40f8K78S/8+S/9/V/xo+tUf5l94fU6/wDI/uOVorqv+Fd+Jf8AnyX/AL+r/jR/wrvxL/z5L/39X/Gj61R/mX3h9Tr/AMj+45Wiuq/4V34l/wCfJf8Av6v+NH/CvPEv/Pkv/f1f8aPrVH+ZfeH1Ov8AyP7jlh1/GvpmP/Vr9K8PHw78S5H+hL1/56r/AI17ggwgB6gV5OaVYVOXkd9z28no1KfPzq2w+iiivJPbPNfi1eYtdOswfvu0pH0GB/6Ea8srsviZe/avFZhB+W2iWPHufmP8x+VcbX0+AhyUI+ep8dmNTnxMn20CpbeFrm5igT70jqg+pOKirf8ABVn9u8X6dHjISXzT/wABBb+YFdFWXJBy7I5qMOepGPdnvMUSxQpGgwqKFA9hRUtFfIH3S0MTxbZf2h4W1G3AyxhLqPUr8w/UV8+19NsoZSD0NfOmtWJ0zW72yxgQysq/7ueP0xXs5TU+KHzPn87paxqfIz6KKK9o8E9m+GF/9q8MtasfmtZSmP8AZPzD9Sfyrt68b+F+p/ZfEMtkzYS7iwP95eR+m6vZK+Yx1P2deS76n1+W1faYePloFFFFcZ3hRRRQAUUUUAFFFFABRRRQAUUUUAFFFFABRRRQAUUUUAFIyhlIIBB4INLRQB5r4u+HSy77/RUCyfee2HAb3X0PtXn2m6HqGq6j9htrdzMDh9wwE9S3pX0XUUdvFFJJIkaK8nLsFALfX1r0KOZVKcOV69jyq+VUqlRTWnc5zwt4NsvD0IkIE98w+eYjp7L6CuooorinUlUlzSd2ejSpQpR5YKyCiiioNAooooAKKKKACiiigAooooAKKKKACiiigAooooAKKKKACiiigAooooAKKKKACiiigApruqKWYgKBkk9qdXOeONS/szwneyK2JJV8lPq3H8sn8KqEHOSiupnVmqcHN9DxPV746lrF5en/AJbTM49gTwPyxVGiivr4xUUkj4eUnKTk+oV6D8KbHzdYvb0jKwwhB9WP+Cn868+r2n4Zaf8AZPCwuGGHupWk567R8o/kT+NcWY1OSg130O/KqfPiE+2p2lFFFfNn1oV478UdN+za9DfKMJdRYY/7S8fy217FXIfEXS/7R8KyyouZLRhMPXA4b9CT+FdeCq+zrxffQ4cxo+1w8l1Wp4jRRRX1B8eW9NvZNN1K2vY/vwyK4Hrg9K+jLa4ju7aK4iO6OVA6n1BGRXzRXs/w01j7d4dNnI2ZrNtmM87Dyp/mPwryM1pXiqi6Ht5NXtN0n1O2ooorwz6MKKKKACiiigAooooAKKKKACiiigAooooAKKKKACiiigAooooAKKKKACiiigAooooAKKKKACiiigAooooAKKKKACiiigAooooAKKKKACiiigAooooAKKKKACiiigAooooAK8o+Kuq+ZeWmlo3yxL50gH948D9M/nXqc0yQQvLIwVEUsxPYDrXztrepNq+tXd+2f30hKg9l6AfkBXpZZS56vO9keTm9fko8i3Zn0UUV9CfLkkED3E8cMYzJI4RR6knAr6O02yTTtNtrOP7kEaoPfAxXjXw60v8AtHxTFKy5itFMzZ9ei/qc/hXuFeDmtW81BdD6PJqNoSqPqFFFFeUe2FRzQpPC8UihkdSrA9wetSUUCavofOOtaa+kaxdWEmcwyFQT3XqD+IxVCvS/ipou2S11iNeG/czEevVT/MfgK80r6rC1va0lI+LxlD2NaUArpvAus/2N4lhMjYt7j9zJnoMng/gcfrXM0VrVpqpBwfUypVHSmprofTtFc14J1z+3PDsUkjZuYP3U3PJI6H8Rg/nXS18nODhJxfQ+2pVFUgpx2YUUUVBoFFFFABRRRQAUUUUAFFFFABRRRQAUUUUAFFFFABRRRQAUUUUAFFFFABRRRQAUUUUAFFFFABRRRQAUUUUAFFFFABRRRQAUUUUAFFFFABRRRQAUUUUAFFFFABRRTWYKMngDvQBxfxK1oafoH2GNsT3p2cdkH3j/ACH414xW/wCMdbOu+IZ7hGJt4/3UP+6O/wCJyfxrAr6fA0PZUUnu9WfH5hiPb1m1stEFFFXtG02TV9XtrCLO6ZwpP90dz+AzXVKSinJ9DjhFykordnrPwz0n7D4dN5IuJb19/P8AcHC/1P4121Q21vHa28cEShY40CKo7ADAqavkq1R1Kjm+p9tQpKlTjBdAooorM2CiiigDN1zS49Z0a5sJMYmQhSf4W6g/gcV883FvJaXMtvMpWWJyjqexBwa+mK8j+J2g/ZtQj1eFf3Vx8kuB0cDg/iB+lepllfln7N7P8zxs3w3PBVY7r8jz6iiivfPmjqfAmv8A9h6+qyvi0usRy56A/wALfgf0Jr3MHIzXzHXtfw/8R/2xowtZ3zeWgCtk8unZv6H6e9eLmmH/AOX0fme9k+K3oy+R2VFFFeMfQBRRRQAUUUUAFFFFABRRRQAUUUUAFFFFABRRRQAUUUUAFFFFABRRRQAUUUUAFFFFABRRRQAUUUUAFFFFABRRRQAUUUUAFFFFABRRRQAUUUUAFFFFABRRRQAVxfxE8Qf2Xon2OF8XV4Cgx1VP4j/T8a666uYrO2kuJ2CRRqWdj2Ar5+8R61Lr+tTXr5CE7YkP8KDoP6/U13Zfh/a1LvZHmZnivY0uVbsyaKKK+lPlAr0/4WaHhLjWZl+9+5gz6fxH+Q/OvO9NsJtU1GCxtxmWZwo9vU/gOa+h9NsIdL06CygGI4UCL74715WZ1+WHs1u/yPYyjDc9T2r2X5luiiivBPpgooooAKKKKACs/WtKh1rSbiwm+7KuAcfdPY/ga0KKabTuiZRUk4vY+ar6ym06+ms7hdssLlGH0qvXqnxN8N+bCut2yZeMbbgAdV7N+HT6Y9K8rr6nC11WpqXXqfG4zDPD1XB7dArT0HWZ9C1eG/hydhw6Z4dD1FZlFbyipRcXsznhNwkpR3R9J6ffwanYw3ls++GVQymrVeOfDzxV/Zl5/Zd3Ji0uG/dsTxG5/of5/jXsdfLYnDuhUcXt0PssHiY4impLfqFFFFc51BRRRQAUUUUAFFFFABRRRQAUUUUAFFFFABRRRQAUUUUAFFFFABRRRQAUUUUAFFFFABRRRQAUUUUAFFFFABRRRQAUUUUAFFFFABRRRQAUUUUAFFFc14x8Sx+HdJLoQbybKwIfX+8fYVcISnJRjuzOrUjTg5y2RyXxL8T72/sO1f5QQ1ywPU9k/qfwrzSnyyvPK8srF5HYszE8knqaZX1OHoKjTUEfG4rESr1HNhRRWx4a0OXxBrUNkmRH9+Vx/Cg6/wCH41pOahFylsjKnB1JKMd2d58MPD3lwSa1OuHkzHACP4f4m/Hp+B9a9JqG2t47S3jt4VCRRqERR0AHSpq+Vr1nWqObPs8NQVCkoIKKKKxOgKKKKACiiigAooooAjmhS4heKVQ8bqVZT0IPUV4L4s8PSeHdYeAAm2ky8Dnuvp9R0r36sPxT4fi8RaQ9q+FmX54ZP7rf4Hoa7MFifYVNdnucGYYRYinp8S2Pn6ipru1msrqW2uIzHNExV1PYioa+mTTV0fItNOzCvYPh/wCLhqdsNLvpP9NiX92zHmVR/Uf5714/UttcS2lxHcQSNHLGwZHU8giufFYaNeHK9+h04PFSw9TmW3U+mKK5jwf4rh8R2GHIS+iA86P1/wBoe38q6evmJwlTk4y3R9hSqxqxU4PRhRRRUGgUUUUAFFFFABRRRQAUUUUAFFFFABRRRQAUUUUAFFFFABRRRQAUUUUAFFFFABRRRQAUUUUAFFFFABRRRQAUUUUAFFFFABRRRQAUUVDc3MNnbvPPII4o1LM7HAAFAm0ldlfVtUttG0+W9u32xRjPux7Ae5rwPXtbudf1SS9uDjdwiA8IvYCtPxh4ql8RX+2MsljEf3MZ7/7R9z+n51zNfQ4DB+yjzz+J/gfLZljvby5IfCvxCiiivSPLHKrOwVQSxOAB1Jr3LwR4aHh/RwZVH224w8x/u+i/h/PNcj8N/ChuJhrd5H+6jP8AoysPvN/e+g7e/wBK9XrwsyxXM/ZR2W59HlWD5V7ae72CiiivJPbCiiigAooooAKKKKACiiigAooooA4L4g+Ef7TtjqtlHm8hX94gHMqD+o/z2ryA8GvpyvJviD4NNnI+safH+4c5uI1H3D/eHse/pXsZdjLfup/L/I8HNMDf99TXr/med0UUV7Z8+W9N1K60m+jvLOQxzRnII6H1B9RXuXhfxPa+I7DzYyEuUAE0JPKn1HtXgVXNM1S60i/jvLOQpMh/Bh3BHcVxYzBxrxuviO/A46WGlZ6xZ9I0VzvhbxXa+I7PchEd2g/ewE8j3HqK6Kvm5wlCTjJWZ9ZTqRqRUou6CiiipLCiiigAooooAKKKKACiiigAooooAKKKKACiiigAooooAKKKKACiiigAooooAKKKKACiiigAooooAKKKKACiiigAooqG5uYbS3eeeRY4kG5nY4AFAm0tWLNPHbxNLK4SNAWZmOAAO5rxnxt4zfXpzZ2bMunRt9DKR3Pt6D8aPGfjWTXZWs7MtHpyn6GU+p9vQf5HG17uBwPJ+8qb/kfOZjmPtP3VLbr5hRRRXrHihXR+EPDEviPVArArZxENPJ7f3R7ms/Q9Fute1KOztV5PLuRwi9ya950bR7XQ9NjsbRcIg5Y9XbuT7152PxnsY8kfif4HqZdgXXlzz+FfiXLe3jtYEghRUjjUKqqOAB2qWiivnT6lK2iCiiigYUUUUAFFFFABRRRQAUUUUAFFFFABTJI1lQo6hlYEEEZBFPooB6ni3jfwY+iTtfWKFtOkbkDnySex9vQ1xdfTE8EdzC8MqK8bqVZGGQQe1eM+M/BcuhTNeWStJpzn6mI+h9vQ17uAx3PanUevQ+bzHLnB+1pLTquxxtFFFeseKWbG+udOvI7u0laKaM5VlP8AnI9q9k8JeN7bXo1trnbBqAHKZ+WT3X/CvEqckjRurozK6nKspwQfWuTE4SFeOu/c7cJjZ4aWm3Y+m6K8x8J/EcYSx1x8Hol16/7/APjXpcciyoHRgyMMhgcgivna9CdGXLNH1OHxNOvHmgx9FFFYnQFFFFABRRRQAUUUUAFFFFABRRRQAUUUUAFFFFABRRRQAUUUUAFFFFABRRRQAUUUUAFFFFABRRRQAUUVzviXxfp/h2HErebdsPkt0PJ9z6CqhCU5csVdkVKkaceabsjV1PVLPR7J7u9mWKJe56k+gHc14t4r8Y3XiOYxLuhsEPyQ55b3b1Pt2rM1zX7/AMQXn2i9lJA+5GvCoPQD+tZde/g8AqXvz1l+R8zjsylW9yGkfzCiiivSPKCrmmaZdavfx2dnGXmkPHoB3J9BRpumXer3sdpZxGSZz0HQD1PoK9w8LeFrXw3Y7ExJdOB50xHLH0HoK4sZjI0I2XxHfgcDLESu/hRL4Z8OWvhzThbwgPM+DNMRy7f4egrcoor5ucnOTlLc+shCMIqMVogoooqSwooooAKKKKACiiigAooooAKKKKACiiigAooooAKjmhjuImilRXjcEMrDIIqSigGrnjnjLwJJpTPf6YjSWPV4xy0X+K/yrha+nCoYEEAg9q808X/DsOXv9EjAY5aS1HQ+pT/D8vSvaweYfYq/f/mfP4/K7XqUfu/yPLqKc6NG5R1KspwVIwQabXsHgtWCul8NeNNR8POsQJuLLPMDnp/unt/KuaoqKlOFSPLNXRpSqzpS5oOzPoTQ/E2m+IIN9nN+8Ay8L8On1H9RxWzXzPbXM1pOs9vK8UqHKuhwR+Nei+Hvie6BLfXIy69PtMQ5/wCBL/UflXiYnLZw96nqj6HC5tCfu1tH36HqdFVbHUbTUrcXFnPHNEejI2f/ANVWq8xpp2Z7CakroKKKKQwooooAKKKKACiiigAooooAKKKKACiiigAooooAKKKKACiiigAooooAKKKQtgZPSgBainuIrWFpppFjjUZZ2OAB9a5XxB4/0rR90MDfbLsceXEflU/7Tf4c15VrnijU/EEu68nIiBysCcIv4dz7mu7D4CrW1eiPNxWZUqOkdWdt4n+JYAe00Lk9GumH/oI/qa80mnluJnmmkaSRzlnY5JPuajor3aGGp0FaKPnMRiqmIlebCiiiug5grS0bRL3Xb5bWyi3MeXc/dQepNX/DPhK+8Rz5QeVZqcSTsOPovqa9q0bRbLQrFbSyiCqOWY8s59Se5rzsZjo0fdjrL8j1MDl0q75p6R/MqeG/DFn4csvKgG+dxmWcj5nP9B7Vu0UV8/KTm+aW59PCEacVGKsgoooqSwooooAKKKKACiiigAooooAKKKKACiiigAooooAKKKKACiiigAooooA5LxT4HstfRp4ttvf44lA4f2Yd/r1rx7VdGvtFvDbX0DRP/CequPUHvX0dVHU9JstYtDbX0CyxHseoPqD2Nd+Fx86Puy1ieZjMthX96Okj5wort/Evw6vtLL3Om7ru0HJUD94g9wOo9x+VcSRj6179KtCrHmg7nzVbD1KMuWasJRRRWpiXNO1W+0m48+xupIJO5Q8H6jofxr0PRPimDti1m2x28+Acfiv+H5V5hRXPWwtKt8a1OqhjK1B+4z6P07V7DVYfNsbqOde+xuR9R1FXq+Z7e5ntJhNbzSRSjo8bFSPxFdjpXxM1ixAS9WO+jHd/lf8AMf1FeTWyqcdabue1QzmnLSqrHs9FcfpnxH0K+ws8j2ch7TL8v/fQ4/PFdTb3dvdxCW3mjmjPRo2DA/iK82pSnT+NWPVp16dVXhK5PRRRUGoUUUUAFFFFABRRRQAUUUUAFFFFABRRRQAUUhIA5rE1LxdoelZW51CLzB1jjO9vyHT8aqMZSdoq5E6kIK8nY3KY7rGhZ2CqBkknAFeZar8VjymlWP0luD/7KP8AGuH1XxHq2ssft17LImf9WDtQf8BHFd1LLa09ZaI82vm1GGkPeZ6vrfxF0bTA0du5vbgcbYT8o+rdPyzXm+ueN9Y1vdG832e2P/LGHgEehPU/y9q5uivWoYCjS1td+Z4uIzGvW0vZdkFFFFdpwBRRWro3h7UteuPKsYCyg/PI3CJ9T/TrUznGC5pOyKhCU3yxV2ZaqWIAGSegHevQfCnw4mvNl5rIaGDgrb9Hf/e9B7dfpXX+GvAthoIWeTFze4/1rjhT/sjt9etdZXiYrMnL3aWi7n0GDylR9+tv2Iba2itIEggjSOJBhUQYAFTUUV5J7aVlZBRRRQMKKKKACiiigAooooAKKKKACiiigAooooAKKKKACiiigAooooAKKKKACiiigAooooAK5XxD4F0vXd0wUWt4f+W0Y+8f9od/5+9dVRVwqSpvmg7Mzq0oVY8s1dHgGu+EdW0Bi1xB5lvnieLlPx9PxrBr6cZVZSrKCpGCCOtcXrnw30rU90tn/oNwef3YzGT7r2/DFevQzRbVV8zwsTk7XvUX8jxeiug1nwbrOibnmtjLAP8AlvD8y49+4/Gufr1oVIVFeLueNUpTpu01YKKK1YpWgsJ5kOGjiZgeOCBnvxROXKrhTp88uUy6mtru5s5PMtbiWB/70blT+lbeh6zqDlUWaK4dn2kbkxGCyqudvP8AFzx3GO+NuXVtTjjtswxFnleOUxx71G1mXIy6kDIUEnj5hyOlcEsdF6OJ6UcskteYzbH4ieIrLAa6S5Qdp0z+owf1ro7L4sjgX2ln3aGT+h/xpi3F9/a5t2MRtyivxCdy538E7sdF646/Wi41lLe8e2+x3cjK6JuRBtJfpgkj8fTvXNOWHnq4WOunDEw0jUv+J0Nr8S/DtwB5ks9uT2liJ/8AQc1sQeLNBuceVq1pk9mlCn8jiuHXWYW0w3xgnRAwXZIFVuW255OAM55JHQmorXXEnby2t5vNMjKAqDpuYLnJ4PynI68E4wM1yyo0X8N1/XodkK9dfFZ/16np0V5bXAzDcRSD/YcGpgwNeVf8JBEqW5ktbgPMF+VQp2ErnHUZPBHA5IIGcHBb+JJGsfMSC4e4WEyMkZABYKGwDn3H0yAeSAcXQXRmyxEuqPV6K87j1l5PPCSXP7kE4BJ3/wC6Aee35g9CCYrLxC99cPAj3KMoyC0ikMMKeCrH+8KPq/mP6z5HpGaa0qIMswUepOK8wv8AXru01aO3IkkgMYd2BJIzv7kgAfKOTwOcmjUNVkhjhkhCM0kbuI5SQx2gHA9+enJzxjqQew8w+sPoj0GfXtJtv9dqVpH/AL0yj+tZVz4/8N22QdREjekSM36gYrin1q4VSFiicrjBXJ8z/WYwO27YuOv3x17sTV750WUpAkLKMuyNhTlASeei7yD7oenbSNGmviuZSrVn8Nkbt58V9NjBFpY3Mx9XIQH+Z/SuevfinrM+Vtbe3tVPQ4LsPxPH6VJb65eSPGJbdYyzHKEEbRuA27snkAljkAgKeOc0x9fvAYylmrq6I/ykd0DY69SSQOOxwGPA6IfVoa8l/U5aixc/+XlvRHMX/iLWNUyLzUbiRT1TdtX/AL5GBWXXenW7oTMpWFY/lAk2EjlsFj83CqP14JU8Bk2u3X2B51giZwW/0dSS+QPukdiO/HrwAN1dkcbCOkY2OKeXVJu8p3OEorfutVmlcholAygz0znaCRycg5OPpwTzjIu/9bXZRrKpsefXw7pbleiirdjpt7qc/k2VtLPJ6IucfU9q1clFXZhGLk7JFSrFnZXWoXCwWkEk0rdFRcmvQdD+FsshWbWbkRr18iA5J9i3Qfhn616NpukWGkW/kWNrHCnfaOT9T1P415tfM6cNKer/AAPWw2U1amtTRfief+HvheMrca3ICev2aI/+hN/h+dejWlpBY2629tCkUSDCoi4AqxRXjVsRUrO82e/QwtKgrQQUUUVidAUUUUAFFFFABRRRQAUUUUAFFFFABRRRQAUUUUAFFFFABRRRQAUUUUAFFFFABRRRQAUUUUAFFFFABRRRQAUUUUAGK8c+Jlpb22qwGC3iiLqS5RAu4+px1oor0ss/jHkZv/BOGrb00AgAgEHqDRRXuVvhPnqHxnX6cisAWUEjpkVfS3hjXakMaqVC4VQBgZ4+nJ/OiivGlue9D4R4VV+6oHAHA7UtFFIobJGkqFJEV1ODhhketOoooDoNeNJCpdFbady5GcH1FOoooB7BRRRQIKKKKACiiigAooooGFMl/wBW30oooRL2OZ1L+KuSvP8AW0UV6uH2PHxQlooa6iDAEFwCCPevofSba3tdOhS3gihTYDtjQKM49qKK4s1+GJ3ZP8bL9FFFeGfSBRRRQAUUUUAFFFFABRRRQAUUUUAFFFFABRRRQAUUUUAFFFFAH//Z"/>
          <p:cNvSpPr>
            <a:spLocks noChangeAspect="1" noChangeArrowheads="1"/>
          </p:cNvSpPr>
          <p:nvPr/>
        </p:nvSpPr>
        <p:spPr bwMode="auto">
          <a:xfrm>
            <a:off x="1527175" y="1227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15" name="AutoShape 31" descr="data:image/jpeg;base64,/9j/4AAQSkZJRgABAQAAAQABAAD/2wBDAAgGBgcGBQgHBwcJCQgKDBQNDAsLDBkSEw8UHRofHh0aHBwgJC4nICIsIxwcKDcpLDAxNDQ0Hyc5PTgyPC4zNDL/2wBDAQkJCQwLDBgNDRgyIRwhMjIyMjIyMjIyMjIyMjIyMjIyMjIyMjIyMjIyMjIyMjIyMjIyMjIyMjIyMjIyMjIyMjL/wAARCAHiAfQ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3+iiigAooooAKKKKACiiigAooooAKKKKACiiigAooooAKKKKACiiigAorJ1TxJpGjg/br2KNx/wAswdzn/gI5ritU+K8Kkppdg0mOklw20f8AfI5/UVvSw1Wr8ETmrYyjR+OR6XVO71Ox09N15dwW4/6ayBc/nXiOo+OfEGpZD37wof4LcbAPxHP61zzyPK5d2ZmPUsck1308pk9ZyseZVzqK/hxv6ntt58R/DtpkJPLcsO0MZP6nArn7v4tKMiz0pj6NNLj9AP615hRXZDLKEd7s4J5viJbOx2tz8UNemyIltYB22Rkn9Sayp/G/iS4+/qso/wCuaqn8hXP0V0xwtCO0UcssZXlvNmjLr2sT58zVb1/Y3D4/nVR7u5k+/cSt/vOTUNFaqEVsjF1JPdikljknJpKKKsgkSaWP7kjr9GIqxHquoQnMd/dIf9mZh/WqdFS4p7opTktmbMPizxBB9zV7s/78hb+ea07f4jeJIfv3ccw9JIl/oBXJ0VlLD0ZbxX3GscVWjtN/eeiWvxZvlI+16bbyf9cnKfzzW7Z/FTRpsC6t7q2PrtDr+hz+lePUVhPLsPLZWOqGaYmPW/qfQdl4r0PUcC21O3Zj0R32MfwbBrZBDDI5r5jrRsNd1XSyPsV/PCB/Crnb/wB8niuOplP8kvvO2lnT/wCXkfuPoyivINN+KeqW5C39tDdJ3ZP3b/4fpXZ6X8Q9B1Laj3BtJT/DcDaP++un61wVcFXp7x+49OjmGHq6KVn5nWUUyOVJkDxsrKRkMpyDT65TtTuFFFFABRRRQAUUUUAFFFFABRRRQAUUUUAFFFFABRRRQAUUUUAFFFFABRRRQAUUUUAFFFFABRRRQAUUUUAFFFFABRRRQAUUU1mCKSSAB1JoAdTHdYkLOwVQMkk4ArjfEHxG0zS90Nli9uRx8jfu1Pu3f8K8x1rxTq2vOftlyRFnIhj+VB+Hf8c13UMvq1dXojzcTmdGjotWeo618RtH0zdHbE3044xEfkB92/wzXnmr+Ptc1Xciz/ZIT/yzt/lP4t1rl6K9ijgKNLW135nhV8yr1tL2XkKzFmJYksTkk9TSUUV2HA3cKKKKYBRRU9vaXN2+22t5Zm/uxIWP6Um0tWNJvREFFdDa+B/Ed3gppkqKe8pCfzOa17f4Wa5LgzTWkI9C5Y/oP61hLF0I7yR0Rwdee0GcPRXpcPwklPM2rovskBP6lquR/CWyH+s1S4b/AHY1H+NYvMcOuv4G8crxT+z+J5RRXrw+E+kcbr6+P0KD/wBlpx+FGjdr2/8AxZP/AImp/tPD+f3F/wBkYnsvvPH6K9bf4Taac+XqN2P94Kf6CqsvwjQ/6rV2H+/Bn+TCmsyw76/gS8qxK6fieXUV6BP8J9TXPkahayem8Mv9DWXc/DrxJBkraxzAd4pR/XFaxxlCW0kYywGIjvBnJ0Vo3eg6tY5Nzp11EB/E0Rx+fSs6uiM4y+F3OaUJR+JWCiiiqJCiiigDR0zXdT0d91heSwjOSgOVP1U8V3ui/FT7sWsWmOxng/qp/ofwrzGiuathKVX4lqdVDG1qPwPQ+jtN1jT9Xh82xuo5077TyPqOo/Gr9fNNrd3FlOs9rNJDKvR42KkV32g/E+4h2wazF56dPPjGHH1HQ/hivIr5ZOGtPVfie5hs3pz0qqz/AAPWKKpabq1jq9sLixuY5o+5U8j2I6g/Wrtea007M9eMlJXQUUUUhhRRRQAUUUUAFFFFABRRRQAUUUUAFFFFABRRRQAUUUUAFFFFABRRRQAUUUUAFFFFABRRRQAUVHNNHBG0krqkajLMxwAK808U/ErO+z0P6NdEf+gj+p/+vW1GhOtLlgjnxGKp4ePNNnY6/wCLNN8PRH7TJvuCMrBGcsfr6D3NeSeIPGuqa+zRs/2e0PSCI8H/AHj3/l7Vz800lxM0szs8jnLO5ySfrUde9hsBTo6vVnzWLzKrX0WkQooorvPOCiirmn6XfarP5Njayzydwi8D6noPxqZSUVdjjFydkinSqCzAAEk9AK9I0b4VyybZdXuxGOvkwct+LHj8ga7zS/DGkaMB9iso0cf8tGG5z/wI8159bM6UNIas9ShlNaprP3UeOaZ4I1/VMNHZNDGf+Wk/yD8jyfwFdhpvwniGG1LUXY90gXA/M/4V6XRXm1Myrz2dj1qWU4eHxas52x8EeHtPwY9OikYfxTfvD+vFb0UMcKBIkREHRVGAKkorilOU3eTud8KUIK0UkFFFFSaBRRRQAUUUUAFFFFABRRRQAYzWZe6BpOpA/a9Pt5Sf4mjG78+tadFNScXdMmUIyVpK5w1/8L9FuQWtJJ7R+wDb1/I8/rXI6l8MdatMtaPDeJ2CnY/5Hj9a9norrp4+vDrf1OKrluHqfZt6HzXeWF3p8vlXdtLA/pIhXNVq+lrq0t72Ew3MEc0Z6rIoYfka4zWPhlpN4GksHeylPZfmT8jyPwNejSzWEtKiseVXyapHWk7njlFdFrPgrWtF3PLbmeAf8toPmXHuOo/Kudr04VIVFeDueTUpTpu01ZhRRRVmZa0/UrzS7oXNlcSQyj+JD19iO4+ten+GviXb3W221lVt5jwJ1+431H8P8vpXk1Fc1fC06695a9zqw2Mq4d+49Ox9NRyJKgdGDIwyGByCKfXgvhzxlqPh5xGjefZ5+aCQ8D/dPY/pXsWheI9P8QW3m2UvzqPnibh0+o/rXgYnB1KDu9V3PpsJj6eIVlo+xsUUUVyHcFFFFABRRRQAUUUUAFFFFABRRRQAUUUUAFFFFABRRRQAUUUUAFFFFABRRRQAVnaxrdloVkbq+lCJ/Co+859AO9Z/ifxVZeHLTdKRJdOP3UAPLe59BXiesa1e65etdXspdz91R91B6AV3YTBSrvmekTzcbmEcOuWOsvyNXxP4yvvEUpjyYLEH5IFPX3Y9zXNUUV9DTpxpx5YKyPl6tWdWXNN3YUUU5VLsFUEsTgAd6szG1b0/TL3VbkW9jbyTynso6e5PQCuz8N/Da6vglzq5a2tzyIR/rGHv/d/n9K9S03SrLSLYW9jbpDGOyjk+5PUmvNxOZQp+7T1f4HrYTKqlX3qmi/E4LQPhdEm2fWpvMfr5ERwo+rdT+GK9Bs7G10+AQWkEcMS9FRQBVmivFrYipWd5s+goYWlQVoIKKKKxOgKKKKACiiigAooooAKKKKACiiigAooooAKKKKACiiigAooooAKKKKADGa5bXPAeka1ul8v7LcnnzYRjJ9x0P866mirhUnTfNB2ZnUpQqrlmro8G17wTq2glpHj+0Wo/5bxDIA/2h1H8veubr6cZQwweRXE+I/h3p+qb7jT9tndnnAH7tz7jt9RXr4fNL+7W+88LFZQ171F/I8Zoq/qujX+i3Rt7+3aJ/wCE9VYeoPeqFevGSkrxd0eJKMoO0lZhVmyvrnTrpLm0meKZDkMp/wA5HtVaim0mrMUZOLuj2fwl49ttZCWd/tgv+g7LL9PQ+1dtXzGCVOQSCO4r0vwb8Qipj07WpMjhYrpu3s/+P5+teHjMucbzpbdj6HA5opWp1t+56jRTVYOMggg9DTq8k9wKKKKACiiigAooooAKKKKACiiigAooooAKKKKACiiigAooooAK5Xxd4wt/Dtt5Ue2W/kH7uLPC/wC03t/Ojxh4uh8O2nlxbZL+RT5cfZR/eb2/nXiV1dTXty9xcSNJNIdzuxySa9HBYL2r55/D+Z5GYZgqK9nT+L8h17fXOo3kl1dytLNIcszGq9FFfQpJKyPmZScndhRRXUeFfBt34ilEr5gsFOGmI5b2X1+vaoqVY04803ZF0qU6suWCuzI0fRL/AFy8FtYwl2/ic8Kg9Sa9h8MeB7DQUWaQC4vsczMOF/3R2+vWt3StJs9GsltbKFY41646sfUnuavV8/isfOt7sdIn0+Dy2FD3p6yCiiiuA9MKKKKACiiigAooooAKKKKACiiigAooooAKKKKACiiigAooooAKKKKACiiigAooooAKKKKACiiigCnqWl2erWjW17Ak0TdmHQ+oPY15F4q8A3ejb7ux3XNiOSMZeMe/qPevaaQgEYNdOHxVSg/d27HJisFTxC97fufMdFes+L/h7Hd777R0WO4+89uOFk9x6H9K8plikglaKVGSRDtZWGCD6GvocPiYV43jv2PlsThKmHlaf3jKKKK6TlO88FeOn0xk07U5GeyOFjlPJh/+x/lXr0ciyoHRgyMMqwOQRXzLXdeB/Gz6TImnai5axY4SQnmE/wDxP8q8fHYDm/eU1r1R7mXZly2pVXp0Z7HRTUdZFDKQykZBB4Ip1eIfRBRRRQAUUUUAFFFFABRRRQAUUUUAFFFFABRRRQAVz3irxPb+HNO81sPdSZEMWfvH1PsK0Na1i20LTJb66b5EHyqOrt2A968E1rWLrXNTkvbpsu3CqOiL2AruwWEdeV5fCjzcwxyw8eWPxMrX17cajeS3d1I0k0jZZj/npVeiivpEklZHykpOTuwoor0DwN4HN+yapqkZFqPmihYf633P+z/P6VlWrRow5pGuHw868+SBB4M8CyauU1DUlaOxBykfRpf8F/nXr8EEdvCsMKKkaDCqowAKeiKihVACgYAA6U6vmsRiZ15Xlt2PrsLhIYeFo79WFFFFc51BRRRQAUUUUAFFFFABRRRQAUUUUAFFFFABRRRQAUUUUAFFFFABRRRQAUUUUAFFFFABRRRQAUUUUAFFFFABRRRQAVyPi7wVbeIITcQbYdQUfLJjAk9m/wAa66irp1JU5c0XZmdWlCrFwmro+ar2yuNOu5LW6iaKaM4ZG7VXr3fxZ4StvEdmSNsV7GP3U2P/AB0+o/lXiN9Y3Om3klpdxtHNGcMp/n9K+kwmLjXj59j5PG4KWGl3i+pWooorsOE9D8A+MzaPHo+oyf6OxxBKx/1Z/un29PT+XrVfMVet/D3xf9uhXSL+TN1Gv7l2PMijsfcfyrxMwwdv3sPmfQZXj7/uany/yPQqKKK8c94KKKKACiiigAooooAKKKKACiiigAqOWZIImkkYKigszE4AA71JXmHxK8U/8wOzf0Nyyn8k/qfw962oUZVpqETnxOIjQpucjlvGXieTxFqh8tiLGElYU6Z9WPua5qiivqadONOChHZHxtWrKrNzluwoorqPBvhWTxFqO+UMthCQZX/vH+6Pc/yoq1I04uctkFKlKrNQjuzR8C+DDq8q6lqCEWCH5EP/AC1P/wASP1r2JECKFUAADAA7UyCCO2hSGJFSNFCqqjAAHapa+YxOIlXnzPbofYYTCww8OVb9QooornOoKKKKACiiigAooooAKKKKACiiigAooooAKKKKACiiigAooooAKKKKACiiigAooooAKKKKACiiigAooooAKKKKACiiigAooooAK5bxh4Sg8RWReMLHfxL+6k/vf7Le38q6mirp1JU5KUdzOrSjVg4TWjPmi5tprO4kt7iNo5Y2KujDBBqGvZPHvhAavbHULKP/AE+JfmUf8tVHb6jt+VeOEEHBBBHUV9NhcTGvDmW/U+QxmElh58r26CVJBNJbzJNC5SRGDKw6gjvUdFdLV9GcidndHvPg/wATR+ItKDsQt5FhZ0Hr/eHsf8a6Svnfw9rc+gavFew5Kj5ZEz99O4r3+xvoNRsoru2cPDKoZW9q+ax2F9hO6+Fn1uXYz6xTtL4kWaKKK4j0QooooAKKKKACiiigAooprMFGT0HU0AYfizX4/D2iyXOQZ3+SBD3Y/wBB1rwSaaS4meaVy8jsWZj1JPU10PjbxCde1x2ifNpb5jgHYju34n9MVzVfSYDDexp3e7Pksyxft6tl8KCiilVSxCqCSeAB3ruPONDRNHudc1SKxth8znLN2Re5Ne/aRpVtounRWVqu2OMde7HuT7msLwP4YXQdKEkyj7dcANKf7o7L+H866uvnMfivbT5Y/Cj6vLcH7CHPL4mFFFFcB6YUUUUAFFFFABRRRQAUUUUAFFFFABRRRQAUUUUAFFFFABRRRQAUUUUAFFFFABRRRQAUUUUAFFFFABRRRQAUUUUAFFFFABRRRQAUUUUAFFFFABXk3xG8J/ZZW1qxT9zIf9IRR91j/F9D39/rXrNQ3FvFdQSQTIHikUq6noQa3w9eVCakjmxWGjiKbg/kfNFFbvirw9J4d1h7fBa2f54HPdfT6jpWFX1MJxnFSjsz42pTlTk4S3QV6D8NfEv2S8/sa6f9xOcwE/wv/d/H+f1rz6nI7RuroxVlOQR1BqK9FVqbgzTDV5UKimj6bornvB+vr4g0KO4Yj7TH+7nX0Yd/x610NfKTg4ScZbo+0p1I1IqcdmFFFFSWFFFFABRRRQAVxXxG8Qf2Xon2KF8XN5lODyqfxH+n412busal2ICgZJJ6Cvn/AMVa02va/cXgJ8kHy4R6IOn58n8a7sBQ9rVu9kebmeJ9jRst2YlFFFfSnyYV3vw28N/b786tcpm3tmxED0aT1/D+ePSuN03T59V1GCxthmWZwo9vUn2A5r6F0rTYNI0yCxtxiOFQo9z3J9yea8zMsT7OHs47v8j1sqwntantJbL8y7RRRXz59QFFFFABRRRQAUUUUAFFFFABRRRQAUUUUAFFFFABRRRQAUUUUAFFFFABRRRQAUUUUAFFFFABRRRQAUUUUAFFFFABRRRQAUUUUAFFFFABRRRQAUUUUAFFFFAHPeL/AA+niHRXgUAXMfzwP6N6fQ9K8GkjaKRo3Uq6kqykcgivpqvIfiZ4e+x366vbpiG5O2UAfdk9fxH6j3r1ssxPLL2UtnseJm+E5o+2jutzgKKKK90+cOo8C68dD19BK+LS5xHLnoP7rfgf0Jr3WvmKvc/AWt/2z4djErZubb91JnqcfdP4j9Qa8XNKG1VfM9/J8TvRl6o6qiiivGPfCiiigAooooA474ja1/Znh020bYnvCYlweQv8R/Lj8a8TrqvH+r/2r4nmRGzBa/uU+o+8fzz+Qrla+lwFH2VFX3ep8hmVf21d22WgUUVc0vT5dU1O3sYf9ZM4QH0Hc/gOa7JNRV2cMYuTSR6P8LtB2QS61OnzPmKDP93+I/nx+Br0qq1jZRafZQ2kA2xRIEUewqzXymIrOtUc2fa4WgqFJQQUUUVidAUUUUAFFFFABRRRQAUUUUAFFFFABRRRQAUUUUAFFFFABRRRQAUUUUAFFFFABRRRQAUUUUAFFFFABRRRQAUUUUAFFFFABRRRQAUUUUAFFFFABRRRQAUUUUAFZ+s6XDrOk3FhN9yVMA4+6ex/A4rQopptO6JlFSTi9mfNN5aS2N5NaTrtlhco49xUFei/FLQ/IvINYiX5J/3c2P74HB/EcfhXnVfV4esq1NTPi8VQdCq4BXVfD/WTpPiWKN2xb3eIZPQE/dP58fia5WlVipBBII6EVdWmqkHB9SKNV0qimuh9OUVi+FtWGteHrS8LAyldkv8Avjg/4/jW1XyUouMnF9D7aE1OKktmFFFFSWFZXiPVBo+gXl9kbo4zsz3Y8L+pFatea/FfVNlrZaYh/wBYxmkA9Bwv6k/lW+Gpe1qxgc2LrexoymeXMxdizElicknuabRRX1h8U9Qr0j4V6N5lxc6vKvEf7mIn+8eWP5YH4mvOACxwOSeg9a+hPDGljRvD1pZYxIqBpPdzyf1Nebmdbkpci3Z6uU0PaVud7RNiiiivnj6kKKKKACiiigAooooAKKKKACiiigAooooAKKKKACiiigAooooAKKKKACiiigAooooAKKKKACiiigAooooAKKKKACiiigAooooAKKKKACiiigAooooAKKKKACiiigAooooAyvEekrrWhXVicbpEyhPZxyp/Ovnl0aN2R1KspIIPY19N14b8QtK/szxTLIi4iuh5y49T979efxr18qrWk6b66nh5zQvFVV00OUooor3D509I+FWrbLm70p2+WQedGPccN+mPyr1WvnXw/qJ0jX7K9zhY5Rv/AN08N+hNfRCsGAI6HpXzuZ0uStzLqfUZRW56PI/sjqKKK849YK8G8daj/aPi29YHKQt5CewXg/rmvbdTu1sNNubxvuwRNIffAzXzjJI0sjSOcu7FifUmvWymnecp9jw86q2hGn31GUUUV7p86dF4J0z+1PFdnEy7o4m86TjsvI/XA/Gve68z+E+m4hv9SYcswgQ+w5P81/KvTK+bzKrz17dj6vKaXJh+buFFFFcB6YUUUUAFFFFABRRRQAUUUUAFFFFABRRRQAUUUUAFFFFABRRTWYIpZiAAMkntQA6oY7mKWWSJJEZ4zh1DAlfr6V514u+Iqxb7DRHDOPle6HQey+p968+03XNQ0rUft1rcOJycuWOQ/s3rXo0ctqVIcz07HlV82pU6igte59GUVy/hbxpZeIYhE2IL4D5oSfve6+orqK4Z05U5cslZno0qsKseaDugoooqDQKKKKACiiigAooooAKKKKACiiigAooooAKKKKACiiigAooooAKKKKACiiigAooooAK4T4oaZ9q8PxXyjL2kmSf9huD+u2u7qlq1kupaVdWT/dniZPpkda1oVPZ1Iz7GGJpe1pSh3R830U+SNopGjcYZSVYehFMr61O58Q1bQK998Gaj/afhSwnZsyLH5T/VeP6Z/GvAq9U+E+oFrW/09j9x1mUfUYP8h+dedmlPmo83Y9XKKvLX5e56TRRRXzx9Scl8Rrz7J4PuEBw1w6xD88n9Aa8Pr1D4tXmItNswepeVh9MAfzNeX19FlkOWhfufKZtU5sRbsFFFT2lu13eQWyfelkWMfUnFeg3ZXZ5sVd2R7p4Hsf7P8I2EZGGkTzm+rc/yIroqjhiWCFIkGERQqj2FSV8fOXNNyfU+5pQ5IKK6IKinYpBIy9QpIqWobr/j1l/3D/KpW5ctjxI/ETxLn/j9X/v0v+FH/CxPEn/P6v8A36X/AArlj1NJX1aw1H+RfcfFvF17/G/vOq/4WJ4k/wCf5f8Av0v+FH/CxPEn/P8AL/36X/CuVoo+q0f5F9wvrdf+d/edV/wsTxJ/z/L/AN+l/wAKP+FieJP+f5f+/S/4VytFH1Wj/IvuD63X/nf3nWp8SPEiYzcxMPQxLWrZfFe/QgXthBKvcxsUP9a89oqZYKhLeJccfiI7TZ7jpPxC0PUysbzNaTH+GfgE+zdK6pHDqGUgqRkEHrXzJXQ+H/GOp+H5FWOQzWufmgkOR+HpXn18q0vSfyPTw2cu9qy+aPfKKxtA8S2HiG0860fEi/6yJj8yH39vetmvIlFxfLJWZ70JxnHmi7oKKKKkoKKKxPEPiew8O2vmXT7pWH7uFT8zn+g96qMZTfLFXZE5xhHmk7I0b+/tdNtHuruZYoUGSzV494s8d3OuF7Sy3W9h0Izhpfr6D2rG8QeJb/xFdebdPtiU/u4VPyp/ifesaveweXxp+/U1f5HzeOzOVX3KekfzCiiivTPIHwzSQSrLE7JIhyrKcEGvVfB/xDW7Men6wwW4OFjuOgc+jehrzCxsLrUrtLWzhaWZzwqj9T6CvYPCXgS20RUu7zbPf9c9Vj+nv715uYyoclp79O56uVxxHtL0/h69jtKKKjimjmUtG6uASCVOee4r54+puSUUUUAB6V4jc/EHxHFdzIl6oVXIH7pemfpXtvavmu9/4/7j/ro3869TLKcJuXOr7HjZvWnTjHkdtzov+FieJf8An9X/AL9L/hR/wsTxL/z+r/36X/CuVor1/qtH+VHh/XK/87+86r/hYniX/n9X/v0v+Fbvg/xlrer+J7WyvLpXgkD7l8tRnCkjoPavOK6n4ef8jtY/ST/0BqxxGGpKlJqK2ZvhsVWlWgnJ7rqe6UUUV80fXBRRRQAVyvj7WL3RNCiurCURymdUJKg8YJ7/AErqq4b4qf8AIrw/9fK/+gtW+FipVop9zlxsnHDzlF62OF/4WJ4l/wCf1f8Av0v+FH/CxPEn/P8AL/36X/CuVor6T6rR/kX3Hyf1uv8Azv7zqv8AhYniT/n+X/v0v+FH/CxPEn/P8v8A36X/AArlaKPqtH+RfcH1uv8Azv7z3PwFrF7regSXV/KJJROyAhQOAB6fWuqrh/hZ/wAirL/19P8A+grXcV83iUo1pJdz63BycqEG97BRRRWB0hRRRQAUUUUAeB+N7H7B4uv4wMJI/mr/AMCGT+pNc9XonxYstmpWF6B/rYmjJ/3Tn/2avO6+qwc+ehF+R8Xjqfs8RKPmFdd8N702ni+GMnC3MbxH8tw/9Brka0NDu/sOu2F1nAjnRj9MjP6Zq8RDnpSj5EYafs60ZdmfRtFFFfJH254x8UbnzvFSRA8Q26rj3JJ/qK4muh8cT/aPGWpPngSBP++VA/pXPV9XhI8tCK8j4rGS5sRN+YV0Pge1+1+MdOQjISQyH/gILD9QK56u4+Flv5vieaY9IrZiPqSB/LNGLly0JPyDBw568F5nstFFFfKH2oVDdf8AHrL/ALh/lU1Q3X/HrL/uH+VC3FLZnzSeppKU9TSV9ktj4N7hRRRTEFFFFABRRRQAUUUUAXNM1O70i+S8s5THKh/Bh6EdxXu3hnxDbeItLW5iwsq/LNFnlG/w9K+fa3PCmvyeHtajuQSbdyEnQd19fqOtcGOwirR5o/Ej0cvxroT5ZfCz6BoqD7VD9mFx5iiErv3k8Y9c15j4u+IrTb7DRXKx/de5HBb2X0HvXhUMPOtLlij6TEYqnQhzSZ0Hi3x5baKHtLIrPf8AQ91i+vv7V5BfX1zqV29zdzNLM5yWY/54quzFiSSSTySaSvosNhIUFpv3PlsXjamIl723YKKKK6jjCtrw/wCGb/xFdiO1TbCp/eTMPlT/ABPtWz4T8B3OtlLu+3W9h1HZpfp6D3r2CxsLbTbRLW0hSKFBgKorzMXmEafuU9X+R6+ByyVX36mkfzM7QPDNh4dtfKtUzIw/eTMPmc/4e1a800dvE0srqkajLMxwAKp6trFlolk11fTCOMdB3Y+gHevGfFHjO98RStEpaCxU/JCD1929a8uhhquKnzPbqz18RiqODhyxWvRG94t+Ij3Jex0ZykP3XuRwz/7voPeuX8PeKdQ8O3fmQOZIHOZIXPyt7+x96wqK96GEpQp+zS0Pm6mNrTqe0b1PoXQfEdh4htBPaSYcD95Ex+ZD7j+tbFfNmn6jdaXeJdWczRTJ0Ze/sfUV7H4S8c2uvKttchYNQx9z+GT3X/CvGxeAlR96GsfyPfwOZRre5U0l+Z1/avmu9/4/7j/ro386+lOxr5rvf+P+4/66N/Ot8p3n8jnzv4YfMr0UUV7Z88FdT8PP+R1sfpJ/6A1ctXU/Dz/kdbH6Sf8AoDVhif4MvRnRhP48PVHulFFFfJn2wUUUUAFcN8VP+RWh/wCvlf8A0Fq7muG+Kn/IrQ/9fS/+gtXTg/48PU5Mf/u0/Q8booor6o+MCiiigD2X4Wf8ipJ/19P/ACWu4rh/hb/yKkn/AF9P/wCgrXcV8pi/48/U+zwP+7Q9AooornOsKKKKACiiigDhPipa+b4bguAPmguBz7EEfzxXjte8+O7f7T4N1FcZKoJB/wABYH+leDV9BlUr0WuzPl84haun3QUUUV6Z5J9HaXcfbNJsrrOfOgR8/VQaKy/BE32jwbpr5+7GU/75Yr/SivjqnuzcezPuKNp04y7o8W1+XzvEWpS9d11IR9NxrOqa8fzL2d/70jH9ahr66CtFI+KqO8mwr0v4Rw5m1WYjosaD8SxP8hXmlesfCVMaZqMnrMq/kv8A9euTMXbDv5Hblavio/P8j0Wiiivmj64Khuv+PWX/AHD/ACqaobr/AI9Zf9w/yoW4pbM+aT1NJSnqaSvslsfBvcKKKKYj0L4ZaVYan/af220huPL8vZ5i5253Zx+VehHwpoBGP7ItP+/QrifhF/zF/wDtl/7PXp9fN46pNYiST/qx9XltKEsNFuK/pnI6j8OdAvUPlQNaSdmhbj8jxXmfiXwff+HHDyfvrRjhJ0HH0I7GveqrX1lBqFnLaXKB4ZVKsp7ipw+Oq0nq7orFZbRrR91WZ810Vo65pb6NrVzp7nPlPhW/vKeQfyxWdX0kZKSUlsz5ScXCTi90FFFFUSa114j1K70e20qSci1gXaFXjfzxu9cdKyaKKiMIw0irFTnKbvJ3Ciirul6VeaxepaWUJkkbr6KPUnsKcpKKu9hRi5Oy3KscbzSLHGrM7HCqoySfavUfCPw6WHZf60gaQfMlseQvoW9T7VveFPBVn4fjE0gWe/I+aUjhfZfT611RIA5rw8XmDn7lLbufR4HK1D362r7CKoVQqgADoBXOeJ/GFj4dh2sRNeMPkgU8/VvQVheLviHFY77HSGWW5HDz9Vj+nqa8pnnlup3mnkaSVzlnc5JNLCZe6nv1NF+Y8bmcafuUtX+Rc1jW77Xbxrm9lLt0VB91B6AVnUUV7sYqKtHY+cnOU3zSd2FFFdJ4Y8H33iKYOAYbJT887Dr7L6mpqVI04803ZFUqU6suWCuzK0nR73Wr1bWxhMkh6n+FR6k9q9m8LeDLLw7EJTie+I+aYjp7L6CtbRtEsdCsha2UQRerMfvOfUmrV3eW9hbPcXUqRQoMs7HAFfP4rHTrvlhovzPpsHl8MOueprL8iZjtBJ6V82XuDfXBHIMjfzrsPFvj+41YvZaaXgsujP0eX/Ae1cPXo5dhp0k5T6nl5pjIV2oQ6dQooor0zyQrqfh5/wAjrY/ST/0Bq5aup+Hn/I62P0k/9AasMT/Bl6M6MJ/Hh6o90ooor5M+2CiiigArhvip/wAivD/18r/6C1dzXDfFT/kV4f8Ar5X+TV04P+PD1OTH/wC7T9Dxuiiivqj4wKKKKAPZfhb/AMipJ/19P/6CtdxXD/C3/kVJP+vp/wD0Fa7ivlMX/Hn6n2eB/wB2h6BRRRXOdYUUUUAFFFFAGbr0P2jw/qMP9+2kX81NfOlfTFwglt5Iz0ZSPzFfM+MV7WUPSa9D57O4+9B+oUUUV7J4R7V8NZt/g+JSf9XNIv65/rRWd8MrpY/DU6uel22PpsSivl8VT/fS9T63CVrUIeh5OSWJJ6mkoor6g+SCvX/hOv8AxT14cdbs8/8AAFryCvYPhQf+Kaux6Xjf+gJXnZn/AAPmj08o/wB5XozvaKKK+dPqwqG5/wCPWX/cP8qmqG5/49pf9w/yoW4pbM+aT1NJSnqaSvslsfBvcKKKKYj074Rf8xf/ALZf+z16fXmHwi/5i3/bL/2avT6+YzD/AHiX9dD6/LP91j8/zCiiiuM7zx74q2wi8Q204GPNtxn3IJ/oRXB13nxVuRJ4gtYAc+VbjPsSx/oBXB19Rgb/AFeNz43MLfWZ27hRRRXWcYUUUUAFX9I1i90S9W6spSjjhh1Vh6Ed6oUVMoqSs9hxk4vmi9T3HQPHWmavYvJPKlpPEu6WORuMeoPcVxPi34gT6pvstLZ4bPo0nR5P8BXCUVxUsupU6nPuehVzStUp8m3d9wooorvPOClAyaltbWe9uUt7aJpZXOFRRkmvW/CPw/g0vZe6mFmvRysfVYv8TXNicVChG8t+x14XB1MRK0du5z3hH4eS32y+1dWituqQdGf6+g/WvWLe3itYEhhjWONBhUUYAFS1yHivxzaaCjW9vtnvyOEB+WP3b/CvAnUrYupb8D6WnSoYGnf8e5sa74isPD9mZ7uT5iP3cS/ec+w/rXi3iPxVf+I7ndO/l26n93Ap+Vfc+p96zdR1K71W8e6vZmllbue3sB2FVK9nCYGFFc0tZHg43MZ13yx0iFFFFd55oUUUUAFdT8PP+R1sfpJ/6A1ctXU/Dz/kdbH6Sf8AoDVhif4MvRnRhP48PVHulFFFfJn2wUUUUAFcN8VP+RXh/wCvlf5NXc1w3xU/5FeH/r5X+TV04P8Ajw9Tkx/+7T9Dxuiiivqj4wKKKKAPZfhb/wAipJ/19P8A+grXcVw/ws/5FWX/AK+n/wDQVruK+Uxf8efqfZ4H/doegUUUVznWFFFFABRRRQAjdDXzRcAC4kA6Bz/Ovpduhr5ouf8Aj6m/3z/OvYyjefyPBzvaHz/Qiooor2z5873wTO8ejTBSMfaGP/jq0VH4N/5A8v8A13P/AKCtFeFiP4svU9uh/CicTKuyZ0/usR+tMq5qsfk6vexHqk7r+TGqde3F3SZ40lZtBXrnwmfOiX0eelzn81H+FeR16l8JJcwarF/daNvzDD+lcWZK+HfyO/KnbEr5npdFFFfNn1oVDc/8e0v+4f5VNUNz/wAe0v8AuH+VNbilsz5pPekpT3pK+xWx8G9wooopiPTvhF/zFv8Atl/7NXp9eSfDHVbDTP7S+23cVvv8vZ5jYzjdmvQX8W6Ai5OrWuPaTNfN4+nN4iTS7fkfV5bVhHDRTa6/mbVVr29g0+zlu7mQJDGpZmNcxqPxH0GzQ+TM93IOixLx+ZrzTxL4wv8AxHIEk/c2inKwIePqT3NTh8BVqv3lZFYnMqNKPuu7M7XdUfWdaub9wR5r5VT/AAqOAPyArOoor6SMVGKitkfKTm5ycnuwoooqiQorXufDWp2ujW2qvATaTru3LzsGeM+mev41kVEZxnrF3KnTlDSSsFFFFWSFFFFABWpomgX2v3gt7KPIH35G+6g9Say63fDfii+8OXReA+Zbuf3kLdG9x6H3rKs6ig/Z7mtBU3UXtdj2Dw34TsPDlviFRJcsP3k7Dk+w9BW87rGhZyFUDJJPArAsvGWjXmjtqX2pYo4x+8Rz8yn0x3/CvMvFfjm715mtrYtb2GcbAfmk92/wr56nhq2IqPm+bZ9RUxeHwtJcnySN/wAXfEXl7DRH/wBl7ofyT/GvM3dpHLuxZmOSSckmm0V79DDwoRtE+axGKqYiXNNhRRTkRpHCIpZmOAAMkmtjnSuNor07wj8OuEv9bTn70dqf5t/hXnF4AL2cAAASMAB9awpYiFWbjDWx01cLUpQjOelyCiiiug5grqfh5/yOtj9JP/QGrlq3/Bl/baX4ptbu8lEUCB9zkE4ypA6VhiE3Rkl2ZvhWlWg33R79RXM/8J94a/6CS/8AfDf4Uf8ACfeGv+gkv/fDf4V8x9Xq/wAr+4+w+tUf519501Fcz/wn3hr/AKCS/wDfDf4Uf8J94a/6CS/98N/hR9Xq/wAr+4PrVH+dfedNXDfFT/kV4f8Ar5X+TV1Ola1Ya1C81hOJkRtrEAjB/GuW+Kn/ACK8P/Xyv/oLVrhE1iIp9zHGyUsLNrax43RRRX1J8cFFFFAHsvws/wCRVl/6+n/9BWu4ry/wB4o0fRvD8ltf3YhlNwzhSpPBA54HtXVf8J94a/6CS/8AfDf4V8xiqNR1pNRe/Y+uweIpRw8E5LbudNRXNf8ACfeGv+gkv/ftv8KP+E98Nf8AQTX/AL9t/hWHsKv8r+46frVD+dfedLRXNf8ACe+Gv+gmv/ftv8K6QEEZFTKnOHxKxcKsJ/A0xaKKKg0GucKSfSvmZ23yM3qSa+kNSl8nTLqXpshdvyBr5tr2coXxv0Pn87esF6hRRRXtHgnpfw9sjcaBO4UHF0w5H+ylFa/wxg2+FHbH37l2/RR/Sivm8TVtWkvM+mw1C9GL8jzbxXD5HivVExj/AEl2/M5/rWNXV/EW38nxndNjAlRJB/3yB/SuUr3sPLmpRfkjwMVHlrSXmwr0L4Tz7dYv4M/fgD4/3Wx/7NXntdb8OLnyPGVumcCaN4z+W7/2Ws8bHmoSXkaYCXLiYPzPcKKKK+WPswqG5/49pf8AcP8AKpqhuf8Aj2l/3D/KmtxS2Z80nvSUp70lfYrY+De4UUUUxBRRRQAUUUUAFFFFABW74T8PyeIdZjt9p+zRkPO47L6fU9KoaTpN3rN+lnZxl5G6nso7knsK918N+H7bw7pa2sPzSH5pZSOXb1+npXBjsWqMOWPxM9LL8E68+aXwo1PssP2cW/lr5IXZsI4x6YrzHxd8Omh332iIWT7z2o6j/d9fpXqlFeFQxE6MuaLPo8RhadeHLNHzGylSVYEMDgg9qSvafFvgS21tWu7ILBf9ScYWT6+/vXj99YXWm3b2t5C0UyHBVh/L2r6LDYuFdab9j5bF4Kphpa7dytRRRXUcYUUUUAHbFFFFABRRW74c8LX/AIiudsClLdT+8nYfKv09T7VE6kaceaTsi6dOVSXLBXZm6fpt3qt4lrZQtLK54A7e5PYV7F4U8DWmgotzcbbi/wAffI+WP2Uf1rZ0Lw7YeHrTyLOMbj/rJW+859z/AErXr5/F4+Vb3YaR/M+mwOWxo+/U1l+Qnavmu9/4/wC4/wCujfzr6U7V813v/H/cf9dG/nXRlO8/kc+d/DD5leiiivbPngooooAKKKKACiiigD1z4T/8gO+/6+f/AGUVY+Kn/Irw/wDXyv8A6C1V/hP/AMgO+/6+f/ZRVj4qf8ivD/18r/6C1fPv/f8A5n0y/wCRb8jxuiiivoD5kKKKKACiiigAooooAUdR9a+mY/8AVr9K+Zh1/GvpmP8A1a/SvFzf7HzPfyT7fyH0UUV4x75i+LZ/s/hTVJM4/wBGdR9SMf1r58r274k3PkeDp0zgzSJGPzz/ACWvEa97KY2pOXdnzOdSvWUeyCiiivVPHPcvh7D5PgqxOMFy7n/vs4/TFFafhi3+y+F9Mixgi2Qke5GT+por5GtLmqSfmz7bDrlpRj5I89+LFqU1awuscSQtH/3yc/8As1eeV7B8VbPzvD1vdKMmCcA/7rAj+eK8fr6DLp82HXkfM5pDkxL89QrT8PXf2HxFp9yThY7hCx9s4P6E1mUvQ8V2TjzRcX1OGEuWSl2Ppyis7Q70ajolleZyZoVY/XHP65rRr49pp2Z91GSlFNBUNz/x7S/7h/lU1RTqXgkVerKQKS3HLY+aD1NJXWn4ceJM/wDHrF/3+Wj/AIVx4l/59Yv+/wAtfVLFUP5kfGPB4i/wP7jkqK63/hXHiX/n1i/7/LR/wrjxL/z6xf8Af5af1uh/MhfU8R/IzkqK63/hXHiX/n1i/wC/y0f8K48S/wDPrF/3+Wj63Q/mQfU8R/IzkqK69Phr4jdgGghQepmH9K1bL4UXrsDe6hDEvcRKWP64qZY2hHeRccBiZbQZ53XSeHvBeqa86uIzb2hPM8gwD/ujvXp+k+AND0oiTyDczDkPP83P06V1IUKAAAAOgFefXzS6tSXzZ6eGybW9Z/JGToPh2x8PWfkWcfzH/WSt95z7n+la9FFePKTk+aT1PdhCMI8sVZBRRRSKCsTxB4ZsPEVr5V0m2VR+7mUfMh/qPatuiqjKUHzRdmROEZx5ZK6PnvxB4av/AA7d+VdJuiY/u5lHyv8A4H2rGr6TvrC21K1e2u4VlhcYKsK8f8W+A7nRGe7sQ1xYdT3aL6+o9693CZgqnuVNH+Z83jsslS9+nrH8jjKKKK9Q8gKKkhhkuJVihRnkc4VFGSTXqnhH4dx2nl32sqsk/DJb9VT/AHvU+3SufEYmFCN5HVhsJUxErQ27nPeEvANxq5S81ENBY9VXo8o9vQe9evWdnb2FsltaxJFCgwqKMAVOAAMAYFLXzmIxM68ry27H1OFwdPDxtHfuFFFFc51idjXzXe/8f9x/10b+dfSp6V4jdfD/AMRy3czrZKVaRmH71ehP1r1Msqwg5c7tseNm9KdSMORX3OQorqv+Fd+Jf+fJf+/q/wCNH/Cu/Ev/AD5L/wB/V/xr2PrNH+ZfeeF9Tr/yP7jlaK6r/hXfiX/nyX/v6v8AjR/wrvxL/wA+S/8Af1f8aPrVH+ZfeH1Ov/I/uOVorqv+Fd+Jf+fJf+/q/wCNH/Cu/Ev/AD5L/wB/V/xo+tUf5l94fU6/8j+45Wiuq/4V34l/58l/7+r/AI0f8K78S/8APkv/AH9X/Gj61R/mX3h9Tr/yP7jsvhP/AMgO+/6+f/ZRVj4qf8ivD/18r/6C1Wfh9ol/oWl3UN/CIpJJt6gMDkbQO1S+PtHvdb0KO2sIhJKJw5BYDjB9frXhupH67z30ufRKnP8As/ktrbY8Norqv+Fd+Jf+fJf+/q/40f8ACu/Ev/Pkv/f1f8a9z61R/mX3nzv1Ov8AyP7jlaK6r/hXfiX/AJ8l/wC/q/40f8K78S/8+S/9/V/xo+tUf5l94fU6/wDI/uOVorqv+Fd+Jf8AnyX/AL+r/jR/wrvxL/z5L/39X/Gj61R/mX3h9Tr/AMj+45Wiuq/4V34l/wCfJf8Av6v+NH/CvPEv/Pkv/f1f8aPrVH+ZfeH1Ov8AyP7jlh1/GvpmP/Vr9K8PHw78S5H+hL1/56r/AI17ggwgB6gV5OaVYVOXkd9z28no1KfPzq2w+iiivJPbPNfi1eYtdOswfvu0pH0GB/6Ea8srsviZe/avFZhB+W2iWPHufmP8x+VcbX0+AhyUI+ep8dmNTnxMn20CpbeFrm5igT70jqg+pOKirf8ABVn9u8X6dHjISXzT/wABBb+YFdFWXJBy7I5qMOepGPdnvMUSxQpGgwqKFA9hRUtFfIH3S0MTxbZf2h4W1G3AyxhLqPUr8w/UV8+19NsoZSD0NfOmtWJ0zW72yxgQysq/7ueP0xXs5TU+KHzPn87paxqfIz6KKK9o8E9m+GF/9q8MtasfmtZSmP8AZPzD9Sfyrt68b+F+p/ZfEMtkzYS7iwP95eR+m6vZK+Yx1P2deS76n1+W1faYePloFFFFcZ3hRRRQAUUUUAFFFFABRRRQAUUUUAFFFFABRRRQAUUUUAFIyhlIIBB4INLRQB5r4u+HSy77/RUCyfee2HAb3X0PtXn2m6HqGq6j9htrdzMDh9wwE9S3pX0XUUdvFFJJIkaK8nLsFALfX1r0KOZVKcOV69jyq+VUqlRTWnc5zwt4NsvD0IkIE98w+eYjp7L6CuooorinUlUlzSd2ejSpQpR5YKyCiiioNAooooAKKKKACiiigAooooAKKKKACiiigAooooAKKKKACiiigAooooAKKKKACiiigApruqKWYgKBkk9qdXOeONS/szwneyK2JJV8lPq3H8sn8KqEHOSiupnVmqcHN9DxPV746lrF5en/AJbTM49gTwPyxVGiivr4xUUkj4eUnKTk+oV6D8KbHzdYvb0jKwwhB9WP+Cn868+r2n4Zaf8AZPCwuGGHupWk567R8o/kT+NcWY1OSg130O/KqfPiE+2p2lFFFfNn1oV478UdN+za9DfKMJdRYY/7S8fy217FXIfEXS/7R8KyyouZLRhMPXA4b9CT+FdeCq+zrxffQ4cxo+1w8l1Wp4jRRRX1B8eW9NvZNN1K2vY/vwyK4Hrg9K+jLa4ju7aK4iO6OVA6n1BGRXzRXs/w01j7d4dNnI2ZrNtmM87Dyp/mPwryM1pXiqi6Ht5NXtN0n1O2ooorwz6MKKKKACiiigAooooAKKKKACiiigAooooAKKKKACiiigAooooAKKKKACiiigAooooAKKKKACiiigAooooAKKKKACiiigAooooAKKKKACiiigAooooAKKKKACiiigAooooAK8o+Kuq+ZeWmlo3yxL50gH948D9M/nXqc0yQQvLIwVEUsxPYDrXztrepNq+tXd+2f30hKg9l6AfkBXpZZS56vO9keTm9fko8i3Zn0UUV9CfLkkED3E8cMYzJI4RR6knAr6O02yTTtNtrOP7kEaoPfAxXjXw60v8AtHxTFKy5itFMzZ9ei/qc/hXuFeDmtW81BdD6PJqNoSqPqFFFFeUe2FRzQpPC8UihkdSrA9wetSUUCavofOOtaa+kaxdWEmcwyFQT3XqD+IxVCvS/ipou2S11iNeG/czEevVT/MfgK80r6rC1va0lI+LxlD2NaUArpvAus/2N4lhMjYt7j9zJnoMng/gcfrXM0VrVpqpBwfUypVHSmprofTtFc14J1z+3PDsUkjZuYP3U3PJI6H8Rg/nXS18nODhJxfQ+2pVFUgpx2YUUUVBoFFFFABRRRQAUUUUAFFFFABRRRQAUUUUAFFFFABRRRQAUUUUAFFFFABRRRQAUUUUAFFFFABRRRQAUUUUAFFFFABRRRQAUUUUAFFFFABRRRQAUUUUAFFFFABRRTWYKMngDvQBxfxK1oafoH2GNsT3p2cdkH3j/ACH414xW/wCMdbOu+IZ7hGJt4/3UP+6O/wCJyfxrAr6fA0PZUUnu9WfH5hiPb1m1stEFFFXtG02TV9XtrCLO6ZwpP90dz+AzXVKSinJ9DjhFykordnrPwz0n7D4dN5IuJb19/P8AcHC/1P4121Q21vHa28cEShY40CKo7ADAqavkq1R1Kjm+p9tQpKlTjBdAooorM2CiiigDN1zS49Z0a5sJMYmQhSf4W6g/gcV883FvJaXMtvMpWWJyjqexBwa+mK8j+J2g/ZtQj1eFf3Vx8kuB0cDg/iB+lepllfln7N7P8zxs3w3PBVY7r8jz6iiivfPmjqfAmv8A9h6+qyvi0usRy56A/wALfgf0Jr3MHIzXzHXtfw/8R/2xowtZ3zeWgCtk8unZv6H6e9eLmmH/AOX0fme9k+K3oy+R2VFFFeMfQBRRRQAUUUUAFFFFABRRRQAUUUUAFFFFABRRRQAUUUUAFFFFABRRRQAUUUUAFFFFABRRRQAUUUUAFFFFABRRRQAUUUUAFFFFABRRRQAUUUUAFFFFABRRRQAVxfxE8Qf2Xon2OF8XV4Cgx1VP4j/T8a666uYrO2kuJ2CRRqWdj2Ar5+8R61Lr+tTXr5CE7YkP8KDoP6/U13Zfh/a1LvZHmZnivY0uVbsyaKKK+lPlAr0/4WaHhLjWZl+9+5gz6fxH+Q/OvO9NsJtU1GCxtxmWZwo9vU/gOa+h9NsIdL06CygGI4UCL74715WZ1+WHs1u/yPYyjDc9T2r2X5luiiivBPpgooooAKKKKACs/WtKh1rSbiwm+7KuAcfdPY/ga0KKabTuiZRUk4vY+ar6ym06+ms7hdssLlGH0qvXqnxN8N+bCut2yZeMbbgAdV7N+HT6Y9K8rr6nC11WpqXXqfG4zDPD1XB7dArT0HWZ9C1eG/hydhw6Z4dD1FZlFbyipRcXsznhNwkpR3R9J6ffwanYw3ls++GVQymrVeOfDzxV/Zl5/Zd3Ji0uG/dsTxG5/of5/jXsdfLYnDuhUcXt0PssHiY4impLfqFFFFc51BRRRQAUUUUAFFFFABRRRQAUUUUAFFFFABRRRQAUUUUAFFFFABRRRQAUUUUAFFFFABRRRQAUUUUAFFFFABRRRQAUUUUAFFFFABRRRQAUUUUAFFFc14x8Sx+HdJLoQbybKwIfX+8fYVcISnJRjuzOrUjTg5y2RyXxL8T72/sO1f5QQ1ywPU9k/qfwrzSnyyvPK8srF5HYszE8knqaZX1OHoKjTUEfG4rESr1HNhRRWx4a0OXxBrUNkmRH9+Vx/Cg6/wCH41pOahFylsjKnB1JKMd2d58MPD3lwSa1OuHkzHACP4f4m/Hp+B9a9JqG2t47S3jt4VCRRqERR0AHSpq+Vr1nWqObPs8NQVCkoIKKKKxOgKKKKACiiigAooooAjmhS4heKVQ8bqVZT0IPUV4L4s8PSeHdYeAAm2ky8Dnuvp9R0r36sPxT4fi8RaQ9q+FmX54ZP7rf4Hoa7MFifYVNdnucGYYRYinp8S2Pn6ipru1msrqW2uIzHNExV1PYioa+mTTV0fItNOzCvYPh/wCLhqdsNLvpP9NiX92zHmVR/Uf5714/UttcS2lxHcQSNHLGwZHU8giufFYaNeHK9+h04PFSw9TmW3U+mKK5jwf4rh8R2GHIS+iA86P1/wBoe38q6evmJwlTk4y3R9hSqxqxU4PRhRRRUGgUUUUAFFFFABRRRQAUUUUAFFFFABRRRQAUUUUAFFFFABRRRQAUUUUAFFFFABRRRQAUUUUAFFFFABRRRQAUUUUAFFFFABRRRQAUUVDc3MNnbvPPII4o1LM7HAAFAm0ldlfVtUttG0+W9u32xRjPux7Ae5rwPXtbudf1SS9uDjdwiA8IvYCtPxh4ql8RX+2MsljEf3MZ7/7R9z+n51zNfQ4DB+yjzz+J/gfLZljvby5IfCvxCiiivSPLHKrOwVQSxOAB1Jr3LwR4aHh/RwZVH224w8x/u+i/h/PNcj8N/ChuJhrd5H+6jP8AoysPvN/e+g7e/wBK9XrwsyxXM/ZR2W59HlWD5V7ae72CiiivJPbCiiigAooooAKKKKACiiigAooooA4L4g+Ef7TtjqtlHm8hX94gHMqD+o/z2ryA8GvpyvJviD4NNnI+safH+4c5uI1H3D/eHse/pXsZdjLfup/L/I8HNMDf99TXr/med0UUV7Z8+W9N1K60m+jvLOQxzRnII6H1B9RXuXhfxPa+I7DzYyEuUAE0JPKn1HtXgVXNM1S60i/jvLOQpMh/Bh3BHcVxYzBxrxuviO/A46WGlZ6xZ9I0VzvhbxXa+I7PchEd2g/ewE8j3HqK6Kvm5wlCTjJWZ9ZTqRqRUou6CiiipLCiiigAooooAKKKKACiiigAooooAKKKKACiiigAooooAKKKKACiiigAooooAKKKKACiiigAooooAKKKKACiiigAooqG5uYbS3eeeRY4kG5nY4AFAm0tWLNPHbxNLK4SNAWZmOAAO5rxnxt4zfXpzZ2bMunRt9DKR3Pt6D8aPGfjWTXZWs7MtHpyn6GU+p9vQf5HG17uBwPJ+8qb/kfOZjmPtP3VLbr5hRRRXrHihXR+EPDEviPVArArZxENPJ7f3R7ms/Q9Fute1KOztV5PLuRwi9ya950bR7XQ9NjsbRcIg5Y9XbuT7152PxnsY8kfif4HqZdgXXlzz+FfiXLe3jtYEghRUjjUKqqOAB2qWiivnT6lK2iCiiigYUUUUAFFFFABRRRQAUUUUAFFFFABTJI1lQo6hlYEEEZBFPooB6ni3jfwY+iTtfWKFtOkbkDnySex9vQ1xdfTE8EdzC8MqK8bqVZGGQQe1eM+M/BcuhTNeWStJpzn6mI+h9vQ17uAx3PanUevQ+bzHLnB+1pLTquxxtFFFeseKWbG+udOvI7u0laKaM5VlP8AnI9q9k8JeN7bXo1trnbBqAHKZ+WT3X/CvEqckjRurozK6nKspwQfWuTE4SFeOu/c7cJjZ4aWm3Y+m6K8x8J/EcYSx1x8Hol16/7/APjXpcciyoHRgyMMhgcgivna9CdGXLNH1OHxNOvHmgx9FFFYnQFFFFABRRRQAUUUUAFFFFABRRRQAUUUUAFFFFABRRRQAUUUUAFFFFABRRRQAUUUUAFFFFABRRRQAUUVzviXxfp/h2HErebdsPkt0PJ9z6CqhCU5csVdkVKkaceabsjV1PVLPR7J7u9mWKJe56k+gHc14t4r8Y3XiOYxLuhsEPyQ55b3b1Pt2rM1zX7/AMQXn2i9lJA+5GvCoPQD+tZde/g8AqXvz1l+R8zjsylW9yGkfzCiiivSPKCrmmaZdavfx2dnGXmkPHoB3J9BRpumXer3sdpZxGSZz0HQD1PoK9w8LeFrXw3Y7ExJdOB50xHLH0HoK4sZjI0I2XxHfgcDLESu/hRL4Z8OWvhzThbwgPM+DNMRy7f4egrcoor5ucnOTlLc+shCMIqMVogoooqSwooooAKKKKACiiigAooooAKKKKACiiigAooooAKjmhjuImilRXjcEMrDIIqSigGrnjnjLwJJpTPf6YjSWPV4xy0X+K/yrha+nCoYEEAg9q808X/DsOXv9EjAY5aS1HQ+pT/D8vSvaweYfYq/f/mfP4/K7XqUfu/yPLqKc6NG5R1KspwVIwQabXsHgtWCul8NeNNR8POsQJuLLPMDnp/unt/KuaoqKlOFSPLNXRpSqzpS5oOzPoTQ/E2m+IIN9nN+8Ay8L8On1H9RxWzXzPbXM1pOs9vK8UqHKuhwR+Nei+Hvie6BLfXIy69PtMQ5/wCBL/UflXiYnLZw96nqj6HC5tCfu1tH36HqdFVbHUbTUrcXFnPHNEejI2f/ANVWq8xpp2Z7CakroKKKKQwooooAKKKKACiiigAooooAKKKKACiiigAooooAKKKKACiiigAooooAKKKQtgZPSgBainuIrWFpppFjjUZZ2OAB9a5XxB4/0rR90MDfbLsceXEflU/7Tf4c15VrnijU/EEu68nIiBysCcIv4dz7mu7D4CrW1eiPNxWZUqOkdWdt4n+JYAe00Lk9GumH/oI/qa80mnluJnmmkaSRzlnY5JPuajor3aGGp0FaKPnMRiqmIlebCiiiug5grS0bRL3Xb5bWyi3MeXc/dQepNX/DPhK+8Rz5QeVZqcSTsOPovqa9q0bRbLQrFbSyiCqOWY8s59Se5rzsZjo0fdjrL8j1MDl0q75p6R/MqeG/DFn4csvKgG+dxmWcj5nP9B7Vu0UV8/KTm+aW59PCEacVGKsgoooqSwooooAKKKKACiiigAooooAKKKKACiiigAooooAKKKKACiiigAooooA5LxT4HstfRp4ttvf44lA4f2Yd/r1rx7VdGvtFvDbX0DRP/CequPUHvX0dVHU9JstYtDbX0CyxHseoPqD2Nd+Fx86Puy1ieZjMthX96Okj5wort/Evw6vtLL3Om7ru0HJUD94g9wOo9x+VcSRj6179KtCrHmg7nzVbD1KMuWasJRRRWpiXNO1W+0m48+xupIJO5Q8H6jofxr0PRPimDti1m2x28+Acfiv+H5V5hRXPWwtKt8a1OqhjK1B+4z6P07V7DVYfNsbqOde+xuR9R1FXq+Z7e5ntJhNbzSRSjo8bFSPxFdjpXxM1ixAS9WO+jHd/lf8AMf1FeTWyqcdabue1QzmnLSqrHs9FcfpnxH0K+ws8j2ch7TL8v/fQ4/PFdTb3dvdxCW3mjmjPRo2DA/iK82pSnT+NWPVp16dVXhK5PRRRUGoUUUUAFFFFABRRRQAUUUUAFFFFABRRRQAUUhIA5rE1LxdoelZW51CLzB1jjO9vyHT8aqMZSdoq5E6kIK8nY3KY7rGhZ2CqBkknAFeZar8VjymlWP0luD/7KP8AGuH1XxHq2ssft17LImf9WDtQf8BHFd1LLa09ZaI82vm1GGkPeZ6vrfxF0bTA0du5vbgcbYT8o+rdPyzXm+ueN9Y1vdG832e2P/LGHgEehPU/y9q5uivWoYCjS1td+Z4uIzGvW0vZdkFFFFdpwBRRWro3h7UteuPKsYCyg/PI3CJ9T/TrUznGC5pOyKhCU3yxV2ZaqWIAGSegHevQfCnw4mvNl5rIaGDgrb9Hf/e9B7dfpXX+GvAthoIWeTFze4/1rjhT/sjt9etdZXiYrMnL3aWi7n0GDylR9+tv2Iba2itIEggjSOJBhUQYAFTUUV5J7aVlZBRRRQMKKKKACiiigAooooAKKKKACiiigAooooAKKKKACiiigAooooAKKKKACiiigAooooAK5XxD4F0vXd0wUWt4f+W0Y+8f9od/5+9dVRVwqSpvmg7Mzq0oVY8s1dHgGu+EdW0Bi1xB5lvnieLlPx9PxrBr6cZVZSrKCpGCCOtcXrnw30rU90tn/oNwef3YzGT7r2/DFevQzRbVV8zwsTk7XvUX8jxeiug1nwbrOibnmtjLAP8AlvD8y49+4/Gufr1oVIVFeLueNUpTpu01YKKK1YpWgsJ5kOGjiZgeOCBnvxROXKrhTp88uUy6mtru5s5PMtbiWB/70blT+lbeh6zqDlUWaK4dn2kbkxGCyqudvP8AFzx3GO+NuXVtTjjtswxFnleOUxx71G1mXIy6kDIUEnj5hyOlcEsdF6OJ6UcskteYzbH4ieIrLAa6S5Qdp0z+owf1ro7L4sjgX2ln3aGT+h/xpi3F9/a5t2MRtyivxCdy538E7sdF646/Wi41lLe8e2+x3cjK6JuRBtJfpgkj8fTvXNOWHnq4WOunDEw0jUv+J0Nr8S/DtwB5ks9uT2liJ/8AQc1sQeLNBuceVq1pk9mlCn8jiuHXWYW0w3xgnRAwXZIFVuW255OAM55JHQmorXXEnby2t5vNMjKAqDpuYLnJ4PynI68E4wM1yyo0X8N1/XodkK9dfFZ/16np0V5bXAzDcRSD/YcGpgwNeVf8JBEqW5ktbgPMF+VQp2ErnHUZPBHA5IIGcHBb+JJGsfMSC4e4WEyMkZABYKGwDn3H0yAeSAcXQXRmyxEuqPV6K87j1l5PPCSXP7kE4BJ3/wC6Aee35g9CCYrLxC99cPAj3KMoyC0ikMMKeCrH+8KPq/mP6z5HpGaa0qIMswUepOK8wv8AXru01aO3IkkgMYd2BJIzv7kgAfKOTwOcmjUNVkhjhkhCM0kbuI5SQx2gHA9+enJzxjqQew8w+sPoj0GfXtJtv9dqVpH/AL0yj+tZVz4/8N22QdREjekSM36gYrin1q4VSFiicrjBXJ8z/WYwO27YuOv3x17sTV750WUpAkLKMuyNhTlASeei7yD7oenbSNGmviuZSrVn8Nkbt58V9NjBFpY3Mx9XIQH+Z/SuevfinrM+Vtbe3tVPQ4LsPxPH6VJb65eSPGJbdYyzHKEEbRuA27snkAljkAgKeOc0x9fvAYylmrq6I/ykd0DY69SSQOOxwGPA6IfVoa8l/U5aixc/+XlvRHMX/iLWNUyLzUbiRT1TdtX/AL5GBWXXenW7oTMpWFY/lAk2EjlsFj83CqP14JU8Bk2u3X2B51giZwW/0dSS+QPukdiO/HrwAN1dkcbCOkY2OKeXVJu8p3OEorfutVmlcholAygz0znaCRycg5OPpwTzjIu/9bXZRrKpsefXw7pbleiirdjpt7qc/k2VtLPJ6IucfU9q1clFXZhGLk7JFSrFnZXWoXCwWkEk0rdFRcmvQdD+FsshWbWbkRr18iA5J9i3Qfhn616NpukWGkW/kWNrHCnfaOT9T1P415tfM6cNKer/AAPWw2U1amtTRfief+HvheMrca3ICev2aI/+hN/h+dejWlpBY2629tCkUSDCoi4AqxRXjVsRUrO82e/QwtKgrQQUUUVidAUUUUAFFFFABRRRQAUUUUAFFFFABRRRQAUUUUAFFFFABRRRQAUUUUAFFFFABRRRQAUUUUAFFFFABRRRQAUUUUAGK8c+Jlpb22qwGC3iiLqS5RAu4+px1oor0ss/jHkZv/BOGrb00AgAgEHqDRRXuVvhPnqHxnX6cisAWUEjpkVfS3hjXakMaqVC4VQBgZ4+nJ/OiivGlue9D4R4VV+6oHAHA7UtFFIobJGkqFJEV1ODhhketOoooDoNeNJCpdFbady5GcH1FOoooB7BRRRQIKKKKACiiigAooooGFMl/wBW30oooRL2OZ1L+KuSvP8AW0UV6uH2PHxQlooa6iDAEFwCCPevofSba3tdOhS3gihTYDtjQKM49qKK4s1+GJ3ZP8bL9FFFeGfSBRRRQAUUUUAFFFFABRRRQAUUUUAFFFFABRRRQAUUUUAFFFFAH//Z"/>
          <p:cNvSpPr>
            <a:spLocks noChangeAspect="1" noChangeArrowheads="1"/>
          </p:cNvSpPr>
          <p:nvPr/>
        </p:nvSpPr>
        <p:spPr bwMode="auto">
          <a:xfrm>
            <a:off x="1679575" y="1379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pic>
        <p:nvPicPr>
          <p:cNvPr id="40992" name="Picture 32" descr="D:\Users\wangbiao5\Desktop\下载.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87900" y="2825750"/>
            <a:ext cx="880388" cy="848694"/>
          </a:xfrm>
          <a:prstGeom prst="rect">
            <a:avLst/>
          </a:prstGeom>
          <a:noFill/>
          <a:extLst>
            <a:ext uri="{909E8E84-426E-40DD-AFC4-6F175D3DCCD1}">
              <a14:hiddenFill xmlns:a14="http://schemas.microsoft.com/office/drawing/2010/main">
                <a:solidFill>
                  <a:srgbClr val="FFFFFF"/>
                </a:solidFill>
              </a14:hiddenFill>
            </a:ext>
          </a:extLst>
        </p:spPr>
      </p:pic>
      <p:pic>
        <p:nvPicPr>
          <p:cNvPr id="40993" name="Picture 3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2015" y="4627355"/>
            <a:ext cx="1514475"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4" name="Picture 3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51985" y="4825031"/>
            <a:ext cx="1228725"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5" name="Picture 3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43974" y="2738654"/>
            <a:ext cx="1228725" cy="62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6" name="Picture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58613" y="3914232"/>
            <a:ext cx="12096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7" name="Picture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07962" y="4258797"/>
            <a:ext cx="104775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8" name="Picture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74047" y="2929154"/>
            <a:ext cx="1066800" cy="438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2" name="Picture 42" descr="https://ss0.baidu.com/6ONWsjip0QIZ8tyhnq/it/u=2920084749,2018893236&amp;fm=58&amp;s=39C718720E8EBE011B398BAC0300F024&amp;bpow=121&amp;bpoh=7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61152" y="3575289"/>
            <a:ext cx="1152525" cy="714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75432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1260475" y="618013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396875" y="1047631"/>
            <a:ext cx="3631138" cy="800219"/>
          </a:xfrm>
          <a:prstGeom prst="rect">
            <a:avLst/>
          </a:prstGeom>
          <a:noFill/>
          <a:ln w="9525">
            <a:noFill/>
            <a:miter lim="800000"/>
            <a:headEnd/>
            <a:tailEnd/>
          </a:ln>
          <a:effectLst/>
        </p:spPr>
        <p:txBody>
          <a:bodyPr wrap="square">
            <a:spAutoFit/>
          </a:bodyPr>
          <a:lstStyle/>
          <a:p>
            <a:pPr algn="ctr"/>
            <a:r>
              <a:rPr lang="en-US" altLang="zh-CN" sz="2800" dirty="0">
                <a:solidFill>
                  <a:schemeClr val="bg1"/>
                </a:solidFill>
                <a:latin typeface="Times New Roman" pitchFamily="18" charset="0"/>
              </a:rPr>
              <a:t>Elasticsearch</a:t>
            </a:r>
            <a:r>
              <a:rPr lang="zh-CN" altLang="en-US" sz="2800" dirty="0">
                <a:solidFill>
                  <a:schemeClr val="bg1"/>
                </a:solidFill>
                <a:latin typeface="Times New Roman" pitchFamily="18" charset="0"/>
              </a:rPr>
              <a:t>简介</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5129" name="曲线 329"/>
          <p:cNvSpPr>
            <a:spLocks/>
          </p:cNvSpPr>
          <p:nvPr/>
        </p:nvSpPr>
        <p:spPr bwMode="auto">
          <a:xfrm>
            <a:off x="1150938" y="2108200"/>
            <a:ext cx="7034212" cy="655638"/>
          </a:xfrm>
          <a:custGeom>
            <a:avLst/>
            <a:gdLst/>
            <a:ahLst/>
            <a:cxnLst>
              <a:cxn ang="0">
                <a:pos x="0" y="0"/>
              </a:cxn>
              <a:cxn ang="0">
                <a:pos x="2650" y="20762"/>
              </a:cxn>
              <a:cxn ang="0">
                <a:pos x="8775" y="4227"/>
              </a:cxn>
              <a:cxn ang="0">
                <a:pos x="13146" y="18083"/>
              </a:cxn>
              <a:cxn ang="0">
                <a:pos x="18232" y="5379"/>
              </a:cxn>
              <a:cxn ang="0">
                <a:pos x="21600" y="10004"/>
              </a:cxn>
            </a:cxnLst>
            <a:rect l="0" t="0" r="r" b="b"/>
            <a:pathLst>
              <a:path w="21600" h="21600">
                <a:moveTo>
                  <a:pt x="0" y="0"/>
                </a:moveTo>
                <a:cubicBezTo>
                  <a:pt x="407" y="4479"/>
                  <a:pt x="895" y="19925"/>
                  <a:pt x="2650" y="20762"/>
                </a:cubicBezTo>
                <a:cubicBezTo>
                  <a:pt x="4405" y="21600"/>
                  <a:pt x="6677" y="4772"/>
                  <a:pt x="8775" y="4227"/>
                </a:cubicBezTo>
                <a:cubicBezTo>
                  <a:pt x="10874" y="3683"/>
                  <a:pt x="11254" y="17853"/>
                  <a:pt x="13146" y="18083"/>
                </a:cubicBezTo>
                <a:cubicBezTo>
                  <a:pt x="15037" y="18313"/>
                  <a:pt x="16541" y="6990"/>
                  <a:pt x="18232" y="5379"/>
                </a:cubicBezTo>
                <a:cubicBezTo>
                  <a:pt x="19922" y="3767"/>
                  <a:pt x="21028" y="8832"/>
                  <a:pt x="21600" y="10004"/>
                </a:cubicBezTo>
              </a:path>
            </a:pathLst>
          </a:custGeom>
          <a:noFill/>
          <a:ln w="9525" cap="flat" cmpd="sng">
            <a:solidFill>
              <a:schemeClr val="bg2"/>
            </a:solidFill>
            <a:bevel/>
            <a:headEnd/>
            <a:tailEnd/>
          </a:ln>
          <a:effectLst/>
        </p:spPr>
        <p:txBody>
          <a:bodyPr/>
          <a:lstStyle/>
          <a:p>
            <a:endParaRPr lang="zh-CN" altLang="en-US"/>
          </a:p>
        </p:txBody>
      </p:sp>
      <p:sp>
        <p:nvSpPr>
          <p:cNvPr id="5142" name="AutoShape 22"/>
          <p:cNvSpPr>
            <a:spLocks/>
          </p:cNvSpPr>
          <p:nvPr/>
        </p:nvSpPr>
        <p:spPr bwMode="auto">
          <a:xfrm>
            <a:off x="4645025" y="2397125"/>
            <a:ext cx="142875" cy="144463"/>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sp>
        <p:nvSpPr>
          <p:cNvPr id="5143" name="AutoShape 23"/>
          <p:cNvSpPr>
            <a:spLocks/>
          </p:cNvSpPr>
          <p:nvPr/>
        </p:nvSpPr>
        <p:spPr bwMode="auto">
          <a:xfrm>
            <a:off x="7410450" y="2239963"/>
            <a:ext cx="144463" cy="144462"/>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sp>
        <p:nvSpPr>
          <p:cNvPr id="5144" name="AutoShape 24"/>
          <p:cNvSpPr>
            <a:spLocks/>
          </p:cNvSpPr>
          <p:nvPr/>
        </p:nvSpPr>
        <p:spPr bwMode="auto">
          <a:xfrm>
            <a:off x="1765300" y="2682875"/>
            <a:ext cx="144463" cy="142875"/>
          </a:xfrm>
          <a:custGeom>
            <a:avLst/>
            <a:gdLst>
              <a:gd name="T0" fmla="*/ 3163 w 21600"/>
              <a:gd name="T1" fmla="*/ 3163 h 21600"/>
              <a:gd name="T2" fmla="*/ 18437 w 21600"/>
              <a:gd name="T3" fmla="*/ 18437 h 21600"/>
            </a:gdLst>
            <a:ahLst/>
            <a:cxnLst>
              <a:cxn ang="0">
                <a:pos x="0" y="10800"/>
              </a:cxn>
              <a:cxn ang="0">
                <a:pos x="10800" y="0"/>
              </a:cxn>
              <a:cxn ang="0">
                <a:pos x="21600" y="10800"/>
              </a:cxn>
              <a:cxn ang="0">
                <a:pos x="10800" y="21600"/>
              </a:cxn>
              <a:cxn ang="0">
                <a:pos x="0" y="10800"/>
              </a:cxn>
              <a:cxn ang="0">
                <a:pos x="5400" y="10800"/>
              </a:cxn>
              <a:cxn ang="0">
                <a:pos x="10800" y="16200"/>
              </a:cxn>
              <a:cxn ang="0">
                <a:pos x="16200" y="10800"/>
              </a:cxn>
              <a:cxn ang="0">
                <a:pos x="10800" y="5400"/>
              </a:cxn>
              <a:cxn ang="0">
                <a:pos x="5400" y="10800"/>
              </a:cxn>
            </a:cxnLst>
            <a:rect l="T0" t="T1" r="T2" b="T3"/>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1D3245"/>
          </a:solidFill>
          <a:ln w="9525" cap="flat" cmpd="sng">
            <a:solidFill>
              <a:schemeClr val="bg2"/>
            </a:solidFill>
            <a:bevel/>
            <a:headEnd/>
            <a:tailEnd/>
          </a:ln>
          <a:effectLst/>
        </p:spPr>
        <p:txBody>
          <a:bodyPr anchor="ctr"/>
          <a:lstStyle/>
          <a:p>
            <a:endParaRPr lang="zh-CN" altLang="en-US"/>
          </a:p>
        </p:txBody>
      </p:sp>
      <p:pic>
        <p:nvPicPr>
          <p:cNvPr id="12"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3" name="AutoShape 2" descr="https://timgsa.baidu.com/timg?image&amp;quality=80&amp;size=b9999_10000&amp;sec=1508688421982&amp;di=f2d29a5d887f429a7004d91cd34a2e98&amp;imgtype=0&amp;src=http%3A%2F%2Fwww.fsvi.cn%2Fuploadfile%2F2010%2F0515%2Fwikipedia-logo.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4" name="AutoShape 4" descr="https://timgsa.baidu.com/timg?image&amp;quality=80&amp;size=b9999_10000&amp;sec=1508688421982&amp;di=f2d29a5d887f429a7004d91cd34a2e98&amp;imgtype=0&amp;src=http%3A%2F%2Fwww.fsvi.cn%2Fuploadfile%2F2010%2F0515%2Fwikipedia-logo.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CN" altLang="en-US"/>
          </a:p>
        </p:txBody>
      </p:sp>
      <p:sp>
        <p:nvSpPr>
          <p:cNvPr id="5" name="流程图: 过程 4"/>
          <p:cNvSpPr/>
          <p:nvPr/>
        </p:nvSpPr>
        <p:spPr bwMode="auto">
          <a:xfrm>
            <a:off x="4819366" y="3069285"/>
            <a:ext cx="2807961" cy="431994"/>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dirty="0" smtClean="0"/>
              <a:t>Application Search</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6" name="流程图: 过程 15"/>
          <p:cNvSpPr/>
          <p:nvPr/>
        </p:nvSpPr>
        <p:spPr bwMode="auto">
          <a:xfrm>
            <a:off x="4819368" y="5203256"/>
            <a:ext cx="2807961" cy="431994"/>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dirty="0"/>
              <a:t>Operational Log Analytics</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7" name="流程图: 过程 16"/>
          <p:cNvSpPr/>
          <p:nvPr/>
        </p:nvSpPr>
        <p:spPr bwMode="auto">
          <a:xfrm>
            <a:off x="4819367" y="4335546"/>
            <a:ext cx="2807961" cy="431994"/>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dirty="0"/>
              <a:t>Business Analytics</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8" name="流程图: 过程 17"/>
          <p:cNvSpPr/>
          <p:nvPr/>
        </p:nvSpPr>
        <p:spPr bwMode="auto">
          <a:xfrm>
            <a:off x="4819366" y="3501279"/>
            <a:ext cx="2807963" cy="431994"/>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dirty="0"/>
              <a:t>Enterprise Search</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9" name="流程图: 过程 18"/>
          <p:cNvSpPr/>
          <p:nvPr/>
        </p:nvSpPr>
        <p:spPr bwMode="auto">
          <a:xfrm>
            <a:off x="4823898" y="4771262"/>
            <a:ext cx="2803431" cy="431994"/>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dirty="0"/>
              <a:t>Metrics Analytics</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6" name="矩形 5"/>
          <p:cNvSpPr/>
          <p:nvPr/>
        </p:nvSpPr>
        <p:spPr bwMode="auto">
          <a:xfrm>
            <a:off x="4823898" y="5621903"/>
            <a:ext cx="2803431" cy="359995"/>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dirty="0"/>
              <a:t>Security Analytics</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7" name="矩形 6"/>
          <p:cNvSpPr/>
          <p:nvPr/>
        </p:nvSpPr>
        <p:spPr bwMode="auto">
          <a:xfrm>
            <a:off x="2520156" y="3298317"/>
            <a:ext cx="1226524" cy="422422"/>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smtClean="0">
                <a:ln>
                  <a:noFill/>
                </a:ln>
                <a:solidFill>
                  <a:schemeClr val="tx1"/>
                </a:solidFill>
                <a:effectLst/>
                <a:latin typeface="Arial" pitchFamily="34" charset="0"/>
                <a:ea typeface="宋体" pitchFamily="2" charset="-122"/>
              </a:rPr>
              <a:t>Search</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8" name="矩形 7"/>
          <p:cNvSpPr/>
          <p:nvPr/>
        </p:nvSpPr>
        <p:spPr bwMode="auto">
          <a:xfrm>
            <a:off x="2522697" y="4987259"/>
            <a:ext cx="1223983" cy="43199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altLang="zh-CN" dirty="0"/>
              <a:t>Analytics</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cxnSp>
        <p:nvCxnSpPr>
          <p:cNvPr id="10" name="直接箭头连接符 9"/>
          <p:cNvCxnSpPr>
            <a:stCxn id="7" idx="3"/>
            <a:endCxn id="5" idx="1"/>
          </p:cNvCxnSpPr>
          <p:nvPr/>
        </p:nvCxnSpPr>
        <p:spPr bwMode="auto">
          <a:xfrm flipV="1">
            <a:off x="3746680" y="3285282"/>
            <a:ext cx="1072686" cy="22424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3" name="直接箭头连接符 12"/>
          <p:cNvCxnSpPr>
            <a:stCxn id="7" idx="3"/>
            <a:endCxn id="18" idx="1"/>
          </p:cNvCxnSpPr>
          <p:nvPr/>
        </p:nvCxnSpPr>
        <p:spPr bwMode="auto">
          <a:xfrm>
            <a:off x="3746680" y="3509528"/>
            <a:ext cx="1072686" cy="207748"/>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15" name="直接箭头连接符 14"/>
          <p:cNvCxnSpPr>
            <a:stCxn id="8" idx="3"/>
            <a:endCxn id="17" idx="1"/>
          </p:cNvCxnSpPr>
          <p:nvPr/>
        </p:nvCxnSpPr>
        <p:spPr bwMode="auto">
          <a:xfrm flipV="1">
            <a:off x="3746680" y="4551543"/>
            <a:ext cx="1072687" cy="65171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1" name="直接箭头连接符 20"/>
          <p:cNvCxnSpPr>
            <a:stCxn id="8" idx="3"/>
            <a:endCxn id="19" idx="1"/>
          </p:cNvCxnSpPr>
          <p:nvPr/>
        </p:nvCxnSpPr>
        <p:spPr bwMode="auto">
          <a:xfrm flipV="1">
            <a:off x="3746680" y="4987259"/>
            <a:ext cx="1077218" cy="21599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3" name="直接箭头连接符 22"/>
          <p:cNvCxnSpPr>
            <a:stCxn id="8" idx="3"/>
            <a:endCxn id="16" idx="1"/>
          </p:cNvCxnSpPr>
          <p:nvPr/>
        </p:nvCxnSpPr>
        <p:spPr bwMode="auto">
          <a:xfrm>
            <a:off x="3746680" y="5203256"/>
            <a:ext cx="1072688" cy="21599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25" name="直接箭头连接符 24"/>
          <p:cNvCxnSpPr>
            <a:stCxn id="8" idx="3"/>
            <a:endCxn id="6" idx="1"/>
          </p:cNvCxnSpPr>
          <p:nvPr/>
        </p:nvCxnSpPr>
        <p:spPr bwMode="auto">
          <a:xfrm>
            <a:off x="3746680" y="5203256"/>
            <a:ext cx="1077218" cy="598645"/>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26" name="矩形 25"/>
          <p:cNvSpPr/>
          <p:nvPr/>
        </p:nvSpPr>
        <p:spPr bwMode="auto">
          <a:xfrm>
            <a:off x="726492" y="4158668"/>
            <a:ext cx="1147161" cy="43199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r>
              <a:rPr kumimoji="0" lang="en-US" altLang="zh-CN" sz="1800" b="0" i="0" u="none" strike="noStrike" cap="none" normalizeH="0" baseline="0" dirty="0" smtClean="0">
                <a:ln>
                  <a:noFill/>
                </a:ln>
                <a:solidFill>
                  <a:schemeClr val="tx1"/>
                </a:solidFill>
                <a:effectLst/>
                <a:latin typeface="Arial" pitchFamily="34" charset="0"/>
                <a:ea typeface="宋体" pitchFamily="2" charset="-122"/>
              </a:rPr>
              <a:t>Apply </a:t>
            </a:r>
            <a:r>
              <a:rPr lang="en-US" altLang="zh-CN" dirty="0" smtClean="0"/>
              <a:t>to </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cxnSp>
        <p:nvCxnSpPr>
          <p:cNvPr id="28" name="直接箭头连接符 27"/>
          <p:cNvCxnSpPr>
            <a:stCxn id="26" idx="3"/>
            <a:endCxn id="7" idx="1"/>
          </p:cNvCxnSpPr>
          <p:nvPr/>
        </p:nvCxnSpPr>
        <p:spPr bwMode="auto">
          <a:xfrm flipV="1">
            <a:off x="1873653" y="3509528"/>
            <a:ext cx="646503" cy="865137"/>
          </a:xfrm>
          <a:prstGeom prst="straightConnector1">
            <a:avLst/>
          </a:prstGeom>
          <a:solidFill>
            <a:schemeClr val="accent1"/>
          </a:solidFill>
          <a:ln w="9525" cap="flat" cmpd="sng" algn="ctr">
            <a:solidFill>
              <a:schemeClr val="tx1"/>
            </a:solidFill>
            <a:prstDash val="solid"/>
            <a:round/>
            <a:headEnd type="none" w="med" len="med"/>
            <a:tailEnd type="arrow"/>
          </a:ln>
          <a:effectLst/>
        </p:spPr>
      </p:cxnSp>
      <p:cxnSp>
        <p:nvCxnSpPr>
          <p:cNvPr id="30" name="直接箭头连接符 29"/>
          <p:cNvCxnSpPr>
            <a:stCxn id="26" idx="3"/>
            <a:endCxn id="8" idx="1"/>
          </p:cNvCxnSpPr>
          <p:nvPr/>
        </p:nvCxnSpPr>
        <p:spPr bwMode="auto">
          <a:xfrm>
            <a:off x="1873653" y="4374665"/>
            <a:ext cx="649044" cy="828591"/>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Tree>
    <p:extLst>
      <p:ext uri="{BB962C8B-B14F-4D97-AF65-F5344CB8AC3E}">
        <p14:creationId xmlns:p14="http://schemas.microsoft.com/office/powerpoint/2010/main" val="2182226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1989020"/>
            <a:ext cx="6842090" cy="36917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2692435" y="5836298"/>
            <a:ext cx="3531736" cy="369332"/>
          </a:xfrm>
          <a:prstGeom prst="rect">
            <a:avLst/>
          </a:prstGeom>
          <a:noFill/>
        </p:spPr>
        <p:txBody>
          <a:bodyPr wrap="none" rtlCol="0">
            <a:spAutoFit/>
          </a:bodyPr>
          <a:lstStyle/>
          <a:p>
            <a:r>
              <a:rPr lang="zh-CN" altLang="en-US" b="1" dirty="0" smtClean="0">
                <a:solidFill>
                  <a:schemeClr val="bg1"/>
                </a:solidFill>
              </a:rPr>
              <a:t>客户端与</a:t>
            </a:r>
            <a:r>
              <a:rPr lang="en-US" altLang="zh-CN" b="1" dirty="0" smtClean="0">
                <a:solidFill>
                  <a:schemeClr val="bg1"/>
                </a:solidFill>
              </a:rPr>
              <a:t>Elasticsearch</a:t>
            </a:r>
            <a:r>
              <a:rPr lang="zh-CN" altLang="en-US" b="1" dirty="0" smtClean="0">
                <a:solidFill>
                  <a:schemeClr val="bg1"/>
                </a:solidFill>
              </a:rPr>
              <a:t>交互方式</a:t>
            </a:r>
            <a:endParaRPr lang="zh-CN" altLang="en-US" b="1" dirty="0">
              <a:solidFill>
                <a:schemeClr val="bg1"/>
              </a:solidFill>
            </a:endParaRPr>
          </a:p>
        </p:txBody>
      </p:sp>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11" name="Text Box 5"/>
          <p:cNvSpPr txBox="1">
            <a:spLocks noChangeArrowheads="1"/>
          </p:cNvSpPr>
          <p:nvPr/>
        </p:nvSpPr>
        <p:spPr bwMode="auto">
          <a:xfrm>
            <a:off x="396875" y="1047631"/>
            <a:ext cx="3631138" cy="800219"/>
          </a:xfrm>
          <a:prstGeom prst="rect">
            <a:avLst/>
          </a:prstGeom>
          <a:noFill/>
          <a:ln w="9525">
            <a:noFill/>
            <a:miter lim="800000"/>
            <a:headEnd/>
            <a:tailEnd/>
          </a:ln>
          <a:effectLst/>
        </p:spPr>
        <p:txBody>
          <a:bodyPr wrap="square">
            <a:spAutoFit/>
          </a:bodyPr>
          <a:lstStyle/>
          <a:p>
            <a:pPr algn="ctr"/>
            <a:r>
              <a:rPr lang="en-US" altLang="zh-CN" sz="2800" dirty="0">
                <a:solidFill>
                  <a:schemeClr val="bg1"/>
                </a:solidFill>
                <a:latin typeface="Times New Roman" pitchFamily="18" charset="0"/>
              </a:rPr>
              <a:t>Elasticsearch</a:t>
            </a:r>
            <a:r>
              <a:rPr lang="zh-CN" altLang="en-US" sz="2800" dirty="0">
                <a:solidFill>
                  <a:schemeClr val="bg1"/>
                </a:solidFill>
                <a:latin typeface="Times New Roman" pitchFamily="18" charset="0"/>
              </a:rPr>
              <a:t>简介</a:t>
            </a:r>
          </a:p>
          <a:p>
            <a:pPr algn="ctr"/>
            <a:endParaRPr lang="zh-CN" altLang="en-US" dirty="0">
              <a:solidFill>
                <a:schemeClr val="bg1"/>
              </a:solidFill>
              <a:latin typeface="Times New Roman" pitchFamily="18" charset="0"/>
            </a:endParaRPr>
          </a:p>
        </p:txBody>
      </p:sp>
    </p:spTree>
    <p:extLst>
      <p:ext uri="{BB962C8B-B14F-4D97-AF65-F5344CB8AC3E}">
        <p14:creationId xmlns:p14="http://schemas.microsoft.com/office/powerpoint/2010/main" val="41563509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pic>
        <p:nvPicPr>
          <p:cNvPr id="37890" name="Picture 2" descr="这里写图片描述"/>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2061019"/>
            <a:ext cx="6580297" cy="359699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9" name="Text Box 5"/>
          <p:cNvSpPr txBox="1">
            <a:spLocks noChangeArrowheads="1"/>
          </p:cNvSpPr>
          <p:nvPr/>
        </p:nvSpPr>
        <p:spPr bwMode="auto">
          <a:xfrm>
            <a:off x="396875" y="1047631"/>
            <a:ext cx="3631138" cy="800219"/>
          </a:xfrm>
          <a:prstGeom prst="rect">
            <a:avLst/>
          </a:prstGeom>
          <a:noFill/>
          <a:ln w="9525">
            <a:noFill/>
            <a:miter lim="800000"/>
            <a:headEnd/>
            <a:tailEnd/>
          </a:ln>
          <a:effectLst/>
        </p:spPr>
        <p:txBody>
          <a:bodyPr wrap="square">
            <a:spAutoFit/>
          </a:bodyPr>
          <a:lstStyle/>
          <a:p>
            <a:pPr algn="ctr"/>
            <a:r>
              <a:rPr lang="en-US" altLang="zh-CN" sz="2800" dirty="0">
                <a:solidFill>
                  <a:schemeClr val="bg1"/>
                </a:solidFill>
                <a:latin typeface="Times New Roman" pitchFamily="18" charset="0"/>
              </a:rPr>
              <a:t>Elasticsearch</a:t>
            </a:r>
            <a:r>
              <a:rPr lang="zh-CN" altLang="en-US" sz="2800" dirty="0">
                <a:solidFill>
                  <a:schemeClr val="bg1"/>
                </a:solidFill>
                <a:latin typeface="Times New Roman" pitchFamily="18" charset="0"/>
              </a:rPr>
              <a:t>简介</a:t>
            </a:r>
          </a:p>
          <a:p>
            <a:pPr algn="ctr"/>
            <a:endParaRPr lang="zh-CN" altLang="en-US" dirty="0">
              <a:solidFill>
                <a:schemeClr val="bg1"/>
              </a:solidFill>
              <a:latin typeface="Times New Roman" pitchFamily="18" charset="0"/>
            </a:endParaRPr>
          </a:p>
        </p:txBody>
      </p:sp>
      <p:sp>
        <p:nvSpPr>
          <p:cNvPr id="10" name="TextBox 9"/>
          <p:cNvSpPr txBox="1"/>
          <p:nvPr/>
        </p:nvSpPr>
        <p:spPr>
          <a:xfrm>
            <a:off x="2484029" y="5847993"/>
            <a:ext cx="3746538" cy="369332"/>
          </a:xfrm>
          <a:prstGeom prst="rect">
            <a:avLst/>
          </a:prstGeom>
          <a:noFill/>
        </p:spPr>
        <p:txBody>
          <a:bodyPr wrap="none" rtlCol="0">
            <a:spAutoFit/>
          </a:bodyPr>
          <a:lstStyle/>
          <a:p>
            <a:r>
              <a:rPr lang="en-US" altLang="zh-CN" b="1" dirty="0" smtClean="0">
                <a:solidFill>
                  <a:schemeClr val="bg1"/>
                </a:solidFill>
              </a:rPr>
              <a:t>Elasticsearch</a:t>
            </a:r>
            <a:r>
              <a:rPr lang="zh-CN" altLang="en-US" b="1" dirty="0" smtClean="0">
                <a:solidFill>
                  <a:schemeClr val="bg1"/>
                </a:solidFill>
              </a:rPr>
              <a:t>与</a:t>
            </a:r>
            <a:r>
              <a:rPr lang="en-US" altLang="zh-CN" b="1" dirty="0" err="1" smtClean="0">
                <a:solidFill>
                  <a:schemeClr val="bg1"/>
                </a:solidFill>
              </a:rPr>
              <a:t>MySql</a:t>
            </a:r>
            <a:r>
              <a:rPr lang="zh-CN" altLang="en-US" b="1" dirty="0" smtClean="0">
                <a:solidFill>
                  <a:schemeClr val="bg1"/>
                </a:solidFill>
              </a:rPr>
              <a:t>数据库对比</a:t>
            </a:r>
            <a:endParaRPr lang="zh-CN" altLang="en-US" b="1" dirty="0">
              <a:solidFill>
                <a:schemeClr val="bg1"/>
              </a:solidFill>
            </a:endParaRPr>
          </a:p>
        </p:txBody>
      </p:sp>
    </p:spTree>
    <p:extLst>
      <p:ext uri="{BB962C8B-B14F-4D97-AF65-F5344CB8AC3E}">
        <p14:creationId xmlns:p14="http://schemas.microsoft.com/office/powerpoint/2010/main" val="39868907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45125" y="1989020"/>
            <a:ext cx="3799074" cy="2862322"/>
          </a:xfrm>
          <a:prstGeom prst="rect">
            <a:avLst/>
          </a:prstGeom>
          <a:noFill/>
        </p:spPr>
        <p:txBody>
          <a:bodyPr wrap="square" rtlCol="0">
            <a:spAutoFit/>
          </a:bodyPr>
          <a:lstStyle/>
          <a:p>
            <a:r>
              <a:rPr lang="zh-CN" altLang="en-US" b="1" dirty="0" smtClean="0">
                <a:solidFill>
                  <a:schemeClr val="bg1"/>
                </a:solidFill>
              </a:rPr>
              <a:t>其他数据库特性</a:t>
            </a:r>
            <a:endParaRPr lang="en-US" altLang="zh-CN" b="1" dirty="0" smtClean="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排序</a:t>
            </a:r>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分页查询</a:t>
            </a:r>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支持</a:t>
            </a:r>
            <a:r>
              <a:rPr lang="en-US" altLang="zh-CN" dirty="0" smtClean="0">
                <a:solidFill>
                  <a:schemeClr val="bg1"/>
                </a:solidFill>
              </a:rPr>
              <a:t>AND,OR,IS NULL</a:t>
            </a:r>
            <a:endParaRPr lang="en-US" altLang="zh-CN" dirty="0">
              <a:solidFill>
                <a:schemeClr val="bg1"/>
              </a:solidFill>
            </a:endParaRPr>
          </a:p>
          <a:p>
            <a:pPr marL="285750" indent="-285750">
              <a:buFont typeface="Wingdings" pitchFamily="2" charset="2"/>
              <a:buChar char="n"/>
            </a:pPr>
            <a:r>
              <a:rPr lang="zh-CN" altLang="en-US" dirty="0" smtClean="0">
                <a:solidFill>
                  <a:schemeClr val="bg1"/>
                </a:solidFill>
              </a:rPr>
              <a:t>慢查询日志</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zh-CN" altLang="en-US"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9" name="Text Box 5"/>
          <p:cNvSpPr txBox="1">
            <a:spLocks noChangeArrowheads="1"/>
          </p:cNvSpPr>
          <p:nvPr/>
        </p:nvSpPr>
        <p:spPr bwMode="auto">
          <a:xfrm>
            <a:off x="396875" y="1047631"/>
            <a:ext cx="3631138" cy="800219"/>
          </a:xfrm>
          <a:prstGeom prst="rect">
            <a:avLst/>
          </a:prstGeom>
          <a:noFill/>
          <a:ln w="9525">
            <a:noFill/>
            <a:miter lim="800000"/>
            <a:headEnd/>
            <a:tailEnd/>
          </a:ln>
          <a:effectLst/>
        </p:spPr>
        <p:txBody>
          <a:bodyPr wrap="square">
            <a:spAutoFit/>
          </a:bodyPr>
          <a:lstStyle/>
          <a:p>
            <a:pPr algn="ctr"/>
            <a:r>
              <a:rPr lang="en-US" altLang="zh-CN" sz="2800" dirty="0">
                <a:solidFill>
                  <a:schemeClr val="bg1"/>
                </a:solidFill>
                <a:latin typeface="Times New Roman" pitchFamily="18" charset="0"/>
              </a:rPr>
              <a:t>Elasticsearch</a:t>
            </a:r>
            <a:r>
              <a:rPr lang="zh-CN" altLang="en-US" sz="2800" dirty="0">
                <a:solidFill>
                  <a:schemeClr val="bg1"/>
                </a:solidFill>
                <a:latin typeface="Times New Roman" pitchFamily="18" charset="0"/>
              </a:rPr>
              <a:t>简介</a:t>
            </a:r>
          </a:p>
          <a:p>
            <a:pPr algn="ctr"/>
            <a:endParaRPr lang="zh-CN" altLang="en-US" dirty="0">
              <a:solidFill>
                <a:schemeClr val="bg1"/>
              </a:solidFill>
              <a:latin typeface="Times New Roman" pitchFamily="18" charset="0"/>
            </a:endParaRPr>
          </a:p>
        </p:txBody>
      </p:sp>
    </p:spTree>
    <p:extLst>
      <p:ext uri="{BB962C8B-B14F-4D97-AF65-F5344CB8AC3E}">
        <p14:creationId xmlns:p14="http://schemas.microsoft.com/office/powerpoint/2010/main" val="7605443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410222" y="2048567"/>
            <a:ext cx="8956298" cy="3693319"/>
          </a:xfrm>
          <a:prstGeom prst="rect">
            <a:avLst/>
          </a:prstGeom>
          <a:noFill/>
        </p:spPr>
        <p:txBody>
          <a:bodyPr wrap="none" rtlCol="0">
            <a:spAutoFit/>
          </a:bodyPr>
          <a:lstStyle/>
          <a:p>
            <a:r>
              <a:rPr lang="zh-CN" altLang="en-US" b="1" dirty="0" smtClean="0">
                <a:solidFill>
                  <a:schemeClr val="bg1"/>
                </a:solidFill>
              </a:rPr>
              <a:t>倒排索引</a:t>
            </a:r>
            <a:endParaRPr lang="en-US" altLang="zh-CN" b="1" dirty="0" smtClean="0">
              <a:solidFill>
                <a:schemeClr val="bg1"/>
              </a:solidFill>
            </a:endParaRPr>
          </a:p>
          <a:p>
            <a:endParaRPr lang="en-US" altLang="zh-CN" b="1" dirty="0" smtClean="0">
              <a:solidFill>
                <a:schemeClr val="bg1"/>
              </a:solidFill>
            </a:endParaRPr>
          </a:p>
          <a:p>
            <a:r>
              <a:rPr lang="zh-CN" altLang="en-US" dirty="0" smtClean="0">
                <a:solidFill>
                  <a:schemeClr val="bg1"/>
                </a:solidFill>
              </a:rPr>
              <a:t>倒排索引源于实际应用中需要根据属性的值来查找记录，这种索引表中的每一项都包</a:t>
            </a:r>
            <a:endParaRPr lang="en-US" altLang="zh-CN" dirty="0" smtClean="0">
              <a:solidFill>
                <a:schemeClr val="bg1"/>
              </a:solidFill>
            </a:endParaRPr>
          </a:p>
          <a:p>
            <a:r>
              <a:rPr lang="zh-CN" altLang="en-US" dirty="0" smtClean="0">
                <a:solidFill>
                  <a:schemeClr val="bg1"/>
                </a:solidFill>
              </a:rPr>
              <a:t>括一个属性值和具有该属性值的各记录的地址。</a:t>
            </a:r>
            <a:endParaRPr lang="en-US" altLang="zh-CN" dirty="0" smtClean="0">
              <a:solidFill>
                <a:schemeClr val="bg1"/>
              </a:solidFill>
            </a:endParaRPr>
          </a:p>
          <a:p>
            <a:r>
              <a:rPr lang="zh-CN" altLang="en-US" dirty="0" smtClean="0">
                <a:solidFill>
                  <a:schemeClr val="bg1"/>
                </a:solidFill>
              </a:rPr>
              <a:t>由于不是由记录来确定属性值，而是由属性值来确定记录的位置，因而称为倒排索引。</a:t>
            </a:r>
            <a:endParaRPr lang="en-US" altLang="zh-CN" dirty="0" smtClean="0">
              <a:solidFill>
                <a:schemeClr val="bg1"/>
              </a:solidFill>
            </a:endParaRPr>
          </a:p>
          <a:p>
            <a:r>
              <a:rPr lang="zh-CN" altLang="en-US" dirty="0" smtClean="0">
                <a:solidFill>
                  <a:schemeClr val="bg1"/>
                </a:solidFill>
              </a:rPr>
              <a:t>每个</a:t>
            </a:r>
            <a:r>
              <a:rPr lang="en-US" altLang="zh-CN" dirty="0" smtClean="0">
                <a:solidFill>
                  <a:schemeClr val="bg1"/>
                </a:solidFill>
              </a:rPr>
              <a:t>segment</a:t>
            </a:r>
            <a:r>
              <a:rPr lang="zh-CN" altLang="en-US" dirty="0" smtClean="0">
                <a:solidFill>
                  <a:schemeClr val="bg1"/>
                </a:solidFill>
              </a:rPr>
              <a:t>就是一个倒排索引。</a:t>
            </a:r>
            <a:endParaRPr lang="en-US" altLang="zh-CN" dirty="0" smtClean="0">
              <a:solidFill>
                <a:schemeClr val="bg1"/>
              </a:solidFill>
            </a:endParaRPr>
          </a:p>
          <a:p>
            <a:endParaRPr lang="en-US" altLang="zh-CN" dirty="0">
              <a:solidFill>
                <a:schemeClr val="bg1"/>
              </a:solidFill>
            </a:endParaRPr>
          </a:p>
          <a:p>
            <a:endParaRPr lang="en-US" altLang="zh-CN" dirty="0">
              <a:solidFill>
                <a:schemeClr val="bg1"/>
              </a:solidFill>
            </a:endParaRPr>
          </a:p>
          <a:p>
            <a:r>
              <a:rPr lang="zh-CN" altLang="en-US" dirty="0">
                <a:solidFill>
                  <a:schemeClr val="bg1"/>
                </a:solidFill>
              </a:rPr>
              <a:t>例如，假设我们有两个文档，每个文档的 </a:t>
            </a:r>
            <a:r>
              <a:rPr lang="en-US" altLang="zh-CN" dirty="0">
                <a:solidFill>
                  <a:schemeClr val="bg1"/>
                </a:solidFill>
              </a:rPr>
              <a:t>content </a:t>
            </a:r>
            <a:r>
              <a:rPr lang="zh-CN" altLang="en-US" dirty="0">
                <a:solidFill>
                  <a:schemeClr val="bg1"/>
                </a:solidFill>
              </a:rPr>
              <a:t>域包含如下内容：</a:t>
            </a:r>
          </a:p>
          <a:p>
            <a:endParaRPr lang="en-US" altLang="zh-CN" dirty="0" smtClean="0">
              <a:solidFill>
                <a:schemeClr val="bg1"/>
              </a:solidFill>
            </a:endParaRPr>
          </a:p>
          <a:p>
            <a:r>
              <a:rPr lang="en-US" altLang="zh-CN" dirty="0" smtClean="0">
                <a:solidFill>
                  <a:schemeClr val="bg1"/>
                </a:solidFill>
              </a:rPr>
              <a:t>The </a:t>
            </a:r>
            <a:r>
              <a:rPr lang="en-US" altLang="zh-CN" dirty="0">
                <a:solidFill>
                  <a:schemeClr val="bg1"/>
                </a:solidFill>
              </a:rPr>
              <a:t>quick brown fox jumped over the lazy dog</a:t>
            </a:r>
          </a:p>
          <a:p>
            <a:r>
              <a:rPr lang="en-US" altLang="zh-CN" dirty="0">
                <a:solidFill>
                  <a:schemeClr val="bg1"/>
                </a:solidFill>
              </a:rPr>
              <a:t>Quick brown foxes leap over lazy dogs in summer</a:t>
            </a:r>
          </a:p>
          <a:p>
            <a:endParaRPr lang="zh-CN" altLang="en-US" dirty="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3769509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pic>
        <p:nvPicPr>
          <p:cNvPr id="348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7" y="2133018"/>
            <a:ext cx="2230881" cy="3885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481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8006" y="4109367"/>
            <a:ext cx="3058457" cy="17543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4068006" y="3572998"/>
            <a:ext cx="2569934" cy="369332"/>
          </a:xfrm>
          <a:prstGeom prst="rect">
            <a:avLst/>
          </a:prstGeom>
          <a:noFill/>
        </p:spPr>
        <p:txBody>
          <a:bodyPr wrap="none" rtlCol="0">
            <a:spAutoFit/>
          </a:bodyPr>
          <a:lstStyle/>
          <a:p>
            <a:r>
              <a:rPr lang="zh-CN" altLang="en-US" dirty="0">
                <a:solidFill>
                  <a:schemeClr val="bg1"/>
                </a:solidFill>
              </a:rPr>
              <a:t>以</a:t>
            </a:r>
            <a:r>
              <a:rPr lang="zh-CN" altLang="en-US" dirty="0" smtClean="0">
                <a:solidFill>
                  <a:schemeClr val="bg1"/>
                </a:solidFill>
              </a:rPr>
              <a:t>查找</a:t>
            </a:r>
            <a:r>
              <a:rPr lang="en-US" altLang="zh-CN" dirty="0" smtClean="0">
                <a:solidFill>
                  <a:schemeClr val="bg1"/>
                </a:solidFill>
              </a:rPr>
              <a:t>quick brown</a:t>
            </a:r>
            <a:r>
              <a:rPr lang="zh-CN" altLang="en-US" dirty="0" smtClean="0">
                <a:solidFill>
                  <a:schemeClr val="bg1"/>
                </a:solidFill>
              </a:rPr>
              <a:t>为例</a:t>
            </a:r>
            <a:endParaRPr lang="zh-CN" altLang="en-US" dirty="0">
              <a:solidFill>
                <a:schemeClr val="bg1"/>
              </a:solidFill>
            </a:endParaRPr>
          </a:p>
        </p:txBody>
      </p:sp>
      <p:pic>
        <p:nvPicPr>
          <p:cNvPr id="10"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3027765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04874" y="1847850"/>
            <a:ext cx="8032968" cy="3970318"/>
          </a:xfrm>
          <a:prstGeom prst="rect">
            <a:avLst/>
          </a:prstGeom>
          <a:noFill/>
        </p:spPr>
        <p:txBody>
          <a:bodyPr wrap="none" rtlCol="0">
            <a:spAutoFit/>
          </a:bodyPr>
          <a:lstStyle/>
          <a:p>
            <a:r>
              <a:rPr lang="en-US" altLang="zh-CN" dirty="0" smtClean="0">
                <a:solidFill>
                  <a:schemeClr val="bg1"/>
                </a:solidFill>
              </a:rPr>
              <a:t>Elasticsearch </a:t>
            </a:r>
            <a:r>
              <a:rPr lang="zh-CN" altLang="en-US" dirty="0">
                <a:solidFill>
                  <a:schemeClr val="bg1"/>
                </a:solidFill>
              </a:rPr>
              <a:t>中的数据可以概括的分为两</a:t>
            </a:r>
            <a:r>
              <a:rPr lang="zh-CN" altLang="en-US" dirty="0" smtClean="0">
                <a:solidFill>
                  <a:schemeClr val="bg1"/>
                </a:solidFill>
              </a:rPr>
              <a:t>类：精确</a:t>
            </a:r>
            <a:r>
              <a:rPr lang="zh-CN" altLang="en-US" dirty="0">
                <a:solidFill>
                  <a:schemeClr val="bg1"/>
                </a:solidFill>
              </a:rPr>
              <a:t>值和全文</a:t>
            </a:r>
            <a:r>
              <a:rPr lang="zh-CN" altLang="en-US" dirty="0" smtClean="0">
                <a:solidFill>
                  <a:schemeClr val="bg1"/>
                </a:solidFill>
              </a:rPr>
              <a:t>。</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dirty="0">
                <a:solidFill>
                  <a:schemeClr val="bg1"/>
                </a:solidFill>
              </a:rPr>
              <a:t>精确值 </a:t>
            </a:r>
          </a:p>
          <a:p>
            <a:r>
              <a:rPr lang="zh-CN" altLang="en-US" dirty="0">
                <a:solidFill>
                  <a:schemeClr val="bg1"/>
                </a:solidFill>
              </a:rPr>
              <a:t>例如日期或者</a:t>
            </a:r>
            <a:r>
              <a:rPr lang="zh-CN" altLang="en-US" dirty="0" smtClean="0">
                <a:solidFill>
                  <a:schemeClr val="bg1"/>
                </a:solidFill>
              </a:rPr>
              <a:t>用户</a:t>
            </a:r>
            <a:r>
              <a:rPr lang="en-US" altLang="zh-CN" dirty="0" smtClean="0">
                <a:solidFill>
                  <a:schemeClr val="bg1"/>
                </a:solidFill>
              </a:rPr>
              <a:t>ID</a:t>
            </a:r>
            <a:r>
              <a:rPr lang="zh-CN" altLang="en-US" dirty="0">
                <a:solidFill>
                  <a:schemeClr val="bg1"/>
                </a:solidFill>
              </a:rPr>
              <a:t>，但字符串也可以表示精确值，例如用户名或邮箱地址。</a:t>
            </a:r>
          </a:p>
          <a:p>
            <a:r>
              <a:rPr lang="zh-CN" altLang="en-US" dirty="0">
                <a:solidFill>
                  <a:schemeClr val="bg1"/>
                </a:solidFill>
              </a:rPr>
              <a:t>对于精确值来讲，</a:t>
            </a:r>
            <a:r>
              <a:rPr lang="en-US" altLang="zh-CN" dirty="0" smtClean="0">
                <a:solidFill>
                  <a:schemeClr val="bg1"/>
                </a:solidFill>
              </a:rPr>
              <a:t>Foo</a:t>
            </a:r>
            <a:r>
              <a:rPr lang="zh-CN" altLang="en-US" dirty="0" smtClean="0">
                <a:solidFill>
                  <a:schemeClr val="bg1"/>
                </a:solidFill>
              </a:rPr>
              <a:t>和</a:t>
            </a:r>
            <a:r>
              <a:rPr lang="en-US" altLang="zh-CN" dirty="0" smtClean="0">
                <a:solidFill>
                  <a:schemeClr val="bg1"/>
                </a:solidFill>
              </a:rPr>
              <a:t>foo</a:t>
            </a:r>
            <a:r>
              <a:rPr lang="zh-CN" altLang="en-US" dirty="0" smtClean="0">
                <a:solidFill>
                  <a:schemeClr val="bg1"/>
                </a:solidFill>
              </a:rPr>
              <a:t>是</a:t>
            </a:r>
            <a:r>
              <a:rPr lang="zh-CN" altLang="en-US" dirty="0">
                <a:solidFill>
                  <a:schemeClr val="bg1"/>
                </a:solidFill>
              </a:rPr>
              <a:t>不同的，</a:t>
            </a:r>
            <a:r>
              <a:rPr lang="en-US" altLang="zh-CN" dirty="0" smtClean="0">
                <a:solidFill>
                  <a:schemeClr val="bg1"/>
                </a:solidFill>
              </a:rPr>
              <a:t>2014</a:t>
            </a:r>
            <a:r>
              <a:rPr lang="zh-CN" altLang="en-US" dirty="0" smtClean="0">
                <a:solidFill>
                  <a:schemeClr val="bg1"/>
                </a:solidFill>
              </a:rPr>
              <a:t>和</a:t>
            </a:r>
            <a:r>
              <a:rPr lang="en-US" altLang="zh-CN" dirty="0" smtClean="0">
                <a:solidFill>
                  <a:schemeClr val="bg1"/>
                </a:solidFill>
              </a:rPr>
              <a:t>2014-09-15</a:t>
            </a:r>
            <a:r>
              <a:rPr lang="zh-CN" altLang="en-US" dirty="0" smtClean="0">
                <a:solidFill>
                  <a:schemeClr val="bg1"/>
                </a:solidFill>
              </a:rPr>
              <a:t>也</a:t>
            </a:r>
            <a:r>
              <a:rPr lang="zh-CN" altLang="en-US" dirty="0">
                <a:solidFill>
                  <a:schemeClr val="bg1"/>
                </a:solidFill>
              </a:rPr>
              <a:t>是不同的</a:t>
            </a:r>
            <a:r>
              <a:rPr lang="zh-CN" altLang="en-US" dirty="0" smtClean="0">
                <a:solidFill>
                  <a:schemeClr val="bg1"/>
                </a:solidFill>
              </a:rPr>
              <a:t>。</a:t>
            </a:r>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全文</a:t>
            </a:r>
            <a:endParaRPr lang="en-US" altLang="zh-CN" dirty="0" smtClean="0">
              <a:solidFill>
                <a:schemeClr val="bg1"/>
              </a:solidFill>
            </a:endParaRPr>
          </a:p>
          <a:p>
            <a:r>
              <a:rPr lang="zh-CN" altLang="en-US" dirty="0" smtClean="0">
                <a:solidFill>
                  <a:schemeClr val="bg1"/>
                </a:solidFill>
              </a:rPr>
              <a:t>指</a:t>
            </a:r>
            <a:r>
              <a:rPr lang="zh-CN" altLang="en-US" dirty="0">
                <a:solidFill>
                  <a:schemeClr val="bg1"/>
                </a:solidFill>
              </a:rPr>
              <a:t>文本</a:t>
            </a:r>
            <a:r>
              <a:rPr lang="zh-CN" altLang="en-US" dirty="0" smtClean="0">
                <a:solidFill>
                  <a:schemeClr val="bg1"/>
                </a:solidFill>
              </a:rPr>
              <a:t>数据</a:t>
            </a:r>
            <a:r>
              <a:rPr lang="zh-CN" altLang="en-US" dirty="0">
                <a:solidFill>
                  <a:schemeClr val="bg1"/>
                </a:solidFill>
              </a:rPr>
              <a:t>，</a:t>
            </a:r>
            <a:r>
              <a:rPr lang="zh-CN" altLang="en-US" dirty="0" smtClean="0">
                <a:solidFill>
                  <a:schemeClr val="bg1"/>
                </a:solidFill>
              </a:rPr>
              <a:t>例如</a:t>
            </a:r>
            <a:r>
              <a:rPr lang="zh-CN" altLang="en-US" dirty="0">
                <a:solidFill>
                  <a:schemeClr val="bg1"/>
                </a:solidFill>
              </a:rPr>
              <a:t>一个推文的内容或一封邮件的内容</a:t>
            </a:r>
            <a:r>
              <a:rPr lang="zh-CN" altLang="en-US" dirty="0" smtClean="0">
                <a:solidFill>
                  <a:schemeClr val="bg1"/>
                </a:solidFill>
              </a:rPr>
              <a:t>。</a:t>
            </a:r>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zh-CN" altLang="en-US" dirty="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23358572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410222" y="1935751"/>
            <a:ext cx="7547916" cy="2585323"/>
          </a:xfrm>
          <a:prstGeom prst="rect">
            <a:avLst/>
          </a:prstGeom>
          <a:noFill/>
        </p:spPr>
        <p:txBody>
          <a:bodyPr wrap="square" rtlCol="0">
            <a:spAutoFit/>
          </a:bodyPr>
          <a:lstStyle/>
          <a:p>
            <a:r>
              <a:rPr lang="zh-CN" altLang="en-US" b="1" dirty="0" smtClean="0">
                <a:solidFill>
                  <a:schemeClr val="bg1"/>
                </a:solidFill>
              </a:rPr>
              <a:t>分析</a:t>
            </a:r>
            <a:endParaRPr lang="en-US" altLang="zh-CN" b="1" dirty="0" smtClean="0">
              <a:solidFill>
                <a:schemeClr val="bg1"/>
              </a:solidFill>
            </a:endParaRPr>
          </a:p>
          <a:p>
            <a:r>
              <a:rPr lang="zh-CN" altLang="en-US" dirty="0" smtClean="0">
                <a:solidFill>
                  <a:schemeClr val="bg1"/>
                </a:solidFill>
              </a:rPr>
              <a:t>分析包含</a:t>
            </a:r>
            <a:r>
              <a:rPr lang="zh-CN" altLang="en-US" dirty="0">
                <a:solidFill>
                  <a:schemeClr val="bg1"/>
                </a:solidFill>
              </a:rPr>
              <a:t>下面的过程：</a:t>
            </a:r>
          </a:p>
          <a:p>
            <a:pPr marL="285750" indent="-285750">
              <a:buFont typeface="Wingdings" pitchFamily="2" charset="2"/>
              <a:buChar char="n"/>
            </a:pPr>
            <a:r>
              <a:rPr lang="zh-CN" altLang="en-US" dirty="0" smtClean="0">
                <a:solidFill>
                  <a:schemeClr val="bg1"/>
                </a:solidFill>
              </a:rPr>
              <a:t>将</a:t>
            </a:r>
            <a:r>
              <a:rPr lang="zh-CN" altLang="en-US" dirty="0">
                <a:solidFill>
                  <a:schemeClr val="bg1"/>
                </a:solidFill>
              </a:rPr>
              <a:t>一块文本分成适合于倒排索引的</a:t>
            </a:r>
            <a:r>
              <a:rPr lang="zh-CN" altLang="en-US" dirty="0" smtClean="0">
                <a:solidFill>
                  <a:schemeClr val="bg1"/>
                </a:solidFill>
              </a:rPr>
              <a:t>独立的词条</a:t>
            </a:r>
            <a:endParaRPr lang="zh-CN" altLang="en-US" dirty="0">
              <a:solidFill>
                <a:schemeClr val="bg1"/>
              </a:solidFill>
            </a:endParaRPr>
          </a:p>
          <a:p>
            <a:pPr marL="285750" indent="-285750">
              <a:buFont typeface="Wingdings" pitchFamily="2" charset="2"/>
              <a:buChar char="n"/>
            </a:pPr>
            <a:r>
              <a:rPr lang="zh-CN" altLang="en-US" dirty="0">
                <a:solidFill>
                  <a:schemeClr val="bg1"/>
                </a:solidFill>
              </a:rPr>
              <a:t>将这些词条统一化为标准格式以提高它们的“可搜索性”，或者 </a:t>
            </a:r>
            <a:r>
              <a:rPr lang="en-US" altLang="zh-CN" i="1" dirty="0">
                <a:solidFill>
                  <a:schemeClr val="bg1"/>
                </a:solidFill>
              </a:rPr>
              <a:t>recall</a:t>
            </a:r>
            <a:endParaRPr lang="zh-CN" altLang="en-US" dirty="0">
              <a:solidFill>
                <a:schemeClr val="bg1"/>
              </a:solidFill>
            </a:endParaRPr>
          </a:p>
          <a:p>
            <a:r>
              <a:rPr lang="zh-CN" altLang="en-US" dirty="0">
                <a:solidFill>
                  <a:schemeClr val="bg1"/>
                </a:solidFill>
              </a:rPr>
              <a:t> </a:t>
            </a:r>
            <a:r>
              <a:rPr lang="zh-CN" altLang="en-US" dirty="0" smtClean="0">
                <a:solidFill>
                  <a:schemeClr val="bg1"/>
                </a:solidFill>
              </a:rPr>
              <a:t>    分析器</a:t>
            </a:r>
            <a:r>
              <a:rPr lang="zh-CN" altLang="en-US" dirty="0">
                <a:solidFill>
                  <a:schemeClr val="bg1"/>
                </a:solidFill>
              </a:rPr>
              <a:t>执行上面的工作。</a:t>
            </a:r>
          </a:p>
          <a:p>
            <a:endParaRPr lang="zh-CN" altLang="en-US"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zh-CN" altLang="en-US" dirty="0">
              <a:solidFill>
                <a:schemeClr val="bg1"/>
              </a:solidFill>
            </a:endParaRPr>
          </a:p>
        </p:txBody>
      </p:sp>
      <p:sp>
        <p:nvSpPr>
          <p:cNvPr id="3" name="流程图: 过程 2"/>
          <p:cNvSpPr/>
          <p:nvPr/>
        </p:nvSpPr>
        <p:spPr bwMode="auto">
          <a:xfrm>
            <a:off x="1538651" y="4714898"/>
            <a:ext cx="1249190" cy="379088"/>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1" i="0" u="none" strike="noStrike" cap="none" normalizeH="0" baseline="0" dirty="0" smtClean="0">
                <a:ln>
                  <a:noFill/>
                </a:ln>
                <a:solidFill>
                  <a:schemeClr val="tx1"/>
                </a:solidFill>
                <a:effectLst/>
              </a:rPr>
              <a:t>分析</a:t>
            </a:r>
            <a:r>
              <a:rPr lang="zh-CN" altLang="en-US" b="1" dirty="0"/>
              <a:t>器</a:t>
            </a:r>
            <a:endParaRPr kumimoji="0" lang="zh-CN" altLang="en-US" sz="1800" b="1" i="0" u="none" strike="noStrike" cap="none" normalizeH="0" baseline="0" dirty="0" smtClean="0">
              <a:ln>
                <a:noFill/>
              </a:ln>
              <a:solidFill>
                <a:schemeClr val="tx1"/>
              </a:solidFill>
              <a:effectLst/>
            </a:endParaRPr>
          </a:p>
        </p:txBody>
      </p:sp>
      <p:sp>
        <p:nvSpPr>
          <p:cNvPr id="9" name="流程图: 过程 8"/>
          <p:cNvSpPr/>
          <p:nvPr/>
        </p:nvSpPr>
        <p:spPr bwMode="auto">
          <a:xfrm>
            <a:off x="4725755" y="4714898"/>
            <a:ext cx="1834191" cy="379088"/>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zh-CN" altLang="en-US" b="1" dirty="0"/>
              <a:t>分词器</a:t>
            </a:r>
            <a:endParaRPr kumimoji="0" lang="zh-CN" altLang="en-US" sz="1800" b="1" i="0" u="none" strike="noStrike" cap="none" normalizeH="0" baseline="0" dirty="0" smtClean="0">
              <a:ln>
                <a:noFill/>
              </a:ln>
              <a:solidFill>
                <a:schemeClr val="tx1"/>
              </a:solidFill>
              <a:effectLst/>
            </a:endParaRPr>
          </a:p>
        </p:txBody>
      </p:sp>
      <p:sp>
        <p:nvSpPr>
          <p:cNvPr id="10" name="流程图: 过程 9"/>
          <p:cNvSpPr/>
          <p:nvPr/>
        </p:nvSpPr>
        <p:spPr bwMode="auto">
          <a:xfrm>
            <a:off x="4725755" y="4086211"/>
            <a:ext cx="1834191" cy="434863"/>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lang="zh-CN" altLang="en-US" b="1" dirty="0" smtClean="0"/>
              <a:t>字符过滤器</a:t>
            </a:r>
            <a:endParaRPr kumimoji="0" lang="zh-CN" altLang="en-US" sz="1800" b="1" i="0" u="none" strike="noStrike" cap="none" normalizeH="0" baseline="0" dirty="0" smtClean="0">
              <a:ln>
                <a:noFill/>
              </a:ln>
              <a:solidFill>
                <a:schemeClr val="tx1"/>
              </a:solidFill>
              <a:effectLst/>
            </a:endParaRPr>
          </a:p>
        </p:txBody>
      </p:sp>
      <p:sp>
        <p:nvSpPr>
          <p:cNvPr id="11" name="流程图: 过程 10"/>
          <p:cNvSpPr/>
          <p:nvPr/>
        </p:nvSpPr>
        <p:spPr bwMode="auto">
          <a:xfrm>
            <a:off x="4720365" y="5327546"/>
            <a:ext cx="1839582" cy="431994"/>
          </a:xfrm>
          <a:prstGeom prst="flowChartProcess">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altLang="zh-CN" b="1" dirty="0"/>
              <a:t>Token </a:t>
            </a:r>
            <a:r>
              <a:rPr lang="zh-CN" altLang="en-US" b="1" dirty="0"/>
              <a:t>过滤器</a:t>
            </a:r>
            <a:endParaRPr kumimoji="0" lang="zh-CN" altLang="en-US" sz="1800" b="1" i="0" u="none" strike="noStrike" cap="none" normalizeH="0" baseline="0" dirty="0" smtClean="0">
              <a:ln>
                <a:noFill/>
              </a:ln>
              <a:solidFill>
                <a:schemeClr val="tx1"/>
              </a:solidFill>
              <a:effectLst/>
            </a:endParaRPr>
          </a:p>
        </p:txBody>
      </p:sp>
      <p:cxnSp>
        <p:nvCxnSpPr>
          <p:cNvPr id="7" name="直接连接符 6"/>
          <p:cNvCxnSpPr>
            <a:stCxn id="3" idx="3"/>
            <a:endCxn id="10" idx="1"/>
          </p:cNvCxnSpPr>
          <p:nvPr/>
        </p:nvCxnSpPr>
        <p:spPr bwMode="auto">
          <a:xfrm flipV="1">
            <a:off x="2787841" y="4303643"/>
            <a:ext cx="1937914" cy="600799"/>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2" name="直接连接符 11"/>
          <p:cNvCxnSpPr>
            <a:stCxn id="3" idx="3"/>
            <a:endCxn id="9" idx="1"/>
          </p:cNvCxnSpPr>
          <p:nvPr/>
        </p:nvCxnSpPr>
        <p:spPr bwMode="auto">
          <a:xfrm>
            <a:off x="2787841" y="4904442"/>
            <a:ext cx="1937914" cy="0"/>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4" name="直接连接符 13"/>
          <p:cNvCxnSpPr>
            <a:stCxn id="3" idx="3"/>
            <a:endCxn id="11" idx="1"/>
          </p:cNvCxnSpPr>
          <p:nvPr/>
        </p:nvCxnSpPr>
        <p:spPr bwMode="auto">
          <a:xfrm>
            <a:off x="2787841" y="4904442"/>
            <a:ext cx="1932524" cy="639101"/>
          </a:xfrm>
          <a:prstGeom prst="line">
            <a:avLst/>
          </a:prstGeom>
          <a:solidFill>
            <a:schemeClr val="accent1"/>
          </a:solidFill>
          <a:ln w="9525" cap="flat" cmpd="sng" algn="ctr">
            <a:solidFill>
              <a:schemeClr val="tx1"/>
            </a:solidFill>
            <a:prstDash val="solid"/>
            <a:round/>
            <a:headEnd type="none" w="med" len="med"/>
            <a:tailEnd type="none" w="med" len="med"/>
          </a:ln>
          <a:effectLst/>
        </p:spPr>
      </p:cxnSp>
      <p:pic>
        <p:nvPicPr>
          <p:cNvPr id="15"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38784112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616744" y="1879199"/>
            <a:ext cx="7547916" cy="3693319"/>
          </a:xfrm>
          <a:prstGeom prst="rect">
            <a:avLst/>
          </a:prstGeom>
          <a:noFill/>
        </p:spPr>
        <p:txBody>
          <a:bodyPr wrap="square" rtlCol="0">
            <a:spAutoFit/>
          </a:bodyPr>
          <a:lstStyle/>
          <a:p>
            <a:pPr marL="285750" indent="-285750">
              <a:buFont typeface="Wingdings" pitchFamily="2" charset="2"/>
              <a:buChar char="n"/>
            </a:pPr>
            <a:r>
              <a:rPr lang="zh-CN" altLang="en-US" dirty="0">
                <a:solidFill>
                  <a:schemeClr val="bg1"/>
                </a:solidFill>
              </a:rPr>
              <a:t>字符过滤器</a:t>
            </a:r>
            <a:endParaRPr lang="en-US" altLang="zh-CN" dirty="0">
              <a:solidFill>
                <a:schemeClr val="bg1"/>
              </a:solidFill>
            </a:endParaRPr>
          </a:p>
          <a:p>
            <a:r>
              <a:rPr lang="zh-CN" altLang="en-US" dirty="0">
                <a:solidFill>
                  <a:schemeClr val="bg1"/>
                </a:solidFill>
              </a:rPr>
              <a:t>字符串按顺序通过每个字符</a:t>
            </a:r>
            <a:r>
              <a:rPr lang="zh-CN" altLang="en-US" dirty="0" smtClean="0">
                <a:solidFill>
                  <a:schemeClr val="bg1"/>
                </a:solidFill>
              </a:rPr>
              <a:t>过滤器。</a:t>
            </a:r>
            <a:r>
              <a:rPr lang="zh-CN" altLang="en-US" dirty="0">
                <a:solidFill>
                  <a:schemeClr val="bg1"/>
                </a:solidFill>
              </a:rPr>
              <a:t>他们的任务是在分词前整理字符串。一个字符过滤器可以用来去掉</a:t>
            </a:r>
            <a:r>
              <a:rPr lang="en-US" altLang="zh-CN" dirty="0">
                <a:solidFill>
                  <a:schemeClr val="bg1"/>
                </a:solidFill>
              </a:rPr>
              <a:t>HTML</a:t>
            </a:r>
            <a:r>
              <a:rPr lang="zh-CN" altLang="en-US" dirty="0">
                <a:solidFill>
                  <a:schemeClr val="bg1"/>
                </a:solidFill>
              </a:rPr>
              <a:t>，或者将 </a:t>
            </a:r>
            <a:r>
              <a:rPr lang="en-US" altLang="zh-CN" dirty="0">
                <a:solidFill>
                  <a:schemeClr val="bg1"/>
                </a:solidFill>
              </a:rPr>
              <a:t>&amp; </a:t>
            </a:r>
            <a:r>
              <a:rPr lang="zh-CN" altLang="en-US" dirty="0">
                <a:solidFill>
                  <a:schemeClr val="bg1"/>
                </a:solidFill>
              </a:rPr>
              <a:t>转化成 </a:t>
            </a:r>
            <a:r>
              <a:rPr lang="en-US" altLang="zh-CN" dirty="0">
                <a:solidFill>
                  <a:schemeClr val="bg1"/>
                </a:solidFill>
              </a:rPr>
              <a:t>`and`</a:t>
            </a:r>
            <a:r>
              <a:rPr lang="zh-CN" altLang="en-US" dirty="0">
                <a:solidFill>
                  <a:schemeClr val="bg1"/>
                </a:solidFill>
              </a:rPr>
              <a:t>。</a:t>
            </a:r>
            <a:endParaRPr lang="en-US" altLang="zh-CN" dirty="0">
              <a:solidFill>
                <a:schemeClr val="bg1"/>
              </a:solidFill>
            </a:endParaRPr>
          </a:p>
          <a:p>
            <a:endParaRPr lang="en-US" altLang="zh-CN" dirty="0">
              <a:solidFill>
                <a:schemeClr val="bg1"/>
              </a:solidFill>
            </a:endParaRPr>
          </a:p>
          <a:p>
            <a:pPr marL="285750" indent="-285750">
              <a:buFont typeface="Wingdings" pitchFamily="2" charset="2"/>
              <a:buChar char="n"/>
            </a:pPr>
            <a:r>
              <a:rPr lang="zh-CN" altLang="en-US" dirty="0">
                <a:solidFill>
                  <a:schemeClr val="bg1"/>
                </a:solidFill>
              </a:rPr>
              <a:t>分词器</a:t>
            </a:r>
            <a:endParaRPr lang="en-US" altLang="zh-CN" dirty="0">
              <a:solidFill>
                <a:schemeClr val="bg1"/>
              </a:solidFill>
            </a:endParaRPr>
          </a:p>
          <a:p>
            <a:r>
              <a:rPr lang="zh-CN" altLang="en-US" dirty="0">
                <a:solidFill>
                  <a:schemeClr val="bg1"/>
                </a:solidFill>
              </a:rPr>
              <a:t>字符串</a:t>
            </a:r>
            <a:r>
              <a:rPr lang="zh-CN" altLang="en-US" dirty="0" smtClean="0">
                <a:solidFill>
                  <a:schemeClr val="bg1"/>
                </a:solidFill>
              </a:rPr>
              <a:t>被分词器分为</a:t>
            </a:r>
            <a:r>
              <a:rPr lang="zh-CN" altLang="en-US" dirty="0">
                <a:solidFill>
                  <a:schemeClr val="bg1"/>
                </a:solidFill>
              </a:rPr>
              <a:t>单个的</a:t>
            </a:r>
            <a:r>
              <a:rPr lang="zh-CN" altLang="en-US" dirty="0" smtClean="0">
                <a:solidFill>
                  <a:schemeClr val="bg1"/>
                </a:solidFill>
              </a:rPr>
              <a:t>词条，也就是中断词（</a:t>
            </a:r>
            <a:r>
              <a:rPr lang="en-US" altLang="zh-CN" dirty="0" smtClean="0">
                <a:solidFill>
                  <a:schemeClr val="bg1"/>
                </a:solidFill>
              </a:rPr>
              <a:t>stop word</a:t>
            </a:r>
            <a:r>
              <a:rPr lang="zh-CN" altLang="en-US" dirty="0" smtClean="0">
                <a:solidFill>
                  <a:schemeClr val="bg1"/>
                </a:solidFill>
              </a:rPr>
              <a:t>）</a:t>
            </a:r>
            <a:r>
              <a:rPr lang="zh-CN" altLang="en-US" dirty="0">
                <a:solidFill>
                  <a:schemeClr val="bg1"/>
                </a:solidFill>
              </a:rPr>
              <a:t>，</a:t>
            </a:r>
            <a:r>
              <a:rPr lang="zh-CN" altLang="en-US" dirty="0" smtClean="0">
                <a:solidFill>
                  <a:schemeClr val="bg1"/>
                </a:solidFill>
              </a:rPr>
              <a:t>一</a:t>
            </a:r>
            <a:r>
              <a:rPr lang="zh-CN" altLang="en-US" dirty="0">
                <a:solidFill>
                  <a:schemeClr val="bg1"/>
                </a:solidFill>
              </a:rPr>
              <a:t>个简单的分词器遇到空格和标点的时候，可能会将文本拆分成词条。</a:t>
            </a:r>
            <a:endParaRPr lang="en-US" altLang="zh-CN" dirty="0">
              <a:solidFill>
                <a:schemeClr val="bg1"/>
              </a:solidFill>
            </a:endParaRPr>
          </a:p>
          <a:p>
            <a:endParaRPr lang="en-US" altLang="zh-CN" dirty="0">
              <a:solidFill>
                <a:schemeClr val="bg1"/>
              </a:solidFill>
            </a:endParaRPr>
          </a:p>
          <a:p>
            <a:pPr marL="285750" indent="-285750">
              <a:buFont typeface="Wingdings" pitchFamily="2" charset="2"/>
              <a:buChar char="n"/>
            </a:pPr>
            <a:r>
              <a:rPr lang="en-US" altLang="zh-CN" dirty="0">
                <a:solidFill>
                  <a:schemeClr val="bg1"/>
                </a:solidFill>
              </a:rPr>
              <a:t>Token </a:t>
            </a:r>
            <a:r>
              <a:rPr lang="zh-CN" altLang="en-US" dirty="0">
                <a:solidFill>
                  <a:schemeClr val="bg1"/>
                </a:solidFill>
              </a:rPr>
              <a:t>过滤器</a:t>
            </a:r>
            <a:endParaRPr lang="en-US" altLang="zh-CN" dirty="0">
              <a:solidFill>
                <a:schemeClr val="bg1"/>
              </a:solidFill>
            </a:endParaRPr>
          </a:p>
          <a:p>
            <a:r>
              <a:rPr lang="zh-CN" altLang="en-US" dirty="0">
                <a:solidFill>
                  <a:schemeClr val="bg1"/>
                </a:solidFill>
              </a:rPr>
              <a:t>词条按顺序通过</a:t>
            </a:r>
            <a:r>
              <a:rPr lang="zh-CN" altLang="en-US" dirty="0" smtClean="0">
                <a:solidFill>
                  <a:schemeClr val="bg1"/>
                </a:solidFill>
              </a:rPr>
              <a:t>每个</a:t>
            </a:r>
            <a:r>
              <a:rPr lang="en-US" altLang="zh-CN" dirty="0" smtClean="0">
                <a:solidFill>
                  <a:schemeClr val="bg1"/>
                </a:solidFill>
              </a:rPr>
              <a:t>token</a:t>
            </a:r>
            <a:r>
              <a:rPr lang="zh-CN" altLang="en-US" dirty="0" smtClean="0">
                <a:solidFill>
                  <a:schemeClr val="bg1"/>
                </a:solidFill>
              </a:rPr>
              <a:t>过滤器。这个</a:t>
            </a:r>
            <a:r>
              <a:rPr lang="zh-CN" altLang="en-US" dirty="0">
                <a:solidFill>
                  <a:schemeClr val="bg1"/>
                </a:solidFill>
              </a:rPr>
              <a:t>过程可能会改变词条（例如，小写化 </a:t>
            </a:r>
            <a:r>
              <a:rPr lang="en-US" altLang="zh-CN" dirty="0">
                <a:solidFill>
                  <a:schemeClr val="bg1"/>
                </a:solidFill>
              </a:rPr>
              <a:t>Quick </a:t>
            </a:r>
            <a:r>
              <a:rPr lang="zh-CN" altLang="en-US" dirty="0">
                <a:solidFill>
                  <a:schemeClr val="bg1"/>
                </a:solidFill>
              </a:rPr>
              <a:t>），删除词条（例如， 像 </a:t>
            </a:r>
            <a:r>
              <a:rPr lang="en-US" altLang="zh-CN" dirty="0">
                <a:solidFill>
                  <a:schemeClr val="bg1"/>
                </a:solidFill>
              </a:rPr>
              <a:t>a`</a:t>
            </a:r>
            <a:r>
              <a:rPr lang="zh-CN" altLang="en-US" dirty="0">
                <a:solidFill>
                  <a:schemeClr val="bg1"/>
                </a:solidFill>
              </a:rPr>
              <a:t>， </a:t>
            </a:r>
            <a:r>
              <a:rPr lang="en-US" altLang="zh-CN" dirty="0">
                <a:solidFill>
                  <a:schemeClr val="bg1"/>
                </a:solidFill>
              </a:rPr>
              <a:t>`and`</a:t>
            </a:r>
            <a:r>
              <a:rPr lang="zh-CN" altLang="en-US" dirty="0">
                <a:solidFill>
                  <a:schemeClr val="bg1"/>
                </a:solidFill>
              </a:rPr>
              <a:t>， </a:t>
            </a:r>
            <a:r>
              <a:rPr lang="en-US" altLang="zh-CN" dirty="0">
                <a:solidFill>
                  <a:schemeClr val="bg1"/>
                </a:solidFill>
              </a:rPr>
              <a:t>`the </a:t>
            </a:r>
            <a:r>
              <a:rPr lang="zh-CN" altLang="en-US" dirty="0">
                <a:solidFill>
                  <a:schemeClr val="bg1"/>
                </a:solidFill>
              </a:rPr>
              <a:t>等无用词），或者增加词条（</a:t>
            </a:r>
            <a:r>
              <a:rPr lang="zh-CN" altLang="en-US" dirty="0" smtClean="0">
                <a:solidFill>
                  <a:schemeClr val="bg1"/>
                </a:solidFill>
              </a:rPr>
              <a:t>例如像</a:t>
            </a:r>
            <a:r>
              <a:rPr lang="en-US" altLang="zh-CN" dirty="0" smtClean="0">
                <a:solidFill>
                  <a:schemeClr val="bg1"/>
                </a:solidFill>
              </a:rPr>
              <a:t>jump</a:t>
            </a:r>
            <a:r>
              <a:rPr lang="zh-CN" altLang="en-US" dirty="0" smtClean="0">
                <a:solidFill>
                  <a:schemeClr val="bg1"/>
                </a:solidFill>
              </a:rPr>
              <a:t>和</a:t>
            </a:r>
            <a:r>
              <a:rPr lang="en-US" altLang="zh-CN" dirty="0" smtClean="0">
                <a:solidFill>
                  <a:schemeClr val="bg1"/>
                </a:solidFill>
              </a:rPr>
              <a:t>leap</a:t>
            </a:r>
            <a:r>
              <a:rPr lang="zh-CN" altLang="en-US" dirty="0" smtClean="0">
                <a:solidFill>
                  <a:schemeClr val="bg1"/>
                </a:solidFill>
              </a:rPr>
              <a:t>这种</a:t>
            </a:r>
            <a:r>
              <a:rPr lang="zh-CN" altLang="en-US" dirty="0">
                <a:solidFill>
                  <a:schemeClr val="bg1"/>
                </a:solidFill>
              </a:rPr>
              <a:t>同义词）。</a:t>
            </a:r>
          </a:p>
          <a:p>
            <a:endParaRPr lang="en-US" altLang="zh-CN" dirty="0" smtClean="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15346291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616744" y="1879199"/>
            <a:ext cx="7547916" cy="369332"/>
          </a:xfrm>
          <a:prstGeom prst="rect">
            <a:avLst/>
          </a:prstGeom>
          <a:noFill/>
        </p:spPr>
        <p:txBody>
          <a:bodyPr wrap="square" rtlCol="0">
            <a:spAutoFit/>
          </a:bodyPr>
          <a:lstStyle/>
          <a:p>
            <a:endParaRPr lang="en-US" altLang="zh-CN" dirty="0" smtClean="0">
              <a:solidFill>
                <a:schemeClr val="bg1"/>
              </a:solidFill>
            </a:endParaRPr>
          </a:p>
        </p:txBody>
      </p:sp>
      <p:sp>
        <p:nvSpPr>
          <p:cNvPr id="8" name="TextBox 7"/>
          <p:cNvSpPr txBox="1"/>
          <p:nvPr/>
        </p:nvSpPr>
        <p:spPr>
          <a:xfrm>
            <a:off x="616744" y="1879199"/>
            <a:ext cx="7547916" cy="3693319"/>
          </a:xfrm>
          <a:prstGeom prst="rect">
            <a:avLst/>
          </a:prstGeom>
          <a:noFill/>
        </p:spPr>
        <p:txBody>
          <a:bodyPr wrap="square" rtlCol="0">
            <a:spAutoFit/>
          </a:bodyPr>
          <a:lstStyle/>
          <a:p>
            <a:r>
              <a:rPr lang="zh-CN" altLang="en-US" dirty="0" smtClean="0">
                <a:solidFill>
                  <a:schemeClr val="bg1"/>
                </a:solidFill>
              </a:rPr>
              <a:t>常用内置分析器</a:t>
            </a:r>
            <a:endParaRPr lang="en-US" altLang="zh-CN" dirty="0" smtClean="0">
              <a:solidFill>
                <a:schemeClr val="bg1"/>
              </a:solidFill>
            </a:endParaRPr>
          </a:p>
          <a:p>
            <a:endParaRPr lang="en-US" altLang="zh-CN" dirty="0" smtClean="0">
              <a:solidFill>
                <a:schemeClr val="bg1"/>
              </a:solidFill>
            </a:endParaRPr>
          </a:p>
          <a:p>
            <a:r>
              <a:rPr lang="en-US" altLang="zh-CN" dirty="0">
                <a:solidFill>
                  <a:schemeClr val="bg1"/>
                </a:solidFill>
              </a:rPr>
              <a:t>"Set the shape to semi-transparent by calling </a:t>
            </a:r>
            <a:r>
              <a:rPr lang="en-US" altLang="zh-CN" dirty="0" err="1">
                <a:solidFill>
                  <a:schemeClr val="bg1"/>
                </a:solidFill>
              </a:rPr>
              <a:t>set_trans</a:t>
            </a:r>
            <a:r>
              <a:rPr lang="en-US" altLang="zh-CN" dirty="0">
                <a:solidFill>
                  <a:schemeClr val="bg1"/>
                </a:solidFill>
              </a:rPr>
              <a:t>(5</a:t>
            </a:r>
            <a:r>
              <a:rPr lang="en-US" altLang="zh-CN" dirty="0" smtClean="0">
                <a:solidFill>
                  <a:schemeClr val="bg1"/>
                </a:solidFill>
              </a:rPr>
              <a:t>)“</a:t>
            </a:r>
          </a:p>
          <a:p>
            <a:endParaRPr lang="en-US" altLang="zh-CN" dirty="0" smtClean="0">
              <a:solidFill>
                <a:schemeClr val="bg1"/>
              </a:solidFill>
            </a:endParaRPr>
          </a:p>
          <a:p>
            <a:endParaRPr lang="en-US" altLang="zh-CN" dirty="0">
              <a:solidFill>
                <a:schemeClr val="bg1"/>
              </a:solidFill>
            </a:endParaRPr>
          </a:p>
          <a:p>
            <a:pPr marL="285750" indent="-285750">
              <a:buFont typeface="Wingdings" pitchFamily="2" charset="2"/>
              <a:buChar char="n"/>
            </a:pPr>
            <a:r>
              <a:rPr lang="zh-CN" altLang="en-US" dirty="0" smtClean="0">
                <a:solidFill>
                  <a:schemeClr val="bg1"/>
                </a:solidFill>
              </a:rPr>
              <a:t>标准分析器（单词</a:t>
            </a:r>
            <a:r>
              <a:rPr lang="en-US" altLang="zh-CN" dirty="0" smtClean="0">
                <a:solidFill>
                  <a:schemeClr val="bg1"/>
                </a:solidFill>
              </a:rPr>
              <a:t>+</a:t>
            </a:r>
            <a:r>
              <a:rPr lang="zh-CN" altLang="en-US" dirty="0" smtClean="0">
                <a:solidFill>
                  <a:schemeClr val="bg1"/>
                </a:solidFill>
              </a:rPr>
              <a:t>小写）</a:t>
            </a:r>
            <a:endParaRPr lang="en-US" altLang="zh-CN" dirty="0" smtClean="0">
              <a:solidFill>
                <a:schemeClr val="bg1"/>
              </a:solidFill>
            </a:endParaRPr>
          </a:p>
          <a:p>
            <a:r>
              <a:rPr lang="en-US" altLang="zh-CN" dirty="0">
                <a:solidFill>
                  <a:schemeClr val="bg1"/>
                </a:solidFill>
              </a:rPr>
              <a:t>set, the, shape, to, semi, transparent, by, calling, </a:t>
            </a:r>
            <a:r>
              <a:rPr lang="en-US" altLang="zh-CN" dirty="0" err="1">
                <a:solidFill>
                  <a:schemeClr val="bg1"/>
                </a:solidFill>
              </a:rPr>
              <a:t>set_trans</a:t>
            </a:r>
            <a:r>
              <a:rPr lang="en-US" altLang="zh-CN" dirty="0">
                <a:solidFill>
                  <a:schemeClr val="bg1"/>
                </a:solidFill>
              </a:rPr>
              <a:t>, </a:t>
            </a:r>
            <a:r>
              <a:rPr lang="en-US" altLang="zh-CN" dirty="0" smtClean="0">
                <a:solidFill>
                  <a:schemeClr val="bg1"/>
                </a:solidFill>
              </a:rPr>
              <a:t>5</a:t>
            </a:r>
          </a:p>
          <a:p>
            <a:pPr marL="285750" indent="-285750">
              <a:buFont typeface="Wingdings" pitchFamily="2" charset="2"/>
              <a:buChar char="n"/>
            </a:pPr>
            <a:r>
              <a:rPr lang="zh-CN" altLang="en-US" dirty="0" smtClean="0">
                <a:solidFill>
                  <a:schemeClr val="bg1"/>
                </a:solidFill>
              </a:rPr>
              <a:t>简单分析器（</a:t>
            </a:r>
            <a:r>
              <a:rPr lang="zh-CN" altLang="en-US" dirty="0">
                <a:solidFill>
                  <a:schemeClr val="bg1"/>
                </a:solidFill>
              </a:rPr>
              <a:t>在任何不是字母的地方分隔</a:t>
            </a:r>
            <a:r>
              <a:rPr lang="zh-CN" altLang="en-US" dirty="0" smtClean="0">
                <a:solidFill>
                  <a:schemeClr val="bg1"/>
                </a:solidFill>
              </a:rPr>
              <a:t>文本</a:t>
            </a:r>
            <a:r>
              <a:rPr lang="en-US" altLang="zh-CN" dirty="0" smtClean="0">
                <a:solidFill>
                  <a:schemeClr val="bg1"/>
                </a:solidFill>
              </a:rPr>
              <a:t>+</a:t>
            </a:r>
            <a:r>
              <a:rPr lang="zh-CN" altLang="en-US" dirty="0" smtClean="0">
                <a:solidFill>
                  <a:schemeClr val="bg1"/>
                </a:solidFill>
              </a:rPr>
              <a:t>小写）</a:t>
            </a:r>
            <a:endParaRPr lang="en-US" altLang="zh-CN" dirty="0" smtClean="0">
              <a:solidFill>
                <a:schemeClr val="bg1"/>
              </a:solidFill>
            </a:endParaRPr>
          </a:p>
          <a:p>
            <a:r>
              <a:rPr lang="en-US" altLang="zh-CN" dirty="0">
                <a:solidFill>
                  <a:schemeClr val="bg1"/>
                </a:solidFill>
              </a:rPr>
              <a:t>set, the, shape, to, semi, transparent, by, calling, set, trans</a:t>
            </a:r>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空格分析器（</a:t>
            </a:r>
            <a:r>
              <a:rPr lang="zh-CN" altLang="en-US" dirty="0">
                <a:solidFill>
                  <a:schemeClr val="bg1"/>
                </a:solidFill>
              </a:rPr>
              <a:t>空格的地方划分文本</a:t>
            </a:r>
            <a:r>
              <a:rPr lang="zh-CN" altLang="en-US" dirty="0" smtClean="0">
                <a:solidFill>
                  <a:schemeClr val="bg1"/>
                </a:solidFill>
              </a:rPr>
              <a:t>）</a:t>
            </a:r>
            <a:endParaRPr lang="en-US" altLang="zh-CN" dirty="0" smtClean="0">
              <a:solidFill>
                <a:schemeClr val="bg1"/>
              </a:solidFill>
            </a:endParaRPr>
          </a:p>
          <a:p>
            <a:r>
              <a:rPr lang="en-US" altLang="zh-CN" dirty="0">
                <a:solidFill>
                  <a:schemeClr val="bg1"/>
                </a:solidFill>
              </a:rPr>
              <a:t>Set, the, shape, to, semi-transparent, by, calling, </a:t>
            </a:r>
            <a:r>
              <a:rPr lang="en-US" altLang="zh-CN" dirty="0" err="1">
                <a:solidFill>
                  <a:schemeClr val="bg1"/>
                </a:solidFill>
              </a:rPr>
              <a:t>set_trans</a:t>
            </a:r>
            <a:r>
              <a:rPr lang="en-US" altLang="zh-CN" dirty="0">
                <a:solidFill>
                  <a:schemeClr val="bg1"/>
                </a:solidFill>
              </a:rPr>
              <a:t>(5)</a:t>
            </a:r>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语言分析器（提取词干）</a:t>
            </a:r>
            <a:endParaRPr lang="en-US" altLang="zh-CN" dirty="0" smtClean="0">
              <a:solidFill>
                <a:schemeClr val="bg1"/>
              </a:solidFill>
            </a:endParaRPr>
          </a:p>
          <a:p>
            <a:r>
              <a:rPr lang="en-US" altLang="zh-CN" dirty="0">
                <a:solidFill>
                  <a:schemeClr val="bg1"/>
                </a:solidFill>
              </a:rPr>
              <a:t>set, shape, semi, </a:t>
            </a:r>
            <a:r>
              <a:rPr lang="en-US" altLang="zh-CN" dirty="0" err="1">
                <a:solidFill>
                  <a:schemeClr val="bg1"/>
                </a:solidFill>
              </a:rPr>
              <a:t>transpar</a:t>
            </a:r>
            <a:r>
              <a:rPr lang="en-US" altLang="zh-CN" dirty="0">
                <a:solidFill>
                  <a:schemeClr val="bg1"/>
                </a:solidFill>
              </a:rPr>
              <a:t>, call, </a:t>
            </a:r>
            <a:r>
              <a:rPr lang="en-US" altLang="zh-CN" dirty="0" err="1">
                <a:solidFill>
                  <a:schemeClr val="bg1"/>
                </a:solidFill>
              </a:rPr>
              <a:t>set_tran</a:t>
            </a:r>
            <a:r>
              <a:rPr lang="en-US" altLang="zh-CN" dirty="0">
                <a:solidFill>
                  <a:schemeClr val="bg1"/>
                </a:solidFill>
              </a:rPr>
              <a:t>, 5</a:t>
            </a:r>
            <a:endParaRPr lang="en-US" altLang="zh-CN" dirty="0" smtClean="0">
              <a:solidFill>
                <a:schemeClr val="bg1"/>
              </a:solidFill>
            </a:endParaRPr>
          </a:p>
        </p:txBody>
      </p:sp>
      <p:pic>
        <p:nvPicPr>
          <p:cNvPr id="9"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5411413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5" name="矩形 4"/>
          <p:cNvSpPr/>
          <p:nvPr/>
        </p:nvSpPr>
        <p:spPr bwMode="auto">
          <a:xfrm>
            <a:off x="874560" y="2142735"/>
            <a:ext cx="1799976"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dirty="0" smtClean="0">
                <a:ln>
                  <a:noFill/>
                </a:ln>
                <a:solidFill>
                  <a:schemeClr val="tx1"/>
                </a:solidFill>
                <a:effectLst/>
                <a:latin typeface="Arial" pitchFamily="34" charset="0"/>
                <a:ea typeface="宋体" pitchFamily="2" charset="-122"/>
              </a:rPr>
              <a:t>词汇识别</a:t>
            </a:r>
          </a:p>
        </p:txBody>
      </p:sp>
      <p:sp>
        <p:nvSpPr>
          <p:cNvPr id="12" name="矩形 11"/>
          <p:cNvSpPr/>
          <p:nvPr/>
        </p:nvSpPr>
        <p:spPr bwMode="auto">
          <a:xfrm>
            <a:off x="901949" y="5026361"/>
            <a:ext cx="1799976"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lang="zh-CN" altLang="en-US" dirty="0"/>
              <a:t>同义词</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3" name="矩形 12"/>
          <p:cNvSpPr/>
          <p:nvPr/>
        </p:nvSpPr>
        <p:spPr bwMode="auto">
          <a:xfrm>
            <a:off x="884936" y="4277871"/>
            <a:ext cx="1799976"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lang="zh-CN" altLang="en-US" dirty="0"/>
              <a:t>停用词</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4" name="矩形 13"/>
          <p:cNvSpPr/>
          <p:nvPr/>
        </p:nvSpPr>
        <p:spPr bwMode="auto">
          <a:xfrm>
            <a:off x="901949" y="3623484"/>
            <a:ext cx="1799976"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lang="zh-CN" altLang="en-US" dirty="0" smtClean="0"/>
              <a:t>单词还原成词根</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5" name="矩形 14"/>
          <p:cNvSpPr/>
          <p:nvPr/>
        </p:nvSpPr>
        <p:spPr bwMode="auto">
          <a:xfrm>
            <a:off x="901948" y="2928137"/>
            <a:ext cx="1799976"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lang="zh-CN" altLang="en-US" dirty="0" smtClean="0"/>
              <a:t>归一化词元</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16" name="矩形 15"/>
          <p:cNvSpPr/>
          <p:nvPr/>
        </p:nvSpPr>
        <p:spPr bwMode="auto">
          <a:xfrm>
            <a:off x="901948" y="5710129"/>
            <a:ext cx="1799977" cy="4572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 typeface="Arial" pitchFamily="34" charset="0"/>
              <a:buNone/>
              <a:tabLst/>
            </a:pPr>
            <a:r>
              <a:rPr kumimoji="0" lang="zh-CN" altLang="en-US" sz="1800" b="0" i="0" u="none" strike="noStrike" cap="none" normalizeH="0" baseline="0" dirty="0" smtClean="0">
                <a:ln>
                  <a:noFill/>
                </a:ln>
                <a:solidFill>
                  <a:schemeClr val="tx1"/>
                </a:solidFill>
                <a:effectLst/>
                <a:latin typeface="Arial" pitchFamily="34" charset="0"/>
                <a:ea typeface="宋体" pitchFamily="2" charset="-122"/>
              </a:rPr>
              <a:t>拼写错误</a:t>
            </a:r>
          </a:p>
        </p:txBody>
      </p:sp>
      <p:sp>
        <p:nvSpPr>
          <p:cNvPr id="7" name="下箭头 6"/>
          <p:cNvSpPr/>
          <p:nvPr/>
        </p:nvSpPr>
        <p:spPr bwMode="auto">
          <a:xfrm>
            <a:off x="1459344" y="2665922"/>
            <a:ext cx="484632" cy="206338"/>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18" name="下箭头 17"/>
          <p:cNvSpPr/>
          <p:nvPr/>
        </p:nvSpPr>
        <p:spPr bwMode="auto">
          <a:xfrm>
            <a:off x="1455549" y="3417146"/>
            <a:ext cx="484632" cy="206338"/>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19" name="下箭头 18"/>
          <p:cNvSpPr/>
          <p:nvPr/>
        </p:nvSpPr>
        <p:spPr bwMode="auto">
          <a:xfrm>
            <a:off x="1459344" y="4080684"/>
            <a:ext cx="484632" cy="206338"/>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20" name="下箭头 19"/>
          <p:cNvSpPr/>
          <p:nvPr/>
        </p:nvSpPr>
        <p:spPr bwMode="auto">
          <a:xfrm>
            <a:off x="1459344" y="5483561"/>
            <a:ext cx="484632" cy="206338"/>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21" name="下箭头 20"/>
          <p:cNvSpPr/>
          <p:nvPr/>
        </p:nvSpPr>
        <p:spPr bwMode="auto">
          <a:xfrm>
            <a:off x="1459344" y="4763316"/>
            <a:ext cx="484632" cy="206338"/>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8" name="矩形 7"/>
          <p:cNvSpPr/>
          <p:nvPr/>
        </p:nvSpPr>
        <p:spPr bwMode="auto">
          <a:xfrm>
            <a:off x="4797059" y="2142735"/>
            <a:ext cx="3170141" cy="44213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dirty="0"/>
              <a:t>把文本切割成词元</a:t>
            </a:r>
            <a:r>
              <a:rPr lang="en-US" altLang="zh-CN" dirty="0"/>
              <a:t>(token)</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27" name="矩形 26"/>
          <p:cNvSpPr/>
          <p:nvPr/>
        </p:nvSpPr>
        <p:spPr bwMode="auto">
          <a:xfrm>
            <a:off x="4784531" y="2928137"/>
            <a:ext cx="3170142" cy="387646"/>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dirty="0" smtClean="0"/>
              <a:t>归一化操作，如：大小写处理</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30" name="矩形 29"/>
          <p:cNvSpPr/>
          <p:nvPr/>
        </p:nvSpPr>
        <p:spPr bwMode="auto">
          <a:xfrm>
            <a:off x="4806120" y="4359960"/>
            <a:ext cx="3161080" cy="375111"/>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kumimoji="0" lang="zh-CN" altLang="en-US" sz="1800" b="0" i="0" u="none" strike="noStrike" cap="none" normalizeH="0" baseline="0" dirty="0" smtClean="0">
                <a:ln>
                  <a:noFill/>
                </a:ln>
                <a:solidFill>
                  <a:schemeClr val="tx1"/>
                </a:solidFill>
                <a:effectLst/>
                <a:latin typeface="Arial" pitchFamily="34" charset="0"/>
                <a:ea typeface="宋体" pitchFamily="2" charset="-122"/>
              </a:rPr>
              <a:t>过滤掉停用词</a:t>
            </a:r>
          </a:p>
        </p:txBody>
      </p:sp>
      <p:sp>
        <p:nvSpPr>
          <p:cNvPr id="31" name="矩形 30"/>
          <p:cNvSpPr/>
          <p:nvPr/>
        </p:nvSpPr>
        <p:spPr bwMode="auto">
          <a:xfrm>
            <a:off x="4806120" y="5051997"/>
            <a:ext cx="3161080" cy="431564"/>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kumimoji="0" lang="zh-CN" altLang="en-US" sz="1800" b="0" i="0" u="none" strike="noStrike" cap="none" normalizeH="0" baseline="0" dirty="0" smtClean="0">
                <a:ln>
                  <a:noFill/>
                </a:ln>
                <a:solidFill>
                  <a:schemeClr val="tx1"/>
                </a:solidFill>
                <a:effectLst/>
                <a:latin typeface="Arial" pitchFamily="34" charset="0"/>
                <a:ea typeface="宋体" pitchFamily="2" charset="-122"/>
              </a:rPr>
              <a:t>使用同义词</a:t>
            </a:r>
          </a:p>
        </p:txBody>
      </p:sp>
      <p:sp>
        <p:nvSpPr>
          <p:cNvPr id="32" name="矩形 31"/>
          <p:cNvSpPr/>
          <p:nvPr/>
        </p:nvSpPr>
        <p:spPr bwMode="auto">
          <a:xfrm>
            <a:off x="4784120" y="3684867"/>
            <a:ext cx="3161080" cy="395817"/>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dirty="0" smtClean="0"/>
              <a:t>词性变化，如复数，时态等</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sp>
        <p:nvSpPr>
          <p:cNvPr id="40" name="矩形 39"/>
          <p:cNvSpPr/>
          <p:nvPr/>
        </p:nvSpPr>
        <p:spPr bwMode="auto">
          <a:xfrm>
            <a:off x="4806120" y="5804909"/>
            <a:ext cx="3170143" cy="36242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zh-CN" altLang="en-US" dirty="0" smtClean="0"/>
              <a:t>处理拼写错误</a:t>
            </a:r>
            <a:endParaRPr kumimoji="0" lang="zh-CN" altLang="en-US" sz="1800" b="0" i="0" u="none" strike="noStrike" cap="none" normalizeH="0" baseline="0" dirty="0" smtClean="0">
              <a:ln>
                <a:noFill/>
              </a:ln>
              <a:solidFill>
                <a:schemeClr val="tx1"/>
              </a:solidFill>
              <a:effectLst/>
              <a:latin typeface="Arial" pitchFamily="34" charset="0"/>
              <a:ea typeface="宋体" pitchFamily="2" charset="-122"/>
            </a:endParaRPr>
          </a:p>
        </p:txBody>
      </p:sp>
      <p:pic>
        <p:nvPicPr>
          <p:cNvPr id="42"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22" name="右箭头 21"/>
          <p:cNvSpPr/>
          <p:nvPr/>
        </p:nvSpPr>
        <p:spPr bwMode="auto">
          <a:xfrm>
            <a:off x="3279021" y="2181290"/>
            <a:ext cx="978408" cy="48463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38" name="右箭头 37"/>
          <p:cNvSpPr/>
          <p:nvPr/>
        </p:nvSpPr>
        <p:spPr bwMode="auto">
          <a:xfrm>
            <a:off x="3276912" y="4988961"/>
            <a:ext cx="978408" cy="48463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39" name="右箭头 38"/>
          <p:cNvSpPr/>
          <p:nvPr/>
        </p:nvSpPr>
        <p:spPr bwMode="auto">
          <a:xfrm>
            <a:off x="3267748" y="2943061"/>
            <a:ext cx="978408" cy="48463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41" name="右箭头 40"/>
          <p:cNvSpPr/>
          <p:nvPr/>
        </p:nvSpPr>
        <p:spPr bwMode="auto">
          <a:xfrm>
            <a:off x="3279021" y="3699221"/>
            <a:ext cx="978408" cy="48463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43" name="右箭头 42"/>
          <p:cNvSpPr/>
          <p:nvPr/>
        </p:nvSpPr>
        <p:spPr bwMode="auto">
          <a:xfrm>
            <a:off x="3276912" y="4305199"/>
            <a:ext cx="978408" cy="48463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
        <p:nvSpPr>
          <p:cNvPr id="44" name="右箭头 43"/>
          <p:cNvSpPr/>
          <p:nvPr/>
        </p:nvSpPr>
        <p:spPr bwMode="auto">
          <a:xfrm>
            <a:off x="3279021" y="5674458"/>
            <a:ext cx="978408" cy="48463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 typeface="Arial" pitchFamily="34" charset="0"/>
              <a:buNone/>
              <a:tabLst/>
            </a:pPr>
            <a:endParaRPr kumimoji="0" lang="zh-CN" altLang="en-US" sz="1800" b="0" i="0" u="none" strike="noStrike" cap="none" normalizeH="0" baseline="0" smtClean="0">
              <a:ln>
                <a:noFill/>
              </a:ln>
              <a:solidFill>
                <a:schemeClr val="tx1"/>
              </a:solidFill>
              <a:effectLst/>
              <a:latin typeface="Arial" pitchFamily="34" charset="0"/>
              <a:ea typeface="宋体" pitchFamily="2" charset="-122"/>
            </a:endParaRPr>
          </a:p>
        </p:txBody>
      </p:sp>
    </p:spTree>
    <p:extLst>
      <p:ext uri="{BB962C8B-B14F-4D97-AF65-F5344CB8AC3E}">
        <p14:creationId xmlns:p14="http://schemas.microsoft.com/office/powerpoint/2010/main" val="15834637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2205017"/>
            <a:ext cx="184731" cy="1200329"/>
          </a:xfrm>
          <a:prstGeom prst="rect">
            <a:avLst/>
          </a:prstGeom>
          <a:noFill/>
        </p:spPr>
        <p:txBody>
          <a:bodyPr wrap="none" rtlCol="0">
            <a:spAutoFit/>
          </a:bodyPr>
          <a:lstStyle/>
          <a:p>
            <a:endParaRPr lang="en-US" altLang="zh-CN" dirty="0">
              <a:solidFill>
                <a:schemeClr val="bg1"/>
              </a:solidFill>
            </a:endParaRPr>
          </a:p>
          <a:p>
            <a:endParaRPr lang="en-US" altLang="zh-CN" b="1" dirty="0" smtClean="0">
              <a:solidFill>
                <a:schemeClr val="bg1"/>
              </a:solidFill>
            </a:endParaRPr>
          </a:p>
          <a:p>
            <a:endParaRPr lang="zh-CN" altLang="en-US" dirty="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pic>
        <p:nvPicPr>
          <p:cNvPr id="39938" name="Picture 2" descr="E:\美的支付\技术分享\Elasticsearch技术分享\001.jpe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744" y="2565012"/>
            <a:ext cx="7750334" cy="314008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616744" y="2033313"/>
            <a:ext cx="1338828" cy="369332"/>
          </a:xfrm>
          <a:prstGeom prst="rect">
            <a:avLst/>
          </a:prstGeom>
          <a:noFill/>
        </p:spPr>
        <p:txBody>
          <a:bodyPr wrap="none" rtlCol="0">
            <a:spAutoFit/>
          </a:bodyPr>
          <a:lstStyle/>
          <a:p>
            <a:r>
              <a:rPr lang="zh-CN" altLang="en-US" b="1" dirty="0" smtClean="0">
                <a:solidFill>
                  <a:schemeClr val="bg1"/>
                </a:solidFill>
              </a:rPr>
              <a:t>集群与分片</a:t>
            </a:r>
            <a:endParaRPr lang="zh-CN" altLang="en-US" b="1" dirty="0">
              <a:solidFill>
                <a:schemeClr val="bg1"/>
              </a:solidFill>
            </a:endParaRPr>
          </a:p>
        </p:txBody>
      </p:sp>
    </p:spTree>
    <p:extLst>
      <p:ext uri="{BB962C8B-B14F-4D97-AF65-F5344CB8AC3E}">
        <p14:creationId xmlns:p14="http://schemas.microsoft.com/office/powerpoint/2010/main" val="286782152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592102" y="2048567"/>
            <a:ext cx="8924238" cy="4524315"/>
          </a:xfrm>
          <a:prstGeom prst="rect">
            <a:avLst/>
          </a:prstGeom>
          <a:noFill/>
        </p:spPr>
        <p:txBody>
          <a:bodyPr wrap="none" rtlCol="0">
            <a:spAutoFit/>
          </a:bodyPr>
          <a:lstStyle/>
          <a:p>
            <a:r>
              <a:rPr lang="zh-CN" altLang="en-US" dirty="0" smtClean="0">
                <a:solidFill>
                  <a:schemeClr val="bg1"/>
                </a:solidFill>
              </a:rPr>
              <a:t>节点类型</a:t>
            </a:r>
            <a:endParaRPr lang="en-US" altLang="zh-CN" dirty="0" smtClean="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b="1" dirty="0">
                <a:solidFill>
                  <a:srgbClr val="FFFF00"/>
                </a:solidFill>
              </a:rPr>
              <a:t>主</a:t>
            </a:r>
            <a:r>
              <a:rPr lang="zh-CN" altLang="en-US" b="1" dirty="0" smtClean="0">
                <a:solidFill>
                  <a:srgbClr val="FFFF00"/>
                </a:solidFill>
              </a:rPr>
              <a:t>节点</a:t>
            </a:r>
            <a:r>
              <a:rPr lang="en-US" altLang="zh-CN" b="1" dirty="0" smtClean="0">
                <a:solidFill>
                  <a:srgbClr val="FFFF00"/>
                </a:solidFill>
              </a:rPr>
              <a:t>(Master)</a:t>
            </a:r>
            <a:r>
              <a:rPr lang="zh-CN" altLang="en-US" b="1" dirty="0" smtClean="0">
                <a:solidFill>
                  <a:srgbClr val="FFFF00"/>
                </a:solidFill>
              </a:rPr>
              <a:t>：</a:t>
            </a:r>
            <a:endParaRPr lang="en-US" altLang="zh-CN" b="1" dirty="0" smtClean="0">
              <a:solidFill>
                <a:srgbClr val="FFFF00"/>
              </a:solidFill>
            </a:endParaRPr>
          </a:p>
          <a:p>
            <a:r>
              <a:rPr lang="en-US" altLang="zh-CN" dirty="0" smtClean="0">
                <a:solidFill>
                  <a:schemeClr val="bg1"/>
                </a:solidFill>
              </a:rPr>
              <a:t>node.master</a:t>
            </a:r>
            <a:r>
              <a:rPr lang="zh-CN" altLang="en-US" dirty="0">
                <a:solidFill>
                  <a:schemeClr val="bg1"/>
                </a:solidFill>
              </a:rPr>
              <a:t>设置为</a:t>
            </a:r>
            <a:r>
              <a:rPr lang="en-US" altLang="zh-CN" dirty="0" smtClean="0">
                <a:solidFill>
                  <a:schemeClr val="bg1"/>
                </a:solidFill>
              </a:rPr>
              <a:t>True</a:t>
            </a:r>
            <a:r>
              <a:rPr lang="en-US" altLang="zh-CN" dirty="0">
                <a:solidFill>
                  <a:schemeClr val="bg1"/>
                </a:solidFill>
              </a:rPr>
              <a:t>(</a:t>
            </a:r>
            <a:r>
              <a:rPr lang="zh-CN" altLang="en-US" dirty="0" smtClean="0">
                <a:solidFill>
                  <a:schemeClr val="bg1"/>
                </a:solidFill>
              </a:rPr>
              <a:t>默认</a:t>
            </a:r>
            <a:r>
              <a:rPr lang="en-US" altLang="zh-CN" dirty="0">
                <a:solidFill>
                  <a:schemeClr val="bg1"/>
                </a:solidFill>
              </a:rPr>
              <a:t>)</a:t>
            </a:r>
            <a:r>
              <a:rPr lang="zh-CN" altLang="en-US" dirty="0" smtClean="0">
                <a:solidFill>
                  <a:schemeClr val="bg1"/>
                </a:solidFill>
              </a:rPr>
              <a:t>的时候，有资格</a:t>
            </a:r>
            <a:r>
              <a:rPr lang="zh-CN" altLang="en-US" dirty="0">
                <a:solidFill>
                  <a:schemeClr val="bg1"/>
                </a:solidFill>
              </a:rPr>
              <a:t>被选</a:t>
            </a:r>
            <a:r>
              <a:rPr lang="zh-CN" altLang="en-US" dirty="0" smtClean="0">
                <a:solidFill>
                  <a:schemeClr val="bg1"/>
                </a:solidFill>
              </a:rPr>
              <a:t>作为主</a:t>
            </a:r>
            <a:r>
              <a:rPr lang="zh-CN" altLang="en-US" dirty="0">
                <a:solidFill>
                  <a:schemeClr val="bg1"/>
                </a:solidFill>
              </a:rPr>
              <a:t>节点，控制整个集群。</a:t>
            </a:r>
            <a:endParaRPr lang="en-US" altLang="zh-CN" dirty="0" smtClean="0">
              <a:solidFill>
                <a:schemeClr val="bg1"/>
              </a:solidFill>
            </a:endParaRPr>
          </a:p>
          <a:p>
            <a:pPr marL="285750" indent="-285750">
              <a:buFont typeface="Wingdings" pitchFamily="2" charset="2"/>
              <a:buChar char="n"/>
            </a:pPr>
            <a:r>
              <a:rPr lang="zh-CN" altLang="en-US" b="1" dirty="0">
                <a:solidFill>
                  <a:srgbClr val="FFFF00"/>
                </a:solidFill>
              </a:rPr>
              <a:t>数据</a:t>
            </a:r>
            <a:r>
              <a:rPr lang="zh-CN" altLang="en-US" b="1" dirty="0" smtClean="0">
                <a:solidFill>
                  <a:srgbClr val="FFFF00"/>
                </a:solidFill>
              </a:rPr>
              <a:t>节点</a:t>
            </a:r>
            <a:r>
              <a:rPr lang="en-US" altLang="zh-CN" b="1" dirty="0" smtClean="0">
                <a:solidFill>
                  <a:srgbClr val="FFFF00"/>
                </a:solidFill>
              </a:rPr>
              <a:t>(Data)</a:t>
            </a:r>
            <a:r>
              <a:rPr lang="zh-CN" altLang="en-US" b="1" dirty="0" smtClean="0">
                <a:solidFill>
                  <a:srgbClr val="FFFF00"/>
                </a:solidFill>
              </a:rPr>
              <a:t>：   </a:t>
            </a:r>
            <a:endParaRPr lang="en-US" altLang="zh-CN" b="1" dirty="0" smtClean="0">
              <a:solidFill>
                <a:srgbClr val="FFFF00"/>
              </a:solidFill>
            </a:endParaRPr>
          </a:p>
          <a:p>
            <a:r>
              <a:rPr lang="zh-CN" altLang="en-US" dirty="0" smtClean="0">
                <a:solidFill>
                  <a:schemeClr val="bg1"/>
                </a:solidFill>
              </a:rPr>
              <a:t>在</a:t>
            </a:r>
            <a:r>
              <a:rPr lang="zh-CN" altLang="en-US" dirty="0">
                <a:solidFill>
                  <a:schemeClr val="bg1"/>
                </a:solidFill>
              </a:rPr>
              <a:t>一个节点上</a:t>
            </a:r>
            <a:r>
              <a:rPr lang="en-US" altLang="zh-CN" dirty="0">
                <a:solidFill>
                  <a:schemeClr val="bg1"/>
                </a:solidFill>
              </a:rPr>
              <a:t>node.data</a:t>
            </a:r>
            <a:r>
              <a:rPr lang="zh-CN" altLang="en-US" dirty="0">
                <a:solidFill>
                  <a:schemeClr val="bg1"/>
                </a:solidFill>
              </a:rPr>
              <a:t>设置为</a:t>
            </a:r>
            <a:r>
              <a:rPr lang="en-US" altLang="zh-CN" dirty="0" smtClean="0">
                <a:solidFill>
                  <a:schemeClr val="bg1"/>
                </a:solidFill>
              </a:rPr>
              <a:t>True</a:t>
            </a:r>
            <a:r>
              <a:rPr lang="en-US" altLang="zh-CN" dirty="0">
                <a:solidFill>
                  <a:schemeClr val="bg1"/>
                </a:solidFill>
              </a:rPr>
              <a:t>(</a:t>
            </a:r>
            <a:r>
              <a:rPr lang="zh-CN" altLang="en-US" dirty="0" smtClean="0">
                <a:solidFill>
                  <a:schemeClr val="bg1"/>
                </a:solidFill>
              </a:rPr>
              <a:t>默认</a:t>
            </a:r>
            <a:r>
              <a:rPr lang="en-US" altLang="zh-CN" dirty="0">
                <a:solidFill>
                  <a:schemeClr val="bg1"/>
                </a:solidFill>
              </a:rPr>
              <a:t>)</a:t>
            </a:r>
            <a:r>
              <a:rPr lang="zh-CN" altLang="en-US" dirty="0" smtClean="0">
                <a:solidFill>
                  <a:schemeClr val="bg1"/>
                </a:solidFill>
              </a:rPr>
              <a:t>的</a:t>
            </a:r>
            <a:r>
              <a:rPr lang="zh-CN" altLang="en-US" dirty="0">
                <a:solidFill>
                  <a:schemeClr val="bg1"/>
                </a:solidFill>
              </a:rPr>
              <a:t>时候。该节点保存数据和执行数据</a:t>
            </a:r>
            <a:r>
              <a:rPr lang="zh-CN" altLang="en-US" dirty="0" smtClean="0">
                <a:solidFill>
                  <a:schemeClr val="bg1"/>
                </a:solidFill>
              </a:rPr>
              <a:t>相关</a:t>
            </a:r>
            <a:endParaRPr lang="en-US" altLang="zh-CN" dirty="0" smtClean="0">
              <a:solidFill>
                <a:schemeClr val="bg1"/>
              </a:solidFill>
            </a:endParaRPr>
          </a:p>
          <a:p>
            <a:r>
              <a:rPr lang="zh-CN" altLang="en-US" dirty="0" smtClean="0">
                <a:solidFill>
                  <a:schemeClr val="bg1"/>
                </a:solidFill>
              </a:rPr>
              <a:t>的</a:t>
            </a:r>
            <a:r>
              <a:rPr lang="zh-CN" altLang="en-US" dirty="0">
                <a:solidFill>
                  <a:schemeClr val="bg1"/>
                </a:solidFill>
              </a:rPr>
              <a:t>操作，如增删改查，搜索，和</a:t>
            </a:r>
            <a:r>
              <a:rPr lang="zh-CN" altLang="en-US" dirty="0" smtClean="0">
                <a:solidFill>
                  <a:schemeClr val="bg1"/>
                </a:solidFill>
              </a:rPr>
              <a:t>聚合。</a:t>
            </a:r>
            <a:endParaRPr lang="en-US" altLang="zh-CN" dirty="0" smtClean="0">
              <a:solidFill>
                <a:schemeClr val="bg1"/>
              </a:solidFill>
            </a:endParaRPr>
          </a:p>
          <a:p>
            <a:pPr marL="285750" indent="-285750">
              <a:buFont typeface="Wingdings" pitchFamily="2" charset="2"/>
              <a:buChar char="n"/>
            </a:pPr>
            <a:r>
              <a:rPr lang="zh-CN" altLang="en-US" b="1" dirty="0">
                <a:solidFill>
                  <a:srgbClr val="FFFF00"/>
                </a:solidFill>
              </a:rPr>
              <a:t>客户</a:t>
            </a:r>
            <a:r>
              <a:rPr lang="zh-CN" altLang="en-US" b="1" dirty="0" smtClean="0">
                <a:solidFill>
                  <a:srgbClr val="FFFF00"/>
                </a:solidFill>
              </a:rPr>
              <a:t>端节点：</a:t>
            </a:r>
            <a:r>
              <a:rPr lang="en-US" altLang="zh-CN" dirty="0" smtClean="0">
                <a:solidFill>
                  <a:schemeClr val="bg1"/>
                </a:solidFill>
              </a:rPr>
              <a:t>	</a:t>
            </a:r>
          </a:p>
          <a:p>
            <a:r>
              <a:rPr lang="zh-CN" altLang="en-US" dirty="0" smtClean="0">
                <a:solidFill>
                  <a:schemeClr val="bg1"/>
                </a:solidFill>
              </a:rPr>
              <a:t>当</a:t>
            </a:r>
            <a:r>
              <a:rPr lang="zh-CN" altLang="en-US" dirty="0">
                <a:solidFill>
                  <a:schemeClr val="bg1"/>
                </a:solidFill>
              </a:rPr>
              <a:t>一个节点的</a:t>
            </a:r>
            <a:r>
              <a:rPr lang="en-US" altLang="zh-CN" dirty="0">
                <a:solidFill>
                  <a:schemeClr val="bg1"/>
                </a:solidFill>
              </a:rPr>
              <a:t>node.master</a:t>
            </a:r>
            <a:r>
              <a:rPr lang="zh-CN" altLang="en-US" dirty="0">
                <a:solidFill>
                  <a:schemeClr val="bg1"/>
                </a:solidFill>
              </a:rPr>
              <a:t>和</a:t>
            </a:r>
            <a:r>
              <a:rPr lang="en-US" altLang="zh-CN" dirty="0">
                <a:solidFill>
                  <a:schemeClr val="bg1"/>
                </a:solidFill>
              </a:rPr>
              <a:t>node.data</a:t>
            </a:r>
            <a:r>
              <a:rPr lang="zh-CN" altLang="en-US" dirty="0">
                <a:solidFill>
                  <a:schemeClr val="bg1"/>
                </a:solidFill>
              </a:rPr>
              <a:t>都设置为</a:t>
            </a:r>
            <a:r>
              <a:rPr lang="en-US" altLang="zh-CN" dirty="0">
                <a:solidFill>
                  <a:schemeClr val="bg1"/>
                </a:solidFill>
              </a:rPr>
              <a:t>false</a:t>
            </a:r>
            <a:r>
              <a:rPr lang="zh-CN" altLang="en-US" dirty="0">
                <a:solidFill>
                  <a:schemeClr val="bg1"/>
                </a:solidFill>
              </a:rPr>
              <a:t>的时候，它既不能保持数据</a:t>
            </a:r>
            <a:r>
              <a:rPr lang="zh-CN" altLang="en-US" dirty="0" smtClean="0">
                <a:solidFill>
                  <a:schemeClr val="bg1"/>
                </a:solidFill>
              </a:rPr>
              <a:t>也</a:t>
            </a:r>
            <a:endParaRPr lang="en-US" altLang="zh-CN" dirty="0" smtClean="0">
              <a:solidFill>
                <a:schemeClr val="bg1"/>
              </a:solidFill>
            </a:endParaRPr>
          </a:p>
          <a:p>
            <a:r>
              <a:rPr lang="zh-CN" altLang="en-US" dirty="0" smtClean="0">
                <a:solidFill>
                  <a:schemeClr val="bg1"/>
                </a:solidFill>
              </a:rPr>
              <a:t>不能</a:t>
            </a:r>
            <a:r>
              <a:rPr lang="zh-CN" altLang="en-US" dirty="0">
                <a:solidFill>
                  <a:schemeClr val="bg1"/>
                </a:solidFill>
              </a:rPr>
              <a:t>成为主节点，该节点可以作为客户端节点，可以响应用户的情况，把相关</a:t>
            </a:r>
            <a:r>
              <a:rPr lang="zh-CN" altLang="en-US" dirty="0" smtClean="0">
                <a:solidFill>
                  <a:schemeClr val="bg1"/>
                </a:solidFill>
              </a:rPr>
              <a:t>操作</a:t>
            </a:r>
            <a:endParaRPr lang="en-US" altLang="zh-CN" dirty="0" smtClean="0">
              <a:solidFill>
                <a:schemeClr val="bg1"/>
              </a:solidFill>
            </a:endParaRPr>
          </a:p>
          <a:p>
            <a:r>
              <a:rPr lang="zh-CN" altLang="en-US" dirty="0" smtClean="0">
                <a:solidFill>
                  <a:schemeClr val="bg1"/>
                </a:solidFill>
              </a:rPr>
              <a:t>发送</a:t>
            </a:r>
            <a:r>
              <a:rPr lang="zh-CN" altLang="en-US" dirty="0">
                <a:solidFill>
                  <a:schemeClr val="bg1"/>
                </a:solidFill>
              </a:rPr>
              <a:t>到其他</a:t>
            </a:r>
            <a:r>
              <a:rPr lang="zh-CN" altLang="en-US" dirty="0" smtClean="0">
                <a:solidFill>
                  <a:schemeClr val="bg1"/>
                </a:solidFill>
              </a:rPr>
              <a:t>节点。</a:t>
            </a:r>
            <a:endParaRPr lang="en-US" altLang="zh-CN" dirty="0" smtClean="0">
              <a:solidFill>
                <a:schemeClr val="bg1"/>
              </a:solidFill>
            </a:endParaRPr>
          </a:p>
          <a:p>
            <a:pPr marL="285750" indent="-285750">
              <a:buFont typeface="Wingdings" pitchFamily="2" charset="2"/>
              <a:buChar char="n"/>
            </a:pPr>
            <a:r>
              <a:rPr lang="zh-CN" altLang="en-US" b="1" dirty="0" smtClean="0">
                <a:solidFill>
                  <a:srgbClr val="FFFF00"/>
                </a:solidFill>
              </a:rPr>
              <a:t>部落节点：</a:t>
            </a:r>
            <a:endParaRPr lang="en-US" altLang="zh-CN" b="1" dirty="0" smtClean="0">
              <a:solidFill>
                <a:srgbClr val="FFFF00"/>
              </a:solidFill>
            </a:endParaRPr>
          </a:p>
          <a:p>
            <a:r>
              <a:rPr lang="zh-CN" altLang="en-US" dirty="0" smtClean="0">
                <a:solidFill>
                  <a:schemeClr val="bg1"/>
                </a:solidFill>
              </a:rPr>
              <a:t>当</a:t>
            </a:r>
            <a:r>
              <a:rPr lang="zh-CN" altLang="en-US" dirty="0">
                <a:solidFill>
                  <a:schemeClr val="bg1"/>
                </a:solidFill>
              </a:rPr>
              <a:t>一个节点配置</a:t>
            </a:r>
            <a:r>
              <a:rPr lang="en-US" altLang="zh-CN" dirty="0">
                <a:solidFill>
                  <a:schemeClr val="bg1"/>
                </a:solidFill>
              </a:rPr>
              <a:t>tribe.*</a:t>
            </a:r>
            <a:r>
              <a:rPr lang="zh-CN" altLang="en-US" dirty="0">
                <a:solidFill>
                  <a:schemeClr val="bg1"/>
                </a:solidFill>
              </a:rPr>
              <a:t>的时候，它是一个特殊的客户端，它可以连接多个集群，在</a:t>
            </a:r>
            <a:r>
              <a:rPr lang="zh-CN" altLang="en-US" dirty="0" smtClean="0">
                <a:solidFill>
                  <a:schemeClr val="bg1"/>
                </a:solidFill>
              </a:rPr>
              <a:t>所</a:t>
            </a:r>
            <a:endParaRPr lang="en-US" altLang="zh-CN" dirty="0" smtClean="0">
              <a:solidFill>
                <a:schemeClr val="bg1"/>
              </a:solidFill>
            </a:endParaRPr>
          </a:p>
          <a:p>
            <a:r>
              <a:rPr lang="zh-CN" altLang="en-US" dirty="0" smtClean="0">
                <a:solidFill>
                  <a:schemeClr val="bg1"/>
                </a:solidFill>
              </a:rPr>
              <a:t>有</a:t>
            </a:r>
            <a:r>
              <a:rPr lang="zh-CN" altLang="en-US" dirty="0">
                <a:solidFill>
                  <a:schemeClr val="bg1"/>
                </a:solidFill>
              </a:rPr>
              <a:t>连接的集群上执行搜索和其他</a:t>
            </a:r>
            <a:r>
              <a:rPr lang="zh-CN" altLang="en-US" dirty="0" smtClean="0">
                <a:solidFill>
                  <a:schemeClr val="bg1"/>
                </a:solidFill>
              </a:rPr>
              <a:t>操作。</a:t>
            </a:r>
            <a:endParaRPr lang="en-US" altLang="zh-CN" dirty="0" smtClean="0">
              <a:solidFill>
                <a:schemeClr val="bg1"/>
              </a:solidFill>
            </a:endParaRPr>
          </a:p>
          <a:p>
            <a:endParaRPr lang="en-US" altLang="zh-CN" dirty="0">
              <a:solidFill>
                <a:schemeClr val="bg1"/>
              </a:solidFill>
            </a:endParaRPr>
          </a:p>
          <a:p>
            <a:endParaRPr lang="zh-CN" altLang="en-US" dirty="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22443641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2205017"/>
            <a:ext cx="6141425" cy="2862322"/>
          </a:xfrm>
          <a:prstGeom prst="rect">
            <a:avLst/>
          </a:prstGeom>
          <a:noFill/>
        </p:spPr>
        <p:txBody>
          <a:bodyPr wrap="none" rtlCol="0">
            <a:spAutoFit/>
          </a:bodyPr>
          <a:lstStyle/>
          <a:p>
            <a:r>
              <a:rPr lang="zh-CN" altLang="en-US" b="1" dirty="0" smtClean="0">
                <a:solidFill>
                  <a:schemeClr val="bg1"/>
                </a:solidFill>
              </a:rPr>
              <a:t>自动发现实现</a:t>
            </a:r>
            <a:endParaRPr lang="en-US" altLang="zh-CN" b="1" dirty="0" smtClean="0">
              <a:solidFill>
                <a:schemeClr val="bg1"/>
              </a:solidFill>
            </a:endParaRPr>
          </a:p>
          <a:p>
            <a:endParaRPr lang="en-US" altLang="zh-CN" dirty="0" smtClean="0">
              <a:solidFill>
                <a:schemeClr val="bg1"/>
              </a:solidFill>
            </a:endParaRPr>
          </a:p>
          <a:p>
            <a:pPr marL="285750" indent="-285750">
              <a:buFont typeface="Wingdings" pitchFamily="2" charset="2"/>
              <a:buChar char="n"/>
            </a:pPr>
            <a:r>
              <a:rPr lang="en-US" altLang="zh-CN" dirty="0" smtClean="0">
                <a:solidFill>
                  <a:schemeClr val="bg1"/>
                </a:solidFill>
              </a:rPr>
              <a:t>Azure </a:t>
            </a:r>
            <a:r>
              <a:rPr lang="en-US" altLang="zh-CN" dirty="0">
                <a:solidFill>
                  <a:schemeClr val="bg1"/>
                </a:solidFill>
              </a:rPr>
              <a:t>discovery </a:t>
            </a:r>
            <a:r>
              <a:rPr lang="zh-CN" altLang="en-US" dirty="0">
                <a:solidFill>
                  <a:schemeClr val="bg1"/>
                </a:solidFill>
              </a:rPr>
              <a:t>插件方式，多播</a:t>
            </a:r>
          </a:p>
          <a:p>
            <a:pPr marL="285750" indent="-285750">
              <a:buFont typeface="Wingdings" pitchFamily="2" charset="2"/>
              <a:buChar char="n"/>
            </a:pPr>
            <a:r>
              <a:rPr lang="en-US" altLang="zh-CN" dirty="0" smtClean="0">
                <a:solidFill>
                  <a:schemeClr val="bg1"/>
                </a:solidFill>
              </a:rPr>
              <a:t>EC2 </a:t>
            </a:r>
            <a:r>
              <a:rPr lang="en-US" altLang="zh-CN" dirty="0">
                <a:solidFill>
                  <a:schemeClr val="bg1"/>
                </a:solidFill>
              </a:rPr>
              <a:t>discovery </a:t>
            </a:r>
            <a:r>
              <a:rPr lang="zh-CN" altLang="en-US" dirty="0">
                <a:solidFill>
                  <a:schemeClr val="bg1"/>
                </a:solidFill>
              </a:rPr>
              <a:t>插件方式，多播</a:t>
            </a:r>
          </a:p>
          <a:p>
            <a:pPr marL="285750" indent="-285750">
              <a:buFont typeface="Wingdings" pitchFamily="2" charset="2"/>
              <a:buChar char="n"/>
            </a:pPr>
            <a:r>
              <a:rPr lang="en-US" altLang="zh-CN" dirty="0" smtClean="0">
                <a:solidFill>
                  <a:schemeClr val="bg1"/>
                </a:solidFill>
              </a:rPr>
              <a:t>Google </a:t>
            </a:r>
            <a:r>
              <a:rPr lang="en-US" altLang="zh-CN" dirty="0">
                <a:solidFill>
                  <a:schemeClr val="bg1"/>
                </a:solidFill>
              </a:rPr>
              <a:t>Compute Engine (GCE)discovery </a:t>
            </a:r>
            <a:r>
              <a:rPr lang="zh-CN" altLang="en-US" dirty="0">
                <a:solidFill>
                  <a:schemeClr val="bg1"/>
                </a:solidFill>
              </a:rPr>
              <a:t>插件方式多播</a:t>
            </a:r>
          </a:p>
          <a:p>
            <a:pPr marL="285750" indent="-285750">
              <a:buFont typeface="Wingdings" pitchFamily="2" charset="2"/>
              <a:buChar char="n"/>
            </a:pPr>
            <a:r>
              <a:rPr lang="en-US" altLang="zh-CN" dirty="0">
                <a:solidFill>
                  <a:srgbClr val="FFFF00"/>
                </a:solidFill>
              </a:rPr>
              <a:t>Z</a:t>
            </a:r>
            <a:r>
              <a:rPr lang="en-US" altLang="zh-CN" dirty="0" smtClean="0">
                <a:solidFill>
                  <a:srgbClr val="FFFF00"/>
                </a:solidFill>
              </a:rPr>
              <a:t>en </a:t>
            </a:r>
            <a:r>
              <a:rPr lang="en-US" altLang="zh-CN" dirty="0">
                <a:solidFill>
                  <a:srgbClr val="FFFF00"/>
                </a:solidFill>
              </a:rPr>
              <a:t>discovery</a:t>
            </a:r>
            <a:r>
              <a:rPr lang="zh-CN" altLang="en-US" dirty="0">
                <a:solidFill>
                  <a:srgbClr val="FFFF00"/>
                </a:solidFill>
              </a:rPr>
              <a:t>默认实现 多播</a:t>
            </a:r>
            <a:r>
              <a:rPr lang="en-US" altLang="zh-CN" dirty="0">
                <a:solidFill>
                  <a:srgbClr val="FFFF00"/>
                </a:solidFill>
              </a:rPr>
              <a:t>/</a:t>
            </a:r>
            <a:r>
              <a:rPr lang="zh-CN" altLang="en-US" dirty="0">
                <a:solidFill>
                  <a:srgbClr val="FFFF00"/>
                </a:solidFill>
              </a:rPr>
              <a:t>单</a:t>
            </a:r>
            <a:r>
              <a:rPr lang="zh-CN" altLang="en-US" dirty="0" smtClean="0">
                <a:solidFill>
                  <a:srgbClr val="FFFF00"/>
                </a:solidFill>
              </a:rPr>
              <a:t>播</a:t>
            </a:r>
            <a:endParaRPr lang="en-US" altLang="zh-CN" dirty="0" smtClean="0">
              <a:solidFill>
                <a:srgbClr val="FFFF00"/>
              </a:solidFill>
            </a:endParaRPr>
          </a:p>
          <a:p>
            <a:pPr marL="285750" indent="-285750">
              <a:buFont typeface="Wingdings" pitchFamily="2" charset="2"/>
              <a:buChar char="n"/>
            </a:pPr>
            <a:endParaRPr lang="en-US" altLang="zh-CN" dirty="0">
              <a:solidFill>
                <a:schemeClr val="bg1"/>
              </a:solidFill>
            </a:endParaRPr>
          </a:p>
          <a:p>
            <a:endParaRPr lang="en-US" altLang="zh-CN" b="1" dirty="0" smtClean="0">
              <a:solidFill>
                <a:schemeClr val="bg1"/>
              </a:solidFill>
            </a:endParaRPr>
          </a:p>
          <a:p>
            <a:endParaRPr lang="zh-CN" altLang="en-US" dirty="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995464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7" y="2205017"/>
            <a:ext cx="7774805" cy="3416320"/>
          </a:xfrm>
          <a:prstGeom prst="rect">
            <a:avLst/>
          </a:prstGeom>
          <a:noFill/>
        </p:spPr>
        <p:txBody>
          <a:bodyPr wrap="square" rtlCol="0">
            <a:spAutoFit/>
          </a:bodyPr>
          <a:lstStyle/>
          <a:p>
            <a:r>
              <a:rPr lang="zh-CN" altLang="en-US" b="1" dirty="0">
                <a:solidFill>
                  <a:schemeClr val="bg1"/>
                </a:solidFill>
              </a:rPr>
              <a:t>主节点</a:t>
            </a:r>
            <a:r>
              <a:rPr lang="zh-CN" altLang="en-US" b="1" dirty="0" smtClean="0">
                <a:solidFill>
                  <a:schemeClr val="bg1"/>
                </a:solidFill>
              </a:rPr>
              <a:t>选举</a:t>
            </a:r>
            <a:endParaRPr lang="en-US" altLang="zh-CN" b="1" dirty="0">
              <a:solidFill>
                <a:schemeClr val="bg1"/>
              </a:solidFill>
            </a:endParaRPr>
          </a:p>
          <a:p>
            <a:endParaRPr lang="en-US" altLang="zh-CN" b="1" dirty="0">
              <a:solidFill>
                <a:schemeClr val="bg1"/>
              </a:solidFill>
            </a:endParaRPr>
          </a:p>
          <a:p>
            <a:r>
              <a:rPr lang="zh-CN" altLang="en-US" b="1" dirty="0" smtClean="0">
                <a:solidFill>
                  <a:schemeClr val="bg1"/>
                </a:solidFill>
              </a:rPr>
              <a:t>     </a:t>
            </a:r>
            <a:r>
              <a:rPr lang="zh-CN" altLang="en-US" b="1" dirty="0" smtClean="0">
                <a:solidFill>
                  <a:srgbClr val="FFFF00"/>
                </a:solidFill>
              </a:rPr>
              <a:t>常见相关配置项：</a:t>
            </a:r>
            <a:endParaRPr lang="en-US" altLang="zh-CN" b="1" dirty="0">
              <a:solidFill>
                <a:srgbClr val="FFFF00"/>
              </a:solidFill>
            </a:endParaRPr>
          </a:p>
          <a:p>
            <a:pPr marL="285750" indent="-285750">
              <a:buFont typeface="Wingdings" pitchFamily="2" charset="2"/>
              <a:buChar char="n"/>
            </a:pPr>
            <a:r>
              <a:rPr lang="en-US" altLang="zh-CN" dirty="0" err="1">
                <a:solidFill>
                  <a:schemeClr val="bg1"/>
                </a:solidFill>
              </a:rPr>
              <a:t>discovery.zen.ping_timeout</a:t>
            </a:r>
            <a:r>
              <a:rPr lang="zh-CN" altLang="en-US" dirty="0">
                <a:solidFill>
                  <a:schemeClr val="bg1"/>
                </a:solidFill>
              </a:rPr>
              <a:t>：默认</a:t>
            </a:r>
            <a:r>
              <a:rPr lang="en-US" altLang="zh-CN" dirty="0">
                <a:solidFill>
                  <a:schemeClr val="bg1"/>
                </a:solidFill>
              </a:rPr>
              <a:t>3</a:t>
            </a:r>
            <a:r>
              <a:rPr lang="zh-CN" altLang="en-US" dirty="0">
                <a:solidFill>
                  <a:schemeClr val="bg1"/>
                </a:solidFill>
              </a:rPr>
              <a:t>秒</a:t>
            </a:r>
            <a:endParaRPr lang="en-US" altLang="zh-CN" dirty="0">
              <a:solidFill>
                <a:schemeClr val="bg1"/>
              </a:solidFill>
            </a:endParaRPr>
          </a:p>
          <a:p>
            <a:pPr marL="285750" indent="-285750">
              <a:buFont typeface="Wingdings" pitchFamily="2" charset="2"/>
              <a:buChar char="n"/>
            </a:pPr>
            <a:r>
              <a:rPr lang="en-US" altLang="zh-CN" dirty="0" err="1" smtClean="0">
                <a:solidFill>
                  <a:schemeClr val="bg1"/>
                </a:solidFill>
              </a:rPr>
              <a:t>discovery.zen.master_election.filter_client</a:t>
            </a:r>
            <a:r>
              <a:rPr lang="zh-CN" altLang="en-US" dirty="0">
                <a:solidFill>
                  <a:schemeClr val="bg1"/>
                </a:solidFill>
              </a:rPr>
              <a:t>：</a:t>
            </a:r>
            <a:r>
              <a:rPr lang="zh-CN" altLang="en-US" dirty="0" smtClean="0">
                <a:solidFill>
                  <a:schemeClr val="bg1"/>
                </a:solidFill>
              </a:rPr>
              <a:t>选举主节点过滤客户端节点</a:t>
            </a:r>
            <a:endParaRPr lang="en-US" altLang="zh-CN" dirty="0">
              <a:solidFill>
                <a:schemeClr val="bg1"/>
              </a:solidFill>
            </a:endParaRPr>
          </a:p>
          <a:p>
            <a:pPr marL="285750" indent="-285750">
              <a:buFont typeface="Wingdings" pitchFamily="2" charset="2"/>
              <a:buChar char="n"/>
            </a:pPr>
            <a:r>
              <a:rPr lang="en-US" altLang="zh-CN" dirty="0" err="1" smtClean="0">
                <a:solidFill>
                  <a:schemeClr val="bg1"/>
                </a:solidFill>
              </a:rPr>
              <a:t>discovery.zen.master_election.filter_data</a:t>
            </a:r>
            <a:r>
              <a:rPr lang="zh-CN" altLang="en-US" dirty="0" smtClean="0">
                <a:solidFill>
                  <a:schemeClr val="bg1"/>
                </a:solidFill>
              </a:rPr>
              <a:t>：</a:t>
            </a:r>
            <a:r>
              <a:rPr lang="zh-CN" altLang="en-US" dirty="0">
                <a:solidFill>
                  <a:schemeClr val="bg1"/>
                </a:solidFill>
              </a:rPr>
              <a:t>选举主节点</a:t>
            </a:r>
            <a:r>
              <a:rPr lang="zh-CN" altLang="en-US" dirty="0" smtClean="0">
                <a:solidFill>
                  <a:schemeClr val="bg1"/>
                </a:solidFill>
              </a:rPr>
              <a:t>过滤数据节点</a:t>
            </a:r>
            <a:endParaRPr lang="en-US" altLang="zh-CN" dirty="0">
              <a:solidFill>
                <a:schemeClr val="bg1"/>
              </a:solidFill>
            </a:endParaRPr>
          </a:p>
          <a:p>
            <a:pPr marL="285750" indent="-285750">
              <a:buFont typeface="Wingdings" pitchFamily="2" charset="2"/>
              <a:buChar char="n"/>
            </a:pPr>
            <a:r>
              <a:rPr lang="en-US" altLang="zh-CN" dirty="0" err="1" smtClean="0">
                <a:solidFill>
                  <a:schemeClr val="bg1"/>
                </a:solidFill>
              </a:rPr>
              <a:t>discovery.zen.minimum_master_nodes</a:t>
            </a:r>
            <a:r>
              <a:rPr lang="zh-CN" altLang="en-US" dirty="0" smtClean="0">
                <a:solidFill>
                  <a:schemeClr val="bg1"/>
                </a:solidFill>
              </a:rPr>
              <a:t>：主节点选举最少备选主节点数</a:t>
            </a:r>
            <a:endParaRPr lang="en-US" altLang="zh-CN" dirty="0">
              <a:solidFill>
                <a:schemeClr val="bg1"/>
              </a:solidFill>
            </a:endParaRPr>
          </a:p>
          <a:p>
            <a:pPr marL="285750" indent="-285750">
              <a:buFont typeface="Wingdings" pitchFamily="2" charset="2"/>
              <a:buChar char="n"/>
            </a:pPr>
            <a:r>
              <a:rPr lang="en-US" altLang="zh-CN" dirty="0" err="1" smtClean="0">
                <a:solidFill>
                  <a:schemeClr val="bg1"/>
                </a:solidFill>
              </a:rPr>
              <a:t>discovery.zen.no_master_block</a:t>
            </a:r>
            <a:r>
              <a:rPr lang="zh-CN" altLang="en-US" dirty="0" smtClean="0">
                <a:solidFill>
                  <a:schemeClr val="bg1"/>
                </a:solidFill>
              </a:rPr>
              <a:t>：少于备选主节点数时拒绝请求</a:t>
            </a:r>
            <a:r>
              <a:rPr lang="en-US" altLang="zh-CN" dirty="0" smtClean="0">
                <a:solidFill>
                  <a:schemeClr val="bg1"/>
                </a:solidFill>
              </a:rPr>
              <a:t>(</a:t>
            </a:r>
            <a:r>
              <a:rPr lang="en-US" altLang="zh-CN" dirty="0">
                <a:solidFill>
                  <a:schemeClr val="bg1"/>
                </a:solidFill>
              </a:rPr>
              <a:t>all/write</a:t>
            </a:r>
            <a:r>
              <a:rPr lang="en-US" altLang="zh-CN" dirty="0" smtClean="0">
                <a:solidFill>
                  <a:schemeClr val="bg1"/>
                </a:solidFill>
              </a:rPr>
              <a:t>)</a:t>
            </a:r>
            <a:endParaRPr lang="en-US" altLang="zh-CN" dirty="0">
              <a:solidFill>
                <a:schemeClr val="bg1"/>
              </a:solidFill>
            </a:endParaRPr>
          </a:p>
          <a:p>
            <a:pPr marL="285750" indent="-285750">
              <a:buFont typeface="Wingdings" pitchFamily="2" charset="2"/>
              <a:buChar char="n"/>
            </a:pPr>
            <a:r>
              <a:rPr lang="en-US" altLang="zh-CN" dirty="0" err="1" smtClean="0">
                <a:solidFill>
                  <a:schemeClr val="bg1"/>
                </a:solidFill>
              </a:rPr>
              <a:t>discovery.zen.fd.ping_interval</a:t>
            </a:r>
            <a:r>
              <a:rPr lang="en-US" altLang="zh-CN" dirty="0" smtClean="0">
                <a:solidFill>
                  <a:schemeClr val="bg1"/>
                </a:solidFill>
              </a:rPr>
              <a:t>:</a:t>
            </a:r>
            <a:r>
              <a:rPr lang="zh-CN" altLang="en-US" dirty="0" smtClean="0">
                <a:solidFill>
                  <a:schemeClr val="bg1"/>
                </a:solidFill>
              </a:rPr>
              <a:t>节点</a:t>
            </a:r>
            <a:r>
              <a:rPr lang="en-US" altLang="zh-CN" dirty="0" smtClean="0">
                <a:solidFill>
                  <a:schemeClr val="bg1"/>
                </a:solidFill>
              </a:rPr>
              <a:t>ping</a:t>
            </a:r>
            <a:r>
              <a:rPr lang="zh-CN" altLang="en-US" dirty="0" smtClean="0">
                <a:solidFill>
                  <a:schemeClr val="bg1"/>
                </a:solidFill>
              </a:rPr>
              <a:t>时间间隔，默认</a:t>
            </a:r>
            <a:r>
              <a:rPr lang="en-US" altLang="zh-CN" dirty="0" smtClean="0">
                <a:solidFill>
                  <a:schemeClr val="bg1"/>
                </a:solidFill>
              </a:rPr>
              <a:t>1</a:t>
            </a:r>
            <a:r>
              <a:rPr lang="zh-CN" altLang="en-US" dirty="0" smtClean="0">
                <a:solidFill>
                  <a:schemeClr val="bg1"/>
                </a:solidFill>
              </a:rPr>
              <a:t>秒</a:t>
            </a:r>
            <a:endParaRPr lang="en-US" altLang="zh-CN" dirty="0">
              <a:solidFill>
                <a:schemeClr val="bg1"/>
              </a:solidFill>
            </a:endParaRPr>
          </a:p>
          <a:p>
            <a:pPr marL="285750" indent="-285750">
              <a:buFont typeface="Wingdings" pitchFamily="2" charset="2"/>
              <a:buChar char="n"/>
            </a:pPr>
            <a:r>
              <a:rPr lang="en-US" altLang="zh-CN" dirty="0" err="1" smtClean="0">
                <a:solidFill>
                  <a:schemeClr val="bg1"/>
                </a:solidFill>
              </a:rPr>
              <a:t>discovery.zen.fd.ping_timeout</a:t>
            </a:r>
            <a:r>
              <a:rPr lang="en-US" altLang="zh-CN" dirty="0" smtClean="0">
                <a:solidFill>
                  <a:schemeClr val="bg1"/>
                </a:solidFill>
              </a:rPr>
              <a:t>:</a:t>
            </a:r>
            <a:r>
              <a:rPr lang="zh-CN" altLang="en-US" dirty="0" smtClean="0">
                <a:solidFill>
                  <a:schemeClr val="bg1"/>
                </a:solidFill>
              </a:rPr>
              <a:t>节点</a:t>
            </a:r>
            <a:r>
              <a:rPr lang="en-US" altLang="zh-CN" dirty="0" smtClean="0">
                <a:solidFill>
                  <a:schemeClr val="bg1"/>
                </a:solidFill>
              </a:rPr>
              <a:t>ping</a:t>
            </a:r>
            <a:r>
              <a:rPr lang="zh-CN" altLang="en-US" dirty="0" smtClean="0">
                <a:solidFill>
                  <a:schemeClr val="bg1"/>
                </a:solidFill>
              </a:rPr>
              <a:t>超时时间，默认</a:t>
            </a:r>
            <a:r>
              <a:rPr lang="en-US" altLang="zh-CN" dirty="0" smtClean="0">
                <a:solidFill>
                  <a:schemeClr val="bg1"/>
                </a:solidFill>
              </a:rPr>
              <a:t>30</a:t>
            </a:r>
            <a:r>
              <a:rPr lang="zh-CN" altLang="en-US" dirty="0" smtClean="0">
                <a:solidFill>
                  <a:schemeClr val="bg1"/>
                </a:solidFill>
              </a:rPr>
              <a:t>秒</a:t>
            </a:r>
            <a:endParaRPr lang="en-US" altLang="zh-CN" dirty="0">
              <a:solidFill>
                <a:schemeClr val="bg1"/>
              </a:solidFill>
            </a:endParaRPr>
          </a:p>
          <a:p>
            <a:pPr marL="285750" indent="-285750">
              <a:buFont typeface="Wingdings" pitchFamily="2" charset="2"/>
              <a:buChar char="n"/>
            </a:pPr>
            <a:r>
              <a:rPr lang="en-US" altLang="zh-CN" dirty="0" err="1" smtClean="0">
                <a:solidFill>
                  <a:schemeClr val="bg1"/>
                </a:solidFill>
              </a:rPr>
              <a:t>discovery.zen.fd.ping_retries</a:t>
            </a:r>
            <a:r>
              <a:rPr lang="en-US" altLang="zh-CN" dirty="0" smtClean="0">
                <a:solidFill>
                  <a:schemeClr val="bg1"/>
                </a:solidFill>
              </a:rPr>
              <a:t>:</a:t>
            </a:r>
            <a:r>
              <a:rPr lang="zh-CN" altLang="en-US" dirty="0" smtClean="0">
                <a:solidFill>
                  <a:schemeClr val="bg1"/>
                </a:solidFill>
              </a:rPr>
              <a:t>：节点</a:t>
            </a:r>
            <a:r>
              <a:rPr lang="en-US" altLang="zh-CN" dirty="0" smtClean="0">
                <a:solidFill>
                  <a:schemeClr val="bg1"/>
                </a:solidFill>
              </a:rPr>
              <a:t>ping</a:t>
            </a:r>
            <a:r>
              <a:rPr lang="zh-CN" altLang="en-US" dirty="0" smtClean="0">
                <a:solidFill>
                  <a:schemeClr val="bg1"/>
                </a:solidFill>
              </a:rPr>
              <a:t>重试次数，默认</a:t>
            </a:r>
            <a:r>
              <a:rPr lang="en-US" altLang="zh-CN" dirty="0" smtClean="0">
                <a:solidFill>
                  <a:schemeClr val="bg1"/>
                </a:solidFill>
              </a:rPr>
              <a:t>3</a:t>
            </a:r>
            <a:r>
              <a:rPr lang="zh-CN" altLang="en-US" dirty="0">
                <a:solidFill>
                  <a:schemeClr val="bg1"/>
                </a:solidFill>
              </a:rPr>
              <a:t>次</a:t>
            </a:r>
            <a:endParaRPr lang="en-US" altLang="zh-CN" dirty="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21597091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2205017"/>
            <a:ext cx="8212569" cy="2585323"/>
          </a:xfrm>
          <a:prstGeom prst="rect">
            <a:avLst/>
          </a:prstGeom>
          <a:noFill/>
        </p:spPr>
        <p:txBody>
          <a:bodyPr wrap="none" rtlCol="0">
            <a:spAutoFit/>
          </a:bodyPr>
          <a:lstStyle/>
          <a:p>
            <a:r>
              <a:rPr lang="zh-CN" altLang="en-US" b="1" dirty="0" smtClean="0">
                <a:solidFill>
                  <a:schemeClr val="bg1"/>
                </a:solidFill>
              </a:rPr>
              <a:t>分片路由</a:t>
            </a:r>
            <a:endParaRPr lang="en-US" altLang="zh-CN" b="1" dirty="0" smtClean="0">
              <a:solidFill>
                <a:schemeClr val="bg1"/>
              </a:solidFill>
            </a:endParaRPr>
          </a:p>
          <a:p>
            <a:endParaRPr lang="en-US" altLang="zh-CN" dirty="0">
              <a:solidFill>
                <a:schemeClr val="bg1"/>
              </a:solidFill>
            </a:endParaRPr>
          </a:p>
          <a:p>
            <a:r>
              <a:rPr lang="en-US" altLang="zh-CN" dirty="0">
                <a:solidFill>
                  <a:schemeClr val="bg1"/>
                </a:solidFill>
              </a:rPr>
              <a:t>shard = hash(routing) % </a:t>
            </a:r>
            <a:r>
              <a:rPr lang="en-US" altLang="zh-CN" dirty="0" err="1" smtClean="0">
                <a:solidFill>
                  <a:schemeClr val="bg1"/>
                </a:solidFill>
              </a:rPr>
              <a:t>number_of_primary_shards</a:t>
            </a:r>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r>
              <a:rPr lang="zh-CN" altLang="en-US" dirty="0">
                <a:solidFill>
                  <a:schemeClr val="bg1"/>
                </a:solidFill>
              </a:rPr>
              <a:t>所有的文档 </a:t>
            </a:r>
            <a:r>
              <a:rPr lang="en-US" altLang="zh-CN" dirty="0">
                <a:solidFill>
                  <a:schemeClr val="bg1"/>
                </a:solidFill>
              </a:rPr>
              <a:t>API</a:t>
            </a:r>
            <a:r>
              <a:rPr lang="zh-CN" altLang="en-US" dirty="0">
                <a:solidFill>
                  <a:schemeClr val="bg1"/>
                </a:solidFill>
              </a:rPr>
              <a:t>（ </a:t>
            </a:r>
            <a:r>
              <a:rPr lang="en-US" altLang="zh-CN" dirty="0">
                <a:solidFill>
                  <a:schemeClr val="bg1"/>
                </a:solidFill>
              </a:rPr>
              <a:t>get </a:t>
            </a:r>
            <a:r>
              <a:rPr lang="zh-CN" altLang="en-US" dirty="0">
                <a:solidFill>
                  <a:schemeClr val="bg1"/>
                </a:solidFill>
              </a:rPr>
              <a:t>、 </a:t>
            </a:r>
            <a:r>
              <a:rPr lang="en-US" altLang="zh-CN" dirty="0">
                <a:solidFill>
                  <a:schemeClr val="bg1"/>
                </a:solidFill>
              </a:rPr>
              <a:t>index </a:t>
            </a:r>
            <a:r>
              <a:rPr lang="zh-CN" altLang="en-US" dirty="0">
                <a:solidFill>
                  <a:schemeClr val="bg1"/>
                </a:solidFill>
              </a:rPr>
              <a:t>、 </a:t>
            </a:r>
            <a:r>
              <a:rPr lang="en-US" altLang="zh-CN" dirty="0">
                <a:solidFill>
                  <a:schemeClr val="bg1"/>
                </a:solidFill>
              </a:rPr>
              <a:t>delete </a:t>
            </a:r>
            <a:r>
              <a:rPr lang="zh-CN" altLang="en-US" dirty="0">
                <a:solidFill>
                  <a:schemeClr val="bg1"/>
                </a:solidFill>
              </a:rPr>
              <a:t>、 </a:t>
            </a:r>
            <a:r>
              <a:rPr lang="en-US" altLang="zh-CN" dirty="0">
                <a:solidFill>
                  <a:schemeClr val="bg1"/>
                </a:solidFill>
              </a:rPr>
              <a:t>bulk </a:t>
            </a:r>
            <a:r>
              <a:rPr lang="zh-CN" altLang="en-US" dirty="0">
                <a:solidFill>
                  <a:schemeClr val="bg1"/>
                </a:solidFill>
              </a:rPr>
              <a:t>、 </a:t>
            </a:r>
            <a:r>
              <a:rPr lang="en-US" altLang="zh-CN" dirty="0">
                <a:solidFill>
                  <a:schemeClr val="bg1"/>
                </a:solidFill>
              </a:rPr>
              <a:t>update </a:t>
            </a:r>
            <a:r>
              <a:rPr lang="zh-CN" altLang="en-US" dirty="0">
                <a:solidFill>
                  <a:schemeClr val="bg1"/>
                </a:solidFill>
              </a:rPr>
              <a:t>以及 </a:t>
            </a:r>
            <a:r>
              <a:rPr lang="en-US" altLang="zh-CN" dirty="0" err="1">
                <a:solidFill>
                  <a:schemeClr val="bg1"/>
                </a:solidFill>
              </a:rPr>
              <a:t>mget</a:t>
            </a:r>
            <a:r>
              <a:rPr lang="en-US" altLang="zh-CN" dirty="0">
                <a:solidFill>
                  <a:schemeClr val="bg1"/>
                </a:solidFill>
              </a:rPr>
              <a:t> </a:t>
            </a:r>
            <a:r>
              <a:rPr lang="zh-CN" altLang="en-US" dirty="0">
                <a:solidFill>
                  <a:schemeClr val="bg1"/>
                </a:solidFill>
              </a:rPr>
              <a:t>）都</a:t>
            </a:r>
            <a:r>
              <a:rPr lang="zh-CN" altLang="en-US" dirty="0" smtClean="0">
                <a:solidFill>
                  <a:schemeClr val="bg1"/>
                </a:solidFill>
              </a:rPr>
              <a:t>接受</a:t>
            </a:r>
            <a:endParaRPr lang="en-US" altLang="zh-CN" dirty="0" smtClean="0">
              <a:solidFill>
                <a:schemeClr val="bg1"/>
              </a:solidFill>
            </a:endParaRPr>
          </a:p>
          <a:p>
            <a:r>
              <a:rPr lang="zh-CN" altLang="en-US" dirty="0" smtClean="0">
                <a:solidFill>
                  <a:schemeClr val="bg1"/>
                </a:solidFill>
              </a:rPr>
              <a:t>一</a:t>
            </a:r>
            <a:r>
              <a:rPr lang="zh-CN" altLang="en-US" dirty="0">
                <a:solidFill>
                  <a:schemeClr val="bg1"/>
                </a:solidFill>
              </a:rPr>
              <a:t>个叫做 </a:t>
            </a:r>
            <a:r>
              <a:rPr lang="en-US" altLang="zh-CN" dirty="0">
                <a:solidFill>
                  <a:schemeClr val="bg1"/>
                </a:solidFill>
              </a:rPr>
              <a:t>routing </a:t>
            </a:r>
            <a:r>
              <a:rPr lang="zh-CN" altLang="en-US" dirty="0">
                <a:solidFill>
                  <a:schemeClr val="bg1"/>
                </a:solidFill>
              </a:rPr>
              <a:t>的路由参数 </a:t>
            </a:r>
            <a:r>
              <a:rPr lang="zh-CN" altLang="en-US" dirty="0" smtClean="0">
                <a:solidFill>
                  <a:schemeClr val="bg1"/>
                </a:solidFill>
              </a:rPr>
              <a:t>。</a:t>
            </a:r>
            <a:endParaRPr lang="en-US" altLang="zh-CN" dirty="0" smtClean="0">
              <a:solidFill>
                <a:schemeClr val="bg1"/>
              </a:solidFill>
            </a:endParaRPr>
          </a:p>
          <a:p>
            <a:r>
              <a:rPr lang="zh-CN" altLang="en-US" dirty="0" smtClean="0">
                <a:solidFill>
                  <a:schemeClr val="bg1"/>
                </a:solidFill>
              </a:rPr>
              <a:t>通过</a:t>
            </a:r>
            <a:r>
              <a:rPr lang="zh-CN" altLang="en-US" dirty="0">
                <a:solidFill>
                  <a:schemeClr val="bg1"/>
                </a:solidFill>
              </a:rPr>
              <a:t>这个参数我们可以自定义文档到分片的</a:t>
            </a:r>
            <a:r>
              <a:rPr lang="zh-CN" altLang="en-US" dirty="0" smtClean="0">
                <a:solidFill>
                  <a:schemeClr val="bg1"/>
                </a:solidFill>
              </a:rPr>
              <a:t>映射</a:t>
            </a:r>
            <a:r>
              <a:rPr lang="zh-CN" altLang="en-US" dirty="0">
                <a:solidFill>
                  <a:schemeClr val="bg1"/>
                </a:solidFill>
              </a:rPr>
              <a:t>。</a:t>
            </a: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8354909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1989020"/>
            <a:ext cx="6787356" cy="4524315"/>
          </a:xfrm>
          <a:prstGeom prst="rect">
            <a:avLst/>
          </a:prstGeom>
          <a:noFill/>
        </p:spPr>
        <p:txBody>
          <a:bodyPr wrap="square" rtlCol="0">
            <a:spAutoFit/>
          </a:bodyPr>
          <a:lstStyle/>
          <a:p>
            <a:r>
              <a:rPr lang="zh-CN" altLang="en-US" b="1" dirty="0" smtClean="0">
                <a:solidFill>
                  <a:schemeClr val="bg1"/>
                </a:solidFill>
              </a:rPr>
              <a:t>主分片和副本分片交互</a:t>
            </a:r>
            <a:endParaRPr lang="en-US" altLang="zh-CN" b="1"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r>
              <a:rPr lang="zh-CN" altLang="en-US" dirty="0" smtClean="0">
                <a:solidFill>
                  <a:schemeClr val="bg1"/>
                </a:solidFill>
              </a:rPr>
              <a:t>我们</a:t>
            </a:r>
            <a:r>
              <a:rPr lang="zh-CN" altLang="en-US" dirty="0">
                <a:solidFill>
                  <a:schemeClr val="bg1"/>
                </a:solidFill>
              </a:rPr>
              <a:t>可以发送请求到集群中的任一节点。 每个节点都有能力处理任意请求。 每个节点都知道集群中任一文档位置，所以可以直接将请求转发到需要的节点上。 在下面的例子中，将所有的请求发送</a:t>
            </a:r>
            <a:r>
              <a:rPr lang="zh-CN" altLang="en-US" dirty="0" smtClean="0">
                <a:solidFill>
                  <a:schemeClr val="bg1"/>
                </a:solidFill>
              </a:rPr>
              <a:t>到</a:t>
            </a:r>
            <a:r>
              <a:rPr lang="en-US" altLang="zh-CN" dirty="0" smtClean="0">
                <a:solidFill>
                  <a:schemeClr val="bg1"/>
                </a:solidFill>
              </a:rPr>
              <a:t>Node1</a:t>
            </a:r>
            <a:r>
              <a:rPr lang="zh-CN" altLang="en-US" dirty="0" smtClean="0">
                <a:solidFill>
                  <a:schemeClr val="bg1"/>
                </a:solidFill>
              </a:rPr>
              <a:t>，</a:t>
            </a:r>
            <a:r>
              <a:rPr lang="zh-CN" altLang="en-US" dirty="0">
                <a:solidFill>
                  <a:schemeClr val="bg1"/>
                </a:solidFill>
              </a:rPr>
              <a:t>我们将其称为 </a:t>
            </a:r>
            <a:r>
              <a:rPr lang="zh-CN" altLang="en-US" i="1" dirty="0">
                <a:solidFill>
                  <a:schemeClr val="bg1"/>
                </a:solidFill>
              </a:rPr>
              <a:t>协调节点</a:t>
            </a:r>
            <a:r>
              <a:rPr lang="en-US" altLang="zh-CN" i="1" dirty="0">
                <a:solidFill>
                  <a:schemeClr val="bg1"/>
                </a:solidFill>
              </a:rPr>
              <a:t>(coordinating node)</a:t>
            </a:r>
            <a:r>
              <a:rPr lang="zh-CN" altLang="en-US" dirty="0">
                <a:solidFill>
                  <a:schemeClr val="bg1"/>
                </a:solidFill>
              </a:rPr>
              <a:t> </a:t>
            </a:r>
            <a:r>
              <a:rPr lang="zh-CN" altLang="en-US" dirty="0" smtClean="0">
                <a:solidFill>
                  <a:schemeClr val="bg1"/>
                </a:solidFill>
              </a:rPr>
              <a:t>。</a:t>
            </a:r>
            <a:endParaRPr lang="en-US" altLang="zh-CN" dirty="0" smtClean="0">
              <a:solidFill>
                <a:schemeClr val="bg1"/>
              </a:solidFill>
            </a:endParaRPr>
          </a:p>
          <a:p>
            <a:r>
              <a:rPr lang="zh-CN" altLang="en-US" dirty="0">
                <a:solidFill>
                  <a:schemeClr val="bg1"/>
                </a:solidFill>
              </a:rPr>
              <a:t>当发送请求的时候， 为了扩展负载，更好的做法是轮询集群中所有的节点。</a:t>
            </a:r>
          </a:p>
        </p:txBody>
      </p:sp>
      <p:pic>
        <p:nvPicPr>
          <p:cNvPr id="11266" name="Picture 2" descr="有三个节点和一个索引的集群"/>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388" y="2699820"/>
            <a:ext cx="7143750" cy="19526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34356164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1845232"/>
            <a:ext cx="6787356" cy="4524315"/>
          </a:xfrm>
          <a:prstGeom prst="rect">
            <a:avLst/>
          </a:prstGeom>
          <a:noFill/>
        </p:spPr>
        <p:txBody>
          <a:bodyPr wrap="square" rtlCol="0">
            <a:spAutoFit/>
          </a:bodyPr>
          <a:lstStyle/>
          <a:p>
            <a:r>
              <a:rPr lang="zh-CN" altLang="en-US" b="1" dirty="0" smtClean="0">
                <a:solidFill>
                  <a:schemeClr val="bg1"/>
                </a:solidFill>
              </a:rPr>
              <a:t>更新文档</a:t>
            </a:r>
            <a:endParaRPr lang="en-US" altLang="zh-CN" b="1"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客户端向</a:t>
            </a:r>
            <a:r>
              <a:rPr lang="en-US" altLang="zh-CN" dirty="0" smtClean="0">
                <a:solidFill>
                  <a:schemeClr val="bg1"/>
                </a:solidFill>
              </a:rPr>
              <a:t>Node1</a:t>
            </a:r>
            <a:r>
              <a:rPr lang="zh-CN" altLang="en-US" dirty="0" smtClean="0">
                <a:solidFill>
                  <a:schemeClr val="bg1"/>
                </a:solidFill>
              </a:rPr>
              <a:t>发送</a:t>
            </a:r>
            <a:r>
              <a:rPr lang="zh-CN" altLang="en-US" dirty="0">
                <a:solidFill>
                  <a:schemeClr val="bg1"/>
                </a:solidFill>
              </a:rPr>
              <a:t>新建、索引或者删除请求。</a:t>
            </a:r>
          </a:p>
          <a:p>
            <a:pPr marL="285750" indent="-285750">
              <a:buFont typeface="Wingdings" pitchFamily="2" charset="2"/>
              <a:buChar char="n"/>
            </a:pPr>
            <a:r>
              <a:rPr lang="zh-CN" altLang="en-US" dirty="0">
                <a:solidFill>
                  <a:schemeClr val="bg1"/>
                </a:solidFill>
              </a:rPr>
              <a:t>节点使用文档的 </a:t>
            </a:r>
            <a:r>
              <a:rPr lang="en-US" altLang="zh-CN" dirty="0">
                <a:solidFill>
                  <a:schemeClr val="bg1"/>
                </a:solidFill>
              </a:rPr>
              <a:t>_</a:t>
            </a:r>
            <a:r>
              <a:rPr lang="en-US" altLang="zh-CN" dirty="0" smtClean="0">
                <a:solidFill>
                  <a:schemeClr val="bg1"/>
                </a:solidFill>
              </a:rPr>
              <a:t>id</a:t>
            </a:r>
            <a:r>
              <a:rPr lang="zh-CN" altLang="en-US" dirty="0" smtClean="0">
                <a:solidFill>
                  <a:schemeClr val="bg1"/>
                </a:solidFill>
              </a:rPr>
              <a:t>确定</a:t>
            </a:r>
            <a:r>
              <a:rPr lang="zh-CN" altLang="en-US" dirty="0">
                <a:solidFill>
                  <a:schemeClr val="bg1"/>
                </a:solidFill>
              </a:rPr>
              <a:t>文档属于</a:t>
            </a:r>
            <a:r>
              <a:rPr lang="zh-CN" altLang="en-US" dirty="0" smtClean="0">
                <a:solidFill>
                  <a:schemeClr val="bg1"/>
                </a:solidFill>
              </a:rPr>
              <a:t>分片</a:t>
            </a:r>
            <a:r>
              <a:rPr lang="en-US" altLang="zh-CN" dirty="0" smtClean="0">
                <a:solidFill>
                  <a:schemeClr val="bg1"/>
                </a:solidFill>
              </a:rPr>
              <a:t>0 </a:t>
            </a:r>
            <a:r>
              <a:rPr lang="zh-CN" altLang="en-US" dirty="0">
                <a:solidFill>
                  <a:schemeClr val="bg1"/>
                </a:solidFill>
              </a:rPr>
              <a:t>。请求会被转发</a:t>
            </a:r>
            <a:r>
              <a:rPr lang="zh-CN" altLang="en-US" dirty="0" smtClean="0">
                <a:solidFill>
                  <a:schemeClr val="bg1"/>
                </a:solidFill>
              </a:rPr>
              <a:t>到</a:t>
            </a:r>
            <a:r>
              <a:rPr lang="en-US" altLang="zh-CN" dirty="0" smtClean="0">
                <a:solidFill>
                  <a:schemeClr val="bg1"/>
                </a:solidFill>
              </a:rPr>
              <a:t>Node3</a:t>
            </a:r>
            <a:r>
              <a:rPr lang="zh-CN" altLang="en-US" dirty="0" smtClean="0">
                <a:solidFill>
                  <a:schemeClr val="bg1"/>
                </a:solidFill>
              </a:rPr>
              <a:t>，</a:t>
            </a:r>
            <a:r>
              <a:rPr lang="zh-CN" altLang="en-US" dirty="0">
                <a:solidFill>
                  <a:schemeClr val="bg1"/>
                </a:solidFill>
              </a:rPr>
              <a:t>因为</a:t>
            </a:r>
            <a:r>
              <a:rPr lang="zh-CN" altLang="en-US" dirty="0" smtClean="0">
                <a:solidFill>
                  <a:schemeClr val="bg1"/>
                </a:solidFill>
              </a:rPr>
              <a:t>分片</a:t>
            </a:r>
            <a:r>
              <a:rPr lang="en-US" altLang="zh-CN" dirty="0" smtClean="0">
                <a:solidFill>
                  <a:schemeClr val="bg1"/>
                </a:solidFill>
              </a:rPr>
              <a:t>0</a:t>
            </a:r>
            <a:r>
              <a:rPr lang="zh-CN" altLang="en-US" dirty="0" smtClean="0">
                <a:solidFill>
                  <a:schemeClr val="bg1"/>
                </a:solidFill>
              </a:rPr>
              <a:t>的</a:t>
            </a:r>
            <a:r>
              <a:rPr lang="zh-CN" altLang="en-US" dirty="0">
                <a:solidFill>
                  <a:schemeClr val="bg1"/>
                </a:solidFill>
              </a:rPr>
              <a:t>主分片目前被分配</a:t>
            </a:r>
            <a:r>
              <a:rPr lang="zh-CN" altLang="en-US" dirty="0" smtClean="0">
                <a:solidFill>
                  <a:schemeClr val="bg1"/>
                </a:solidFill>
              </a:rPr>
              <a:t>在</a:t>
            </a:r>
            <a:r>
              <a:rPr lang="en-US" altLang="zh-CN" dirty="0" smtClean="0">
                <a:solidFill>
                  <a:schemeClr val="bg1"/>
                </a:solidFill>
              </a:rPr>
              <a:t>Node3</a:t>
            </a:r>
            <a:r>
              <a:rPr lang="zh-CN" altLang="en-US" dirty="0" smtClean="0">
                <a:solidFill>
                  <a:schemeClr val="bg1"/>
                </a:solidFill>
              </a:rPr>
              <a:t>上</a:t>
            </a:r>
            <a:r>
              <a:rPr lang="zh-CN" altLang="en-US" dirty="0">
                <a:solidFill>
                  <a:schemeClr val="bg1"/>
                </a:solidFill>
              </a:rPr>
              <a:t>。</a:t>
            </a:r>
          </a:p>
          <a:p>
            <a:pPr marL="285750" indent="-285750">
              <a:buFont typeface="Wingdings" pitchFamily="2" charset="2"/>
              <a:buChar char="n"/>
            </a:pPr>
            <a:r>
              <a:rPr lang="en-US" altLang="zh-CN" dirty="0" smtClean="0">
                <a:solidFill>
                  <a:schemeClr val="bg1"/>
                </a:solidFill>
              </a:rPr>
              <a:t>Node3</a:t>
            </a:r>
            <a:r>
              <a:rPr lang="zh-CN" altLang="en-US" dirty="0" smtClean="0">
                <a:solidFill>
                  <a:schemeClr val="bg1"/>
                </a:solidFill>
              </a:rPr>
              <a:t>在</a:t>
            </a:r>
            <a:r>
              <a:rPr lang="zh-CN" altLang="en-US" dirty="0">
                <a:solidFill>
                  <a:schemeClr val="bg1"/>
                </a:solidFill>
              </a:rPr>
              <a:t>主分片上面执行请求。如果成功了，它将请求并行转发</a:t>
            </a:r>
            <a:r>
              <a:rPr lang="zh-CN" altLang="en-US" dirty="0" smtClean="0">
                <a:solidFill>
                  <a:schemeClr val="bg1"/>
                </a:solidFill>
              </a:rPr>
              <a:t>到</a:t>
            </a:r>
            <a:r>
              <a:rPr lang="en-US" altLang="zh-CN" dirty="0" smtClean="0">
                <a:solidFill>
                  <a:schemeClr val="bg1"/>
                </a:solidFill>
              </a:rPr>
              <a:t>Node1</a:t>
            </a:r>
            <a:r>
              <a:rPr lang="zh-CN" altLang="en-US" dirty="0" smtClean="0">
                <a:solidFill>
                  <a:schemeClr val="bg1"/>
                </a:solidFill>
              </a:rPr>
              <a:t>和</a:t>
            </a:r>
            <a:r>
              <a:rPr lang="en-US" altLang="zh-CN" dirty="0" smtClean="0">
                <a:solidFill>
                  <a:schemeClr val="bg1"/>
                </a:solidFill>
              </a:rPr>
              <a:t>Node2</a:t>
            </a:r>
            <a:r>
              <a:rPr lang="zh-CN" altLang="en-US" dirty="0" smtClean="0">
                <a:solidFill>
                  <a:schemeClr val="bg1"/>
                </a:solidFill>
              </a:rPr>
              <a:t>的</a:t>
            </a:r>
            <a:r>
              <a:rPr lang="zh-CN" altLang="en-US" dirty="0">
                <a:solidFill>
                  <a:schemeClr val="bg1"/>
                </a:solidFill>
              </a:rPr>
              <a:t>副本分片上。一旦所有的副本分片都报告成功</a:t>
            </a:r>
            <a:r>
              <a:rPr lang="en-US" altLang="zh-CN" dirty="0">
                <a:solidFill>
                  <a:schemeClr val="bg1"/>
                </a:solidFill>
              </a:rPr>
              <a:t>, </a:t>
            </a:r>
            <a:r>
              <a:rPr lang="en-US" altLang="zh-CN" dirty="0" smtClean="0">
                <a:solidFill>
                  <a:schemeClr val="bg1"/>
                </a:solidFill>
              </a:rPr>
              <a:t>Node3</a:t>
            </a:r>
            <a:r>
              <a:rPr lang="zh-CN" altLang="en-US" dirty="0" smtClean="0">
                <a:solidFill>
                  <a:schemeClr val="bg1"/>
                </a:solidFill>
              </a:rPr>
              <a:t>将</a:t>
            </a:r>
            <a:r>
              <a:rPr lang="zh-CN" altLang="en-US" dirty="0">
                <a:solidFill>
                  <a:schemeClr val="bg1"/>
                </a:solidFill>
              </a:rPr>
              <a:t>向协调节点报告成功，协调节点向客户端报告成功。</a:t>
            </a:r>
          </a:p>
        </p:txBody>
      </p:sp>
      <p:pic>
        <p:nvPicPr>
          <p:cNvPr id="20482" name="Picture 2" descr="新建、索引和删除单个文档"/>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52858" y="1415472"/>
            <a:ext cx="7143750" cy="32099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403689271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1989020"/>
            <a:ext cx="6787356" cy="3416320"/>
          </a:xfrm>
          <a:prstGeom prst="rect">
            <a:avLst/>
          </a:prstGeom>
          <a:noFill/>
        </p:spPr>
        <p:txBody>
          <a:bodyPr wrap="square" rtlCol="0">
            <a:spAutoFit/>
          </a:bodyPr>
          <a:lstStyle/>
          <a:p>
            <a:r>
              <a:rPr lang="zh-CN" altLang="en-US" b="1" dirty="0" smtClean="0">
                <a:solidFill>
                  <a:schemeClr val="bg1"/>
                </a:solidFill>
              </a:rPr>
              <a:t>获取文档</a:t>
            </a:r>
            <a:endParaRPr lang="en-US" altLang="zh-CN" b="1"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zh-CN" altLang="en-US" dirty="0" smtClean="0"/>
          </a:p>
        </p:txBody>
      </p:sp>
      <p:pic>
        <p:nvPicPr>
          <p:cNvPr id="19458" name="Picture 2" descr="取回单个文档"/>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132" y="2824064"/>
            <a:ext cx="7143750" cy="2581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8927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1989020"/>
            <a:ext cx="6787356" cy="7571303"/>
          </a:xfrm>
          <a:prstGeom prst="rect">
            <a:avLst/>
          </a:prstGeom>
          <a:noFill/>
        </p:spPr>
        <p:txBody>
          <a:bodyPr wrap="square" rtlCol="0">
            <a:spAutoFit/>
          </a:bodyPr>
          <a:lstStyle/>
          <a:p>
            <a:r>
              <a:rPr lang="zh-CN" altLang="en-US" dirty="0" smtClean="0">
                <a:solidFill>
                  <a:schemeClr val="bg1"/>
                </a:solidFill>
              </a:rPr>
              <a:t>获取文档</a:t>
            </a:r>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客户端向</a:t>
            </a:r>
            <a:r>
              <a:rPr lang="en-US" altLang="zh-CN" dirty="0" smtClean="0">
                <a:solidFill>
                  <a:schemeClr val="bg1"/>
                </a:solidFill>
              </a:rPr>
              <a:t>Node1</a:t>
            </a:r>
            <a:r>
              <a:rPr lang="zh-CN" altLang="en-US" dirty="0" smtClean="0">
                <a:solidFill>
                  <a:schemeClr val="bg1"/>
                </a:solidFill>
              </a:rPr>
              <a:t>发送</a:t>
            </a:r>
            <a:r>
              <a:rPr lang="zh-CN" altLang="en-US" dirty="0">
                <a:solidFill>
                  <a:schemeClr val="bg1"/>
                </a:solidFill>
              </a:rPr>
              <a:t>获取请求。</a:t>
            </a:r>
          </a:p>
          <a:p>
            <a:pPr marL="285750" indent="-285750">
              <a:buFont typeface="Wingdings" pitchFamily="2" charset="2"/>
              <a:buChar char="n"/>
            </a:pPr>
            <a:r>
              <a:rPr lang="zh-CN" altLang="en-US" dirty="0" smtClean="0">
                <a:solidFill>
                  <a:schemeClr val="bg1"/>
                </a:solidFill>
              </a:rPr>
              <a:t>节点</a:t>
            </a:r>
            <a:r>
              <a:rPr lang="zh-CN" altLang="en-US" dirty="0">
                <a:solidFill>
                  <a:schemeClr val="bg1"/>
                </a:solidFill>
              </a:rPr>
              <a:t>使用文档的 </a:t>
            </a:r>
            <a:r>
              <a:rPr lang="en-US" altLang="zh-CN" dirty="0">
                <a:solidFill>
                  <a:schemeClr val="bg1"/>
                </a:solidFill>
              </a:rPr>
              <a:t>_id </a:t>
            </a:r>
            <a:r>
              <a:rPr lang="zh-CN" altLang="en-US" dirty="0">
                <a:solidFill>
                  <a:schemeClr val="bg1"/>
                </a:solidFill>
              </a:rPr>
              <a:t>来确定文档属于分片 </a:t>
            </a:r>
            <a:r>
              <a:rPr lang="en-US" altLang="zh-CN" dirty="0">
                <a:solidFill>
                  <a:schemeClr val="bg1"/>
                </a:solidFill>
              </a:rPr>
              <a:t>0 </a:t>
            </a:r>
            <a:r>
              <a:rPr lang="zh-CN" altLang="en-US" dirty="0">
                <a:solidFill>
                  <a:schemeClr val="bg1"/>
                </a:solidFill>
              </a:rPr>
              <a:t>。分片 </a:t>
            </a:r>
            <a:r>
              <a:rPr lang="en-US" altLang="zh-CN" dirty="0">
                <a:solidFill>
                  <a:schemeClr val="bg1"/>
                </a:solidFill>
              </a:rPr>
              <a:t>0 </a:t>
            </a:r>
            <a:r>
              <a:rPr lang="zh-CN" altLang="en-US" dirty="0">
                <a:solidFill>
                  <a:schemeClr val="bg1"/>
                </a:solidFill>
              </a:rPr>
              <a:t>的副本分片存在于所有的三个节点上。 在这种情况下，它将请求转发</a:t>
            </a:r>
            <a:r>
              <a:rPr lang="zh-CN" altLang="en-US" dirty="0" smtClean="0">
                <a:solidFill>
                  <a:schemeClr val="bg1"/>
                </a:solidFill>
              </a:rPr>
              <a:t>到</a:t>
            </a:r>
            <a:r>
              <a:rPr lang="en-US" altLang="zh-CN" dirty="0" smtClean="0">
                <a:solidFill>
                  <a:schemeClr val="bg1"/>
                </a:solidFill>
              </a:rPr>
              <a:t>Node2</a:t>
            </a:r>
            <a:r>
              <a:rPr lang="zh-CN" altLang="en-US" dirty="0" smtClean="0">
                <a:solidFill>
                  <a:schemeClr val="bg1"/>
                </a:solidFill>
              </a:rPr>
              <a:t>。</a:t>
            </a:r>
            <a:endParaRPr lang="zh-CN" altLang="en-US" dirty="0">
              <a:solidFill>
                <a:schemeClr val="bg1"/>
              </a:solidFill>
            </a:endParaRPr>
          </a:p>
          <a:p>
            <a:pPr marL="285750" indent="-285750">
              <a:buFont typeface="Wingdings" pitchFamily="2" charset="2"/>
              <a:buChar char="n"/>
            </a:pPr>
            <a:r>
              <a:rPr lang="en-US" altLang="zh-CN" dirty="0" smtClean="0">
                <a:solidFill>
                  <a:schemeClr val="bg1"/>
                </a:solidFill>
              </a:rPr>
              <a:t>Node2</a:t>
            </a:r>
            <a:r>
              <a:rPr lang="zh-CN" altLang="en-US" dirty="0" smtClean="0">
                <a:solidFill>
                  <a:schemeClr val="bg1"/>
                </a:solidFill>
              </a:rPr>
              <a:t>将</a:t>
            </a:r>
            <a:r>
              <a:rPr lang="zh-CN" altLang="en-US" dirty="0">
                <a:solidFill>
                  <a:schemeClr val="bg1"/>
                </a:solidFill>
              </a:rPr>
              <a:t>文档返回</a:t>
            </a:r>
            <a:r>
              <a:rPr lang="zh-CN" altLang="en-US" dirty="0" smtClean="0">
                <a:solidFill>
                  <a:schemeClr val="bg1"/>
                </a:solidFill>
              </a:rPr>
              <a:t>给</a:t>
            </a:r>
            <a:r>
              <a:rPr lang="en-US" altLang="zh-CN" dirty="0" smtClean="0">
                <a:solidFill>
                  <a:schemeClr val="bg1"/>
                </a:solidFill>
              </a:rPr>
              <a:t>Node1</a:t>
            </a:r>
            <a:r>
              <a:rPr lang="zh-CN" altLang="en-US" dirty="0" smtClean="0">
                <a:solidFill>
                  <a:schemeClr val="bg1"/>
                </a:solidFill>
              </a:rPr>
              <a:t>，</a:t>
            </a:r>
            <a:r>
              <a:rPr lang="zh-CN" altLang="en-US" dirty="0">
                <a:solidFill>
                  <a:schemeClr val="bg1"/>
                </a:solidFill>
              </a:rPr>
              <a:t>然后将文档返回给客户端。</a:t>
            </a:r>
          </a:p>
          <a:p>
            <a:r>
              <a:rPr lang="en-US" altLang="zh-CN" dirty="0">
                <a:solidFill>
                  <a:schemeClr val="bg1"/>
                </a:solidFill>
              </a:rPr>
              <a:t> </a:t>
            </a:r>
            <a:r>
              <a:rPr lang="en-US" altLang="zh-CN" dirty="0" smtClean="0">
                <a:solidFill>
                  <a:schemeClr val="bg1"/>
                </a:solidFill>
              </a:rPr>
              <a:t>    </a:t>
            </a:r>
            <a:r>
              <a:rPr lang="zh-CN" altLang="en-US" dirty="0" smtClean="0">
                <a:solidFill>
                  <a:schemeClr val="bg1"/>
                </a:solidFill>
              </a:rPr>
              <a:t>在</a:t>
            </a:r>
            <a:r>
              <a:rPr lang="zh-CN" altLang="en-US" dirty="0">
                <a:solidFill>
                  <a:schemeClr val="bg1"/>
                </a:solidFill>
              </a:rPr>
              <a:t>处理读取请求时，协调结点在每次请求的时候都会通过</a:t>
            </a:r>
            <a:r>
              <a:rPr lang="zh-CN" altLang="en-US" dirty="0" smtClean="0">
                <a:solidFill>
                  <a:schemeClr val="bg1"/>
                </a:solidFill>
              </a:rPr>
              <a:t>轮询</a:t>
            </a:r>
            <a:endParaRPr lang="en-US" altLang="zh-CN" dirty="0" smtClean="0">
              <a:solidFill>
                <a:schemeClr val="bg1"/>
              </a:solidFill>
            </a:endParaRPr>
          </a:p>
          <a:p>
            <a:r>
              <a:rPr lang="zh-CN" altLang="en-US" dirty="0" smtClean="0">
                <a:solidFill>
                  <a:schemeClr val="bg1"/>
                </a:solidFill>
              </a:rPr>
              <a:t>     所有</a:t>
            </a:r>
            <a:r>
              <a:rPr lang="zh-CN" altLang="en-US" dirty="0">
                <a:solidFill>
                  <a:schemeClr val="bg1"/>
                </a:solidFill>
              </a:rPr>
              <a:t>的副本分片来达到负载均衡。</a:t>
            </a:r>
            <a:endParaRPr lang="en-US" altLang="zh-CN" dirty="0" smtClean="0">
              <a:solidFill>
                <a:schemeClr val="bg1"/>
              </a:solidFill>
            </a:endParaRPr>
          </a:p>
          <a:p>
            <a:endParaRPr lang="zh-CN" altLang="en-US" dirty="0">
              <a:solidFill>
                <a:schemeClr val="bg1"/>
              </a:solidFill>
            </a:endParaRPr>
          </a:p>
          <a:p>
            <a:r>
              <a:rPr lang="en-US" altLang="zh-CN" dirty="0">
                <a:solidFill>
                  <a:schemeClr val="bg1"/>
                </a:solidFill>
              </a:rPr>
              <a:t> </a:t>
            </a:r>
            <a:r>
              <a:rPr lang="en-US" altLang="zh-CN" dirty="0" smtClean="0">
                <a:solidFill>
                  <a:schemeClr val="bg1"/>
                </a:solidFill>
              </a:rPr>
              <a:t>    </a:t>
            </a:r>
            <a:r>
              <a:rPr lang="zh-CN" altLang="en-US" dirty="0" smtClean="0">
                <a:solidFill>
                  <a:schemeClr val="bg1"/>
                </a:solidFill>
              </a:rPr>
              <a:t>在</a:t>
            </a:r>
            <a:r>
              <a:rPr lang="zh-CN" altLang="en-US" dirty="0">
                <a:solidFill>
                  <a:schemeClr val="bg1"/>
                </a:solidFill>
              </a:rPr>
              <a:t>文档被检索时，已经被索引的文档可能已经存在于主分片上但是还没有复制到副本分片。 在这种情况下，副本分片可能会报告文档不存在，但是主分片可能成功返回文档。 一旦索引请求成功返回给用户，文档在主分片和副本分片都是可用的。</a:t>
            </a: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zh-CN" altLang="en-US" dirty="0" smtClean="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8353060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1989020"/>
            <a:ext cx="6787356" cy="3416320"/>
          </a:xfrm>
          <a:prstGeom prst="rect">
            <a:avLst/>
          </a:prstGeom>
          <a:noFill/>
        </p:spPr>
        <p:txBody>
          <a:bodyPr wrap="square" rtlCol="0">
            <a:spAutoFit/>
          </a:bodyPr>
          <a:lstStyle/>
          <a:p>
            <a:r>
              <a:rPr lang="zh-CN" altLang="en-US" b="1" dirty="0" smtClean="0">
                <a:solidFill>
                  <a:schemeClr val="bg1"/>
                </a:solidFill>
              </a:rPr>
              <a:t>局部更新文档</a:t>
            </a:r>
            <a:endParaRPr lang="en-US" altLang="zh-CN" b="1"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zh-CN" altLang="en-US" dirty="0" smtClean="0"/>
          </a:p>
        </p:txBody>
      </p:sp>
      <p:pic>
        <p:nvPicPr>
          <p:cNvPr id="23554" name="Picture 2" descr="局部更新文档"/>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4941" y="2637011"/>
            <a:ext cx="7143750" cy="30575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2915275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1989020"/>
            <a:ext cx="6787356" cy="7294305"/>
          </a:xfrm>
          <a:prstGeom prst="rect">
            <a:avLst/>
          </a:prstGeom>
          <a:noFill/>
        </p:spPr>
        <p:txBody>
          <a:bodyPr wrap="square" rtlCol="0">
            <a:spAutoFit/>
          </a:bodyPr>
          <a:lstStyle/>
          <a:p>
            <a:r>
              <a:rPr lang="zh-CN" altLang="en-US" b="1" dirty="0">
                <a:solidFill>
                  <a:schemeClr val="bg1"/>
                </a:solidFill>
              </a:rPr>
              <a:t>局部更新</a:t>
            </a:r>
            <a:r>
              <a:rPr lang="zh-CN" altLang="en-US" b="1" dirty="0" smtClean="0">
                <a:solidFill>
                  <a:schemeClr val="bg1"/>
                </a:solidFill>
              </a:rPr>
              <a:t>文档</a:t>
            </a:r>
            <a:endParaRPr lang="en-US" altLang="zh-CN" b="1" dirty="0">
              <a:solidFill>
                <a:schemeClr val="bg1"/>
              </a:solidFill>
            </a:endParaRPr>
          </a:p>
          <a:p>
            <a:pPr marL="285750" indent="-285750">
              <a:buFont typeface="Wingdings" pitchFamily="2" charset="2"/>
              <a:buChar char="n"/>
            </a:pPr>
            <a:r>
              <a:rPr lang="zh-CN" altLang="en-US" dirty="0">
                <a:solidFill>
                  <a:schemeClr val="bg1"/>
                </a:solidFill>
              </a:rPr>
              <a:t>客户端</a:t>
            </a:r>
            <a:r>
              <a:rPr lang="zh-CN" altLang="en-US" dirty="0" smtClean="0">
                <a:solidFill>
                  <a:schemeClr val="bg1"/>
                </a:solidFill>
              </a:rPr>
              <a:t>向</a:t>
            </a:r>
            <a:r>
              <a:rPr lang="en-US" altLang="zh-CN" dirty="0" smtClean="0">
                <a:solidFill>
                  <a:schemeClr val="bg1"/>
                </a:solidFill>
              </a:rPr>
              <a:t>Node1</a:t>
            </a:r>
            <a:r>
              <a:rPr lang="zh-CN" altLang="en-US" dirty="0" smtClean="0">
                <a:solidFill>
                  <a:schemeClr val="bg1"/>
                </a:solidFill>
              </a:rPr>
              <a:t>发送</a:t>
            </a:r>
            <a:r>
              <a:rPr lang="zh-CN" altLang="en-US" dirty="0">
                <a:solidFill>
                  <a:schemeClr val="bg1"/>
                </a:solidFill>
              </a:rPr>
              <a:t>更新请求。</a:t>
            </a:r>
          </a:p>
          <a:p>
            <a:pPr marL="285750" indent="-285750">
              <a:buFont typeface="Wingdings" pitchFamily="2" charset="2"/>
              <a:buChar char="n"/>
            </a:pPr>
            <a:r>
              <a:rPr lang="zh-CN" altLang="en-US" dirty="0">
                <a:solidFill>
                  <a:schemeClr val="bg1"/>
                </a:solidFill>
              </a:rPr>
              <a:t>它将请求转发到主分片所在</a:t>
            </a:r>
            <a:r>
              <a:rPr lang="zh-CN" altLang="en-US" dirty="0" smtClean="0">
                <a:solidFill>
                  <a:schemeClr val="bg1"/>
                </a:solidFill>
              </a:rPr>
              <a:t>的</a:t>
            </a:r>
            <a:r>
              <a:rPr lang="en-US" altLang="zh-CN" dirty="0" smtClean="0">
                <a:solidFill>
                  <a:schemeClr val="bg1"/>
                </a:solidFill>
              </a:rPr>
              <a:t>Node3</a:t>
            </a:r>
            <a:r>
              <a:rPr lang="zh-CN" altLang="en-US" dirty="0" smtClean="0">
                <a:solidFill>
                  <a:schemeClr val="bg1"/>
                </a:solidFill>
              </a:rPr>
              <a:t>。</a:t>
            </a:r>
            <a:endParaRPr lang="zh-CN" altLang="en-US" dirty="0">
              <a:solidFill>
                <a:schemeClr val="bg1"/>
              </a:solidFill>
            </a:endParaRPr>
          </a:p>
          <a:p>
            <a:pPr marL="285750" indent="-285750">
              <a:buFont typeface="Wingdings" pitchFamily="2" charset="2"/>
              <a:buChar char="n"/>
            </a:pPr>
            <a:r>
              <a:rPr lang="en-US" altLang="zh-CN" dirty="0">
                <a:solidFill>
                  <a:schemeClr val="bg1"/>
                </a:solidFill>
              </a:rPr>
              <a:t>Node 3 </a:t>
            </a:r>
            <a:r>
              <a:rPr lang="zh-CN" altLang="en-US" dirty="0">
                <a:solidFill>
                  <a:schemeClr val="bg1"/>
                </a:solidFill>
              </a:rPr>
              <a:t>从主分片检索文档，修改 </a:t>
            </a:r>
            <a:r>
              <a:rPr lang="en-US" altLang="zh-CN" dirty="0">
                <a:solidFill>
                  <a:schemeClr val="bg1"/>
                </a:solidFill>
              </a:rPr>
              <a:t>_source </a:t>
            </a:r>
            <a:r>
              <a:rPr lang="zh-CN" altLang="en-US" dirty="0">
                <a:solidFill>
                  <a:schemeClr val="bg1"/>
                </a:solidFill>
              </a:rPr>
              <a:t>字段中的 </a:t>
            </a:r>
            <a:r>
              <a:rPr lang="en-US" altLang="zh-CN" dirty="0">
                <a:solidFill>
                  <a:schemeClr val="bg1"/>
                </a:solidFill>
              </a:rPr>
              <a:t>JSON </a:t>
            </a:r>
            <a:r>
              <a:rPr lang="zh-CN" altLang="en-US" dirty="0">
                <a:solidFill>
                  <a:schemeClr val="bg1"/>
                </a:solidFill>
              </a:rPr>
              <a:t>，并且尝试重新索引主分片的文档。 如果文档已经被另一个进程修改，它会重试步骤 </a:t>
            </a:r>
            <a:r>
              <a:rPr lang="en-US" altLang="zh-CN" dirty="0">
                <a:solidFill>
                  <a:schemeClr val="bg1"/>
                </a:solidFill>
              </a:rPr>
              <a:t>3 </a:t>
            </a:r>
            <a:r>
              <a:rPr lang="zh-CN" altLang="en-US" dirty="0">
                <a:solidFill>
                  <a:schemeClr val="bg1"/>
                </a:solidFill>
              </a:rPr>
              <a:t>，超过 </a:t>
            </a:r>
            <a:r>
              <a:rPr lang="en-US" altLang="zh-CN" dirty="0" err="1">
                <a:solidFill>
                  <a:schemeClr val="bg1"/>
                </a:solidFill>
              </a:rPr>
              <a:t>retry_on_conflict</a:t>
            </a:r>
            <a:r>
              <a:rPr lang="en-US" altLang="zh-CN" dirty="0">
                <a:solidFill>
                  <a:schemeClr val="bg1"/>
                </a:solidFill>
              </a:rPr>
              <a:t> </a:t>
            </a:r>
            <a:r>
              <a:rPr lang="zh-CN" altLang="en-US" dirty="0">
                <a:solidFill>
                  <a:schemeClr val="bg1"/>
                </a:solidFill>
              </a:rPr>
              <a:t>次后放弃。</a:t>
            </a:r>
          </a:p>
          <a:p>
            <a:pPr marL="285750" indent="-285750">
              <a:buFont typeface="Wingdings" pitchFamily="2" charset="2"/>
              <a:buChar char="n"/>
            </a:pPr>
            <a:r>
              <a:rPr lang="zh-CN" altLang="en-US" dirty="0" smtClean="0">
                <a:solidFill>
                  <a:schemeClr val="bg1"/>
                </a:solidFill>
              </a:rPr>
              <a:t>如果</a:t>
            </a:r>
            <a:r>
              <a:rPr lang="en-US" altLang="zh-CN" dirty="0" smtClean="0">
                <a:solidFill>
                  <a:schemeClr val="bg1"/>
                </a:solidFill>
              </a:rPr>
              <a:t>Node3</a:t>
            </a:r>
            <a:r>
              <a:rPr lang="zh-CN" altLang="en-US" dirty="0" smtClean="0">
                <a:solidFill>
                  <a:schemeClr val="bg1"/>
                </a:solidFill>
              </a:rPr>
              <a:t>成功</a:t>
            </a:r>
            <a:r>
              <a:rPr lang="zh-CN" altLang="en-US" dirty="0">
                <a:solidFill>
                  <a:schemeClr val="bg1"/>
                </a:solidFill>
              </a:rPr>
              <a:t>地更新文档，它将新版本的文档并行转发</a:t>
            </a:r>
            <a:r>
              <a:rPr lang="zh-CN" altLang="en-US" dirty="0" smtClean="0">
                <a:solidFill>
                  <a:schemeClr val="bg1"/>
                </a:solidFill>
              </a:rPr>
              <a:t>到</a:t>
            </a:r>
            <a:r>
              <a:rPr lang="en-US" altLang="zh-CN" dirty="0" smtClean="0">
                <a:solidFill>
                  <a:schemeClr val="bg1"/>
                </a:solidFill>
              </a:rPr>
              <a:t>Node1</a:t>
            </a:r>
            <a:r>
              <a:rPr lang="zh-CN" altLang="en-US" dirty="0" smtClean="0">
                <a:solidFill>
                  <a:schemeClr val="bg1"/>
                </a:solidFill>
              </a:rPr>
              <a:t>和</a:t>
            </a:r>
            <a:r>
              <a:rPr lang="en-US" altLang="zh-CN" dirty="0" smtClean="0">
                <a:solidFill>
                  <a:schemeClr val="bg1"/>
                </a:solidFill>
              </a:rPr>
              <a:t>Node2</a:t>
            </a:r>
            <a:r>
              <a:rPr lang="zh-CN" altLang="en-US" dirty="0" smtClean="0">
                <a:solidFill>
                  <a:schemeClr val="bg1"/>
                </a:solidFill>
              </a:rPr>
              <a:t>上</a:t>
            </a:r>
            <a:r>
              <a:rPr lang="zh-CN" altLang="en-US" dirty="0">
                <a:solidFill>
                  <a:schemeClr val="bg1"/>
                </a:solidFill>
              </a:rPr>
              <a:t>的副本分片，重新建立索引。 一旦所有副本分片都返回成功</a:t>
            </a:r>
            <a:r>
              <a:rPr lang="zh-CN" altLang="en-US" dirty="0" smtClean="0">
                <a:solidFill>
                  <a:schemeClr val="bg1"/>
                </a:solidFill>
              </a:rPr>
              <a:t>，</a:t>
            </a:r>
            <a:r>
              <a:rPr lang="en-US" altLang="zh-CN" dirty="0" smtClean="0">
                <a:solidFill>
                  <a:schemeClr val="bg1"/>
                </a:solidFill>
              </a:rPr>
              <a:t>Node3</a:t>
            </a:r>
            <a:r>
              <a:rPr lang="zh-CN" altLang="en-US" dirty="0" smtClean="0">
                <a:solidFill>
                  <a:schemeClr val="bg1"/>
                </a:solidFill>
              </a:rPr>
              <a:t>向</a:t>
            </a:r>
            <a:r>
              <a:rPr lang="zh-CN" altLang="en-US" dirty="0">
                <a:solidFill>
                  <a:schemeClr val="bg1"/>
                </a:solidFill>
              </a:rPr>
              <a:t>协调节点也返回成功，协调节点向客户端返回成功。</a:t>
            </a:r>
          </a:p>
          <a:p>
            <a:endParaRPr lang="en-US" altLang="zh-CN" dirty="0" smtClean="0">
              <a:solidFill>
                <a:schemeClr val="bg1"/>
              </a:solidFill>
            </a:endParaRPr>
          </a:p>
          <a:p>
            <a:r>
              <a:rPr lang="zh-CN" altLang="en-US" dirty="0">
                <a:solidFill>
                  <a:schemeClr val="bg1"/>
                </a:solidFill>
              </a:rPr>
              <a:t>当主分片把更改转发到副本分片时， 它不会转发更新请求。 相反，它转发完整文档的新版本。请记住，这些更改将会异步转发到副本分片，并且不能保证它们以发送它们相同的顺序到达。 如果</a:t>
            </a:r>
            <a:r>
              <a:rPr lang="en-US" altLang="zh-CN" dirty="0">
                <a:solidFill>
                  <a:schemeClr val="bg1"/>
                </a:solidFill>
              </a:rPr>
              <a:t>Elasticsearch</a:t>
            </a:r>
            <a:r>
              <a:rPr lang="zh-CN" altLang="en-US" dirty="0">
                <a:solidFill>
                  <a:schemeClr val="bg1"/>
                </a:solidFill>
              </a:rPr>
              <a:t>仅转发更改请求，则可能以错误的顺序应用更改，导致得到损坏的文档。</a:t>
            </a:r>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zh-CN" altLang="en-US" dirty="0" smtClean="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29152751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04875" y="1989020"/>
            <a:ext cx="6787356" cy="4524315"/>
          </a:xfrm>
          <a:prstGeom prst="rect">
            <a:avLst/>
          </a:prstGeom>
          <a:noFill/>
        </p:spPr>
        <p:txBody>
          <a:bodyPr wrap="square" rtlCol="0">
            <a:spAutoFit/>
          </a:bodyPr>
          <a:lstStyle/>
          <a:p>
            <a:r>
              <a:rPr lang="zh-CN" altLang="en-US" dirty="0">
                <a:solidFill>
                  <a:schemeClr val="bg1"/>
                </a:solidFill>
              </a:rPr>
              <a:t>多</a:t>
            </a:r>
            <a:r>
              <a:rPr lang="zh-CN" altLang="en-US" dirty="0" smtClean="0">
                <a:solidFill>
                  <a:schemeClr val="bg1"/>
                </a:solidFill>
              </a:rPr>
              <a:t>文档模式</a:t>
            </a:r>
            <a:r>
              <a:rPr lang="en-US" altLang="zh-CN" dirty="0" smtClean="0">
                <a:solidFill>
                  <a:schemeClr val="bg1"/>
                </a:solidFill>
              </a:rPr>
              <a:t>-</a:t>
            </a:r>
            <a:r>
              <a:rPr lang="zh-CN" altLang="en-US" dirty="0" smtClean="0">
                <a:solidFill>
                  <a:schemeClr val="bg1"/>
                </a:solidFill>
              </a:rPr>
              <a:t>取回多个文档</a:t>
            </a:r>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dirty="0">
                <a:solidFill>
                  <a:schemeClr val="bg1"/>
                </a:solidFill>
              </a:rPr>
              <a:t>客户端</a:t>
            </a:r>
            <a:r>
              <a:rPr lang="zh-CN" altLang="en-US" dirty="0" smtClean="0">
                <a:solidFill>
                  <a:schemeClr val="bg1"/>
                </a:solidFill>
              </a:rPr>
              <a:t>向</a:t>
            </a:r>
            <a:r>
              <a:rPr lang="en-US" altLang="zh-CN" dirty="0" smtClean="0">
                <a:solidFill>
                  <a:schemeClr val="bg1"/>
                </a:solidFill>
              </a:rPr>
              <a:t>Node1</a:t>
            </a:r>
            <a:r>
              <a:rPr lang="zh-CN" altLang="en-US" dirty="0" smtClean="0">
                <a:solidFill>
                  <a:schemeClr val="bg1"/>
                </a:solidFill>
              </a:rPr>
              <a:t>发送</a:t>
            </a:r>
            <a:r>
              <a:rPr lang="en-US" altLang="zh-CN" dirty="0" err="1" smtClean="0">
                <a:solidFill>
                  <a:schemeClr val="bg1"/>
                </a:solidFill>
              </a:rPr>
              <a:t>mget</a:t>
            </a:r>
            <a:r>
              <a:rPr lang="zh-CN" altLang="en-US" dirty="0" smtClean="0">
                <a:solidFill>
                  <a:schemeClr val="bg1"/>
                </a:solidFill>
              </a:rPr>
              <a:t>请求</a:t>
            </a:r>
            <a:r>
              <a:rPr lang="zh-CN" altLang="en-US" dirty="0">
                <a:solidFill>
                  <a:schemeClr val="bg1"/>
                </a:solidFill>
              </a:rPr>
              <a:t>。</a:t>
            </a:r>
          </a:p>
          <a:p>
            <a:pPr marL="285750" indent="-285750">
              <a:buFont typeface="Wingdings" pitchFamily="2" charset="2"/>
              <a:buChar char="n"/>
            </a:pPr>
            <a:r>
              <a:rPr lang="en-US" altLang="zh-CN" dirty="0" smtClean="0">
                <a:solidFill>
                  <a:schemeClr val="bg1"/>
                </a:solidFill>
              </a:rPr>
              <a:t>Node1</a:t>
            </a:r>
            <a:r>
              <a:rPr lang="zh-CN" altLang="en-US" dirty="0" smtClean="0">
                <a:solidFill>
                  <a:schemeClr val="bg1"/>
                </a:solidFill>
              </a:rPr>
              <a:t>为</a:t>
            </a:r>
            <a:r>
              <a:rPr lang="zh-CN" altLang="en-US" dirty="0">
                <a:solidFill>
                  <a:schemeClr val="bg1"/>
                </a:solidFill>
              </a:rPr>
              <a:t>每个分片构建多文档获取请求，然后并行转发这些请求到托管在每个所需的主分片或者副本分片的节点上。一旦收到所有答复</a:t>
            </a:r>
            <a:r>
              <a:rPr lang="zh-CN" altLang="en-US" dirty="0" smtClean="0">
                <a:solidFill>
                  <a:schemeClr val="bg1"/>
                </a:solidFill>
              </a:rPr>
              <a:t>，</a:t>
            </a:r>
            <a:r>
              <a:rPr lang="en-US" altLang="zh-CN" dirty="0" smtClean="0">
                <a:solidFill>
                  <a:schemeClr val="bg1"/>
                </a:solidFill>
              </a:rPr>
              <a:t>Node1</a:t>
            </a:r>
            <a:r>
              <a:rPr lang="zh-CN" altLang="en-US" dirty="0" smtClean="0">
                <a:solidFill>
                  <a:schemeClr val="bg1"/>
                </a:solidFill>
              </a:rPr>
              <a:t>构建</a:t>
            </a:r>
            <a:r>
              <a:rPr lang="zh-CN" altLang="en-US" dirty="0">
                <a:solidFill>
                  <a:schemeClr val="bg1"/>
                </a:solidFill>
              </a:rPr>
              <a:t>响应并将其返回给客户端。</a:t>
            </a:r>
          </a:p>
          <a:p>
            <a:endParaRPr lang="zh-CN" altLang="en-US" dirty="0" smtClean="0"/>
          </a:p>
        </p:txBody>
      </p:sp>
      <p:pic>
        <p:nvPicPr>
          <p:cNvPr id="21506" name="Picture 2" descr="“使用 `mget` 取回多个文档”"/>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744" y="2406542"/>
            <a:ext cx="7143750" cy="258127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29152751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04875" y="1989020"/>
            <a:ext cx="6787356" cy="3416320"/>
          </a:xfrm>
          <a:prstGeom prst="rect">
            <a:avLst/>
          </a:prstGeom>
          <a:noFill/>
        </p:spPr>
        <p:txBody>
          <a:bodyPr wrap="square" rtlCol="0">
            <a:spAutoFit/>
          </a:bodyPr>
          <a:lstStyle/>
          <a:p>
            <a:r>
              <a:rPr lang="zh-CN" altLang="en-US" b="1" dirty="0">
                <a:solidFill>
                  <a:schemeClr val="bg1"/>
                </a:solidFill>
              </a:rPr>
              <a:t>多</a:t>
            </a:r>
            <a:r>
              <a:rPr lang="zh-CN" altLang="en-US" b="1" dirty="0" smtClean="0">
                <a:solidFill>
                  <a:schemeClr val="bg1"/>
                </a:solidFill>
              </a:rPr>
              <a:t>文档模式</a:t>
            </a:r>
            <a:r>
              <a:rPr lang="en-US" altLang="zh-CN" b="1" dirty="0" smtClean="0">
                <a:solidFill>
                  <a:schemeClr val="bg1"/>
                </a:solidFill>
              </a:rPr>
              <a:t>-</a:t>
            </a:r>
            <a:r>
              <a:rPr lang="zh-CN" altLang="en-US" b="1" dirty="0" smtClean="0">
                <a:solidFill>
                  <a:schemeClr val="bg1"/>
                </a:solidFill>
              </a:rPr>
              <a:t>更新多个文档</a:t>
            </a:r>
            <a:endParaRPr lang="en-US" altLang="zh-CN" b="1"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zh-CN" altLang="en-US" dirty="0" smtClean="0"/>
          </a:p>
        </p:txBody>
      </p:sp>
      <p:pic>
        <p:nvPicPr>
          <p:cNvPr id="25602" name="Picture 2" descr="“使用 `bulk` 修改多个文档”"/>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1897" y="2421014"/>
            <a:ext cx="7143750" cy="320992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40363668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04875" y="1989020"/>
            <a:ext cx="6787356" cy="6186309"/>
          </a:xfrm>
          <a:prstGeom prst="rect">
            <a:avLst/>
          </a:prstGeom>
          <a:noFill/>
        </p:spPr>
        <p:txBody>
          <a:bodyPr wrap="square" rtlCol="0">
            <a:spAutoFit/>
          </a:bodyPr>
          <a:lstStyle/>
          <a:p>
            <a:r>
              <a:rPr lang="zh-CN" altLang="en-US" dirty="0">
                <a:solidFill>
                  <a:schemeClr val="bg1"/>
                </a:solidFill>
              </a:rPr>
              <a:t>多</a:t>
            </a:r>
            <a:r>
              <a:rPr lang="zh-CN" altLang="en-US" dirty="0" smtClean="0">
                <a:solidFill>
                  <a:schemeClr val="bg1"/>
                </a:solidFill>
              </a:rPr>
              <a:t>文档模式</a:t>
            </a:r>
            <a:r>
              <a:rPr lang="en-US" altLang="zh-CN" dirty="0" smtClean="0">
                <a:solidFill>
                  <a:schemeClr val="bg1"/>
                </a:solidFill>
              </a:rPr>
              <a:t>-</a:t>
            </a:r>
            <a:r>
              <a:rPr lang="zh-CN" altLang="en-US" dirty="0" smtClean="0">
                <a:solidFill>
                  <a:schemeClr val="bg1"/>
                </a:solidFill>
              </a:rPr>
              <a:t>更新多个文档</a:t>
            </a:r>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a:solidFill>
                <a:schemeClr val="bg1"/>
              </a:solidFill>
            </a:endParaRPr>
          </a:p>
          <a:p>
            <a:pPr marL="285750" indent="-285750">
              <a:buFont typeface="Wingdings" pitchFamily="2" charset="2"/>
              <a:buChar char="n"/>
            </a:pPr>
            <a:r>
              <a:rPr lang="zh-CN" altLang="en-US" dirty="0">
                <a:solidFill>
                  <a:schemeClr val="bg1"/>
                </a:solidFill>
              </a:rPr>
              <a:t>客户端</a:t>
            </a:r>
            <a:r>
              <a:rPr lang="zh-CN" altLang="en-US" dirty="0" smtClean="0">
                <a:solidFill>
                  <a:schemeClr val="bg1"/>
                </a:solidFill>
              </a:rPr>
              <a:t>向</a:t>
            </a:r>
            <a:r>
              <a:rPr lang="en-US" altLang="zh-CN" dirty="0" smtClean="0">
                <a:solidFill>
                  <a:schemeClr val="bg1"/>
                </a:solidFill>
              </a:rPr>
              <a:t>Node1</a:t>
            </a:r>
            <a:r>
              <a:rPr lang="zh-CN" altLang="en-US" dirty="0" smtClean="0">
                <a:solidFill>
                  <a:schemeClr val="bg1"/>
                </a:solidFill>
              </a:rPr>
              <a:t>发送</a:t>
            </a:r>
            <a:r>
              <a:rPr lang="en-US" altLang="zh-CN" dirty="0" smtClean="0">
                <a:solidFill>
                  <a:schemeClr val="bg1"/>
                </a:solidFill>
              </a:rPr>
              <a:t>bulk</a:t>
            </a:r>
            <a:r>
              <a:rPr lang="zh-CN" altLang="en-US" dirty="0" smtClean="0">
                <a:solidFill>
                  <a:schemeClr val="bg1"/>
                </a:solidFill>
              </a:rPr>
              <a:t>请求</a:t>
            </a:r>
            <a:r>
              <a:rPr lang="zh-CN" altLang="en-US" dirty="0">
                <a:solidFill>
                  <a:schemeClr val="bg1"/>
                </a:solidFill>
              </a:rPr>
              <a:t>。</a:t>
            </a:r>
          </a:p>
          <a:p>
            <a:pPr marL="285750" indent="-285750">
              <a:buFont typeface="Wingdings" pitchFamily="2" charset="2"/>
              <a:buChar char="n"/>
            </a:pPr>
            <a:r>
              <a:rPr lang="en-US" altLang="zh-CN" dirty="0">
                <a:solidFill>
                  <a:schemeClr val="bg1"/>
                </a:solidFill>
              </a:rPr>
              <a:t>Node1</a:t>
            </a:r>
            <a:r>
              <a:rPr lang="zh-CN" altLang="en-US" dirty="0" smtClean="0">
                <a:solidFill>
                  <a:schemeClr val="bg1"/>
                </a:solidFill>
              </a:rPr>
              <a:t>为</a:t>
            </a:r>
            <a:r>
              <a:rPr lang="zh-CN" altLang="en-US" dirty="0">
                <a:solidFill>
                  <a:schemeClr val="bg1"/>
                </a:solidFill>
              </a:rPr>
              <a:t>每个节点创建一个批量请求，并将这些请求并行转发到每个包含主分片的节点主机。</a:t>
            </a:r>
          </a:p>
          <a:p>
            <a:pPr marL="285750" indent="-285750">
              <a:buFont typeface="Wingdings" pitchFamily="2" charset="2"/>
              <a:buChar char="n"/>
            </a:pPr>
            <a:r>
              <a:rPr lang="zh-CN" altLang="en-US" dirty="0">
                <a:solidFill>
                  <a:schemeClr val="bg1"/>
                </a:solidFill>
              </a:rPr>
              <a:t>主分片一个接一个按顺序执行每个操作。当每个操作成功时，主分片并行转发新文档（或删除）到副本分片，然后执行下一个操作。 一旦所有的副本分片报告所有操作成功，该节点将向协调节点报告成功，协调节点将这些响应收集整理并返回给客户端。</a:t>
            </a: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zh-CN" altLang="en-US" dirty="0" smtClean="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311651657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原理</a:t>
            </a:r>
            <a:r>
              <a:rPr lang="zh-CN" altLang="en-US" sz="2800" dirty="0">
                <a:solidFill>
                  <a:schemeClr val="bg1"/>
                </a:solidFill>
                <a:latin typeface="Times New Roman" pitchFamily="18" charset="0"/>
              </a:rPr>
              <a:t>机制</a:t>
            </a: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2" name="TextBox 1"/>
          <p:cNvSpPr txBox="1"/>
          <p:nvPr/>
        </p:nvSpPr>
        <p:spPr>
          <a:xfrm>
            <a:off x="973138" y="1989020"/>
            <a:ext cx="6787356" cy="4524315"/>
          </a:xfrm>
          <a:prstGeom prst="rect">
            <a:avLst/>
          </a:prstGeom>
          <a:noFill/>
        </p:spPr>
        <p:txBody>
          <a:bodyPr wrap="square" rtlCol="0">
            <a:spAutoFit/>
          </a:bodyPr>
          <a:lstStyle/>
          <a:p>
            <a:r>
              <a:rPr lang="zh-CN" altLang="en-US" dirty="0" smtClean="0">
                <a:solidFill>
                  <a:schemeClr val="bg1"/>
                </a:solidFill>
              </a:rPr>
              <a:t>主分片和副本分片交互</a:t>
            </a:r>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r>
              <a:rPr lang="zh-CN" altLang="en-US" dirty="0" smtClean="0">
                <a:solidFill>
                  <a:schemeClr val="bg1"/>
                </a:solidFill>
              </a:rPr>
              <a:t>我们</a:t>
            </a:r>
            <a:r>
              <a:rPr lang="zh-CN" altLang="en-US" dirty="0">
                <a:solidFill>
                  <a:schemeClr val="bg1"/>
                </a:solidFill>
              </a:rPr>
              <a:t>可以发送请求到集群中的任一节点。 每个节点都有能力处理任意请求。 每个节点都知道集群中任一文档位置，所以可以直接将请求转发到需要的节点上。 在下面的例子中，将所有的请求发送</a:t>
            </a:r>
            <a:r>
              <a:rPr lang="zh-CN" altLang="en-US" dirty="0" smtClean="0">
                <a:solidFill>
                  <a:schemeClr val="bg1"/>
                </a:solidFill>
              </a:rPr>
              <a:t>到</a:t>
            </a:r>
            <a:r>
              <a:rPr lang="en-US" altLang="zh-CN" dirty="0" smtClean="0">
                <a:solidFill>
                  <a:schemeClr val="bg1"/>
                </a:solidFill>
              </a:rPr>
              <a:t>Node1</a:t>
            </a:r>
            <a:r>
              <a:rPr lang="zh-CN" altLang="en-US" dirty="0" smtClean="0">
                <a:solidFill>
                  <a:schemeClr val="bg1"/>
                </a:solidFill>
              </a:rPr>
              <a:t>，</a:t>
            </a:r>
            <a:r>
              <a:rPr lang="zh-CN" altLang="en-US" dirty="0">
                <a:solidFill>
                  <a:schemeClr val="bg1"/>
                </a:solidFill>
              </a:rPr>
              <a:t>我们将其称为 </a:t>
            </a:r>
            <a:r>
              <a:rPr lang="zh-CN" altLang="en-US" i="1" dirty="0">
                <a:solidFill>
                  <a:schemeClr val="bg1"/>
                </a:solidFill>
              </a:rPr>
              <a:t>协调节点</a:t>
            </a:r>
            <a:r>
              <a:rPr lang="en-US" altLang="zh-CN" i="1" dirty="0">
                <a:solidFill>
                  <a:schemeClr val="bg1"/>
                </a:solidFill>
              </a:rPr>
              <a:t>(coordinating node)</a:t>
            </a:r>
            <a:r>
              <a:rPr lang="zh-CN" altLang="en-US" dirty="0">
                <a:solidFill>
                  <a:schemeClr val="bg1"/>
                </a:solidFill>
              </a:rPr>
              <a:t> </a:t>
            </a:r>
            <a:r>
              <a:rPr lang="zh-CN" altLang="en-US" dirty="0" smtClean="0">
                <a:solidFill>
                  <a:schemeClr val="bg1"/>
                </a:solidFill>
              </a:rPr>
              <a:t>。</a:t>
            </a:r>
            <a:endParaRPr lang="en-US" altLang="zh-CN" dirty="0" smtClean="0">
              <a:solidFill>
                <a:schemeClr val="bg1"/>
              </a:solidFill>
            </a:endParaRPr>
          </a:p>
          <a:p>
            <a:r>
              <a:rPr lang="zh-CN" altLang="en-US" dirty="0">
                <a:solidFill>
                  <a:schemeClr val="bg1"/>
                </a:solidFill>
              </a:rPr>
              <a:t>当发送请求的时候， 为了扩展负载，更好的做法是轮询集群中所有的节点。</a:t>
            </a:r>
          </a:p>
        </p:txBody>
      </p:sp>
      <p:pic>
        <p:nvPicPr>
          <p:cNvPr id="11266" name="Picture 2" descr="有三个节点和一个索引的集群"/>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388" y="2715247"/>
            <a:ext cx="7143750" cy="195262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403689271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6699334" cy="4524315"/>
          </a:xfrm>
          <a:prstGeom prst="rect">
            <a:avLst/>
          </a:prstGeom>
          <a:noFill/>
        </p:spPr>
        <p:txBody>
          <a:bodyPr wrap="none" rtlCol="0">
            <a:spAutoFit/>
          </a:bodyPr>
          <a:lstStyle/>
          <a:p>
            <a:r>
              <a:rPr lang="zh-CN" altLang="en-US" dirty="0" smtClean="0">
                <a:solidFill>
                  <a:schemeClr val="bg1"/>
                </a:solidFill>
              </a:rPr>
              <a:t>安装步骤：</a:t>
            </a:r>
            <a:endParaRPr lang="en-US" altLang="zh-CN" dirty="0" smtClean="0">
              <a:solidFill>
                <a:schemeClr val="bg1"/>
              </a:solidFill>
            </a:endParaRPr>
          </a:p>
          <a:p>
            <a:pPr marL="342900" indent="-342900">
              <a:buAutoNum type="arabicPeriod"/>
            </a:pPr>
            <a:r>
              <a:rPr lang="zh-CN" altLang="en-US" dirty="0" smtClean="0">
                <a:solidFill>
                  <a:schemeClr val="bg1"/>
                </a:solidFill>
              </a:rPr>
              <a:t>从</a:t>
            </a:r>
            <a:r>
              <a:rPr lang="en-US" altLang="zh-CN" dirty="0" smtClean="0">
                <a:solidFill>
                  <a:schemeClr val="bg1"/>
                </a:solidFill>
                <a:hlinkClick r:id="rId3"/>
              </a:rPr>
              <a:t>https</a:t>
            </a:r>
            <a:r>
              <a:rPr lang="en-US" altLang="zh-CN" dirty="0">
                <a:solidFill>
                  <a:schemeClr val="bg1"/>
                </a:solidFill>
                <a:hlinkClick r:id="rId3"/>
              </a:rPr>
              <a:t>://</a:t>
            </a:r>
            <a:r>
              <a:rPr lang="en-US" altLang="zh-CN" dirty="0" smtClean="0">
                <a:solidFill>
                  <a:schemeClr val="bg1"/>
                </a:solidFill>
                <a:hlinkClick r:id="rId3"/>
              </a:rPr>
              <a:t>www.elastic.co/downloads/elasticsearch</a:t>
            </a:r>
            <a:r>
              <a:rPr lang="zh-CN" altLang="en-US" dirty="0" smtClean="0">
                <a:solidFill>
                  <a:schemeClr val="bg1"/>
                </a:solidFill>
              </a:rPr>
              <a:t>下载安装包</a:t>
            </a:r>
            <a:endParaRPr lang="en-US" altLang="zh-CN" dirty="0" smtClean="0">
              <a:solidFill>
                <a:schemeClr val="bg1"/>
              </a:solidFill>
            </a:endParaRPr>
          </a:p>
          <a:p>
            <a:pPr marL="342900" indent="-342900">
              <a:buAutoNum type="arabicPeriod"/>
            </a:pPr>
            <a:r>
              <a:rPr lang="zh-CN" altLang="en-US" dirty="0" smtClean="0">
                <a:solidFill>
                  <a:schemeClr val="bg1"/>
                </a:solidFill>
              </a:rPr>
              <a:t>修改</a:t>
            </a:r>
            <a:r>
              <a:rPr lang="en-US" altLang="zh-CN" dirty="0" err="1" smtClean="0">
                <a:solidFill>
                  <a:schemeClr val="bg1"/>
                </a:solidFill>
              </a:rPr>
              <a:t>elasticsearch.yml</a:t>
            </a:r>
            <a:r>
              <a:rPr lang="zh-CN" altLang="en-US" dirty="0" smtClean="0">
                <a:solidFill>
                  <a:schemeClr val="bg1"/>
                </a:solidFill>
              </a:rPr>
              <a:t>配置</a:t>
            </a:r>
            <a:endParaRPr lang="en-US" altLang="zh-CN" dirty="0" smtClean="0">
              <a:solidFill>
                <a:schemeClr val="bg1"/>
              </a:solidFill>
            </a:endParaRPr>
          </a:p>
          <a:p>
            <a:pPr marL="342900" indent="-342900">
              <a:buAutoNum type="arabicPeriod"/>
            </a:pPr>
            <a:r>
              <a:rPr lang="en-US" altLang="zh-CN" dirty="0">
                <a:solidFill>
                  <a:schemeClr val="bg1"/>
                </a:solidFill>
              </a:rPr>
              <a:t>bin/</a:t>
            </a:r>
            <a:r>
              <a:rPr lang="en-US" altLang="zh-CN" dirty="0" err="1">
                <a:solidFill>
                  <a:schemeClr val="bg1"/>
                </a:solidFill>
              </a:rPr>
              <a:t>elasticsearch</a:t>
            </a:r>
            <a:r>
              <a:rPr lang="en-US" altLang="zh-CN" dirty="0">
                <a:solidFill>
                  <a:schemeClr val="bg1"/>
                </a:solidFill>
              </a:rPr>
              <a:t> </a:t>
            </a:r>
            <a:r>
              <a:rPr lang="en-US" altLang="zh-CN" dirty="0" smtClean="0">
                <a:solidFill>
                  <a:schemeClr val="bg1"/>
                </a:solidFill>
              </a:rPr>
              <a:t>–d </a:t>
            </a:r>
            <a:r>
              <a:rPr lang="zh-CN" altLang="en-US" dirty="0" smtClean="0">
                <a:solidFill>
                  <a:schemeClr val="bg1"/>
                </a:solidFill>
              </a:rPr>
              <a:t>后台启动服务</a:t>
            </a:r>
            <a:endParaRPr lang="en-US" altLang="zh-CN" dirty="0" smtClean="0">
              <a:solidFill>
                <a:schemeClr val="bg1"/>
              </a:solidFill>
            </a:endParaRPr>
          </a:p>
          <a:p>
            <a:pPr marL="342900" indent="-342900">
              <a:buAutoNum type="arabicPeriod"/>
            </a:pPr>
            <a:r>
              <a:rPr lang="en-US" altLang="zh-CN" dirty="0">
                <a:solidFill>
                  <a:schemeClr val="bg1"/>
                </a:solidFill>
              </a:rPr>
              <a:t>curl -XGET 'http</a:t>
            </a:r>
            <a:r>
              <a:rPr lang="en-US" altLang="zh-CN" dirty="0" smtClean="0">
                <a:solidFill>
                  <a:schemeClr val="bg1"/>
                </a:solidFill>
              </a:rPr>
              <a:t>://IP:PORT‘</a:t>
            </a: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r>
              <a:rPr lang="zh-CN" altLang="en-US" dirty="0" smtClean="0">
                <a:solidFill>
                  <a:schemeClr val="bg1"/>
                </a:solidFill>
              </a:rPr>
              <a:t>官网地址：</a:t>
            </a:r>
            <a:r>
              <a:rPr lang="en-US" altLang="zh-CN" dirty="0">
                <a:solidFill>
                  <a:schemeClr val="bg1"/>
                </a:solidFill>
              </a:rPr>
              <a:t> https://www.elastic.co/products/elasticsearch</a:t>
            </a:r>
            <a:endParaRPr lang="en-US" altLang="zh-CN" dirty="0" smtClean="0">
              <a:solidFill>
                <a:schemeClr val="bg1"/>
              </a:solidFill>
            </a:endParaRPr>
          </a:p>
        </p:txBody>
      </p:sp>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233" y="3357001"/>
            <a:ext cx="4498751" cy="234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37695090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7411073" cy="4524315"/>
          </a:xfrm>
          <a:prstGeom prst="rect">
            <a:avLst/>
          </a:prstGeom>
          <a:noFill/>
        </p:spPr>
        <p:txBody>
          <a:bodyPr wrap="square" rtlCol="0">
            <a:spAutoFit/>
          </a:bodyPr>
          <a:lstStyle/>
          <a:p>
            <a:r>
              <a:rPr lang="zh-CN" altLang="en-US" dirty="0" smtClean="0">
                <a:solidFill>
                  <a:schemeClr val="bg1"/>
                </a:solidFill>
              </a:rPr>
              <a:t>安装文件目录介绍：</a:t>
            </a:r>
            <a:endParaRPr lang="en-US" altLang="zh-CN" dirty="0" smtClean="0">
              <a:solidFill>
                <a:schemeClr val="bg1"/>
              </a:solidFill>
            </a:endParaRPr>
          </a:p>
          <a:p>
            <a:endParaRPr lang="en-US" altLang="zh-CN" dirty="0">
              <a:solidFill>
                <a:schemeClr val="bg1"/>
              </a:solidFill>
            </a:endParaRPr>
          </a:p>
          <a:p>
            <a:pPr marL="285750" indent="-285750">
              <a:buFont typeface="Wingdings" pitchFamily="2" charset="2"/>
              <a:buChar char="n"/>
            </a:pPr>
            <a:r>
              <a:rPr lang="en-US" altLang="zh-CN" dirty="0">
                <a:solidFill>
                  <a:schemeClr val="bg1"/>
                </a:solidFill>
              </a:rPr>
              <a:t>b</a:t>
            </a:r>
            <a:r>
              <a:rPr lang="en-US" altLang="zh-CN" dirty="0" smtClean="0">
                <a:solidFill>
                  <a:schemeClr val="bg1"/>
                </a:solidFill>
              </a:rPr>
              <a:t>in:</a:t>
            </a:r>
            <a:r>
              <a:rPr lang="zh-CN" altLang="en-US" dirty="0" smtClean="0">
                <a:solidFill>
                  <a:schemeClr val="bg1"/>
                </a:solidFill>
              </a:rPr>
              <a:t>运行</a:t>
            </a:r>
            <a:r>
              <a:rPr lang="en-US" altLang="zh-CN" dirty="0" smtClean="0">
                <a:solidFill>
                  <a:schemeClr val="bg1"/>
                </a:solidFill>
              </a:rPr>
              <a:t>Elasticsearch</a:t>
            </a:r>
            <a:r>
              <a:rPr lang="zh-CN" altLang="en-US" dirty="0" smtClean="0">
                <a:solidFill>
                  <a:schemeClr val="bg1"/>
                </a:solidFill>
              </a:rPr>
              <a:t>实例和插件管理所需的脚本</a:t>
            </a:r>
            <a:endParaRPr lang="en-US" altLang="zh-CN" dirty="0" smtClean="0">
              <a:solidFill>
                <a:schemeClr val="bg1"/>
              </a:solidFill>
            </a:endParaRPr>
          </a:p>
          <a:p>
            <a:pPr marL="285750" indent="-285750">
              <a:buFont typeface="Wingdings" pitchFamily="2" charset="2"/>
              <a:buChar char="n"/>
            </a:pPr>
            <a:r>
              <a:rPr lang="en-US" altLang="zh-CN" dirty="0" err="1" smtClean="0">
                <a:solidFill>
                  <a:schemeClr val="bg1"/>
                </a:solidFill>
              </a:rPr>
              <a:t>config</a:t>
            </a:r>
            <a:r>
              <a:rPr lang="en-US" altLang="zh-CN" dirty="0" smtClean="0">
                <a:solidFill>
                  <a:schemeClr val="bg1"/>
                </a:solidFill>
              </a:rPr>
              <a:t>:</a:t>
            </a:r>
            <a:r>
              <a:rPr lang="zh-CN" altLang="en-US" dirty="0" smtClean="0">
                <a:solidFill>
                  <a:schemeClr val="bg1"/>
                </a:solidFill>
              </a:rPr>
              <a:t>配置文件所在的目录</a:t>
            </a:r>
            <a:endParaRPr lang="en-US" altLang="zh-CN" dirty="0" smtClean="0">
              <a:solidFill>
                <a:schemeClr val="bg1"/>
              </a:solidFill>
            </a:endParaRPr>
          </a:p>
          <a:p>
            <a:pPr marL="285750" indent="-285750">
              <a:buFont typeface="Wingdings" pitchFamily="2" charset="2"/>
              <a:buChar char="n"/>
            </a:pPr>
            <a:r>
              <a:rPr lang="en-US" altLang="zh-CN" dirty="0" err="1">
                <a:solidFill>
                  <a:schemeClr val="bg1"/>
                </a:solidFill>
              </a:rPr>
              <a:t>l</a:t>
            </a:r>
            <a:r>
              <a:rPr lang="en-US" altLang="zh-CN" dirty="0" err="1" smtClean="0">
                <a:solidFill>
                  <a:schemeClr val="bg1"/>
                </a:solidFill>
              </a:rPr>
              <a:t>ib:Elasticsearch</a:t>
            </a:r>
            <a:r>
              <a:rPr lang="zh-CN" altLang="en-US" dirty="0" smtClean="0">
                <a:solidFill>
                  <a:schemeClr val="bg1"/>
                </a:solidFill>
              </a:rPr>
              <a:t>使用的库</a:t>
            </a:r>
            <a:endParaRPr lang="en-US" altLang="zh-CN" dirty="0" smtClean="0">
              <a:solidFill>
                <a:schemeClr val="bg1"/>
              </a:solidFill>
            </a:endParaRPr>
          </a:p>
          <a:p>
            <a:pPr marL="285750" indent="-285750">
              <a:buFont typeface="Wingdings" pitchFamily="2" charset="2"/>
              <a:buChar char="n"/>
            </a:pPr>
            <a:r>
              <a:rPr lang="en-US" altLang="zh-CN" dirty="0" err="1">
                <a:solidFill>
                  <a:schemeClr val="bg1"/>
                </a:solidFill>
              </a:rPr>
              <a:t>d</a:t>
            </a:r>
            <a:r>
              <a:rPr lang="en-US" altLang="zh-CN" dirty="0" err="1" smtClean="0">
                <a:solidFill>
                  <a:schemeClr val="bg1"/>
                </a:solidFill>
              </a:rPr>
              <a:t>ata:Elasticsearch</a:t>
            </a:r>
            <a:r>
              <a:rPr lang="zh-CN" altLang="en-US" dirty="0" smtClean="0">
                <a:solidFill>
                  <a:schemeClr val="bg1"/>
                </a:solidFill>
              </a:rPr>
              <a:t>使用的所有数据的存储位置</a:t>
            </a:r>
            <a:endParaRPr lang="en-US" altLang="zh-CN" dirty="0" smtClean="0">
              <a:solidFill>
                <a:schemeClr val="bg1"/>
              </a:solidFill>
            </a:endParaRPr>
          </a:p>
          <a:p>
            <a:pPr marL="285750" indent="-285750">
              <a:buFont typeface="Wingdings" pitchFamily="2" charset="2"/>
              <a:buChar char="n"/>
            </a:pPr>
            <a:r>
              <a:rPr lang="en-US" altLang="zh-CN" dirty="0">
                <a:solidFill>
                  <a:schemeClr val="bg1"/>
                </a:solidFill>
              </a:rPr>
              <a:t>l</a:t>
            </a:r>
            <a:r>
              <a:rPr lang="en-US" altLang="zh-CN" dirty="0" smtClean="0">
                <a:solidFill>
                  <a:schemeClr val="bg1"/>
                </a:solidFill>
              </a:rPr>
              <a:t>ogs:</a:t>
            </a:r>
            <a:r>
              <a:rPr lang="zh-CN" altLang="en-US" dirty="0" smtClean="0">
                <a:solidFill>
                  <a:schemeClr val="bg1"/>
                </a:solidFill>
              </a:rPr>
              <a:t>关于时间和错误记录的文件</a:t>
            </a:r>
            <a:endParaRPr lang="en-US" altLang="zh-CN" dirty="0" smtClean="0">
              <a:solidFill>
                <a:schemeClr val="bg1"/>
              </a:solidFill>
            </a:endParaRPr>
          </a:p>
          <a:p>
            <a:pPr marL="285750" indent="-285750">
              <a:buFont typeface="Wingdings" pitchFamily="2" charset="2"/>
              <a:buChar char="n"/>
            </a:pPr>
            <a:r>
              <a:rPr lang="en-US" altLang="zh-CN" dirty="0">
                <a:solidFill>
                  <a:schemeClr val="bg1"/>
                </a:solidFill>
              </a:rPr>
              <a:t>p</a:t>
            </a:r>
            <a:r>
              <a:rPr lang="en-US" altLang="zh-CN" dirty="0" smtClean="0">
                <a:solidFill>
                  <a:schemeClr val="bg1"/>
                </a:solidFill>
              </a:rPr>
              <a:t>lugins:</a:t>
            </a:r>
            <a:r>
              <a:rPr lang="zh-CN" altLang="en-US" dirty="0" smtClean="0">
                <a:solidFill>
                  <a:schemeClr val="bg1"/>
                </a:solidFill>
              </a:rPr>
              <a:t>存储所安装插件的地方</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30977722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6699334" cy="4524315"/>
          </a:xfrm>
          <a:prstGeom prst="rect">
            <a:avLst/>
          </a:prstGeom>
          <a:noFill/>
        </p:spPr>
        <p:txBody>
          <a:bodyPr wrap="none" rtlCol="0">
            <a:spAutoFit/>
          </a:bodyPr>
          <a:lstStyle/>
          <a:p>
            <a:r>
              <a:rPr lang="zh-CN" altLang="en-US" dirty="0" smtClean="0">
                <a:solidFill>
                  <a:schemeClr val="bg1"/>
                </a:solidFill>
              </a:rPr>
              <a:t>安装步骤：</a:t>
            </a:r>
            <a:endParaRPr lang="en-US" altLang="zh-CN" dirty="0" smtClean="0">
              <a:solidFill>
                <a:schemeClr val="bg1"/>
              </a:solidFill>
            </a:endParaRPr>
          </a:p>
          <a:p>
            <a:pPr marL="342900" indent="-342900">
              <a:buAutoNum type="arabicPeriod"/>
            </a:pPr>
            <a:r>
              <a:rPr lang="zh-CN" altLang="en-US" dirty="0" smtClean="0">
                <a:solidFill>
                  <a:schemeClr val="bg1"/>
                </a:solidFill>
              </a:rPr>
              <a:t>从</a:t>
            </a:r>
            <a:r>
              <a:rPr lang="en-US" altLang="zh-CN" dirty="0" smtClean="0">
                <a:solidFill>
                  <a:schemeClr val="bg1"/>
                </a:solidFill>
                <a:hlinkClick r:id="rId3"/>
              </a:rPr>
              <a:t>https</a:t>
            </a:r>
            <a:r>
              <a:rPr lang="en-US" altLang="zh-CN" dirty="0">
                <a:solidFill>
                  <a:schemeClr val="bg1"/>
                </a:solidFill>
                <a:hlinkClick r:id="rId3"/>
              </a:rPr>
              <a:t>://</a:t>
            </a:r>
            <a:r>
              <a:rPr lang="en-US" altLang="zh-CN" dirty="0" smtClean="0">
                <a:solidFill>
                  <a:schemeClr val="bg1"/>
                </a:solidFill>
                <a:hlinkClick r:id="rId3"/>
              </a:rPr>
              <a:t>www.elastic.co/downloads/elasticsearch</a:t>
            </a:r>
            <a:r>
              <a:rPr lang="zh-CN" altLang="en-US" dirty="0" smtClean="0">
                <a:solidFill>
                  <a:schemeClr val="bg1"/>
                </a:solidFill>
              </a:rPr>
              <a:t>下载安装包</a:t>
            </a:r>
            <a:endParaRPr lang="en-US" altLang="zh-CN" dirty="0" smtClean="0">
              <a:solidFill>
                <a:schemeClr val="bg1"/>
              </a:solidFill>
            </a:endParaRPr>
          </a:p>
          <a:p>
            <a:pPr marL="342900" indent="-342900">
              <a:buAutoNum type="arabicPeriod"/>
            </a:pPr>
            <a:r>
              <a:rPr lang="zh-CN" altLang="en-US" dirty="0" smtClean="0">
                <a:solidFill>
                  <a:schemeClr val="bg1"/>
                </a:solidFill>
              </a:rPr>
              <a:t>修改</a:t>
            </a:r>
            <a:r>
              <a:rPr lang="en-US" altLang="zh-CN" dirty="0" err="1" smtClean="0">
                <a:solidFill>
                  <a:schemeClr val="bg1"/>
                </a:solidFill>
              </a:rPr>
              <a:t>elasticsearch.yml</a:t>
            </a:r>
            <a:r>
              <a:rPr lang="zh-CN" altLang="en-US" dirty="0" smtClean="0">
                <a:solidFill>
                  <a:schemeClr val="bg1"/>
                </a:solidFill>
              </a:rPr>
              <a:t>配置</a:t>
            </a:r>
            <a:endParaRPr lang="en-US" altLang="zh-CN" dirty="0" smtClean="0">
              <a:solidFill>
                <a:schemeClr val="bg1"/>
              </a:solidFill>
            </a:endParaRPr>
          </a:p>
          <a:p>
            <a:pPr marL="342900" indent="-342900">
              <a:buAutoNum type="arabicPeriod"/>
            </a:pPr>
            <a:r>
              <a:rPr lang="en-US" altLang="zh-CN" dirty="0">
                <a:solidFill>
                  <a:schemeClr val="bg1"/>
                </a:solidFill>
              </a:rPr>
              <a:t>bin/</a:t>
            </a:r>
            <a:r>
              <a:rPr lang="en-US" altLang="zh-CN" dirty="0" err="1">
                <a:solidFill>
                  <a:schemeClr val="bg1"/>
                </a:solidFill>
              </a:rPr>
              <a:t>elasticsearch</a:t>
            </a:r>
            <a:r>
              <a:rPr lang="en-US" altLang="zh-CN" dirty="0">
                <a:solidFill>
                  <a:schemeClr val="bg1"/>
                </a:solidFill>
              </a:rPr>
              <a:t> </a:t>
            </a:r>
            <a:r>
              <a:rPr lang="en-US" altLang="zh-CN" dirty="0" smtClean="0">
                <a:solidFill>
                  <a:schemeClr val="bg1"/>
                </a:solidFill>
              </a:rPr>
              <a:t>–d </a:t>
            </a:r>
            <a:r>
              <a:rPr lang="zh-CN" altLang="en-US" dirty="0" smtClean="0">
                <a:solidFill>
                  <a:schemeClr val="bg1"/>
                </a:solidFill>
              </a:rPr>
              <a:t>后台启动服务</a:t>
            </a:r>
            <a:endParaRPr lang="en-US" altLang="zh-CN" dirty="0" smtClean="0">
              <a:solidFill>
                <a:schemeClr val="bg1"/>
              </a:solidFill>
            </a:endParaRPr>
          </a:p>
          <a:p>
            <a:pPr marL="342900" indent="-342900">
              <a:buAutoNum type="arabicPeriod"/>
            </a:pPr>
            <a:r>
              <a:rPr lang="en-US" altLang="zh-CN" dirty="0">
                <a:solidFill>
                  <a:schemeClr val="bg1"/>
                </a:solidFill>
              </a:rPr>
              <a:t>curl -XGET 'http</a:t>
            </a:r>
            <a:r>
              <a:rPr lang="en-US" altLang="zh-CN" dirty="0" smtClean="0">
                <a:solidFill>
                  <a:schemeClr val="bg1"/>
                </a:solidFill>
              </a:rPr>
              <a:t>://IP:PORT‘</a:t>
            </a: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r>
              <a:rPr lang="zh-CN" altLang="en-US" dirty="0" smtClean="0">
                <a:solidFill>
                  <a:schemeClr val="bg1"/>
                </a:solidFill>
              </a:rPr>
              <a:t>官网地址：</a:t>
            </a:r>
            <a:r>
              <a:rPr lang="en-US" altLang="zh-CN" dirty="0">
                <a:solidFill>
                  <a:schemeClr val="bg1"/>
                </a:solidFill>
              </a:rPr>
              <a:t> https://www.elastic.co/products/elasticsearch</a:t>
            </a:r>
            <a:endParaRPr lang="en-US" altLang="zh-CN" dirty="0" smtClean="0">
              <a:solidFill>
                <a:schemeClr val="bg1"/>
              </a:solidFill>
            </a:endParaRPr>
          </a:p>
        </p:txBody>
      </p:sp>
      <p:pic>
        <p:nvPicPr>
          <p:cNvPr id="11"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233" y="3357001"/>
            <a:ext cx="4498751" cy="2347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316709030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184731" cy="3139321"/>
          </a:xfrm>
          <a:prstGeom prst="rect">
            <a:avLst/>
          </a:prstGeom>
          <a:noFill/>
        </p:spPr>
        <p:txBody>
          <a:bodyPr wrap="none" rtlCol="0">
            <a:spAutoFit/>
          </a:bodyPr>
          <a:lstStyle/>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5608" y="4220989"/>
            <a:ext cx="532447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6666" y="2277016"/>
            <a:ext cx="5162550" cy="1428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016666" y="1847850"/>
            <a:ext cx="2319866" cy="369332"/>
          </a:xfrm>
          <a:prstGeom prst="rect">
            <a:avLst/>
          </a:prstGeom>
          <a:noFill/>
        </p:spPr>
        <p:txBody>
          <a:bodyPr wrap="none" rtlCol="0">
            <a:spAutoFit/>
          </a:bodyPr>
          <a:lstStyle/>
          <a:p>
            <a:pPr marL="285750" indent="-285750">
              <a:buFont typeface="Wingdings" pitchFamily="2" charset="2"/>
              <a:buChar char="n"/>
            </a:pPr>
            <a:r>
              <a:rPr lang="zh-CN" altLang="en-US" dirty="0" smtClean="0">
                <a:solidFill>
                  <a:schemeClr val="bg1"/>
                </a:solidFill>
              </a:rPr>
              <a:t>判断文档是否存在</a:t>
            </a:r>
            <a:endParaRPr lang="zh-CN" altLang="en-US" dirty="0">
              <a:solidFill>
                <a:schemeClr val="bg1"/>
              </a:solidFill>
            </a:endParaRPr>
          </a:p>
        </p:txBody>
      </p:sp>
      <p:sp>
        <p:nvSpPr>
          <p:cNvPr id="3" name="TextBox 2"/>
          <p:cNvSpPr txBox="1"/>
          <p:nvPr/>
        </p:nvSpPr>
        <p:spPr>
          <a:xfrm>
            <a:off x="1052701" y="3860846"/>
            <a:ext cx="1858201" cy="369332"/>
          </a:xfrm>
          <a:prstGeom prst="rect">
            <a:avLst/>
          </a:prstGeom>
          <a:noFill/>
        </p:spPr>
        <p:txBody>
          <a:bodyPr wrap="none" rtlCol="0">
            <a:spAutoFit/>
          </a:bodyPr>
          <a:lstStyle/>
          <a:p>
            <a:pPr marL="285750" indent="-285750">
              <a:buFont typeface="Wingdings" pitchFamily="2" charset="2"/>
              <a:buChar char="n"/>
            </a:pPr>
            <a:r>
              <a:rPr lang="zh-CN" altLang="en-US" dirty="0" smtClean="0">
                <a:solidFill>
                  <a:schemeClr val="bg1"/>
                </a:solidFill>
              </a:rPr>
              <a:t>获取文档内容</a:t>
            </a:r>
            <a:endParaRPr lang="zh-CN" altLang="en-US" dirty="0">
              <a:solidFill>
                <a:schemeClr val="bg1"/>
              </a:solidFill>
            </a:endParaRPr>
          </a:p>
        </p:txBody>
      </p:sp>
      <p:pic>
        <p:nvPicPr>
          <p:cNvPr id="12"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30977722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6705682" cy="3970318"/>
          </a:xfrm>
          <a:prstGeom prst="rect">
            <a:avLst/>
          </a:prstGeom>
          <a:noFill/>
        </p:spPr>
        <p:txBody>
          <a:bodyPr wrap="none" rtlCol="0">
            <a:spAutoFit/>
          </a:bodyPr>
          <a:lstStyle/>
          <a:p>
            <a:pPr marL="285750" indent="-285750">
              <a:buFont typeface="Wingdings" pitchFamily="2" charset="2"/>
              <a:buChar char="n"/>
            </a:pPr>
            <a:r>
              <a:rPr lang="zh-CN" altLang="en-US" dirty="0" smtClean="0">
                <a:solidFill>
                  <a:schemeClr val="bg1"/>
                </a:solidFill>
              </a:rPr>
              <a:t>更新文档（</a:t>
            </a:r>
            <a:r>
              <a:rPr lang="zh-CN" altLang="en-US" dirty="0">
                <a:solidFill>
                  <a:schemeClr val="bg1"/>
                </a:solidFill>
              </a:rPr>
              <a:t>文档是不可变的：他们不能被修改，只能被替换</a:t>
            </a:r>
            <a:r>
              <a:rPr lang="zh-CN" altLang="en-US" dirty="0" smtClean="0">
                <a:solidFill>
                  <a:schemeClr val="bg1"/>
                </a:solidFill>
              </a:rPr>
              <a:t>）</a:t>
            </a:r>
            <a:endParaRPr lang="en-US" altLang="zh-CN" dirty="0" smtClean="0">
              <a:solidFill>
                <a:schemeClr val="bg1"/>
              </a:solidFill>
            </a:endParaRPr>
          </a:p>
          <a:p>
            <a:endParaRPr lang="en-US" altLang="zh-CN" dirty="0" smtClean="0">
              <a:solidFill>
                <a:schemeClr val="bg1"/>
              </a:solidFill>
            </a:endParaRPr>
          </a:p>
          <a:p>
            <a:endParaRPr lang="zh-CN" altLang="en-US"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2163779"/>
            <a:ext cx="5648325" cy="282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945124" y="4992704"/>
            <a:ext cx="4572000" cy="1477328"/>
          </a:xfrm>
          <a:prstGeom prst="rect">
            <a:avLst/>
          </a:prstGeom>
        </p:spPr>
        <p:txBody>
          <a:bodyPr>
            <a:spAutoFit/>
          </a:bodyPr>
          <a:lstStyle/>
          <a:p>
            <a:r>
              <a:rPr lang="zh-CN" altLang="en-US" dirty="0">
                <a:solidFill>
                  <a:schemeClr val="bg1"/>
                </a:solidFill>
              </a:rPr>
              <a:t>更新原理步骤：</a:t>
            </a:r>
            <a:endParaRPr lang="en-US" altLang="zh-CN" dirty="0">
              <a:solidFill>
                <a:schemeClr val="bg1"/>
              </a:solidFill>
            </a:endParaRPr>
          </a:p>
          <a:p>
            <a:pPr marL="742950" lvl="1" indent="-285750">
              <a:buFont typeface="Wingdings" pitchFamily="2" charset="2"/>
              <a:buChar char="n"/>
            </a:pPr>
            <a:r>
              <a:rPr lang="zh-CN" altLang="en-US" dirty="0">
                <a:solidFill>
                  <a:schemeClr val="bg1"/>
                </a:solidFill>
              </a:rPr>
              <a:t>从旧文档构建 </a:t>
            </a:r>
            <a:r>
              <a:rPr lang="en-US" altLang="zh-CN" dirty="0">
                <a:solidFill>
                  <a:schemeClr val="bg1"/>
                </a:solidFill>
              </a:rPr>
              <a:t>JSON</a:t>
            </a:r>
          </a:p>
          <a:p>
            <a:pPr marL="742950" lvl="1" indent="-285750">
              <a:buFont typeface="Wingdings" pitchFamily="2" charset="2"/>
              <a:buChar char="n"/>
            </a:pPr>
            <a:r>
              <a:rPr lang="zh-CN" altLang="en-US" dirty="0">
                <a:solidFill>
                  <a:schemeClr val="bg1"/>
                </a:solidFill>
              </a:rPr>
              <a:t>更改该 </a:t>
            </a:r>
            <a:r>
              <a:rPr lang="en-US" altLang="zh-CN" dirty="0">
                <a:solidFill>
                  <a:schemeClr val="bg1"/>
                </a:solidFill>
              </a:rPr>
              <a:t>JSON</a:t>
            </a:r>
          </a:p>
          <a:p>
            <a:pPr marL="742950" lvl="1" indent="-285750">
              <a:buFont typeface="Wingdings" pitchFamily="2" charset="2"/>
              <a:buChar char="n"/>
            </a:pPr>
            <a:r>
              <a:rPr lang="zh-CN" altLang="en-US" dirty="0">
                <a:solidFill>
                  <a:schemeClr val="bg1"/>
                </a:solidFill>
              </a:rPr>
              <a:t>删除旧文档</a:t>
            </a:r>
          </a:p>
          <a:p>
            <a:pPr marL="742950" lvl="1" indent="-285750">
              <a:buFont typeface="Wingdings" pitchFamily="2" charset="2"/>
              <a:buChar char="n"/>
            </a:pPr>
            <a:r>
              <a:rPr lang="zh-CN" altLang="en-US" dirty="0">
                <a:solidFill>
                  <a:schemeClr val="bg1"/>
                </a:solidFill>
              </a:rPr>
              <a:t>索引一个新文档</a:t>
            </a:r>
            <a:endParaRPr lang="zh-CN" altLang="en-US" dirty="0"/>
          </a:p>
        </p:txBody>
      </p:sp>
      <p:pic>
        <p:nvPicPr>
          <p:cNvPr id="11"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30977722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2492990" cy="3970318"/>
          </a:xfrm>
          <a:prstGeom prst="rect">
            <a:avLst/>
          </a:prstGeom>
          <a:noFill/>
        </p:spPr>
        <p:txBody>
          <a:bodyPr wrap="none" rtlCol="0">
            <a:spAutoFit/>
          </a:bodyPr>
          <a:lstStyle/>
          <a:p>
            <a:r>
              <a:rPr lang="zh-CN" altLang="en-US" dirty="0" smtClean="0">
                <a:solidFill>
                  <a:schemeClr val="bg1"/>
                </a:solidFill>
              </a:rPr>
              <a:t>创建</a:t>
            </a:r>
            <a:r>
              <a:rPr lang="zh-CN" altLang="en-US" dirty="0">
                <a:solidFill>
                  <a:schemeClr val="bg1"/>
                </a:solidFill>
              </a:rPr>
              <a:t>一个完全新的</a:t>
            </a:r>
            <a:r>
              <a:rPr lang="zh-CN" altLang="en-US" dirty="0" smtClean="0">
                <a:solidFill>
                  <a:schemeClr val="bg1"/>
                </a:solidFill>
              </a:rPr>
              <a:t>文档</a:t>
            </a:r>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采用</a:t>
            </a:r>
            <a:r>
              <a:rPr lang="en-US" altLang="zh-CN" dirty="0" smtClean="0">
                <a:solidFill>
                  <a:schemeClr val="bg1"/>
                </a:solidFill>
              </a:rPr>
              <a:t>POST</a:t>
            </a:r>
            <a:r>
              <a:rPr lang="zh-CN" altLang="en-US" dirty="0" smtClean="0">
                <a:solidFill>
                  <a:schemeClr val="bg1"/>
                </a:solidFill>
              </a:rPr>
              <a:t>方式</a:t>
            </a:r>
            <a:endParaRPr lang="en-US" altLang="zh-CN" dirty="0" smtClean="0">
              <a:solidFill>
                <a:schemeClr val="bg1"/>
              </a:solidFill>
            </a:endParaRPr>
          </a:p>
          <a:p>
            <a:pPr marL="285750" indent="-285750">
              <a:buFont typeface="Wingdings" pitchFamily="2" charset="2"/>
              <a:buChar char="n"/>
            </a:pPr>
            <a:r>
              <a:rPr lang="en-US" altLang="zh-CN" dirty="0" smtClean="0">
                <a:solidFill>
                  <a:schemeClr val="bg1"/>
                </a:solidFill>
              </a:rPr>
              <a:t>PUT</a:t>
            </a:r>
            <a:r>
              <a:rPr lang="zh-CN" altLang="en-US" dirty="0" smtClean="0">
                <a:solidFill>
                  <a:schemeClr val="bg1"/>
                </a:solidFill>
              </a:rPr>
              <a:t>采用</a:t>
            </a:r>
            <a:r>
              <a:rPr lang="en-US" altLang="zh-CN" dirty="0" smtClean="0">
                <a:solidFill>
                  <a:schemeClr val="bg1"/>
                </a:solidFill>
              </a:rPr>
              <a:t>op_type</a:t>
            </a: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2925007"/>
            <a:ext cx="6599237"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30977722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2319866" cy="3970318"/>
          </a:xfrm>
          <a:prstGeom prst="rect">
            <a:avLst/>
          </a:prstGeom>
          <a:noFill/>
        </p:spPr>
        <p:txBody>
          <a:bodyPr wrap="none" rtlCol="0">
            <a:spAutoFit/>
          </a:bodyPr>
          <a:lstStyle/>
          <a:p>
            <a:r>
              <a:rPr lang="zh-CN" altLang="en-US" dirty="0" smtClean="0">
                <a:solidFill>
                  <a:schemeClr val="bg1"/>
                </a:solidFill>
              </a:rPr>
              <a:t>删除文档</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删除已存在的文档</a:t>
            </a:r>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删除不存在的文档</a:t>
            </a:r>
            <a:endParaRPr lang="en-US" altLang="zh-CN" dirty="0" smtClean="0">
              <a:solidFill>
                <a:schemeClr val="bg1"/>
              </a:solidFill>
            </a:endParaRPr>
          </a:p>
          <a:p>
            <a:endParaRPr lang="en-US" altLang="zh-CN" dirty="0" smtClean="0">
              <a:solidFill>
                <a:schemeClr val="bg1"/>
              </a:solidFill>
            </a:endParaRP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47237" y="1786295"/>
            <a:ext cx="5471923" cy="23419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04019" y="4272902"/>
            <a:ext cx="555307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98526344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2492990" cy="3970318"/>
          </a:xfrm>
          <a:prstGeom prst="rect">
            <a:avLst/>
          </a:prstGeom>
          <a:noFill/>
        </p:spPr>
        <p:txBody>
          <a:bodyPr wrap="none" rtlCol="0">
            <a:spAutoFit/>
          </a:bodyPr>
          <a:lstStyle/>
          <a:p>
            <a:r>
              <a:rPr lang="zh-CN" altLang="en-US" dirty="0" smtClean="0">
                <a:solidFill>
                  <a:schemeClr val="bg1"/>
                </a:solidFill>
              </a:rPr>
              <a:t>创建</a:t>
            </a:r>
            <a:r>
              <a:rPr lang="zh-CN" altLang="en-US" dirty="0">
                <a:solidFill>
                  <a:schemeClr val="bg1"/>
                </a:solidFill>
              </a:rPr>
              <a:t>一个完全新的</a:t>
            </a:r>
            <a:r>
              <a:rPr lang="zh-CN" altLang="en-US" dirty="0" smtClean="0">
                <a:solidFill>
                  <a:schemeClr val="bg1"/>
                </a:solidFill>
              </a:rPr>
              <a:t>文档</a:t>
            </a:r>
            <a:endParaRPr lang="en-US" altLang="zh-CN" dirty="0" smtClean="0">
              <a:solidFill>
                <a:schemeClr val="bg1"/>
              </a:solidFill>
            </a:endParaRPr>
          </a:p>
          <a:p>
            <a:pPr marL="285750" indent="-285750">
              <a:buFont typeface="Wingdings" pitchFamily="2" charset="2"/>
              <a:buChar char="n"/>
            </a:pPr>
            <a:r>
              <a:rPr lang="zh-CN" altLang="en-US" dirty="0" smtClean="0">
                <a:solidFill>
                  <a:schemeClr val="bg1"/>
                </a:solidFill>
              </a:rPr>
              <a:t>采用</a:t>
            </a:r>
            <a:r>
              <a:rPr lang="en-US" altLang="zh-CN" dirty="0" smtClean="0">
                <a:solidFill>
                  <a:schemeClr val="bg1"/>
                </a:solidFill>
              </a:rPr>
              <a:t>POST</a:t>
            </a:r>
            <a:r>
              <a:rPr lang="zh-CN" altLang="en-US" dirty="0" smtClean="0">
                <a:solidFill>
                  <a:schemeClr val="bg1"/>
                </a:solidFill>
              </a:rPr>
              <a:t>方式</a:t>
            </a:r>
            <a:endParaRPr lang="en-US" altLang="zh-CN" dirty="0" smtClean="0">
              <a:solidFill>
                <a:schemeClr val="bg1"/>
              </a:solidFill>
            </a:endParaRPr>
          </a:p>
          <a:p>
            <a:pPr marL="285750" indent="-285750">
              <a:buFont typeface="Wingdings" pitchFamily="2" charset="2"/>
              <a:buChar char="n"/>
            </a:pPr>
            <a:r>
              <a:rPr lang="en-US" altLang="zh-CN" dirty="0" smtClean="0">
                <a:solidFill>
                  <a:schemeClr val="bg1"/>
                </a:solidFill>
              </a:rPr>
              <a:t>PUT</a:t>
            </a:r>
            <a:r>
              <a:rPr lang="zh-CN" altLang="en-US" dirty="0" smtClean="0">
                <a:solidFill>
                  <a:schemeClr val="bg1"/>
                </a:solidFill>
              </a:rPr>
              <a:t>采用</a:t>
            </a:r>
            <a:r>
              <a:rPr lang="en-US" altLang="zh-CN" dirty="0" smtClean="0">
                <a:solidFill>
                  <a:schemeClr val="bg1"/>
                </a:solidFill>
              </a:rPr>
              <a:t>op_type</a:t>
            </a: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2925007"/>
            <a:ext cx="6599237" cy="3257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985263447"/>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2262158" cy="3139321"/>
          </a:xfrm>
          <a:prstGeom prst="rect">
            <a:avLst/>
          </a:prstGeom>
          <a:noFill/>
        </p:spPr>
        <p:txBody>
          <a:bodyPr wrap="none" rtlCol="0">
            <a:spAutoFit/>
          </a:bodyPr>
          <a:lstStyle/>
          <a:p>
            <a:r>
              <a:rPr lang="zh-CN" altLang="en-US" dirty="0" smtClean="0">
                <a:solidFill>
                  <a:schemeClr val="bg1"/>
                </a:solidFill>
              </a:rPr>
              <a:t>乐观锁控制并发修改</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5755" y="2277017"/>
            <a:ext cx="4180321" cy="1871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7077" y="2277017"/>
            <a:ext cx="3627642" cy="1871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985263447"/>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1569660" cy="3139321"/>
          </a:xfrm>
          <a:prstGeom prst="rect">
            <a:avLst/>
          </a:prstGeom>
          <a:noFill/>
        </p:spPr>
        <p:txBody>
          <a:bodyPr wrap="none" rtlCol="0">
            <a:spAutoFit/>
          </a:bodyPr>
          <a:lstStyle/>
          <a:p>
            <a:r>
              <a:rPr lang="zh-CN" altLang="en-US" dirty="0" smtClean="0">
                <a:solidFill>
                  <a:schemeClr val="bg1"/>
                </a:solidFill>
              </a:rPr>
              <a:t>文档部分更新</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8849" y="2349015"/>
            <a:ext cx="6437313" cy="3590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30647" y="3901321"/>
            <a:ext cx="5343525"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9852634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8263801" cy="4247317"/>
          </a:xfrm>
          <a:prstGeom prst="rect">
            <a:avLst/>
          </a:prstGeom>
          <a:noFill/>
        </p:spPr>
        <p:txBody>
          <a:bodyPr wrap="none" rtlCol="0">
            <a:spAutoFit/>
          </a:bodyPr>
          <a:lstStyle/>
          <a:p>
            <a:r>
              <a:rPr lang="zh-CN" altLang="en-US" dirty="0" smtClean="0">
                <a:solidFill>
                  <a:schemeClr val="bg1"/>
                </a:solidFill>
              </a:rPr>
              <a:t>批量操作</a:t>
            </a:r>
            <a:endParaRPr lang="en-US" altLang="zh-CN" dirty="0" smtClean="0">
              <a:solidFill>
                <a:schemeClr val="bg1"/>
              </a:solidFill>
            </a:endParaRPr>
          </a:p>
          <a:p>
            <a:endParaRPr lang="en-US" altLang="zh-CN" dirty="0" smtClean="0">
              <a:solidFill>
                <a:schemeClr val="bg1"/>
              </a:solidFill>
            </a:endParaRPr>
          </a:p>
          <a:p>
            <a:r>
              <a:rPr lang="zh-CN" altLang="en-US" dirty="0">
                <a:solidFill>
                  <a:schemeClr val="bg1"/>
                </a:solidFill>
              </a:rPr>
              <a:t>每个子请求都是独立执行，因此某个子请求的失败不会对其他子请求的成功</a:t>
            </a:r>
            <a:r>
              <a:rPr lang="zh-CN" altLang="en-US" dirty="0" smtClean="0">
                <a:solidFill>
                  <a:schemeClr val="bg1"/>
                </a:solidFill>
              </a:rPr>
              <a:t>与否</a:t>
            </a:r>
            <a:endParaRPr lang="en-US" altLang="zh-CN" dirty="0" smtClean="0">
              <a:solidFill>
                <a:schemeClr val="bg1"/>
              </a:solidFill>
            </a:endParaRPr>
          </a:p>
          <a:p>
            <a:r>
              <a:rPr lang="zh-CN" altLang="en-US" dirty="0" smtClean="0">
                <a:solidFill>
                  <a:schemeClr val="bg1"/>
                </a:solidFill>
              </a:rPr>
              <a:t>造成</a:t>
            </a:r>
            <a:r>
              <a:rPr lang="zh-CN" altLang="en-US" dirty="0">
                <a:solidFill>
                  <a:schemeClr val="bg1"/>
                </a:solidFill>
              </a:rPr>
              <a:t>影响。 </a:t>
            </a:r>
            <a:r>
              <a:rPr lang="zh-CN" altLang="en-US" dirty="0" smtClean="0">
                <a:solidFill>
                  <a:schemeClr val="bg1"/>
                </a:solidFill>
              </a:rPr>
              <a:t>如果</a:t>
            </a:r>
            <a:r>
              <a:rPr lang="zh-CN" altLang="en-US" dirty="0">
                <a:solidFill>
                  <a:schemeClr val="bg1"/>
                </a:solidFill>
              </a:rPr>
              <a:t>其中任何子请求失败，最顶层的 </a:t>
            </a:r>
            <a:r>
              <a:rPr lang="en-US" altLang="zh-CN" dirty="0">
                <a:solidFill>
                  <a:schemeClr val="bg1"/>
                </a:solidFill>
              </a:rPr>
              <a:t>error</a:t>
            </a:r>
            <a:r>
              <a:rPr lang="zh-CN" altLang="en-US" dirty="0">
                <a:solidFill>
                  <a:schemeClr val="bg1"/>
                </a:solidFill>
              </a:rPr>
              <a:t> 标志被设置为 </a:t>
            </a:r>
            <a:r>
              <a:rPr lang="en-US" altLang="zh-CN" dirty="0">
                <a:solidFill>
                  <a:schemeClr val="bg1"/>
                </a:solidFill>
              </a:rPr>
              <a:t>true</a:t>
            </a:r>
            <a:r>
              <a:rPr lang="zh-CN" altLang="en-US" dirty="0">
                <a:solidFill>
                  <a:schemeClr val="bg1"/>
                </a:solidFill>
              </a:rPr>
              <a:t> </a:t>
            </a:r>
            <a:r>
              <a:rPr lang="zh-CN" altLang="en-US" dirty="0" smtClean="0">
                <a:solidFill>
                  <a:schemeClr val="bg1"/>
                </a:solidFill>
              </a:rPr>
              <a:t>，</a:t>
            </a:r>
            <a:endParaRPr lang="en-US" altLang="zh-CN" dirty="0" smtClean="0">
              <a:solidFill>
                <a:schemeClr val="bg1"/>
              </a:solidFill>
            </a:endParaRPr>
          </a:p>
          <a:p>
            <a:r>
              <a:rPr lang="zh-CN" altLang="en-US" dirty="0" smtClean="0">
                <a:solidFill>
                  <a:schemeClr val="bg1"/>
                </a:solidFill>
              </a:rPr>
              <a:t>并且</a:t>
            </a:r>
            <a:r>
              <a:rPr lang="zh-CN" altLang="en-US" dirty="0">
                <a:solidFill>
                  <a:schemeClr val="bg1"/>
                </a:solidFill>
              </a:rPr>
              <a:t>在相应的请求报告出错误</a:t>
            </a:r>
            <a:r>
              <a:rPr lang="zh-CN" altLang="en-US" dirty="0" smtClean="0">
                <a:solidFill>
                  <a:schemeClr val="bg1"/>
                </a:solidFill>
              </a:rPr>
              <a:t>明细</a:t>
            </a:r>
            <a:endParaRPr lang="en-US" altLang="zh-CN" dirty="0" smtClean="0">
              <a:solidFill>
                <a:schemeClr val="bg1"/>
              </a:solidFill>
            </a:endParaRPr>
          </a:p>
          <a:p>
            <a:r>
              <a:rPr lang="zh-CN" altLang="en-US" b="1" dirty="0">
                <a:solidFill>
                  <a:schemeClr val="bg1"/>
                </a:solidFill>
              </a:rPr>
              <a:t>这也意味着 </a:t>
            </a:r>
            <a:r>
              <a:rPr lang="en-US" altLang="zh-CN" b="1" dirty="0">
                <a:solidFill>
                  <a:schemeClr val="bg1"/>
                </a:solidFill>
              </a:rPr>
              <a:t>bulk</a:t>
            </a:r>
            <a:r>
              <a:rPr lang="zh-CN" altLang="en-US" b="1" dirty="0">
                <a:solidFill>
                  <a:schemeClr val="bg1"/>
                </a:solidFill>
              </a:rPr>
              <a:t> 请求不是原子</a:t>
            </a:r>
            <a:r>
              <a:rPr lang="zh-CN" altLang="en-US" b="1" dirty="0" smtClean="0">
                <a:solidFill>
                  <a:schemeClr val="bg1"/>
                </a:solidFill>
              </a:rPr>
              <a:t>的，不能</a:t>
            </a:r>
            <a:r>
              <a:rPr lang="zh-CN" altLang="en-US" b="1" dirty="0">
                <a:solidFill>
                  <a:schemeClr val="bg1"/>
                </a:solidFill>
              </a:rPr>
              <a:t>用它来实现事务控制</a:t>
            </a:r>
            <a:r>
              <a:rPr lang="zh-CN" altLang="en-US" b="1" dirty="0" smtClean="0">
                <a:solidFill>
                  <a:schemeClr val="bg1"/>
                </a:solidFill>
              </a:rPr>
              <a:t>。</a:t>
            </a:r>
            <a:endParaRPr lang="en-US" altLang="zh-CN" b="1" dirty="0" smtClean="0">
              <a:solidFill>
                <a:schemeClr val="bg1"/>
              </a:solidFill>
            </a:endParaRPr>
          </a:p>
          <a:p>
            <a:r>
              <a:rPr lang="zh-CN" altLang="en-US" b="1" dirty="0" smtClean="0">
                <a:solidFill>
                  <a:schemeClr val="bg1"/>
                </a:solidFill>
              </a:rPr>
              <a:t>每个</a:t>
            </a:r>
            <a:r>
              <a:rPr lang="zh-CN" altLang="en-US" b="1" dirty="0">
                <a:solidFill>
                  <a:schemeClr val="bg1"/>
                </a:solidFill>
              </a:rPr>
              <a:t>请求是单独处理的，因此一个请求的成功或失败不会影响其他的请求。</a:t>
            </a:r>
            <a:endParaRPr lang="en-US" altLang="zh-CN" b="1"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77590011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8263801" cy="6740307"/>
          </a:xfrm>
          <a:prstGeom prst="rect">
            <a:avLst/>
          </a:prstGeom>
          <a:noFill/>
        </p:spPr>
        <p:txBody>
          <a:bodyPr wrap="none" rtlCol="0">
            <a:spAutoFit/>
          </a:bodyPr>
          <a:lstStyle/>
          <a:p>
            <a:r>
              <a:rPr lang="zh-CN" altLang="en-US" b="1" dirty="0" smtClean="0">
                <a:solidFill>
                  <a:schemeClr val="bg1"/>
                </a:solidFill>
              </a:rPr>
              <a:t>地理位置</a:t>
            </a:r>
            <a:endParaRPr lang="en-US" altLang="zh-CN" b="1" dirty="0" smtClean="0">
              <a:solidFill>
                <a:schemeClr val="bg1"/>
              </a:solidFill>
            </a:endParaRPr>
          </a:p>
          <a:p>
            <a:endParaRPr lang="en-US" altLang="zh-CN" dirty="0">
              <a:solidFill>
                <a:schemeClr val="bg1"/>
              </a:solidFill>
            </a:endParaRPr>
          </a:p>
          <a:p>
            <a:r>
              <a:rPr lang="en-US" altLang="zh-CN" dirty="0" smtClean="0">
                <a:solidFill>
                  <a:schemeClr val="bg1"/>
                </a:solidFill>
              </a:rPr>
              <a:t>Elasticsearch</a:t>
            </a:r>
            <a:r>
              <a:rPr lang="zh-CN" altLang="en-US" dirty="0" smtClean="0">
                <a:solidFill>
                  <a:schemeClr val="bg1"/>
                </a:solidFill>
              </a:rPr>
              <a:t>提供了两种</a:t>
            </a:r>
            <a:r>
              <a:rPr lang="zh-CN" altLang="en-US" dirty="0">
                <a:solidFill>
                  <a:schemeClr val="bg1"/>
                </a:solidFill>
              </a:rPr>
              <a:t>表示地理位置的方式：</a:t>
            </a:r>
            <a:endParaRPr lang="en-US" altLang="zh-CN" dirty="0">
              <a:solidFill>
                <a:schemeClr val="bg1"/>
              </a:solidFill>
            </a:endParaRPr>
          </a:p>
          <a:p>
            <a:r>
              <a:rPr lang="zh-CN" altLang="en-US" dirty="0">
                <a:solidFill>
                  <a:schemeClr val="bg1"/>
                </a:solidFill>
              </a:rPr>
              <a:t>用纬度－经度表示的坐标点</a:t>
            </a:r>
            <a:r>
              <a:rPr lang="zh-CN" altLang="en-US" dirty="0" smtClean="0">
                <a:solidFill>
                  <a:schemeClr val="bg1"/>
                </a:solidFill>
              </a:rPr>
              <a:t>使用</a:t>
            </a:r>
            <a:r>
              <a:rPr lang="en-US" altLang="zh-CN" dirty="0" err="1" smtClean="0">
                <a:solidFill>
                  <a:schemeClr val="bg1"/>
                </a:solidFill>
              </a:rPr>
              <a:t>geo_point</a:t>
            </a:r>
            <a:r>
              <a:rPr lang="zh-CN" altLang="en-US" dirty="0">
                <a:solidFill>
                  <a:schemeClr val="bg1"/>
                </a:solidFill>
              </a:rPr>
              <a:t>字段类型， </a:t>
            </a:r>
            <a:endParaRPr lang="en-US" altLang="zh-CN" dirty="0">
              <a:solidFill>
                <a:schemeClr val="bg1"/>
              </a:solidFill>
            </a:endParaRPr>
          </a:p>
          <a:p>
            <a:r>
              <a:rPr lang="zh-CN" altLang="en-US" dirty="0" smtClean="0">
                <a:solidFill>
                  <a:schemeClr val="bg1"/>
                </a:solidFill>
              </a:rPr>
              <a:t>以</a:t>
            </a:r>
            <a:r>
              <a:rPr lang="en-US" altLang="zh-CN" dirty="0" err="1" smtClean="0">
                <a:solidFill>
                  <a:schemeClr val="bg1"/>
                </a:solidFill>
              </a:rPr>
              <a:t>GeoJSON</a:t>
            </a:r>
            <a:r>
              <a:rPr lang="zh-CN" altLang="en-US" dirty="0" smtClean="0">
                <a:solidFill>
                  <a:schemeClr val="bg1"/>
                </a:solidFill>
              </a:rPr>
              <a:t>格式</a:t>
            </a:r>
            <a:r>
              <a:rPr lang="zh-CN" altLang="en-US" dirty="0">
                <a:solidFill>
                  <a:schemeClr val="bg1"/>
                </a:solidFill>
              </a:rPr>
              <a:t>定义的复杂地理形状，</a:t>
            </a:r>
            <a:r>
              <a:rPr lang="zh-CN" altLang="en-US" dirty="0" smtClean="0">
                <a:solidFill>
                  <a:schemeClr val="bg1"/>
                </a:solidFill>
              </a:rPr>
              <a:t>使用</a:t>
            </a:r>
            <a:r>
              <a:rPr lang="en-US" altLang="zh-CN" dirty="0" err="1" smtClean="0">
                <a:solidFill>
                  <a:schemeClr val="bg1"/>
                </a:solidFill>
              </a:rPr>
              <a:t>geo_shape</a:t>
            </a:r>
            <a:r>
              <a:rPr lang="zh-CN" altLang="en-US" dirty="0" smtClean="0">
                <a:solidFill>
                  <a:schemeClr val="bg1"/>
                </a:solidFill>
              </a:rPr>
              <a:t>字段</a:t>
            </a:r>
            <a:r>
              <a:rPr lang="zh-CN" altLang="en-US" dirty="0">
                <a:solidFill>
                  <a:schemeClr val="bg1"/>
                </a:solidFill>
              </a:rPr>
              <a:t>类型。</a:t>
            </a:r>
            <a:endParaRPr lang="en-US" altLang="zh-CN" dirty="0">
              <a:solidFill>
                <a:schemeClr val="bg1"/>
              </a:solidFill>
            </a:endParaRPr>
          </a:p>
          <a:p>
            <a:endParaRPr lang="zh-CN" altLang="en-US" dirty="0">
              <a:solidFill>
                <a:schemeClr val="bg1"/>
              </a:solidFill>
            </a:endParaRPr>
          </a:p>
          <a:p>
            <a:pPr marL="285750" indent="-285750">
              <a:buFont typeface="Wingdings" pitchFamily="2" charset="2"/>
              <a:buChar char="n"/>
            </a:pPr>
            <a:r>
              <a:rPr lang="en-US" altLang="zh-CN" dirty="0">
                <a:solidFill>
                  <a:schemeClr val="bg1"/>
                </a:solidFill>
              </a:rPr>
              <a:t>Geo-points</a:t>
            </a:r>
            <a:r>
              <a:rPr lang="zh-CN" altLang="en-US" dirty="0">
                <a:solidFill>
                  <a:schemeClr val="bg1"/>
                </a:solidFill>
              </a:rPr>
              <a:t> </a:t>
            </a:r>
            <a:endParaRPr lang="en-US" altLang="zh-CN" dirty="0">
              <a:solidFill>
                <a:schemeClr val="bg1"/>
              </a:solidFill>
            </a:endParaRPr>
          </a:p>
          <a:p>
            <a:r>
              <a:rPr lang="zh-CN" altLang="en-US" dirty="0">
                <a:solidFill>
                  <a:schemeClr val="bg1"/>
                </a:solidFill>
              </a:rPr>
              <a:t>允许你找到距离另一个坐标点一定范围内的坐标点、计算出两点之间的距离来排</a:t>
            </a:r>
            <a:endParaRPr lang="en-US" altLang="zh-CN" dirty="0">
              <a:solidFill>
                <a:schemeClr val="bg1"/>
              </a:solidFill>
            </a:endParaRPr>
          </a:p>
          <a:p>
            <a:r>
              <a:rPr lang="zh-CN" altLang="en-US" dirty="0">
                <a:solidFill>
                  <a:schemeClr val="bg1"/>
                </a:solidFill>
              </a:rPr>
              <a:t>序或进行相关性打分、或者聚合到显示在地图上的一个网格。</a:t>
            </a:r>
            <a:endParaRPr lang="en-US" altLang="zh-CN" dirty="0">
              <a:solidFill>
                <a:schemeClr val="bg1"/>
              </a:solidFill>
            </a:endParaRPr>
          </a:p>
          <a:p>
            <a:endParaRPr lang="en-US" altLang="zh-CN" dirty="0">
              <a:solidFill>
                <a:schemeClr val="bg1"/>
              </a:solidFill>
            </a:endParaRPr>
          </a:p>
          <a:p>
            <a:pPr marL="285750" indent="-285750">
              <a:buFont typeface="Wingdings" pitchFamily="2" charset="2"/>
              <a:buChar char="n"/>
            </a:pPr>
            <a:r>
              <a:rPr lang="en-US" altLang="zh-CN" dirty="0">
                <a:solidFill>
                  <a:schemeClr val="bg1"/>
                </a:solidFill>
              </a:rPr>
              <a:t>Geo-shapes</a:t>
            </a:r>
            <a:r>
              <a:rPr lang="zh-CN" altLang="en-US" dirty="0">
                <a:solidFill>
                  <a:schemeClr val="bg1"/>
                </a:solidFill>
              </a:rPr>
              <a:t> </a:t>
            </a:r>
            <a:endParaRPr lang="en-US" altLang="zh-CN" dirty="0" smtClean="0">
              <a:solidFill>
                <a:schemeClr val="bg1"/>
              </a:solidFill>
            </a:endParaRPr>
          </a:p>
          <a:p>
            <a:r>
              <a:rPr lang="zh-CN" altLang="en-US" dirty="0" smtClean="0">
                <a:solidFill>
                  <a:schemeClr val="bg1"/>
                </a:solidFill>
              </a:rPr>
              <a:t>纯粹</a:t>
            </a:r>
            <a:r>
              <a:rPr lang="zh-CN" altLang="en-US" dirty="0">
                <a:solidFill>
                  <a:schemeClr val="bg1"/>
                </a:solidFill>
              </a:rPr>
              <a:t>是用来过滤</a:t>
            </a:r>
            <a:r>
              <a:rPr lang="zh-CN" altLang="en-US" dirty="0" smtClean="0">
                <a:solidFill>
                  <a:schemeClr val="bg1"/>
                </a:solidFill>
              </a:rPr>
              <a:t>的</a:t>
            </a:r>
            <a:r>
              <a:rPr lang="zh-CN" altLang="en-US" dirty="0">
                <a:solidFill>
                  <a:schemeClr val="bg1"/>
                </a:solidFill>
              </a:rPr>
              <a:t>，</a:t>
            </a:r>
            <a:r>
              <a:rPr lang="zh-CN" altLang="en-US" dirty="0" smtClean="0">
                <a:solidFill>
                  <a:schemeClr val="bg1"/>
                </a:solidFill>
              </a:rPr>
              <a:t>它们</a:t>
            </a:r>
            <a:r>
              <a:rPr lang="zh-CN" altLang="en-US" dirty="0">
                <a:solidFill>
                  <a:schemeClr val="bg1"/>
                </a:solidFill>
              </a:rPr>
              <a:t>可以用来判断两个地理形状是否有重合或者某个地理</a:t>
            </a:r>
            <a:r>
              <a:rPr lang="zh-CN" altLang="en-US" dirty="0" smtClean="0">
                <a:solidFill>
                  <a:schemeClr val="bg1"/>
                </a:solidFill>
              </a:rPr>
              <a:t>形</a:t>
            </a:r>
            <a:endParaRPr lang="en-US" altLang="zh-CN" dirty="0" smtClean="0">
              <a:solidFill>
                <a:schemeClr val="bg1"/>
              </a:solidFill>
            </a:endParaRPr>
          </a:p>
          <a:p>
            <a:r>
              <a:rPr lang="zh-CN" altLang="en-US" dirty="0" smtClean="0">
                <a:solidFill>
                  <a:schemeClr val="bg1"/>
                </a:solidFill>
              </a:rPr>
              <a:t>状</a:t>
            </a:r>
            <a:r>
              <a:rPr lang="zh-CN" altLang="en-US" dirty="0">
                <a:solidFill>
                  <a:schemeClr val="bg1"/>
                </a:solidFill>
              </a:rPr>
              <a:t>是否完全包含了</a:t>
            </a:r>
            <a:r>
              <a:rPr lang="zh-CN" altLang="en-US" dirty="0" smtClean="0">
                <a:solidFill>
                  <a:schemeClr val="bg1"/>
                </a:solidFill>
              </a:rPr>
              <a:t>其他</a:t>
            </a:r>
            <a:r>
              <a:rPr lang="zh-CN" altLang="en-US" dirty="0">
                <a:solidFill>
                  <a:schemeClr val="bg1"/>
                </a:solidFill>
              </a:rPr>
              <a:t>地理形状。</a:t>
            </a: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11"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56089031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8398453" cy="4247317"/>
          </a:xfrm>
          <a:prstGeom prst="rect">
            <a:avLst/>
          </a:prstGeom>
          <a:noFill/>
        </p:spPr>
        <p:txBody>
          <a:bodyPr wrap="none" rtlCol="0">
            <a:spAutoFit/>
          </a:bodyPr>
          <a:lstStyle/>
          <a:p>
            <a:r>
              <a:rPr lang="zh-CN" altLang="en-US" b="1" dirty="0">
                <a:solidFill>
                  <a:schemeClr val="bg1"/>
                </a:solidFill>
              </a:rPr>
              <a:t>地理坐标点相关的</a:t>
            </a:r>
            <a:r>
              <a:rPr lang="zh-CN" altLang="en-US" b="1" dirty="0" smtClean="0">
                <a:solidFill>
                  <a:schemeClr val="bg1"/>
                </a:solidFill>
              </a:rPr>
              <a:t>过滤器</a:t>
            </a:r>
            <a:endParaRPr lang="en-US" altLang="zh-CN" b="1" dirty="0" smtClean="0">
              <a:solidFill>
                <a:schemeClr val="bg1"/>
              </a:solidFill>
            </a:endParaRPr>
          </a:p>
          <a:p>
            <a:endParaRPr lang="en-US" altLang="zh-CN" b="1" dirty="0" smtClean="0">
              <a:solidFill>
                <a:schemeClr val="bg1"/>
              </a:solidFill>
            </a:endParaRPr>
          </a:p>
          <a:p>
            <a:pPr marL="285750" indent="-285750">
              <a:buFont typeface="Wingdings" pitchFamily="2" charset="2"/>
              <a:buChar char="n"/>
            </a:pPr>
            <a:r>
              <a:rPr lang="en-US" altLang="zh-CN" dirty="0" smtClean="0">
                <a:solidFill>
                  <a:schemeClr val="bg1"/>
                </a:solidFill>
              </a:rPr>
              <a:t>geo_bounding_box</a:t>
            </a:r>
            <a:r>
              <a:rPr lang="zh-CN" altLang="en-US" dirty="0" smtClean="0">
                <a:solidFill>
                  <a:schemeClr val="bg1"/>
                </a:solidFill>
              </a:rPr>
              <a:t>：   找</a:t>
            </a:r>
            <a:r>
              <a:rPr lang="zh-CN" altLang="en-US" dirty="0">
                <a:solidFill>
                  <a:schemeClr val="bg1"/>
                </a:solidFill>
              </a:rPr>
              <a:t>出落在指定矩形框中的</a:t>
            </a:r>
            <a:r>
              <a:rPr lang="zh-CN" altLang="en-US" dirty="0" smtClean="0">
                <a:solidFill>
                  <a:schemeClr val="bg1"/>
                </a:solidFill>
              </a:rPr>
              <a:t>点</a:t>
            </a:r>
            <a:endParaRPr lang="en-US" altLang="zh-CN" dirty="0" smtClean="0">
              <a:solidFill>
                <a:schemeClr val="bg1"/>
              </a:solidFill>
            </a:endParaRPr>
          </a:p>
          <a:p>
            <a:pPr marL="285750" indent="-285750">
              <a:buFont typeface="Wingdings" pitchFamily="2" charset="2"/>
              <a:buChar char="n"/>
            </a:pPr>
            <a:r>
              <a:rPr lang="en-US" altLang="zh-CN" dirty="0" smtClean="0">
                <a:solidFill>
                  <a:schemeClr val="bg1"/>
                </a:solidFill>
              </a:rPr>
              <a:t>geo_distance</a:t>
            </a:r>
            <a:r>
              <a:rPr lang="zh-CN" altLang="en-US" dirty="0" smtClean="0">
                <a:solidFill>
                  <a:schemeClr val="bg1"/>
                </a:solidFill>
              </a:rPr>
              <a:t>：            找出</a:t>
            </a:r>
            <a:r>
              <a:rPr lang="zh-CN" altLang="en-US" dirty="0">
                <a:solidFill>
                  <a:schemeClr val="bg1"/>
                </a:solidFill>
              </a:rPr>
              <a:t>与指定位置在给定距离内的</a:t>
            </a:r>
            <a:r>
              <a:rPr lang="zh-CN" altLang="en-US" dirty="0" smtClean="0">
                <a:solidFill>
                  <a:schemeClr val="bg1"/>
                </a:solidFill>
              </a:rPr>
              <a:t>点</a:t>
            </a:r>
            <a:endParaRPr lang="en-US" altLang="zh-CN" dirty="0" smtClean="0">
              <a:solidFill>
                <a:schemeClr val="bg1"/>
              </a:solidFill>
            </a:endParaRPr>
          </a:p>
          <a:p>
            <a:pPr marL="285750" indent="-285750">
              <a:buFont typeface="Wingdings" pitchFamily="2" charset="2"/>
              <a:buChar char="n"/>
            </a:pPr>
            <a:r>
              <a:rPr lang="en-US" altLang="zh-CN" dirty="0" smtClean="0">
                <a:solidFill>
                  <a:schemeClr val="bg1"/>
                </a:solidFill>
              </a:rPr>
              <a:t>geo_distance_range</a:t>
            </a:r>
            <a:r>
              <a:rPr lang="zh-CN" altLang="en-US" dirty="0" smtClean="0">
                <a:solidFill>
                  <a:schemeClr val="bg1"/>
                </a:solidFill>
              </a:rPr>
              <a:t>： 找出</a:t>
            </a:r>
            <a:r>
              <a:rPr lang="zh-CN" altLang="en-US" dirty="0">
                <a:solidFill>
                  <a:schemeClr val="bg1"/>
                </a:solidFill>
              </a:rPr>
              <a:t>与指定点距离在给定最小距离和最大距离之间的</a:t>
            </a:r>
            <a:r>
              <a:rPr lang="zh-CN" altLang="en-US" dirty="0" smtClean="0">
                <a:solidFill>
                  <a:schemeClr val="bg1"/>
                </a:solidFill>
              </a:rPr>
              <a:t>点</a:t>
            </a:r>
            <a:endParaRPr lang="en-US" altLang="zh-CN" dirty="0" smtClean="0">
              <a:solidFill>
                <a:schemeClr val="bg1"/>
              </a:solidFill>
            </a:endParaRPr>
          </a:p>
          <a:p>
            <a:pPr marL="285750" indent="-285750">
              <a:buFont typeface="Wingdings" pitchFamily="2" charset="2"/>
              <a:buChar char="n"/>
            </a:pPr>
            <a:r>
              <a:rPr lang="en-US" altLang="zh-CN" dirty="0" smtClean="0">
                <a:solidFill>
                  <a:schemeClr val="bg1"/>
                </a:solidFill>
              </a:rPr>
              <a:t>geo_polygon</a:t>
            </a:r>
            <a:r>
              <a:rPr lang="zh-CN" altLang="en-US" dirty="0" smtClean="0">
                <a:solidFill>
                  <a:schemeClr val="bg1"/>
                </a:solidFill>
              </a:rPr>
              <a:t>：             找</a:t>
            </a:r>
            <a:r>
              <a:rPr lang="zh-CN" altLang="en-US" dirty="0">
                <a:solidFill>
                  <a:schemeClr val="bg1"/>
                </a:solidFill>
              </a:rPr>
              <a:t>出落在多边形中的</a:t>
            </a:r>
            <a:r>
              <a:rPr lang="zh-CN" altLang="en-US" dirty="0" smtClean="0">
                <a:solidFill>
                  <a:schemeClr val="bg1"/>
                </a:solidFill>
              </a:rPr>
              <a:t>点</a:t>
            </a:r>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11"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79247561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7132722" cy="8679299"/>
          </a:xfrm>
          <a:prstGeom prst="rect">
            <a:avLst/>
          </a:prstGeom>
          <a:noFill/>
        </p:spPr>
        <p:txBody>
          <a:bodyPr wrap="none" rtlCol="0">
            <a:spAutoFit/>
          </a:bodyPr>
          <a:lstStyle/>
          <a:p>
            <a:r>
              <a:rPr lang="en-US" altLang="zh-CN" dirty="0" smtClean="0">
                <a:solidFill>
                  <a:schemeClr val="bg1"/>
                </a:solidFill>
              </a:rPr>
              <a:t>curl </a:t>
            </a:r>
            <a:r>
              <a:rPr lang="en-US" altLang="zh-CN" dirty="0">
                <a:solidFill>
                  <a:schemeClr val="bg1"/>
                </a:solidFill>
              </a:rPr>
              <a:t>-XPOST '10.16.74.59:9200/</a:t>
            </a:r>
            <a:r>
              <a:rPr lang="en-US" altLang="zh-CN" dirty="0" err="1">
                <a:solidFill>
                  <a:schemeClr val="bg1"/>
                </a:solidFill>
              </a:rPr>
              <a:t>my_store</a:t>
            </a:r>
            <a:r>
              <a:rPr lang="en-US" altLang="zh-CN" dirty="0">
                <a:solidFill>
                  <a:schemeClr val="bg1"/>
                </a:solidFill>
              </a:rPr>
              <a:t>/products/_</a:t>
            </a:r>
            <a:r>
              <a:rPr lang="en-US" altLang="zh-CN" dirty="0" err="1">
                <a:solidFill>
                  <a:schemeClr val="bg1"/>
                </a:solidFill>
              </a:rPr>
              <a:t>bulk?pretty</a:t>
            </a:r>
            <a:r>
              <a:rPr lang="en-US" altLang="zh-CN" dirty="0">
                <a:solidFill>
                  <a:schemeClr val="bg1"/>
                </a:solidFill>
              </a:rPr>
              <a:t>' -d'</a:t>
            </a:r>
          </a:p>
          <a:p>
            <a:r>
              <a:rPr lang="en-US" altLang="zh-CN" dirty="0">
                <a:solidFill>
                  <a:schemeClr val="bg1"/>
                </a:solidFill>
              </a:rPr>
              <a:t>{ "index": { "_id": 1 }}</a:t>
            </a:r>
          </a:p>
          <a:p>
            <a:r>
              <a:rPr lang="en-US" altLang="zh-CN" dirty="0">
                <a:solidFill>
                  <a:schemeClr val="bg1"/>
                </a:solidFill>
              </a:rPr>
              <a:t>{ "price" : 10, "</a:t>
            </a:r>
            <a:r>
              <a:rPr lang="en-US" altLang="zh-CN" dirty="0" err="1">
                <a:solidFill>
                  <a:schemeClr val="bg1"/>
                </a:solidFill>
              </a:rPr>
              <a:t>productID</a:t>
            </a:r>
            <a:r>
              <a:rPr lang="en-US" altLang="zh-CN" dirty="0">
                <a:solidFill>
                  <a:schemeClr val="bg1"/>
                </a:solidFill>
              </a:rPr>
              <a:t>" : "XHDK-A-1293-#fJ3" }</a:t>
            </a:r>
          </a:p>
          <a:p>
            <a:r>
              <a:rPr lang="en-US" altLang="zh-CN" dirty="0">
                <a:solidFill>
                  <a:schemeClr val="bg1"/>
                </a:solidFill>
              </a:rPr>
              <a:t>{ "index": { "_id": 2 }}</a:t>
            </a:r>
          </a:p>
          <a:p>
            <a:r>
              <a:rPr lang="en-US" altLang="zh-CN" dirty="0">
                <a:solidFill>
                  <a:schemeClr val="bg1"/>
                </a:solidFill>
              </a:rPr>
              <a:t>{ "price" : 20, "</a:t>
            </a:r>
            <a:r>
              <a:rPr lang="en-US" altLang="zh-CN" dirty="0" err="1">
                <a:solidFill>
                  <a:schemeClr val="bg1"/>
                </a:solidFill>
              </a:rPr>
              <a:t>productID</a:t>
            </a:r>
            <a:r>
              <a:rPr lang="en-US" altLang="zh-CN" dirty="0">
                <a:solidFill>
                  <a:schemeClr val="bg1"/>
                </a:solidFill>
              </a:rPr>
              <a:t>" : "KDKE-B-9947-#kL5" }</a:t>
            </a:r>
          </a:p>
          <a:p>
            <a:r>
              <a:rPr lang="en-US" altLang="zh-CN" dirty="0">
                <a:solidFill>
                  <a:schemeClr val="bg1"/>
                </a:solidFill>
              </a:rPr>
              <a:t>{ "index": { "_id": 3 }}</a:t>
            </a:r>
          </a:p>
          <a:p>
            <a:r>
              <a:rPr lang="en-US" altLang="zh-CN" dirty="0">
                <a:solidFill>
                  <a:schemeClr val="bg1"/>
                </a:solidFill>
              </a:rPr>
              <a:t>{ "price" : 30, "</a:t>
            </a:r>
            <a:r>
              <a:rPr lang="en-US" altLang="zh-CN" dirty="0" err="1">
                <a:solidFill>
                  <a:schemeClr val="bg1"/>
                </a:solidFill>
              </a:rPr>
              <a:t>productID</a:t>
            </a:r>
            <a:r>
              <a:rPr lang="en-US" altLang="zh-CN" dirty="0">
                <a:solidFill>
                  <a:schemeClr val="bg1"/>
                </a:solidFill>
              </a:rPr>
              <a:t>" : "JODL-X-1937-#pV7" }</a:t>
            </a:r>
          </a:p>
          <a:p>
            <a:r>
              <a:rPr lang="en-US" altLang="zh-CN" dirty="0">
                <a:solidFill>
                  <a:schemeClr val="bg1"/>
                </a:solidFill>
              </a:rPr>
              <a:t>{ "index": { "_id": 4 }}</a:t>
            </a:r>
          </a:p>
          <a:p>
            <a:r>
              <a:rPr lang="en-US" altLang="zh-CN" dirty="0">
                <a:solidFill>
                  <a:schemeClr val="bg1"/>
                </a:solidFill>
              </a:rPr>
              <a:t>{ "price" : 30, "</a:t>
            </a:r>
            <a:r>
              <a:rPr lang="en-US" altLang="zh-CN" dirty="0" err="1">
                <a:solidFill>
                  <a:schemeClr val="bg1"/>
                </a:solidFill>
              </a:rPr>
              <a:t>productID</a:t>
            </a:r>
            <a:r>
              <a:rPr lang="en-US" altLang="zh-CN" dirty="0">
                <a:solidFill>
                  <a:schemeClr val="bg1"/>
                </a:solidFill>
              </a:rPr>
              <a:t>" : "QQPX-R-3956-#aD8" }</a:t>
            </a:r>
          </a:p>
          <a:p>
            <a:r>
              <a:rPr lang="en-US" altLang="zh-CN" dirty="0" smtClean="0">
                <a:solidFill>
                  <a:schemeClr val="bg1"/>
                </a:solidFill>
              </a:rPr>
              <a:t>'</a:t>
            </a:r>
          </a:p>
          <a:p>
            <a:r>
              <a:rPr lang="en-US" altLang="zh-CN" dirty="0"/>
              <a:t>SELECT document FROM products WHERE price = 20</a:t>
            </a:r>
            <a:endParaRPr lang="en-US" altLang="zh-CN" dirty="0">
              <a:solidFill>
                <a:schemeClr val="bg1"/>
              </a:solidFill>
            </a:endParaRPr>
          </a:p>
          <a:p>
            <a:r>
              <a:rPr lang="en-US" altLang="zh-CN" dirty="0">
                <a:solidFill>
                  <a:schemeClr val="bg1"/>
                </a:solidFill>
              </a:rPr>
              <a:t>curl -XGET '10.16.74.59:9200/</a:t>
            </a:r>
            <a:r>
              <a:rPr lang="en-US" altLang="zh-CN" dirty="0" err="1">
                <a:solidFill>
                  <a:schemeClr val="bg1"/>
                </a:solidFill>
              </a:rPr>
              <a:t>my_store</a:t>
            </a:r>
            <a:r>
              <a:rPr lang="en-US" altLang="zh-CN" dirty="0">
                <a:solidFill>
                  <a:schemeClr val="bg1"/>
                </a:solidFill>
              </a:rPr>
              <a:t>/products/_</a:t>
            </a:r>
            <a:r>
              <a:rPr lang="en-US" altLang="zh-CN" dirty="0" err="1">
                <a:solidFill>
                  <a:schemeClr val="bg1"/>
                </a:solidFill>
              </a:rPr>
              <a:t>search?pretty</a:t>
            </a:r>
            <a:r>
              <a:rPr lang="en-US" altLang="zh-CN" dirty="0">
                <a:solidFill>
                  <a:schemeClr val="bg1"/>
                </a:solidFill>
              </a:rPr>
              <a:t>' -d'</a:t>
            </a:r>
          </a:p>
          <a:p>
            <a:r>
              <a:rPr lang="en-US" altLang="zh-CN" dirty="0">
                <a:solidFill>
                  <a:schemeClr val="bg1"/>
                </a:solidFill>
              </a:rPr>
              <a:t>{</a:t>
            </a:r>
          </a:p>
          <a:p>
            <a:r>
              <a:rPr lang="en-US" altLang="zh-CN" dirty="0">
                <a:solidFill>
                  <a:schemeClr val="bg1"/>
                </a:solidFill>
              </a:rPr>
              <a:t>    "query" : {</a:t>
            </a:r>
          </a:p>
          <a:p>
            <a:r>
              <a:rPr lang="en-US" altLang="zh-CN" dirty="0">
                <a:solidFill>
                  <a:schemeClr val="bg1"/>
                </a:solidFill>
              </a:rPr>
              <a:t>        "</a:t>
            </a:r>
            <a:r>
              <a:rPr lang="en-US" altLang="zh-CN" dirty="0" err="1">
                <a:solidFill>
                  <a:schemeClr val="bg1"/>
                </a:solidFill>
              </a:rPr>
              <a:t>constant_score</a:t>
            </a:r>
            <a:r>
              <a:rPr lang="en-US" altLang="zh-CN" dirty="0">
                <a:solidFill>
                  <a:schemeClr val="bg1"/>
                </a:solidFill>
              </a:rPr>
              <a:t>" : { </a:t>
            </a:r>
          </a:p>
          <a:p>
            <a:r>
              <a:rPr lang="en-US" altLang="zh-CN" dirty="0">
                <a:solidFill>
                  <a:schemeClr val="bg1"/>
                </a:solidFill>
              </a:rPr>
              <a:t>            "filter" : {</a:t>
            </a:r>
          </a:p>
          <a:p>
            <a:r>
              <a:rPr lang="en-US" altLang="zh-CN" dirty="0">
                <a:solidFill>
                  <a:schemeClr val="bg1"/>
                </a:solidFill>
              </a:rPr>
              <a:t>                "term" : { </a:t>
            </a:r>
          </a:p>
          <a:p>
            <a:r>
              <a:rPr lang="en-US" altLang="zh-CN" dirty="0">
                <a:solidFill>
                  <a:schemeClr val="bg1"/>
                </a:solidFill>
              </a:rPr>
              <a:t>                    "price" : 20</a:t>
            </a:r>
          </a:p>
          <a:p>
            <a:r>
              <a:rPr lang="en-US" altLang="zh-CN" dirty="0">
                <a:solidFill>
                  <a:schemeClr val="bg1"/>
                </a:solidFill>
              </a:rPr>
              <a:t>                }</a:t>
            </a:r>
          </a:p>
          <a:p>
            <a:r>
              <a:rPr lang="en-US" altLang="zh-CN" dirty="0">
                <a:solidFill>
                  <a:schemeClr val="bg1"/>
                </a:solidFill>
              </a:rPr>
              <a:t>            }</a:t>
            </a:r>
          </a:p>
          <a:p>
            <a:r>
              <a:rPr lang="en-US" altLang="zh-CN" dirty="0">
                <a:solidFill>
                  <a:schemeClr val="bg1"/>
                </a:solidFill>
              </a:rPr>
              <a:t>        }</a:t>
            </a:r>
          </a:p>
          <a:p>
            <a:r>
              <a:rPr lang="en-US" altLang="zh-CN" dirty="0">
                <a:solidFill>
                  <a:schemeClr val="bg1"/>
                </a:solidFill>
              </a:rPr>
              <a:t>    }</a:t>
            </a:r>
          </a:p>
          <a:p>
            <a:r>
              <a:rPr lang="en-US" altLang="zh-CN" dirty="0">
                <a:solidFill>
                  <a:schemeClr val="bg1"/>
                </a:solidFill>
              </a:rPr>
              <a:t>}'</a:t>
            </a: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77590011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6308137" cy="4801314"/>
          </a:xfrm>
          <a:prstGeom prst="rect">
            <a:avLst/>
          </a:prstGeom>
          <a:noFill/>
        </p:spPr>
        <p:txBody>
          <a:bodyPr wrap="none" rtlCol="0">
            <a:spAutoFit/>
          </a:bodyPr>
          <a:lstStyle/>
          <a:p>
            <a:r>
              <a:rPr lang="zh-CN" altLang="en-US" dirty="0" smtClean="0">
                <a:solidFill>
                  <a:schemeClr val="bg1"/>
                </a:solidFill>
              </a:rPr>
              <a:t>集群健康</a:t>
            </a:r>
            <a:endParaRPr lang="en-US" altLang="zh-CN" dirty="0" smtClean="0">
              <a:solidFill>
                <a:schemeClr val="bg1"/>
              </a:solidFill>
            </a:endParaRPr>
          </a:p>
          <a:p>
            <a:r>
              <a:rPr lang="en-US" altLang="zh-CN" dirty="0">
                <a:solidFill>
                  <a:srgbClr val="FFFF00"/>
                </a:solidFill>
              </a:rPr>
              <a:t>Cluster Health API </a:t>
            </a:r>
            <a:endParaRPr lang="en-US" altLang="zh-CN" dirty="0" smtClean="0">
              <a:solidFill>
                <a:srgbClr val="FFFF00"/>
              </a:solidFill>
            </a:endParaRPr>
          </a:p>
          <a:p>
            <a:endParaRPr lang="en-US" altLang="zh-CN" dirty="0" smtClean="0">
              <a:solidFill>
                <a:srgbClr val="FFFF00"/>
              </a:solidFill>
            </a:endParaRPr>
          </a:p>
          <a:p>
            <a:r>
              <a:rPr lang="zh-CN" altLang="en-US" dirty="0">
                <a:solidFill>
                  <a:schemeClr val="bg1"/>
                </a:solidFill>
              </a:rPr>
              <a:t>查看集群</a:t>
            </a:r>
            <a:r>
              <a:rPr lang="zh-CN" altLang="en-US" dirty="0" smtClean="0">
                <a:solidFill>
                  <a:schemeClr val="bg1"/>
                </a:solidFill>
              </a:rPr>
              <a:t>状态</a:t>
            </a:r>
            <a:endParaRPr lang="en-US" altLang="zh-CN" dirty="0" smtClean="0">
              <a:solidFill>
                <a:schemeClr val="bg1"/>
              </a:solidFill>
            </a:endParaRPr>
          </a:p>
          <a:p>
            <a:r>
              <a:rPr lang="en-US" altLang="zh-CN" dirty="0">
                <a:solidFill>
                  <a:schemeClr val="bg1"/>
                </a:solidFill>
                <a:hlinkClick r:id="rId3"/>
              </a:rPr>
              <a:t>http://10.16.74.58:9200/_</a:t>
            </a:r>
            <a:r>
              <a:rPr lang="en-US" altLang="zh-CN" dirty="0" smtClean="0">
                <a:solidFill>
                  <a:schemeClr val="bg1"/>
                </a:solidFill>
                <a:hlinkClick r:id="rId3"/>
              </a:rPr>
              <a:t>cluster/health</a:t>
            </a:r>
            <a:endParaRPr lang="en-US" altLang="zh-CN" dirty="0" smtClean="0">
              <a:solidFill>
                <a:schemeClr val="bg1"/>
              </a:solidFill>
            </a:endParaRPr>
          </a:p>
          <a:p>
            <a:r>
              <a:rPr lang="zh-CN" altLang="en-US" dirty="0">
                <a:solidFill>
                  <a:schemeClr val="bg1"/>
                </a:solidFill>
              </a:rPr>
              <a:t>查看集群索引</a:t>
            </a:r>
            <a:r>
              <a:rPr lang="zh-CN" altLang="en-US" dirty="0" smtClean="0">
                <a:solidFill>
                  <a:schemeClr val="bg1"/>
                </a:solidFill>
              </a:rPr>
              <a:t>信息</a:t>
            </a:r>
            <a:endParaRPr lang="en-US" altLang="zh-CN" dirty="0" smtClean="0">
              <a:solidFill>
                <a:schemeClr val="bg1"/>
              </a:solidFill>
            </a:endParaRPr>
          </a:p>
          <a:p>
            <a:r>
              <a:rPr lang="en-US" altLang="zh-CN" dirty="0" smtClean="0">
                <a:solidFill>
                  <a:schemeClr val="bg1"/>
                </a:solidFill>
                <a:hlinkClick r:id="rId4"/>
              </a:rPr>
              <a:t>http</a:t>
            </a:r>
            <a:r>
              <a:rPr lang="en-US" altLang="zh-CN" dirty="0">
                <a:solidFill>
                  <a:schemeClr val="bg1"/>
                </a:solidFill>
                <a:hlinkClick r:id="rId4"/>
              </a:rPr>
              <a:t>://10.16.74.59:9200/_</a:t>
            </a:r>
            <a:r>
              <a:rPr lang="en-US" altLang="zh-CN" dirty="0" smtClean="0">
                <a:solidFill>
                  <a:schemeClr val="bg1"/>
                </a:solidFill>
                <a:hlinkClick r:id="rId4"/>
              </a:rPr>
              <a:t>cluster/health?level=indices&amp;pretty</a:t>
            </a:r>
            <a:endParaRPr lang="en-US" altLang="zh-CN" dirty="0" smtClean="0">
              <a:solidFill>
                <a:schemeClr val="bg1"/>
              </a:solidFill>
            </a:endParaRPr>
          </a:p>
          <a:p>
            <a:r>
              <a:rPr lang="zh-CN" altLang="en-US" dirty="0">
                <a:solidFill>
                  <a:schemeClr val="bg1"/>
                </a:solidFill>
              </a:rPr>
              <a:t>查看集群分片</a:t>
            </a:r>
            <a:r>
              <a:rPr lang="zh-CN" altLang="en-US" dirty="0" smtClean="0">
                <a:solidFill>
                  <a:schemeClr val="bg1"/>
                </a:solidFill>
              </a:rPr>
              <a:t>情况</a:t>
            </a:r>
            <a:endParaRPr lang="en-US" altLang="zh-CN" dirty="0" smtClean="0">
              <a:solidFill>
                <a:schemeClr val="bg1"/>
              </a:solidFill>
            </a:endParaRPr>
          </a:p>
          <a:p>
            <a:r>
              <a:rPr lang="en-US" altLang="zh-CN" dirty="0" smtClean="0">
                <a:solidFill>
                  <a:schemeClr val="bg1"/>
                </a:solidFill>
                <a:hlinkClick r:id="rId5"/>
              </a:rPr>
              <a:t>http</a:t>
            </a:r>
            <a:r>
              <a:rPr lang="en-US" altLang="zh-CN" dirty="0">
                <a:solidFill>
                  <a:schemeClr val="bg1"/>
                </a:solidFill>
                <a:hlinkClick r:id="rId5"/>
              </a:rPr>
              <a:t>://10.16.74.59:9200/_</a:t>
            </a:r>
            <a:r>
              <a:rPr lang="en-US" altLang="zh-CN" dirty="0" smtClean="0">
                <a:solidFill>
                  <a:schemeClr val="bg1"/>
                </a:solidFill>
                <a:hlinkClick r:id="rId5"/>
              </a:rPr>
              <a:t>cluster/health?level=shards&amp;pretty</a:t>
            </a:r>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619199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8263801" cy="6463308"/>
          </a:xfrm>
          <a:prstGeom prst="rect">
            <a:avLst/>
          </a:prstGeom>
          <a:noFill/>
        </p:spPr>
        <p:txBody>
          <a:bodyPr wrap="none" rtlCol="0">
            <a:spAutoFit/>
          </a:bodyPr>
          <a:lstStyle/>
          <a:p>
            <a:r>
              <a:rPr lang="zh-CN" altLang="en-US" b="1" dirty="0" smtClean="0">
                <a:solidFill>
                  <a:schemeClr val="bg1"/>
                </a:solidFill>
              </a:rPr>
              <a:t>集群状态</a:t>
            </a:r>
            <a:endParaRPr lang="en-US" altLang="zh-CN" b="1" dirty="0" smtClean="0">
              <a:solidFill>
                <a:schemeClr val="bg1"/>
              </a:solidFill>
            </a:endParaRPr>
          </a:p>
          <a:p>
            <a:endParaRPr lang="en-US" altLang="zh-CN" dirty="0">
              <a:solidFill>
                <a:schemeClr val="bg1"/>
              </a:solidFill>
            </a:endParaRPr>
          </a:p>
          <a:p>
            <a:pPr marL="285750" indent="-285750">
              <a:buFont typeface="Wingdings" pitchFamily="2" charset="2"/>
              <a:buChar char="n"/>
            </a:pPr>
            <a:r>
              <a:rPr lang="en-US" altLang="zh-CN" dirty="0" smtClean="0">
                <a:solidFill>
                  <a:srgbClr val="FFFF00"/>
                </a:solidFill>
              </a:rPr>
              <a:t>Green</a:t>
            </a:r>
          </a:p>
          <a:p>
            <a:r>
              <a:rPr lang="en-US" altLang="zh-CN" dirty="0" smtClean="0">
                <a:solidFill>
                  <a:schemeClr val="bg1"/>
                </a:solidFill>
              </a:rPr>
              <a:t>	</a:t>
            </a:r>
            <a:r>
              <a:rPr lang="zh-CN" altLang="en-US" dirty="0" smtClean="0">
                <a:solidFill>
                  <a:schemeClr val="bg1"/>
                </a:solidFill>
              </a:rPr>
              <a:t>所有</a:t>
            </a:r>
            <a:r>
              <a:rPr lang="zh-CN" altLang="en-US" dirty="0">
                <a:solidFill>
                  <a:schemeClr val="bg1"/>
                </a:solidFill>
              </a:rPr>
              <a:t>的主分片和副本分片都已分配。你的集群是 </a:t>
            </a:r>
            <a:r>
              <a:rPr lang="en-US" altLang="zh-CN" dirty="0">
                <a:solidFill>
                  <a:schemeClr val="bg1"/>
                </a:solidFill>
              </a:rPr>
              <a:t>100% </a:t>
            </a:r>
            <a:r>
              <a:rPr lang="zh-CN" altLang="en-US" dirty="0">
                <a:solidFill>
                  <a:schemeClr val="bg1"/>
                </a:solidFill>
              </a:rPr>
              <a:t>可用的</a:t>
            </a:r>
            <a:r>
              <a:rPr lang="zh-CN" altLang="en-US" dirty="0" smtClean="0">
                <a:solidFill>
                  <a:schemeClr val="bg1"/>
                </a:solidFill>
              </a:rPr>
              <a:t>。</a:t>
            </a:r>
            <a:endParaRPr lang="en-US" altLang="zh-CN" dirty="0" smtClean="0">
              <a:solidFill>
                <a:schemeClr val="bg1"/>
              </a:solidFill>
            </a:endParaRPr>
          </a:p>
          <a:p>
            <a:pPr marL="285750" indent="-285750">
              <a:buFont typeface="Wingdings" pitchFamily="2" charset="2"/>
              <a:buChar char="n"/>
            </a:pPr>
            <a:r>
              <a:rPr lang="en-US" altLang="zh-CN" dirty="0" smtClean="0">
                <a:solidFill>
                  <a:srgbClr val="FFFF00"/>
                </a:solidFill>
              </a:rPr>
              <a:t>Yellow</a:t>
            </a:r>
          </a:p>
          <a:p>
            <a:r>
              <a:rPr lang="en-US" altLang="zh-CN" dirty="0" smtClean="0">
                <a:solidFill>
                  <a:schemeClr val="bg1"/>
                </a:solidFill>
              </a:rPr>
              <a:t>	</a:t>
            </a:r>
            <a:r>
              <a:rPr lang="zh-CN" altLang="en-US" dirty="0" smtClean="0">
                <a:solidFill>
                  <a:schemeClr val="bg1"/>
                </a:solidFill>
              </a:rPr>
              <a:t>所有</a:t>
            </a:r>
            <a:r>
              <a:rPr lang="zh-CN" altLang="en-US" dirty="0">
                <a:solidFill>
                  <a:schemeClr val="bg1"/>
                </a:solidFill>
              </a:rPr>
              <a:t>的主分片已经分片了，但至少还有一个副本是缺失的</a:t>
            </a:r>
            <a:r>
              <a:rPr lang="zh-CN" altLang="en-US" dirty="0" smtClean="0">
                <a:solidFill>
                  <a:schemeClr val="bg1"/>
                </a:solidFill>
              </a:rPr>
              <a:t>。</a:t>
            </a:r>
            <a:endParaRPr lang="en-US" altLang="zh-CN" dirty="0" smtClean="0">
              <a:solidFill>
                <a:schemeClr val="bg1"/>
              </a:solidFill>
            </a:endParaRPr>
          </a:p>
          <a:p>
            <a:r>
              <a:rPr lang="en-US" altLang="zh-CN" dirty="0" smtClean="0">
                <a:solidFill>
                  <a:schemeClr val="bg1"/>
                </a:solidFill>
              </a:rPr>
              <a:t>	</a:t>
            </a:r>
            <a:r>
              <a:rPr lang="zh-CN" altLang="en-US" dirty="0" smtClean="0">
                <a:solidFill>
                  <a:schemeClr val="bg1"/>
                </a:solidFill>
              </a:rPr>
              <a:t>不会</a:t>
            </a:r>
            <a:r>
              <a:rPr lang="zh-CN" altLang="en-US" dirty="0">
                <a:solidFill>
                  <a:schemeClr val="bg1"/>
                </a:solidFill>
              </a:rPr>
              <a:t>有数据丢失</a:t>
            </a:r>
            <a:r>
              <a:rPr lang="zh-CN" altLang="en-US" dirty="0" smtClean="0">
                <a:solidFill>
                  <a:schemeClr val="bg1"/>
                </a:solidFill>
              </a:rPr>
              <a:t>，所以</a:t>
            </a:r>
            <a:r>
              <a:rPr lang="zh-CN" altLang="en-US" dirty="0">
                <a:solidFill>
                  <a:schemeClr val="bg1"/>
                </a:solidFill>
              </a:rPr>
              <a:t>搜索结果依然是完整的。不过，你的高可用性</a:t>
            </a:r>
            <a:r>
              <a:rPr lang="zh-CN" altLang="en-US" dirty="0" smtClean="0">
                <a:solidFill>
                  <a:schemeClr val="bg1"/>
                </a:solidFill>
              </a:rPr>
              <a:t>在</a:t>
            </a:r>
            <a:endParaRPr lang="en-US" altLang="zh-CN" dirty="0" smtClean="0">
              <a:solidFill>
                <a:schemeClr val="bg1"/>
              </a:solidFill>
            </a:endParaRPr>
          </a:p>
          <a:p>
            <a:r>
              <a:rPr lang="en-US" altLang="zh-CN" dirty="0" smtClean="0">
                <a:solidFill>
                  <a:schemeClr val="bg1"/>
                </a:solidFill>
              </a:rPr>
              <a:t>	</a:t>
            </a:r>
            <a:r>
              <a:rPr lang="zh-CN" altLang="en-US" dirty="0" smtClean="0">
                <a:solidFill>
                  <a:schemeClr val="bg1"/>
                </a:solidFill>
              </a:rPr>
              <a:t>某种程度</a:t>
            </a:r>
            <a:r>
              <a:rPr lang="zh-CN" altLang="en-US" dirty="0">
                <a:solidFill>
                  <a:schemeClr val="bg1"/>
                </a:solidFill>
              </a:rPr>
              <a:t>上被</a:t>
            </a:r>
            <a:r>
              <a:rPr lang="zh-CN" altLang="en-US" dirty="0" smtClean="0">
                <a:solidFill>
                  <a:schemeClr val="bg1"/>
                </a:solidFill>
              </a:rPr>
              <a:t>弱化</a:t>
            </a:r>
            <a:r>
              <a:rPr lang="zh-CN" altLang="en-US" dirty="0">
                <a:solidFill>
                  <a:schemeClr val="bg1"/>
                </a:solidFill>
              </a:rPr>
              <a:t>。</a:t>
            </a:r>
            <a:r>
              <a:rPr lang="zh-CN" altLang="en-US" dirty="0" smtClean="0">
                <a:solidFill>
                  <a:schemeClr val="bg1"/>
                </a:solidFill>
              </a:rPr>
              <a:t>如果</a:t>
            </a:r>
            <a:r>
              <a:rPr lang="zh-CN" altLang="en-US" dirty="0">
                <a:solidFill>
                  <a:schemeClr val="bg1"/>
                </a:solidFill>
              </a:rPr>
              <a:t> </a:t>
            </a:r>
            <a:r>
              <a:rPr lang="zh-CN" altLang="en-US" i="1" dirty="0">
                <a:solidFill>
                  <a:schemeClr val="bg1"/>
                </a:solidFill>
              </a:rPr>
              <a:t>更多的</a:t>
            </a:r>
            <a:r>
              <a:rPr lang="zh-CN" altLang="en-US" dirty="0">
                <a:solidFill>
                  <a:schemeClr val="bg1"/>
                </a:solidFill>
              </a:rPr>
              <a:t> 分片消失，你就会丢数据了</a:t>
            </a:r>
            <a:r>
              <a:rPr lang="zh-CN" altLang="en-US" dirty="0" smtClean="0">
                <a:solidFill>
                  <a:schemeClr val="bg1"/>
                </a:solidFill>
              </a:rPr>
              <a:t>。</a:t>
            </a:r>
            <a:endParaRPr lang="en-US" altLang="zh-CN" dirty="0" smtClean="0">
              <a:solidFill>
                <a:schemeClr val="bg1"/>
              </a:solidFill>
            </a:endParaRPr>
          </a:p>
          <a:p>
            <a:r>
              <a:rPr lang="en-US" altLang="zh-CN" dirty="0">
                <a:solidFill>
                  <a:schemeClr val="bg1"/>
                </a:solidFill>
              </a:rPr>
              <a:t>	</a:t>
            </a:r>
            <a:r>
              <a:rPr lang="zh-CN" altLang="en-US" dirty="0" smtClean="0">
                <a:solidFill>
                  <a:schemeClr val="bg1"/>
                </a:solidFill>
              </a:rPr>
              <a:t>把</a:t>
            </a:r>
            <a:r>
              <a:rPr lang="zh-CN" altLang="en-US" dirty="0">
                <a:solidFill>
                  <a:schemeClr val="bg1"/>
                </a:solidFill>
              </a:rPr>
              <a:t> </a:t>
            </a:r>
            <a:r>
              <a:rPr lang="en-US" altLang="zh-CN" dirty="0">
                <a:solidFill>
                  <a:schemeClr val="bg1"/>
                </a:solidFill>
              </a:rPr>
              <a:t>yellow </a:t>
            </a:r>
            <a:r>
              <a:rPr lang="zh-CN" altLang="en-US" dirty="0">
                <a:solidFill>
                  <a:schemeClr val="bg1"/>
                </a:solidFill>
              </a:rPr>
              <a:t>想象成一个需要及时调查的警告</a:t>
            </a:r>
            <a:r>
              <a:rPr lang="zh-CN" altLang="en-US" dirty="0" smtClean="0">
                <a:solidFill>
                  <a:schemeClr val="bg1"/>
                </a:solidFill>
              </a:rPr>
              <a:t>。</a:t>
            </a:r>
            <a:endParaRPr lang="en-US" altLang="zh-CN" dirty="0" smtClean="0">
              <a:solidFill>
                <a:schemeClr val="bg1"/>
              </a:solidFill>
            </a:endParaRPr>
          </a:p>
          <a:p>
            <a:pPr marL="285750" indent="-285750">
              <a:buFont typeface="Wingdings" pitchFamily="2" charset="2"/>
              <a:buChar char="n"/>
            </a:pPr>
            <a:r>
              <a:rPr lang="en-US" altLang="zh-CN" dirty="0" smtClean="0">
                <a:solidFill>
                  <a:srgbClr val="FFFF00"/>
                </a:solidFill>
              </a:rPr>
              <a:t>Red</a:t>
            </a:r>
          </a:p>
          <a:p>
            <a:r>
              <a:rPr lang="en-US" altLang="zh-CN" dirty="0" smtClean="0">
                <a:solidFill>
                  <a:schemeClr val="bg1"/>
                </a:solidFill>
              </a:rPr>
              <a:t>	</a:t>
            </a:r>
            <a:r>
              <a:rPr lang="zh-CN" altLang="en-US" dirty="0" smtClean="0">
                <a:solidFill>
                  <a:schemeClr val="bg1"/>
                </a:solidFill>
              </a:rPr>
              <a:t>至少</a:t>
            </a:r>
            <a:r>
              <a:rPr lang="zh-CN" altLang="en-US" dirty="0">
                <a:solidFill>
                  <a:schemeClr val="bg1"/>
                </a:solidFill>
              </a:rPr>
              <a:t>一个主分片（以及它的全部副本）都在缺失中</a:t>
            </a:r>
            <a:r>
              <a:rPr lang="zh-CN" altLang="en-US" dirty="0" smtClean="0">
                <a:solidFill>
                  <a:schemeClr val="bg1"/>
                </a:solidFill>
              </a:rPr>
              <a:t>。</a:t>
            </a:r>
            <a:endParaRPr lang="en-US" altLang="zh-CN" dirty="0" smtClean="0">
              <a:solidFill>
                <a:schemeClr val="bg1"/>
              </a:solidFill>
            </a:endParaRPr>
          </a:p>
          <a:p>
            <a:r>
              <a:rPr lang="en-US" altLang="zh-CN" dirty="0" smtClean="0">
                <a:solidFill>
                  <a:schemeClr val="bg1"/>
                </a:solidFill>
              </a:rPr>
              <a:t>	</a:t>
            </a:r>
            <a:r>
              <a:rPr lang="zh-CN" altLang="en-US" dirty="0" smtClean="0">
                <a:solidFill>
                  <a:schemeClr val="bg1"/>
                </a:solidFill>
              </a:rPr>
              <a:t>这</a:t>
            </a:r>
            <a:r>
              <a:rPr lang="zh-CN" altLang="en-US" dirty="0">
                <a:solidFill>
                  <a:schemeClr val="bg1"/>
                </a:solidFill>
              </a:rPr>
              <a:t>意味着你在缺少数据：搜索只能返回部分数据，而分配到这个分片</a:t>
            </a:r>
            <a:r>
              <a:rPr lang="zh-CN" altLang="en-US" dirty="0" smtClean="0">
                <a:solidFill>
                  <a:schemeClr val="bg1"/>
                </a:solidFill>
              </a:rPr>
              <a:t>上</a:t>
            </a:r>
            <a:endParaRPr lang="en-US" altLang="zh-CN" dirty="0" smtClean="0">
              <a:solidFill>
                <a:schemeClr val="bg1"/>
              </a:solidFill>
            </a:endParaRPr>
          </a:p>
          <a:p>
            <a:r>
              <a:rPr lang="en-US" altLang="zh-CN" dirty="0" smtClean="0">
                <a:solidFill>
                  <a:schemeClr val="bg1"/>
                </a:solidFill>
              </a:rPr>
              <a:t>	</a:t>
            </a:r>
            <a:r>
              <a:rPr lang="zh-CN" altLang="en-US" dirty="0" smtClean="0">
                <a:solidFill>
                  <a:schemeClr val="bg1"/>
                </a:solidFill>
              </a:rPr>
              <a:t>的写入请求</a:t>
            </a:r>
            <a:r>
              <a:rPr lang="zh-CN" altLang="en-US" dirty="0">
                <a:solidFill>
                  <a:schemeClr val="bg1"/>
                </a:solidFill>
              </a:rPr>
              <a:t>会返回一个异常。</a:t>
            </a:r>
            <a:r>
              <a:rPr lang="en-US" altLang="zh-CN" dirty="0">
                <a:solidFill>
                  <a:schemeClr val="bg1"/>
                </a:solidFill>
              </a:rPr>
              <a:t> </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288731405"/>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4108817" cy="4247317"/>
          </a:xfrm>
          <a:prstGeom prst="rect">
            <a:avLst/>
          </a:prstGeom>
          <a:noFill/>
        </p:spPr>
        <p:txBody>
          <a:bodyPr wrap="none" rtlCol="0">
            <a:spAutoFit/>
          </a:bodyPr>
          <a:lstStyle/>
          <a:p>
            <a:r>
              <a:rPr lang="zh-CN" altLang="en-US" b="1" dirty="0" smtClean="0">
                <a:solidFill>
                  <a:schemeClr val="bg1"/>
                </a:solidFill>
              </a:rPr>
              <a:t>监控单个节点</a:t>
            </a:r>
            <a:endParaRPr lang="en-US" altLang="zh-CN" b="1" dirty="0" smtClean="0">
              <a:solidFill>
                <a:schemeClr val="bg1"/>
              </a:solidFill>
            </a:endParaRPr>
          </a:p>
          <a:p>
            <a:endParaRPr lang="en-US" altLang="zh-CN" b="1" dirty="0" smtClean="0">
              <a:solidFill>
                <a:schemeClr val="bg1"/>
              </a:solidFill>
            </a:endParaRPr>
          </a:p>
          <a:p>
            <a:r>
              <a:rPr lang="en-US" altLang="zh-CN" b="1" dirty="0">
                <a:solidFill>
                  <a:schemeClr val="bg1"/>
                </a:solidFill>
                <a:hlinkClick r:id="rId3"/>
              </a:rPr>
              <a:t>http://10.16.74.58:9200/_</a:t>
            </a:r>
            <a:r>
              <a:rPr lang="en-US" altLang="zh-CN" b="1" dirty="0" smtClean="0">
                <a:solidFill>
                  <a:schemeClr val="bg1"/>
                </a:solidFill>
                <a:hlinkClick r:id="rId3"/>
              </a:rPr>
              <a:t>nodes/stats</a:t>
            </a:r>
            <a:endParaRPr lang="en-US" altLang="zh-CN" b="1" dirty="0" smtClean="0">
              <a:solidFill>
                <a:schemeClr val="bg1"/>
              </a:solidFill>
            </a:endParaRPr>
          </a:p>
          <a:p>
            <a:endParaRPr lang="en-US" altLang="zh-CN" b="1"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3789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5124" y="3069005"/>
            <a:ext cx="7411856" cy="2533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228889218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4249881" cy="5078313"/>
          </a:xfrm>
          <a:prstGeom prst="rect">
            <a:avLst/>
          </a:prstGeom>
          <a:noFill/>
        </p:spPr>
        <p:txBody>
          <a:bodyPr wrap="none" rtlCol="0">
            <a:spAutoFit/>
          </a:bodyPr>
          <a:lstStyle/>
          <a:p>
            <a:r>
              <a:rPr lang="zh-CN" altLang="en-US" b="1" dirty="0" smtClean="0">
                <a:solidFill>
                  <a:schemeClr val="bg1"/>
                </a:solidFill>
              </a:rPr>
              <a:t>监控单个节点</a:t>
            </a:r>
            <a:endParaRPr lang="en-US" altLang="zh-CN" b="1" dirty="0" smtClean="0">
              <a:solidFill>
                <a:schemeClr val="bg1"/>
              </a:solidFill>
            </a:endParaRPr>
          </a:p>
          <a:p>
            <a:endParaRPr lang="en-US" altLang="zh-CN" b="1" dirty="0" smtClean="0">
              <a:solidFill>
                <a:schemeClr val="bg1"/>
              </a:solidFill>
            </a:endParaRPr>
          </a:p>
          <a:p>
            <a:r>
              <a:rPr lang="en-US" altLang="zh-CN" b="1" dirty="0">
                <a:solidFill>
                  <a:schemeClr val="bg1"/>
                </a:solidFill>
                <a:hlinkClick r:id="rId3"/>
              </a:rPr>
              <a:t>http://10.16.74.58:9200/_cluster/stats</a:t>
            </a:r>
            <a:r>
              <a:rPr lang="en-US" altLang="zh-CN" b="1" dirty="0" smtClean="0">
                <a:solidFill>
                  <a:schemeClr val="bg1"/>
                </a:solidFill>
                <a:hlinkClick r:id="rId3"/>
              </a:rPr>
              <a:t>/</a:t>
            </a:r>
            <a:endParaRPr lang="en-US" altLang="zh-CN" b="1" dirty="0" smtClean="0">
              <a:solidFill>
                <a:schemeClr val="bg1"/>
              </a:solidFill>
            </a:endParaRPr>
          </a:p>
          <a:p>
            <a:r>
              <a:rPr lang="zh-CN" altLang="en-US" b="1" smtClean="0">
                <a:solidFill>
                  <a:schemeClr val="bg1"/>
                </a:solidFill>
              </a:rPr>
              <a:t>集群统计</a:t>
            </a:r>
            <a:endParaRPr lang="en-US" altLang="zh-CN" b="1" dirty="0" smtClean="0">
              <a:solidFill>
                <a:schemeClr val="bg1"/>
              </a:solidFill>
            </a:endParaRPr>
          </a:p>
          <a:p>
            <a:r>
              <a:rPr lang="en-US" altLang="zh-CN" b="1" dirty="0">
                <a:solidFill>
                  <a:schemeClr val="bg1"/>
                </a:solidFill>
                <a:hlinkClick r:id="rId4"/>
              </a:rPr>
              <a:t>http://10.16.74.58:9200/_all/_stats</a:t>
            </a:r>
            <a:r>
              <a:rPr lang="en-US" altLang="zh-CN" b="1" dirty="0" smtClean="0">
                <a:solidFill>
                  <a:schemeClr val="bg1"/>
                </a:solidFill>
                <a:hlinkClick r:id="rId4"/>
              </a:rPr>
              <a:t>/</a:t>
            </a:r>
            <a:endParaRPr lang="en-US" altLang="zh-CN" b="1" dirty="0" smtClean="0">
              <a:solidFill>
                <a:schemeClr val="bg1"/>
              </a:solidFill>
            </a:endParaRPr>
          </a:p>
          <a:p>
            <a:r>
              <a:rPr lang="zh-CN" altLang="en-US" b="1" dirty="0" smtClean="0">
                <a:solidFill>
                  <a:schemeClr val="bg1"/>
                </a:solidFill>
              </a:rPr>
              <a:t>索引统计</a:t>
            </a:r>
            <a:endParaRPr lang="en-US" altLang="zh-CN" b="1" dirty="0" smtClean="0">
              <a:solidFill>
                <a:schemeClr val="bg1"/>
              </a:solidFill>
            </a:endParaRPr>
          </a:p>
          <a:p>
            <a:endParaRPr lang="en-US" altLang="zh-CN" b="1"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38603347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6143670" cy="4524315"/>
          </a:xfrm>
          <a:prstGeom prst="rect">
            <a:avLst/>
          </a:prstGeom>
          <a:noFill/>
        </p:spPr>
        <p:txBody>
          <a:bodyPr wrap="none" rtlCol="0">
            <a:spAutoFit/>
          </a:bodyPr>
          <a:lstStyle/>
          <a:p>
            <a:r>
              <a:rPr lang="zh-CN" altLang="en-US" dirty="0" smtClean="0">
                <a:solidFill>
                  <a:schemeClr val="bg1"/>
                </a:solidFill>
              </a:rPr>
              <a:t>监控单个节点</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r>
              <a:rPr lang="en-US" altLang="zh-CN" dirty="0" smtClean="0">
                <a:solidFill>
                  <a:schemeClr val="bg1"/>
                </a:solidFill>
              </a:rPr>
              <a:t>curl </a:t>
            </a:r>
            <a:r>
              <a:rPr lang="en-US" altLang="zh-CN" dirty="0">
                <a:solidFill>
                  <a:schemeClr val="bg1"/>
                </a:solidFill>
              </a:rPr>
              <a:t>-XGET </a:t>
            </a:r>
            <a:r>
              <a:rPr lang="en-US" altLang="zh-CN" dirty="0" smtClean="0">
                <a:solidFill>
                  <a:schemeClr val="bg1"/>
                </a:solidFill>
              </a:rPr>
              <a:t>"</a:t>
            </a:r>
            <a:r>
              <a:rPr lang="en-US" altLang="zh-CN" dirty="0" smtClean="0">
                <a:solidFill>
                  <a:schemeClr val="bg1"/>
                </a:solidFill>
                <a:hlinkClick r:id="rId4"/>
              </a:rPr>
              <a:t>http</a:t>
            </a:r>
            <a:r>
              <a:rPr lang="en-US" altLang="zh-CN" dirty="0">
                <a:solidFill>
                  <a:schemeClr val="bg1"/>
                </a:solidFill>
                <a:hlinkClick r:id="rId4"/>
              </a:rPr>
              <a:t>://10.16.74.59:9200/_</a:t>
            </a:r>
            <a:r>
              <a:rPr lang="en-US" altLang="zh-CN" dirty="0" smtClean="0">
                <a:solidFill>
                  <a:schemeClr val="bg1"/>
                </a:solidFill>
                <a:hlinkClick r:id="rId4"/>
              </a:rPr>
              <a:t>nodes/</a:t>
            </a:r>
            <a:r>
              <a:rPr lang="en-US" altLang="zh-CN" dirty="0" err="1" smtClean="0">
                <a:solidFill>
                  <a:schemeClr val="bg1"/>
                </a:solidFill>
                <a:hlinkClick r:id="rId4"/>
              </a:rPr>
              <a:t>stats?pretty</a:t>
            </a:r>
            <a:r>
              <a:rPr lang="en-US" altLang="zh-CN" dirty="0" smtClean="0">
                <a:solidFill>
                  <a:schemeClr val="bg1"/>
                </a:solidFill>
              </a:rPr>
              <a:t>"</a:t>
            </a:r>
          </a:p>
          <a:p>
            <a:r>
              <a:rPr lang="en-US" altLang="zh-CN" dirty="0">
                <a:solidFill>
                  <a:schemeClr val="bg1"/>
                </a:solidFill>
              </a:rPr>
              <a:t>curl -XGET "http://10.16.74.59:9200/_cluster/</a:t>
            </a:r>
            <a:r>
              <a:rPr lang="en-US" altLang="zh-CN" dirty="0" err="1">
                <a:solidFill>
                  <a:schemeClr val="bg1"/>
                </a:solidFill>
              </a:rPr>
              <a:t>stats?pretty</a:t>
            </a:r>
            <a:r>
              <a:rPr lang="en-US" altLang="zh-CN" dirty="0">
                <a:solidFill>
                  <a:schemeClr val="bg1"/>
                </a:solidFill>
              </a:rPr>
              <a:t>"</a:t>
            </a:r>
            <a:endParaRPr lang="en-US" altLang="zh-CN" dirty="0" smtClean="0">
              <a:solidFill>
                <a:schemeClr val="bg1"/>
              </a:solidFill>
            </a:endParaRPr>
          </a:p>
        </p:txBody>
      </p:sp>
      <p:pic>
        <p:nvPicPr>
          <p:cNvPr id="2969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3914" y="1847850"/>
            <a:ext cx="3701020" cy="3817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 name="对象 1"/>
          <p:cNvGraphicFramePr>
            <a:graphicFrameLocks noChangeAspect="1"/>
          </p:cNvGraphicFramePr>
          <p:nvPr>
            <p:extLst>
              <p:ext uri="{D42A27DB-BD31-4B8C-83A1-F6EECF244321}">
                <p14:modId xmlns:p14="http://schemas.microsoft.com/office/powerpoint/2010/main" val="3652436797"/>
              </p:ext>
            </p:extLst>
          </p:nvPr>
        </p:nvGraphicFramePr>
        <p:xfrm>
          <a:off x="1076325" y="4110007"/>
          <a:ext cx="1625600" cy="711200"/>
        </p:xfrm>
        <a:graphic>
          <a:graphicData uri="http://schemas.openxmlformats.org/presentationml/2006/ole">
            <mc:AlternateContent xmlns:mc="http://schemas.openxmlformats.org/markup-compatibility/2006">
              <mc:Choice xmlns:v="urn:schemas-microsoft-com:vml" Requires="v">
                <p:oleObj spid="_x0000_s39542" name="包装程序外壳对象" showAsIcon="1" r:id="rId6" imgW="1626120" imgH="711360" progId="Package">
                  <p:embed/>
                </p:oleObj>
              </mc:Choice>
              <mc:Fallback>
                <p:oleObj name="包装程序外壳对象" showAsIcon="1" r:id="rId6" imgW="1626120" imgH="711360" progId="Package">
                  <p:embed/>
                  <p:pic>
                    <p:nvPicPr>
                      <p:cNvPr id="0" name=""/>
                      <p:cNvPicPr/>
                      <p:nvPr/>
                    </p:nvPicPr>
                    <p:blipFill>
                      <a:blip r:embed="rId7"/>
                      <a:stretch>
                        <a:fillRect/>
                      </a:stretch>
                    </p:blipFill>
                    <p:spPr>
                      <a:xfrm>
                        <a:off x="1076325" y="4110007"/>
                        <a:ext cx="1625600" cy="711200"/>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894494095"/>
              </p:ext>
            </p:extLst>
          </p:nvPr>
        </p:nvGraphicFramePr>
        <p:xfrm>
          <a:off x="1037431" y="2637011"/>
          <a:ext cx="1600200" cy="711200"/>
        </p:xfrm>
        <a:graphic>
          <a:graphicData uri="http://schemas.openxmlformats.org/presentationml/2006/ole">
            <mc:AlternateContent xmlns:mc="http://schemas.openxmlformats.org/markup-compatibility/2006">
              <mc:Choice xmlns:v="urn:schemas-microsoft-com:vml" Requires="v">
                <p:oleObj spid="_x0000_s39543" name="包装程序外壳对象" showAsIcon="1" r:id="rId8" imgW="1600560" imgH="711360" progId="Package">
                  <p:embed/>
                </p:oleObj>
              </mc:Choice>
              <mc:Fallback>
                <p:oleObj name="包装程序外壳对象" showAsIcon="1" r:id="rId8" imgW="1600560" imgH="711360" progId="Package">
                  <p:embed/>
                  <p:pic>
                    <p:nvPicPr>
                      <p:cNvPr id="0" name=""/>
                      <p:cNvPicPr/>
                      <p:nvPr/>
                    </p:nvPicPr>
                    <p:blipFill>
                      <a:blip r:embed="rId9"/>
                      <a:stretch>
                        <a:fillRect/>
                      </a:stretch>
                    </p:blipFill>
                    <p:spPr>
                      <a:xfrm>
                        <a:off x="1037431" y="2637011"/>
                        <a:ext cx="1600200" cy="711200"/>
                      </a:xfrm>
                      <a:prstGeom prst="rect">
                        <a:avLst/>
                      </a:prstGeom>
                    </p:spPr>
                  </p:pic>
                </p:oleObj>
              </mc:Fallback>
            </mc:AlternateContent>
          </a:graphicData>
        </a:graphic>
      </p:graphicFrame>
      <p:pic>
        <p:nvPicPr>
          <p:cNvPr id="11" name="Picture 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6191992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184731" cy="2585323"/>
          </a:xfrm>
          <a:prstGeom prst="rect">
            <a:avLst/>
          </a:prstGeom>
          <a:noFill/>
        </p:spPr>
        <p:txBody>
          <a:bodyPr wrap="none" rtlCol="0">
            <a:spAutoFit/>
          </a:bodyPr>
          <a:lstStyle/>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sp>
        <p:nvSpPr>
          <p:cNvPr id="2" name="TextBox 1"/>
          <p:cNvSpPr txBox="1"/>
          <p:nvPr/>
        </p:nvSpPr>
        <p:spPr>
          <a:xfrm>
            <a:off x="894788" y="1847850"/>
            <a:ext cx="6578835" cy="2308324"/>
          </a:xfrm>
          <a:prstGeom prst="rect">
            <a:avLst/>
          </a:prstGeom>
          <a:noFill/>
        </p:spPr>
        <p:txBody>
          <a:bodyPr wrap="square" rtlCol="0">
            <a:spAutoFit/>
          </a:bodyPr>
          <a:lstStyle/>
          <a:p>
            <a:r>
              <a:rPr lang="en-US" altLang="zh-CN" dirty="0" smtClean="0">
                <a:solidFill>
                  <a:schemeClr val="bg1"/>
                </a:solidFill>
              </a:rPr>
              <a:t>Elasticsearch</a:t>
            </a:r>
            <a:r>
              <a:rPr lang="zh-CN" altLang="en-US" dirty="0" smtClean="0">
                <a:solidFill>
                  <a:schemeClr val="bg1"/>
                </a:solidFill>
              </a:rPr>
              <a:t>可视化插件</a:t>
            </a:r>
            <a:r>
              <a:rPr lang="en-US" altLang="zh-CN" dirty="0">
                <a:solidFill>
                  <a:schemeClr val="bg1"/>
                </a:solidFill>
              </a:rPr>
              <a:t>——</a:t>
            </a:r>
            <a:r>
              <a:rPr lang="en-US" altLang="zh-CN" dirty="0" err="1">
                <a:solidFill>
                  <a:schemeClr val="bg1"/>
                </a:solidFill>
              </a:rPr>
              <a:t>elasticsearch</a:t>
            </a:r>
            <a:r>
              <a:rPr lang="en-US" altLang="zh-CN" dirty="0">
                <a:solidFill>
                  <a:schemeClr val="bg1"/>
                </a:solidFill>
              </a:rPr>
              <a:t>-head</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zh-CN" altLang="en-US" dirty="0">
              <a:solidFill>
                <a:schemeClr val="bg1"/>
              </a:solidFill>
            </a:endParaRPr>
          </a:p>
        </p:txBody>
      </p:sp>
      <p:pic>
        <p:nvPicPr>
          <p:cNvPr id="31821" name="Picture 7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884" y="2680760"/>
            <a:ext cx="7691503" cy="2940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13"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Tree>
    <p:extLst>
      <p:ext uri="{BB962C8B-B14F-4D97-AF65-F5344CB8AC3E}">
        <p14:creationId xmlns:p14="http://schemas.microsoft.com/office/powerpoint/2010/main" val="127928766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184731" cy="2585323"/>
          </a:xfrm>
          <a:prstGeom prst="rect">
            <a:avLst/>
          </a:prstGeom>
          <a:noFill/>
        </p:spPr>
        <p:txBody>
          <a:bodyPr wrap="none" rtlCol="0">
            <a:spAutoFit/>
          </a:bodyPr>
          <a:lstStyle/>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sp>
        <p:nvSpPr>
          <p:cNvPr id="2" name="TextBox 1"/>
          <p:cNvSpPr txBox="1"/>
          <p:nvPr/>
        </p:nvSpPr>
        <p:spPr>
          <a:xfrm>
            <a:off x="894788" y="1847850"/>
            <a:ext cx="6578835" cy="2308324"/>
          </a:xfrm>
          <a:prstGeom prst="rect">
            <a:avLst/>
          </a:prstGeom>
          <a:noFill/>
        </p:spPr>
        <p:txBody>
          <a:bodyPr wrap="square" rtlCol="0">
            <a:spAutoFit/>
          </a:bodyPr>
          <a:lstStyle/>
          <a:p>
            <a:r>
              <a:rPr lang="en-US" altLang="zh-CN" dirty="0" smtClean="0">
                <a:solidFill>
                  <a:schemeClr val="bg1"/>
                </a:solidFill>
              </a:rPr>
              <a:t>Elasticsearch</a:t>
            </a:r>
            <a:r>
              <a:rPr lang="zh-CN" altLang="en-US" dirty="0">
                <a:solidFill>
                  <a:schemeClr val="bg1"/>
                </a:solidFill>
              </a:rPr>
              <a:t>监控</a:t>
            </a:r>
            <a:r>
              <a:rPr lang="zh-CN" altLang="en-US" dirty="0" smtClean="0">
                <a:solidFill>
                  <a:schemeClr val="bg1"/>
                </a:solidFill>
              </a:rPr>
              <a:t>插件</a:t>
            </a:r>
            <a:r>
              <a:rPr lang="en-US" altLang="zh-CN" dirty="0" smtClean="0">
                <a:solidFill>
                  <a:schemeClr val="bg1"/>
                </a:solidFill>
              </a:rPr>
              <a:t>——Marvel</a:t>
            </a: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zh-CN" altLang="en-US" dirty="0">
              <a:solidFill>
                <a:schemeClr val="bg1"/>
              </a:solidFill>
            </a:endParaRPr>
          </a:p>
        </p:txBody>
      </p:sp>
      <p:pic>
        <p:nvPicPr>
          <p:cNvPr id="35842" name="Picture 2" descr="http://img.blog.csdn.net/20160708182249814?watermark/2/text/aHR0cDovL2Jsb2cuY3Nkbi5uZXQv/font/5a6L5L2T/fontsize/400/fill/I0JBQkFCMA==/dissolve/70/gravity/Cent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2401275"/>
            <a:ext cx="5758832" cy="387904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12"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Tree>
    <p:extLst>
      <p:ext uri="{BB962C8B-B14F-4D97-AF65-F5344CB8AC3E}">
        <p14:creationId xmlns:p14="http://schemas.microsoft.com/office/powerpoint/2010/main" val="176698966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184731" cy="2585323"/>
          </a:xfrm>
          <a:prstGeom prst="rect">
            <a:avLst/>
          </a:prstGeom>
          <a:noFill/>
        </p:spPr>
        <p:txBody>
          <a:bodyPr wrap="none" rtlCol="0">
            <a:spAutoFit/>
          </a:bodyPr>
          <a:lstStyle/>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sp>
        <p:nvSpPr>
          <p:cNvPr id="2" name="TextBox 1"/>
          <p:cNvSpPr txBox="1"/>
          <p:nvPr/>
        </p:nvSpPr>
        <p:spPr>
          <a:xfrm>
            <a:off x="894788" y="1847850"/>
            <a:ext cx="6578835" cy="3693319"/>
          </a:xfrm>
          <a:prstGeom prst="rect">
            <a:avLst/>
          </a:prstGeom>
          <a:noFill/>
        </p:spPr>
        <p:txBody>
          <a:bodyPr wrap="square" rtlCol="0">
            <a:spAutoFit/>
          </a:bodyPr>
          <a:lstStyle/>
          <a:p>
            <a:r>
              <a:rPr lang="en-US" altLang="zh-CN" dirty="0" smtClean="0">
                <a:solidFill>
                  <a:schemeClr val="bg1"/>
                </a:solidFill>
              </a:rPr>
              <a:t>Elasticsearch Java API</a:t>
            </a:r>
          </a:p>
          <a:p>
            <a:endParaRPr lang="en-US" altLang="zh-CN" dirty="0" smtClean="0">
              <a:solidFill>
                <a:schemeClr val="bg1"/>
              </a:solidFill>
            </a:endParaRPr>
          </a:p>
          <a:p>
            <a:endParaRPr lang="en-US" altLang="zh-CN" dirty="0" smtClean="0">
              <a:solidFill>
                <a:schemeClr val="bg1"/>
              </a:solidFill>
            </a:endParaRPr>
          </a:p>
          <a:p>
            <a:r>
              <a:rPr lang="en-US" altLang="zh-CN" dirty="0" smtClean="0">
                <a:solidFill>
                  <a:schemeClr val="bg1"/>
                </a:solidFill>
              </a:rPr>
              <a:t>Maven</a:t>
            </a:r>
            <a:r>
              <a:rPr lang="zh-CN" altLang="en-US" dirty="0" smtClean="0">
                <a:solidFill>
                  <a:schemeClr val="bg1"/>
                </a:solidFill>
              </a:rPr>
              <a:t>依赖：</a:t>
            </a:r>
            <a:endParaRPr lang="en-US" altLang="zh-CN" dirty="0" smtClean="0">
              <a:solidFill>
                <a:schemeClr val="bg1"/>
              </a:solidFill>
            </a:endParaRPr>
          </a:p>
          <a:p>
            <a:r>
              <a:rPr lang="en-US" altLang="zh-CN" dirty="0" smtClean="0">
                <a:solidFill>
                  <a:schemeClr val="bg1"/>
                </a:solidFill>
              </a:rPr>
              <a:t>&lt;dependency&gt; </a:t>
            </a:r>
          </a:p>
          <a:p>
            <a:r>
              <a:rPr lang="en-US" altLang="zh-CN" dirty="0" smtClean="0">
                <a:solidFill>
                  <a:schemeClr val="bg1"/>
                </a:solidFill>
              </a:rPr>
              <a:t>&lt;</a:t>
            </a:r>
            <a:r>
              <a:rPr lang="en-US" altLang="zh-CN" dirty="0" err="1" smtClean="0">
                <a:solidFill>
                  <a:schemeClr val="bg1"/>
                </a:solidFill>
              </a:rPr>
              <a:t>groupId</a:t>
            </a:r>
            <a:r>
              <a:rPr lang="en-US" altLang="zh-CN" dirty="0" smtClean="0">
                <a:solidFill>
                  <a:schemeClr val="bg1"/>
                </a:solidFill>
              </a:rPr>
              <a:t>&gt;</a:t>
            </a:r>
            <a:r>
              <a:rPr lang="en-US" altLang="zh-CN" dirty="0" err="1" smtClean="0">
                <a:solidFill>
                  <a:schemeClr val="bg1"/>
                </a:solidFill>
              </a:rPr>
              <a:t>org.elasticsearch</a:t>
            </a:r>
            <a:r>
              <a:rPr lang="en-US" altLang="zh-CN" dirty="0" smtClean="0">
                <a:solidFill>
                  <a:schemeClr val="bg1"/>
                </a:solidFill>
              </a:rPr>
              <a:t>&lt;/</a:t>
            </a:r>
            <a:r>
              <a:rPr lang="en-US" altLang="zh-CN" dirty="0" err="1" smtClean="0">
                <a:solidFill>
                  <a:schemeClr val="bg1"/>
                </a:solidFill>
              </a:rPr>
              <a:t>groupId</a:t>
            </a:r>
            <a:r>
              <a:rPr lang="en-US" altLang="zh-CN" dirty="0" smtClean="0">
                <a:solidFill>
                  <a:schemeClr val="bg1"/>
                </a:solidFill>
              </a:rPr>
              <a:t>&gt; &lt;</a:t>
            </a:r>
            <a:r>
              <a:rPr lang="en-US" altLang="zh-CN" dirty="0" err="1" smtClean="0">
                <a:solidFill>
                  <a:schemeClr val="bg1"/>
                </a:solidFill>
              </a:rPr>
              <a:t>artifactId</a:t>
            </a:r>
            <a:r>
              <a:rPr lang="en-US" altLang="zh-CN" dirty="0" smtClean="0">
                <a:solidFill>
                  <a:schemeClr val="bg1"/>
                </a:solidFill>
              </a:rPr>
              <a:t>&gt;</a:t>
            </a:r>
            <a:r>
              <a:rPr lang="en-US" altLang="zh-CN" dirty="0" err="1" smtClean="0">
                <a:solidFill>
                  <a:schemeClr val="bg1"/>
                </a:solidFill>
              </a:rPr>
              <a:t>elasticsearch</a:t>
            </a:r>
            <a:r>
              <a:rPr lang="en-US" altLang="zh-CN" dirty="0" smtClean="0">
                <a:solidFill>
                  <a:schemeClr val="bg1"/>
                </a:solidFill>
              </a:rPr>
              <a:t>&lt;/</a:t>
            </a:r>
            <a:r>
              <a:rPr lang="en-US" altLang="zh-CN" dirty="0" err="1" smtClean="0">
                <a:solidFill>
                  <a:schemeClr val="bg1"/>
                </a:solidFill>
              </a:rPr>
              <a:t>artifactId</a:t>
            </a:r>
            <a:r>
              <a:rPr lang="en-US" altLang="zh-CN" dirty="0" smtClean="0">
                <a:solidFill>
                  <a:schemeClr val="bg1"/>
                </a:solidFill>
              </a:rPr>
              <a:t>&gt; &lt;version&gt;${</a:t>
            </a:r>
            <a:r>
              <a:rPr lang="en-US" altLang="zh-CN" dirty="0" err="1" smtClean="0">
                <a:solidFill>
                  <a:schemeClr val="bg1"/>
                </a:solidFill>
              </a:rPr>
              <a:t>es.version</a:t>
            </a:r>
            <a:r>
              <a:rPr lang="en-US" altLang="zh-CN" dirty="0" smtClean="0">
                <a:solidFill>
                  <a:schemeClr val="bg1"/>
                </a:solidFill>
              </a:rPr>
              <a:t>}&lt;/version&gt; </a:t>
            </a:r>
          </a:p>
          <a:p>
            <a:r>
              <a:rPr lang="en-US" altLang="zh-CN" dirty="0" smtClean="0">
                <a:solidFill>
                  <a:schemeClr val="bg1"/>
                </a:solidFill>
              </a:rPr>
              <a:t>&lt;/dependency&gt;</a:t>
            </a: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zh-CN" altLang="en-US" dirty="0">
              <a:solidFill>
                <a:schemeClr val="bg1"/>
              </a:solidFill>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4222704338"/>
              </p:ext>
            </p:extLst>
          </p:nvPr>
        </p:nvGraphicFramePr>
        <p:xfrm>
          <a:off x="1089606" y="5012978"/>
          <a:ext cx="2159000" cy="711200"/>
        </p:xfrm>
        <a:graphic>
          <a:graphicData uri="http://schemas.openxmlformats.org/presentationml/2006/ole">
            <mc:AlternateContent xmlns:mc="http://schemas.openxmlformats.org/markup-compatibility/2006">
              <mc:Choice xmlns:v="urn:schemas-microsoft-com:vml" Requires="v">
                <p:oleObj spid="_x0000_s38494" name="包装程序外壳对象" showAsIcon="1" r:id="rId4" imgW="2159640" imgH="711360" progId="Package">
                  <p:embed/>
                </p:oleObj>
              </mc:Choice>
              <mc:Fallback>
                <p:oleObj name="包装程序外壳对象" showAsIcon="1" r:id="rId4" imgW="2159640" imgH="711360" progId="Package">
                  <p:embed/>
                  <p:pic>
                    <p:nvPicPr>
                      <p:cNvPr id="0" name=""/>
                      <p:cNvPicPr/>
                      <p:nvPr/>
                    </p:nvPicPr>
                    <p:blipFill>
                      <a:blip r:embed="rId5"/>
                      <a:stretch>
                        <a:fillRect/>
                      </a:stretch>
                    </p:blipFill>
                    <p:spPr>
                      <a:xfrm>
                        <a:off x="1089606" y="5012978"/>
                        <a:ext cx="2159000" cy="711200"/>
                      </a:xfrm>
                      <a:prstGeom prst="rect">
                        <a:avLst/>
                      </a:prstGeom>
                    </p:spPr>
                  </p:pic>
                </p:oleObj>
              </mc:Fallback>
            </mc:AlternateContent>
          </a:graphicData>
        </a:graphic>
      </p:graphicFrame>
      <p:pic>
        <p:nvPicPr>
          <p:cNvPr id="11"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12"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Tree>
    <p:extLst>
      <p:ext uri="{BB962C8B-B14F-4D97-AF65-F5344CB8AC3E}">
        <p14:creationId xmlns:p14="http://schemas.microsoft.com/office/powerpoint/2010/main" val="1228580022"/>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应用场景</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184731" cy="2585323"/>
          </a:xfrm>
          <a:prstGeom prst="rect">
            <a:avLst/>
          </a:prstGeom>
          <a:noFill/>
        </p:spPr>
        <p:txBody>
          <a:bodyPr wrap="none" rtlCol="0">
            <a:spAutoFit/>
          </a:bodyPr>
          <a:lstStyle/>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sp>
        <p:nvSpPr>
          <p:cNvPr id="2" name="TextBox 1"/>
          <p:cNvSpPr txBox="1"/>
          <p:nvPr/>
        </p:nvSpPr>
        <p:spPr>
          <a:xfrm>
            <a:off x="900051" y="1847850"/>
            <a:ext cx="7611599" cy="3139321"/>
          </a:xfrm>
          <a:prstGeom prst="rect">
            <a:avLst/>
          </a:prstGeom>
          <a:noFill/>
        </p:spPr>
        <p:txBody>
          <a:bodyPr wrap="square" rtlCol="0">
            <a:spAutoFit/>
          </a:bodyPr>
          <a:lstStyle/>
          <a:p>
            <a:r>
              <a:rPr lang="en-US" altLang="zh-CN" dirty="0" smtClean="0">
                <a:solidFill>
                  <a:schemeClr val="bg1"/>
                </a:solidFill>
              </a:rPr>
              <a:t>MySQL</a:t>
            </a:r>
            <a:r>
              <a:rPr lang="zh-CN" altLang="en-US" dirty="0" smtClean="0">
                <a:solidFill>
                  <a:schemeClr val="bg1"/>
                </a:solidFill>
              </a:rPr>
              <a:t>同步数据到</a:t>
            </a:r>
            <a:r>
              <a:rPr lang="en-US" altLang="zh-CN" dirty="0" smtClean="0">
                <a:solidFill>
                  <a:schemeClr val="bg1"/>
                </a:solidFill>
              </a:rPr>
              <a:t>Elasticsearch</a:t>
            </a:r>
          </a:p>
          <a:p>
            <a:endParaRPr lang="en-US" altLang="zh-CN" dirty="0" smtClean="0">
              <a:solidFill>
                <a:schemeClr val="bg1"/>
              </a:solidFill>
            </a:endParaRPr>
          </a:p>
          <a:p>
            <a:pPr marL="285750" indent="-285750">
              <a:buFont typeface="Wingdings" pitchFamily="2" charset="2"/>
              <a:buChar char="n"/>
            </a:pPr>
            <a:r>
              <a:rPr lang="en-US" altLang="zh-CN" dirty="0" err="1" smtClean="0">
                <a:solidFill>
                  <a:schemeClr val="bg1"/>
                </a:solidFill>
              </a:rPr>
              <a:t>elasticsearch-jdbc</a:t>
            </a:r>
            <a:endParaRPr lang="en-US" altLang="zh-CN" dirty="0" smtClean="0">
              <a:solidFill>
                <a:schemeClr val="bg1"/>
              </a:solidFill>
            </a:endParaRPr>
          </a:p>
          <a:p>
            <a:r>
              <a:rPr lang="en-US" altLang="zh-CN" dirty="0" smtClean="0"/>
              <a:t>     </a:t>
            </a:r>
            <a:r>
              <a:rPr lang="en-US" altLang="zh-CN" dirty="0">
                <a:hlinkClick r:id="rId3"/>
              </a:rPr>
              <a:t>https://github.com/jprante/elasticsearch-jdbc</a:t>
            </a:r>
            <a:r>
              <a:rPr lang="en-US" altLang="zh-CN" dirty="0"/>
              <a:t> </a:t>
            </a:r>
            <a:endParaRPr lang="en-US" altLang="zh-CN" dirty="0" smtClean="0">
              <a:solidFill>
                <a:schemeClr val="bg1"/>
              </a:solidFill>
            </a:endParaRPr>
          </a:p>
          <a:p>
            <a:pPr marL="285750" indent="-285750">
              <a:buFont typeface="Wingdings" pitchFamily="2" charset="2"/>
              <a:buChar char="n"/>
            </a:pPr>
            <a:r>
              <a:rPr lang="en-US" altLang="zh-CN" dirty="0" err="1" smtClean="0">
                <a:solidFill>
                  <a:schemeClr val="bg1"/>
                </a:solidFill>
              </a:rPr>
              <a:t>elasticsearch</a:t>
            </a:r>
            <a:r>
              <a:rPr lang="en-US" altLang="zh-CN" dirty="0" smtClean="0">
                <a:solidFill>
                  <a:schemeClr val="bg1"/>
                </a:solidFill>
              </a:rPr>
              <a:t>-river-</a:t>
            </a:r>
            <a:r>
              <a:rPr lang="en-US" altLang="zh-CN" dirty="0" err="1" smtClean="0">
                <a:solidFill>
                  <a:schemeClr val="bg1"/>
                </a:solidFill>
              </a:rPr>
              <a:t>mysql</a:t>
            </a:r>
            <a:r>
              <a:rPr lang="en-US" altLang="zh-CN" dirty="0" smtClean="0">
                <a:solidFill>
                  <a:schemeClr val="bg1"/>
                </a:solidFill>
              </a:rPr>
              <a:t>  </a:t>
            </a:r>
          </a:p>
          <a:p>
            <a:r>
              <a:rPr lang="en-US" altLang="zh-CN" dirty="0" smtClean="0"/>
              <a:t>     </a:t>
            </a:r>
            <a:r>
              <a:rPr lang="en-US" altLang="zh-CN" dirty="0">
                <a:hlinkClick r:id="rId4"/>
              </a:rPr>
              <a:t>https://github.com/scharron/elasticsearch-river-mysql</a:t>
            </a:r>
            <a:r>
              <a:rPr lang="en-US" altLang="zh-CN" dirty="0"/>
              <a:t>  </a:t>
            </a:r>
            <a:endParaRPr lang="en-US" altLang="zh-CN" dirty="0" smtClean="0">
              <a:solidFill>
                <a:schemeClr val="bg1"/>
              </a:solidFill>
            </a:endParaRPr>
          </a:p>
          <a:p>
            <a:pPr marL="285750" indent="-285750">
              <a:buFont typeface="Wingdings" pitchFamily="2" charset="2"/>
              <a:buChar char="n"/>
            </a:pPr>
            <a:r>
              <a:rPr lang="en-US" altLang="zh-CN" dirty="0" smtClean="0">
                <a:solidFill>
                  <a:schemeClr val="bg1"/>
                </a:solidFill>
              </a:rPr>
              <a:t>go-</a:t>
            </a:r>
            <a:r>
              <a:rPr lang="en-US" altLang="zh-CN" dirty="0" err="1" smtClean="0">
                <a:solidFill>
                  <a:schemeClr val="bg1"/>
                </a:solidFill>
              </a:rPr>
              <a:t>mysql</a:t>
            </a:r>
            <a:r>
              <a:rPr lang="en-US" altLang="zh-CN" dirty="0" smtClean="0">
                <a:solidFill>
                  <a:schemeClr val="bg1"/>
                </a:solidFill>
              </a:rPr>
              <a:t>-</a:t>
            </a:r>
            <a:r>
              <a:rPr lang="en-US" altLang="zh-CN" dirty="0" err="1" smtClean="0">
                <a:solidFill>
                  <a:schemeClr val="bg1"/>
                </a:solidFill>
              </a:rPr>
              <a:t>elasticsearch</a:t>
            </a:r>
            <a:r>
              <a:rPr lang="en-US" altLang="zh-CN" dirty="0" smtClean="0">
                <a:solidFill>
                  <a:schemeClr val="bg1"/>
                </a:solidFill>
              </a:rPr>
              <a:t>   </a:t>
            </a:r>
            <a:r>
              <a:rPr lang="en-US" altLang="zh-CN" dirty="0"/>
              <a:t> </a:t>
            </a:r>
            <a:endParaRPr lang="en-US" altLang="zh-CN" dirty="0" smtClean="0"/>
          </a:p>
          <a:p>
            <a:r>
              <a:rPr lang="en-US" altLang="zh-CN" dirty="0" smtClean="0"/>
              <a:t>    </a:t>
            </a:r>
            <a:r>
              <a:rPr lang="en-US" altLang="zh-CN" dirty="0"/>
              <a:t> </a:t>
            </a:r>
            <a:r>
              <a:rPr lang="en-US" altLang="zh-CN" dirty="0">
                <a:hlinkClick r:id="rId5"/>
              </a:rPr>
              <a:t>https://github.com/siddontang/go-mysql-elasticsearch</a:t>
            </a:r>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zh-CN" altLang="en-US" dirty="0">
              <a:solidFill>
                <a:schemeClr val="bg1"/>
              </a:solidFill>
            </a:endParaRPr>
          </a:p>
        </p:txBody>
      </p:sp>
      <p:pic>
        <p:nvPicPr>
          <p:cNvPr id="9" name="Picture 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1154174179"/>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5"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应用场景</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184731" cy="2585323"/>
          </a:xfrm>
          <a:prstGeom prst="rect">
            <a:avLst/>
          </a:prstGeom>
          <a:noFill/>
        </p:spPr>
        <p:txBody>
          <a:bodyPr wrap="none" rtlCol="0">
            <a:spAutoFit/>
          </a:bodyPr>
          <a:lstStyle/>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sp>
        <p:nvSpPr>
          <p:cNvPr id="2" name="TextBox 1"/>
          <p:cNvSpPr txBox="1"/>
          <p:nvPr/>
        </p:nvSpPr>
        <p:spPr>
          <a:xfrm>
            <a:off x="900051" y="1847850"/>
            <a:ext cx="7611599" cy="2308324"/>
          </a:xfrm>
          <a:prstGeom prst="rect">
            <a:avLst/>
          </a:prstGeom>
          <a:noFill/>
        </p:spPr>
        <p:txBody>
          <a:bodyPr wrap="square" rtlCol="0">
            <a:spAutoFit/>
          </a:bodyPr>
          <a:lstStyle/>
          <a:p>
            <a:r>
              <a:rPr lang="en-US" altLang="zh-CN" dirty="0" smtClean="0">
                <a:solidFill>
                  <a:schemeClr val="bg1"/>
                </a:solidFill>
              </a:rPr>
              <a:t>Elasticsearch</a:t>
            </a:r>
            <a:r>
              <a:rPr lang="zh-CN" altLang="en-US" dirty="0">
                <a:solidFill>
                  <a:schemeClr val="bg1"/>
                </a:solidFill>
              </a:rPr>
              <a:t> </a:t>
            </a:r>
            <a:r>
              <a:rPr lang="en-US" altLang="zh-CN" dirty="0" smtClean="0">
                <a:solidFill>
                  <a:schemeClr val="bg1"/>
                </a:solidFill>
              </a:rPr>
              <a:t>VS </a:t>
            </a:r>
            <a:r>
              <a:rPr lang="en-US" altLang="zh-CN" dirty="0" err="1" smtClean="0">
                <a:solidFill>
                  <a:schemeClr val="bg1"/>
                </a:solidFill>
              </a:rPr>
              <a:t>Solr</a:t>
            </a:r>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p:txBody>
      </p:sp>
      <p:graphicFrame>
        <p:nvGraphicFramePr>
          <p:cNvPr id="3" name="表格 2"/>
          <p:cNvGraphicFramePr>
            <a:graphicFrameLocks noGrp="1"/>
          </p:cNvGraphicFramePr>
          <p:nvPr>
            <p:extLst>
              <p:ext uri="{D42A27DB-BD31-4B8C-83A1-F6EECF244321}">
                <p14:modId xmlns:p14="http://schemas.microsoft.com/office/powerpoint/2010/main" val="1926894414"/>
              </p:ext>
            </p:extLst>
          </p:nvPr>
        </p:nvGraphicFramePr>
        <p:xfrm>
          <a:off x="1016666" y="2493013"/>
          <a:ext cx="6219297" cy="3482631"/>
        </p:xfrm>
        <a:graphic>
          <a:graphicData uri="http://schemas.openxmlformats.org/drawingml/2006/table">
            <a:tbl>
              <a:tblPr firstRow="1" bandRow="1">
                <a:tableStyleId>{5C22544A-7EE6-4342-B048-85BDC9FD1C3A}</a:tableStyleId>
              </a:tblPr>
              <a:tblGrid>
                <a:gridCol w="3048000"/>
                <a:gridCol w="3171297"/>
              </a:tblGrid>
              <a:tr h="647991">
                <a:tc>
                  <a:txBody>
                    <a:bodyPr/>
                    <a:lstStyle/>
                    <a:p>
                      <a:pPr algn="ctr"/>
                      <a:r>
                        <a:rPr lang="en-US" altLang="zh-CN" dirty="0" smtClean="0">
                          <a:solidFill>
                            <a:schemeClr val="bg1"/>
                          </a:solidFill>
                        </a:rPr>
                        <a:t>Elasticsearch</a:t>
                      </a:r>
                      <a:r>
                        <a:rPr lang="zh-CN" altLang="en-US" dirty="0" smtClean="0">
                          <a:solidFill>
                            <a:schemeClr val="bg1"/>
                          </a:solidFill>
                        </a:rPr>
                        <a:t> </a:t>
                      </a:r>
                      <a:endParaRPr lang="zh-CN" altLang="en-US" dirty="0"/>
                    </a:p>
                  </a:txBody>
                  <a:tcPr>
                    <a:solidFill>
                      <a:schemeClr val="accent1">
                        <a:lumMod val="5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dirty="0" err="1" smtClean="0">
                          <a:solidFill>
                            <a:schemeClr val="bg1"/>
                          </a:solidFill>
                        </a:rPr>
                        <a:t>Solr</a:t>
                      </a:r>
                      <a:endParaRPr lang="en-US" altLang="zh-CN" dirty="0" smtClean="0">
                        <a:solidFill>
                          <a:schemeClr val="bg1"/>
                        </a:solidFill>
                      </a:endParaRPr>
                    </a:p>
                    <a:p>
                      <a:pPr algn="ctr"/>
                      <a:endParaRPr lang="zh-CN" altLang="en-US" dirty="0"/>
                    </a:p>
                  </a:txBody>
                  <a:tcPr>
                    <a:solidFill>
                      <a:schemeClr val="accent1">
                        <a:lumMod val="50000"/>
                      </a:schemeClr>
                    </a:solidFill>
                  </a:tcPr>
                </a:tc>
              </a:tr>
              <a:tr h="370840">
                <a:tc>
                  <a:txBody>
                    <a:bodyPr/>
                    <a:lstStyle/>
                    <a:p>
                      <a:r>
                        <a:rPr lang="en-US" altLang="zh-CN" sz="1800" b="0" i="0" kern="1200" dirty="0" smtClean="0">
                          <a:solidFill>
                            <a:schemeClr val="dk1"/>
                          </a:solidFill>
                          <a:effectLst/>
                          <a:latin typeface="+mn-lt"/>
                          <a:ea typeface="+mn-ea"/>
                          <a:cs typeface="+mn-cs"/>
                        </a:rPr>
                        <a:t>Elasticsearch </a:t>
                      </a:r>
                      <a:r>
                        <a:rPr lang="zh-CN" altLang="en-US" sz="1800" b="0" i="0" kern="1200" dirty="0" smtClean="0">
                          <a:solidFill>
                            <a:schemeClr val="dk1"/>
                          </a:solidFill>
                          <a:effectLst/>
                          <a:latin typeface="+mn-lt"/>
                          <a:ea typeface="+mn-ea"/>
                          <a:cs typeface="+mn-cs"/>
                        </a:rPr>
                        <a:t>自身带有分布式协调管理功能。</a:t>
                      </a:r>
                      <a:endParaRPr lang="zh-CN" altLang="en-US" dirty="0"/>
                    </a:p>
                  </a:txBody>
                  <a:tcPr/>
                </a:tc>
                <a:tc>
                  <a:txBody>
                    <a:bodyPr/>
                    <a:lstStyle/>
                    <a:p>
                      <a:r>
                        <a:rPr lang="en-US" altLang="zh-CN" sz="1800" b="0" i="0" kern="1200" dirty="0" err="1" smtClean="0">
                          <a:solidFill>
                            <a:schemeClr val="dk1"/>
                          </a:solidFill>
                          <a:effectLst/>
                          <a:latin typeface="+mn-lt"/>
                          <a:ea typeface="+mn-ea"/>
                          <a:cs typeface="+mn-cs"/>
                        </a:rPr>
                        <a:t>Solr</a:t>
                      </a:r>
                      <a:r>
                        <a:rPr lang="en-US" altLang="zh-CN" sz="1800" b="0" i="0" kern="1200" dirty="0" smtClean="0">
                          <a:solidFill>
                            <a:schemeClr val="dk1"/>
                          </a:solidFill>
                          <a:effectLst/>
                          <a:latin typeface="+mn-lt"/>
                          <a:ea typeface="+mn-ea"/>
                          <a:cs typeface="+mn-cs"/>
                        </a:rPr>
                        <a:t> </a:t>
                      </a:r>
                      <a:r>
                        <a:rPr lang="zh-CN" altLang="en-US" sz="1800" b="0" i="0" kern="1200" dirty="0" smtClean="0">
                          <a:solidFill>
                            <a:schemeClr val="dk1"/>
                          </a:solidFill>
                          <a:effectLst/>
                          <a:latin typeface="+mn-lt"/>
                          <a:ea typeface="+mn-ea"/>
                          <a:cs typeface="+mn-cs"/>
                        </a:rPr>
                        <a:t>利用 </a:t>
                      </a:r>
                      <a:r>
                        <a:rPr lang="en-US" altLang="zh-CN" sz="1800" b="0" i="0" kern="1200" dirty="0" smtClean="0">
                          <a:solidFill>
                            <a:schemeClr val="dk1"/>
                          </a:solidFill>
                          <a:effectLst/>
                          <a:latin typeface="+mn-lt"/>
                          <a:ea typeface="+mn-ea"/>
                          <a:cs typeface="+mn-cs"/>
                        </a:rPr>
                        <a:t>Zookeeper </a:t>
                      </a:r>
                      <a:r>
                        <a:rPr lang="zh-CN" altLang="en-US" sz="1800" b="0" i="0" kern="1200" dirty="0" smtClean="0">
                          <a:solidFill>
                            <a:schemeClr val="dk1"/>
                          </a:solidFill>
                          <a:effectLst/>
                          <a:latin typeface="+mn-lt"/>
                          <a:ea typeface="+mn-ea"/>
                          <a:cs typeface="+mn-cs"/>
                        </a:rPr>
                        <a:t>进行分布式管理</a:t>
                      </a:r>
                      <a:endParaRPr lang="zh-CN" altLang="en-US" dirty="0"/>
                    </a:p>
                  </a:txBody>
                  <a:tcPr/>
                </a:tc>
              </a:tr>
              <a:tr h="370840">
                <a:tc>
                  <a:txBody>
                    <a:bodyPr/>
                    <a:lstStyle/>
                    <a:p>
                      <a:r>
                        <a:rPr lang="en-US" altLang="zh-CN" sz="1800" b="0" i="0" kern="1200" dirty="0" smtClean="0">
                          <a:solidFill>
                            <a:schemeClr val="dk1"/>
                          </a:solidFill>
                          <a:effectLst/>
                          <a:latin typeface="+mn-lt"/>
                          <a:ea typeface="+mn-ea"/>
                          <a:cs typeface="+mn-cs"/>
                        </a:rPr>
                        <a:t>Elasticsearch </a:t>
                      </a:r>
                      <a:r>
                        <a:rPr lang="zh-CN" altLang="en-US" sz="1800" b="0" i="0" kern="1200" dirty="0" smtClean="0">
                          <a:solidFill>
                            <a:schemeClr val="dk1"/>
                          </a:solidFill>
                          <a:effectLst/>
                          <a:latin typeface="+mn-lt"/>
                          <a:ea typeface="+mn-ea"/>
                          <a:cs typeface="+mn-cs"/>
                        </a:rPr>
                        <a:t>仅支持</a:t>
                      </a:r>
                      <a:r>
                        <a:rPr lang="en-US" altLang="zh-CN" sz="1800" b="0" i="0" kern="1200" dirty="0" err="1" smtClean="0">
                          <a:solidFill>
                            <a:schemeClr val="dk1"/>
                          </a:solidFill>
                          <a:effectLst/>
                          <a:latin typeface="+mn-lt"/>
                          <a:ea typeface="+mn-ea"/>
                          <a:cs typeface="+mn-cs"/>
                        </a:rPr>
                        <a:t>json</a:t>
                      </a:r>
                      <a:r>
                        <a:rPr lang="zh-CN" altLang="en-US" sz="1800" b="0" i="0" kern="1200" dirty="0" smtClean="0">
                          <a:solidFill>
                            <a:schemeClr val="dk1"/>
                          </a:solidFill>
                          <a:effectLst/>
                          <a:latin typeface="+mn-lt"/>
                          <a:ea typeface="+mn-ea"/>
                          <a:cs typeface="+mn-cs"/>
                        </a:rPr>
                        <a:t>文件格式</a:t>
                      </a:r>
                      <a:endParaRPr lang="zh-CN" altLang="en-US" dirty="0"/>
                    </a:p>
                  </a:txBody>
                  <a:tcPr/>
                </a:tc>
                <a:tc>
                  <a:txBody>
                    <a:bodyPr/>
                    <a:lstStyle/>
                    <a:p>
                      <a:r>
                        <a:rPr lang="en-US" altLang="zh-CN" sz="1800" b="0" i="0" kern="1200" dirty="0" err="1" smtClean="0">
                          <a:solidFill>
                            <a:schemeClr val="dk1"/>
                          </a:solidFill>
                          <a:effectLst/>
                          <a:latin typeface="+mn-lt"/>
                          <a:ea typeface="+mn-ea"/>
                          <a:cs typeface="+mn-cs"/>
                        </a:rPr>
                        <a:t>Solr</a:t>
                      </a:r>
                      <a:r>
                        <a:rPr lang="en-US" altLang="zh-CN" sz="1800" b="0" i="0" kern="1200" dirty="0" smtClean="0">
                          <a:solidFill>
                            <a:schemeClr val="dk1"/>
                          </a:solidFill>
                          <a:effectLst/>
                          <a:latin typeface="+mn-lt"/>
                          <a:ea typeface="+mn-ea"/>
                          <a:cs typeface="+mn-cs"/>
                        </a:rPr>
                        <a:t> </a:t>
                      </a:r>
                      <a:r>
                        <a:rPr lang="zh-CN" altLang="en-US" sz="1800" b="0" i="0" kern="1200" dirty="0" smtClean="0">
                          <a:solidFill>
                            <a:schemeClr val="dk1"/>
                          </a:solidFill>
                          <a:effectLst/>
                          <a:latin typeface="+mn-lt"/>
                          <a:ea typeface="+mn-ea"/>
                          <a:cs typeface="+mn-cs"/>
                        </a:rPr>
                        <a:t>支持更多格式的数据，比如</a:t>
                      </a:r>
                      <a:r>
                        <a:rPr lang="en-US" altLang="zh-CN" sz="1800" b="0" i="0" kern="1200" dirty="0" smtClean="0">
                          <a:solidFill>
                            <a:schemeClr val="dk1"/>
                          </a:solidFill>
                          <a:effectLst/>
                          <a:latin typeface="+mn-lt"/>
                          <a:ea typeface="+mn-ea"/>
                          <a:cs typeface="+mn-cs"/>
                        </a:rPr>
                        <a:t>JSON</a:t>
                      </a:r>
                      <a:r>
                        <a:rPr lang="zh-CN" altLang="en-US" sz="1800" b="0" i="0" kern="1200" dirty="0" smtClean="0">
                          <a:solidFill>
                            <a:schemeClr val="dk1"/>
                          </a:solidFill>
                          <a:effectLst/>
                          <a:latin typeface="+mn-lt"/>
                          <a:ea typeface="+mn-ea"/>
                          <a:cs typeface="+mn-cs"/>
                        </a:rPr>
                        <a:t>、</a:t>
                      </a:r>
                      <a:r>
                        <a:rPr lang="en-US" altLang="zh-CN" sz="1800" b="0" i="0" kern="1200" dirty="0" smtClean="0">
                          <a:solidFill>
                            <a:schemeClr val="dk1"/>
                          </a:solidFill>
                          <a:effectLst/>
                          <a:latin typeface="+mn-lt"/>
                          <a:ea typeface="+mn-ea"/>
                          <a:cs typeface="+mn-cs"/>
                        </a:rPr>
                        <a:t>XML</a:t>
                      </a:r>
                      <a:r>
                        <a:rPr lang="zh-CN" altLang="en-US" sz="1800" b="0" i="0" kern="1200" dirty="0" smtClean="0">
                          <a:solidFill>
                            <a:schemeClr val="dk1"/>
                          </a:solidFill>
                          <a:effectLst/>
                          <a:latin typeface="+mn-lt"/>
                          <a:ea typeface="+mn-ea"/>
                          <a:cs typeface="+mn-cs"/>
                        </a:rPr>
                        <a:t>、</a:t>
                      </a:r>
                      <a:r>
                        <a:rPr lang="en-US" altLang="zh-CN" sz="1800" b="0" i="0" kern="1200" dirty="0" smtClean="0">
                          <a:solidFill>
                            <a:schemeClr val="dk1"/>
                          </a:solidFill>
                          <a:effectLst/>
                          <a:latin typeface="+mn-lt"/>
                          <a:ea typeface="+mn-ea"/>
                          <a:cs typeface="+mn-cs"/>
                        </a:rPr>
                        <a:t>CSV</a:t>
                      </a:r>
                      <a:endParaRPr lang="zh-CN" altLang="en-US" dirty="0"/>
                    </a:p>
                  </a:txBody>
                  <a:tcPr/>
                </a:tc>
              </a:tr>
              <a:tr h="370840">
                <a:tc>
                  <a:txBody>
                    <a:bodyPr/>
                    <a:lstStyle/>
                    <a:p>
                      <a:r>
                        <a:rPr lang="en-US" altLang="zh-CN" sz="1800" b="0" i="0" kern="1200" dirty="0" smtClean="0">
                          <a:solidFill>
                            <a:schemeClr val="dk1"/>
                          </a:solidFill>
                          <a:effectLst/>
                          <a:latin typeface="+mn-lt"/>
                          <a:ea typeface="+mn-ea"/>
                          <a:cs typeface="+mn-cs"/>
                        </a:rPr>
                        <a:t>Elasticsearch </a:t>
                      </a:r>
                      <a:r>
                        <a:rPr lang="zh-CN" altLang="en-US" sz="1800" b="0" i="0" kern="1200" dirty="0" smtClean="0">
                          <a:solidFill>
                            <a:schemeClr val="dk1"/>
                          </a:solidFill>
                          <a:effectLst/>
                          <a:latin typeface="+mn-lt"/>
                          <a:ea typeface="+mn-ea"/>
                          <a:cs typeface="+mn-cs"/>
                        </a:rPr>
                        <a:t>本身更注重于核心功能，高级功能多有第三方插件提供</a:t>
                      </a:r>
                      <a:endParaRPr lang="zh-CN" altLang="en-US" dirty="0"/>
                    </a:p>
                  </a:txBody>
                  <a:tcPr/>
                </a:tc>
                <a:tc>
                  <a:txBody>
                    <a:bodyPr/>
                    <a:lstStyle/>
                    <a:p>
                      <a:r>
                        <a:rPr lang="en-US" altLang="zh-CN" sz="1800" b="0" i="0" kern="1200" dirty="0" err="1" smtClean="0">
                          <a:solidFill>
                            <a:schemeClr val="dk1"/>
                          </a:solidFill>
                          <a:effectLst/>
                          <a:latin typeface="+mn-lt"/>
                          <a:ea typeface="+mn-ea"/>
                          <a:cs typeface="+mn-cs"/>
                        </a:rPr>
                        <a:t>Solr</a:t>
                      </a:r>
                      <a:r>
                        <a:rPr lang="en-US" altLang="zh-CN" sz="1800" b="0" i="0" kern="1200" dirty="0" smtClean="0">
                          <a:solidFill>
                            <a:schemeClr val="dk1"/>
                          </a:solidFill>
                          <a:effectLst/>
                          <a:latin typeface="+mn-lt"/>
                          <a:ea typeface="+mn-ea"/>
                          <a:cs typeface="+mn-cs"/>
                        </a:rPr>
                        <a:t> </a:t>
                      </a:r>
                      <a:r>
                        <a:rPr lang="zh-CN" altLang="en-US" sz="1800" b="0" i="0" kern="1200" dirty="0" smtClean="0">
                          <a:solidFill>
                            <a:schemeClr val="dk1"/>
                          </a:solidFill>
                          <a:effectLst/>
                          <a:latin typeface="+mn-lt"/>
                          <a:ea typeface="+mn-ea"/>
                          <a:cs typeface="+mn-cs"/>
                        </a:rPr>
                        <a:t>官方提供的功能更多</a:t>
                      </a:r>
                      <a:endParaRPr lang="zh-CN" altLang="en-US" dirty="0"/>
                    </a:p>
                  </a:txBody>
                  <a:tcPr/>
                </a:tc>
              </a:tr>
              <a:tr h="370840">
                <a:tc>
                  <a:txBody>
                    <a:bodyPr/>
                    <a:lstStyle/>
                    <a:p>
                      <a:r>
                        <a:rPr lang="en-US" altLang="zh-CN" sz="1800" b="0" i="0" kern="1200" dirty="0" smtClean="0">
                          <a:solidFill>
                            <a:schemeClr val="dk1"/>
                          </a:solidFill>
                          <a:effectLst/>
                          <a:latin typeface="+mn-lt"/>
                          <a:ea typeface="+mn-ea"/>
                          <a:cs typeface="+mn-cs"/>
                        </a:rPr>
                        <a:t> Elasticsearch </a:t>
                      </a:r>
                      <a:r>
                        <a:rPr lang="zh-CN" altLang="en-US" sz="1800" b="0" i="0" kern="1200" dirty="0" smtClean="0">
                          <a:solidFill>
                            <a:schemeClr val="dk1"/>
                          </a:solidFill>
                          <a:effectLst/>
                          <a:latin typeface="+mn-lt"/>
                          <a:ea typeface="+mn-ea"/>
                          <a:cs typeface="+mn-cs"/>
                        </a:rPr>
                        <a:t>更适用于新兴的实时搜索应用</a:t>
                      </a:r>
                      <a:endParaRPr lang="zh-CN" altLang="en-US" dirty="0"/>
                    </a:p>
                  </a:txBody>
                  <a:tcPr/>
                </a:tc>
                <a:tc>
                  <a:txBody>
                    <a:bodyPr/>
                    <a:lstStyle/>
                    <a:p>
                      <a:r>
                        <a:rPr lang="en-US" altLang="zh-CN" sz="1800" b="0" i="0" kern="1200" dirty="0" err="1" smtClean="0">
                          <a:solidFill>
                            <a:schemeClr val="dk1"/>
                          </a:solidFill>
                          <a:effectLst/>
                          <a:latin typeface="+mn-lt"/>
                          <a:ea typeface="+mn-ea"/>
                          <a:cs typeface="+mn-cs"/>
                        </a:rPr>
                        <a:t>Solr</a:t>
                      </a:r>
                      <a:r>
                        <a:rPr lang="en-US" altLang="zh-CN" sz="1800" b="0" i="0" kern="1200" dirty="0" smtClean="0">
                          <a:solidFill>
                            <a:schemeClr val="dk1"/>
                          </a:solidFill>
                          <a:effectLst/>
                          <a:latin typeface="+mn-lt"/>
                          <a:ea typeface="+mn-ea"/>
                          <a:cs typeface="+mn-cs"/>
                        </a:rPr>
                        <a:t> </a:t>
                      </a:r>
                      <a:r>
                        <a:rPr lang="zh-CN" altLang="en-US" sz="1800" b="0" i="0" kern="1200" dirty="0" smtClean="0">
                          <a:solidFill>
                            <a:schemeClr val="dk1"/>
                          </a:solidFill>
                          <a:effectLst/>
                          <a:latin typeface="+mn-lt"/>
                          <a:ea typeface="+mn-ea"/>
                          <a:cs typeface="+mn-cs"/>
                        </a:rPr>
                        <a:t>是传统搜索应用的有力解决方案</a:t>
                      </a:r>
                      <a:endParaRPr lang="zh-CN" altLang="en-US" dirty="0"/>
                    </a:p>
                  </a:txBody>
                  <a:tcPr/>
                </a:tc>
              </a:tr>
            </a:tbl>
          </a:graphicData>
        </a:graphic>
      </p:graphicFrame>
      <p:pic>
        <p:nvPicPr>
          <p:cNvPr id="11"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extLst>
      <p:ext uri="{BB962C8B-B14F-4D97-AF65-F5344CB8AC3E}">
        <p14:creationId xmlns:p14="http://schemas.microsoft.com/office/powerpoint/2010/main" val="3566428424"/>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945124" y="6452958"/>
            <a:ext cx="7561263" cy="1587"/>
          </a:xfrm>
          <a:prstGeom prst="line">
            <a:avLst/>
          </a:prstGeom>
          <a:noFill/>
          <a:ln w="50800" cmpd="sng">
            <a:solidFill>
              <a:srgbClr val="4D4D4D"/>
            </a:solidFill>
            <a:round/>
            <a:headEnd/>
            <a:tailEnd/>
          </a:ln>
          <a:effectLst/>
        </p:spPr>
        <p:txBody>
          <a:bodyPr/>
          <a:lstStyle/>
          <a:p>
            <a:endParaRPr lang="zh-CN" altLang="en-US"/>
          </a:p>
        </p:txBody>
      </p:sp>
      <p:sp>
        <p:nvSpPr>
          <p:cNvPr id="5124" name="Line 4"/>
          <p:cNvSpPr>
            <a:spLocks noChangeShapeType="1"/>
          </p:cNvSpPr>
          <p:nvPr/>
        </p:nvSpPr>
        <p:spPr bwMode="auto">
          <a:xfrm flipV="1">
            <a:off x="973138" y="1555750"/>
            <a:ext cx="1728787" cy="0"/>
          </a:xfrm>
          <a:prstGeom prst="line">
            <a:avLst/>
          </a:prstGeom>
          <a:noFill/>
          <a:ln w="38100" cmpd="sng">
            <a:solidFill>
              <a:srgbClr val="FF0000"/>
            </a:solidFill>
            <a:round/>
            <a:headEnd/>
            <a:tailEnd/>
          </a:ln>
          <a:effectLst/>
        </p:spPr>
        <p:txBody>
          <a:bodyPr/>
          <a:lstStyle/>
          <a:p>
            <a:endParaRPr lang="zh-CN" altLang="en-US"/>
          </a:p>
        </p:txBody>
      </p:sp>
      <p:sp>
        <p:nvSpPr>
          <p:cNvPr id="5127" name="音量 194"/>
          <p:cNvSpPr>
            <a:spLocks/>
          </p:cNvSpPr>
          <p:nvPr/>
        </p:nvSpPr>
        <p:spPr bwMode="auto">
          <a:xfrm rot="10800000">
            <a:off x="328613" y="1271588"/>
            <a:ext cx="576262" cy="576262"/>
          </a:xfrm>
          <a:custGeom>
            <a:avLst/>
            <a:gdLst/>
            <a:ahLst/>
            <a:cxnLst>
              <a:cxn ang="0">
                <a:pos x="744913" y="309576"/>
              </a:cxn>
              <a:cxn ang="0">
                <a:pos x="744913" y="877403"/>
              </a:cxn>
              <a:cxn ang="0">
                <a:pos x="1001726" y="719489"/>
              </a:cxn>
              <a:cxn ang="0">
                <a:pos x="1259526" y="719489"/>
              </a:cxn>
              <a:cxn ang="0">
                <a:pos x="1301527" y="677488"/>
              </a:cxn>
              <a:cxn ang="0">
                <a:pos x="1301527" y="509490"/>
              </a:cxn>
              <a:cxn ang="0">
                <a:pos x="1259526" y="467489"/>
              </a:cxn>
              <a:cxn ang="0">
                <a:pos x="1001724" y="467489"/>
              </a:cxn>
              <a:cxn ang="0">
                <a:pos x="744913" y="309576"/>
              </a:cxn>
              <a:cxn ang="0">
                <a:pos x="486516" y="175870"/>
              </a:cxn>
              <a:cxn ang="0">
                <a:pos x="300385" y="593488"/>
              </a:cxn>
              <a:cxn ang="0">
                <a:pos x="486516" y="1011109"/>
              </a:cxn>
              <a:cxn ang="0">
                <a:pos x="609421" y="924274"/>
              </a:cxn>
              <a:cxn ang="0">
                <a:pos x="446248" y="593488"/>
              </a:cxn>
              <a:cxn ang="0">
                <a:pos x="609421" y="262704"/>
              </a:cxn>
              <a:cxn ang="0">
                <a:pos x="486516" y="175870"/>
              </a:cxn>
              <a:cxn ang="0">
                <a:pos x="237591" y="0"/>
              </a:cxn>
              <a:cxn ang="0">
                <a:pos x="0" y="593490"/>
              </a:cxn>
              <a:cxn ang="0">
                <a:pos x="237589" y="1186978"/>
              </a:cxn>
              <a:cxn ang="0">
                <a:pos x="362934" y="1098420"/>
              </a:cxn>
              <a:cxn ang="0">
                <a:pos x="153719" y="593490"/>
              </a:cxn>
              <a:cxn ang="0">
                <a:pos x="362936" y="88558"/>
              </a:cxn>
              <a:cxn ang="0">
                <a:pos x="237591" y="0"/>
              </a:cxn>
            </a:cxnLst>
            <a:rect l="0" t="0" r="r" b="b"/>
            <a:pathLst>
              <a:path w="1301527" h="1186978">
                <a:moveTo>
                  <a:pt x="744913" y="309576"/>
                </a:moveTo>
                <a:lnTo>
                  <a:pt x="744913" y="877403"/>
                </a:lnTo>
                <a:lnTo>
                  <a:pt x="1001726" y="719489"/>
                </a:lnTo>
                <a:lnTo>
                  <a:pt x="1259526" y="719489"/>
                </a:lnTo>
                <a:cubicBezTo>
                  <a:pt x="1282723" y="719489"/>
                  <a:pt x="1301527" y="700685"/>
                  <a:pt x="1301527" y="677488"/>
                </a:cubicBezTo>
                <a:lnTo>
                  <a:pt x="1301527" y="509490"/>
                </a:lnTo>
                <a:cubicBezTo>
                  <a:pt x="1301527" y="486293"/>
                  <a:pt x="1282723" y="467489"/>
                  <a:pt x="1259526" y="467489"/>
                </a:cubicBezTo>
                <a:lnTo>
                  <a:pt x="1001724" y="467489"/>
                </a:lnTo>
                <a:lnTo>
                  <a:pt x="744913" y="309576"/>
                </a:lnTo>
                <a:close/>
                <a:moveTo>
                  <a:pt x="486516" y="175870"/>
                </a:moveTo>
                <a:cubicBezTo>
                  <a:pt x="371649" y="278215"/>
                  <a:pt x="300385" y="427530"/>
                  <a:pt x="300385" y="593488"/>
                </a:cubicBezTo>
                <a:cubicBezTo>
                  <a:pt x="300385" y="759449"/>
                  <a:pt x="371649" y="908762"/>
                  <a:pt x="486516" y="1011109"/>
                </a:cubicBezTo>
                <a:lnTo>
                  <a:pt x="609421" y="924274"/>
                </a:lnTo>
                <a:cubicBezTo>
                  <a:pt x="509665" y="848549"/>
                  <a:pt x="446248" y="728424"/>
                  <a:pt x="446248" y="593488"/>
                </a:cubicBezTo>
                <a:cubicBezTo>
                  <a:pt x="446248" y="458553"/>
                  <a:pt x="509665" y="338428"/>
                  <a:pt x="609421" y="262704"/>
                </a:cubicBezTo>
                <a:lnTo>
                  <a:pt x="486516" y="175870"/>
                </a:lnTo>
                <a:close/>
                <a:moveTo>
                  <a:pt x="237591" y="0"/>
                </a:moveTo>
                <a:cubicBezTo>
                  <a:pt x="89700" y="153897"/>
                  <a:pt x="0" y="363218"/>
                  <a:pt x="0" y="593490"/>
                </a:cubicBezTo>
                <a:cubicBezTo>
                  <a:pt x="0" y="823760"/>
                  <a:pt x="89700" y="1033081"/>
                  <a:pt x="237589" y="1186978"/>
                </a:cubicBezTo>
                <a:lnTo>
                  <a:pt x="362934" y="1098420"/>
                </a:lnTo>
                <a:cubicBezTo>
                  <a:pt x="233669" y="969220"/>
                  <a:pt x="153719" y="790692"/>
                  <a:pt x="153719" y="593490"/>
                </a:cubicBezTo>
                <a:cubicBezTo>
                  <a:pt x="153719" y="396288"/>
                  <a:pt x="233671" y="217758"/>
                  <a:pt x="362936" y="88558"/>
                </a:cubicBezTo>
                <a:lnTo>
                  <a:pt x="237591" y="0"/>
                </a:lnTo>
                <a:close/>
              </a:path>
            </a:pathLst>
          </a:custGeom>
          <a:solidFill>
            <a:srgbClr val="FF0000"/>
          </a:solidFill>
          <a:ln w="9525">
            <a:noFill/>
            <a:round/>
            <a:headEnd/>
            <a:tailEnd/>
          </a:ln>
          <a:effectLst/>
        </p:spPr>
        <p:txBody>
          <a:bodyPr anchor="ctr"/>
          <a:lstStyle/>
          <a:p>
            <a:endParaRPr lang="zh-CN" altLang="en-US"/>
          </a:p>
        </p:txBody>
      </p:sp>
      <p:sp>
        <p:nvSpPr>
          <p:cNvPr id="5128" name="Line 8"/>
          <p:cNvSpPr>
            <a:spLocks noChangeShapeType="1"/>
          </p:cNvSpPr>
          <p:nvPr/>
        </p:nvSpPr>
        <p:spPr bwMode="auto">
          <a:xfrm>
            <a:off x="396875" y="774700"/>
            <a:ext cx="7561263" cy="0"/>
          </a:xfrm>
          <a:prstGeom prst="line">
            <a:avLst/>
          </a:prstGeom>
          <a:noFill/>
          <a:ln w="50800" cmpd="sng">
            <a:solidFill>
              <a:srgbClr val="4D4D4D"/>
            </a:solidFill>
            <a:round/>
            <a:headEnd/>
            <a:tailEnd/>
          </a:ln>
          <a:effectLst/>
        </p:spPr>
        <p:txBody>
          <a:bodyPr/>
          <a:lstStyle/>
          <a:p>
            <a:endParaRPr lang="zh-CN" altLang="en-US"/>
          </a:p>
        </p:txBody>
      </p:sp>
      <p:sp>
        <p:nvSpPr>
          <p:cNvPr id="10" name="TextBox 9"/>
          <p:cNvSpPr txBox="1"/>
          <p:nvPr/>
        </p:nvSpPr>
        <p:spPr>
          <a:xfrm>
            <a:off x="904875" y="1847850"/>
            <a:ext cx="184731" cy="2585323"/>
          </a:xfrm>
          <a:prstGeom prst="rect">
            <a:avLst/>
          </a:prstGeom>
          <a:noFill/>
        </p:spPr>
        <p:txBody>
          <a:bodyPr wrap="none" rtlCol="0">
            <a:spAutoFit/>
          </a:bodyPr>
          <a:lstStyle/>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smtClean="0">
              <a:solidFill>
                <a:schemeClr val="bg1"/>
              </a:solidFill>
            </a:endParaRPr>
          </a:p>
          <a:p>
            <a:endParaRPr lang="en-US" altLang="zh-CN" dirty="0" smtClean="0">
              <a:solidFill>
                <a:schemeClr val="bg1"/>
              </a:solidFill>
            </a:endParaRPr>
          </a:p>
        </p:txBody>
      </p:sp>
      <p:sp>
        <p:nvSpPr>
          <p:cNvPr id="2" name="TextBox 1"/>
          <p:cNvSpPr txBox="1"/>
          <p:nvPr/>
        </p:nvSpPr>
        <p:spPr>
          <a:xfrm>
            <a:off x="900051" y="1847850"/>
            <a:ext cx="7611599" cy="4524315"/>
          </a:xfrm>
          <a:prstGeom prst="rect">
            <a:avLst/>
          </a:prstGeom>
          <a:noFill/>
        </p:spPr>
        <p:txBody>
          <a:bodyPr wrap="square" rtlCol="0">
            <a:spAutoFit/>
          </a:bodyPr>
          <a:lstStyle/>
          <a:p>
            <a:r>
              <a:rPr lang="zh-CN" altLang="en-US" b="1" dirty="0" smtClean="0">
                <a:solidFill>
                  <a:schemeClr val="bg1"/>
                </a:solidFill>
              </a:rPr>
              <a:t>  参考文档：</a:t>
            </a:r>
            <a:endParaRPr lang="en-US" altLang="zh-CN" dirty="0" smtClean="0">
              <a:solidFill>
                <a:schemeClr val="bg1"/>
              </a:solidFill>
            </a:endParaRPr>
          </a:p>
          <a:p>
            <a:r>
              <a:rPr lang="en-US" altLang="zh-CN" dirty="0">
                <a:solidFill>
                  <a:schemeClr val="bg1"/>
                </a:solidFill>
              </a:rPr>
              <a:t>《Elasticsearch</a:t>
            </a:r>
            <a:r>
              <a:rPr lang="zh-CN" altLang="en-US" dirty="0">
                <a:solidFill>
                  <a:schemeClr val="bg1"/>
                </a:solidFill>
              </a:rPr>
              <a:t>技术解析与实战</a:t>
            </a:r>
            <a:r>
              <a:rPr lang="en-US" altLang="zh-CN" dirty="0" smtClean="0">
                <a:solidFill>
                  <a:schemeClr val="bg1"/>
                </a:solidFill>
              </a:rPr>
              <a:t>》</a:t>
            </a:r>
          </a:p>
          <a:p>
            <a:r>
              <a:rPr lang="en-US" altLang="zh-CN" dirty="0" smtClean="0">
                <a:solidFill>
                  <a:schemeClr val="bg1"/>
                </a:solidFill>
              </a:rPr>
              <a:t>《</a:t>
            </a:r>
            <a:r>
              <a:rPr lang="en-US" altLang="zh-CN" dirty="0" err="1" smtClean="0">
                <a:solidFill>
                  <a:schemeClr val="bg1"/>
                </a:solidFill>
              </a:rPr>
              <a:t>Elasticsearch</a:t>
            </a:r>
            <a:r>
              <a:rPr lang="zh-CN" altLang="en-US" dirty="0" smtClean="0">
                <a:solidFill>
                  <a:schemeClr val="bg1"/>
                </a:solidFill>
              </a:rPr>
              <a:t>权威指南</a:t>
            </a:r>
            <a:r>
              <a:rPr lang="en-US" altLang="zh-CN" dirty="0" smtClean="0">
                <a:solidFill>
                  <a:schemeClr val="bg1"/>
                </a:solidFill>
              </a:rPr>
              <a:t>》</a:t>
            </a:r>
          </a:p>
          <a:p>
            <a:r>
              <a:rPr lang="en-US" altLang="zh-CN" dirty="0" smtClean="0">
                <a:solidFill>
                  <a:schemeClr val="bg1"/>
                </a:solidFill>
                <a:hlinkClick r:id="rId3"/>
              </a:rPr>
              <a:t>  https</a:t>
            </a:r>
            <a:r>
              <a:rPr lang="en-US" altLang="zh-CN" dirty="0">
                <a:solidFill>
                  <a:schemeClr val="bg1"/>
                </a:solidFill>
                <a:hlinkClick r:id="rId3"/>
              </a:rPr>
              <a:t>://</a:t>
            </a:r>
            <a:r>
              <a:rPr lang="en-US" altLang="zh-CN" dirty="0" smtClean="0">
                <a:solidFill>
                  <a:schemeClr val="bg1"/>
                </a:solidFill>
                <a:hlinkClick r:id="rId3"/>
              </a:rPr>
              <a:t>www.elastic.co/guide/cn/elasticsearch/guide/current/index.html</a:t>
            </a:r>
            <a:endParaRPr lang="en-US" altLang="zh-CN" dirty="0" smtClean="0">
              <a:solidFill>
                <a:schemeClr val="bg1"/>
              </a:solidFill>
            </a:endParaRPr>
          </a:p>
          <a:p>
            <a:r>
              <a:rPr lang="en-US" altLang="zh-CN" dirty="0" smtClean="0">
                <a:solidFill>
                  <a:schemeClr val="bg1"/>
                </a:solidFill>
              </a:rPr>
              <a:t>  </a:t>
            </a:r>
            <a:r>
              <a:rPr lang="en-US" altLang="zh-CN" dirty="0" err="1" smtClean="0">
                <a:solidFill>
                  <a:schemeClr val="bg1"/>
                </a:solidFill>
              </a:rPr>
              <a:t>Elasticsearch</a:t>
            </a:r>
            <a:r>
              <a:rPr lang="en-US" altLang="zh-CN" dirty="0" smtClean="0">
                <a:solidFill>
                  <a:schemeClr val="bg1"/>
                </a:solidFill>
              </a:rPr>
              <a:t> 2.4</a:t>
            </a:r>
            <a:r>
              <a:rPr lang="zh-CN" altLang="en-US" dirty="0" smtClean="0">
                <a:solidFill>
                  <a:schemeClr val="bg1"/>
                </a:solidFill>
              </a:rPr>
              <a:t>官方文档</a:t>
            </a:r>
            <a:endParaRPr lang="en-US" altLang="zh-CN" dirty="0" smtClean="0">
              <a:solidFill>
                <a:schemeClr val="bg1"/>
              </a:solidFill>
            </a:endParaRPr>
          </a:p>
          <a:p>
            <a:r>
              <a:rPr lang="en-US" altLang="zh-CN" dirty="0" smtClean="0">
                <a:solidFill>
                  <a:schemeClr val="bg1"/>
                </a:solidFill>
                <a:hlinkClick r:id="rId4"/>
              </a:rPr>
              <a:t>  https</a:t>
            </a:r>
            <a:r>
              <a:rPr lang="en-US" altLang="zh-CN" dirty="0">
                <a:solidFill>
                  <a:schemeClr val="bg1"/>
                </a:solidFill>
                <a:hlinkClick r:id="rId4"/>
              </a:rPr>
              <a:t>://</a:t>
            </a:r>
            <a:r>
              <a:rPr lang="en-US" altLang="zh-CN" dirty="0" smtClean="0">
                <a:solidFill>
                  <a:schemeClr val="bg1"/>
                </a:solidFill>
                <a:hlinkClick r:id="rId4"/>
              </a:rPr>
              <a:t>www.elastic.co/guide/en/elasticsearch/reference/2.4/index.html</a:t>
            </a:r>
            <a:endParaRPr lang="en-US" altLang="zh-CN" dirty="0" smtClean="0">
              <a:solidFill>
                <a:schemeClr val="bg1"/>
              </a:solidFill>
            </a:endParaRPr>
          </a:p>
          <a:p>
            <a:r>
              <a:rPr lang="en-US" altLang="zh-CN" dirty="0">
                <a:solidFill>
                  <a:schemeClr val="bg1"/>
                </a:solidFill>
              </a:rPr>
              <a:t> </a:t>
            </a:r>
            <a:r>
              <a:rPr lang="en-US" altLang="zh-CN" dirty="0" smtClean="0">
                <a:solidFill>
                  <a:schemeClr val="bg1"/>
                </a:solidFill>
              </a:rPr>
              <a:t> </a:t>
            </a:r>
            <a:r>
              <a:rPr lang="en-US" altLang="zh-CN" dirty="0" err="1" smtClean="0">
                <a:solidFill>
                  <a:schemeClr val="bg1"/>
                </a:solidFill>
              </a:rPr>
              <a:t>Elasticsearch</a:t>
            </a:r>
            <a:r>
              <a:rPr lang="zh-CN" altLang="en-US" dirty="0" smtClean="0">
                <a:solidFill>
                  <a:schemeClr val="bg1"/>
                </a:solidFill>
              </a:rPr>
              <a:t>中文社区</a:t>
            </a:r>
            <a:r>
              <a:rPr lang="en-US" altLang="zh-CN" dirty="0">
                <a:solidFill>
                  <a:schemeClr val="bg1"/>
                </a:solidFill>
              </a:rPr>
              <a:t> </a:t>
            </a:r>
            <a:endParaRPr lang="en-US" altLang="zh-CN" dirty="0" smtClean="0">
              <a:solidFill>
                <a:schemeClr val="bg1"/>
              </a:solidFill>
            </a:endParaRPr>
          </a:p>
          <a:p>
            <a:r>
              <a:rPr lang="en-US" altLang="zh-CN" dirty="0">
                <a:solidFill>
                  <a:schemeClr val="bg1"/>
                </a:solidFill>
              </a:rPr>
              <a:t> </a:t>
            </a:r>
            <a:r>
              <a:rPr lang="en-US" altLang="zh-CN" dirty="0" smtClean="0">
                <a:solidFill>
                  <a:schemeClr val="bg1"/>
                </a:solidFill>
              </a:rPr>
              <a:t> </a:t>
            </a:r>
            <a:r>
              <a:rPr lang="en-US" altLang="zh-CN" u="sng" dirty="0" smtClean="0">
                <a:solidFill>
                  <a:schemeClr val="accent1">
                    <a:lumMod val="50000"/>
                  </a:schemeClr>
                </a:solidFill>
              </a:rPr>
              <a:t>https</a:t>
            </a:r>
            <a:r>
              <a:rPr lang="en-US" altLang="zh-CN" u="sng" dirty="0">
                <a:solidFill>
                  <a:schemeClr val="accent1">
                    <a:lumMod val="50000"/>
                  </a:schemeClr>
                </a:solidFill>
              </a:rPr>
              <a:t>://elasticsearch.cn</a:t>
            </a: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a:p>
            <a:endParaRPr lang="en-US" altLang="zh-CN" dirty="0" smtClean="0">
              <a:solidFill>
                <a:schemeClr val="bg1"/>
              </a:solidFill>
            </a:endParaRPr>
          </a:p>
          <a:p>
            <a:endParaRPr lang="en-US" altLang="zh-CN" dirty="0">
              <a:solidFill>
                <a:schemeClr val="bg1"/>
              </a:solidFill>
            </a:endParaRPr>
          </a:p>
        </p:txBody>
      </p:sp>
      <p:pic>
        <p:nvPicPr>
          <p:cNvPr id="11"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
        <p:nvSpPr>
          <p:cNvPr id="12" name="Text Box 5"/>
          <p:cNvSpPr txBox="1">
            <a:spLocks noChangeArrowheads="1"/>
          </p:cNvSpPr>
          <p:nvPr/>
        </p:nvSpPr>
        <p:spPr bwMode="auto">
          <a:xfrm>
            <a:off x="410222" y="986076"/>
            <a:ext cx="4855121" cy="800219"/>
          </a:xfrm>
          <a:prstGeom prst="rect">
            <a:avLst/>
          </a:prstGeom>
          <a:noFill/>
          <a:ln w="9525">
            <a:noFill/>
            <a:miter lim="800000"/>
            <a:headEnd/>
            <a:tailEnd/>
          </a:ln>
          <a:effectLst/>
        </p:spPr>
        <p:txBody>
          <a:bodyPr wrap="square">
            <a:spAutoFit/>
          </a:bodyPr>
          <a:lstStyle/>
          <a:p>
            <a:pPr algn="ctr"/>
            <a:r>
              <a:rPr lang="en-US" altLang="zh-CN" sz="2800" dirty="0" smtClean="0">
                <a:solidFill>
                  <a:schemeClr val="bg1"/>
                </a:solidFill>
                <a:latin typeface="Times New Roman" pitchFamily="18" charset="0"/>
              </a:rPr>
              <a:t>Elasticsearch</a:t>
            </a:r>
            <a:r>
              <a:rPr lang="zh-CN" altLang="en-US" sz="2800" dirty="0" smtClean="0">
                <a:solidFill>
                  <a:schemeClr val="bg1"/>
                </a:solidFill>
                <a:latin typeface="Times New Roman" pitchFamily="18" charset="0"/>
              </a:rPr>
              <a:t>日常使用</a:t>
            </a:r>
            <a:endParaRPr lang="zh-CN" altLang="en-US" sz="2800" dirty="0">
              <a:solidFill>
                <a:schemeClr val="bg1"/>
              </a:solidFill>
              <a:latin typeface="Times New Roman" pitchFamily="18" charset="0"/>
            </a:endParaRPr>
          </a:p>
          <a:p>
            <a:pPr algn="ctr"/>
            <a:endParaRPr lang="zh-CN" altLang="en-US" dirty="0">
              <a:solidFill>
                <a:schemeClr val="bg1"/>
              </a:solidFill>
              <a:latin typeface="Times New Roman" pitchFamily="18" charset="0"/>
            </a:endParaRPr>
          </a:p>
        </p:txBody>
      </p:sp>
    </p:spTree>
    <p:extLst>
      <p:ext uri="{BB962C8B-B14F-4D97-AF65-F5344CB8AC3E}">
        <p14:creationId xmlns:p14="http://schemas.microsoft.com/office/powerpoint/2010/main" val="359890368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WordArt 2"/>
          <p:cNvSpPr>
            <a:spLocks noChangeArrowheads="1" noChangeShapeType="1"/>
          </p:cNvSpPr>
          <p:nvPr/>
        </p:nvSpPr>
        <p:spPr bwMode="auto">
          <a:xfrm>
            <a:off x="5580063" y="3319463"/>
            <a:ext cx="2514600" cy="520700"/>
          </a:xfrm>
          <a:prstGeom prst="rect">
            <a:avLst/>
          </a:prstGeom>
        </p:spPr>
        <p:txBody>
          <a:bodyPr wrap="none" fromWordArt="1">
            <a:prstTxWarp prst="textPlain">
              <a:avLst>
                <a:gd name="adj" fmla="val 50000"/>
              </a:avLst>
            </a:prstTxWarp>
          </a:bodyPr>
          <a:lstStyle/>
          <a:p>
            <a:pPr algn="ctr"/>
            <a:r>
              <a:rPr lang="en-US" altLang="zh-CN" sz="3600">
                <a:ln w="9525">
                  <a:noFill/>
                  <a:round/>
                  <a:headEnd/>
                  <a:tailEnd/>
                </a:ln>
                <a:solidFill>
                  <a:srgbClr val="FF0000"/>
                </a:solidFill>
                <a:latin typeface="Times New Roman"/>
                <a:cs typeface="Times New Roman"/>
              </a:rPr>
              <a:t>Thank Your!</a:t>
            </a:r>
            <a:endParaRPr lang="zh-CN" altLang="en-US" sz="3600">
              <a:ln w="9525">
                <a:noFill/>
                <a:round/>
                <a:headEnd/>
                <a:tailEnd/>
              </a:ln>
              <a:solidFill>
                <a:srgbClr val="FF0000"/>
              </a:solidFill>
              <a:latin typeface="Times New Roman"/>
              <a:cs typeface="Times New Roman"/>
            </a:endParaRPr>
          </a:p>
        </p:txBody>
      </p:sp>
      <p:grpSp>
        <p:nvGrpSpPr>
          <p:cNvPr id="8195" name="中国 242"/>
          <p:cNvGrpSpPr>
            <a:grpSpLocks/>
          </p:cNvGrpSpPr>
          <p:nvPr/>
        </p:nvGrpSpPr>
        <p:grpSpPr bwMode="auto">
          <a:xfrm>
            <a:off x="3098800" y="2108200"/>
            <a:ext cx="1728788" cy="1511300"/>
            <a:chOff x="0" y="0"/>
            <a:chExt cx="5832647" cy="4819363"/>
          </a:xfrm>
        </p:grpSpPr>
        <p:sp>
          <p:nvSpPr>
            <p:cNvPr id="8196" name="Freeform 4"/>
            <p:cNvSpPr>
              <a:spLocks/>
            </p:cNvSpPr>
            <p:nvPr/>
          </p:nvSpPr>
          <p:spPr bwMode="auto">
            <a:xfrm>
              <a:off x="2449067" y="53708"/>
              <a:ext cx="2556482" cy="2180529"/>
            </a:xfrm>
            <a:custGeom>
              <a:avLst/>
              <a:gdLst/>
              <a:ahLst/>
              <a:cxnLst>
                <a:cxn ang="0">
                  <a:pos x="1322" y="106"/>
                </a:cxn>
                <a:cxn ang="0">
                  <a:pos x="1262" y="116"/>
                </a:cxn>
                <a:cxn ang="0">
                  <a:pos x="1216" y="60"/>
                </a:cxn>
                <a:cxn ang="0">
                  <a:pos x="1168" y="58"/>
                </a:cxn>
                <a:cxn ang="0">
                  <a:pos x="1136" y="8"/>
                </a:cxn>
                <a:cxn ang="0">
                  <a:pos x="1142" y="48"/>
                </a:cxn>
                <a:cxn ang="0">
                  <a:pos x="1114" y="192"/>
                </a:cxn>
                <a:cxn ang="0">
                  <a:pos x="1088" y="262"/>
                </a:cxn>
                <a:cxn ang="0">
                  <a:pos x="982" y="276"/>
                </a:cxn>
                <a:cxn ang="0">
                  <a:pos x="994" y="420"/>
                </a:cxn>
                <a:cxn ang="0">
                  <a:pos x="1136" y="428"/>
                </a:cxn>
                <a:cxn ang="0">
                  <a:pos x="1174" y="498"/>
                </a:cxn>
                <a:cxn ang="0">
                  <a:pos x="1018" y="540"/>
                </a:cxn>
                <a:cxn ang="0">
                  <a:pos x="946" y="626"/>
                </a:cxn>
                <a:cxn ang="0">
                  <a:pos x="820" y="664"/>
                </a:cxn>
                <a:cxn ang="0">
                  <a:pos x="778" y="722"/>
                </a:cxn>
                <a:cxn ang="0">
                  <a:pos x="776" y="774"/>
                </a:cxn>
                <a:cxn ang="0">
                  <a:pos x="688" y="860"/>
                </a:cxn>
                <a:cxn ang="0">
                  <a:pos x="510" y="882"/>
                </a:cxn>
                <a:cxn ang="0">
                  <a:pos x="398" y="934"/>
                </a:cxn>
                <a:cxn ang="0">
                  <a:pos x="246" y="872"/>
                </a:cxn>
                <a:cxn ang="0">
                  <a:pos x="68" y="854"/>
                </a:cxn>
                <a:cxn ang="0">
                  <a:pos x="24" y="906"/>
                </a:cxn>
                <a:cxn ang="0">
                  <a:pos x="46" y="980"/>
                </a:cxn>
                <a:cxn ang="0">
                  <a:pos x="138" y="966"/>
                </a:cxn>
                <a:cxn ang="0">
                  <a:pos x="156" y="1060"/>
                </a:cxn>
                <a:cxn ang="0">
                  <a:pos x="196" y="1112"/>
                </a:cxn>
                <a:cxn ang="0">
                  <a:pos x="240" y="1114"/>
                </a:cxn>
                <a:cxn ang="0">
                  <a:pos x="342" y="1074"/>
                </a:cxn>
                <a:cxn ang="0">
                  <a:pos x="386" y="1108"/>
                </a:cxn>
                <a:cxn ang="0">
                  <a:pos x="340" y="1208"/>
                </a:cxn>
                <a:cxn ang="0">
                  <a:pos x="450" y="1204"/>
                </a:cxn>
                <a:cxn ang="0">
                  <a:pos x="522" y="1092"/>
                </a:cxn>
                <a:cxn ang="0">
                  <a:pos x="538" y="1180"/>
                </a:cxn>
                <a:cxn ang="0">
                  <a:pos x="614" y="1216"/>
                </a:cxn>
                <a:cxn ang="0">
                  <a:pos x="690" y="1108"/>
                </a:cxn>
                <a:cxn ang="0">
                  <a:pos x="752" y="1064"/>
                </a:cxn>
                <a:cxn ang="0">
                  <a:pos x="806" y="1052"/>
                </a:cxn>
                <a:cxn ang="0">
                  <a:pos x="860" y="992"/>
                </a:cxn>
                <a:cxn ang="0">
                  <a:pos x="914" y="940"/>
                </a:cxn>
                <a:cxn ang="0">
                  <a:pos x="958" y="840"/>
                </a:cxn>
                <a:cxn ang="0">
                  <a:pos x="992" y="896"/>
                </a:cxn>
                <a:cxn ang="0">
                  <a:pos x="1068" y="848"/>
                </a:cxn>
                <a:cxn ang="0">
                  <a:pos x="1122" y="796"/>
                </a:cxn>
                <a:cxn ang="0">
                  <a:pos x="1158" y="828"/>
                </a:cxn>
                <a:cxn ang="0">
                  <a:pos x="1206" y="890"/>
                </a:cxn>
                <a:cxn ang="0">
                  <a:pos x="1266" y="832"/>
                </a:cxn>
                <a:cxn ang="0">
                  <a:pos x="1356" y="756"/>
                </a:cxn>
                <a:cxn ang="0">
                  <a:pos x="1412" y="712"/>
                </a:cxn>
                <a:cxn ang="0">
                  <a:pos x="1386" y="642"/>
                </a:cxn>
                <a:cxn ang="0">
                  <a:pos x="1328" y="630"/>
                </a:cxn>
                <a:cxn ang="0">
                  <a:pos x="1276" y="524"/>
                </a:cxn>
                <a:cxn ang="0">
                  <a:pos x="1338" y="512"/>
                </a:cxn>
                <a:cxn ang="0">
                  <a:pos x="1298" y="406"/>
                </a:cxn>
                <a:cxn ang="0">
                  <a:pos x="1334" y="368"/>
                </a:cxn>
                <a:cxn ang="0">
                  <a:pos x="1386" y="284"/>
                </a:cxn>
                <a:cxn ang="0">
                  <a:pos x="1398" y="186"/>
                </a:cxn>
              </a:cxnLst>
              <a:rect l="0" t="0" r="r" b="b"/>
              <a:pathLst>
                <a:path w="1428" h="1218">
                  <a:moveTo>
                    <a:pt x="1398" y="128"/>
                  </a:moveTo>
                  <a:lnTo>
                    <a:pt x="1394" y="112"/>
                  </a:lnTo>
                  <a:lnTo>
                    <a:pt x="1378" y="86"/>
                  </a:lnTo>
                  <a:lnTo>
                    <a:pt x="1366" y="80"/>
                  </a:lnTo>
                  <a:lnTo>
                    <a:pt x="1354" y="86"/>
                  </a:lnTo>
                  <a:lnTo>
                    <a:pt x="1348" y="100"/>
                  </a:lnTo>
                  <a:lnTo>
                    <a:pt x="1346" y="102"/>
                  </a:lnTo>
                  <a:lnTo>
                    <a:pt x="1344" y="102"/>
                  </a:lnTo>
                  <a:lnTo>
                    <a:pt x="1322" y="106"/>
                  </a:lnTo>
                  <a:lnTo>
                    <a:pt x="1318" y="108"/>
                  </a:lnTo>
                  <a:lnTo>
                    <a:pt x="1316" y="112"/>
                  </a:lnTo>
                  <a:lnTo>
                    <a:pt x="1310" y="116"/>
                  </a:lnTo>
                  <a:lnTo>
                    <a:pt x="1298" y="126"/>
                  </a:lnTo>
                  <a:lnTo>
                    <a:pt x="1296" y="128"/>
                  </a:lnTo>
                  <a:lnTo>
                    <a:pt x="1286" y="130"/>
                  </a:lnTo>
                  <a:lnTo>
                    <a:pt x="1276" y="126"/>
                  </a:lnTo>
                  <a:lnTo>
                    <a:pt x="1264" y="118"/>
                  </a:lnTo>
                  <a:lnTo>
                    <a:pt x="1262" y="116"/>
                  </a:lnTo>
                  <a:lnTo>
                    <a:pt x="1244" y="96"/>
                  </a:lnTo>
                  <a:lnTo>
                    <a:pt x="1240" y="90"/>
                  </a:lnTo>
                  <a:lnTo>
                    <a:pt x="1238" y="84"/>
                  </a:lnTo>
                  <a:lnTo>
                    <a:pt x="1238" y="62"/>
                  </a:lnTo>
                  <a:lnTo>
                    <a:pt x="1238" y="60"/>
                  </a:lnTo>
                  <a:lnTo>
                    <a:pt x="1242" y="56"/>
                  </a:lnTo>
                  <a:lnTo>
                    <a:pt x="1218" y="48"/>
                  </a:lnTo>
                  <a:lnTo>
                    <a:pt x="1218" y="56"/>
                  </a:lnTo>
                  <a:lnTo>
                    <a:pt x="1216" y="60"/>
                  </a:lnTo>
                  <a:lnTo>
                    <a:pt x="1210" y="64"/>
                  </a:lnTo>
                  <a:lnTo>
                    <a:pt x="1202" y="68"/>
                  </a:lnTo>
                  <a:lnTo>
                    <a:pt x="1200" y="68"/>
                  </a:lnTo>
                  <a:lnTo>
                    <a:pt x="1200" y="66"/>
                  </a:lnTo>
                  <a:lnTo>
                    <a:pt x="1188" y="64"/>
                  </a:lnTo>
                  <a:lnTo>
                    <a:pt x="1190" y="72"/>
                  </a:lnTo>
                  <a:lnTo>
                    <a:pt x="1170" y="60"/>
                  </a:lnTo>
                  <a:lnTo>
                    <a:pt x="1168" y="60"/>
                  </a:lnTo>
                  <a:lnTo>
                    <a:pt x="1168" y="58"/>
                  </a:lnTo>
                  <a:lnTo>
                    <a:pt x="1164" y="46"/>
                  </a:lnTo>
                  <a:lnTo>
                    <a:pt x="1162" y="32"/>
                  </a:lnTo>
                  <a:lnTo>
                    <a:pt x="1164" y="22"/>
                  </a:lnTo>
                  <a:lnTo>
                    <a:pt x="1166" y="16"/>
                  </a:lnTo>
                  <a:lnTo>
                    <a:pt x="1172" y="6"/>
                  </a:lnTo>
                  <a:lnTo>
                    <a:pt x="1170" y="0"/>
                  </a:lnTo>
                  <a:lnTo>
                    <a:pt x="1150" y="2"/>
                  </a:lnTo>
                  <a:lnTo>
                    <a:pt x="1142" y="4"/>
                  </a:lnTo>
                  <a:lnTo>
                    <a:pt x="1136" y="8"/>
                  </a:lnTo>
                  <a:lnTo>
                    <a:pt x="1132" y="14"/>
                  </a:lnTo>
                  <a:lnTo>
                    <a:pt x="1128" y="22"/>
                  </a:lnTo>
                  <a:lnTo>
                    <a:pt x="1116" y="40"/>
                  </a:lnTo>
                  <a:lnTo>
                    <a:pt x="1128" y="40"/>
                  </a:lnTo>
                  <a:lnTo>
                    <a:pt x="1130" y="40"/>
                  </a:lnTo>
                  <a:lnTo>
                    <a:pt x="1140" y="44"/>
                  </a:lnTo>
                  <a:lnTo>
                    <a:pt x="1142" y="44"/>
                  </a:lnTo>
                  <a:lnTo>
                    <a:pt x="1142" y="46"/>
                  </a:lnTo>
                  <a:lnTo>
                    <a:pt x="1142" y="48"/>
                  </a:lnTo>
                  <a:lnTo>
                    <a:pt x="1144" y="64"/>
                  </a:lnTo>
                  <a:lnTo>
                    <a:pt x="1150" y="80"/>
                  </a:lnTo>
                  <a:lnTo>
                    <a:pt x="1150" y="82"/>
                  </a:lnTo>
                  <a:lnTo>
                    <a:pt x="1150" y="84"/>
                  </a:lnTo>
                  <a:lnTo>
                    <a:pt x="1122" y="136"/>
                  </a:lnTo>
                  <a:lnTo>
                    <a:pt x="1120" y="142"/>
                  </a:lnTo>
                  <a:lnTo>
                    <a:pt x="1118" y="154"/>
                  </a:lnTo>
                  <a:lnTo>
                    <a:pt x="1114" y="190"/>
                  </a:lnTo>
                  <a:lnTo>
                    <a:pt x="1114" y="192"/>
                  </a:lnTo>
                  <a:lnTo>
                    <a:pt x="1104" y="212"/>
                  </a:lnTo>
                  <a:lnTo>
                    <a:pt x="1110" y="220"/>
                  </a:lnTo>
                  <a:lnTo>
                    <a:pt x="1110" y="222"/>
                  </a:lnTo>
                  <a:lnTo>
                    <a:pt x="1110" y="236"/>
                  </a:lnTo>
                  <a:lnTo>
                    <a:pt x="1110" y="242"/>
                  </a:lnTo>
                  <a:lnTo>
                    <a:pt x="1108" y="244"/>
                  </a:lnTo>
                  <a:lnTo>
                    <a:pt x="1106" y="244"/>
                  </a:lnTo>
                  <a:lnTo>
                    <a:pt x="1098" y="250"/>
                  </a:lnTo>
                  <a:lnTo>
                    <a:pt x="1088" y="262"/>
                  </a:lnTo>
                  <a:lnTo>
                    <a:pt x="1052" y="302"/>
                  </a:lnTo>
                  <a:lnTo>
                    <a:pt x="1050" y="304"/>
                  </a:lnTo>
                  <a:lnTo>
                    <a:pt x="1048" y="304"/>
                  </a:lnTo>
                  <a:lnTo>
                    <a:pt x="1046" y="302"/>
                  </a:lnTo>
                  <a:lnTo>
                    <a:pt x="1030" y="292"/>
                  </a:lnTo>
                  <a:lnTo>
                    <a:pt x="1020" y="282"/>
                  </a:lnTo>
                  <a:lnTo>
                    <a:pt x="1014" y="280"/>
                  </a:lnTo>
                  <a:lnTo>
                    <a:pt x="1008" y="278"/>
                  </a:lnTo>
                  <a:lnTo>
                    <a:pt x="982" y="276"/>
                  </a:lnTo>
                  <a:lnTo>
                    <a:pt x="982" y="314"/>
                  </a:lnTo>
                  <a:lnTo>
                    <a:pt x="966" y="384"/>
                  </a:lnTo>
                  <a:lnTo>
                    <a:pt x="964" y="392"/>
                  </a:lnTo>
                  <a:lnTo>
                    <a:pt x="964" y="402"/>
                  </a:lnTo>
                  <a:lnTo>
                    <a:pt x="962" y="432"/>
                  </a:lnTo>
                  <a:lnTo>
                    <a:pt x="968" y="440"/>
                  </a:lnTo>
                  <a:lnTo>
                    <a:pt x="974" y="430"/>
                  </a:lnTo>
                  <a:lnTo>
                    <a:pt x="974" y="428"/>
                  </a:lnTo>
                  <a:lnTo>
                    <a:pt x="994" y="420"/>
                  </a:lnTo>
                  <a:lnTo>
                    <a:pt x="1044" y="428"/>
                  </a:lnTo>
                  <a:lnTo>
                    <a:pt x="1050" y="420"/>
                  </a:lnTo>
                  <a:lnTo>
                    <a:pt x="1058" y="408"/>
                  </a:lnTo>
                  <a:lnTo>
                    <a:pt x="1060" y="406"/>
                  </a:lnTo>
                  <a:lnTo>
                    <a:pt x="1080" y="402"/>
                  </a:lnTo>
                  <a:lnTo>
                    <a:pt x="1106" y="400"/>
                  </a:lnTo>
                  <a:lnTo>
                    <a:pt x="1112" y="404"/>
                  </a:lnTo>
                  <a:lnTo>
                    <a:pt x="1120" y="410"/>
                  </a:lnTo>
                  <a:lnTo>
                    <a:pt x="1136" y="428"/>
                  </a:lnTo>
                  <a:lnTo>
                    <a:pt x="1158" y="440"/>
                  </a:lnTo>
                  <a:lnTo>
                    <a:pt x="1174" y="452"/>
                  </a:lnTo>
                  <a:lnTo>
                    <a:pt x="1184" y="462"/>
                  </a:lnTo>
                  <a:lnTo>
                    <a:pt x="1190" y="472"/>
                  </a:lnTo>
                  <a:lnTo>
                    <a:pt x="1192" y="480"/>
                  </a:lnTo>
                  <a:lnTo>
                    <a:pt x="1190" y="488"/>
                  </a:lnTo>
                  <a:lnTo>
                    <a:pt x="1186" y="492"/>
                  </a:lnTo>
                  <a:lnTo>
                    <a:pt x="1184" y="496"/>
                  </a:lnTo>
                  <a:lnTo>
                    <a:pt x="1174" y="498"/>
                  </a:lnTo>
                  <a:lnTo>
                    <a:pt x="1172" y="498"/>
                  </a:lnTo>
                  <a:lnTo>
                    <a:pt x="1126" y="498"/>
                  </a:lnTo>
                  <a:lnTo>
                    <a:pt x="1112" y="498"/>
                  </a:lnTo>
                  <a:lnTo>
                    <a:pt x="1102" y="500"/>
                  </a:lnTo>
                  <a:lnTo>
                    <a:pt x="1084" y="512"/>
                  </a:lnTo>
                  <a:lnTo>
                    <a:pt x="1054" y="532"/>
                  </a:lnTo>
                  <a:lnTo>
                    <a:pt x="1042" y="536"/>
                  </a:lnTo>
                  <a:lnTo>
                    <a:pt x="1034" y="538"/>
                  </a:lnTo>
                  <a:lnTo>
                    <a:pt x="1018" y="540"/>
                  </a:lnTo>
                  <a:lnTo>
                    <a:pt x="1010" y="580"/>
                  </a:lnTo>
                  <a:lnTo>
                    <a:pt x="1004" y="596"/>
                  </a:lnTo>
                  <a:lnTo>
                    <a:pt x="1000" y="602"/>
                  </a:lnTo>
                  <a:lnTo>
                    <a:pt x="996" y="606"/>
                  </a:lnTo>
                  <a:lnTo>
                    <a:pt x="990" y="610"/>
                  </a:lnTo>
                  <a:lnTo>
                    <a:pt x="984" y="614"/>
                  </a:lnTo>
                  <a:lnTo>
                    <a:pt x="966" y="620"/>
                  </a:lnTo>
                  <a:lnTo>
                    <a:pt x="956" y="622"/>
                  </a:lnTo>
                  <a:lnTo>
                    <a:pt x="946" y="626"/>
                  </a:lnTo>
                  <a:lnTo>
                    <a:pt x="926" y="634"/>
                  </a:lnTo>
                  <a:lnTo>
                    <a:pt x="914" y="664"/>
                  </a:lnTo>
                  <a:lnTo>
                    <a:pt x="912" y="664"/>
                  </a:lnTo>
                  <a:lnTo>
                    <a:pt x="910" y="664"/>
                  </a:lnTo>
                  <a:lnTo>
                    <a:pt x="874" y="680"/>
                  </a:lnTo>
                  <a:lnTo>
                    <a:pt x="872" y="680"/>
                  </a:lnTo>
                  <a:lnTo>
                    <a:pt x="854" y="676"/>
                  </a:lnTo>
                  <a:lnTo>
                    <a:pt x="834" y="670"/>
                  </a:lnTo>
                  <a:lnTo>
                    <a:pt x="820" y="664"/>
                  </a:lnTo>
                  <a:lnTo>
                    <a:pt x="814" y="662"/>
                  </a:lnTo>
                  <a:lnTo>
                    <a:pt x="806" y="660"/>
                  </a:lnTo>
                  <a:lnTo>
                    <a:pt x="798" y="660"/>
                  </a:lnTo>
                  <a:lnTo>
                    <a:pt x="790" y="662"/>
                  </a:lnTo>
                  <a:lnTo>
                    <a:pt x="784" y="672"/>
                  </a:lnTo>
                  <a:lnTo>
                    <a:pt x="778" y="684"/>
                  </a:lnTo>
                  <a:lnTo>
                    <a:pt x="776" y="698"/>
                  </a:lnTo>
                  <a:lnTo>
                    <a:pt x="776" y="710"/>
                  </a:lnTo>
                  <a:lnTo>
                    <a:pt x="778" y="722"/>
                  </a:lnTo>
                  <a:lnTo>
                    <a:pt x="782" y="728"/>
                  </a:lnTo>
                  <a:lnTo>
                    <a:pt x="786" y="728"/>
                  </a:lnTo>
                  <a:lnTo>
                    <a:pt x="794" y="724"/>
                  </a:lnTo>
                  <a:lnTo>
                    <a:pt x="794" y="748"/>
                  </a:lnTo>
                  <a:lnTo>
                    <a:pt x="794" y="756"/>
                  </a:lnTo>
                  <a:lnTo>
                    <a:pt x="792" y="760"/>
                  </a:lnTo>
                  <a:lnTo>
                    <a:pt x="790" y="764"/>
                  </a:lnTo>
                  <a:lnTo>
                    <a:pt x="786" y="768"/>
                  </a:lnTo>
                  <a:lnTo>
                    <a:pt x="776" y="774"/>
                  </a:lnTo>
                  <a:lnTo>
                    <a:pt x="764" y="778"/>
                  </a:lnTo>
                  <a:lnTo>
                    <a:pt x="758" y="780"/>
                  </a:lnTo>
                  <a:lnTo>
                    <a:pt x="750" y="786"/>
                  </a:lnTo>
                  <a:lnTo>
                    <a:pt x="738" y="798"/>
                  </a:lnTo>
                  <a:lnTo>
                    <a:pt x="724" y="818"/>
                  </a:lnTo>
                  <a:lnTo>
                    <a:pt x="708" y="844"/>
                  </a:lnTo>
                  <a:lnTo>
                    <a:pt x="706" y="844"/>
                  </a:lnTo>
                  <a:lnTo>
                    <a:pt x="682" y="860"/>
                  </a:lnTo>
                  <a:lnTo>
                    <a:pt x="688" y="860"/>
                  </a:lnTo>
                  <a:lnTo>
                    <a:pt x="688" y="862"/>
                  </a:lnTo>
                  <a:lnTo>
                    <a:pt x="688" y="864"/>
                  </a:lnTo>
                  <a:lnTo>
                    <a:pt x="686" y="868"/>
                  </a:lnTo>
                  <a:lnTo>
                    <a:pt x="678" y="868"/>
                  </a:lnTo>
                  <a:lnTo>
                    <a:pt x="610" y="868"/>
                  </a:lnTo>
                  <a:lnTo>
                    <a:pt x="584" y="868"/>
                  </a:lnTo>
                  <a:lnTo>
                    <a:pt x="558" y="870"/>
                  </a:lnTo>
                  <a:lnTo>
                    <a:pt x="532" y="874"/>
                  </a:lnTo>
                  <a:lnTo>
                    <a:pt x="510" y="882"/>
                  </a:lnTo>
                  <a:lnTo>
                    <a:pt x="488" y="890"/>
                  </a:lnTo>
                  <a:lnTo>
                    <a:pt x="468" y="900"/>
                  </a:lnTo>
                  <a:lnTo>
                    <a:pt x="450" y="914"/>
                  </a:lnTo>
                  <a:lnTo>
                    <a:pt x="434" y="928"/>
                  </a:lnTo>
                  <a:lnTo>
                    <a:pt x="432" y="930"/>
                  </a:lnTo>
                  <a:lnTo>
                    <a:pt x="430" y="930"/>
                  </a:lnTo>
                  <a:lnTo>
                    <a:pt x="402" y="934"/>
                  </a:lnTo>
                  <a:lnTo>
                    <a:pt x="400" y="934"/>
                  </a:lnTo>
                  <a:lnTo>
                    <a:pt x="398" y="934"/>
                  </a:lnTo>
                  <a:lnTo>
                    <a:pt x="390" y="916"/>
                  </a:lnTo>
                  <a:lnTo>
                    <a:pt x="362" y="922"/>
                  </a:lnTo>
                  <a:lnTo>
                    <a:pt x="350" y="922"/>
                  </a:lnTo>
                  <a:lnTo>
                    <a:pt x="336" y="920"/>
                  </a:lnTo>
                  <a:lnTo>
                    <a:pt x="320" y="916"/>
                  </a:lnTo>
                  <a:lnTo>
                    <a:pt x="304" y="908"/>
                  </a:lnTo>
                  <a:lnTo>
                    <a:pt x="290" y="900"/>
                  </a:lnTo>
                  <a:lnTo>
                    <a:pt x="274" y="892"/>
                  </a:lnTo>
                  <a:lnTo>
                    <a:pt x="246" y="872"/>
                  </a:lnTo>
                  <a:lnTo>
                    <a:pt x="238" y="866"/>
                  </a:lnTo>
                  <a:lnTo>
                    <a:pt x="226" y="860"/>
                  </a:lnTo>
                  <a:lnTo>
                    <a:pt x="214" y="856"/>
                  </a:lnTo>
                  <a:lnTo>
                    <a:pt x="202" y="854"/>
                  </a:lnTo>
                  <a:lnTo>
                    <a:pt x="176" y="852"/>
                  </a:lnTo>
                  <a:lnTo>
                    <a:pt x="148" y="856"/>
                  </a:lnTo>
                  <a:lnTo>
                    <a:pt x="116" y="858"/>
                  </a:lnTo>
                  <a:lnTo>
                    <a:pt x="86" y="856"/>
                  </a:lnTo>
                  <a:lnTo>
                    <a:pt x="68" y="854"/>
                  </a:lnTo>
                  <a:lnTo>
                    <a:pt x="48" y="852"/>
                  </a:lnTo>
                  <a:lnTo>
                    <a:pt x="2" y="838"/>
                  </a:lnTo>
                  <a:lnTo>
                    <a:pt x="0" y="844"/>
                  </a:lnTo>
                  <a:lnTo>
                    <a:pt x="2" y="844"/>
                  </a:lnTo>
                  <a:lnTo>
                    <a:pt x="2" y="852"/>
                  </a:lnTo>
                  <a:lnTo>
                    <a:pt x="10" y="868"/>
                  </a:lnTo>
                  <a:lnTo>
                    <a:pt x="26" y="888"/>
                  </a:lnTo>
                  <a:lnTo>
                    <a:pt x="28" y="892"/>
                  </a:lnTo>
                  <a:lnTo>
                    <a:pt x="24" y="906"/>
                  </a:lnTo>
                  <a:lnTo>
                    <a:pt x="24" y="908"/>
                  </a:lnTo>
                  <a:lnTo>
                    <a:pt x="14" y="920"/>
                  </a:lnTo>
                  <a:lnTo>
                    <a:pt x="24" y="930"/>
                  </a:lnTo>
                  <a:lnTo>
                    <a:pt x="30" y="936"/>
                  </a:lnTo>
                  <a:lnTo>
                    <a:pt x="30" y="940"/>
                  </a:lnTo>
                  <a:lnTo>
                    <a:pt x="34" y="956"/>
                  </a:lnTo>
                  <a:lnTo>
                    <a:pt x="46" y="968"/>
                  </a:lnTo>
                  <a:lnTo>
                    <a:pt x="46" y="970"/>
                  </a:lnTo>
                  <a:lnTo>
                    <a:pt x="46" y="980"/>
                  </a:lnTo>
                  <a:lnTo>
                    <a:pt x="46" y="988"/>
                  </a:lnTo>
                  <a:lnTo>
                    <a:pt x="54" y="994"/>
                  </a:lnTo>
                  <a:lnTo>
                    <a:pt x="58" y="992"/>
                  </a:lnTo>
                  <a:lnTo>
                    <a:pt x="60" y="990"/>
                  </a:lnTo>
                  <a:lnTo>
                    <a:pt x="64" y="982"/>
                  </a:lnTo>
                  <a:lnTo>
                    <a:pt x="72" y="980"/>
                  </a:lnTo>
                  <a:lnTo>
                    <a:pt x="78" y="976"/>
                  </a:lnTo>
                  <a:lnTo>
                    <a:pt x="120" y="972"/>
                  </a:lnTo>
                  <a:lnTo>
                    <a:pt x="138" y="966"/>
                  </a:lnTo>
                  <a:lnTo>
                    <a:pt x="142" y="964"/>
                  </a:lnTo>
                  <a:lnTo>
                    <a:pt x="150" y="984"/>
                  </a:lnTo>
                  <a:lnTo>
                    <a:pt x="150" y="990"/>
                  </a:lnTo>
                  <a:lnTo>
                    <a:pt x="148" y="996"/>
                  </a:lnTo>
                  <a:lnTo>
                    <a:pt x="126" y="1028"/>
                  </a:lnTo>
                  <a:lnTo>
                    <a:pt x="126" y="1034"/>
                  </a:lnTo>
                  <a:lnTo>
                    <a:pt x="138" y="1044"/>
                  </a:lnTo>
                  <a:lnTo>
                    <a:pt x="148" y="1052"/>
                  </a:lnTo>
                  <a:lnTo>
                    <a:pt x="156" y="1060"/>
                  </a:lnTo>
                  <a:lnTo>
                    <a:pt x="162" y="1064"/>
                  </a:lnTo>
                  <a:lnTo>
                    <a:pt x="170" y="1068"/>
                  </a:lnTo>
                  <a:lnTo>
                    <a:pt x="178" y="1076"/>
                  </a:lnTo>
                  <a:lnTo>
                    <a:pt x="178" y="1078"/>
                  </a:lnTo>
                  <a:lnTo>
                    <a:pt x="186" y="1082"/>
                  </a:lnTo>
                  <a:lnTo>
                    <a:pt x="190" y="1082"/>
                  </a:lnTo>
                  <a:lnTo>
                    <a:pt x="192" y="1092"/>
                  </a:lnTo>
                  <a:lnTo>
                    <a:pt x="194" y="1100"/>
                  </a:lnTo>
                  <a:lnTo>
                    <a:pt x="196" y="1112"/>
                  </a:lnTo>
                  <a:lnTo>
                    <a:pt x="216" y="1116"/>
                  </a:lnTo>
                  <a:lnTo>
                    <a:pt x="218" y="1116"/>
                  </a:lnTo>
                  <a:lnTo>
                    <a:pt x="218" y="1118"/>
                  </a:lnTo>
                  <a:lnTo>
                    <a:pt x="220" y="1120"/>
                  </a:lnTo>
                  <a:lnTo>
                    <a:pt x="226" y="1130"/>
                  </a:lnTo>
                  <a:lnTo>
                    <a:pt x="242" y="1136"/>
                  </a:lnTo>
                  <a:lnTo>
                    <a:pt x="252" y="1130"/>
                  </a:lnTo>
                  <a:lnTo>
                    <a:pt x="250" y="1124"/>
                  </a:lnTo>
                  <a:lnTo>
                    <a:pt x="240" y="1114"/>
                  </a:lnTo>
                  <a:lnTo>
                    <a:pt x="242" y="1112"/>
                  </a:lnTo>
                  <a:lnTo>
                    <a:pt x="250" y="1094"/>
                  </a:lnTo>
                  <a:lnTo>
                    <a:pt x="270" y="1094"/>
                  </a:lnTo>
                  <a:lnTo>
                    <a:pt x="270" y="1096"/>
                  </a:lnTo>
                  <a:lnTo>
                    <a:pt x="298" y="1104"/>
                  </a:lnTo>
                  <a:lnTo>
                    <a:pt x="314" y="1102"/>
                  </a:lnTo>
                  <a:lnTo>
                    <a:pt x="326" y="1092"/>
                  </a:lnTo>
                  <a:lnTo>
                    <a:pt x="334" y="1080"/>
                  </a:lnTo>
                  <a:lnTo>
                    <a:pt x="342" y="1074"/>
                  </a:lnTo>
                  <a:lnTo>
                    <a:pt x="348" y="1070"/>
                  </a:lnTo>
                  <a:lnTo>
                    <a:pt x="354" y="1072"/>
                  </a:lnTo>
                  <a:lnTo>
                    <a:pt x="360" y="1070"/>
                  </a:lnTo>
                  <a:lnTo>
                    <a:pt x="368" y="1072"/>
                  </a:lnTo>
                  <a:lnTo>
                    <a:pt x="374" y="1072"/>
                  </a:lnTo>
                  <a:lnTo>
                    <a:pt x="374" y="1076"/>
                  </a:lnTo>
                  <a:lnTo>
                    <a:pt x="378" y="1084"/>
                  </a:lnTo>
                  <a:lnTo>
                    <a:pt x="382" y="1096"/>
                  </a:lnTo>
                  <a:lnTo>
                    <a:pt x="386" y="1108"/>
                  </a:lnTo>
                  <a:lnTo>
                    <a:pt x="386" y="1110"/>
                  </a:lnTo>
                  <a:lnTo>
                    <a:pt x="382" y="1124"/>
                  </a:lnTo>
                  <a:lnTo>
                    <a:pt x="368" y="1140"/>
                  </a:lnTo>
                  <a:lnTo>
                    <a:pt x="366" y="1142"/>
                  </a:lnTo>
                  <a:lnTo>
                    <a:pt x="338" y="1154"/>
                  </a:lnTo>
                  <a:lnTo>
                    <a:pt x="334" y="1162"/>
                  </a:lnTo>
                  <a:lnTo>
                    <a:pt x="330" y="1186"/>
                  </a:lnTo>
                  <a:lnTo>
                    <a:pt x="332" y="1196"/>
                  </a:lnTo>
                  <a:lnTo>
                    <a:pt x="340" y="1208"/>
                  </a:lnTo>
                  <a:lnTo>
                    <a:pt x="342" y="1212"/>
                  </a:lnTo>
                  <a:lnTo>
                    <a:pt x="352" y="1218"/>
                  </a:lnTo>
                  <a:lnTo>
                    <a:pt x="386" y="1218"/>
                  </a:lnTo>
                  <a:lnTo>
                    <a:pt x="414" y="1214"/>
                  </a:lnTo>
                  <a:lnTo>
                    <a:pt x="418" y="1210"/>
                  </a:lnTo>
                  <a:lnTo>
                    <a:pt x="424" y="1204"/>
                  </a:lnTo>
                  <a:lnTo>
                    <a:pt x="428" y="1204"/>
                  </a:lnTo>
                  <a:lnTo>
                    <a:pt x="448" y="1206"/>
                  </a:lnTo>
                  <a:lnTo>
                    <a:pt x="450" y="1204"/>
                  </a:lnTo>
                  <a:lnTo>
                    <a:pt x="448" y="1196"/>
                  </a:lnTo>
                  <a:lnTo>
                    <a:pt x="450" y="1188"/>
                  </a:lnTo>
                  <a:lnTo>
                    <a:pt x="458" y="1174"/>
                  </a:lnTo>
                  <a:lnTo>
                    <a:pt x="458" y="1148"/>
                  </a:lnTo>
                  <a:lnTo>
                    <a:pt x="474" y="1106"/>
                  </a:lnTo>
                  <a:lnTo>
                    <a:pt x="474" y="1104"/>
                  </a:lnTo>
                  <a:lnTo>
                    <a:pt x="500" y="1084"/>
                  </a:lnTo>
                  <a:lnTo>
                    <a:pt x="502" y="1082"/>
                  </a:lnTo>
                  <a:lnTo>
                    <a:pt x="522" y="1092"/>
                  </a:lnTo>
                  <a:lnTo>
                    <a:pt x="536" y="1102"/>
                  </a:lnTo>
                  <a:lnTo>
                    <a:pt x="538" y="1108"/>
                  </a:lnTo>
                  <a:lnTo>
                    <a:pt x="540" y="1110"/>
                  </a:lnTo>
                  <a:lnTo>
                    <a:pt x="538" y="1128"/>
                  </a:lnTo>
                  <a:lnTo>
                    <a:pt x="530" y="1140"/>
                  </a:lnTo>
                  <a:lnTo>
                    <a:pt x="526" y="1156"/>
                  </a:lnTo>
                  <a:lnTo>
                    <a:pt x="526" y="1172"/>
                  </a:lnTo>
                  <a:lnTo>
                    <a:pt x="530" y="1180"/>
                  </a:lnTo>
                  <a:lnTo>
                    <a:pt x="538" y="1180"/>
                  </a:lnTo>
                  <a:lnTo>
                    <a:pt x="540" y="1180"/>
                  </a:lnTo>
                  <a:lnTo>
                    <a:pt x="552" y="1180"/>
                  </a:lnTo>
                  <a:lnTo>
                    <a:pt x="556" y="1182"/>
                  </a:lnTo>
                  <a:lnTo>
                    <a:pt x="560" y="1186"/>
                  </a:lnTo>
                  <a:lnTo>
                    <a:pt x="566" y="1196"/>
                  </a:lnTo>
                  <a:lnTo>
                    <a:pt x="572" y="1200"/>
                  </a:lnTo>
                  <a:lnTo>
                    <a:pt x="574" y="1200"/>
                  </a:lnTo>
                  <a:lnTo>
                    <a:pt x="602" y="1212"/>
                  </a:lnTo>
                  <a:lnTo>
                    <a:pt x="614" y="1216"/>
                  </a:lnTo>
                  <a:lnTo>
                    <a:pt x="630" y="1214"/>
                  </a:lnTo>
                  <a:lnTo>
                    <a:pt x="638" y="1204"/>
                  </a:lnTo>
                  <a:lnTo>
                    <a:pt x="646" y="1164"/>
                  </a:lnTo>
                  <a:lnTo>
                    <a:pt x="648" y="1144"/>
                  </a:lnTo>
                  <a:lnTo>
                    <a:pt x="648" y="1142"/>
                  </a:lnTo>
                  <a:lnTo>
                    <a:pt x="650" y="1140"/>
                  </a:lnTo>
                  <a:lnTo>
                    <a:pt x="666" y="1128"/>
                  </a:lnTo>
                  <a:lnTo>
                    <a:pt x="674" y="1116"/>
                  </a:lnTo>
                  <a:lnTo>
                    <a:pt x="690" y="1108"/>
                  </a:lnTo>
                  <a:lnTo>
                    <a:pt x="700" y="1102"/>
                  </a:lnTo>
                  <a:lnTo>
                    <a:pt x="712" y="1098"/>
                  </a:lnTo>
                  <a:lnTo>
                    <a:pt x="706" y="1074"/>
                  </a:lnTo>
                  <a:lnTo>
                    <a:pt x="734" y="1076"/>
                  </a:lnTo>
                  <a:lnTo>
                    <a:pt x="734" y="1078"/>
                  </a:lnTo>
                  <a:lnTo>
                    <a:pt x="748" y="1084"/>
                  </a:lnTo>
                  <a:lnTo>
                    <a:pt x="748" y="1082"/>
                  </a:lnTo>
                  <a:lnTo>
                    <a:pt x="752" y="1068"/>
                  </a:lnTo>
                  <a:lnTo>
                    <a:pt x="752" y="1064"/>
                  </a:lnTo>
                  <a:lnTo>
                    <a:pt x="754" y="1066"/>
                  </a:lnTo>
                  <a:lnTo>
                    <a:pt x="756" y="1066"/>
                  </a:lnTo>
                  <a:lnTo>
                    <a:pt x="768" y="1068"/>
                  </a:lnTo>
                  <a:lnTo>
                    <a:pt x="774" y="1068"/>
                  </a:lnTo>
                  <a:lnTo>
                    <a:pt x="786" y="1056"/>
                  </a:lnTo>
                  <a:lnTo>
                    <a:pt x="788" y="1056"/>
                  </a:lnTo>
                  <a:lnTo>
                    <a:pt x="788" y="1054"/>
                  </a:lnTo>
                  <a:lnTo>
                    <a:pt x="790" y="1054"/>
                  </a:lnTo>
                  <a:lnTo>
                    <a:pt x="806" y="1052"/>
                  </a:lnTo>
                  <a:lnTo>
                    <a:pt x="818" y="1038"/>
                  </a:lnTo>
                  <a:lnTo>
                    <a:pt x="826" y="1028"/>
                  </a:lnTo>
                  <a:lnTo>
                    <a:pt x="826" y="1016"/>
                  </a:lnTo>
                  <a:lnTo>
                    <a:pt x="828" y="1010"/>
                  </a:lnTo>
                  <a:lnTo>
                    <a:pt x="834" y="1004"/>
                  </a:lnTo>
                  <a:lnTo>
                    <a:pt x="836" y="1004"/>
                  </a:lnTo>
                  <a:lnTo>
                    <a:pt x="850" y="1006"/>
                  </a:lnTo>
                  <a:lnTo>
                    <a:pt x="858" y="1002"/>
                  </a:lnTo>
                  <a:lnTo>
                    <a:pt x="860" y="992"/>
                  </a:lnTo>
                  <a:lnTo>
                    <a:pt x="876" y="986"/>
                  </a:lnTo>
                  <a:lnTo>
                    <a:pt x="878" y="986"/>
                  </a:lnTo>
                  <a:lnTo>
                    <a:pt x="898" y="988"/>
                  </a:lnTo>
                  <a:lnTo>
                    <a:pt x="914" y="984"/>
                  </a:lnTo>
                  <a:lnTo>
                    <a:pt x="922" y="976"/>
                  </a:lnTo>
                  <a:lnTo>
                    <a:pt x="930" y="962"/>
                  </a:lnTo>
                  <a:lnTo>
                    <a:pt x="918" y="950"/>
                  </a:lnTo>
                  <a:lnTo>
                    <a:pt x="918" y="948"/>
                  </a:lnTo>
                  <a:lnTo>
                    <a:pt x="914" y="940"/>
                  </a:lnTo>
                  <a:lnTo>
                    <a:pt x="912" y="924"/>
                  </a:lnTo>
                  <a:lnTo>
                    <a:pt x="918" y="912"/>
                  </a:lnTo>
                  <a:lnTo>
                    <a:pt x="920" y="904"/>
                  </a:lnTo>
                  <a:lnTo>
                    <a:pt x="928" y="896"/>
                  </a:lnTo>
                  <a:lnTo>
                    <a:pt x="936" y="878"/>
                  </a:lnTo>
                  <a:lnTo>
                    <a:pt x="936" y="876"/>
                  </a:lnTo>
                  <a:lnTo>
                    <a:pt x="938" y="876"/>
                  </a:lnTo>
                  <a:lnTo>
                    <a:pt x="946" y="864"/>
                  </a:lnTo>
                  <a:lnTo>
                    <a:pt x="958" y="840"/>
                  </a:lnTo>
                  <a:lnTo>
                    <a:pt x="968" y="856"/>
                  </a:lnTo>
                  <a:lnTo>
                    <a:pt x="970" y="856"/>
                  </a:lnTo>
                  <a:lnTo>
                    <a:pt x="970" y="858"/>
                  </a:lnTo>
                  <a:lnTo>
                    <a:pt x="974" y="874"/>
                  </a:lnTo>
                  <a:lnTo>
                    <a:pt x="976" y="890"/>
                  </a:lnTo>
                  <a:lnTo>
                    <a:pt x="986" y="896"/>
                  </a:lnTo>
                  <a:lnTo>
                    <a:pt x="988" y="896"/>
                  </a:lnTo>
                  <a:lnTo>
                    <a:pt x="990" y="896"/>
                  </a:lnTo>
                  <a:lnTo>
                    <a:pt x="992" y="896"/>
                  </a:lnTo>
                  <a:lnTo>
                    <a:pt x="1002" y="880"/>
                  </a:lnTo>
                  <a:lnTo>
                    <a:pt x="1006" y="864"/>
                  </a:lnTo>
                  <a:lnTo>
                    <a:pt x="1010" y="864"/>
                  </a:lnTo>
                  <a:lnTo>
                    <a:pt x="1012" y="864"/>
                  </a:lnTo>
                  <a:lnTo>
                    <a:pt x="1034" y="872"/>
                  </a:lnTo>
                  <a:lnTo>
                    <a:pt x="1046" y="864"/>
                  </a:lnTo>
                  <a:lnTo>
                    <a:pt x="1048" y="864"/>
                  </a:lnTo>
                  <a:lnTo>
                    <a:pt x="1060" y="862"/>
                  </a:lnTo>
                  <a:lnTo>
                    <a:pt x="1068" y="848"/>
                  </a:lnTo>
                  <a:lnTo>
                    <a:pt x="1068" y="832"/>
                  </a:lnTo>
                  <a:lnTo>
                    <a:pt x="1074" y="806"/>
                  </a:lnTo>
                  <a:lnTo>
                    <a:pt x="1074" y="808"/>
                  </a:lnTo>
                  <a:lnTo>
                    <a:pt x="1078" y="808"/>
                  </a:lnTo>
                  <a:lnTo>
                    <a:pt x="1094" y="812"/>
                  </a:lnTo>
                  <a:lnTo>
                    <a:pt x="1102" y="796"/>
                  </a:lnTo>
                  <a:lnTo>
                    <a:pt x="1104" y="796"/>
                  </a:lnTo>
                  <a:lnTo>
                    <a:pt x="1106" y="796"/>
                  </a:lnTo>
                  <a:lnTo>
                    <a:pt x="1122" y="796"/>
                  </a:lnTo>
                  <a:lnTo>
                    <a:pt x="1124" y="796"/>
                  </a:lnTo>
                  <a:lnTo>
                    <a:pt x="1126" y="796"/>
                  </a:lnTo>
                  <a:lnTo>
                    <a:pt x="1134" y="808"/>
                  </a:lnTo>
                  <a:lnTo>
                    <a:pt x="1134" y="810"/>
                  </a:lnTo>
                  <a:lnTo>
                    <a:pt x="1134" y="812"/>
                  </a:lnTo>
                  <a:lnTo>
                    <a:pt x="1136" y="828"/>
                  </a:lnTo>
                  <a:lnTo>
                    <a:pt x="1144" y="834"/>
                  </a:lnTo>
                  <a:lnTo>
                    <a:pt x="1154" y="824"/>
                  </a:lnTo>
                  <a:lnTo>
                    <a:pt x="1158" y="828"/>
                  </a:lnTo>
                  <a:lnTo>
                    <a:pt x="1162" y="834"/>
                  </a:lnTo>
                  <a:lnTo>
                    <a:pt x="1162" y="840"/>
                  </a:lnTo>
                  <a:lnTo>
                    <a:pt x="1162" y="854"/>
                  </a:lnTo>
                  <a:lnTo>
                    <a:pt x="1158" y="868"/>
                  </a:lnTo>
                  <a:lnTo>
                    <a:pt x="1162" y="876"/>
                  </a:lnTo>
                  <a:lnTo>
                    <a:pt x="1170" y="884"/>
                  </a:lnTo>
                  <a:lnTo>
                    <a:pt x="1202" y="888"/>
                  </a:lnTo>
                  <a:lnTo>
                    <a:pt x="1204" y="890"/>
                  </a:lnTo>
                  <a:lnTo>
                    <a:pt x="1206" y="890"/>
                  </a:lnTo>
                  <a:lnTo>
                    <a:pt x="1208" y="892"/>
                  </a:lnTo>
                  <a:lnTo>
                    <a:pt x="1218" y="880"/>
                  </a:lnTo>
                  <a:lnTo>
                    <a:pt x="1226" y="872"/>
                  </a:lnTo>
                  <a:lnTo>
                    <a:pt x="1222" y="860"/>
                  </a:lnTo>
                  <a:lnTo>
                    <a:pt x="1214" y="808"/>
                  </a:lnTo>
                  <a:lnTo>
                    <a:pt x="1238" y="820"/>
                  </a:lnTo>
                  <a:lnTo>
                    <a:pt x="1250" y="832"/>
                  </a:lnTo>
                  <a:lnTo>
                    <a:pt x="1256" y="838"/>
                  </a:lnTo>
                  <a:lnTo>
                    <a:pt x="1266" y="832"/>
                  </a:lnTo>
                  <a:lnTo>
                    <a:pt x="1298" y="796"/>
                  </a:lnTo>
                  <a:lnTo>
                    <a:pt x="1300" y="796"/>
                  </a:lnTo>
                  <a:lnTo>
                    <a:pt x="1312" y="786"/>
                  </a:lnTo>
                  <a:lnTo>
                    <a:pt x="1326" y="768"/>
                  </a:lnTo>
                  <a:lnTo>
                    <a:pt x="1326" y="766"/>
                  </a:lnTo>
                  <a:lnTo>
                    <a:pt x="1344" y="770"/>
                  </a:lnTo>
                  <a:lnTo>
                    <a:pt x="1354" y="770"/>
                  </a:lnTo>
                  <a:lnTo>
                    <a:pt x="1354" y="762"/>
                  </a:lnTo>
                  <a:lnTo>
                    <a:pt x="1356" y="756"/>
                  </a:lnTo>
                  <a:lnTo>
                    <a:pt x="1370" y="740"/>
                  </a:lnTo>
                  <a:lnTo>
                    <a:pt x="1374" y="736"/>
                  </a:lnTo>
                  <a:lnTo>
                    <a:pt x="1390" y="742"/>
                  </a:lnTo>
                  <a:lnTo>
                    <a:pt x="1408" y="740"/>
                  </a:lnTo>
                  <a:lnTo>
                    <a:pt x="1422" y="726"/>
                  </a:lnTo>
                  <a:lnTo>
                    <a:pt x="1428" y="714"/>
                  </a:lnTo>
                  <a:lnTo>
                    <a:pt x="1424" y="708"/>
                  </a:lnTo>
                  <a:lnTo>
                    <a:pt x="1412" y="714"/>
                  </a:lnTo>
                  <a:lnTo>
                    <a:pt x="1412" y="712"/>
                  </a:lnTo>
                  <a:lnTo>
                    <a:pt x="1410" y="712"/>
                  </a:lnTo>
                  <a:lnTo>
                    <a:pt x="1396" y="700"/>
                  </a:lnTo>
                  <a:lnTo>
                    <a:pt x="1396" y="698"/>
                  </a:lnTo>
                  <a:lnTo>
                    <a:pt x="1402" y="676"/>
                  </a:lnTo>
                  <a:lnTo>
                    <a:pt x="1402" y="660"/>
                  </a:lnTo>
                  <a:lnTo>
                    <a:pt x="1398" y="648"/>
                  </a:lnTo>
                  <a:lnTo>
                    <a:pt x="1388" y="644"/>
                  </a:lnTo>
                  <a:lnTo>
                    <a:pt x="1388" y="642"/>
                  </a:lnTo>
                  <a:lnTo>
                    <a:pt x="1386" y="642"/>
                  </a:lnTo>
                  <a:lnTo>
                    <a:pt x="1386" y="640"/>
                  </a:lnTo>
                  <a:lnTo>
                    <a:pt x="1376" y="622"/>
                  </a:lnTo>
                  <a:lnTo>
                    <a:pt x="1374" y="620"/>
                  </a:lnTo>
                  <a:lnTo>
                    <a:pt x="1362" y="636"/>
                  </a:lnTo>
                  <a:lnTo>
                    <a:pt x="1348" y="644"/>
                  </a:lnTo>
                  <a:lnTo>
                    <a:pt x="1344" y="646"/>
                  </a:lnTo>
                  <a:lnTo>
                    <a:pt x="1344" y="644"/>
                  </a:lnTo>
                  <a:lnTo>
                    <a:pt x="1342" y="644"/>
                  </a:lnTo>
                  <a:lnTo>
                    <a:pt x="1328" y="630"/>
                  </a:lnTo>
                  <a:lnTo>
                    <a:pt x="1328" y="628"/>
                  </a:lnTo>
                  <a:lnTo>
                    <a:pt x="1318" y="606"/>
                  </a:lnTo>
                  <a:lnTo>
                    <a:pt x="1314" y="590"/>
                  </a:lnTo>
                  <a:lnTo>
                    <a:pt x="1314" y="588"/>
                  </a:lnTo>
                  <a:lnTo>
                    <a:pt x="1314" y="564"/>
                  </a:lnTo>
                  <a:lnTo>
                    <a:pt x="1312" y="550"/>
                  </a:lnTo>
                  <a:lnTo>
                    <a:pt x="1300" y="546"/>
                  </a:lnTo>
                  <a:lnTo>
                    <a:pt x="1274" y="526"/>
                  </a:lnTo>
                  <a:lnTo>
                    <a:pt x="1276" y="524"/>
                  </a:lnTo>
                  <a:lnTo>
                    <a:pt x="1288" y="510"/>
                  </a:lnTo>
                  <a:lnTo>
                    <a:pt x="1288" y="508"/>
                  </a:lnTo>
                  <a:lnTo>
                    <a:pt x="1290" y="508"/>
                  </a:lnTo>
                  <a:lnTo>
                    <a:pt x="1302" y="508"/>
                  </a:lnTo>
                  <a:lnTo>
                    <a:pt x="1304" y="508"/>
                  </a:lnTo>
                  <a:lnTo>
                    <a:pt x="1310" y="510"/>
                  </a:lnTo>
                  <a:lnTo>
                    <a:pt x="1314" y="514"/>
                  </a:lnTo>
                  <a:lnTo>
                    <a:pt x="1326" y="522"/>
                  </a:lnTo>
                  <a:lnTo>
                    <a:pt x="1338" y="512"/>
                  </a:lnTo>
                  <a:lnTo>
                    <a:pt x="1346" y="500"/>
                  </a:lnTo>
                  <a:lnTo>
                    <a:pt x="1346" y="490"/>
                  </a:lnTo>
                  <a:lnTo>
                    <a:pt x="1344" y="464"/>
                  </a:lnTo>
                  <a:lnTo>
                    <a:pt x="1342" y="454"/>
                  </a:lnTo>
                  <a:lnTo>
                    <a:pt x="1324" y="452"/>
                  </a:lnTo>
                  <a:lnTo>
                    <a:pt x="1324" y="440"/>
                  </a:lnTo>
                  <a:lnTo>
                    <a:pt x="1308" y="420"/>
                  </a:lnTo>
                  <a:lnTo>
                    <a:pt x="1306" y="420"/>
                  </a:lnTo>
                  <a:lnTo>
                    <a:pt x="1298" y="406"/>
                  </a:lnTo>
                  <a:lnTo>
                    <a:pt x="1298" y="404"/>
                  </a:lnTo>
                  <a:lnTo>
                    <a:pt x="1298" y="402"/>
                  </a:lnTo>
                  <a:lnTo>
                    <a:pt x="1314" y="380"/>
                  </a:lnTo>
                  <a:lnTo>
                    <a:pt x="1314" y="378"/>
                  </a:lnTo>
                  <a:lnTo>
                    <a:pt x="1316" y="378"/>
                  </a:lnTo>
                  <a:lnTo>
                    <a:pt x="1316" y="376"/>
                  </a:lnTo>
                  <a:lnTo>
                    <a:pt x="1318" y="376"/>
                  </a:lnTo>
                  <a:lnTo>
                    <a:pt x="1324" y="376"/>
                  </a:lnTo>
                  <a:lnTo>
                    <a:pt x="1334" y="368"/>
                  </a:lnTo>
                  <a:lnTo>
                    <a:pt x="1344" y="336"/>
                  </a:lnTo>
                  <a:lnTo>
                    <a:pt x="1358" y="322"/>
                  </a:lnTo>
                  <a:lnTo>
                    <a:pt x="1358" y="320"/>
                  </a:lnTo>
                  <a:lnTo>
                    <a:pt x="1374" y="316"/>
                  </a:lnTo>
                  <a:lnTo>
                    <a:pt x="1374" y="318"/>
                  </a:lnTo>
                  <a:lnTo>
                    <a:pt x="1382" y="326"/>
                  </a:lnTo>
                  <a:lnTo>
                    <a:pt x="1386" y="328"/>
                  </a:lnTo>
                  <a:lnTo>
                    <a:pt x="1392" y="302"/>
                  </a:lnTo>
                  <a:lnTo>
                    <a:pt x="1386" y="284"/>
                  </a:lnTo>
                  <a:lnTo>
                    <a:pt x="1386" y="282"/>
                  </a:lnTo>
                  <a:lnTo>
                    <a:pt x="1388" y="262"/>
                  </a:lnTo>
                  <a:lnTo>
                    <a:pt x="1388" y="260"/>
                  </a:lnTo>
                  <a:lnTo>
                    <a:pt x="1398" y="250"/>
                  </a:lnTo>
                  <a:lnTo>
                    <a:pt x="1404" y="240"/>
                  </a:lnTo>
                  <a:lnTo>
                    <a:pt x="1404" y="230"/>
                  </a:lnTo>
                  <a:lnTo>
                    <a:pt x="1402" y="220"/>
                  </a:lnTo>
                  <a:lnTo>
                    <a:pt x="1398" y="204"/>
                  </a:lnTo>
                  <a:lnTo>
                    <a:pt x="1398" y="186"/>
                  </a:lnTo>
                  <a:lnTo>
                    <a:pt x="1398" y="184"/>
                  </a:lnTo>
                  <a:lnTo>
                    <a:pt x="1402" y="168"/>
                  </a:lnTo>
                  <a:lnTo>
                    <a:pt x="1398" y="158"/>
                  </a:lnTo>
                  <a:lnTo>
                    <a:pt x="1396" y="152"/>
                  </a:lnTo>
                  <a:lnTo>
                    <a:pt x="1398" y="128"/>
                  </a:lnTo>
                  <a:close/>
                </a:path>
              </a:pathLst>
            </a:custGeom>
            <a:noFill/>
            <a:ln w="3175" cap="flat" cmpd="sng">
              <a:solidFill>
                <a:schemeClr val="bg2"/>
              </a:solidFill>
              <a:bevel/>
              <a:headEnd/>
              <a:tailEnd/>
            </a:ln>
          </p:spPr>
          <p:txBody>
            <a:bodyPr anchor="ctr"/>
            <a:lstStyle/>
            <a:p>
              <a:endParaRPr lang="zh-CN" altLang="en-US"/>
            </a:p>
          </p:txBody>
        </p:sp>
        <p:sp>
          <p:nvSpPr>
            <p:cNvPr id="8197" name="Freeform 5"/>
            <p:cNvSpPr>
              <a:spLocks/>
            </p:cNvSpPr>
            <p:nvPr/>
          </p:nvSpPr>
          <p:spPr bwMode="auto">
            <a:xfrm>
              <a:off x="1958538" y="1528877"/>
              <a:ext cx="1632711" cy="1382076"/>
            </a:xfrm>
            <a:custGeom>
              <a:avLst/>
              <a:gdLst/>
              <a:ahLst/>
              <a:cxnLst>
                <a:cxn ang="0">
                  <a:pos x="536" y="310"/>
                </a:cxn>
                <a:cxn ang="0">
                  <a:pos x="494" y="314"/>
                </a:cxn>
                <a:cxn ang="0">
                  <a:pos x="446" y="258"/>
                </a:cxn>
                <a:cxn ang="0">
                  <a:pos x="406" y="228"/>
                </a:cxn>
                <a:cxn ang="0">
                  <a:pos x="416" y="162"/>
                </a:cxn>
                <a:cxn ang="0">
                  <a:pos x="348" y="164"/>
                </a:cxn>
                <a:cxn ang="0">
                  <a:pos x="324" y="176"/>
                </a:cxn>
                <a:cxn ang="0">
                  <a:pos x="288" y="108"/>
                </a:cxn>
                <a:cxn ang="0">
                  <a:pos x="268" y="32"/>
                </a:cxn>
                <a:cxn ang="0">
                  <a:pos x="216" y="4"/>
                </a:cxn>
                <a:cxn ang="0">
                  <a:pos x="178" y="64"/>
                </a:cxn>
                <a:cxn ang="0">
                  <a:pos x="108" y="86"/>
                </a:cxn>
                <a:cxn ang="0">
                  <a:pos x="60" y="132"/>
                </a:cxn>
                <a:cxn ang="0">
                  <a:pos x="8" y="158"/>
                </a:cxn>
                <a:cxn ang="0">
                  <a:pos x="10" y="232"/>
                </a:cxn>
                <a:cxn ang="0">
                  <a:pos x="80" y="236"/>
                </a:cxn>
                <a:cxn ang="0">
                  <a:pos x="154" y="272"/>
                </a:cxn>
                <a:cxn ang="0">
                  <a:pos x="222" y="274"/>
                </a:cxn>
                <a:cxn ang="0">
                  <a:pos x="302" y="284"/>
                </a:cxn>
                <a:cxn ang="0">
                  <a:pos x="352" y="296"/>
                </a:cxn>
                <a:cxn ang="0">
                  <a:pos x="404" y="338"/>
                </a:cxn>
                <a:cxn ang="0">
                  <a:pos x="492" y="392"/>
                </a:cxn>
                <a:cxn ang="0">
                  <a:pos x="548" y="440"/>
                </a:cxn>
                <a:cxn ang="0">
                  <a:pos x="544" y="576"/>
                </a:cxn>
                <a:cxn ang="0">
                  <a:pos x="500" y="622"/>
                </a:cxn>
                <a:cxn ang="0">
                  <a:pos x="492" y="656"/>
                </a:cxn>
                <a:cxn ang="0">
                  <a:pos x="452" y="696"/>
                </a:cxn>
                <a:cxn ang="0">
                  <a:pos x="500" y="706"/>
                </a:cxn>
                <a:cxn ang="0">
                  <a:pos x="520" y="678"/>
                </a:cxn>
                <a:cxn ang="0">
                  <a:pos x="552" y="644"/>
                </a:cxn>
                <a:cxn ang="0">
                  <a:pos x="576" y="664"/>
                </a:cxn>
                <a:cxn ang="0">
                  <a:pos x="644" y="690"/>
                </a:cxn>
                <a:cxn ang="0">
                  <a:pos x="668" y="726"/>
                </a:cxn>
                <a:cxn ang="0">
                  <a:pos x="684" y="762"/>
                </a:cxn>
                <a:cxn ang="0">
                  <a:pos x="732" y="742"/>
                </a:cxn>
                <a:cxn ang="0">
                  <a:pos x="736" y="700"/>
                </a:cxn>
                <a:cxn ang="0">
                  <a:pos x="776" y="664"/>
                </a:cxn>
                <a:cxn ang="0">
                  <a:pos x="792" y="582"/>
                </a:cxn>
                <a:cxn ang="0">
                  <a:pos x="840" y="596"/>
                </a:cxn>
                <a:cxn ang="0">
                  <a:pos x="860" y="562"/>
                </a:cxn>
                <a:cxn ang="0">
                  <a:pos x="904" y="536"/>
                </a:cxn>
                <a:cxn ang="0">
                  <a:pos x="906" y="488"/>
                </a:cxn>
                <a:cxn ang="0">
                  <a:pos x="840" y="454"/>
                </a:cxn>
                <a:cxn ang="0">
                  <a:pos x="788" y="476"/>
                </a:cxn>
                <a:cxn ang="0">
                  <a:pos x="816" y="510"/>
                </a:cxn>
                <a:cxn ang="0">
                  <a:pos x="798" y="548"/>
                </a:cxn>
                <a:cxn ang="0">
                  <a:pos x="780" y="552"/>
                </a:cxn>
                <a:cxn ang="0">
                  <a:pos x="758" y="576"/>
                </a:cxn>
                <a:cxn ang="0">
                  <a:pos x="728" y="546"/>
                </a:cxn>
                <a:cxn ang="0">
                  <a:pos x="712" y="512"/>
                </a:cxn>
                <a:cxn ang="0">
                  <a:pos x="698" y="444"/>
                </a:cxn>
                <a:cxn ang="0">
                  <a:pos x="644" y="410"/>
                </a:cxn>
                <a:cxn ang="0">
                  <a:pos x="604" y="384"/>
                </a:cxn>
                <a:cxn ang="0">
                  <a:pos x="606" y="324"/>
                </a:cxn>
                <a:cxn ang="0">
                  <a:pos x="640" y="254"/>
                </a:cxn>
                <a:cxn ang="0">
                  <a:pos x="590" y="286"/>
                </a:cxn>
              </a:cxnLst>
              <a:rect l="0" t="0" r="r" b="b"/>
              <a:pathLst>
                <a:path w="912" h="772">
                  <a:moveTo>
                    <a:pt x="542" y="280"/>
                  </a:moveTo>
                  <a:lnTo>
                    <a:pt x="530" y="280"/>
                  </a:lnTo>
                  <a:lnTo>
                    <a:pt x="526" y="288"/>
                  </a:lnTo>
                  <a:lnTo>
                    <a:pt x="532" y="296"/>
                  </a:lnTo>
                  <a:lnTo>
                    <a:pt x="536" y="308"/>
                  </a:lnTo>
                  <a:lnTo>
                    <a:pt x="536" y="310"/>
                  </a:lnTo>
                  <a:lnTo>
                    <a:pt x="536" y="312"/>
                  </a:lnTo>
                  <a:lnTo>
                    <a:pt x="518" y="320"/>
                  </a:lnTo>
                  <a:lnTo>
                    <a:pt x="516" y="320"/>
                  </a:lnTo>
                  <a:lnTo>
                    <a:pt x="506" y="320"/>
                  </a:lnTo>
                  <a:lnTo>
                    <a:pt x="500" y="316"/>
                  </a:lnTo>
                  <a:lnTo>
                    <a:pt x="494" y="314"/>
                  </a:lnTo>
                  <a:lnTo>
                    <a:pt x="492" y="310"/>
                  </a:lnTo>
                  <a:lnTo>
                    <a:pt x="488" y="300"/>
                  </a:lnTo>
                  <a:lnTo>
                    <a:pt x="464" y="296"/>
                  </a:lnTo>
                  <a:lnTo>
                    <a:pt x="456" y="264"/>
                  </a:lnTo>
                  <a:lnTo>
                    <a:pt x="450" y="262"/>
                  </a:lnTo>
                  <a:lnTo>
                    <a:pt x="446" y="258"/>
                  </a:lnTo>
                  <a:lnTo>
                    <a:pt x="444" y="256"/>
                  </a:lnTo>
                  <a:lnTo>
                    <a:pt x="440" y="250"/>
                  </a:lnTo>
                  <a:lnTo>
                    <a:pt x="432" y="248"/>
                  </a:lnTo>
                  <a:lnTo>
                    <a:pt x="424" y="242"/>
                  </a:lnTo>
                  <a:lnTo>
                    <a:pt x="416" y="232"/>
                  </a:lnTo>
                  <a:lnTo>
                    <a:pt x="406" y="228"/>
                  </a:lnTo>
                  <a:lnTo>
                    <a:pt x="392" y="214"/>
                  </a:lnTo>
                  <a:lnTo>
                    <a:pt x="390" y="204"/>
                  </a:lnTo>
                  <a:lnTo>
                    <a:pt x="390" y="202"/>
                  </a:lnTo>
                  <a:lnTo>
                    <a:pt x="416" y="168"/>
                  </a:lnTo>
                  <a:lnTo>
                    <a:pt x="416" y="164"/>
                  </a:lnTo>
                  <a:lnTo>
                    <a:pt x="416" y="162"/>
                  </a:lnTo>
                  <a:lnTo>
                    <a:pt x="412" y="152"/>
                  </a:lnTo>
                  <a:lnTo>
                    <a:pt x="398" y="156"/>
                  </a:lnTo>
                  <a:lnTo>
                    <a:pt x="396" y="156"/>
                  </a:lnTo>
                  <a:lnTo>
                    <a:pt x="396" y="158"/>
                  </a:lnTo>
                  <a:lnTo>
                    <a:pt x="360" y="160"/>
                  </a:lnTo>
                  <a:lnTo>
                    <a:pt x="348" y="164"/>
                  </a:lnTo>
                  <a:lnTo>
                    <a:pt x="342" y="168"/>
                  </a:lnTo>
                  <a:lnTo>
                    <a:pt x="340" y="172"/>
                  </a:lnTo>
                  <a:lnTo>
                    <a:pt x="334" y="178"/>
                  </a:lnTo>
                  <a:lnTo>
                    <a:pt x="330" y="178"/>
                  </a:lnTo>
                  <a:lnTo>
                    <a:pt x="324" y="178"/>
                  </a:lnTo>
                  <a:lnTo>
                    <a:pt x="324" y="176"/>
                  </a:lnTo>
                  <a:lnTo>
                    <a:pt x="312" y="168"/>
                  </a:lnTo>
                  <a:lnTo>
                    <a:pt x="312" y="148"/>
                  </a:lnTo>
                  <a:lnTo>
                    <a:pt x="304" y="142"/>
                  </a:lnTo>
                  <a:lnTo>
                    <a:pt x="300" y="134"/>
                  </a:lnTo>
                  <a:lnTo>
                    <a:pt x="296" y="116"/>
                  </a:lnTo>
                  <a:lnTo>
                    <a:pt x="288" y="108"/>
                  </a:lnTo>
                  <a:lnTo>
                    <a:pt x="280" y="100"/>
                  </a:lnTo>
                  <a:lnTo>
                    <a:pt x="276" y="98"/>
                  </a:lnTo>
                  <a:lnTo>
                    <a:pt x="290" y="80"/>
                  </a:lnTo>
                  <a:lnTo>
                    <a:pt x="292" y="68"/>
                  </a:lnTo>
                  <a:lnTo>
                    <a:pt x="276" y="48"/>
                  </a:lnTo>
                  <a:lnTo>
                    <a:pt x="268" y="32"/>
                  </a:lnTo>
                  <a:lnTo>
                    <a:pt x="268" y="24"/>
                  </a:lnTo>
                  <a:lnTo>
                    <a:pt x="256" y="16"/>
                  </a:lnTo>
                  <a:lnTo>
                    <a:pt x="256" y="14"/>
                  </a:lnTo>
                  <a:lnTo>
                    <a:pt x="246" y="2"/>
                  </a:lnTo>
                  <a:lnTo>
                    <a:pt x="232" y="0"/>
                  </a:lnTo>
                  <a:lnTo>
                    <a:pt x="216" y="4"/>
                  </a:lnTo>
                  <a:lnTo>
                    <a:pt x="212" y="8"/>
                  </a:lnTo>
                  <a:lnTo>
                    <a:pt x="210" y="30"/>
                  </a:lnTo>
                  <a:lnTo>
                    <a:pt x="210" y="56"/>
                  </a:lnTo>
                  <a:lnTo>
                    <a:pt x="208" y="56"/>
                  </a:lnTo>
                  <a:lnTo>
                    <a:pt x="192" y="62"/>
                  </a:lnTo>
                  <a:lnTo>
                    <a:pt x="178" y="64"/>
                  </a:lnTo>
                  <a:lnTo>
                    <a:pt x="168" y="70"/>
                  </a:lnTo>
                  <a:lnTo>
                    <a:pt x="154" y="74"/>
                  </a:lnTo>
                  <a:lnTo>
                    <a:pt x="152" y="76"/>
                  </a:lnTo>
                  <a:lnTo>
                    <a:pt x="124" y="68"/>
                  </a:lnTo>
                  <a:lnTo>
                    <a:pt x="114" y="80"/>
                  </a:lnTo>
                  <a:lnTo>
                    <a:pt x="108" y="86"/>
                  </a:lnTo>
                  <a:lnTo>
                    <a:pt x="98" y="88"/>
                  </a:lnTo>
                  <a:lnTo>
                    <a:pt x="82" y="102"/>
                  </a:lnTo>
                  <a:lnTo>
                    <a:pt x="72" y="116"/>
                  </a:lnTo>
                  <a:lnTo>
                    <a:pt x="72" y="118"/>
                  </a:lnTo>
                  <a:lnTo>
                    <a:pt x="66" y="128"/>
                  </a:lnTo>
                  <a:lnTo>
                    <a:pt x="60" y="132"/>
                  </a:lnTo>
                  <a:lnTo>
                    <a:pt x="50" y="144"/>
                  </a:lnTo>
                  <a:lnTo>
                    <a:pt x="50" y="146"/>
                  </a:lnTo>
                  <a:lnTo>
                    <a:pt x="44" y="150"/>
                  </a:lnTo>
                  <a:lnTo>
                    <a:pt x="32" y="152"/>
                  </a:lnTo>
                  <a:lnTo>
                    <a:pt x="12" y="152"/>
                  </a:lnTo>
                  <a:lnTo>
                    <a:pt x="8" y="158"/>
                  </a:lnTo>
                  <a:lnTo>
                    <a:pt x="0" y="172"/>
                  </a:lnTo>
                  <a:lnTo>
                    <a:pt x="4" y="184"/>
                  </a:lnTo>
                  <a:lnTo>
                    <a:pt x="2" y="216"/>
                  </a:lnTo>
                  <a:lnTo>
                    <a:pt x="8" y="224"/>
                  </a:lnTo>
                  <a:lnTo>
                    <a:pt x="8" y="226"/>
                  </a:lnTo>
                  <a:lnTo>
                    <a:pt x="10" y="232"/>
                  </a:lnTo>
                  <a:lnTo>
                    <a:pt x="22" y="232"/>
                  </a:lnTo>
                  <a:lnTo>
                    <a:pt x="40" y="236"/>
                  </a:lnTo>
                  <a:lnTo>
                    <a:pt x="66" y="238"/>
                  </a:lnTo>
                  <a:lnTo>
                    <a:pt x="76" y="236"/>
                  </a:lnTo>
                  <a:lnTo>
                    <a:pt x="78" y="236"/>
                  </a:lnTo>
                  <a:lnTo>
                    <a:pt x="80" y="236"/>
                  </a:lnTo>
                  <a:lnTo>
                    <a:pt x="100" y="244"/>
                  </a:lnTo>
                  <a:lnTo>
                    <a:pt x="102" y="244"/>
                  </a:lnTo>
                  <a:lnTo>
                    <a:pt x="112" y="254"/>
                  </a:lnTo>
                  <a:lnTo>
                    <a:pt x="136" y="262"/>
                  </a:lnTo>
                  <a:lnTo>
                    <a:pt x="138" y="262"/>
                  </a:lnTo>
                  <a:lnTo>
                    <a:pt x="154" y="272"/>
                  </a:lnTo>
                  <a:lnTo>
                    <a:pt x="192" y="308"/>
                  </a:lnTo>
                  <a:lnTo>
                    <a:pt x="210" y="316"/>
                  </a:lnTo>
                  <a:lnTo>
                    <a:pt x="218" y="312"/>
                  </a:lnTo>
                  <a:lnTo>
                    <a:pt x="224" y="300"/>
                  </a:lnTo>
                  <a:lnTo>
                    <a:pt x="220" y="278"/>
                  </a:lnTo>
                  <a:lnTo>
                    <a:pt x="222" y="274"/>
                  </a:lnTo>
                  <a:lnTo>
                    <a:pt x="224" y="270"/>
                  </a:lnTo>
                  <a:lnTo>
                    <a:pt x="236" y="264"/>
                  </a:lnTo>
                  <a:lnTo>
                    <a:pt x="236" y="262"/>
                  </a:lnTo>
                  <a:lnTo>
                    <a:pt x="286" y="292"/>
                  </a:lnTo>
                  <a:lnTo>
                    <a:pt x="292" y="290"/>
                  </a:lnTo>
                  <a:lnTo>
                    <a:pt x="302" y="284"/>
                  </a:lnTo>
                  <a:lnTo>
                    <a:pt x="304" y="284"/>
                  </a:lnTo>
                  <a:lnTo>
                    <a:pt x="310" y="284"/>
                  </a:lnTo>
                  <a:lnTo>
                    <a:pt x="320" y="276"/>
                  </a:lnTo>
                  <a:lnTo>
                    <a:pt x="322" y="276"/>
                  </a:lnTo>
                  <a:lnTo>
                    <a:pt x="324" y="276"/>
                  </a:lnTo>
                  <a:lnTo>
                    <a:pt x="352" y="296"/>
                  </a:lnTo>
                  <a:lnTo>
                    <a:pt x="354" y="298"/>
                  </a:lnTo>
                  <a:lnTo>
                    <a:pt x="372" y="312"/>
                  </a:lnTo>
                  <a:lnTo>
                    <a:pt x="380" y="320"/>
                  </a:lnTo>
                  <a:lnTo>
                    <a:pt x="388" y="330"/>
                  </a:lnTo>
                  <a:lnTo>
                    <a:pt x="398" y="340"/>
                  </a:lnTo>
                  <a:lnTo>
                    <a:pt x="404" y="338"/>
                  </a:lnTo>
                  <a:lnTo>
                    <a:pt x="412" y="324"/>
                  </a:lnTo>
                  <a:lnTo>
                    <a:pt x="430" y="336"/>
                  </a:lnTo>
                  <a:lnTo>
                    <a:pt x="432" y="336"/>
                  </a:lnTo>
                  <a:lnTo>
                    <a:pt x="444" y="352"/>
                  </a:lnTo>
                  <a:lnTo>
                    <a:pt x="480" y="380"/>
                  </a:lnTo>
                  <a:lnTo>
                    <a:pt x="492" y="392"/>
                  </a:lnTo>
                  <a:lnTo>
                    <a:pt x="522" y="382"/>
                  </a:lnTo>
                  <a:lnTo>
                    <a:pt x="524" y="406"/>
                  </a:lnTo>
                  <a:lnTo>
                    <a:pt x="538" y="420"/>
                  </a:lnTo>
                  <a:lnTo>
                    <a:pt x="548" y="436"/>
                  </a:lnTo>
                  <a:lnTo>
                    <a:pt x="548" y="438"/>
                  </a:lnTo>
                  <a:lnTo>
                    <a:pt x="548" y="440"/>
                  </a:lnTo>
                  <a:lnTo>
                    <a:pt x="560" y="494"/>
                  </a:lnTo>
                  <a:lnTo>
                    <a:pt x="572" y="516"/>
                  </a:lnTo>
                  <a:lnTo>
                    <a:pt x="556" y="558"/>
                  </a:lnTo>
                  <a:lnTo>
                    <a:pt x="556" y="560"/>
                  </a:lnTo>
                  <a:lnTo>
                    <a:pt x="544" y="564"/>
                  </a:lnTo>
                  <a:lnTo>
                    <a:pt x="544" y="576"/>
                  </a:lnTo>
                  <a:lnTo>
                    <a:pt x="542" y="576"/>
                  </a:lnTo>
                  <a:lnTo>
                    <a:pt x="528" y="598"/>
                  </a:lnTo>
                  <a:lnTo>
                    <a:pt x="508" y="600"/>
                  </a:lnTo>
                  <a:lnTo>
                    <a:pt x="488" y="616"/>
                  </a:lnTo>
                  <a:lnTo>
                    <a:pt x="494" y="620"/>
                  </a:lnTo>
                  <a:lnTo>
                    <a:pt x="500" y="622"/>
                  </a:lnTo>
                  <a:lnTo>
                    <a:pt x="504" y="626"/>
                  </a:lnTo>
                  <a:lnTo>
                    <a:pt x="508" y="630"/>
                  </a:lnTo>
                  <a:lnTo>
                    <a:pt x="508" y="634"/>
                  </a:lnTo>
                  <a:lnTo>
                    <a:pt x="504" y="642"/>
                  </a:lnTo>
                  <a:lnTo>
                    <a:pt x="504" y="644"/>
                  </a:lnTo>
                  <a:lnTo>
                    <a:pt x="492" y="656"/>
                  </a:lnTo>
                  <a:lnTo>
                    <a:pt x="490" y="656"/>
                  </a:lnTo>
                  <a:lnTo>
                    <a:pt x="490" y="658"/>
                  </a:lnTo>
                  <a:lnTo>
                    <a:pt x="488" y="658"/>
                  </a:lnTo>
                  <a:lnTo>
                    <a:pt x="450" y="652"/>
                  </a:lnTo>
                  <a:lnTo>
                    <a:pt x="448" y="666"/>
                  </a:lnTo>
                  <a:lnTo>
                    <a:pt x="452" y="696"/>
                  </a:lnTo>
                  <a:lnTo>
                    <a:pt x="484" y="708"/>
                  </a:lnTo>
                  <a:lnTo>
                    <a:pt x="484" y="710"/>
                  </a:lnTo>
                  <a:lnTo>
                    <a:pt x="496" y="706"/>
                  </a:lnTo>
                  <a:lnTo>
                    <a:pt x="498" y="706"/>
                  </a:lnTo>
                  <a:lnTo>
                    <a:pt x="500" y="704"/>
                  </a:lnTo>
                  <a:lnTo>
                    <a:pt x="500" y="706"/>
                  </a:lnTo>
                  <a:lnTo>
                    <a:pt x="510" y="712"/>
                  </a:lnTo>
                  <a:lnTo>
                    <a:pt x="524" y="712"/>
                  </a:lnTo>
                  <a:lnTo>
                    <a:pt x="528" y="710"/>
                  </a:lnTo>
                  <a:lnTo>
                    <a:pt x="524" y="696"/>
                  </a:lnTo>
                  <a:lnTo>
                    <a:pt x="520" y="680"/>
                  </a:lnTo>
                  <a:lnTo>
                    <a:pt x="520" y="678"/>
                  </a:lnTo>
                  <a:lnTo>
                    <a:pt x="520" y="676"/>
                  </a:lnTo>
                  <a:lnTo>
                    <a:pt x="526" y="670"/>
                  </a:lnTo>
                  <a:lnTo>
                    <a:pt x="528" y="668"/>
                  </a:lnTo>
                  <a:lnTo>
                    <a:pt x="536" y="656"/>
                  </a:lnTo>
                  <a:lnTo>
                    <a:pt x="538" y="654"/>
                  </a:lnTo>
                  <a:lnTo>
                    <a:pt x="552" y="644"/>
                  </a:lnTo>
                  <a:lnTo>
                    <a:pt x="552" y="642"/>
                  </a:lnTo>
                  <a:lnTo>
                    <a:pt x="554" y="642"/>
                  </a:lnTo>
                  <a:lnTo>
                    <a:pt x="572" y="640"/>
                  </a:lnTo>
                  <a:lnTo>
                    <a:pt x="572" y="644"/>
                  </a:lnTo>
                  <a:lnTo>
                    <a:pt x="572" y="656"/>
                  </a:lnTo>
                  <a:lnTo>
                    <a:pt x="576" y="664"/>
                  </a:lnTo>
                  <a:lnTo>
                    <a:pt x="580" y="674"/>
                  </a:lnTo>
                  <a:lnTo>
                    <a:pt x="596" y="684"/>
                  </a:lnTo>
                  <a:lnTo>
                    <a:pt x="640" y="688"/>
                  </a:lnTo>
                  <a:lnTo>
                    <a:pt x="642" y="688"/>
                  </a:lnTo>
                  <a:lnTo>
                    <a:pt x="644" y="688"/>
                  </a:lnTo>
                  <a:lnTo>
                    <a:pt x="644" y="690"/>
                  </a:lnTo>
                  <a:lnTo>
                    <a:pt x="644" y="692"/>
                  </a:lnTo>
                  <a:lnTo>
                    <a:pt x="644" y="706"/>
                  </a:lnTo>
                  <a:lnTo>
                    <a:pt x="656" y="720"/>
                  </a:lnTo>
                  <a:lnTo>
                    <a:pt x="666" y="724"/>
                  </a:lnTo>
                  <a:lnTo>
                    <a:pt x="668" y="724"/>
                  </a:lnTo>
                  <a:lnTo>
                    <a:pt x="668" y="726"/>
                  </a:lnTo>
                  <a:lnTo>
                    <a:pt x="668" y="732"/>
                  </a:lnTo>
                  <a:lnTo>
                    <a:pt x="668" y="740"/>
                  </a:lnTo>
                  <a:lnTo>
                    <a:pt x="664" y="756"/>
                  </a:lnTo>
                  <a:lnTo>
                    <a:pt x="670" y="760"/>
                  </a:lnTo>
                  <a:lnTo>
                    <a:pt x="678" y="760"/>
                  </a:lnTo>
                  <a:lnTo>
                    <a:pt x="684" y="762"/>
                  </a:lnTo>
                  <a:lnTo>
                    <a:pt x="688" y="764"/>
                  </a:lnTo>
                  <a:lnTo>
                    <a:pt x="706" y="772"/>
                  </a:lnTo>
                  <a:lnTo>
                    <a:pt x="716" y="764"/>
                  </a:lnTo>
                  <a:lnTo>
                    <a:pt x="728" y="750"/>
                  </a:lnTo>
                  <a:lnTo>
                    <a:pt x="730" y="744"/>
                  </a:lnTo>
                  <a:lnTo>
                    <a:pt x="732" y="742"/>
                  </a:lnTo>
                  <a:lnTo>
                    <a:pt x="734" y="740"/>
                  </a:lnTo>
                  <a:lnTo>
                    <a:pt x="730" y="722"/>
                  </a:lnTo>
                  <a:lnTo>
                    <a:pt x="728" y="714"/>
                  </a:lnTo>
                  <a:lnTo>
                    <a:pt x="728" y="712"/>
                  </a:lnTo>
                  <a:lnTo>
                    <a:pt x="728" y="710"/>
                  </a:lnTo>
                  <a:lnTo>
                    <a:pt x="736" y="700"/>
                  </a:lnTo>
                  <a:lnTo>
                    <a:pt x="748" y="690"/>
                  </a:lnTo>
                  <a:lnTo>
                    <a:pt x="750" y="690"/>
                  </a:lnTo>
                  <a:lnTo>
                    <a:pt x="776" y="690"/>
                  </a:lnTo>
                  <a:lnTo>
                    <a:pt x="780" y="688"/>
                  </a:lnTo>
                  <a:lnTo>
                    <a:pt x="780" y="676"/>
                  </a:lnTo>
                  <a:lnTo>
                    <a:pt x="776" y="664"/>
                  </a:lnTo>
                  <a:lnTo>
                    <a:pt x="766" y="648"/>
                  </a:lnTo>
                  <a:lnTo>
                    <a:pt x="766" y="628"/>
                  </a:lnTo>
                  <a:lnTo>
                    <a:pt x="766" y="626"/>
                  </a:lnTo>
                  <a:lnTo>
                    <a:pt x="770" y="614"/>
                  </a:lnTo>
                  <a:lnTo>
                    <a:pt x="772" y="614"/>
                  </a:lnTo>
                  <a:lnTo>
                    <a:pt x="792" y="582"/>
                  </a:lnTo>
                  <a:lnTo>
                    <a:pt x="794" y="582"/>
                  </a:lnTo>
                  <a:lnTo>
                    <a:pt x="796" y="580"/>
                  </a:lnTo>
                  <a:lnTo>
                    <a:pt x="800" y="580"/>
                  </a:lnTo>
                  <a:lnTo>
                    <a:pt x="808" y="582"/>
                  </a:lnTo>
                  <a:lnTo>
                    <a:pt x="828" y="592"/>
                  </a:lnTo>
                  <a:lnTo>
                    <a:pt x="840" y="596"/>
                  </a:lnTo>
                  <a:lnTo>
                    <a:pt x="840" y="590"/>
                  </a:lnTo>
                  <a:lnTo>
                    <a:pt x="838" y="588"/>
                  </a:lnTo>
                  <a:lnTo>
                    <a:pt x="838" y="586"/>
                  </a:lnTo>
                  <a:lnTo>
                    <a:pt x="840" y="580"/>
                  </a:lnTo>
                  <a:lnTo>
                    <a:pt x="846" y="572"/>
                  </a:lnTo>
                  <a:lnTo>
                    <a:pt x="860" y="562"/>
                  </a:lnTo>
                  <a:lnTo>
                    <a:pt x="860" y="560"/>
                  </a:lnTo>
                  <a:lnTo>
                    <a:pt x="876" y="556"/>
                  </a:lnTo>
                  <a:lnTo>
                    <a:pt x="890" y="556"/>
                  </a:lnTo>
                  <a:lnTo>
                    <a:pt x="892" y="556"/>
                  </a:lnTo>
                  <a:lnTo>
                    <a:pt x="900" y="556"/>
                  </a:lnTo>
                  <a:lnTo>
                    <a:pt x="904" y="536"/>
                  </a:lnTo>
                  <a:lnTo>
                    <a:pt x="904" y="524"/>
                  </a:lnTo>
                  <a:lnTo>
                    <a:pt x="906" y="512"/>
                  </a:lnTo>
                  <a:lnTo>
                    <a:pt x="906" y="510"/>
                  </a:lnTo>
                  <a:lnTo>
                    <a:pt x="908" y="508"/>
                  </a:lnTo>
                  <a:lnTo>
                    <a:pt x="912" y="496"/>
                  </a:lnTo>
                  <a:lnTo>
                    <a:pt x="906" y="488"/>
                  </a:lnTo>
                  <a:lnTo>
                    <a:pt x="896" y="480"/>
                  </a:lnTo>
                  <a:lnTo>
                    <a:pt x="876" y="476"/>
                  </a:lnTo>
                  <a:lnTo>
                    <a:pt x="868" y="472"/>
                  </a:lnTo>
                  <a:lnTo>
                    <a:pt x="852" y="460"/>
                  </a:lnTo>
                  <a:lnTo>
                    <a:pt x="840" y="456"/>
                  </a:lnTo>
                  <a:lnTo>
                    <a:pt x="840" y="454"/>
                  </a:lnTo>
                  <a:lnTo>
                    <a:pt x="824" y="436"/>
                  </a:lnTo>
                  <a:lnTo>
                    <a:pt x="812" y="436"/>
                  </a:lnTo>
                  <a:lnTo>
                    <a:pt x="810" y="436"/>
                  </a:lnTo>
                  <a:lnTo>
                    <a:pt x="798" y="430"/>
                  </a:lnTo>
                  <a:lnTo>
                    <a:pt x="790" y="440"/>
                  </a:lnTo>
                  <a:lnTo>
                    <a:pt x="788" y="476"/>
                  </a:lnTo>
                  <a:lnTo>
                    <a:pt x="792" y="492"/>
                  </a:lnTo>
                  <a:lnTo>
                    <a:pt x="796" y="492"/>
                  </a:lnTo>
                  <a:lnTo>
                    <a:pt x="798" y="492"/>
                  </a:lnTo>
                  <a:lnTo>
                    <a:pt x="808" y="496"/>
                  </a:lnTo>
                  <a:lnTo>
                    <a:pt x="814" y="510"/>
                  </a:lnTo>
                  <a:lnTo>
                    <a:pt x="816" y="510"/>
                  </a:lnTo>
                  <a:lnTo>
                    <a:pt x="816" y="512"/>
                  </a:lnTo>
                  <a:lnTo>
                    <a:pt x="812" y="536"/>
                  </a:lnTo>
                  <a:lnTo>
                    <a:pt x="812" y="538"/>
                  </a:lnTo>
                  <a:lnTo>
                    <a:pt x="812" y="540"/>
                  </a:lnTo>
                  <a:lnTo>
                    <a:pt x="800" y="546"/>
                  </a:lnTo>
                  <a:lnTo>
                    <a:pt x="798" y="548"/>
                  </a:lnTo>
                  <a:lnTo>
                    <a:pt x="798" y="546"/>
                  </a:lnTo>
                  <a:lnTo>
                    <a:pt x="796" y="546"/>
                  </a:lnTo>
                  <a:lnTo>
                    <a:pt x="792" y="544"/>
                  </a:lnTo>
                  <a:lnTo>
                    <a:pt x="778" y="550"/>
                  </a:lnTo>
                  <a:lnTo>
                    <a:pt x="778" y="552"/>
                  </a:lnTo>
                  <a:lnTo>
                    <a:pt x="780" y="552"/>
                  </a:lnTo>
                  <a:lnTo>
                    <a:pt x="782" y="574"/>
                  </a:lnTo>
                  <a:lnTo>
                    <a:pt x="780" y="578"/>
                  </a:lnTo>
                  <a:lnTo>
                    <a:pt x="776" y="580"/>
                  </a:lnTo>
                  <a:lnTo>
                    <a:pt x="768" y="580"/>
                  </a:lnTo>
                  <a:lnTo>
                    <a:pt x="762" y="578"/>
                  </a:lnTo>
                  <a:lnTo>
                    <a:pt x="758" y="576"/>
                  </a:lnTo>
                  <a:lnTo>
                    <a:pt x="748" y="568"/>
                  </a:lnTo>
                  <a:lnTo>
                    <a:pt x="746" y="568"/>
                  </a:lnTo>
                  <a:lnTo>
                    <a:pt x="746" y="566"/>
                  </a:lnTo>
                  <a:lnTo>
                    <a:pt x="740" y="552"/>
                  </a:lnTo>
                  <a:lnTo>
                    <a:pt x="736" y="550"/>
                  </a:lnTo>
                  <a:lnTo>
                    <a:pt x="728" y="546"/>
                  </a:lnTo>
                  <a:lnTo>
                    <a:pt x="726" y="546"/>
                  </a:lnTo>
                  <a:lnTo>
                    <a:pt x="714" y="538"/>
                  </a:lnTo>
                  <a:lnTo>
                    <a:pt x="712" y="538"/>
                  </a:lnTo>
                  <a:lnTo>
                    <a:pt x="712" y="536"/>
                  </a:lnTo>
                  <a:lnTo>
                    <a:pt x="710" y="524"/>
                  </a:lnTo>
                  <a:lnTo>
                    <a:pt x="712" y="512"/>
                  </a:lnTo>
                  <a:lnTo>
                    <a:pt x="716" y="506"/>
                  </a:lnTo>
                  <a:lnTo>
                    <a:pt x="716" y="502"/>
                  </a:lnTo>
                  <a:lnTo>
                    <a:pt x="712" y="488"/>
                  </a:lnTo>
                  <a:lnTo>
                    <a:pt x="700" y="478"/>
                  </a:lnTo>
                  <a:lnTo>
                    <a:pt x="700" y="476"/>
                  </a:lnTo>
                  <a:lnTo>
                    <a:pt x="698" y="444"/>
                  </a:lnTo>
                  <a:lnTo>
                    <a:pt x="690" y="436"/>
                  </a:lnTo>
                  <a:lnTo>
                    <a:pt x="688" y="436"/>
                  </a:lnTo>
                  <a:lnTo>
                    <a:pt x="688" y="434"/>
                  </a:lnTo>
                  <a:lnTo>
                    <a:pt x="682" y="420"/>
                  </a:lnTo>
                  <a:lnTo>
                    <a:pt x="652" y="416"/>
                  </a:lnTo>
                  <a:lnTo>
                    <a:pt x="644" y="410"/>
                  </a:lnTo>
                  <a:lnTo>
                    <a:pt x="638" y="402"/>
                  </a:lnTo>
                  <a:lnTo>
                    <a:pt x="624" y="402"/>
                  </a:lnTo>
                  <a:lnTo>
                    <a:pt x="618" y="398"/>
                  </a:lnTo>
                  <a:lnTo>
                    <a:pt x="610" y="392"/>
                  </a:lnTo>
                  <a:lnTo>
                    <a:pt x="608" y="390"/>
                  </a:lnTo>
                  <a:lnTo>
                    <a:pt x="604" y="384"/>
                  </a:lnTo>
                  <a:lnTo>
                    <a:pt x="598" y="376"/>
                  </a:lnTo>
                  <a:lnTo>
                    <a:pt x="596" y="362"/>
                  </a:lnTo>
                  <a:lnTo>
                    <a:pt x="596" y="360"/>
                  </a:lnTo>
                  <a:lnTo>
                    <a:pt x="600" y="336"/>
                  </a:lnTo>
                  <a:lnTo>
                    <a:pt x="604" y="324"/>
                  </a:lnTo>
                  <a:lnTo>
                    <a:pt x="606" y="324"/>
                  </a:lnTo>
                  <a:lnTo>
                    <a:pt x="636" y="310"/>
                  </a:lnTo>
                  <a:lnTo>
                    <a:pt x="648" y="296"/>
                  </a:lnTo>
                  <a:lnTo>
                    <a:pt x="650" y="284"/>
                  </a:lnTo>
                  <a:lnTo>
                    <a:pt x="648" y="276"/>
                  </a:lnTo>
                  <a:lnTo>
                    <a:pt x="644" y="262"/>
                  </a:lnTo>
                  <a:lnTo>
                    <a:pt x="640" y="254"/>
                  </a:lnTo>
                  <a:lnTo>
                    <a:pt x="634" y="256"/>
                  </a:lnTo>
                  <a:lnTo>
                    <a:pt x="624" y="254"/>
                  </a:lnTo>
                  <a:lnTo>
                    <a:pt x="616" y="260"/>
                  </a:lnTo>
                  <a:lnTo>
                    <a:pt x="606" y="272"/>
                  </a:lnTo>
                  <a:lnTo>
                    <a:pt x="592" y="286"/>
                  </a:lnTo>
                  <a:lnTo>
                    <a:pt x="590" y="286"/>
                  </a:lnTo>
                  <a:lnTo>
                    <a:pt x="578" y="290"/>
                  </a:lnTo>
                  <a:lnTo>
                    <a:pt x="568" y="288"/>
                  </a:lnTo>
                  <a:lnTo>
                    <a:pt x="542" y="280"/>
                  </a:lnTo>
                  <a:close/>
                </a:path>
              </a:pathLst>
            </a:custGeom>
            <a:noFill/>
            <a:ln w="3175" cap="flat" cmpd="sng">
              <a:solidFill>
                <a:schemeClr val="bg2"/>
              </a:solidFill>
              <a:bevel/>
              <a:headEnd/>
              <a:tailEnd/>
            </a:ln>
          </p:spPr>
          <p:txBody>
            <a:bodyPr anchor="ctr"/>
            <a:lstStyle/>
            <a:p>
              <a:endParaRPr lang="zh-CN" altLang="en-US"/>
            </a:p>
          </p:txBody>
        </p:sp>
        <p:sp>
          <p:nvSpPr>
            <p:cNvPr id="8198" name="Freeform 6"/>
            <p:cNvSpPr>
              <a:spLocks/>
            </p:cNvSpPr>
            <p:nvPr/>
          </p:nvSpPr>
          <p:spPr bwMode="auto">
            <a:xfrm>
              <a:off x="3118622" y="2008665"/>
              <a:ext cx="329407" cy="544237"/>
            </a:xfrm>
            <a:custGeom>
              <a:avLst/>
              <a:gdLst/>
              <a:ahLst/>
              <a:cxnLst>
                <a:cxn ang="0">
                  <a:pos x="92" y="58"/>
                </a:cxn>
                <a:cxn ang="0">
                  <a:pos x="92" y="86"/>
                </a:cxn>
                <a:cxn ang="0">
                  <a:pos x="84" y="108"/>
                </a:cxn>
                <a:cxn ang="0">
                  <a:pos x="82" y="116"/>
                </a:cxn>
                <a:cxn ang="0">
                  <a:pos x="76" y="122"/>
                </a:cxn>
                <a:cxn ang="0">
                  <a:pos x="74" y="124"/>
                </a:cxn>
                <a:cxn ang="0">
                  <a:pos x="54" y="120"/>
                </a:cxn>
                <a:cxn ang="0">
                  <a:pos x="12" y="134"/>
                </a:cxn>
                <a:cxn ang="0">
                  <a:pos x="8" y="140"/>
                </a:cxn>
                <a:cxn ang="0">
                  <a:pos x="38" y="144"/>
                </a:cxn>
                <a:cxn ang="0">
                  <a:pos x="48" y="162"/>
                </a:cxn>
                <a:cxn ang="0">
                  <a:pos x="60" y="174"/>
                </a:cxn>
                <a:cxn ang="0">
                  <a:pos x="60" y="206"/>
                </a:cxn>
                <a:cxn ang="0">
                  <a:pos x="72" y="216"/>
                </a:cxn>
                <a:cxn ang="0">
                  <a:pos x="76" y="240"/>
                </a:cxn>
                <a:cxn ang="0">
                  <a:pos x="70" y="256"/>
                </a:cxn>
                <a:cxn ang="0">
                  <a:pos x="82" y="270"/>
                </a:cxn>
                <a:cxn ang="0">
                  <a:pos x="100" y="280"/>
                </a:cxn>
                <a:cxn ang="0">
                  <a:pos x="114" y="298"/>
                </a:cxn>
                <a:cxn ang="0">
                  <a:pos x="124" y="304"/>
                </a:cxn>
                <a:cxn ang="0">
                  <a:pos x="122" y="282"/>
                </a:cxn>
                <a:cxn ang="0">
                  <a:pos x="126" y="274"/>
                </a:cxn>
                <a:cxn ang="0">
                  <a:pos x="140" y="268"/>
                </a:cxn>
                <a:cxn ang="0">
                  <a:pos x="144" y="268"/>
                </a:cxn>
                <a:cxn ang="0">
                  <a:pos x="156" y="266"/>
                </a:cxn>
                <a:cxn ang="0">
                  <a:pos x="158" y="244"/>
                </a:cxn>
                <a:cxn ang="0">
                  <a:pos x="148" y="232"/>
                </a:cxn>
                <a:cxn ang="0">
                  <a:pos x="138" y="232"/>
                </a:cxn>
                <a:cxn ang="0">
                  <a:pos x="132" y="210"/>
                </a:cxn>
                <a:cxn ang="0">
                  <a:pos x="136" y="168"/>
                </a:cxn>
                <a:cxn ang="0">
                  <a:pos x="164" y="160"/>
                </a:cxn>
                <a:cxn ang="0">
                  <a:pos x="184" y="108"/>
                </a:cxn>
                <a:cxn ang="0">
                  <a:pos x="174" y="96"/>
                </a:cxn>
                <a:cxn ang="0">
                  <a:pos x="166" y="96"/>
                </a:cxn>
                <a:cxn ang="0">
                  <a:pos x="152" y="96"/>
                </a:cxn>
                <a:cxn ang="0">
                  <a:pos x="142" y="84"/>
                </a:cxn>
                <a:cxn ang="0">
                  <a:pos x="146" y="52"/>
                </a:cxn>
                <a:cxn ang="0">
                  <a:pos x="150" y="42"/>
                </a:cxn>
                <a:cxn ang="0">
                  <a:pos x="156" y="32"/>
                </a:cxn>
                <a:cxn ang="0">
                  <a:pos x="144" y="8"/>
                </a:cxn>
                <a:cxn ang="0">
                  <a:pos x="108" y="18"/>
                </a:cxn>
              </a:cxnLst>
              <a:rect l="0" t="0" r="r" b="b"/>
              <a:pathLst>
                <a:path w="184" h="304">
                  <a:moveTo>
                    <a:pt x="108" y="18"/>
                  </a:moveTo>
                  <a:lnTo>
                    <a:pt x="92" y="58"/>
                  </a:lnTo>
                  <a:lnTo>
                    <a:pt x="92" y="84"/>
                  </a:lnTo>
                  <a:lnTo>
                    <a:pt x="92" y="86"/>
                  </a:lnTo>
                  <a:lnTo>
                    <a:pt x="84" y="100"/>
                  </a:lnTo>
                  <a:lnTo>
                    <a:pt x="84" y="108"/>
                  </a:lnTo>
                  <a:lnTo>
                    <a:pt x="84" y="112"/>
                  </a:lnTo>
                  <a:lnTo>
                    <a:pt x="82" y="116"/>
                  </a:lnTo>
                  <a:lnTo>
                    <a:pt x="80" y="120"/>
                  </a:lnTo>
                  <a:lnTo>
                    <a:pt x="76" y="122"/>
                  </a:lnTo>
                  <a:lnTo>
                    <a:pt x="76" y="124"/>
                  </a:lnTo>
                  <a:lnTo>
                    <a:pt x="74" y="124"/>
                  </a:lnTo>
                  <a:lnTo>
                    <a:pt x="74" y="122"/>
                  </a:lnTo>
                  <a:lnTo>
                    <a:pt x="54" y="120"/>
                  </a:lnTo>
                  <a:lnTo>
                    <a:pt x="44" y="130"/>
                  </a:lnTo>
                  <a:lnTo>
                    <a:pt x="12" y="134"/>
                  </a:lnTo>
                  <a:lnTo>
                    <a:pt x="0" y="134"/>
                  </a:lnTo>
                  <a:lnTo>
                    <a:pt x="8" y="140"/>
                  </a:lnTo>
                  <a:lnTo>
                    <a:pt x="36" y="144"/>
                  </a:lnTo>
                  <a:lnTo>
                    <a:pt x="38" y="144"/>
                  </a:lnTo>
                  <a:lnTo>
                    <a:pt x="40" y="144"/>
                  </a:lnTo>
                  <a:lnTo>
                    <a:pt x="48" y="162"/>
                  </a:lnTo>
                  <a:lnTo>
                    <a:pt x="56" y="168"/>
                  </a:lnTo>
                  <a:lnTo>
                    <a:pt x="60" y="174"/>
                  </a:lnTo>
                  <a:lnTo>
                    <a:pt x="60" y="184"/>
                  </a:lnTo>
                  <a:lnTo>
                    <a:pt x="60" y="206"/>
                  </a:lnTo>
                  <a:lnTo>
                    <a:pt x="70" y="216"/>
                  </a:lnTo>
                  <a:lnTo>
                    <a:pt x="72" y="216"/>
                  </a:lnTo>
                  <a:lnTo>
                    <a:pt x="76" y="232"/>
                  </a:lnTo>
                  <a:lnTo>
                    <a:pt x="76" y="240"/>
                  </a:lnTo>
                  <a:lnTo>
                    <a:pt x="72" y="248"/>
                  </a:lnTo>
                  <a:lnTo>
                    <a:pt x="70" y="256"/>
                  </a:lnTo>
                  <a:lnTo>
                    <a:pt x="72" y="264"/>
                  </a:lnTo>
                  <a:lnTo>
                    <a:pt x="82" y="270"/>
                  </a:lnTo>
                  <a:lnTo>
                    <a:pt x="94" y="276"/>
                  </a:lnTo>
                  <a:lnTo>
                    <a:pt x="100" y="280"/>
                  </a:lnTo>
                  <a:lnTo>
                    <a:pt x="106" y="292"/>
                  </a:lnTo>
                  <a:lnTo>
                    <a:pt x="114" y="298"/>
                  </a:lnTo>
                  <a:lnTo>
                    <a:pt x="116" y="302"/>
                  </a:lnTo>
                  <a:lnTo>
                    <a:pt x="124" y="304"/>
                  </a:lnTo>
                  <a:lnTo>
                    <a:pt x="122" y="288"/>
                  </a:lnTo>
                  <a:lnTo>
                    <a:pt x="122" y="282"/>
                  </a:lnTo>
                  <a:lnTo>
                    <a:pt x="122" y="278"/>
                  </a:lnTo>
                  <a:lnTo>
                    <a:pt x="126" y="274"/>
                  </a:lnTo>
                  <a:lnTo>
                    <a:pt x="128" y="272"/>
                  </a:lnTo>
                  <a:lnTo>
                    <a:pt x="140" y="268"/>
                  </a:lnTo>
                  <a:lnTo>
                    <a:pt x="142" y="268"/>
                  </a:lnTo>
                  <a:lnTo>
                    <a:pt x="144" y="268"/>
                  </a:lnTo>
                  <a:lnTo>
                    <a:pt x="148" y="270"/>
                  </a:lnTo>
                  <a:lnTo>
                    <a:pt x="156" y="266"/>
                  </a:lnTo>
                  <a:lnTo>
                    <a:pt x="156" y="264"/>
                  </a:lnTo>
                  <a:lnTo>
                    <a:pt x="158" y="244"/>
                  </a:lnTo>
                  <a:lnTo>
                    <a:pt x="154" y="236"/>
                  </a:lnTo>
                  <a:lnTo>
                    <a:pt x="148" y="232"/>
                  </a:lnTo>
                  <a:lnTo>
                    <a:pt x="140" y="232"/>
                  </a:lnTo>
                  <a:lnTo>
                    <a:pt x="138" y="232"/>
                  </a:lnTo>
                  <a:lnTo>
                    <a:pt x="136" y="230"/>
                  </a:lnTo>
                  <a:lnTo>
                    <a:pt x="132" y="210"/>
                  </a:lnTo>
                  <a:lnTo>
                    <a:pt x="134" y="168"/>
                  </a:lnTo>
                  <a:lnTo>
                    <a:pt x="136" y="168"/>
                  </a:lnTo>
                  <a:lnTo>
                    <a:pt x="148" y="150"/>
                  </a:lnTo>
                  <a:lnTo>
                    <a:pt x="164" y="160"/>
                  </a:lnTo>
                  <a:lnTo>
                    <a:pt x="176" y="160"/>
                  </a:lnTo>
                  <a:lnTo>
                    <a:pt x="184" y="108"/>
                  </a:lnTo>
                  <a:lnTo>
                    <a:pt x="180" y="100"/>
                  </a:lnTo>
                  <a:lnTo>
                    <a:pt x="174" y="96"/>
                  </a:lnTo>
                  <a:lnTo>
                    <a:pt x="168" y="96"/>
                  </a:lnTo>
                  <a:lnTo>
                    <a:pt x="166" y="96"/>
                  </a:lnTo>
                  <a:lnTo>
                    <a:pt x="154" y="98"/>
                  </a:lnTo>
                  <a:lnTo>
                    <a:pt x="152" y="96"/>
                  </a:lnTo>
                  <a:lnTo>
                    <a:pt x="144" y="84"/>
                  </a:lnTo>
                  <a:lnTo>
                    <a:pt x="142" y="84"/>
                  </a:lnTo>
                  <a:lnTo>
                    <a:pt x="142" y="64"/>
                  </a:lnTo>
                  <a:lnTo>
                    <a:pt x="146" y="52"/>
                  </a:lnTo>
                  <a:lnTo>
                    <a:pt x="148" y="48"/>
                  </a:lnTo>
                  <a:lnTo>
                    <a:pt x="150" y="42"/>
                  </a:lnTo>
                  <a:lnTo>
                    <a:pt x="152" y="36"/>
                  </a:lnTo>
                  <a:lnTo>
                    <a:pt x="156" y="32"/>
                  </a:lnTo>
                  <a:lnTo>
                    <a:pt x="156" y="20"/>
                  </a:lnTo>
                  <a:lnTo>
                    <a:pt x="144" y="8"/>
                  </a:lnTo>
                  <a:lnTo>
                    <a:pt x="128" y="0"/>
                  </a:lnTo>
                  <a:lnTo>
                    <a:pt x="108" y="18"/>
                  </a:lnTo>
                  <a:close/>
                </a:path>
              </a:pathLst>
            </a:custGeom>
            <a:noFill/>
            <a:ln w="3175" cap="flat" cmpd="sng">
              <a:solidFill>
                <a:schemeClr val="bg2"/>
              </a:solidFill>
              <a:bevel/>
              <a:headEnd/>
              <a:tailEnd/>
            </a:ln>
          </p:spPr>
          <p:txBody>
            <a:bodyPr anchor="ctr"/>
            <a:lstStyle/>
            <a:p>
              <a:endParaRPr lang="zh-CN" altLang="en-US"/>
            </a:p>
          </p:txBody>
        </p:sp>
        <p:sp>
          <p:nvSpPr>
            <p:cNvPr id="8199" name="Freeform 7"/>
            <p:cNvSpPr>
              <a:spLocks/>
            </p:cNvSpPr>
            <p:nvPr/>
          </p:nvSpPr>
          <p:spPr bwMode="auto">
            <a:xfrm>
              <a:off x="0" y="576462"/>
              <a:ext cx="2334491" cy="1765190"/>
            </a:xfrm>
            <a:custGeom>
              <a:avLst/>
              <a:gdLst/>
              <a:ahLst/>
              <a:cxnLst>
                <a:cxn ang="0">
                  <a:pos x="1262" y="444"/>
                </a:cxn>
                <a:cxn ang="0">
                  <a:pos x="1222" y="408"/>
                </a:cxn>
                <a:cxn ang="0">
                  <a:pos x="1202" y="378"/>
                </a:cxn>
                <a:cxn ang="0">
                  <a:pos x="1140" y="340"/>
                </a:cxn>
                <a:cxn ang="0">
                  <a:pos x="1032" y="320"/>
                </a:cxn>
                <a:cxn ang="0">
                  <a:pos x="1044" y="246"/>
                </a:cxn>
                <a:cxn ang="0">
                  <a:pos x="1024" y="112"/>
                </a:cxn>
                <a:cxn ang="0">
                  <a:pos x="976" y="90"/>
                </a:cxn>
                <a:cxn ang="0">
                  <a:pos x="954" y="60"/>
                </a:cxn>
                <a:cxn ang="0">
                  <a:pos x="928" y="0"/>
                </a:cxn>
                <a:cxn ang="0">
                  <a:pos x="876" y="36"/>
                </a:cxn>
                <a:cxn ang="0">
                  <a:pos x="816" y="66"/>
                </a:cxn>
                <a:cxn ang="0">
                  <a:pos x="798" y="130"/>
                </a:cxn>
                <a:cxn ang="0">
                  <a:pos x="760" y="146"/>
                </a:cxn>
                <a:cxn ang="0">
                  <a:pos x="674" y="104"/>
                </a:cxn>
                <a:cxn ang="0">
                  <a:pos x="610" y="232"/>
                </a:cxn>
                <a:cxn ang="0">
                  <a:pos x="576" y="226"/>
                </a:cxn>
                <a:cxn ang="0">
                  <a:pos x="494" y="216"/>
                </a:cxn>
                <a:cxn ang="0">
                  <a:pos x="494" y="256"/>
                </a:cxn>
                <a:cxn ang="0">
                  <a:pos x="472" y="388"/>
                </a:cxn>
                <a:cxn ang="0">
                  <a:pos x="464" y="390"/>
                </a:cxn>
                <a:cxn ang="0">
                  <a:pos x="452" y="392"/>
                </a:cxn>
                <a:cxn ang="0">
                  <a:pos x="412" y="444"/>
                </a:cxn>
                <a:cxn ang="0">
                  <a:pos x="330" y="468"/>
                </a:cxn>
                <a:cxn ang="0">
                  <a:pos x="248" y="470"/>
                </a:cxn>
                <a:cxn ang="0">
                  <a:pos x="184" y="506"/>
                </a:cxn>
                <a:cxn ang="0">
                  <a:pos x="106" y="494"/>
                </a:cxn>
                <a:cxn ang="0">
                  <a:pos x="60" y="482"/>
                </a:cxn>
                <a:cxn ang="0">
                  <a:pos x="10" y="528"/>
                </a:cxn>
                <a:cxn ang="0">
                  <a:pos x="14" y="562"/>
                </a:cxn>
                <a:cxn ang="0">
                  <a:pos x="14" y="598"/>
                </a:cxn>
                <a:cxn ang="0">
                  <a:pos x="58" y="652"/>
                </a:cxn>
                <a:cxn ang="0">
                  <a:pos x="6" y="716"/>
                </a:cxn>
                <a:cxn ang="0">
                  <a:pos x="42" y="734"/>
                </a:cxn>
                <a:cxn ang="0">
                  <a:pos x="74" y="792"/>
                </a:cxn>
                <a:cxn ang="0">
                  <a:pos x="100" y="852"/>
                </a:cxn>
                <a:cxn ang="0">
                  <a:pos x="174" y="888"/>
                </a:cxn>
                <a:cxn ang="0">
                  <a:pos x="206" y="982"/>
                </a:cxn>
                <a:cxn ang="0">
                  <a:pos x="260" y="984"/>
                </a:cxn>
                <a:cxn ang="0">
                  <a:pos x="274" y="952"/>
                </a:cxn>
                <a:cxn ang="0">
                  <a:pos x="298" y="926"/>
                </a:cxn>
                <a:cxn ang="0">
                  <a:pos x="382" y="946"/>
                </a:cxn>
                <a:cxn ang="0">
                  <a:pos x="452" y="924"/>
                </a:cxn>
                <a:cxn ang="0">
                  <a:pos x="488" y="960"/>
                </a:cxn>
                <a:cxn ang="0">
                  <a:pos x="552" y="964"/>
                </a:cxn>
                <a:cxn ang="0">
                  <a:pos x="666" y="944"/>
                </a:cxn>
                <a:cxn ang="0">
                  <a:pos x="754" y="928"/>
                </a:cxn>
                <a:cxn ang="0">
                  <a:pos x="832" y="948"/>
                </a:cxn>
                <a:cxn ang="0">
                  <a:pos x="908" y="976"/>
                </a:cxn>
                <a:cxn ang="0">
                  <a:pos x="940" y="940"/>
                </a:cxn>
                <a:cxn ang="0">
                  <a:pos x="954" y="920"/>
                </a:cxn>
                <a:cxn ang="0">
                  <a:pos x="950" y="884"/>
                </a:cxn>
                <a:cxn ang="0">
                  <a:pos x="922" y="856"/>
                </a:cxn>
                <a:cxn ang="0">
                  <a:pos x="934" y="804"/>
                </a:cxn>
                <a:cxn ang="0">
                  <a:pos x="1004" y="794"/>
                </a:cxn>
                <a:cxn ang="0">
                  <a:pos x="1090" y="772"/>
                </a:cxn>
                <a:cxn ang="0">
                  <a:pos x="1086" y="748"/>
                </a:cxn>
                <a:cxn ang="0">
                  <a:pos x="1086" y="702"/>
                </a:cxn>
                <a:cxn ang="0">
                  <a:pos x="1126" y="676"/>
                </a:cxn>
                <a:cxn ang="0">
                  <a:pos x="1186" y="614"/>
                </a:cxn>
                <a:cxn ang="0">
                  <a:pos x="1214" y="596"/>
                </a:cxn>
                <a:cxn ang="0">
                  <a:pos x="1296" y="580"/>
                </a:cxn>
                <a:cxn ang="0">
                  <a:pos x="1302" y="530"/>
                </a:cxn>
              </a:cxnLst>
              <a:rect l="0" t="0" r="r" b="b"/>
              <a:pathLst>
                <a:path w="1304" h="986">
                  <a:moveTo>
                    <a:pt x="1302" y="530"/>
                  </a:moveTo>
                  <a:lnTo>
                    <a:pt x="1304" y="530"/>
                  </a:lnTo>
                  <a:lnTo>
                    <a:pt x="1304" y="528"/>
                  </a:lnTo>
                  <a:lnTo>
                    <a:pt x="1278" y="456"/>
                  </a:lnTo>
                  <a:lnTo>
                    <a:pt x="1262" y="444"/>
                  </a:lnTo>
                  <a:lnTo>
                    <a:pt x="1262" y="442"/>
                  </a:lnTo>
                  <a:lnTo>
                    <a:pt x="1258" y="412"/>
                  </a:lnTo>
                  <a:lnTo>
                    <a:pt x="1226" y="408"/>
                  </a:lnTo>
                  <a:lnTo>
                    <a:pt x="1224" y="408"/>
                  </a:lnTo>
                  <a:lnTo>
                    <a:pt x="1222" y="408"/>
                  </a:lnTo>
                  <a:lnTo>
                    <a:pt x="1222" y="406"/>
                  </a:lnTo>
                  <a:lnTo>
                    <a:pt x="1222" y="404"/>
                  </a:lnTo>
                  <a:lnTo>
                    <a:pt x="1218" y="396"/>
                  </a:lnTo>
                  <a:lnTo>
                    <a:pt x="1212" y="386"/>
                  </a:lnTo>
                  <a:lnTo>
                    <a:pt x="1202" y="378"/>
                  </a:lnTo>
                  <a:lnTo>
                    <a:pt x="1192" y="368"/>
                  </a:lnTo>
                  <a:lnTo>
                    <a:pt x="1178" y="360"/>
                  </a:lnTo>
                  <a:lnTo>
                    <a:pt x="1166" y="354"/>
                  </a:lnTo>
                  <a:lnTo>
                    <a:pt x="1152" y="346"/>
                  </a:lnTo>
                  <a:lnTo>
                    <a:pt x="1140" y="340"/>
                  </a:lnTo>
                  <a:lnTo>
                    <a:pt x="1116" y="336"/>
                  </a:lnTo>
                  <a:lnTo>
                    <a:pt x="1084" y="334"/>
                  </a:lnTo>
                  <a:lnTo>
                    <a:pt x="1042" y="332"/>
                  </a:lnTo>
                  <a:lnTo>
                    <a:pt x="1040" y="332"/>
                  </a:lnTo>
                  <a:lnTo>
                    <a:pt x="1032" y="320"/>
                  </a:lnTo>
                  <a:lnTo>
                    <a:pt x="1028" y="310"/>
                  </a:lnTo>
                  <a:lnTo>
                    <a:pt x="1026" y="300"/>
                  </a:lnTo>
                  <a:lnTo>
                    <a:pt x="1028" y="288"/>
                  </a:lnTo>
                  <a:lnTo>
                    <a:pt x="1034" y="272"/>
                  </a:lnTo>
                  <a:lnTo>
                    <a:pt x="1044" y="246"/>
                  </a:lnTo>
                  <a:lnTo>
                    <a:pt x="1058" y="214"/>
                  </a:lnTo>
                  <a:lnTo>
                    <a:pt x="1048" y="180"/>
                  </a:lnTo>
                  <a:lnTo>
                    <a:pt x="1036" y="124"/>
                  </a:lnTo>
                  <a:lnTo>
                    <a:pt x="1032" y="118"/>
                  </a:lnTo>
                  <a:lnTo>
                    <a:pt x="1024" y="112"/>
                  </a:lnTo>
                  <a:lnTo>
                    <a:pt x="1012" y="106"/>
                  </a:lnTo>
                  <a:lnTo>
                    <a:pt x="996" y="100"/>
                  </a:lnTo>
                  <a:lnTo>
                    <a:pt x="990" y="98"/>
                  </a:lnTo>
                  <a:lnTo>
                    <a:pt x="982" y="94"/>
                  </a:lnTo>
                  <a:lnTo>
                    <a:pt x="976" y="90"/>
                  </a:lnTo>
                  <a:lnTo>
                    <a:pt x="970" y="86"/>
                  </a:lnTo>
                  <a:lnTo>
                    <a:pt x="966" y="80"/>
                  </a:lnTo>
                  <a:lnTo>
                    <a:pt x="964" y="74"/>
                  </a:lnTo>
                  <a:lnTo>
                    <a:pt x="960" y="68"/>
                  </a:lnTo>
                  <a:lnTo>
                    <a:pt x="954" y="60"/>
                  </a:lnTo>
                  <a:lnTo>
                    <a:pt x="948" y="54"/>
                  </a:lnTo>
                  <a:lnTo>
                    <a:pt x="940" y="50"/>
                  </a:lnTo>
                  <a:lnTo>
                    <a:pt x="938" y="50"/>
                  </a:lnTo>
                  <a:lnTo>
                    <a:pt x="938" y="48"/>
                  </a:lnTo>
                  <a:lnTo>
                    <a:pt x="928" y="0"/>
                  </a:lnTo>
                  <a:lnTo>
                    <a:pt x="890" y="4"/>
                  </a:lnTo>
                  <a:lnTo>
                    <a:pt x="886" y="14"/>
                  </a:lnTo>
                  <a:lnTo>
                    <a:pt x="882" y="24"/>
                  </a:lnTo>
                  <a:lnTo>
                    <a:pt x="878" y="32"/>
                  </a:lnTo>
                  <a:lnTo>
                    <a:pt x="876" y="36"/>
                  </a:lnTo>
                  <a:lnTo>
                    <a:pt x="870" y="38"/>
                  </a:lnTo>
                  <a:lnTo>
                    <a:pt x="846" y="46"/>
                  </a:lnTo>
                  <a:lnTo>
                    <a:pt x="828" y="56"/>
                  </a:lnTo>
                  <a:lnTo>
                    <a:pt x="822" y="60"/>
                  </a:lnTo>
                  <a:lnTo>
                    <a:pt x="816" y="66"/>
                  </a:lnTo>
                  <a:lnTo>
                    <a:pt x="814" y="74"/>
                  </a:lnTo>
                  <a:lnTo>
                    <a:pt x="810" y="92"/>
                  </a:lnTo>
                  <a:lnTo>
                    <a:pt x="806" y="110"/>
                  </a:lnTo>
                  <a:lnTo>
                    <a:pt x="802" y="122"/>
                  </a:lnTo>
                  <a:lnTo>
                    <a:pt x="798" y="130"/>
                  </a:lnTo>
                  <a:lnTo>
                    <a:pt x="792" y="136"/>
                  </a:lnTo>
                  <a:lnTo>
                    <a:pt x="786" y="142"/>
                  </a:lnTo>
                  <a:lnTo>
                    <a:pt x="778" y="144"/>
                  </a:lnTo>
                  <a:lnTo>
                    <a:pt x="770" y="146"/>
                  </a:lnTo>
                  <a:lnTo>
                    <a:pt x="760" y="146"/>
                  </a:lnTo>
                  <a:lnTo>
                    <a:pt x="750" y="144"/>
                  </a:lnTo>
                  <a:lnTo>
                    <a:pt x="738" y="140"/>
                  </a:lnTo>
                  <a:lnTo>
                    <a:pt x="724" y="134"/>
                  </a:lnTo>
                  <a:lnTo>
                    <a:pt x="708" y="126"/>
                  </a:lnTo>
                  <a:lnTo>
                    <a:pt x="674" y="104"/>
                  </a:lnTo>
                  <a:lnTo>
                    <a:pt x="608" y="188"/>
                  </a:lnTo>
                  <a:lnTo>
                    <a:pt x="616" y="224"/>
                  </a:lnTo>
                  <a:lnTo>
                    <a:pt x="618" y="224"/>
                  </a:lnTo>
                  <a:lnTo>
                    <a:pt x="616" y="226"/>
                  </a:lnTo>
                  <a:lnTo>
                    <a:pt x="610" y="232"/>
                  </a:lnTo>
                  <a:lnTo>
                    <a:pt x="602" y="236"/>
                  </a:lnTo>
                  <a:lnTo>
                    <a:pt x="598" y="236"/>
                  </a:lnTo>
                  <a:lnTo>
                    <a:pt x="594" y="234"/>
                  </a:lnTo>
                  <a:lnTo>
                    <a:pt x="582" y="230"/>
                  </a:lnTo>
                  <a:lnTo>
                    <a:pt x="576" y="226"/>
                  </a:lnTo>
                  <a:lnTo>
                    <a:pt x="564" y="224"/>
                  </a:lnTo>
                  <a:lnTo>
                    <a:pt x="548" y="220"/>
                  </a:lnTo>
                  <a:lnTo>
                    <a:pt x="528" y="220"/>
                  </a:lnTo>
                  <a:lnTo>
                    <a:pt x="514" y="218"/>
                  </a:lnTo>
                  <a:lnTo>
                    <a:pt x="494" y="216"/>
                  </a:lnTo>
                  <a:lnTo>
                    <a:pt x="474" y="220"/>
                  </a:lnTo>
                  <a:lnTo>
                    <a:pt x="482" y="234"/>
                  </a:lnTo>
                  <a:lnTo>
                    <a:pt x="492" y="248"/>
                  </a:lnTo>
                  <a:lnTo>
                    <a:pt x="494" y="252"/>
                  </a:lnTo>
                  <a:lnTo>
                    <a:pt x="494" y="256"/>
                  </a:lnTo>
                  <a:lnTo>
                    <a:pt x="484" y="308"/>
                  </a:lnTo>
                  <a:lnTo>
                    <a:pt x="488" y="336"/>
                  </a:lnTo>
                  <a:lnTo>
                    <a:pt x="490" y="336"/>
                  </a:lnTo>
                  <a:lnTo>
                    <a:pt x="488" y="336"/>
                  </a:lnTo>
                  <a:lnTo>
                    <a:pt x="472" y="388"/>
                  </a:lnTo>
                  <a:lnTo>
                    <a:pt x="470" y="394"/>
                  </a:lnTo>
                  <a:lnTo>
                    <a:pt x="468" y="396"/>
                  </a:lnTo>
                  <a:lnTo>
                    <a:pt x="466" y="396"/>
                  </a:lnTo>
                  <a:lnTo>
                    <a:pt x="466" y="394"/>
                  </a:lnTo>
                  <a:lnTo>
                    <a:pt x="464" y="390"/>
                  </a:lnTo>
                  <a:lnTo>
                    <a:pt x="460" y="384"/>
                  </a:lnTo>
                  <a:lnTo>
                    <a:pt x="460" y="382"/>
                  </a:lnTo>
                  <a:lnTo>
                    <a:pt x="458" y="382"/>
                  </a:lnTo>
                  <a:lnTo>
                    <a:pt x="454" y="384"/>
                  </a:lnTo>
                  <a:lnTo>
                    <a:pt x="452" y="392"/>
                  </a:lnTo>
                  <a:lnTo>
                    <a:pt x="450" y="404"/>
                  </a:lnTo>
                  <a:lnTo>
                    <a:pt x="444" y="414"/>
                  </a:lnTo>
                  <a:lnTo>
                    <a:pt x="436" y="422"/>
                  </a:lnTo>
                  <a:lnTo>
                    <a:pt x="426" y="432"/>
                  </a:lnTo>
                  <a:lnTo>
                    <a:pt x="412" y="444"/>
                  </a:lnTo>
                  <a:lnTo>
                    <a:pt x="406" y="448"/>
                  </a:lnTo>
                  <a:lnTo>
                    <a:pt x="404" y="448"/>
                  </a:lnTo>
                  <a:lnTo>
                    <a:pt x="352" y="448"/>
                  </a:lnTo>
                  <a:lnTo>
                    <a:pt x="332" y="468"/>
                  </a:lnTo>
                  <a:lnTo>
                    <a:pt x="330" y="468"/>
                  </a:lnTo>
                  <a:lnTo>
                    <a:pt x="274" y="460"/>
                  </a:lnTo>
                  <a:lnTo>
                    <a:pt x="268" y="466"/>
                  </a:lnTo>
                  <a:lnTo>
                    <a:pt x="260" y="470"/>
                  </a:lnTo>
                  <a:lnTo>
                    <a:pt x="254" y="470"/>
                  </a:lnTo>
                  <a:lnTo>
                    <a:pt x="248" y="470"/>
                  </a:lnTo>
                  <a:lnTo>
                    <a:pt x="240" y="470"/>
                  </a:lnTo>
                  <a:lnTo>
                    <a:pt x="232" y="470"/>
                  </a:lnTo>
                  <a:lnTo>
                    <a:pt x="206" y="478"/>
                  </a:lnTo>
                  <a:lnTo>
                    <a:pt x="184" y="504"/>
                  </a:lnTo>
                  <a:lnTo>
                    <a:pt x="184" y="506"/>
                  </a:lnTo>
                  <a:lnTo>
                    <a:pt x="148" y="508"/>
                  </a:lnTo>
                  <a:lnTo>
                    <a:pt x="148" y="478"/>
                  </a:lnTo>
                  <a:lnTo>
                    <a:pt x="126" y="478"/>
                  </a:lnTo>
                  <a:lnTo>
                    <a:pt x="122" y="490"/>
                  </a:lnTo>
                  <a:lnTo>
                    <a:pt x="106" y="494"/>
                  </a:lnTo>
                  <a:lnTo>
                    <a:pt x="104" y="494"/>
                  </a:lnTo>
                  <a:lnTo>
                    <a:pt x="102" y="494"/>
                  </a:lnTo>
                  <a:lnTo>
                    <a:pt x="86" y="486"/>
                  </a:lnTo>
                  <a:lnTo>
                    <a:pt x="66" y="480"/>
                  </a:lnTo>
                  <a:lnTo>
                    <a:pt x="60" y="482"/>
                  </a:lnTo>
                  <a:lnTo>
                    <a:pt x="54" y="484"/>
                  </a:lnTo>
                  <a:lnTo>
                    <a:pt x="38" y="496"/>
                  </a:lnTo>
                  <a:lnTo>
                    <a:pt x="20" y="512"/>
                  </a:lnTo>
                  <a:lnTo>
                    <a:pt x="14" y="520"/>
                  </a:lnTo>
                  <a:lnTo>
                    <a:pt x="10" y="528"/>
                  </a:lnTo>
                  <a:lnTo>
                    <a:pt x="12" y="530"/>
                  </a:lnTo>
                  <a:lnTo>
                    <a:pt x="14" y="536"/>
                  </a:lnTo>
                  <a:lnTo>
                    <a:pt x="16" y="546"/>
                  </a:lnTo>
                  <a:lnTo>
                    <a:pt x="16" y="554"/>
                  </a:lnTo>
                  <a:lnTo>
                    <a:pt x="14" y="562"/>
                  </a:lnTo>
                  <a:lnTo>
                    <a:pt x="10" y="568"/>
                  </a:lnTo>
                  <a:lnTo>
                    <a:pt x="6" y="570"/>
                  </a:lnTo>
                  <a:lnTo>
                    <a:pt x="4" y="574"/>
                  </a:lnTo>
                  <a:lnTo>
                    <a:pt x="0" y="590"/>
                  </a:lnTo>
                  <a:lnTo>
                    <a:pt x="14" y="598"/>
                  </a:lnTo>
                  <a:lnTo>
                    <a:pt x="30" y="580"/>
                  </a:lnTo>
                  <a:lnTo>
                    <a:pt x="54" y="604"/>
                  </a:lnTo>
                  <a:lnTo>
                    <a:pt x="54" y="606"/>
                  </a:lnTo>
                  <a:lnTo>
                    <a:pt x="58" y="650"/>
                  </a:lnTo>
                  <a:lnTo>
                    <a:pt x="58" y="652"/>
                  </a:lnTo>
                  <a:lnTo>
                    <a:pt x="44" y="712"/>
                  </a:lnTo>
                  <a:lnTo>
                    <a:pt x="42" y="712"/>
                  </a:lnTo>
                  <a:lnTo>
                    <a:pt x="18" y="712"/>
                  </a:lnTo>
                  <a:lnTo>
                    <a:pt x="12" y="714"/>
                  </a:lnTo>
                  <a:lnTo>
                    <a:pt x="6" y="716"/>
                  </a:lnTo>
                  <a:lnTo>
                    <a:pt x="8" y="720"/>
                  </a:lnTo>
                  <a:lnTo>
                    <a:pt x="12" y="724"/>
                  </a:lnTo>
                  <a:lnTo>
                    <a:pt x="28" y="736"/>
                  </a:lnTo>
                  <a:lnTo>
                    <a:pt x="40" y="734"/>
                  </a:lnTo>
                  <a:lnTo>
                    <a:pt x="42" y="734"/>
                  </a:lnTo>
                  <a:lnTo>
                    <a:pt x="70" y="760"/>
                  </a:lnTo>
                  <a:lnTo>
                    <a:pt x="72" y="764"/>
                  </a:lnTo>
                  <a:lnTo>
                    <a:pt x="76" y="768"/>
                  </a:lnTo>
                  <a:lnTo>
                    <a:pt x="76" y="778"/>
                  </a:lnTo>
                  <a:lnTo>
                    <a:pt x="74" y="792"/>
                  </a:lnTo>
                  <a:lnTo>
                    <a:pt x="66" y="806"/>
                  </a:lnTo>
                  <a:lnTo>
                    <a:pt x="70" y="832"/>
                  </a:lnTo>
                  <a:lnTo>
                    <a:pt x="80" y="834"/>
                  </a:lnTo>
                  <a:lnTo>
                    <a:pt x="120" y="834"/>
                  </a:lnTo>
                  <a:lnTo>
                    <a:pt x="100" y="852"/>
                  </a:lnTo>
                  <a:lnTo>
                    <a:pt x="112" y="860"/>
                  </a:lnTo>
                  <a:lnTo>
                    <a:pt x="128" y="868"/>
                  </a:lnTo>
                  <a:lnTo>
                    <a:pt x="170" y="886"/>
                  </a:lnTo>
                  <a:lnTo>
                    <a:pt x="172" y="888"/>
                  </a:lnTo>
                  <a:lnTo>
                    <a:pt x="174" y="888"/>
                  </a:lnTo>
                  <a:lnTo>
                    <a:pt x="178" y="952"/>
                  </a:lnTo>
                  <a:lnTo>
                    <a:pt x="180" y="962"/>
                  </a:lnTo>
                  <a:lnTo>
                    <a:pt x="186" y="970"/>
                  </a:lnTo>
                  <a:lnTo>
                    <a:pt x="194" y="976"/>
                  </a:lnTo>
                  <a:lnTo>
                    <a:pt x="206" y="982"/>
                  </a:lnTo>
                  <a:lnTo>
                    <a:pt x="210" y="980"/>
                  </a:lnTo>
                  <a:lnTo>
                    <a:pt x="212" y="980"/>
                  </a:lnTo>
                  <a:lnTo>
                    <a:pt x="256" y="986"/>
                  </a:lnTo>
                  <a:lnTo>
                    <a:pt x="260" y="986"/>
                  </a:lnTo>
                  <a:lnTo>
                    <a:pt x="260" y="984"/>
                  </a:lnTo>
                  <a:lnTo>
                    <a:pt x="268" y="968"/>
                  </a:lnTo>
                  <a:lnTo>
                    <a:pt x="268" y="966"/>
                  </a:lnTo>
                  <a:lnTo>
                    <a:pt x="268" y="960"/>
                  </a:lnTo>
                  <a:lnTo>
                    <a:pt x="270" y="956"/>
                  </a:lnTo>
                  <a:lnTo>
                    <a:pt x="274" y="952"/>
                  </a:lnTo>
                  <a:lnTo>
                    <a:pt x="278" y="948"/>
                  </a:lnTo>
                  <a:lnTo>
                    <a:pt x="286" y="940"/>
                  </a:lnTo>
                  <a:lnTo>
                    <a:pt x="290" y="932"/>
                  </a:lnTo>
                  <a:lnTo>
                    <a:pt x="294" y="928"/>
                  </a:lnTo>
                  <a:lnTo>
                    <a:pt x="298" y="926"/>
                  </a:lnTo>
                  <a:lnTo>
                    <a:pt x="306" y="926"/>
                  </a:lnTo>
                  <a:lnTo>
                    <a:pt x="314" y="928"/>
                  </a:lnTo>
                  <a:lnTo>
                    <a:pt x="316" y="928"/>
                  </a:lnTo>
                  <a:lnTo>
                    <a:pt x="330" y="936"/>
                  </a:lnTo>
                  <a:lnTo>
                    <a:pt x="382" y="946"/>
                  </a:lnTo>
                  <a:lnTo>
                    <a:pt x="412" y="944"/>
                  </a:lnTo>
                  <a:lnTo>
                    <a:pt x="434" y="934"/>
                  </a:lnTo>
                  <a:lnTo>
                    <a:pt x="440" y="928"/>
                  </a:lnTo>
                  <a:lnTo>
                    <a:pt x="444" y="924"/>
                  </a:lnTo>
                  <a:lnTo>
                    <a:pt x="452" y="924"/>
                  </a:lnTo>
                  <a:lnTo>
                    <a:pt x="460" y="930"/>
                  </a:lnTo>
                  <a:lnTo>
                    <a:pt x="464" y="932"/>
                  </a:lnTo>
                  <a:lnTo>
                    <a:pt x="468" y="938"/>
                  </a:lnTo>
                  <a:lnTo>
                    <a:pt x="472" y="948"/>
                  </a:lnTo>
                  <a:lnTo>
                    <a:pt x="488" y="960"/>
                  </a:lnTo>
                  <a:lnTo>
                    <a:pt x="500" y="960"/>
                  </a:lnTo>
                  <a:lnTo>
                    <a:pt x="502" y="960"/>
                  </a:lnTo>
                  <a:lnTo>
                    <a:pt x="504" y="960"/>
                  </a:lnTo>
                  <a:lnTo>
                    <a:pt x="520" y="968"/>
                  </a:lnTo>
                  <a:lnTo>
                    <a:pt x="552" y="964"/>
                  </a:lnTo>
                  <a:lnTo>
                    <a:pt x="570" y="960"/>
                  </a:lnTo>
                  <a:lnTo>
                    <a:pt x="614" y="964"/>
                  </a:lnTo>
                  <a:lnTo>
                    <a:pt x="634" y="958"/>
                  </a:lnTo>
                  <a:lnTo>
                    <a:pt x="658" y="948"/>
                  </a:lnTo>
                  <a:lnTo>
                    <a:pt x="666" y="944"/>
                  </a:lnTo>
                  <a:lnTo>
                    <a:pt x="676" y="940"/>
                  </a:lnTo>
                  <a:lnTo>
                    <a:pt x="720" y="940"/>
                  </a:lnTo>
                  <a:lnTo>
                    <a:pt x="736" y="934"/>
                  </a:lnTo>
                  <a:lnTo>
                    <a:pt x="746" y="930"/>
                  </a:lnTo>
                  <a:lnTo>
                    <a:pt x="754" y="928"/>
                  </a:lnTo>
                  <a:lnTo>
                    <a:pt x="778" y="928"/>
                  </a:lnTo>
                  <a:lnTo>
                    <a:pt x="790" y="936"/>
                  </a:lnTo>
                  <a:lnTo>
                    <a:pt x="826" y="944"/>
                  </a:lnTo>
                  <a:lnTo>
                    <a:pt x="830" y="944"/>
                  </a:lnTo>
                  <a:lnTo>
                    <a:pt x="832" y="948"/>
                  </a:lnTo>
                  <a:lnTo>
                    <a:pt x="842" y="956"/>
                  </a:lnTo>
                  <a:lnTo>
                    <a:pt x="858" y="964"/>
                  </a:lnTo>
                  <a:lnTo>
                    <a:pt x="858" y="966"/>
                  </a:lnTo>
                  <a:lnTo>
                    <a:pt x="892" y="968"/>
                  </a:lnTo>
                  <a:lnTo>
                    <a:pt x="908" y="976"/>
                  </a:lnTo>
                  <a:lnTo>
                    <a:pt x="928" y="980"/>
                  </a:lnTo>
                  <a:lnTo>
                    <a:pt x="946" y="982"/>
                  </a:lnTo>
                  <a:lnTo>
                    <a:pt x="950" y="972"/>
                  </a:lnTo>
                  <a:lnTo>
                    <a:pt x="942" y="956"/>
                  </a:lnTo>
                  <a:lnTo>
                    <a:pt x="940" y="940"/>
                  </a:lnTo>
                  <a:lnTo>
                    <a:pt x="938" y="940"/>
                  </a:lnTo>
                  <a:lnTo>
                    <a:pt x="942" y="936"/>
                  </a:lnTo>
                  <a:lnTo>
                    <a:pt x="952" y="922"/>
                  </a:lnTo>
                  <a:lnTo>
                    <a:pt x="952" y="920"/>
                  </a:lnTo>
                  <a:lnTo>
                    <a:pt x="954" y="920"/>
                  </a:lnTo>
                  <a:lnTo>
                    <a:pt x="964" y="912"/>
                  </a:lnTo>
                  <a:lnTo>
                    <a:pt x="962" y="908"/>
                  </a:lnTo>
                  <a:lnTo>
                    <a:pt x="958" y="892"/>
                  </a:lnTo>
                  <a:lnTo>
                    <a:pt x="956" y="888"/>
                  </a:lnTo>
                  <a:lnTo>
                    <a:pt x="950" y="884"/>
                  </a:lnTo>
                  <a:lnTo>
                    <a:pt x="938" y="872"/>
                  </a:lnTo>
                  <a:lnTo>
                    <a:pt x="922" y="858"/>
                  </a:lnTo>
                  <a:lnTo>
                    <a:pt x="922" y="856"/>
                  </a:lnTo>
                  <a:lnTo>
                    <a:pt x="920" y="856"/>
                  </a:lnTo>
                  <a:lnTo>
                    <a:pt x="922" y="856"/>
                  </a:lnTo>
                  <a:lnTo>
                    <a:pt x="922" y="854"/>
                  </a:lnTo>
                  <a:lnTo>
                    <a:pt x="924" y="838"/>
                  </a:lnTo>
                  <a:lnTo>
                    <a:pt x="924" y="828"/>
                  </a:lnTo>
                  <a:lnTo>
                    <a:pt x="916" y="808"/>
                  </a:lnTo>
                  <a:lnTo>
                    <a:pt x="934" y="804"/>
                  </a:lnTo>
                  <a:lnTo>
                    <a:pt x="944" y="796"/>
                  </a:lnTo>
                  <a:lnTo>
                    <a:pt x="966" y="796"/>
                  </a:lnTo>
                  <a:lnTo>
                    <a:pt x="988" y="792"/>
                  </a:lnTo>
                  <a:lnTo>
                    <a:pt x="990" y="792"/>
                  </a:lnTo>
                  <a:lnTo>
                    <a:pt x="1004" y="794"/>
                  </a:lnTo>
                  <a:lnTo>
                    <a:pt x="1022" y="788"/>
                  </a:lnTo>
                  <a:lnTo>
                    <a:pt x="1042" y="784"/>
                  </a:lnTo>
                  <a:lnTo>
                    <a:pt x="1054" y="780"/>
                  </a:lnTo>
                  <a:lnTo>
                    <a:pt x="1056" y="780"/>
                  </a:lnTo>
                  <a:lnTo>
                    <a:pt x="1090" y="772"/>
                  </a:lnTo>
                  <a:lnTo>
                    <a:pt x="1096" y="768"/>
                  </a:lnTo>
                  <a:lnTo>
                    <a:pt x="1094" y="760"/>
                  </a:lnTo>
                  <a:lnTo>
                    <a:pt x="1088" y="750"/>
                  </a:lnTo>
                  <a:lnTo>
                    <a:pt x="1088" y="748"/>
                  </a:lnTo>
                  <a:lnTo>
                    <a:pt x="1086" y="748"/>
                  </a:lnTo>
                  <a:lnTo>
                    <a:pt x="1088" y="736"/>
                  </a:lnTo>
                  <a:lnTo>
                    <a:pt x="1090" y="734"/>
                  </a:lnTo>
                  <a:lnTo>
                    <a:pt x="1090" y="718"/>
                  </a:lnTo>
                  <a:lnTo>
                    <a:pt x="1086" y="704"/>
                  </a:lnTo>
                  <a:lnTo>
                    <a:pt x="1086" y="702"/>
                  </a:lnTo>
                  <a:lnTo>
                    <a:pt x="1094" y="686"/>
                  </a:lnTo>
                  <a:lnTo>
                    <a:pt x="1100" y="678"/>
                  </a:lnTo>
                  <a:lnTo>
                    <a:pt x="1102" y="676"/>
                  </a:lnTo>
                  <a:lnTo>
                    <a:pt x="1106" y="676"/>
                  </a:lnTo>
                  <a:lnTo>
                    <a:pt x="1126" y="676"/>
                  </a:lnTo>
                  <a:lnTo>
                    <a:pt x="1132" y="676"/>
                  </a:lnTo>
                  <a:lnTo>
                    <a:pt x="1138" y="672"/>
                  </a:lnTo>
                  <a:lnTo>
                    <a:pt x="1170" y="630"/>
                  </a:lnTo>
                  <a:lnTo>
                    <a:pt x="1170" y="628"/>
                  </a:lnTo>
                  <a:lnTo>
                    <a:pt x="1186" y="614"/>
                  </a:lnTo>
                  <a:lnTo>
                    <a:pt x="1188" y="612"/>
                  </a:lnTo>
                  <a:lnTo>
                    <a:pt x="1196" y="610"/>
                  </a:lnTo>
                  <a:lnTo>
                    <a:pt x="1202" y="608"/>
                  </a:lnTo>
                  <a:lnTo>
                    <a:pt x="1206" y="604"/>
                  </a:lnTo>
                  <a:lnTo>
                    <a:pt x="1214" y="596"/>
                  </a:lnTo>
                  <a:lnTo>
                    <a:pt x="1218" y="592"/>
                  </a:lnTo>
                  <a:lnTo>
                    <a:pt x="1246" y="598"/>
                  </a:lnTo>
                  <a:lnTo>
                    <a:pt x="1270" y="588"/>
                  </a:lnTo>
                  <a:lnTo>
                    <a:pt x="1284" y="586"/>
                  </a:lnTo>
                  <a:lnTo>
                    <a:pt x="1296" y="580"/>
                  </a:lnTo>
                  <a:lnTo>
                    <a:pt x="1296" y="562"/>
                  </a:lnTo>
                  <a:lnTo>
                    <a:pt x="1298" y="540"/>
                  </a:lnTo>
                  <a:lnTo>
                    <a:pt x="1298" y="538"/>
                  </a:lnTo>
                  <a:lnTo>
                    <a:pt x="1302" y="532"/>
                  </a:lnTo>
                  <a:lnTo>
                    <a:pt x="1302" y="530"/>
                  </a:lnTo>
                  <a:close/>
                </a:path>
              </a:pathLst>
            </a:custGeom>
            <a:noFill/>
            <a:ln w="3175" cap="flat" cmpd="sng">
              <a:solidFill>
                <a:schemeClr val="bg2"/>
              </a:solidFill>
              <a:bevel/>
              <a:headEnd/>
              <a:tailEnd/>
            </a:ln>
          </p:spPr>
          <p:txBody>
            <a:bodyPr anchor="ctr"/>
            <a:lstStyle/>
            <a:p>
              <a:endParaRPr lang="zh-CN" altLang="en-US"/>
            </a:p>
          </p:txBody>
        </p:sp>
        <p:sp>
          <p:nvSpPr>
            <p:cNvPr id="8200" name="Freeform 8"/>
            <p:cNvSpPr>
              <a:spLocks/>
            </p:cNvSpPr>
            <p:nvPr/>
          </p:nvSpPr>
          <p:spPr bwMode="auto">
            <a:xfrm>
              <a:off x="1514555" y="1962118"/>
              <a:ext cx="1453686" cy="1041928"/>
            </a:xfrm>
            <a:custGeom>
              <a:avLst/>
              <a:gdLst/>
              <a:ahLst/>
              <a:cxnLst>
                <a:cxn ang="0">
                  <a:pos x="480" y="58"/>
                </a:cxn>
                <a:cxn ang="0">
                  <a:pos x="460" y="82"/>
                </a:cxn>
                <a:cxn ang="0">
                  <a:pos x="396" y="38"/>
                </a:cxn>
                <a:cxn ang="0">
                  <a:pos x="344" y="10"/>
                </a:cxn>
                <a:cxn ang="0">
                  <a:pos x="288" y="4"/>
                </a:cxn>
                <a:cxn ang="0">
                  <a:pos x="248" y="6"/>
                </a:cxn>
                <a:cxn ang="0">
                  <a:pos x="198" y="18"/>
                </a:cxn>
                <a:cxn ang="0">
                  <a:pos x="158" y="28"/>
                </a:cxn>
                <a:cxn ang="0">
                  <a:pos x="92" y="38"/>
                </a:cxn>
                <a:cxn ang="0">
                  <a:pos x="84" y="78"/>
                </a:cxn>
                <a:cxn ang="0">
                  <a:pos x="120" y="114"/>
                </a:cxn>
                <a:cxn ang="0">
                  <a:pos x="128" y="142"/>
                </a:cxn>
                <a:cxn ang="0">
                  <a:pos x="112" y="196"/>
                </a:cxn>
                <a:cxn ang="0">
                  <a:pos x="106" y="214"/>
                </a:cxn>
                <a:cxn ang="0">
                  <a:pos x="60" y="210"/>
                </a:cxn>
                <a:cxn ang="0">
                  <a:pos x="22" y="202"/>
                </a:cxn>
                <a:cxn ang="0">
                  <a:pos x="8" y="250"/>
                </a:cxn>
                <a:cxn ang="0">
                  <a:pos x="4" y="272"/>
                </a:cxn>
                <a:cxn ang="0">
                  <a:pos x="18" y="310"/>
                </a:cxn>
                <a:cxn ang="0">
                  <a:pos x="0" y="362"/>
                </a:cxn>
                <a:cxn ang="0">
                  <a:pos x="26" y="406"/>
                </a:cxn>
                <a:cxn ang="0">
                  <a:pos x="68" y="422"/>
                </a:cxn>
                <a:cxn ang="0">
                  <a:pos x="92" y="424"/>
                </a:cxn>
                <a:cxn ang="0">
                  <a:pos x="108" y="448"/>
                </a:cxn>
                <a:cxn ang="0">
                  <a:pos x="132" y="460"/>
                </a:cxn>
                <a:cxn ang="0">
                  <a:pos x="162" y="474"/>
                </a:cxn>
                <a:cxn ang="0">
                  <a:pos x="232" y="498"/>
                </a:cxn>
                <a:cxn ang="0">
                  <a:pos x="304" y="494"/>
                </a:cxn>
                <a:cxn ang="0">
                  <a:pos x="332" y="532"/>
                </a:cxn>
                <a:cxn ang="0">
                  <a:pos x="348" y="554"/>
                </a:cxn>
                <a:cxn ang="0">
                  <a:pos x="364" y="578"/>
                </a:cxn>
                <a:cxn ang="0">
                  <a:pos x="390" y="568"/>
                </a:cxn>
                <a:cxn ang="0">
                  <a:pos x="428" y="574"/>
                </a:cxn>
                <a:cxn ang="0">
                  <a:pos x="456" y="546"/>
                </a:cxn>
                <a:cxn ang="0">
                  <a:pos x="476" y="492"/>
                </a:cxn>
                <a:cxn ang="0">
                  <a:pos x="476" y="438"/>
                </a:cxn>
                <a:cxn ang="0">
                  <a:pos x="480" y="418"/>
                </a:cxn>
                <a:cxn ang="0">
                  <a:pos x="514" y="410"/>
                </a:cxn>
                <a:cxn ang="0">
                  <a:pos x="556" y="428"/>
                </a:cxn>
                <a:cxn ang="0">
                  <a:pos x="568" y="462"/>
                </a:cxn>
                <a:cxn ang="0">
                  <a:pos x="584" y="478"/>
                </a:cxn>
                <a:cxn ang="0">
                  <a:pos x="610" y="506"/>
                </a:cxn>
                <a:cxn ang="0">
                  <a:pos x="652" y="518"/>
                </a:cxn>
                <a:cxn ang="0">
                  <a:pos x="664" y="518"/>
                </a:cxn>
                <a:cxn ang="0">
                  <a:pos x="700" y="508"/>
                </a:cxn>
                <a:cxn ang="0">
                  <a:pos x="698" y="480"/>
                </a:cxn>
                <a:cxn ang="0">
                  <a:pos x="722" y="472"/>
                </a:cxn>
                <a:cxn ang="0">
                  <a:pos x="688" y="426"/>
                </a:cxn>
                <a:cxn ang="0">
                  <a:pos x="744" y="396"/>
                </a:cxn>
                <a:cxn ang="0">
                  <a:pos x="730" y="378"/>
                </a:cxn>
                <a:cxn ang="0">
                  <a:pos x="752" y="350"/>
                </a:cxn>
                <a:cxn ang="0">
                  <a:pos x="796" y="310"/>
                </a:cxn>
                <a:cxn ang="0">
                  <a:pos x="800" y="254"/>
                </a:cxn>
                <a:cxn ang="0">
                  <a:pos x="778" y="182"/>
                </a:cxn>
                <a:cxn ang="0">
                  <a:pos x="736" y="158"/>
                </a:cxn>
                <a:cxn ang="0">
                  <a:pos x="672" y="100"/>
                </a:cxn>
                <a:cxn ang="0">
                  <a:pos x="658" y="106"/>
                </a:cxn>
                <a:cxn ang="0">
                  <a:pos x="616" y="78"/>
                </a:cxn>
                <a:cxn ang="0">
                  <a:pos x="584" y="52"/>
                </a:cxn>
                <a:cxn ang="0">
                  <a:pos x="552" y="50"/>
                </a:cxn>
                <a:cxn ang="0">
                  <a:pos x="484" y="30"/>
                </a:cxn>
              </a:cxnLst>
              <a:rect l="0" t="0" r="r" b="b"/>
              <a:pathLst>
                <a:path w="812" h="582">
                  <a:moveTo>
                    <a:pt x="484" y="30"/>
                  </a:moveTo>
                  <a:lnTo>
                    <a:pt x="476" y="36"/>
                  </a:lnTo>
                  <a:lnTo>
                    <a:pt x="480" y="56"/>
                  </a:lnTo>
                  <a:lnTo>
                    <a:pt x="480" y="58"/>
                  </a:lnTo>
                  <a:lnTo>
                    <a:pt x="482" y="58"/>
                  </a:lnTo>
                  <a:lnTo>
                    <a:pt x="480" y="58"/>
                  </a:lnTo>
                  <a:lnTo>
                    <a:pt x="472" y="78"/>
                  </a:lnTo>
                  <a:lnTo>
                    <a:pt x="460" y="82"/>
                  </a:lnTo>
                  <a:lnTo>
                    <a:pt x="458" y="84"/>
                  </a:lnTo>
                  <a:lnTo>
                    <a:pt x="456" y="84"/>
                  </a:lnTo>
                  <a:lnTo>
                    <a:pt x="436" y="74"/>
                  </a:lnTo>
                  <a:lnTo>
                    <a:pt x="396" y="38"/>
                  </a:lnTo>
                  <a:lnTo>
                    <a:pt x="380" y="28"/>
                  </a:lnTo>
                  <a:lnTo>
                    <a:pt x="356" y="20"/>
                  </a:lnTo>
                  <a:lnTo>
                    <a:pt x="356" y="18"/>
                  </a:lnTo>
                  <a:lnTo>
                    <a:pt x="344" y="10"/>
                  </a:lnTo>
                  <a:lnTo>
                    <a:pt x="324" y="4"/>
                  </a:lnTo>
                  <a:lnTo>
                    <a:pt x="314" y="6"/>
                  </a:lnTo>
                  <a:lnTo>
                    <a:pt x="312" y="6"/>
                  </a:lnTo>
                  <a:lnTo>
                    <a:pt x="288" y="4"/>
                  </a:lnTo>
                  <a:lnTo>
                    <a:pt x="286" y="4"/>
                  </a:lnTo>
                  <a:lnTo>
                    <a:pt x="268" y="0"/>
                  </a:lnTo>
                  <a:lnTo>
                    <a:pt x="256" y="0"/>
                  </a:lnTo>
                  <a:lnTo>
                    <a:pt x="248" y="6"/>
                  </a:lnTo>
                  <a:lnTo>
                    <a:pt x="240" y="8"/>
                  </a:lnTo>
                  <a:lnTo>
                    <a:pt x="228" y="10"/>
                  </a:lnTo>
                  <a:lnTo>
                    <a:pt x="212" y="14"/>
                  </a:lnTo>
                  <a:lnTo>
                    <a:pt x="198" y="18"/>
                  </a:lnTo>
                  <a:lnTo>
                    <a:pt x="196" y="20"/>
                  </a:lnTo>
                  <a:lnTo>
                    <a:pt x="180" y="22"/>
                  </a:lnTo>
                  <a:lnTo>
                    <a:pt x="160" y="28"/>
                  </a:lnTo>
                  <a:lnTo>
                    <a:pt x="158" y="28"/>
                  </a:lnTo>
                  <a:lnTo>
                    <a:pt x="144" y="26"/>
                  </a:lnTo>
                  <a:lnTo>
                    <a:pt x="120" y="30"/>
                  </a:lnTo>
                  <a:lnTo>
                    <a:pt x="100" y="30"/>
                  </a:lnTo>
                  <a:lnTo>
                    <a:pt x="92" y="38"/>
                  </a:lnTo>
                  <a:lnTo>
                    <a:pt x="82" y="40"/>
                  </a:lnTo>
                  <a:lnTo>
                    <a:pt x="86" y="50"/>
                  </a:lnTo>
                  <a:lnTo>
                    <a:pt x="86" y="66"/>
                  </a:lnTo>
                  <a:lnTo>
                    <a:pt x="84" y="78"/>
                  </a:lnTo>
                  <a:lnTo>
                    <a:pt x="98" y="90"/>
                  </a:lnTo>
                  <a:lnTo>
                    <a:pt x="110" y="102"/>
                  </a:lnTo>
                  <a:lnTo>
                    <a:pt x="118" y="110"/>
                  </a:lnTo>
                  <a:lnTo>
                    <a:pt x="120" y="114"/>
                  </a:lnTo>
                  <a:lnTo>
                    <a:pt x="120" y="118"/>
                  </a:lnTo>
                  <a:lnTo>
                    <a:pt x="124" y="130"/>
                  </a:lnTo>
                  <a:lnTo>
                    <a:pt x="130" y="142"/>
                  </a:lnTo>
                  <a:lnTo>
                    <a:pt x="128" y="142"/>
                  </a:lnTo>
                  <a:lnTo>
                    <a:pt x="112" y="154"/>
                  </a:lnTo>
                  <a:lnTo>
                    <a:pt x="102" y="166"/>
                  </a:lnTo>
                  <a:lnTo>
                    <a:pt x="104" y="178"/>
                  </a:lnTo>
                  <a:lnTo>
                    <a:pt x="112" y="196"/>
                  </a:lnTo>
                  <a:lnTo>
                    <a:pt x="112" y="198"/>
                  </a:lnTo>
                  <a:lnTo>
                    <a:pt x="112" y="204"/>
                  </a:lnTo>
                  <a:lnTo>
                    <a:pt x="108" y="210"/>
                  </a:lnTo>
                  <a:lnTo>
                    <a:pt x="106" y="214"/>
                  </a:lnTo>
                  <a:lnTo>
                    <a:pt x="102" y="216"/>
                  </a:lnTo>
                  <a:lnTo>
                    <a:pt x="96" y="216"/>
                  </a:lnTo>
                  <a:lnTo>
                    <a:pt x="80" y="214"/>
                  </a:lnTo>
                  <a:lnTo>
                    <a:pt x="60" y="210"/>
                  </a:lnTo>
                  <a:lnTo>
                    <a:pt x="58" y="210"/>
                  </a:lnTo>
                  <a:lnTo>
                    <a:pt x="44" y="202"/>
                  </a:lnTo>
                  <a:lnTo>
                    <a:pt x="20" y="202"/>
                  </a:lnTo>
                  <a:lnTo>
                    <a:pt x="22" y="202"/>
                  </a:lnTo>
                  <a:lnTo>
                    <a:pt x="20" y="242"/>
                  </a:lnTo>
                  <a:lnTo>
                    <a:pt x="18" y="246"/>
                  </a:lnTo>
                  <a:lnTo>
                    <a:pt x="16" y="248"/>
                  </a:lnTo>
                  <a:lnTo>
                    <a:pt x="8" y="250"/>
                  </a:lnTo>
                  <a:lnTo>
                    <a:pt x="6" y="254"/>
                  </a:lnTo>
                  <a:lnTo>
                    <a:pt x="6" y="262"/>
                  </a:lnTo>
                  <a:lnTo>
                    <a:pt x="4" y="262"/>
                  </a:lnTo>
                  <a:lnTo>
                    <a:pt x="4" y="272"/>
                  </a:lnTo>
                  <a:lnTo>
                    <a:pt x="10" y="280"/>
                  </a:lnTo>
                  <a:lnTo>
                    <a:pt x="14" y="284"/>
                  </a:lnTo>
                  <a:lnTo>
                    <a:pt x="18" y="304"/>
                  </a:lnTo>
                  <a:lnTo>
                    <a:pt x="18" y="310"/>
                  </a:lnTo>
                  <a:lnTo>
                    <a:pt x="16" y="322"/>
                  </a:lnTo>
                  <a:lnTo>
                    <a:pt x="10" y="338"/>
                  </a:lnTo>
                  <a:lnTo>
                    <a:pt x="0" y="358"/>
                  </a:lnTo>
                  <a:lnTo>
                    <a:pt x="0" y="362"/>
                  </a:lnTo>
                  <a:lnTo>
                    <a:pt x="0" y="370"/>
                  </a:lnTo>
                  <a:lnTo>
                    <a:pt x="12" y="384"/>
                  </a:lnTo>
                  <a:lnTo>
                    <a:pt x="16" y="394"/>
                  </a:lnTo>
                  <a:lnTo>
                    <a:pt x="26" y="406"/>
                  </a:lnTo>
                  <a:lnTo>
                    <a:pt x="40" y="422"/>
                  </a:lnTo>
                  <a:lnTo>
                    <a:pt x="48" y="430"/>
                  </a:lnTo>
                  <a:lnTo>
                    <a:pt x="52" y="430"/>
                  </a:lnTo>
                  <a:lnTo>
                    <a:pt x="68" y="422"/>
                  </a:lnTo>
                  <a:lnTo>
                    <a:pt x="72" y="418"/>
                  </a:lnTo>
                  <a:lnTo>
                    <a:pt x="76" y="418"/>
                  </a:lnTo>
                  <a:lnTo>
                    <a:pt x="84" y="420"/>
                  </a:lnTo>
                  <a:lnTo>
                    <a:pt x="92" y="424"/>
                  </a:lnTo>
                  <a:lnTo>
                    <a:pt x="92" y="426"/>
                  </a:lnTo>
                  <a:lnTo>
                    <a:pt x="100" y="434"/>
                  </a:lnTo>
                  <a:lnTo>
                    <a:pt x="104" y="444"/>
                  </a:lnTo>
                  <a:lnTo>
                    <a:pt x="108" y="448"/>
                  </a:lnTo>
                  <a:lnTo>
                    <a:pt x="110" y="450"/>
                  </a:lnTo>
                  <a:lnTo>
                    <a:pt x="120" y="458"/>
                  </a:lnTo>
                  <a:lnTo>
                    <a:pt x="126" y="458"/>
                  </a:lnTo>
                  <a:lnTo>
                    <a:pt x="132" y="460"/>
                  </a:lnTo>
                  <a:lnTo>
                    <a:pt x="136" y="464"/>
                  </a:lnTo>
                  <a:lnTo>
                    <a:pt x="144" y="468"/>
                  </a:lnTo>
                  <a:lnTo>
                    <a:pt x="160" y="474"/>
                  </a:lnTo>
                  <a:lnTo>
                    <a:pt x="162" y="474"/>
                  </a:lnTo>
                  <a:lnTo>
                    <a:pt x="186" y="482"/>
                  </a:lnTo>
                  <a:lnTo>
                    <a:pt x="188" y="482"/>
                  </a:lnTo>
                  <a:lnTo>
                    <a:pt x="204" y="490"/>
                  </a:lnTo>
                  <a:lnTo>
                    <a:pt x="232" y="498"/>
                  </a:lnTo>
                  <a:lnTo>
                    <a:pt x="234" y="498"/>
                  </a:lnTo>
                  <a:lnTo>
                    <a:pt x="272" y="500"/>
                  </a:lnTo>
                  <a:lnTo>
                    <a:pt x="288" y="494"/>
                  </a:lnTo>
                  <a:lnTo>
                    <a:pt x="304" y="494"/>
                  </a:lnTo>
                  <a:lnTo>
                    <a:pt x="304" y="496"/>
                  </a:lnTo>
                  <a:lnTo>
                    <a:pt x="316" y="512"/>
                  </a:lnTo>
                  <a:lnTo>
                    <a:pt x="324" y="526"/>
                  </a:lnTo>
                  <a:lnTo>
                    <a:pt x="332" y="532"/>
                  </a:lnTo>
                  <a:lnTo>
                    <a:pt x="340" y="536"/>
                  </a:lnTo>
                  <a:lnTo>
                    <a:pt x="340" y="538"/>
                  </a:lnTo>
                  <a:lnTo>
                    <a:pt x="342" y="538"/>
                  </a:lnTo>
                  <a:lnTo>
                    <a:pt x="348" y="554"/>
                  </a:lnTo>
                  <a:lnTo>
                    <a:pt x="350" y="554"/>
                  </a:lnTo>
                  <a:lnTo>
                    <a:pt x="350" y="556"/>
                  </a:lnTo>
                  <a:lnTo>
                    <a:pt x="354" y="574"/>
                  </a:lnTo>
                  <a:lnTo>
                    <a:pt x="364" y="578"/>
                  </a:lnTo>
                  <a:lnTo>
                    <a:pt x="366" y="578"/>
                  </a:lnTo>
                  <a:lnTo>
                    <a:pt x="376" y="582"/>
                  </a:lnTo>
                  <a:lnTo>
                    <a:pt x="388" y="580"/>
                  </a:lnTo>
                  <a:lnTo>
                    <a:pt x="390" y="568"/>
                  </a:lnTo>
                  <a:lnTo>
                    <a:pt x="392" y="566"/>
                  </a:lnTo>
                  <a:lnTo>
                    <a:pt x="404" y="554"/>
                  </a:lnTo>
                  <a:lnTo>
                    <a:pt x="420" y="558"/>
                  </a:lnTo>
                  <a:lnTo>
                    <a:pt x="428" y="574"/>
                  </a:lnTo>
                  <a:lnTo>
                    <a:pt x="442" y="570"/>
                  </a:lnTo>
                  <a:lnTo>
                    <a:pt x="444" y="554"/>
                  </a:lnTo>
                  <a:lnTo>
                    <a:pt x="444" y="552"/>
                  </a:lnTo>
                  <a:lnTo>
                    <a:pt x="456" y="546"/>
                  </a:lnTo>
                  <a:lnTo>
                    <a:pt x="452" y="524"/>
                  </a:lnTo>
                  <a:lnTo>
                    <a:pt x="452" y="522"/>
                  </a:lnTo>
                  <a:lnTo>
                    <a:pt x="464" y="496"/>
                  </a:lnTo>
                  <a:lnTo>
                    <a:pt x="476" y="492"/>
                  </a:lnTo>
                  <a:lnTo>
                    <a:pt x="472" y="470"/>
                  </a:lnTo>
                  <a:lnTo>
                    <a:pt x="484" y="470"/>
                  </a:lnTo>
                  <a:lnTo>
                    <a:pt x="484" y="458"/>
                  </a:lnTo>
                  <a:lnTo>
                    <a:pt x="476" y="438"/>
                  </a:lnTo>
                  <a:lnTo>
                    <a:pt x="476" y="436"/>
                  </a:lnTo>
                  <a:lnTo>
                    <a:pt x="478" y="420"/>
                  </a:lnTo>
                  <a:lnTo>
                    <a:pt x="478" y="418"/>
                  </a:lnTo>
                  <a:lnTo>
                    <a:pt x="480" y="418"/>
                  </a:lnTo>
                  <a:lnTo>
                    <a:pt x="488" y="406"/>
                  </a:lnTo>
                  <a:lnTo>
                    <a:pt x="490" y="406"/>
                  </a:lnTo>
                  <a:lnTo>
                    <a:pt x="492" y="406"/>
                  </a:lnTo>
                  <a:lnTo>
                    <a:pt x="514" y="410"/>
                  </a:lnTo>
                  <a:lnTo>
                    <a:pt x="532" y="414"/>
                  </a:lnTo>
                  <a:lnTo>
                    <a:pt x="548" y="410"/>
                  </a:lnTo>
                  <a:lnTo>
                    <a:pt x="556" y="426"/>
                  </a:lnTo>
                  <a:lnTo>
                    <a:pt x="556" y="428"/>
                  </a:lnTo>
                  <a:lnTo>
                    <a:pt x="556" y="440"/>
                  </a:lnTo>
                  <a:lnTo>
                    <a:pt x="560" y="452"/>
                  </a:lnTo>
                  <a:lnTo>
                    <a:pt x="562" y="458"/>
                  </a:lnTo>
                  <a:lnTo>
                    <a:pt x="568" y="462"/>
                  </a:lnTo>
                  <a:lnTo>
                    <a:pt x="578" y="464"/>
                  </a:lnTo>
                  <a:lnTo>
                    <a:pt x="580" y="468"/>
                  </a:lnTo>
                  <a:lnTo>
                    <a:pt x="580" y="470"/>
                  </a:lnTo>
                  <a:lnTo>
                    <a:pt x="584" y="478"/>
                  </a:lnTo>
                  <a:lnTo>
                    <a:pt x="590" y="486"/>
                  </a:lnTo>
                  <a:lnTo>
                    <a:pt x="598" y="498"/>
                  </a:lnTo>
                  <a:lnTo>
                    <a:pt x="602" y="506"/>
                  </a:lnTo>
                  <a:lnTo>
                    <a:pt x="610" y="506"/>
                  </a:lnTo>
                  <a:lnTo>
                    <a:pt x="624" y="494"/>
                  </a:lnTo>
                  <a:lnTo>
                    <a:pt x="632" y="512"/>
                  </a:lnTo>
                  <a:lnTo>
                    <a:pt x="650" y="518"/>
                  </a:lnTo>
                  <a:lnTo>
                    <a:pt x="652" y="518"/>
                  </a:lnTo>
                  <a:lnTo>
                    <a:pt x="660" y="534"/>
                  </a:lnTo>
                  <a:lnTo>
                    <a:pt x="664" y="538"/>
                  </a:lnTo>
                  <a:lnTo>
                    <a:pt x="664" y="522"/>
                  </a:lnTo>
                  <a:lnTo>
                    <a:pt x="664" y="518"/>
                  </a:lnTo>
                  <a:lnTo>
                    <a:pt x="700" y="518"/>
                  </a:lnTo>
                  <a:lnTo>
                    <a:pt x="700" y="514"/>
                  </a:lnTo>
                  <a:lnTo>
                    <a:pt x="702" y="512"/>
                  </a:lnTo>
                  <a:lnTo>
                    <a:pt x="700" y="508"/>
                  </a:lnTo>
                  <a:lnTo>
                    <a:pt x="698" y="500"/>
                  </a:lnTo>
                  <a:lnTo>
                    <a:pt x="696" y="494"/>
                  </a:lnTo>
                  <a:lnTo>
                    <a:pt x="696" y="486"/>
                  </a:lnTo>
                  <a:lnTo>
                    <a:pt x="698" y="480"/>
                  </a:lnTo>
                  <a:lnTo>
                    <a:pt x="702" y="478"/>
                  </a:lnTo>
                  <a:lnTo>
                    <a:pt x="706" y="478"/>
                  </a:lnTo>
                  <a:lnTo>
                    <a:pt x="720" y="482"/>
                  </a:lnTo>
                  <a:lnTo>
                    <a:pt x="722" y="472"/>
                  </a:lnTo>
                  <a:lnTo>
                    <a:pt x="696" y="460"/>
                  </a:lnTo>
                  <a:lnTo>
                    <a:pt x="694" y="460"/>
                  </a:lnTo>
                  <a:lnTo>
                    <a:pt x="692" y="458"/>
                  </a:lnTo>
                  <a:lnTo>
                    <a:pt x="688" y="426"/>
                  </a:lnTo>
                  <a:lnTo>
                    <a:pt x="690" y="406"/>
                  </a:lnTo>
                  <a:lnTo>
                    <a:pt x="690" y="402"/>
                  </a:lnTo>
                  <a:lnTo>
                    <a:pt x="734" y="406"/>
                  </a:lnTo>
                  <a:lnTo>
                    <a:pt x="744" y="396"/>
                  </a:lnTo>
                  <a:lnTo>
                    <a:pt x="746" y="392"/>
                  </a:lnTo>
                  <a:lnTo>
                    <a:pt x="744" y="388"/>
                  </a:lnTo>
                  <a:lnTo>
                    <a:pt x="732" y="382"/>
                  </a:lnTo>
                  <a:lnTo>
                    <a:pt x="730" y="378"/>
                  </a:lnTo>
                  <a:lnTo>
                    <a:pt x="728" y="374"/>
                  </a:lnTo>
                  <a:lnTo>
                    <a:pt x="730" y="372"/>
                  </a:lnTo>
                  <a:lnTo>
                    <a:pt x="732" y="368"/>
                  </a:lnTo>
                  <a:lnTo>
                    <a:pt x="752" y="350"/>
                  </a:lnTo>
                  <a:lnTo>
                    <a:pt x="772" y="348"/>
                  </a:lnTo>
                  <a:lnTo>
                    <a:pt x="782" y="330"/>
                  </a:lnTo>
                  <a:lnTo>
                    <a:pt x="782" y="314"/>
                  </a:lnTo>
                  <a:lnTo>
                    <a:pt x="796" y="310"/>
                  </a:lnTo>
                  <a:lnTo>
                    <a:pt x="804" y="290"/>
                  </a:lnTo>
                  <a:lnTo>
                    <a:pt x="812" y="276"/>
                  </a:lnTo>
                  <a:lnTo>
                    <a:pt x="800" y="256"/>
                  </a:lnTo>
                  <a:lnTo>
                    <a:pt x="800" y="254"/>
                  </a:lnTo>
                  <a:lnTo>
                    <a:pt x="792" y="228"/>
                  </a:lnTo>
                  <a:lnTo>
                    <a:pt x="792" y="226"/>
                  </a:lnTo>
                  <a:lnTo>
                    <a:pt x="788" y="198"/>
                  </a:lnTo>
                  <a:lnTo>
                    <a:pt x="778" y="182"/>
                  </a:lnTo>
                  <a:lnTo>
                    <a:pt x="764" y="168"/>
                  </a:lnTo>
                  <a:lnTo>
                    <a:pt x="764" y="166"/>
                  </a:lnTo>
                  <a:lnTo>
                    <a:pt x="762" y="150"/>
                  </a:lnTo>
                  <a:lnTo>
                    <a:pt x="736" y="158"/>
                  </a:lnTo>
                  <a:lnTo>
                    <a:pt x="724" y="144"/>
                  </a:lnTo>
                  <a:lnTo>
                    <a:pt x="688" y="118"/>
                  </a:lnTo>
                  <a:lnTo>
                    <a:pt x="686" y="118"/>
                  </a:lnTo>
                  <a:lnTo>
                    <a:pt x="672" y="100"/>
                  </a:lnTo>
                  <a:lnTo>
                    <a:pt x="664" y="94"/>
                  </a:lnTo>
                  <a:lnTo>
                    <a:pt x="658" y="102"/>
                  </a:lnTo>
                  <a:lnTo>
                    <a:pt x="658" y="104"/>
                  </a:lnTo>
                  <a:lnTo>
                    <a:pt x="658" y="106"/>
                  </a:lnTo>
                  <a:lnTo>
                    <a:pt x="656" y="106"/>
                  </a:lnTo>
                  <a:lnTo>
                    <a:pt x="644" y="106"/>
                  </a:lnTo>
                  <a:lnTo>
                    <a:pt x="642" y="106"/>
                  </a:lnTo>
                  <a:lnTo>
                    <a:pt x="616" y="78"/>
                  </a:lnTo>
                  <a:lnTo>
                    <a:pt x="606" y="72"/>
                  </a:lnTo>
                  <a:lnTo>
                    <a:pt x="596" y="62"/>
                  </a:lnTo>
                  <a:lnTo>
                    <a:pt x="584" y="54"/>
                  </a:lnTo>
                  <a:lnTo>
                    <a:pt x="584" y="52"/>
                  </a:lnTo>
                  <a:lnTo>
                    <a:pt x="570" y="44"/>
                  </a:lnTo>
                  <a:lnTo>
                    <a:pt x="562" y="50"/>
                  </a:lnTo>
                  <a:lnTo>
                    <a:pt x="560" y="52"/>
                  </a:lnTo>
                  <a:lnTo>
                    <a:pt x="552" y="50"/>
                  </a:lnTo>
                  <a:lnTo>
                    <a:pt x="544" y="54"/>
                  </a:lnTo>
                  <a:lnTo>
                    <a:pt x="542" y="56"/>
                  </a:lnTo>
                  <a:lnTo>
                    <a:pt x="530" y="58"/>
                  </a:lnTo>
                  <a:lnTo>
                    <a:pt x="484" y="30"/>
                  </a:lnTo>
                  <a:close/>
                </a:path>
              </a:pathLst>
            </a:custGeom>
            <a:noFill/>
            <a:ln w="3175" cap="flat" cmpd="sng">
              <a:solidFill>
                <a:schemeClr val="bg2"/>
              </a:solidFill>
              <a:bevel/>
              <a:headEnd/>
              <a:tailEnd/>
            </a:ln>
          </p:spPr>
          <p:txBody>
            <a:bodyPr anchor="ctr"/>
            <a:lstStyle/>
            <a:p>
              <a:endParaRPr lang="zh-CN" altLang="en-US"/>
            </a:p>
          </p:txBody>
        </p:sp>
        <p:sp>
          <p:nvSpPr>
            <p:cNvPr id="8201" name="Freeform 9"/>
            <p:cNvSpPr>
              <a:spLocks/>
            </p:cNvSpPr>
            <p:nvPr/>
          </p:nvSpPr>
          <p:spPr bwMode="auto">
            <a:xfrm>
              <a:off x="2348813" y="2692542"/>
              <a:ext cx="1256758" cy="1102796"/>
            </a:xfrm>
            <a:custGeom>
              <a:avLst/>
              <a:gdLst/>
              <a:ahLst/>
              <a:cxnLst>
                <a:cxn ang="0">
                  <a:pos x="20" y="28"/>
                </a:cxn>
                <a:cxn ang="0">
                  <a:pos x="22" y="90"/>
                </a:cxn>
                <a:cxn ang="0">
                  <a:pos x="38" y="136"/>
                </a:cxn>
                <a:cxn ang="0">
                  <a:pos x="70" y="194"/>
                </a:cxn>
                <a:cxn ang="0">
                  <a:pos x="74" y="244"/>
                </a:cxn>
                <a:cxn ang="0">
                  <a:pos x="92" y="302"/>
                </a:cxn>
                <a:cxn ang="0">
                  <a:pos x="98" y="346"/>
                </a:cxn>
                <a:cxn ang="0">
                  <a:pos x="90" y="386"/>
                </a:cxn>
                <a:cxn ang="0">
                  <a:pos x="90" y="434"/>
                </a:cxn>
                <a:cxn ang="0">
                  <a:pos x="106" y="462"/>
                </a:cxn>
                <a:cxn ang="0">
                  <a:pos x="118" y="450"/>
                </a:cxn>
                <a:cxn ang="0">
                  <a:pos x="124" y="426"/>
                </a:cxn>
                <a:cxn ang="0">
                  <a:pos x="146" y="420"/>
                </a:cxn>
                <a:cxn ang="0">
                  <a:pos x="170" y="474"/>
                </a:cxn>
                <a:cxn ang="0">
                  <a:pos x="200" y="470"/>
                </a:cxn>
                <a:cxn ang="0">
                  <a:pos x="238" y="556"/>
                </a:cxn>
                <a:cxn ang="0">
                  <a:pos x="254" y="588"/>
                </a:cxn>
                <a:cxn ang="0">
                  <a:pos x="262" y="598"/>
                </a:cxn>
                <a:cxn ang="0">
                  <a:pos x="278" y="602"/>
                </a:cxn>
                <a:cxn ang="0">
                  <a:pos x="328" y="588"/>
                </a:cxn>
                <a:cxn ang="0">
                  <a:pos x="328" y="536"/>
                </a:cxn>
                <a:cxn ang="0">
                  <a:pos x="348" y="510"/>
                </a:cxn>
                <a:cxn ang="0">
                  <a:pos x="390" y="450"/>
                </a:cxn>
                <a:cxn ang="0">
                  <a:pos x="428" y="420"/>
                </a:cxn>
                <a:cxn ang="0">
                  <a:pos x="448" y="480"/>
                </a:cxn>
                <a:cxn ang="0">
                  <a:pos x="478" y="466"/>
                </a:cxn>
                <a:cxn ang="0">
                  <a:pos x="498" y="494"/>
                </a:cxn>
                <a:cxn ang="0">
                  <a:pos x="554" y="482"/>
                </a:cxn>
                <a:cxn ang="0">
                  <a:pos x="504" y="434"/>
                </a:cxn>
                <a:cxn ang="0">
                  <a:pos x="534" y="416"/>
                </a:cxn>
                <a:cxn ang="0">
                  <a:pos x="532" y="396"/>
                </a:cxn>
                <a:cxn ang="0">
                  <a:pos x="522" y="314"/>
                </a:cxn>
                <a:cxn ang="0">
                  <a:pos x="608" y="286"/>
                </a:cxn>
                <a:cxn ang="0">
                  <a:pos x="664" y="224"/>
                </a:cxn>
                <a:cxn ang="0">
                  <a:pos x="686" y="174"/>
                </a:cxn>
                <a:cxn ang="0">
                  <a:pos x="684" y="156"/>
                </a:cxn>
                <a:cxn ang="0">
                  <a:pos x="630" y="138"/>
                </a:cxn>
                <a:cxn ang="0">
                  <a:pos x="612" y="146"/>
                </a:cxn>
                <a:cxn ang="0">
                  <a:pos x="598" y="126"/>
                </a:cxn>
                <a:cxn ang="0">
                  <a:pos x="576" y="124"/>
                </a:cxn>
                <a:cxn ang="0">
                  <a:pos x="524" y="114"/>
                </a:cxn>
                <a:cxn ang="0">
                  <a:pos x="488" y="132"/>
                </a:cxn>
                <a:cxn ang="0">
                  <a:pos x="438" y="110"/>
                </a:cxn>
                <a:cxn ang="0">
                  <a:pos x="416" y="58"/>
                </a:cxn>
                <a:cxn ang="0">
                  <a:pos x="350" y="18"/>
                </a:cxn>
                <a:cxn ang="0">
                  <a:pos x="310" y="30"/>
                </a:cxn>
                <a:cxn ang="0">
                  <a:pos x="318" y="62"/>
                </a:cxn>
                <a:cxn ang="0">
                  <a:pos x="280" y="66"/>
                </a:cxn>
                <a:cxn ang="0">
                  <a:pos x="262" y="86"/>
                </a:cxn>
                <a:cxn ang="0">
                  <a:pos x="246" y="104"/>
                </a:cxn>
                <a:cxn ang="0">
                  <a:pos x="208" y="118"/>
                </a:cxn>
                <a:cxn ang="0">
                  <a:pos x="160" y="110"/>
                </a:cxn>
                <a:cxn ang="0">
                  <a:pos x="132" y="108"/>
                </a:cxn>
                <a:cxn ang="0">
                  <a:pos x="106" y="66"/>
                </a:cxn>
                <a:cxn ang="0">
                  <a:pos x="86" y="46"/>
                </a:cxn>
                <a:cxn ang="0">
                  <a:pos x="66" y="14"/>
                </a:cxn>
              </a:cxnLst>
              <a:rect l="0" t="0" r="r" b="b"/>
              <a:pathLst>
                <a:path w="702" h="616">
                  <a:moveTo>
                    <a:pt x="66" y="14"/>
                  </a:moveTo>
                  <a:lnTo>
                    <a:pt x="46" y="10"/>
                  </a:lnTo>
                  <a:lnTo>
                    <a:pt x="28" y="6"/>
                  </a:lnTo>
                  <a:lnTo>
                    <a:pt x="22" y="14"/>
                  </a:lnTo>
                  <a:lnTo>
                    <a:pt x="20" y="28"/>
                  </a:lnTo>
                  <a:lnTo>
                    <a:pt x="26" y="50"/>
                  </a:lnTo>
                  <a:lnTo>
                    <a:pt x="26" y="66"/>
                  </a:lnTo>
                  <a:lnTo>
                    <a:pt x="26" y="70"/>
                  </a:lnTo>
                  <a:lnTo>
                    <a:pt x="18" y="70"/>
                  </a:lnTo>
                  <a:lnTo>
                    <a:pt x="22" y="90"/>
                  </a:lnTo>
                  <a:lnTo>
                    <a:pt x="6" y="94"/>
                  </a:lnTo>
                  <a:lnTo>
                    <a:pt x="0" y="106"/>
                  </a:lnTo>
                  <a:lnTo>
                    <a:pt x="8" y="114"/>
                  </a:lnTo>
                  <a:lnTo>
                    <a:pt x="10" y="114"/>
                  </a:lnTo>
                  <a:lnTo>
                    <a:pt x="38" y="136"/>
                  </a:lnTo>
                  <a:lnTo>
                    <a:pt x="38" y="138"/>
                  </a:lnTo>
                  <a:lnTo>
                    <a:pt x="42" y="158"/>
                  </a:lnTo>
                  <a:lnTo>
                    <a:pt x="56" y="178"/>
                  </a:lnTo>
                  <a:lnTo>
                    <a:pt x="62" y="184"/>
                  </a:lnTo>
                  <a:lnTo>
                    <a:pt x="70" y="194"/>
                  </a:lnTo>
                  <a:lnTo>
                    <a:pt x="72" y="194"/>
                  </a:lnTo>
                  <a:lnTo>
                    <a:pt x="70" y="196"/>
                  </a:lnTo>
                  <a:lnTo>
                    <a:pt x="70" y="214"/>
                  </a:lnTo>
                  <a:lnTo>
                    <a:pt x="74" y="226"/>
                  </a:lnTo>
                  <a:lnTo>
                    <a:pt x="74" y="244"/>
                  </a:lnTo>
                  <a:lnTo>
                    <a:pt x="82" y="258"/>
                  </a:lnTo>
                  <a:lnTo>
                    <a:pt x="84" y="266"/>
                  </a:lnTo>
                  <a:lnTo>
                    <a:pt x="86" y="274"/>
                  </a:lnTo>
                  <a:lnTo>
                    <a:pt x="90" y="286"/>
                  </a:lnTo>
                  <a:lnTo>
                    <a:pt x="92" y="302"/>
                  </a:lnTo>
                  <a:lnTo>
                    <a:pt x="90" y="314"/>
                  </a:lnTo>
                  <a:lnTo>
                    <a:pt x="88" y="320"/>
                  </a:lnTo>
                  <a:lnTo>
                    <a:pt x="90" y="326"/>
                  </a:lnTo>
                  <a:lnTo>
                    <a:pt x="94" y="336"/>
                  </a:lnTo>
                  <a:lnTo>
                    <a:pt x="98" y="346"/>
                  </a:lnTo>
                  <a:lnTo>
                    <a:pt x="100" y="346"/>
                  </a:lnTo>
                  <a:lnTo>
                    <a:pt x="100" y="348"/>
                  </a:lnTo>
                  <a:lnTo>
                    <a:pt x="100" y="350"/>
                  </a:lnTo>
                  <a:lnTo>
                    <a:pt x="86" y="378"/>
                  </a:lnTo>
                  <a:lnTo>
                    <a:pt x="90" y="386"/>
                  </a:lnTo>
                  <a:lnTo>
                    <a:pt x="90" y="392"/>
                  </a:lnTo>
                  <a:lnTo>
                    <a:pt x="86" y="418"/>
                  </a:lnTo>
                  <a:lnTo>
                    <a:pt x="86" y="428"/>
                  </a:lnTo>
                  <a:lnTo>
                    <a:pt x="88" y="432"/>
                  </a:lnTo>
                  <a:lnTo>
                    <a:pt x="90" y="434"/>
                  </a:lnTo>
                  <a:lnTo>
                    <a:pt x="94" y="436"/>
                  </a:lnTo>
                  <a:lnTo>
                    <a:pt x="102" y="442"/>
                  </a:lnTo>
                  <a:lnTo>
                    <a:pt x="104" y="448"/>
                  </a:lnTo>
                  <a:lnTo>
                    <a:pt x="102" y="462"/>
                  </a:lnTo>
                  <a:lnTo>
                    <a:pt x="106" y="462"/>
                  </a:lnTo>
                  <a:lnTo>
                    <a:pt x="108" y="464"/>
                  </a:lnTo>
                  <a:lnTo>
                    <a:pt x="110" y="462"/>
                  </a:lnTo>
                  <a:lnTo>
                    <a:pt x="114" y="458"/>
                  </a:lnTo>
                  <a:lnTo>
                    <a:pt x="116" y="452"/>
                  </a:lnTo>
                  <a:lnTo>
                    <a:pt x="118" y="450"/>
                  </a:lnTo>
                  <a:lnTo>
                    <a:pt x="118" y="448"/>
                  </a:lnTo>
                  <a:lnTo>
                    <a:pt x="122" y="444"/>
                  </a:lnTo>
                  <a:lnTo>
                    <a:pt x="126" y="440"/>
                  </a:lnTo>
                  <a:lnTo>
                    <a:pt x="126" y="434"/>
                  </a:lnTo>
                  <a:lnTo>
                    <a:pt x="124" y="426"/>
                  </a:lnTo>
                  <a:lnTo>
                    <a:pt x="122" y="422"/>
                  </a:lnTo>
                  <a:lnTo>
                    <a:pt x="126" y="420"/>
                  </a:lnTo>
                  <a:lnTo>
                    <a:pt x="136" y="418"/>
                  </a:lnTo>
                  <a:lnTo>
                    <a:pt x="142" y="418"/>
                  </a:lnTo>
                  <a:lnTo>
                    <a:pt x="146" y="420"/>
                  </a:lnTo>
                  <a:lnTo>
                    <a:pt x="150" y="424"/>
                  </a:lnTo>
                  <a:lnTo>
                    <a:pt x="156" y="440"/>
                  </a:lnTo>
                  <a:lnTo>
                    <a:pt x="156" y="442"/>
                  </a:lnTo>
                  <a:lnTo>
                    <a:pt x="158" y="468"/>
                  </a:lnTo>
                  <a:lnTo>
                    <a:pt x="170" y="474"/>
                  </a:lnTo>
                  <a:lnTo>
                    <a:pt x="178" y="478"/>
                  </a:lnTo>
                  <a:lnTo>
                    <a:pt x="184" y="472"/>
                  </a:lnTo>
                  <a:lnTo>
                    <a:pt x="190" y="466"/>
                  </a:lnTo>
                  <a:lnTo>
                    <a:pt x="194" y="466"/>
                  </a:lnTo>
                  <a:lnTo>
                    <a:pt x="200" y="470"/>
                  </a:lnTo>
                  <a:lnTo>
                    <a:pt x="204" y="478"/>
                  </a:lnTo>
                  <a:lnTo>
                    <a:pt x="206" y="498"/>
                  </a:lnTo>
                  <a:lnTo>
                    <a:pt x="208" y="502"/>
                  </a:lnTo>
                  <a:lnTo>
                    <a:pt x="230" y="548"/>
                  </a:lnTo>
                  <a:lnTo>
                    <a:pt x="238" y="556"/>
                  </a:lnTo>
                  <a:lnTo>
                    <a:pt x="238" y="558"/>
                  </a:lnTo>
                  <a:lnTo>
                    <a:pt x="242" y="578"/>
                  </a:lnTo>
                  <a:lnTo>
                    <a:pt x="244" y="596"/>
                  </a:lnTo>
                  <a:lnTo>
                    <a:pt x="246" y="598"/>
                  </a:lnTo>
                  <a:lnTo>
                    <a:pt x="254" y="588"/>
                  </a:lnTo>
                  <a:lnTo>
                    <a:pt x="256" y="586"/>
                  </a:lnTo>
                  <a:lnTo>
                    <a:pt x="258" y="586"/>
                  </a:lnTo>
                  <a:lnTo>
                    <a:pt x="262" y="588"/>
                  </a:lnTo>
                  <a:lnTo>
                    <a:pt x="262" y="592"/>
                  </a:lnTo>
                  <a:lnTo>
                    <a:pt x="262" y="598"/>
                  </a:lnTo>
                  <a:lnTo>
                    <a:pt x="262" y="612"/>
                  </a:lnTo>
                  <a:lnTo>
                    <a:pt x="262" y="616"/>
                  </a:lnTo>
                  <a:lnTo>
                    <a:pt x="268" y="616"/>
                  </a:lnTo>
                  <a:lnTo>
                    <a:pt x="270" y="614"/>
                  </a:lnTo>
                  <a:lnTo>
                    <a:pt x="278" y="602"/>
                  </a:lnTo>
                  <a:lnTo>
                    <a:pt x="288" y="594"/>
                  </a:lnTo>
                  <a:lnTo>
                    <a:pt x="296" y="588"/>
                  </a:lnTo>
                  <a:lnTo>
                    <a:pt x="306" y="586"/>
                  </a:lnTo>
                  <a:lnTo>
                    <a:pt x="322" y="590"/>
                  </a:lnTo>
                  <a:lnTo>
                    <a:pt x="328" y="588"/>
                  </a:lnTo>
                  <a:lnTo>
                    <a:pt x="336" y="576"/>
                  </a:lnTo>
                  <a:lnTo>
                    <a:pt x="334" y="558"/>
                  </a:lnTo>
                  <a:lnTo>
                    <a:pt x="330" y="546"/>
                  </a:lnTo>
                  <a:lnTo>
                    <a:pt x="328" y="540"/>
                  </a:lnTo>
                  <a:lnTo>
                    <a:pt x="328" y="536"/>
                  </a:lnTo>
                  <a:lnTo>
                    <a:pt x="330" y="522"/>
                  </a:lnTo>
                  <a:lnTo>
                    <a:pt x="330" y="520"/>
                  </a:lnTo>
                  <a:lnTo>
                    <a:pt x="332" y="518"/>
                  </a:lnTo>
                  <a:lnTo>
                    <a:pt x="346" y="510"/>
                  </a:lnTo>
                  <a:lnTo>
                    <a:pt x="348" y="510"/>
                  </a:lnTo>
                  <a:lnTo>
                    <a:pt x="358" y="502"/>
                  </a:lnTo>
                  <a:lnTo>
                    <a:pt x="372" y="484"/>
                  </a:lnTo>
                  <a:lnTo>
                    <a:pt x="374" y="470"/>
                  </a:lnTo>
                  <a:lnTo>
                    <a:pt x="358" y="436"/>
                  </a:lnTo>
                  <a:lnTo>
                    <a:pt x="390" y="450"/>
                  </a:lnTo>
                  <a:lnTo>
                    <a:pt x="390" y="438"/>
                  </a:lnTo>
                  <a:lnTo>
                    <a:pt x="390" y="436"/>
                  </a:lnTo>
                  <a:lnTo>
                    <a:pt x="402" y="426"/>
                  </a:lnTo>
                  <a:lnTo>
                    <a:pt x="426" y="420"/>
                  </a:lnTo>
                  <a:lnTo>
                    <a:pt x="428" y="420"/>
                  </a:lnTo>
                  <a:lnTo>
                    <a:pt x="442" y="450"/>
                  </a:lnTo>
                  <a:lnTo>
                    <a:pt x="440" y="462"/>
                  </a:lnTo>
                  <a:lnTo>
                    <a:pt x="442" y="472"/>
                  </a:lnTo>
                  <a:lnTo>
                    <a:pt x="444" y="478"/>
                  </a:lnTo>
                  <a:lnTo>
                    <a:pt x="448" y="480"/>
                  </a:lnTo>
                  <a:lnTo>
                    <a:pt x="454" y="478"/>
                  </a:lnTo>
                  <a:lnTo>
                    <a:pt x="458" y="474"/>
                  </a:lnTo>
                  <a:lnTo>
                    <a:pt x="458" y="472"/>
                  </a:lnTo>
                  <a:lnTo>
                    <a:pt x="460" y="472"/>
                  </a:lnTo>
                  <a:lnTo>
                    <a:pt x="478" y="466"/>
                  </a:lnTo>
                  <a:lnTo>
                    <a:pt x="480" y="466"/>
                  </a:lnTo>
                  <a:lnTo>
                    <a:pt x="492" y="468"/>
                  </a:lnTo>
                  <a:lnTo>
                    <a:pt x="496" y="470"/>
                  </a:lnTo>
                  <a:lnTo>
                    <a:pt x="498" y="472"/>
                  </a:lnTo>
                  <a:lnTo>
                    <a:pt x="498" y="494"/>
                  </a:lnTo>
                  <a:lnTo>
                    <a:pt x="502" y="496"/>
                  </a:lnTo>
                  <a:lnTo>
                    <a:pt x="510" y="498"/>
                  </a:lnTo>
                  <a:lnTo>
                    <a:pt x="522" y="498"/>
                  </a:lnTo>
                  <a:lnTo>
                    <a:pt x="542" y="492"/>
                  </a:lnTo>
                  <a:lnTo>
                    <a:pt x="554" y="482"/>
                  </a:lnTo>
                  <a:lnTo>
                    <a:pt x="556" y="472"/>
                  </a:lnTo>
                  <a:lnTo>
                    <a:pt x="550" y="466"/>
                  </a:lnTo>
                  <a:lnTo>
                    <a:pt x="530" y="458"/>
                  </a:lnTo>
                  <a:lnTo>
                    <a:pt x="528" y="458"/>
                  </a:lnTo>
                  <a:lnTo>
                    <a:pt x="504" y="434"/>
                  </a:lnTo>
                  <a:lnTo>
                    <a:pt x="506" y="432"/>
                  </a:lnTo>
                  <a:lnTo>
                    <a:pt x="518" y="422"/>
                  </a:lnTo>
                  <a:lnTo>
                    <a:pt x="518" y="420"/>
                  </a:lnTo>
                  <a:lnTo>
                    <a:pt x="530" y="416"/>
                  </a:lnTo>
                  <a:lnTo>
                    <a:pt x="534" y="416"/>
                  </a:lnTo>
                  <a:lnTo>
                    <a:pt x="550" y="418"/>
                  </a:lnTo>
                  <a:lnTo>
                    <a:pt x="550" y="420"/>
                  </a:lnTo>
                  <a:lnTo>
                    <a:pt x="550" y="414"/>
                  </a:lnTo>
                  <a:lnTo>
                    <a:pt x="544" y="402"/>
                  </a:lnTo>
                  <a:lnTo>
                    <a:pt x="532" y="396"/>
                  </a:lnTo>
                  <a:lnTo>
                    <a:pt x="518" y="374"/>
                  </a:lnTo>
                  <a:lnTo>
                    <a:pt x="516" y="372"/>
                  </a:lnTo>
                  <a:lnTo>
                    <a:pt x="510" y="346"/>
                  </a:lnTo>
                  <a:lnTo>
                    <a:pt x="510" y="326"/>
                  </a:lnTo>
                  <a:lnTo>
                    <a:pt x="522" y="314"/>
                  </a:lnTo>
                  <a:lnTo>
                    <a:pt x="542" y="314"/>
                  </a:lnTo>
                  <a:lnTo>
                    <a:pt x="586" y="318"/>
                  </a:lnTo>
                  <a:lnTo>
                    <a:pt x="606" y="288"/>
                  </a:lnTo>
                  <a:lnTo>
                    <a:pt x="606" y="286"/>
                  </a:lnTo>
                  <a:lnTo>
                    <a:pt x="608" y="286"/>
                  </a:lnTo>
                  <a:lnTo>
                    <a:pt x="626" y="278"/>
                  </a:lnTo>
                  <a:lnTo>
                    <a:pt x="634" y="260"/>
                  </a:lnTo>
                  <a:lnTo>
                    <a:pt x="634" y="258"/>
                  </a:lnTo>
                  <a:lnTo>
                    <a:pt x="654" y="242"/>
                  </a:lnTo>
                  <a:lnTo>
                    <a:pt x="664" y="224"/>
                  </a:lnTo>
                  <a:lnTo>
                    <a:pt x="666" y="224"/>
                  </a:lnTo>
                  <a:lnTo>
                    <a:pt x="666" y="222"/>
                  </a:lnTo>
                  <a:lnTo>
                    <a:pt x="674" y="214"/>
                  </a:lnTo>
                  <a:lnTo>
                    <a:pt x="682" y="198"/>
                  </a:lnTo>
                  <a:lnTo>
                    <a:pt x="686" y="174"/>
                  </a:lnTo>
                  <a:lnTo>
                    <a:pt x="686" y="172"/>
                  </a:lnTo>
                  <a:lnTo>
                    <a:pt x="686" y="170"/>
                  </a:lnTo>
                  <a:lnTo>
                    <a:pt x="700" y="162"/>
                  </a:lnTo>
                  <a:lnTo>
                    <a:pt x="702" y="158"/>
                  </a:lnTo>
                  <a:lnTo>
                    <a:pt x="684" y="156"/>
                  </a:lnTo>
                  <a:lnTo>
                    <a:pt x="652" y="158"/>
                  </a:lnTo>
                  <a:lnTo>
                    <a:pt x="650" y="156"/>
                  </a:lnTo>
                  <a:lnTo>
                    <a:pt x="638" y="146"/>
                  </a:lnTo>
                  <a:lnTo>
                    <a:pt x="630" y="136"/>
                  </a:lnTo>
                  <a:lnTo>
                    <a:pt x="630" y="138"/>
                  </a:lnTo>
                  <a:lnTo>
                    <a:pt x="628" y="138"/>
                  </a:lnTo>
                  <a:lnTo>
                    <a:pt x="624" y="142"/>
                  </a:lnTo>
                  <a:lnTo>
                    <a:pt x="618" y="142"/>
                  </a:lnTo>
                  <a:lnTo>
                    <a:pt x="614" y="144"/>
                  </a:lnTo>
                  <a:lnTo>
                    <a:pt x="612" y="146"/>
                  </a:lnTo>
                  <a:lnTo>
                    <a:pt x="608" y="146"/>
                  </a:lnTo>
                  <a:lnTo>
                    <a:pt x="606" y="144"/>
                  </a:lnTo>
                  <a:lnTo>
                    <a:pt x="604" y="138"/>
                  </a:lnTo>
                  <a:lnTo>
                    <a:pt x="602" y="132"/>
                  </a:lnTo>
                  <a:lnTo>
                    <a:pt x="598" y="126"/>
                  </a:lnTo>
                  <a:lnTo>
                    <a:pt x="596" y="126"/>
                  </a:lnTo>
                  <a:lnTo>
                    <a:pt x="592" y="114"/>
                  </a:lnTo>
                  <a:lnTo>
                    <a:pt x="588" y="114"/>
                  </a:lnTo>
                  <a:lnTo>
                    <a:pt x="576" y="122"/>
                  </a:lnTo>
                  <a:lnTo>
                    <a:pt x="576" y="124"/>
                  </a:lnTo>
                  <a:lnTo>
                    <a:pt x="574" y="124"/>
                  </a:lnTo>
                  <a:lnTo>
                    <a:pt x="546" y="130"/>
                  </a:lnTo>
                  <a:lnTo>
                    <a:pt x="544" y="128"/>
                  </a:lnTo>
                  <a:lnTo>
                    <a:pt x="526" y="116"/>
                  </a:lnTo>
                  <a:lnTo>
                    <a:pt x="524" y="114"/>
                  </a:lnTo>
                  <a:lnTo>
                    <a:pt x="518" y="104"/>
                  </a:lnTo>
                  <a:lnTo>
                    <a:pt x="506" y="118"/>
                  </a:lnTo>
                  <a:lnTo>
                    <a:pt x="498" y="126"/>
                  </a:lnTo>
                  <a:lnTo>
                    <a:pt x="492" y="130"/>
                  </a:lnTo>
                  <a:lnTo>
                    <a:pt x="488" y="132"/>
                  </a:lnTo>
                  <a:lnTo>
                    <a:pt x="484" y="130"/>
                  </a:lnTo>
                  <a:lnTo>
                    <a:pt x="466" y="120"/>
                  </a:lnTo>
                  <a:lnTo>
                    <a:pt x="452" y="118"/>
                  </a:lnTo>
                  <a:lnTo>
                    <a:pt x="450" y="120"/>
                  </a:lnTo>
                  <a:lnTo>
                    <a:pt x="438" y="110"/>
                  </a:lnTo>
                  <a:lnTo>
                    <a:pt x="436" y="110"/>
                  </a:lnTo>
                  <a:lnTo>
                    <a:pt x="442" y="88"/>
                  </a:lnTo>
                  <a:lnTo>
                    <a:pt x="442" y="80"/>
                  </a:lnTo>
                  <a:lnTo>
                    <a:pt x="434" y="78"/>
                  </a:lnTo>
                  <a:lnTo>
                    <a:pt x="416" y="58"/>
                  </a:lnTo>
                  <a:lnTo>
                    <a:pt x="418" y="46"/>
                  </a:lnTo>
                  <a:lnTo>
                    <a:pt x="376" y="42"/>
                  </a:lnTo>
                  <a:lnTo>
                    <a:pt x="360" y="32"/>
                  </a:lnTo>
                  <a:lnTo>
                    <a:pt x="354" y="28"/>
                  </a:lnTo>
                  <a:lnTo>
                    <a:pt x="350" y="18"/>
                  </a:lnTo>
                  <a:lnTo>
                    <a:pt x="348" y="12"/>
                  </a:lnTo>
                  <a:lnTo>
                    <a:pt x="344" y="0"/>
                  </a:lnTo>
                  <a:lnTo>
                    <a:pt x="338" y="0"/>
                  </a:lnTo>
                  <a:lnTo>
                    <a:pt x="326" y="10"/>
                  </a:lnTo>
                  <a:lnTo>
                    <a:pt x="310" y="30"/>
                  </a:lnTo>
                  <a:lnTo>
                    <a:pt x="314" y="42"/>
                  </a:lnTo>
                  <a:lnTo>
                    <a:pt x="318" y="60"/>
                  </a:lnTo>
                  <a:lnTo>
                    <a:pt x="318" y="62"/>
                  </a:lnTo>
                  <a:lnTo>
                    <a:pt x="320" y="62"/>
                  </a:lnTo>
                  <a:lnTo>
                    <a:pt x="318" y="62"/>
                  </a:lnTo>
                  <a:lnTo>
                    <a:pt x="318" y="66"/>
                  </a:lnTo>
                  <a:lnTo>
                    <a:pt x="314" y="68"/>
                  </a:lnTo>
                  <a:lnTo>
                    <a:pt x="306" y="70"/>
                  </a:lnTo>
                  <a:lnTo>
                    <a:pt x="290" y="70"/>
                  </a:lnTo>
                  <a:lnTo>
                    <a:pt x="280" y="66"/>
                  </a:lnTo>
                  <a:lnTo>
                    <a:pt x="268" y="70"/>
                  </a:lnTo>
                  <a:lnTo>
                    <a:pt x="266" y="70"/>
                  </a:lnTo>
                  <a:lnTo>
                    <a:pt x="264" y="70"/>
                  </a:lnTo>
                  <a:lnTo>
                    <a:pt x="262" y="82"/>
                  </a:lnTo>
                  <a:lnTo>
                    <a:pt x="262" y="86"/>
                  </a:lnTo>
                  <a:lnTo>
                    <a:pt x="258" y="86"/>
                  </a:lnTo>
                  <a:lnTo>
                    <a:pt x="238" y="78"/>
                  </a:lnTo>
                  <a:lnTo>
                    <a:pt x="240" y="88"/>
                  </a:lnTo>
                  <a:lnTo>
                    <a:pt x="242" y="96"/>
                  </a:lnTo>
                  <a:lnTo>
                    <a:pt x="246" y="104"/>
                  </a:lnTo>
                  <a:lnTo>
                    <a:pt x="244" y="110"/>
                  </a:lnTo>
                  <a:lnTo>
                    <a:pt x="242" y="116"/>
                  </a:lnTo>
                  <a:lnTo>
                    <a:pt x="234" y="118"/>
                  </a:lnTo>
                  <a:lnTo>
                    <a:pt x="222" y="118"/>
                  </a:lnTo>
                  <a:lnTo>
                    <a:pt x="208" y="118"/>
                  </a:lnTo>
                  <a:lnTo>
                    <a:pt x="206" y="142"/>
                  </a:lnTo>
                  <a:lnTo>
                    <a:pt x="190" y="134"/>
                  </a:lnTo>
                  <a:lnTo>
                    <a:pt x="188" y="134"/>
                  </a:lnTo>
                  <a:lnTo>
                    <a:pt x="178" y="118"/>
                  </a:lnTo>
                  <a:lnTo>
                    <a:pt x="160" y="110"/>
                  </a:lnTo>
                  <a:lnTo>
                    <a:pt x="154" y="100"/>
                  </a:lnTo>
                  <a:lnTo>
                    <a:pt x="148" y="106"/>
                  </a:lnTo>
                  <a:lnTo>
                    <a:pt x="146" y="106"/>
                  </a:lnTo>
                  <a:lnTo>
                    <a:pt x="134" y="108"/>
                  </a:lnTo>
                  <a:lnTo>
                    <a:pt x="132" y="108"/>
                  </a:lnTo>
                  <a:lnTo>
                    <a:pt x="126" y="94"/>
                  </a:lnTo>
                  <a:lnTo>
                    <a:pt x="118" y="86"/>
                  </a:lnTo>
                  <a:lnTo>
                    <a:pt x="118" y="84"/>
                  </a:lnTo>
                  <a:lnTo>
                    <a:pt x="110" y="74"/>
                  </a:lnTo>
                  <a:lnTo>
                    <a:pt x="106" y="66"/>
                  </a:lnTo>
                  <a:lnTo>
                    <a:pt x="106" y="64"/>
                  </a:lnTo>
                  <a:lnTo>
                    <a:pt x="102" y="62"/>
                  </a:lnTo>
                  <a:lnTo>
                    <a:pt x="98" y="62"/>
                  </a:lnTo>
                  <a:lnTo>
                    <a:pt x="90" y="56"/>
                  </a:lnTo>
                  <a:lnTo>
                    <a:pt x="86" y="46"/>
                  </a:lnTo>
                  <a:lnTo>
                    <a:pt x="82" y="34"/>
                  </a:lnTo>
                  <a:lnTo>
                    <a:pt x="82" y="22"/>
                  </a:lnTo>
                  <a:lnTo>
                    <a:pt x="78" y="12"/>
                  </a:lnTo>
                  <a:lnTo>
                    <a:pt x="68" y="14"/>
                  </a:lnTo>
                  <a:lnTo>
                    <a:pt x="66" y="14"/>
                  </a:lnTo>
                  <a:close/>
                </a:path>
              </a:pathLst>
            </a:custGeom>
            <a:noFill/>
            <a:ln w="3175" cap="flat" cmpd="sng">
              <a:solidFill>
                <a:schemeClr val="bg2"/>
              </a:solidFill>
              <a:bevel/>
              <a:headEnd/>
              <a:tailEnd/>
            </a:ln>
          </p:spPr>
          <p:txBody>
            <a:bodyPr anchor="ctr"/>
            <a:lstStyle/>
            <a:p>
              <a:endParaRPr lang="zh-CN" altLang="en-US"/>
            </a:p>
          </p:txBody>
        </p:sp>
        <p:sp>
          <p:nvSpPr>
            <p:cNvPr id="8202" name="Freeform 10"/>
            <p:cNvSpPr>
              <a:spLocks/>
            </p:cNvSpPr>
            <p:nvPr/>
          </p:nvSpPr>
          <p:spPr bwMode="auto">
            <a:xfrm>
              <a:off x="261377" y="2244978"/>
              <a:ext cx="2248559" cy="1367754"/>
            </a:xfrm>
            <a:custGeom>
              <a:avLst/>
              <a:gdLst/>
              <a:ahLst/>
              <a:cxnLst>
                <a:cxn ang="0">
                  <a:pos x="132" y="26"/>
                </a:cxn>
                <a:cxn ang="0">
                  <a:pos x="122" y="60"/>
                </a:cxn>
                <a:cxn ang="0">
                  <a:pos x="62" y="70"/>
                </a:cxn>
                <a:cxn ang="0">
                  <a:pos x="44" y="122"/>
                </a:cxn>
                <a:cxn ang="0">
                  <a:pos x="60" y="188"/>
                </a:cxn>
                <a:cxn ang="0">
                  <a:pos x="6" y="216"/>
                </a:cxn>
                <a:cxn ang="0">
                  <a:pos x="2" y="262"/>
                </a:cxn>
                <a:cxn ang="0">
                  <a:pos x="28" y="300"/>
                </a:cxn>
                <a:cxn ang="0">
                  <a:pos x="62" y="338"/>
                </a:cxn>
                <a:cxn ang="0">
                  <a:pos x="150" y="386"/>
                </a:cxn>
                <a:cxn ang="0">
                  <a:pos x="222" y="454"/>
                </a:cxn>
                <a:cxn ang="0">
                  <a:pos x="290" y="500"/>
                </a:cxn>
                <a:cxn ang="0">
                  <a:pos x="334" y="556"/>
                </a:cxn>
                <a:cxn ang="0">
                  <a:pos x="404" y="602"/>
                </a:cxn>
                <a:cxn ang="0">
                  <a:pos x="470" y="628"/>
                </a:cxn>
                <a:cxn ang="0">
                  <a:pos x="580" y="642"/>
                </a:cxn>
                <a:cxn ang="0">
                  <a:pos x="594" y="664"/>
                </a:cxn>
                <a:cxn ang="0">
                  <a:pos x="586" y="692"/>
                </a:cxn>
                <a:cxn ang="0">
                  <a:pos x="616" y="676"/>
                </a:cxn>
                <a:cxn ang="0">
                  <a:pos x="660" y="638"/>
                </a:cxn>
                <a:cxn ang="0">
                  <a:pos x="772" y="680"/>
                </a:cxn>
                <a:cxn ang="0">
                  <a:pos x="802" y="754"/>
                </a:cxn>
                <a:cxn ang="0">
                  <a:pos x="904" y="748"/>
                </a:cxn>
                <a:cxn ang="0">
                  <a:pos x="1024" y="680"/>
                </a:cxn>
                <a:cxn ang="0">
                  <a:pos x="1122" y="712"/>
                </a:cxn>
                <a:cxn ang="0">
                  <a:pos x="1138" y="716"/>
                </a:cxn>
                <a:cxn ang="0">
                  <a:pos x="1156" y="666"/>
                </a:cxn>
                <a:cxn ang="0">
                  <a:pos x="1192" y="696"/>
                </a:cxn>
                <a:cxn ang="0">
                  <a:pos x="1214" y="664"/>
                </a:cxn>
                <a:cxn ang="0">
                  <a:pos x="1228" y="644"/>
                </a:cxn>
                <a:cxn ang="0">
                  <a:pos x="1246" y="568"/>
                </a:cxn>
                <a:cxn ang="0">
                  <a:pos x="1240" y="510"/>
                </a:cxn>
                <a:cxn ang="0">
                  <a:pos x="1228" y="448"/>
                </a:cxn>
                <a:cxn ang="0">
                  <a:pos x="1200" y="412"/>
                </a:cxn>
                <a:cxn ang="0">
                  <a:pos x="1162" y="366"/>
                </a:cxn>
                <a:cxn ang="0">
                  <a:pos x="1152" y="418"/>
                </a:cxn>
                <a:cxn ang="0">
                  <a:pos x="1094" y="430"/>
                </a:cxn>
                <a:cxn ang="0">
                  <a:pos x="1036" y="386"/>
                </a:cxn>
                <a:cxn ang="0">
                  <a:pos x="1000" y="344"/>
                </a:cxn>
                <a:cxn ang="0">
                  <a:pos x="900" y="342"/>
                </a:cxn>
                <a:cxn ang="0">
                  <a:pos x="828" y="312"/>
                </a:cxn>
                <a:cxn ang="0">
                  <a:pos x="796" y="290"/>
                </a:cxn>
                <a:cxn ang="0">
                  <a:pos x="768" y="274"/>
                </a:cxn>
                <a:cxn ang="0">
                  <a:pos x="746" y="280"/>
                </a:cxn>
                <a:cxn ang="0">
                  <a:pos x="708" y="238"/>
                </a:cxn>
                <a:cxn ang="0">
                  <a:pos x="692" y="196"/>
                </a:cxn>
                <a:cxn ang="0">
                  <a:pos x="694" y="118"/>
                </a:cxn>
                <a:cxn ang="0">
                  <a:pos x="708" y="84"/>
                </a:cxn>
                <a:cxn ang="0">
                  <a:pos x="712" y="44"/>
                </a:cxn>
                <a:cxn ang="0">
                  <a:pos x="680" y="20"/>
                </a:cxn>
                <a:cxn ang="0">
                  <a:pos x="596" y="10"/>
                </a:cxn>
                <a:cxn ang="0">
                  <a:pos x="518" y="24"/>
                </a:cxn>
                <a:cxn ang="0">
                  <a:pos x="440" y="36"/>
                </a:cxn>
                <a:cxn ang="0">
                  <a:pos x="372" y="44"/>
                </a:cxn>
                <a:cxn ang="0">
                  <a:pos x="318" y="20"/>
                </a:cxn>
                <a:cxn ang="0">
                  <a:pos x="296" y="8"/>
                </a:cxn>
                <a:cxn ang="0">
                  <a:pos x="210" y="16"/>
                </a:cxn>
              </a:cxnLst>
              <a:rect l="0" t="0" r="r" b="b"/>
              <a:pathLst>
                <a:path w="1256" h="764">
                  <a:moveTo>
                    <a:pt x="152" y="4"/>
                  </a:moveTo>
                  <a:lnTo>
                    <a:pt x="152" y="4"/>
                  </a:lnTo>
                  <a:lnTo>
                    <a:pt x="146" y="14"/>
                  </a:lnTo>
                  <a:lnTo>
                    <a:pt x="138" y="22"/>
                  </a:lnTo>
                  <a:lnTo>
                    <a:pt x="132" y="26"/>
                  </a:lnTo>
                  <a:lnTo>
                    <a:pt x="132" y="32"/>
                  </a:lnTo>
                  <a:lnTo>
                    <a:pt x="132" y="36"/>
                  </a:lnTo>
                  <a:lnTo>
                    <a:pt x="130" y="44"/>
                  </a:lnTo>
                  <a:lnTo>
                    <a:pt x="122" y="56"/>
                  </a:lnTo>
                  <a:lnTo>
                    <a:pt x="122" y="60"/>
                  </a:lnTo>
                  <a:lnTo>
                    <a:pt x="118" y="62"/>
                  </a:lnTo>
                  <a:lnTo>
                    <a:pt x="112" y="64"/>
                  </a:lnTo>
                  <a:lnTo>
                    <a:pt x="66" y="58"/>
                  </a:lnTo>
                  <a:lnTo>
                    <a:pt x="62" y="68"/>
                  </a:lnTo>
                  <a:lnTo>
                    <a:pt x="62" y="70"/>
                  </a:lnTo>
                  <a:lnTo>
                    <a:pt x="48" y="92"/>
                  </a:lnTo>
                  <a:lnTo>
                    <a:pt x="42" y="100"/>
                  </a:lnTo>
                  <a:lnTo>
                    <a:pt x="40" y="108"/>
                  </a:lnTo>
                  <a:lnTo>
                    <a:pt x="42" y="112"/>
                  </a:lnTo>
                  <a:lnTo>
                    <a:pt x="44" y="122"/>
                  </a:lnTo>
                  <a:lnTo>
                    <a:pt x="56" y="150"/>
                  </a:lnTo>
                  <a:lnTo>
                    <a:pt x="62" y="168"/>
                  </a:lnTo>
                  <a:lnTo>
                    <a:pt x="64" y="174"/>
                  </a:lnTo>
                  <a:lnTo>
                    <a:pt x="64" y="180"/>
                  </a:lnTo>
                  <a:lnTo>
                    <a:pt x="60" y="188"/>
                  </a:lnTo>
                  <a:lnTo>
                    <a:pt x="56" y="196"/>
                  </a:lnTo>
                  <a:lnTo>
                    <a:pt x="42" y="210"/>
                  </a:lnTo>
                  <a:lnTo>
                    <a:pt x="18" y="210"/>
                  </a:lnTo>
                  <a:lnTo>
                    <a:pt x="12" y="184"/>
                  </a:lnTo>
                  <a:lnTo>
                    <a:pt x="6" y="216"/>
                  </a:lnTo>
                  <a:lnTo>
                    <a:pt x="16" y="232"/>
                  </a:lnTo>
                  <a:lnTo>
                    <a:pt x="16" y="236"/>
                  </a:lnTo>
                  <a:lnTo>
                    <a:pt x="16" y="238"/>
                  </a:lnTo>
                  <a:lnTo>
                    <a:pt x="10" y="246"/>
                  </a:lnTo>
                  <a:lnTo>
                    <a:pt x="2" y="262"/>
                  </a:lnTo>
                  <a:lnTo>
                    <a:pt x="0" y="272"/>
                  </a:lnTo>
                  <a:lnTo>
                    <a:pt x="0" y="280"/>
                  </a:lnTo>
                  <a:lnTo>
                    <a:pt x="4" y="290"/>
                  </a:lnTo>
                  <a:lnTo>
                    <a:pt x="10" y="300"/>
                  </a:lnTo>
                  <a:lnTo>
                    <a:pt x="28" y="300"/>
                  </a:lnTo>
                  <a:lnTo>
                    <a:pt x="34" y="302"/>
                  </a:lnTo>
                  <a:lnTo>
                    <a:pt x="42" y="308"/>
                  </a:lnTo>
                  <a:lnTo>
                    <a:pt x="58" y="330"/>
                  </a:lnTo>
                  <a:lnTo>
                    <a:pt x="60" y="332"/>
                  </a:lnTo>
                  <a:lnTo>
                    <a:pt x="62" y="338"/>
                  </a:lnTo>
                  <a:lnTo>
                    <a:pt x="66" y="344"/>
                  </a:lnTo>
                  <a:lnTo>
                    <a:pt x="108" y="384"/>
                  </a:lnTo>
                  <a:lnTo>
                    <a:pt x="128" y="408"/>
                  </a:lnTo>
                  <a:lnTo>
                    <a:pt x="138" y="408"/>
                  </a:lnTo>
                  <a:lnTo>
                    <a:pt x="150" y="386"/>
                  </a:lnTo>
                  <a:lnTo>
                    <a:pt x="152" y="384"/>
                  </a:lnTo>
                  <a:lnTo>
                    <a:pt x="182" y="392"/>
                  </a:lnTo>
                  <a:lnTo>
                    <a:pt x="182" y="394"/>
                  </a:lnTo>
                  <a:lnTo>
                    <a:pt x="186" y="414"/>
                  </a:lnTo>
                  <a:lnTo>
                    <a:pt x="222" y="454"/>
                  </a:lnTo>
                  <a:lnTo>
                    <a:pt x="234" y="460"/>
                  </a:lnTo>
                  <a:lnTo>
                    <a:pt x="240" y="464"/>
                  </a:lnTo>
                  <a:lnTo>
                    <a:pt x="268" y="504"/>
                  </a:lnTo>
                  <a:lnTo>
                    <a:pt x="288" y="500"/>
                  </a:lnTo>
                  <a:lnTo>
                    <a:pt x="290" y="500"/>
                  </a:lnTo>
                  <a:lnTo>
                    <a:pt x="292" y="500"/>
                  </a:lnTo>
                  <a:lnTo>
                    <a:pt x="292" y="502"/>
                  </a:lnTo>
                  <a:lnTo>
                    <a:pt x="294" y="504"/>
                  </a:lnTo>
                  <a:lnTo>
                    <a:pt x="312" y="542"/>
                  </a:lnTo>
                  <a:lnTo>
                    <a:pt x="334" y="556"/>
                  </a:lnTo>
                  <a:lnTo>
                    <a:pt x="352" y="560"/>
                  </a:lnTo>
                  <a:lnTo>
                    <a:pt x="362" y="584"/>
                  </a:lnTo>
                  <a:lnTo>
                    <a:pt x="376" y="584"/>
                  </a:lnTo>
                  <a:lnTo>
                    <a:pt x="376" y="586"/>
                  </a:lnTo>
                  <a:lnTo>
                    <a:pt x="404" y="602"/>
                  </a:lnTo>
                  <a:lnTo>
                    <a:pt x="406" y="604"/>
                  </a:lnTo>
                  <a:lnTo>
                    <a:pt x="426" y="628"/>
                  </a:lnTo>
                  <a:lnTo>
                    <a:pt x="456" y="624"/>
                  </a:lnTo>
                  <a:lnTo>
                    <a:pt x="458" y="624"/>
                  </a:lnTo>
                  <a:lnTo>
                    <a:pt x="470" y="628"/>
                  </a:lnTo>
                  <a:lnTo>
                    <a:pt x="490" y="644"/>
                  </a:lnTo>
                  <a:lnTo>
                    <a:pt x="524" y="648"/>
                  </a:lnTo>
                  <a:lnTo>
                    <a:pt x="544" y="644"/>
                  </a:lnTo>
                  <a:lnTo>
                    <a:pt x="564" y="642"/>
                  </a:lnTo>
                  <a:lnTo>
                    <a:pt x="580" y="642"/>
                  </a:lnTo>
                  <a:lnTo>
                    <a:pt x="590" y="644"/>
                  </a:lnTo>
                  <a:lnTo>
                    <a:pt x="596" y="648"/>
                  </a:lnTo>
                  <a:lnTo>
                    <a:pt x="598" y="654"/>
                  </a:lnTo>
                  <a:lnTo>
                    <a:pt x="598" y="658"/>
                  </a:lnTo>
                  <a:lnTo>
                    <a:pt x="594" y="664"/>
                  </a:lnTo>
                  <a:lnTo>
                    <a:pt x="588" y="670"/>
                  </a:lnTo>
                  <a:lnTo>
                    <a:pt x="580" y="678"/>
                  </a:lnTo>
                  <a:lnTo>
                    <a:pt x="580" y="682"/>
                  </a:lnTo>
                  <a:lnTo>
                    <a:pt x="582" y="686"/>
                  </a:lnTo>
                  <a:lnTo>
                    <a:pt x="586" y="692"/>
                  </a:lnTo>
                  <a:lnTo>
                    <a:pt x="592" y="698"/>
                  </a:lnTo>
                  <a:lnTo>
                    <a:pt x="592" y="700"/>
                  </a:lnTo>
                  <a:lnTo>
                    <a:pt x="598" y="704"/>
                  </a:lnTo>
                  <a:lnTo>
                    <a:pt x="600" y="702"/>
                  </a:lnTo>
                  <a:lnTo>
                    <a:pt x="616" y="676"/>
                  </a:lnTo>
                  <a:lnTo>
                    <a:pt x="628" y="658"/>
                  </a:lnTo>
                  <a:lnTo>
                    <a:pt x="638" y="646"/>
                  </a:lnTo>
                  <a:lnTo>
                    <a:pt x="648" y="640"/>
                  </a:lnTo>
                  <a:lnTo>
                    <a:pt x="654" y="638"/>
                  </a:lnTo>
                  <a:lnTo>
                    <a:pt x="660" y="638"/>
                  </a:lnTo>
                  <a:lnTo>
                    <a:pt x="676" y="644"/>
                  </a:lnTo>
                  <a:lnTo>
                    <a:pt x="698" y="654"/>
                  </a:lnTo>
                  <a:lnTo>
                    <a:pt x="724" y="670"/>
                  </a:lnTo>
                  <a:lnTo>
                    <a:pt x="772" y="678"/>
                  </a:lnTo>
                  <a:lnTo>
                    <a:pt x="772" y="680"/>
                  </a:lnTo>
                  <a:lnTo>
                    <a:pt x="772" y="682"/>
                  </a:lnTo>
                  <a:lnTo>
                    <a:pt x="768" y="704"/>
                  </a:lnTo>
                  <a:lnTo>
                    <a:pt x="792" y="708"/>
                  </a:lnTo>
                  <a:lnTo>
                    <a:pt x="792" y="738"/>
                  </a:lnTo>
                  <a:lnTo>
                    <a:pt x="802" y="754"/>
                  </a:lnTo>
                  <a:lnTo>
                    <a:pt x="808" y="762"/>
                  </a:lnTo>
                  <a:lnTo>
                    <a:pt x="816" y="764"/>
                  </a:lnTo>
                  <a:lnTo>
                    <a:pt x="830" y="764"/>
                  </a:lnTo>
                  <a:lnTo>
                    <a:pt x="880" y="762"/>
                  </a:lnTo>
                  <a:lnTo>
                    <a:pt x="904" y="748"/>
                  </a:lnTo>
                  <a:lnTo>
                    <a:pt x="928" y="716"/>
                  </a:lnTo>
                  <a:lnTo>
                    <a:pt x="956" y="714"/>
                  </a:lnTo>
                  <a:lnTo>
                    <a:pt x="970" y="710"/>
                  </a:lnTo>
                  <a:lnTo>
                    <a:pt x="1022" y="680"/>
                  </a:lnTo>
                  <a:lnTo>
                    <a:pt x="1024" y="680"/>
                  </a:lnTo>
                  <a:lnTo>
                    <a:pt x="1060" y="676"/>
                  </a:lnTo>
                  <a:lnTo>
                    <a:pt x="1070" y="678"/>
                  </a:lnTo>
                  <a:lnTo>
                    <a:pt x="1076" y="680"/>
                  </a:lnTo>
                  <a:lnTo>
                    <a:pt x="1112" y="708"/>
                  </a:lnTo>
                  <a:lnTo>
                    <a:pt x="1122" y="712"/>
                  </a:lnTo>
                  <a:lnTo>
                    <a:pt x="1124" y="714"/>
                  </a:lnTo>
                  <a:lnTo>
                    <a:pt x="1136" y="720"/>
                  </a:lnTo>
                  <a:lnTo>
                    <a:pt x="1138" y="720"/>
                  </a:lnTo>
                  <a:lnTo>
                    <a:pt x="1138" y="718"/>
                  </a:lnTo>
                  <a:lnTo>
                    <a:pt x="1138" y="716"/>
                  </a:lnTo>
                  <a:lnTo>
                    <a:pt x="1144" y="692"/>
                  </a:lnTo>
                  <a:lnTo>
                    <a:pt x="1142" y="682"/>
                  </a:lnTo>
                  <a:lnTo>
                    <a:pt x="1144" y="674"/>
                  </a:lnTo>
                  <a:lnTo>
                    <a:pt x="1148" y="668"/>
                  </a:lnTo>
                  <a:lnTo>
                    <a:pt x="1156" y="666"/>
                  </a:lnTo>
                  <a:lnTo>
                    <a:pt x="1164" y="666"/>
                  </a:lnTo>
                  <a:lnTo>
                    <a:pt x="1172" y="672"/>
                  </a:lnTo>
                  <a:lnTo>
                    <a:pt x="1182" y="682"/>
                  </a:lnTo>
                  <a:lnTo>
                    <a:pt x="1190" y="696"/>
                  </a:lnTo>
                  <a:lnTo>
                    <a:pt x="1192" y="696"/>
                  </a:lnTo>
                  <a:lnTo>
                    <a:pt x="1212" y="688"/>
                  </a:lnTo>
                  <a:lnTo>
                    <a:pt x="1214" y="686"/>
                  </a:lnTo>
                  <a:lnTo>
                    <a:pt x="1216" y="684"/>
                  </a:lnTo>
                  <a:lnTo>
                    <a:pt x="1218" y="680"/>
                  </a:lnTo>
                  <a:lnTo>
                    <a:pt x="1214" y="664"/>
                  </a:lnTo>
                  <a:lnTo>
                    <a:pt x="1214" y="660"/>
                  </a:lnTo>
                  <a:lnTo>
                    <a:pt x="1214" y="656"/>
                  </a:lnTo>
                  <a:lnTo>
                    <a:pt x="1216" y="652"/>
                  </a:lnTo>
                  <a:lnTo>
                    <a:pt x="1220" y="650"/>
                  </a:lnTo>
                  <a:lnTo>
                    <a:pt x="1228" y="644"/>
                  </a:lnTo>
                  <a:lnTo>
                    <a:pt x="1244" y="624"/>
                  </a:lnTo>
                  <a:lnTo>
                    <a:pt x="1256" y="598"/>
                  </a:lnTo>
                  <a:lnTo>
                    <a:pt x="1250" y="586"/>
                  </a:lnTo>
                  <a:lnTo>
                    <a:pt x="1246" y="576"/>
                  </a:lnTo>
                  <a:lnTo>
                    <a:pt x="1246" y="568"/>
                  </a:lnTo>
                  <a:lnTo>
                    <a:pt x="1246" y="562"/>
                  </a:lnTo>
                  <a:lnTo>
                    <a:pt x="1248" y="540"/>
                  </a:lnTo>
                  <a:lnTo>
                    <a:pt x="1244" y="528"/>
                  </a:lnTo>
                  <a:lnTo>
                    <a:pt x="1242" y="518"/>
                  </a:lnTo>
                  <a:lnTo>
                    <a:pt x="1240" y="510"/>
                  </a:lnTo>
                  <a:lnTo>
                    <a:pt x="1232" y="498"/>
                  </a:lnTo>
                  <a:lnTo>
                    <a:pt x="1232" y="496"/>
                  </a:lnTo>
                  <a:lnTo>
                    <a:pt x="1228" y="468"/>
                  </a:lnTo>
                  <a:lnTo>
                    <a:pt x="1228" y="458"/>
                  </a:lnTo>
                  <a:lnTo>
                    <a:pt x="1228" y="448"/>
                  </a:lnTo>
                  <a:lnTo>
                    <a:pt x="1220" y="440"/>
                  </a:lnTo>
                  <a:lnTo>
                    <a:pt x="1214" y="432"/>
                  </a:lnTo>
                  <a:lnTo>
                    <a:pt x="1202" y="416"/>
                  </a:lnTo>
                  <a:lnTo>
                    <a:pt x="1200" y="414"/>
                  </a:lnTo>
                  <a:lnTo>
                    <a:pt x="1200" y="412"/>
                  </a:lnTo>
                  <a:lnTo>
                    <a:pt x="1196" y="392"/>
                  </a:lnTo>
                  <a:lnTo>
                    <a:pt x="1184" y="382"/>
                  </a:lnTo>
                  <a:lnTo>
                    <a:pt x="1184" y="384"/>
                  </a:lnTo>
                  <a:lnTo>
                    <a:pt x="1162" y="364"/>
                  </a:lnTo>
                  <a:lnTo>
                    <a:pt x="1162" y="366"/>
                  </a:lnTo>
                  <a:lnTo>
                    <a:pt x="1164" y="392"/>
                  </a:lnTo>
                  <a:lnTo>
                    <a:pt x="1164" y="394"/>
                  </a:lnTo>
                  <a:lnTo>
                    <a:pt x="1152" y="400"/>
                  </a:lnTo>
                  <a:lnTo>
                    <a:pt x="1152" y="416"/>
                  </a:lnTo>
                  <a:lnTo>
                    <a:pt x="1152" y="418"/>
                  </a:lnTo>
                  <a:lnTo>
                    <a:pt x="1124" y="428"/>
                  </a:lnTo>
                  <a:lnTo>
                    <a:pt x="1114" y="406"/>
                  </a:lnTo>
                  <a:lnTo>
                    <a:pt x="1108" y="404"/>
                  </a:lnTo>
                  <a:lnTo>
                    <a:pt x="1100" y="414"/>
                  </a:lnTo>
                  <a:lnTo>
                    <a:pt x="1094" y="430"/>
                  </a:lnTo>
                  <a:lnTo>
                    <a:pt x="1074" y="436"/>
                  </a:lnTo>
                  <a:lnTo>
                    <a:pt x="1062" y="428"/>
                  </a:lnTo>
                  <a:lnTo>
                    <a:pt x="1046" y="422"/>
                  </a:lnTo>
                  <a:lnTo>
                    <a:pt x="1042" y="400"/>
                  </a:lnTo>
                  <a:lnTo>
                    <a:pt x="1036" y="386"/>
                  </a:lnTo>
                  <a:lnTo>
                    <a:pt x="1026" y="382"/>
                  </a:lnTo>
                  <a:lnTo>
                    <a:pt x="1024" y="380"/>
                  </a:lnTo>
                  <a:lnTo>
                    <a:pt x="1018" y="372"/>
                  </a:lnTo>
                  <a:lnTo>
                    <a:pt x="1010" y="360"/>
                  </a:lnTo>
                  <a:lnTo>
                    <a:pt x="1000" y="344"/>
                  </a:lnTo>
                  <a:lnTo>
                    <a:pt x="990" y="344"/>
                  </a:lnTo>
                  <a:lnTo>
                    <a:pt x="974" y="350"/>
                  </a:lnTo>
                  <a:lnTo>
                    <a:pt x="972" y="352"/>
                  </a:lnTo>
                  <a:lnTo>
                    <a:pt x="932" y="348"/>
                  </a:lnTo>
                  <a:lnTo>
                    <a:pt x="900" y="342"/>
                  </a:lnTo>
                  <a:lnTo>
                    <a:pt x="884" y="332"/>
                  </a:lnTo>
                  <a:lnTo>
                    <a:pt x="860" y="324"/>
                  </a:lnTo>
                  <a:lnTo>
                    <a:pt x="838" y="318"/>
                  </a:lnTo>
                  <a:lnTo>
                    <a:pt x="832" y="314"/>
                  </a:lnTo>
                  <a:lnTo>
                    <a:pt x="828" y="312"/>
                  </a:lnTo>
                  <a:lnTo>
                    <a:pt x="824" y="308"/>
                  </a:lnTo>
                  <a:lnTo>
                    <a:pt x="820" y="308"/>
                  </a:lnTo>
                  <a:lnTo>
                    <a:pt x="804" y="300"/>
                  </a:lnTo>
                  <a:lnTo>
                    <a:pt x="804" y="298"/>
                  </a:lnTo>
                  <a:lnTo>
                    <a:pt x="796" y="290"/>
                  </a:lnTo>
                  <a:lnTo>
                    <a:pt x="794" y="282"/>
                  </a:lnTo>
                  <a:lnTo>
                    <a:pt x="788" y="272"/>
                  </a:lnTo>
                  <a:lnTo>
                    <a:pt x="776" y="268"/>
                  </a:lnTo>
                  <a:lnTo>
                    <a:pt x="772" y="270"/>
                  </a:lnTo>
                  <a:lnTo>
                    <a:pt x="768" y="274"/>
                  </a:lnTo>
                  <a:lnTo>
                    <a:pt x="766" y="276"/>
                  </a:lnTo>
                  <a:lnTo>
                    <a:pt x="760" y="280"/>
                  </a:lnTo>
                  <a:lnTo>
                    <a:pt x="756" y="280"/>
                  </a:lnTo>
                  <a:lnTo>
                    <a:pt x="750" y="282"/>
                  </a:lnTo>
                  <a:lnTo>
                    <a:pt x="746" y="280"/>
                  </a:lnTo>
                  <a:lnTo>
                    <a:pt x="740" y="276"/>
                  </a:lnTo>
                  <a:lnTo>
                    <a:pt x="736" y="272"/>
                  </a:lnTo>
                  <a:lnTo>
                    <a:pt x="720" y="256"/>
                  </a:lnTo>
                  <a:lnTo>
                    <a:pt x="714" y="246"/>
                  </a:lnTo>
                  <a:lnTo>
                    <a:pt x="708" y="238"/>
                  </a:lnTo>
                  <a:lnTo>
                    <a:pt x="704" y="232"/>
                  </a:lnTo>
                  <a:lnTo>
                    <a:pt x="698" y="224"/>
                  </a:lnTo>
                  <a:lnTo>
                    <a:pt x="692" y="216"/>
                  </a:lnTo>
                  <a:lnTo>
                    <a:pt x="690" y="206"/>
                  </a:lnTo>
                  <a:lnTo>
                    <a:pt x="692" y="196"/>
                  </a:lnTo>
                  <a:lnTo>
                    <a:pt x="702" y="178"/>
                  </a:lnTo>
                  <a:lnTo>
                    <a:pt x="708" y="160"/>
                  </a:lnTo>
                  <a:lnTo>
                    <a:pt x="710" y="148"/>
                  </a:lnTo>
                  <a:lnTo>
                    <a:pt x="706" y="128"/>
                  </a:lnTo>
                  <a:lnTo>
                    <a:pt x="694" y="118"/>
                  </a:lnTo>
                  <a:lnTo>
                    <a:pt x="696" y="104"/>
                  </a:lnTo>
                  <a:lnTo>
                    <a:pt x="698" y="96"/>
                  </a:lnTo>
                  <a:lnTo>
                    <a:pt x="700" y="90"/>
                  </a:lnTo>
                  <a:lnTo>
                    <a:pt x="704" y="86"/>
                  </a:lnTo>
                  <a:lnTo>
                    <a:pt x="708" y="84"/>
                  </a:lnTo>
                  <a:lnTo>
                    <a:pt x="712" y="84"/>
                  </a:lnTo>
                  <a:lnTo>
                    <a:pt x="712" y="80"/>
                  </a:lnTo>
                  <a:lnTo>
                    <a:pt x="712" y="78"/>
                  </a:lnTo>
                  <a:lnTo>
                    <a:pt x="712" y="62"/>
                  </a:lnTo>
                  <a:lnTo>
                    <a:pt x="712" y="44"/>
                  </a:lnTo>
                  <a:lnTo>
                    <a:pt x="710" y="42"/>
                  </a:lnTo>
                  <a:lnTo>
                    <a:pt x="708" y="40"/>
                  </a:lnTo>
                  <a:lnTo>
                    <a:pt x="706" y="40"/>
                  </a:lnTo>
                  <a:lnTo>
                    <a:pt x="692" y="30"/>
                  </a:lnTo>
                  <a:lnTo>
                    <a:pt x="680" y="20"/>
                  </a:lnTo>
                  <a:lnTo>
                    <a:pt x="642" y="14"/>
                  </a:lnTo>
                  <a:lnTo>
                    <a:pt x="630" y="4"/>
                  </a:lnTo>
                  <a:lnTo>
                    <a:pt x="608" y="4"/>
                  </a:lnTo>
                  <a:lnTo>
                    <a:pt x="602" y="6"/>
                  </a:lnTo>
                  <a:lnTo>
                    <a:pt x="596" y="10"/>
                  </a:lnTo>
                  <a:lnTo>
                    <a:pt x="594" y="10"/>
                  </a:lnTo>
                  <a:lnTo>
                    <a:pt x="576" y="16"/>
                  </a:lnTo>
                  <a:lnTo>
                    <a:pt x="532" y="16"/>
                  </a:lnTo>
                  <a:lnTo>
                    <a:pt x="524" y="20"/>
                  </a:lnTo>
                  <a:lnTo>
                    <a:pt x="518" y="24"/>
                  </a:lnTo>
                  <a:lnTo>
                    <a:pt x="508" y="28"/>
                  </a:lnTo>
                  <a:lnTo>
                    <a:pt x="492" y="34"/>
                  </a:lnTo>
                  <a:lnTo>
                    <a:pt x="472" y="40"/>
                  </a:lnTo>
                  <a:lnTo>
                    <a:pt x="470" y="40"/>
                  </a:lnTo>
                  <a:lnTo>
                    <a:pt x="440" y="36"/>
                  </a:lnTo>
                  <a:lnTo>
                    <a:pt x="438" y="36"/>
                  </a:lnTo>
                  <a:lnTo>
                    <a:pt x="428" y="36"/>
                  </a:lnTo>
                  <a:lnTo>
                    <a:pt x="410" y="40"/>
                  </a:lnTo>
                  <a:lnTo>
                    <a:pt x="374" y="44"/>
                  </a:lnTo>
                  <a:lnTo>
                    <a:pt x="372" y="44"/>
                  </a:lnTo>
                  <a:lnTo>
                    <a:pt x="356" y="36"/>
                  </a:lnTo>
                  <a:lnTo>
                    <a:pt x="340" y="36"/>
                  </a:lnTo>
                  <a:lnTo>
                    <a:pt x="330" y="32"/>
                  </a:lnTo>
                  <a:lnTo>
                    <a:pt x="320" y="20"/>
                  </a:lnTo>
                  <a:lnTo>
                    <a:pt x="318" y="20"/>
                  </a:lnTo>
                  <a:lnTo>
                    <a:pt x="316" y="12"/>
                  </a:lnTo>
                  <a:lnTo>
                    <a:pt x="314" y="8"/>
                  </a:lnTo>
                  <a:lnTo>
                    <a:pt x="310" y="4"/>
                  </a:lnTo>
                  <a:lnTo>
                    <a:pt x="302" y="0"/>
                  </a:lnTo>
                  <a:lnTo>
                    <a:pt x="296" y="8"/>
                  </a:lnTo>
                  <a:lnTo>
                    <a:pt x="270" y="20"/>
                  </a:lnTo>
                  <a:lnTo>
                    <a:pt x="268" y="20"/>
                  </a:lnTo>
                  <a:lnTo>
                    <a:pt x="236" y="22"/>
                  </a:lnTo>
                  <a:lnTo>
                    <a:pt x="226" y="20"/>
                  </a:lnTo>
                  <a:lnTo>
                    <a:pt x="210" y="16"/>
                  </a:lnTo>
                  <a:lnTo>
                    <a:pt x="184" y="12"/>
                  </a:lnTo>
                  <a:lnTo>
                    <a:pt x="182" y="12"/>
                  </a:lnTo>
                  <a:lnTo>
                    <a:pt x="166" y="4"/>
                  </a:lnTo>
                  <a:lnTo>
                    <a:pt x="152" y="4"/>
                  </a:lnTo>
                  <a:close/>
                </a:path>
              </a:pathLst>
            </a:custGeom>
            <a:noFill/>
            <a:ln w="3175" cap="flat" cmpd="sng">
              <a:solidFill>
                <a:schemeClr val="bg2"/>
              </a:solidFill>
              <a:bevel/>
              <a:headEnd/>
              <a:tailEnd/>
            </a:ln>
          </p:spPr>
          <p:txBody>
            <a:bodyPr anchor="ctr"/>
            <a:lstStyle/>
            <a:p>
              <a:endParaRPr lang="zh-CN" altLang="en-US"/>
            </a:p>
          </p:txBody>
        </p:sp>
        <p:sp>
          <p:nvSpPr>
            <p:cNvPr id="8203" name="Freeform 11"/>
            <p:cNvSpPr>
              <a:spLocks/>
            </p:cNvSpPr>
            <p:nvPr/>
          </p:nvSpPr>
          <p:spPr bwMode="auto">
            <a:xfrm>
              <a:off x="2309427" y="3383580"/>
              <a:ext cx="1016864" cy="1059830"/>
            </a:xfrm>
            <a:custGeom>
              <a:avLst/>
              <a:gdLst/>
              <a:ahLst/>
              <a:cxnLst>
                <a:cxn ang="0">
                  <a:pos x="20" y="364"/>
                </a:cxn>
                <a:cxn ang="0">
                  <a:pos x="74" y="378"/>
                </a:cxn>
                <a:cxn ang="0">
                  <a:pos x="98" y="440"/>
                </a:cxn>
                <a:cxn ang="0">
                  <a:pos x="96" y="502"/>
                </a:cxn>
                <a:cxn ang="0">
                  <a:pos x="144" y="520"/>
                </a:cxn>
                <a:cxn ang="0">
                  <a:pos x="220" y="540"/>
                </a:cxn>
                <a:cxn ang="0">
                  <a:pos x="272" y="592"/>
                </a:cxn>
                <a:cxn ang="0">
                  <a:pos x="262" y="522"/>
                </a:cxn>
                <a:cxn ang="0">
                  <a:pos x="294" y="490"/>
                </a:cxn>
                <a:cxn ang="0">
                  <a:pos x="362" y="490"/>
                </a:cxn>
                <a:cxn ang="0">
                  <a:pos x="438" y="468"/>
                </a:cxn>
                <a:cxn ang="0">
                  <a:pos x="528" y="426"/>
                </a:cxn>
                <a:cxn ang="0">
                  <a:pos x="540" y="430"/>
                </a:cxn>
                <a:cxn ang="0">
                  <a:pos x="548" y="388"/>
                </a:cxn>
                <a:cxn ang="0">
                  <a:pos x="504" y="386"/>
                </a:cxn>
                <a:cxn ang="0">
                  <a:pos x="484" y="360"/>
                </a:cxn>
                <a:cxn ang="0">
                  <a:pos x="460" y="340"/>
                </a:cxn>
                <a:cxn ang="0">
                  <a:pos x="452" y="272"/>
                </a:cxn>
                <a:cxn ang="0">
                  <a:pos x="440" y="190"/>
                </a:cxn>
                <a:cxn ang="0">
                  <a:pos x="398" y="152"/>
                </a:cxn>
                <a:cxn ang="0">
                  <a:pos x="412" y="132"/>
                </a:cxn>
                <a:cxn ang="0">
                  <a:pos x="480" y="128"/>
                </a:cxn>
                <a:cxn ang="0">
                  <a:pos x="512" y="108"/>
                </a:cxn>
                <a:cxn ang="0">
                  <a:pos x="474" y="102"/>
                </a:cxn>
                <a:cxn ang="0">
                  <a:pos x="454" y="88"/>
                </a:cxn>
                <a:cxn ang="0">
                  <a:pos x="428" y="48"/>
                </a:cxn>
                <a:cxn ang="0">
                  <a:pos x="404" y="84"/>
                </a:cxn>
                <a:cxn ang="0">
                  <a:pos x="360" y="138"/>
                </a:cxn>
                <a:cxn ang="0">
                  <a:pos x="366" y="172"/>
                </a:cxn>
                <a:cxn ang="0">
                  <a:pos x="348" y="214"/>
                </a:cxn>
                <a:cxn ang="0">
                  <a:pos x="316" y="214"/>
                </a:cxn>
                <a:cxn ang="0">
                  <a:pos x="288" y="240"/>
                </a:cxn>
                <a:cxn ang="0">
                  <a:pos x="276" y="224"/>
                </a:cxn>
                <a:cxn ang="0">
                  <a:pos x="264" y="222"/>
                </a:cxn>
                <a:cxn ang="0">
                  <a:pos x="244" y="168"/>
                </a:cxn>
                <a:cxn ang="0">
                  <a:pos x="216" y="94"/>
                </a:cxn>
                <a:cxn ang="0">
                  <a:pos x="196" y="102"/>
                </a:cxn>
                <a:cxn ang="0">
                  <a:pos x="172" y="86"/>
                </a:cxn>
                <a:cxn ang="0">
                  <a:pos x="156" y="50"/>
                </a:cxn>
                <a:cxn ang="0">
                  <a:pos x="138" y="82"/>
                </a:cxn>
                <a:cxn ang="0">
                  <a:pos x="122" y="84"/>
                </a:cxn>
                <a:cxn ang="0">
                  <a:pos x="106" y="56"/>
                </a:cxn>
                <a:cxn ang="0">
                  <a:pos x="102" y="0"/>
                </a:cxn>
                <a:cxn ang="0">
                  <a:pos x="82" y="44"/>
                </a:cxn>
                <a:cxn ang="0">
                  <a:pos x="56" y="66"/>
                </a:cxn>
                <a:cxn ang="0">
                  <a:pos x="54" y="106"/>
                </a:cxn>
                <a:cxn ang="0">
                  <a:pos x="76" y="104"/>
                </a:cxn>
                <a:cxn ang="0">
                  <a:pos x="78" y="238"/>
                </a:cxn>
                <a:cxn ang="0">
                  <a:pos x="48" y="252"/>
                </a:cxn>
                <a:cxn ang="0">
                  <a:pos x="6" y="320"/>
                </a:cxn>
                <a:cxn ang="0">
                  <a:pos x="12" y="354"/>
                </a:cxn>
              </a:cxnLst>
              <a:rect l="0" t="0" r="r" b="b"/>
              <a:pathLst>
                <a:path w="568" h="592">
                  <a:moveTo>
                    <a:pt x="4" y="364"/>
                  </a:moveTo>
                  <a:lnTo>
                    <a:pt x="0" y="374"/>
                  </a:lnTo>
                  <a:lnTo>
                    <a:pt x="10" y="372"/>
                  </a:lnTo>
                  <a:lnTo>
                    <a:pt x="18" y="366"/>
                  </a:lnTo>
                  <a:lnTo>
                    <a:pt x="20" y="364"/>
                  </a:lnTo>
                  <a:lnTo>
                    <a:pt x="52" y="360"/>
                  </a:lnTo>
                  <a:lnTo>
                    <a:pt x="74" y="350"/>
                  </a:lnTo>
                  <a:lnTo>
                    <a:pt x="82" y="362"/>
                  </a:lnTo>
                  <a:lnTo>
                    <a:pt x="84" y="362"/>
                  </a:lnTo>
                  <a:lnTo>
                    <a:pt x="74" y="378"/>
                  </a:lnTo>
                  <a:lnTo>
                    <a:pt x="84" y="388"/>
                  </a:lnTo>
                  <a:lnTo>
                    <a:pt x="84" y="390"/>
                  </a:lnTo>
                  <a:lnTo>
                    <a:pt x="84" y="392"/>
                  </a:lnTo>
                  <a:lnTo>
                    <a:pt x="76" y="426"/>
                  </a:lnTo>
                  <a:lnTo>
                    <a:pt x="98" y="440"/>
                  </a:lnTo>
                  <a:lnTo>
                    <a:pt x="136" y="442"/>
                  </a:lnTo>
                  <a:lnTo>
                    <a:pt x="130" y="450"/>
                  </a:lnTo>
                  <a:lnTo>
                    <a:pt x="104" y="486"/>
                  </a:lnTo>
                  <a:lnTo>
                    <a:pt x="98" y="496"/>
                  </a:lnTo>
                  <a:lnTo>
                    <a:pt x="96" y="502"/>
                  </a:lnTo>
                  <a:lnTo>
                    <a:pt x="110" y="506"/>
                  </a:lnTo>
                  <a:lnTo>
                    <a:pt x="122" y="508"/>
                  </a:lnTo>
                  <a:lnTo>
                    <a:pt x="132" y="510"/>
                  </a:lnTo>
                  <a:lnTo>
                    <a:pt x="140" y="516"/>
                  </a:lnTo>
                  <a:lnTo>
                    <a:pt x="144" y="520"/>
                  </a:lnTo>
                  <a:lnTo>
                    <a:pt x="152" y="534"/>
                  </a:lnTo>
                  <a:lnTo>
                    <a:pt x="158" y="550"/>
                  </a:lnTo>
                  <a:lnTo>
                    <a:pt x="180" y="562"/>
                  </a:lnTo>
                  <a:lnTo>
                    <a:pt x="192" y="564"/>
                  </a:lnTo>
                  <a:lnTo>
                    <a:pt x="220" y="540"/>
                  </a:lnTo>
                  <a:lnTo>
                    <a:pt x="236" y="562"/>
                  </a:lnTo>
                  <a:lnTo>
                    <a:pt x="236" y="564"/>
                  </a:lnTo>
                  <a:lnTo>
                    <a:pt x="240" y="584"/>
                  </a:lnTo>
                  <a:lnTo>
                    <a:pt x="252" y="586"/>
                  </a:lnTo>
                  <a:lnTo>
                    <a:pt x="272" y="592"/>
                  </a:lnTo>
                  <a:lnTo>
                    <a:pt x="276" y="592"/>
                  </a:lnTo>
                  <a:lnTo>
                    <a:pt x="276" y="590"/>
                  </a:lnTo>
                  <a:lnTo>
                    <a:pt x="272" y="570"/>
                  </a:lnTo>
                  <a:lnTo>
                    <a:pt x="272" y="568"/>
                  </a:lnTo>
                  <a:lnTo>
                    <a:pt x="262" y="522"/>
                  </a:lnTo>
                  <a:lnTo>
                    <a:pt x="262" y="520"/>
                  </a:lnTo>
                  <a:lnTo>
                    <a:pt x="268" y="488"/>
                  </a:lnTo>
                  <a:lnTo>
                    <a:pt x="270" y="488"/>
                  </a:lnTo>
                  <a:lnTo>
                    <a:pt x="272" y="488"/>
                  </a:lnTo>
                  <a:lnTo>
                    <a:pt x="294" y="490"/>
                  </a:lnTo>
                  <a:lnTo>
                    <a:pt x="320" y="470"/>
                  </a:lnTo>
                  <a:lnTo>
                    <a:pt x="324" y="472"/>
                  </a:lnTo>
                  <a:lnTo>
                    <a:pt x="342" y="486"/>
                  </a:lnTo>
                  <a:lnTo>
                    <a:pt x="352" y="498"/>
                  </a:lnTo>
                  <a:lnTo>
                    <a:pt x="362" y="490"/>
                  </a:lnTo>
                  <a:lnTo>
                    <a:pt x="378" y="474"/>
                  </a:lnTo>
                  <a:lnTo>
                    <a:pt x="378" y="472"/>
                  </a:lnTo>
                  <a:lnTo>
                    <a:pt x="380" y="472"/>
                  </a:lnTo>
                  <a:lnTo>
                    <a:pt x="420" y="482"/>
                  </a:lnTo>
                  <a:lnTo>
                    <a:pt x="438" y="468"/>
                  </a:lnTo>
                  <a:lnTo>
                    <a:pt x="438" y="466"/>
                  </a:lnTo>
                  <a:lnTo>
                    <a:pt x="440" y="466"/>
                  </a:lnTo>
                  <a:lnTo>
                    <a:pt x="458" y="470"/>
                  </a:lnTo>
                  <a:lnTo>
                    <a:pt x="512" y="422"/>
                  </a:lnTo>
                  <a:lnTo>
                    <a:pt x="528" y="426"/>
                  </a:lnTo>
                  <a:lnTo>
                    <a:pt x="530" y="428"/>
                  </a:lnTo>
                  <a:lnTo>
                    <a:pt x="532" y="428"/>
                  </a:lnTo>
                  <a:lnTo>
                    <a:pt x="536" y="436"/>
                  </a:lnTo>
                  <a:lnTo>
                    <a:pt x="540" y="432"/>
                  </a:lnTo>
                  <a:lnTo>
                    <a:pt x="540" y="430"/>
                  </a:lnTo>
                  <a:lnTo>
                    <a:pt x="556" y="422"/>
                  </a:lnTo>
                  <a:lnTo>
                    <a:pt x="568" y="410"/>
                  </a:lnTo>
                  <a:lnTo>
                    <a:pt x="566" y="386"/>
                  </a:lnTo>
                  <a:lnTo>
                    <a:pt x="564" y="382"/>
                  </a:lnTo>
                  <a:lnTo>
                    <a:pt x="548" y="388"/>
                  </a:lnTo>
                  <a:lnTo>
                    <a:pt x="542" y="392"/>
                  </a:lnTo>
                  <a:lnTo>
                    <a:pt x="534" y="392"/>
                  </a:lnTo>
                  <a:lnTo>
                    <a:pt x="516" y="392"/>
                  </a:lnTo>
                  <a:lnTo>
                    <a:pt x="510" y="390"/>
                  </a:lnTo>
                  <a:lnTo>
                    <a:pt x="504" y="386"/>
                  </a:lnTo>
                  <a:lnTo>
                    <a:pt x="504" y="360"/>
                  </a:lnTo>
                  <a:lnTo>
                    <a:pt x="496" y="358"/>
                  </a:lnTo>
                  <a:lnTo>
                    <a:pt x="492" y="356"/>
                  </a:lnTo>
                  <a:lnTo>
                    <a:pt x="488" y="358"/>
                  </a:lnTo>
                  <a:lnTo>
                    <a:pt x="484" y="360"/>
                  </a:lnTo>
                  <a:lnTo>
                    <a:pt x="472" y="364"/>
                  </a:lnTo>
                  <a:lnTo>
                    <a:pt x="468" y="364"/>
                  </a:lnTo>
                  <a:lnTo>
                    <a:pt x="468" y="362"/>
                  </a:lnTo>
                  <a:lnTo>
                    <a:pt x="462" y="350"/>
                  </a:lnTo>
                  <a:lnTo>
                    <a:pt x="460" y="340"/>
                  </a:lnTo>
                  <a:lnTo>
                    <a:pt x="468" y="310"/>
                  </a:lnTo>
                  <a:lnTo>
                    <a:pt x="468" y="308"/>
                  </a:lnTo>
                  <a:lnTo>
                    <a:pt x="476" y="294"/>
                  </a:lnTo>
                  <a:lnTo>
                    <a:pt x="452" y="274"/>
                  </a:lnTo>
                  <a:lnTo>
                    <a:pt x="452" y="272"/>
                  </a:lnTo>
                  <a:lnTo>
                    <a:pt x="452" y="248"/>
                  </a:lnTo>
                  <a:lnTo>
                    <a:pt x="464" y="212"/>
                  </a:lnTo>
                  <a:lnTo>
                    <a:pt x="456" y="192"/>
                  </a:lnTo>
                  <a:lnTo>
                    <a:pt x="450" y="190"/>
                  </a:lnTo>
                  <a:lnTo>
                    <a:pt x="440" y="190"/>
                  </a:lnTo>
                  <a:lnTo>
                    <a:pt x="432" y="204"/>
                  </a:lnTo>
                  <a:lnTo>
                    <a:pt x="420" y="196"/>
                  </a:lnTo>
                  <a:lnTo>
                    <a:pt x="410" y="190"/>
                  </a:lnTo>
                  <a:lnTo>
                    <a:pt x="400" y="168"/>
                  </a:lnTo>
                  <a:lnTo>
                    <a:pt x="398" y="152"/>
                  </a:lnTo>
                  <a:lnTo>
                    <a:pt x="398" y="150"/>
                  </a:lnTo>
                  <a:lnTo>
                    <a:pt x="396" y="148"/>
                  </a:lnTo>
                  <a:lnTo>
                    <a:pt x="400" y="148"/>
                  </a:lnTo>
                  <a:lnTo>
                    <a:pt x="410" y="132"/>
                  </a:lnTo>
                  <a:lnTo>
                    <a:pt x="412" y="132"/>
                  </a:lnTo>
                  <a:lnTo>
                    <a:pt x="420" y="130"/>
                  </a:lnTo>
                  <a:lnTo>
                    <a:pt x="430" y="128"/>
                  </a:lnTo>
                  <a:lnTo>
                    <a:pt x="472" y="126"/>
                  </a:lnTo>
                  <a:lnTo>
                    <a:pt x="478" y="128"/>
                  </a:lnTo>
                  <a:lnTo>
                    <a:pt x="480" y="128"/>
                  </a:lnTo>
                  <a:lnTo>
                    <a:pt x="486" y="132"/>
                  </a:lnTo>
                  <a:lnTo>
                    <a:pt x="496" y="126"/>
                  </a:lnTo>
                  <a:lnTo>
                    <a:pt x="506" y="120"/>
                  </a:lnTo>
                  <a:lnTo>
                    <a:pt x="512" y="112"/>
                  </a:lnTo>
                  <a:lnTo>
                    <a:pt x="512" y="108"/>
                  </a:lnTo>
                  <a:lnTo>
                    <a:pt x="512" y="90"/>
                  </a:lnTo>
                  <a:lnTo>
                    <a:pt x="502" y="88"/>
                  </a:lnTo>
                  <a:lnTo>
                    <a:pt x="486" y="94"/>
                  </a:lnTo>
                  <a:lnTo>
                    <a:pt x="478" y="100"/>
                  </a:lnTo>
                  <a:lnTo>
                    <a:pt x="474" y="102"/>
                  </a:lnTo>
                  <a:lnTo>
                    <a:pt x="470" y="104"/>
                  </a:lnTo>
                  <a:lnTo>
                    <a:pt x="466" y="102"/>
                  </a:lnTo>
                  <a:lnTo>
                    <a:pt x="462" y="100"/>
                  </a:lnTo>
                  <a:lnTo>
                    <a:pt x="454" y="90"/>
                  </a:lnTo>
                  <a:lnTo>
                    <a:pt x="454" y="88"/>
                  </a:lnTo>
                  <a:lnTo>
                    <a:pt x="452" y="78"/>
                  </a:lnTo>
                  <a:lnTo>
                    <a:pt x="452" y="76"/>
                  </a:lnTo>
                  <a:lnTo>
                    <a:pt x="454" y="66"/>
                  </a:lnTo>
                  <a:lnTo>
                    <a:pt x="444" y="44"/>
                  </a:lnTo>
                  <a:lnTo>
                    <a:pt x="428" y="48"/>
                  </a:lnTo>
                  <a:lnTo>
                    <a:pt x="420" y="56"/>
                  </a:lnTo>
                  <a:lnTo>
                    <a:pt x="424" y="80"/>
                  </a:lnTo>
                  <a:lnTo>
                    <a:pt x="396" y="68"/>
                  </a:lnTo>
                  <a:lnTo>
                    <a:pt x="404" y="82"/>
                  </a:lnTo>
                  <a:lnTo>
                    <a:pt x="404" y="84"/>
                  </a:lnTo>
                  <a:lnTo>
                    <a:pt x="402" y="100"/>
                  </a:lnTo>
                  <a:lnTo>
                    <a:pt x="402" y="102"/>
                  </a:lnTo>
                  <a:lnTo>
                    <a:pt x="400" y="102"/>
                  </a:lnTo>
                  <a:lnTo>
                    <a:pt x="386" y="124"/>
                  </a:lnTo>
                  <a:lnTo>
                    <a:pt x="360" y="138"/>
                  </a:lnTo>
                  <a:lnTo>
                    <a:pt x="358" y="152"/>
                  </a:lnTo>
                  <a:lnTo>
                    <a:pt x="360" y="160"/>
                  </a:lnTo>
                  <a:lnTo>
                    <a:pt x="364" y="170"/>
                  </a:lnTo>
                  <a:lnTo>
                    <a:pt x="366" y="170"/>
                  </a:lnTo>
                  <a:lnTo>
                    <a:pt x="366" y="172"/>
                  </a:lnTo>
                  <a:lnTo>
                    <a:pt x="368" y="192"/>
                  </a:lnTo>
                  <a:lnTo>
                    <a:pt x="368" y="194"/>
                  </a:lnTo>
                  <a:lnTo>
                    <a:pt x="366" y="196"/>
                  </a:lnTo>
                  <a:lnTo>
                    <a:pt x="356" y="208"/>
                  </a:lnTo>
                  <a:lnTo>
                    <a:pt x="348" y="214"/>
                  </a:lnTo>
                  <a:lnTo>
                    <a:pt x="346" y="214"/>
                  </a:lnTo>
                  <a:lnTo>
                    <a:pt x="344" y="214"/>
                  </a:lnTo>
                  <a:lnTo>
                    <a:pt x="326" y="210"/>
                  </a:lnTo>
                  <a:lnTo>
                    <a:pt x="322" y="210"/>
                  </a:lnTo>
                  <a:lnTo>
                    <a:pt x="316" y="214"/>
                  </a:lnTo>
                  <a:lnTo>
                    <a:pt x="308" y="224"/>
                  </a:lnTo>
                  <a:lnTo>
                    <a:pt x="300" y="232"/>
                  </a:lnTo>
                  <a:lnTo>
                    <a:pt x="298" y="236"/>
                  </a:lnTo>
                  <a:lnTo>
                    <a:pt x="294" y="238"/>
                  </a:lnTo>
                  <a:lnTo>
                    <a:pt x="288" y="240"/>
                  </a:lnTo>
                  <a:lnTo>
                    <a:pt x="282" y="238"/>
                  </a:lnTo>
                  <a:lnTo>
                    <a:pt x="280" y="238"/>
                  </a:lnTo>
                  <a:lnTo>
                    <a:pt x="278" y="234"/>
                  </a:lnTo>
                  <a:lnTo>
                    <a:pt x="276" y="230"/>
                  </a:lnTo>
                  <a:lnTo>
                    <a:pt x="276" y="224"/>
                  </a:lnTo>
                  <a:lnTo>
                    <a:pt x="276" y="220"/>
                  </a:lnTo>
                  <a:lnTo>
                    <a:pt x="276" y="214"/>
                  </a:lnTo>
                  <a:lnTo>
                    <a:pt x="272" y="218"/>
                  </a:lnTo>
                  <a:lnTo>
                    <a:pt x="270" y="220"/>
                  </a:lnTo>
                  <a:lnTo>
                    <a:pt x="264" y="222"/>
                  </a:lnTo>
                  <a:lnTo>
                    <a:pt x="260" y="218"/>
                  </a:lnTo>
                  <a:lnTo>
                    <a:pt x="258" y="212"/>
                  </a:lnTo>
                  <a:lnTo>
                    <a:pt x="256" y="192"/>
                  </a:lnTo>
                  <a:lnTo>
                    <a:pt x="252" y="176"/>
                  </a:lnTo>
                  <a:lnTo>
                    <a:pt x="244" y="168"/>
                  </a:lnTo>
                  <a:lnTo>
                    <a:pt x="244" y="166"/>
                  </a:lnTo>
                  <a:lnTo>
                    <a:pt x="226" y="128"/>
                  </a:lnTo>
                  <a:lnTo>
                    <a:pt x="220" y="116"/>
                  </a:lnTo>
                  <a:lnTo>
                    <a:pt x="220" y="114"/>
                  </a:lnTo>
                  <a:lnTo>
                    <a:pt x="216" y="94"/>
                  </a:lnTo>
                  <a:lnTo>
                    <a:pt x="214" y="90"/>
                  </a:lnTo>
                  <a:lnTo>
                    <a:pt x="212" y="92"/>
                  </a:lnTo>
                  <a:lnTo>
                    <a:pt x="204" y="100"/>
                  </a:lnTo>
                  <a:lnTo>
                    <a:pt x="200" y="104"/>
                  </a:lnTo>
                  <a:lnTo>
                    <a:pt x="196" y="102"/>
                  </a:lnTo>
                  <a:lnTo>
                    <a:pt x="188" y="96"/>
                  </a:lnTo>
                  <a:lnTo>
                    <a:pt x="176" y="90"/>
                  </a:lnTo>
                  <a:lnTo>
                    <a:pt x="174" y="88"/>
                  </a:lnTo>
                  <a:lnTo>
                    <a:pt x="172" y="88"/>
                  </a:lnTo>
                  <a:lnTo>
                    <a:pt x="172" y="86"/>
                  </a:lnTo>
                  <a:lnTo>
                    <a:pt x="172" y="70"/>
                  </a:lnTo>
                  <a:lnTo>
                    <a:pt x="168" y="58"/>
                  </a:lnTo>
                  <a:lnTo>
                    <a:pt x="162" y="42"/>
                  </a:lnTo>
                  <a:lnTo>
                    <a:pt x="156" y="42"/>
                  </a:lnTo>
                  <a:lnTo>
                    <a:pt x="156" y="50"/>
                  </a:lnTo>
                  <a:lnTo>
                    <a:pt x="154" y="58"/>
                  </a:lnTo>
                  <a:lnTo>
                    <a:pt x="150" y="64"/>
                  </a:lnTo>
                  <a:lnTo>
                    <a:pt x="144" y="70"/>
                  </a:lnTo>
                  <a:lnTo>
                    <a:pt x="142" y="78"/>
                  </a:lnTo>
                  <a:lnTo>
                    <a:pt x="138" y="82"/>
                  </a:lnTo>
                  <a:lnTo>
                    <a:pt x="134" y="86"/>
                  </a:lnTo>
                  <a:lnTo>
                    <a:pt x="130" y="86"/>
                  </a:lnTo>
                  <a:lnTo>
                    <a:pt x="128" y="86"/>
                  </a:lnTo>
                  <a:lnTo>
                    <a:pt x="124" y="84"/>
                  </a:lnTo>
                  <a:lnTo>
                    <a:pt x="122" y="84"/>
                  </a:lnTo>
                  <a:lnTo>
                    <a:pt x="118" y="82"/>
                  </a:lnTo>
                  <a:lnTo>
                    <a:pt x="118" y="78"/>
                  </a:lnTo>
                  <a:lnTo>
                    <a:pt x="116" y="66"/>
                  </a:lnTo>
                  <a:lnTo>
                    <a:pt x="116" y="62"/>
                  </a:lnTo>
                  <a:lnTo>
                    <a:pt x="106" y="56"/>
                  </a:lnTo>
                  <a:lnTo>
                    <a:pt x="104" y="54"/>
                  </a:lnTo>
                  <a:lnTo>
                    <a:pt x="102" y="50"/>
                  </a:lnTo>
                  <a:lnTo>
                    <a:pt x="100" y="42"/>
                  </a:lnTo>
                  <a:lnTo>
                    <a:pt x="104" y="6"/>
                  </a:lnTo>
                  <a:lnTo>
                    <a:pt x="102" y="0"/>
                  </a:lnTo>
                  <a:lnTo>
                    <a:pt x="88" y="14"/>
                  </a:lnTo>
                  <a:lnTo>
                    <a:pt x="80" y="20"/>
                  </a:lnTo>
                  <a:lnTo>
                    <a:pt x="78" y="26"/>
                  </a:lnTo>
                  <a:lnTo>
                    <a:pt x="82" y="36"/>
                  </a:lnTo>
                  <a:lnTo>
                    <a:pt x="82" y="44"/>
                  </a:lnTo>
                  <a:lnTo>
                    <a:pt x="82" y="48"/>
                  </a:lnTo>
                  <a:lnTo>
                    <a:pt x="80" y="54"/>
                  </a:lnTo>
                  <a:lnTo>
                    <a:pt x="76" y="58"/>
                  </a:lnTo>
                  <a:lnTo>
                    <a:pt x="72" y="60"/>
                  </a:lnTo>
                  <a:lnTo>
                    <a:pt x="56" y="66"/>
                  </a:lnTo>
                  <a:lnTo>
                    <a:pt x="52" y="68"/>
                  </a:lnTo>
                  <a:lnTo>
                    <a:pt x="52" y="74"/>
                  </a:lnTo>
                  <a:lnTo>
                    <a:pt x="52" y="96"/>
                  </a:lnTo>
                  <a:lnTo>
                    <a:pt x="54" y="104"/>
                  </a:lnTo>
                  <a:lnTo>
                    <a:pt x="54" y="106"/>
                  </a:lnTo>
                  <a:lnTo>
                    <a:pt x="56" y="108"/>
                  </a:lnTo>
                  <a:lnTo>
                    <a:pt x="64" y="108"/>
                  </a:lnTo>
                  <a:lnTo>
                    <a:pt x="68" y="108"/>
                  </a:lnTo>
                  <a:lnTo>
                    <a:pt x="72" y="106"/>
                  </a:lnTo>
                  <a:lnTo>
                    <a:pt x="76" y="104"/>
                  </a:lnTo>
                  <a:lnTo>
                    <a:pt x="92" y="138"/>
                  </a:lnTo>
                  <a:lnTo>
                    <a:pt x="92" y="140"/>
                  </a:lnTo>
                  <a:lnTo>
                    <a:pt x="88" y="184"/>
                  </a:lnTo>
                  <a:lnTo>
                    <a:pt x="82" y="216"/>
                  </a:lnTo>
                  <a:lnTo>
                    <a:pt x="78" y="238"/>
                  </a:lnTo>
                  <a:lnTo>
                    <a:pt x="72" y="250"/>
                  </a:lnTo>
                  <a:lnTo>
                    <a:pt x="68" y="254"/>
                  </a:lnTo>
                  <a:lnTo>
                    <a:pt x="62" y="256"/>
                  </a:lnTo>
                  <a:lnTo>
                    <a:pt x="54" y="254"/>
                  </a:lnTo>
                  <a:lnTo>
                    <a:pt x="48" y="252"/>
                  </a:lnTo>
                  <a:lnTo>
                    <a:pt x="22" y="298"/>
                  </a:lnTo>
                  <a:lnTo>
                    <a:pt x="12" y="312"/>
                  </a:lnTo>
                  <a:lnTo>
                    <a:pt x="6" y="318"/>
                  </a:lnTo>
                  <a:lnTo>
                    <a:pt x="8" y="318"/>
                  </a:lnTo>
                  <a:lnTo>
                    <a:pt x="6" y="320"/>
                  </a:lnTo>
                  <a:lnTo>
                    <a:pt x="4" y="326"/>
                  </a:lnTo>
                  <a:lnTo>
                    <a:pt x="4" y="348"/>
                  </a:lnTo>
                  <a:lnTo>
                    <a:pt x="8" y="352"/>
                  </a:lnTo>
                  <a:lnTo>
                    <a:pt x="10" y="352"/>
                  </a:lnTo>
                  <a:lnTo>
                    <a:pt x="12" y="354"/>
                  </a:lnTo>
                  <a:lnTo>
                    <a:pt x="4" y="364"/>
                  </a:lnTo>
                  <a:close/>
                </a:path>
              </a:pathLst>
            </a:custGeom>
            <a:noFill/>
            <a:ln w="3175" cap="flat" cmpd="sng">
              <a:solidFill>
                <a:schemeClr val="bg2"/>
              </a:solidFill>
              <a:bevel/>
              <a:headEnd/>
              <a:tailEnd/>
            </a:ln>
          </p:spPr>
          <p:txBody>
            <a:bodyPr anchor="ctr"/>
            <a:lstStyle/>
            <a:p>
              <a:endParaRPr lang="zh-CN" altLang="en-US"/>
            </a:p>
          </p:txBody>
        </p:sp>
        <p:sp>
          <p:nvSpPr>
            <p:cNvPr id="8204" name="Freeform 12"/>
            <p:cNvSpPr>
              <a:spLocks/>
            </p:cNvSpPr>
            <p:nvPr/>
          </p:nvSpPr>
          <p:spPr bwMode="auto">
            <a:xfrm>
              <a:off x="3039851" y="3369257"/>
              <a:ext cx="687457" cy="594364"/>
            </a:xfrm>
            <a:custGeom>
              <a:avLst/>
              <a:gdLst/>
              <a:ahLst/>
              <a:cxnLst>
                <a:cxn ang="0">
                  <a:pos x="288" y="8"/>
                </a:cxn>
                <a:cxn ang="0">
                  <a:pos x="276" y="24"/>
                </a:cxn>
                <a:cxn ang="0">
                  <a:pos x="264" y="20"/>
                </a:cxn>
                <a:cxn ang="0">
                  <a:pos x="260" y="10"/>
                </a:cxn>
                <a:cxn ang="0">
                  <a:pos x="252" y="0"/>
                </a:cxn>
                <a:cxn ang="0">
                  <a:pos x="248" y="20"/>
                </a:cxn>
                <a:cxn ang="0">
                  <a:pos x="236" y="36"/>
                </a:cxn>
                <a:cxn ang="0">
                  <a:pos x="208" y="44"/>
                </a:cxn>
                <a:cxn ang="0">
                  <a:pos x="188" y="58"/>
                </a:cxn>
                <a:cxn ang="0">
                  <a:pos x="184" y="52"/>
                </a:cxn>
                <a:cxn ang="0">
                  <a:pos x="168" y="60"/>
                </a:cxn>
                <a:cxn ang="0">
                  <a:pos x="160" y="50"/>
                </a:cxn>
                <a:cxn ang="0">
                  <a:pos x="132" y="56"/>
                </a:cxn>
                <a:cxn ang="0">
                  <a:pos x="170" y="82"/>
                </a:cxn>
                <a:cxn ang="0">
                  <a:pos x="176" y="110"/>
                </a:cxn>
                <a:cxn ang="0">
                  <a:pos x="160" y="122"/>
                </a:cxn>
                <a:cxn ang="0">
                  <a:pos x="114" y="126"/>
                </a:cxn>
                <a:cxn ang="0">
                  <a:pos x="94" y="142"/>
                </a:cxn>
                <a:cxn ang="0">
                  <a:pos x="60" y="142"/>
                </a:cxn>
                <a:cxn ang="0">
                  <a:pos x="16" y="148"/>
                </a:cxn>
                <a:cxn ang="0">
                  <a:pos x="0" y="172"/>
                </a:cxn>
                <a:cxn ang="0">
                  <a:pos x="22" y="200"/>
                </a:cxn>
                <a:cxn ang="0">
                  <a:pos x="30" y="190"/>
                </a:cxn>
                <a:cxn ang="0">
                  <a:pos x="56" y="192"/>
                </a:cxn>
                <a:cxn ang="0">
                  <a:pos x="62" y="236"/>
                </a:cxn>
                <a:cxn ang="0">
                  <a:pos x="52" y="260"/>
                </a:cxn>
                <a:cxn ang="0">
                  <a:pos x="76" y="296"/>
                </a:cxn>
                <a:cxn ang="0">
                  <a:pos x="68" y="320"/>
                </a:cxn>
                <a:cxn ang="0">
                  <a:pos x="70" y="330"/>
                </a:cxn>
                <a:cxn ang="0">
                  <a:pos x="108" y="320"/>
                </a:cxn>
                <a:cxn ang="0">
                  <a:pos x="160" y="330"/>
                </a:cxn>
                <a:cxn ang="0">
                  <a:pos x="196" y="302"/>
                </a:cxn>
                <a:cxn ang="0">
                  <a:pos x="216" y="290"/>
                </a:cxn>
                <a:cxn ang="0">
                  <a:pos x="248" y="280"/>
                </a:cxn>
                <a:cxn ang="0">
                  <a:pos x="256" y="292"/>
                </a:cxn>
                <a:cxn ang="0">
                  <a:pos x="274" y="292"/>
                </a:cxn>
                <a:cxn ang="0">
                  <a:pos x="288" y="298"/>
                </a:cxn>
                <a:cxn ang="0">
                  <a:pos x="296" y="290"/>
                </a:cxn>
                <a:cxn ang="0">
                  <a:pos x="312" y="276"/>
                </a:cxn>
                <a:cxn ang="0">
                  <a:pos x="324" y="268"/>
                </a:cxn>
                <a:cxn ang="0">
                  <a:pos x="342" y="256"/>
                </a:cxn>
                <a:cxn ang="0">
                  <a:pos x="352" y="248"/>
                </a:cxn>
                <a:cxn ang="0">
                  <a:pos x="366" y="244"/>
                </a:cxn>
                <a:cxn ang="0">
                  <a:pos x="380" y="236"/>
                </a:cxn>
                <a:cxn ang="0">
                  <a:pos x="376" y="218"/>
                </a:cxn>
                <a:cxn ang="0">
                  <a:pos x="376" y="188"/>
                </a:cxn>
                <a:cxn ang="0">
                  <a:pos x="380" y="160"/>
                </a:cxn>
                <a:cxn ang="0">
                  <a:pos x="348" y="166"/>
                </a:cxn>
                <a:cxn ang="0">
                  <a:pos x="356" y="132"/>
                </a:cxn>
                <a:cxn ang="0">
                  <a:pos x="366" y="84"/>
                </a:cxn>
                <a:cxn ang="0">
                  <a:pos x="372" y="68"/>
                </a:cxn>
                <a:cxn ang="0">
                  <a:pos x="360" y="64"/>
                </a:cxn>
                <a:cxn ang="0">
                  <a:pos x="348" y="82"/>
                </a:cxn>
                <a:cxn ang="0">
                  <a:pos x="336" y="76"/>
                </a:cxn>
                <a:cxn ang="0">
                  <a:pos x="332" y="60"/>
                </a:cxn>
                <a:cxn ang="0">
                  <a:pos x="316" y="60"/>
                </a:cxn>
                <a:cxn ang="0">
                  <a:pos x="304" y="24"/>
                </a:cxn>
              </a:cxnLst>
              <a:rect l="0" t="0" r="r" b="b"/>
              <a:pathLst>
                <a:path w="384" h="332">
                  <a:moveTo>
                    <a:pt x="300" y="6"/>
                  </a:moveTo>
                  <a:lnTo>
                    <a:pt x="296" y="4"/>
                  </a:lnTo>
                  <a:lnTo>
                    <a:pt x="288" y="8"/>
                  </a:lnTo>
                  <a:lnTo>
                    <a:pt x="284" y="14"/>
                  </a:lnTo>
                  <a:lnTo>
                    <a:pt x="280" y="22"/>
                  </a:lnTo>
                  <a:lnTo>
                    <a:pt x="276" y="24"/>
                  </a:lnTo>
                  <a:lnTo>
                    <a:pt x="272" y="26"/>
                  </a:lnTo>
                  <a:lnTo>
                    <a:pt x="268" y="24"/>
                  </a:lnTo>
                  <a:lnTo>
                    <a:pt x="264" y="20"/>
                  </a:lnTo>
                  <a:lnTo>
                    <a:pt x="262" y="20"/>
                  </a:lnTo>
                  <a:lnTo>
                    <a:pt x="260" y="12"/>
                  </a:lnTo>
                  <a:lnTo>
                    <a:pt x="260" y="10"/>
                  </a:lnTo>
                  <a:lnTo>
                    <a:pt x="258" y="0"/>
                  </a:lnTo>
                  <a:lnTo>
                    <a:pt x="254" y="0"/>
                  </a:lnTo>
                  <a:lnTo>
                    <a:pt x="252" y="0"/>
                  </a:lnTo>
                  <a:lnTo>
                    <a:pt x="250" y="8"/>
                  </a:lnTo>
                  <a:lnTo>
                    <a:pt x="250" y="20"/>
                  </a:lnTo>
                  <a:lnTo>
                    <a:pt x="248" y="20"/>
                  </a:lnTo>
                  <a:lnTo>
                    <a:pt x="240" y="34"/>
                  </a:lnTo>
                  <a:lnTo>
                    <a:pt x="238" y="36"/>
                  </a:lnTo>
                  <a:lnTo>
                    <a:pt x="236" y="36"/>
                  </a:lnTo>
                  <a:lnTo>
                    <a:pt x="216" y="34"/>
                  </a:lnTo>
                  <a:lnTo>
                    <a:pt x="216" y="36"/>
                  </a:lnTo>
                  <a:lnTo>
                    <a:pt x="208" y="44"/>
                  </a:lnTo>
                  <a:lnTo>
                    <a:pt x="212" y="50"/>
                  </a:lnTo>
                  <a:lnTo>
                    <a:pt x="206" y="58"/>
                  </a:lnTo>
                  <a:lnTo>
                    <a:pt x="188" y="58"/>
                  </a:lnTo>
                  <a:lnTo>
                    <a:pt x="188" y="56"/>
                  </a:lnTo>
                  <a:lnTo>
                    <a:pt x="188" y="54"/>
                  </a:lnTo>
                  <a:lnTo>
                    <a:pt x="184" y="52"/>
                  </a:lnTo>
                  <a:lnTo>
                    <a:pt x="182" y="58"/>
                  </a:lnTo>
                  <a:lnTo>
                    <a:pt x="180" y="60"/>
                  </a:lnTo>
                  <a:lnTo>
                    <a:pt x="168" y="60"/>
                  </a:lnTo>
                  <a:lnTo>
                    <a:pt x="160" y="54"/>
                  </a:lnTo>
                  <a:lnTo>
                    <a:pt x="160" y="52"/>
                  </a:lnTo>
                  <a:lnTo>
                    <a:pt x="160" y="50"/>
                  </a:lnTo>
                  <a:lnTo>
                    <a:pt x="146" y="48"/>
                  </a:lnTo>
                  <a:lnTo>
                    <a:pt x="136" y="52"/>
                  </a:lnTo>
                  <a:lnTo>
                    <a:pt x="132" y="56"/>
                  </a:lnTo>
                  <a:lnTo>
                    <a:pt x="148" y="74"/>
                  </a:lnTo>
                  <a:lnTo>
                    <a:pt x="168" y="80"/>
                  </a:lnTo>
                  <a:lnTo>
                    <a:pt x="170" y="82"/>
                  </a:lnTo>
                  <a:lnTo>
                    <a:pt x="180" y="92"/>
                  </a:lnTo>
                  <a:lnTo>
                    <a:pt x="176" y="108"/>
                  </a:lnTo>
                  <a:lnTo>
                    <a:pt x="176" y="110"/>
                  </a:lnTo>
                  <a:lnTo>
                    <a:pt x="162" y="120"/>
                  </a:lnTo>
                  <a:lnTo>
                    <a:pt x="162" y="122"/>
                  </a:lnTo>
                  <a:lnTo>
                    <a:pt x="160" y="122"/>
                  </a:lnTo>
                  <a:lnTo>
                    <a:pt x="138" y="128"/>
                  </a:lnTo>
                  <a:lnTo>
                    <a:pt x="124" y="130"/>
                  </a:lnTo>
                  <a:lnTo>
                    <a:pt x="114" y="126"/>
                  </a:lnTo>
                  <a:lnTo>
                    <a:pt x="110" y="126"/>
                  </a:lnTo>
                  <a:lnTo>
                    <a:pt x="104" y="134"/>
                  </a:lnTo>
                  <a:lnTo>
                    <a:pt x="94" y="142"/>
                  </a:lnTo>
                  <a:lnTo>
                    <a:pt x="92" y="142"/>
                  </a:lnTo>
                  <a:lnTo>
                    <a:pt x="78" y="148"/>
                  </a:lnTo>
                  <a:lnTo>
                    <a:pt x="60" y="142"/>
                  </a:lnTo>
                  <a:lnTo>
                    <a:pt x="24" y="144"/>
                  </a:lnTo>
                  <a:lnTo>
                    <a:pt x="16" y="146"/>
                  </a:lnTo>
                  <a:lnTo>
                    <a:pt x="16" y="148"/>
                  </a:lnTo>
                  <a:lnTo>
                    <a:pt x="8" y="148"/>
                  </a:lnTo>
                  <a:lnTo>
                    <a:pt x="0" y="160"/>
                  </a:lnTo>
                  <a:lnTo>
                    <a:pt x="0" y="172"/>
                  </a:lnTo>
                  <a:lnTo>
                    <a:pt x="8" y="192"/>
                  </a:lnTo>
                  <a:lnTo>
                    <a:pt x="18" y="196"/>
                  </a:lnTo>
                  <a:lnTo>
                    <a:pt x="22" y="200"/>
                  </a:lnTo>
                  <a:lnTo>
                    <a:pt x="28" y="192"/>
                  </a:lnTo>
                  <a:lnTo>
                    <a:pt x="28" y="190"/>
                  </a:lnTo>
                  <a:lnTo>
                    <a:pt x="30" y="190"/>
                  </a:lnTo>
                  <a:lnTo>
                    <a:pt x="42" y="188"/>
                  </a:lnTo>
                  <a:lnTo>
                    <a:pt x="44" y="188"/>
                  </a:lnTo>
                  <a:lnTo>
                    <a:pt x="56" y="192"/>
                  </a:lnTo>
                  <a:lnTo>
                    <a:pt x="68" y="220"/>
                  </a:lnTo>
                  <a:lnTo>
                    <a:pt x="66" y="220"/>
                  </a:lnTo>
                  <a:lnTo>
                    <a:pt x="62" y="236"/>
                  </a:lnTo>
                  <a:lnTo>
                    <a:pt x="58" y="244"/>
                  </a:lnTo>
                  <a:lnTo>
                    <a:pt x="58" y="246"/>
                  </a:lnTo>
                  <a:lnTo>
                    <a:pt x="52" y="260"/>
                  </a:lnTo>
                  <a:lnTo>
                    <a:pt x="52" y="276"/>
                  </a:lnTo>
                  <a:lnTo>
                    <a:pt x="62" y="286"/>
                  </a:lnTo>
                  <a:lnTo>
                    <a:pt x="76" y="296"/>
                  </a:lnTo>
                  <a:lnTo>
                    <a:pt x="76" y="298"/>
                  </a:lnTo>
                  <a:lnTo>
                    <a:pt x="78" y="298"/>
                  </a:lnTo>
                  <a:lnTo>
                    <a:pt x="68" y="320"/>
                  </a:lnTo>
                  <a:lnTo>
                    <a:pt x="66" y="332"/>
                  </a:lnTo>
                  <a:lnTo>
                    <a:pt x="68" y="330"/>
                  </a:lnTo>
                  <a:lnTo>
                    <a:pt x="70" y="330"/>
                  </a:lnTo>
                  <a:lnTo>
                    <a:pt x="78" y="326"/>
                  </a:lnTo>
                  <a:lnTo>
                    <a:pt x="92" y="318"/>
                  </a:lnTo>
                  <a:lnTo>
                    <a:pt x="108" y="320"/>
                  </a:lnTo>
                  <a:lnTo>
                    <a:pt x="110" y="320"/>
                  </a:lnTo>
                  <a:lnTo>
                    <a:pt x="134" y="330"/>
                  </a:lnTo>
                  <a:lnTo>
                    <a:pt x="160" y="330"/>
                  </a:lnTo>
                  <a:lnTo>
                    <a:pt x="168" y="320"/>
                  </a:lnTo>
                  <a:lnTo>
                    <a:pt x="182" y="312"/>
                  </a:lnTo>
                  <a:lnTo>
                    <a:pt x="196" y="302"/>
                  </a:lnTo>
                  <a:lnTo>
                    <a:pt x="196" y="300"/>
                  </a:lnTo>
                  <a:lnTo>
                    <a:pt x="206" y="298"/>
                  </a:lnTo>
                  <a:lnTo>
                    <a:pt x="216" y="290"/>
                  </a:lnTo>
                  <a:lnTo>
                    <a:pt x="228" y="274"/>
                  </a:lnTo>
                  <a:lnTo>
                    <a:pt x="246" y="280"/>
                  </a:lnTo>
                  <a:lnTo>
                    <a:pt x="248" y="280"/>
                  </a:lnTo>
                  <a:lnTo>
                    <a:pt x="248" y="282"/>
                  </a:lnTo>
                  <a:lnTo>
                    <a:pt x="252" y="290"/>
                  </a:lnTo>
                  <a:lnTo>
                    <a:pt x="256" y="292"/>
                  </a:lnTo>
                  <a:lnTo>
                    <a:pt x="266" y="292"/>
                  </a:lnTo>
                  <a:lnTo>
                    <a:pt x="268" y="292"/>
                  </a:lnTo>
                  <a:lnTo>
                    <a:pt x="274" y="292"/>
                  </a:lnTo>
                  <a:lnTo>
                    <a:pt x="276" y="292"/>
                  </a:lnTo>
                  <a:lnTo>
                    <a:pt x="276" y="294"/>
                  </a:lnTo>
                  <a:lnTo>
                    <a:pt x="288" y="298"/>
                  </a:lnTo>
                  <a:lnTo>
                    <a:pt x="292" y="298"/>
                  </a:lnTo>
                  <a:lnTo>
                    <a:pt x="294" y="296"/>
                  </a:lnTo>
                  <a:lnTo>
                    <a:pt x="296" y="290"/>
                  </a:lnTo>
                  <a:lnTo>
                    <a:pt x="296" y="288"/>
                  </a:lnTo>
                  <a:lnTo>
                    <a:pt x="302" y="284"/>
                  </a:lnTo>
                  <a:lnTo>
                    <a:pt x="312" y="276"/>
                  </a:lnTo>
                  <a:lnTo>
                    <a:pt x="314" y="276"/>
                  </a:lnTo>
                  <a:lnTo>
                    <a:pt x="322" y="276"/>
                  </a:lnTo>
                  <a:lnTo>
                    <a:pt x="324" y="268"/>
                  </a:lnTo>
                  <a:lnTo>
                    <a:pt x="330" y="262"/>
                  </a:lnTo>
                  <a:lnTo>
                    <a:pt x="336" y="258"/>
                  </a:lnTo>
                  <a:lnTo>
                    <a:pt x="342" y="256"/>
                  </a:lnTo>
                  <a:lnTo>
                    <a:pt x="346" y="252"/>
                  </a:lnTo>
                  <a:lnTo>
                    <a:pt x="348" y="252"/>
                  </a:lnTo>
                  <a:lnTo>
                    <a:pt x="352" y="248"/>
                  </a:lnTo>
                  <a:lnTo>
                    <a:pt x="352" y="246"/>
                  </a:lnTo>
                  <a:lnTo>
                    <a:pt x="354" y="246"/>
                  </a:lnTo>
                  <a:lnTo>
                    <a:pt x="366" y="244"/>
                  </a:lnTo>
                  <a:lnTo>
                    <a:pt x="374" y="244"/>
                  </a:lnTo>
                  <a:lnTo>
                    <a:pt x="376" y="240"/>
                  </a:lnTo>
                  <a:lnTo>
                    <a:pt x="380" y="236"/>
                  </a:lnTo>
                  <a:lnTo>
                    <a:pt x="384" y="228"/>
                  </a:lnTo>
                  <a:lnTo>
                    <a:pt x="382" y="228"/>
                  </a:lnTo>
                  <a:lnTo>
                    <a:pt x="376" y="218"/>
                  </a:lnTo>
                  <a:lnTo>
                    <a:pt x="372" y="206"/>
                  </a:lnTo>
                  <a:lnTo>
                    <a:pt x="372" y="204"/>
                  </a:lnTo>
                  <a:lnTo>
                    <a:pt x="376" y="188"/>
                  </a:lnTo>
                  <a:lnTo>
                    <a:pt x="376" y="180"/>
                  </a:lnTo>
                  <a:lnTo>
                    <a:pt x="380" y="174"/>
                  </a:lnTo>
                  <a:lnTo>
                    <a:pt x="380" y="160"/>
                  </a:lnTo>
                  <a:lnTo>
                    <a:pt x="378" y="158"/>
                  </a:lnTo>
                  <a:lnTo>
                    <a:pt x="372" y="156"/>
                  </a:lnTo>
                  <a:lnTo>
                    <a:pt x="348" y="166"/>
                  </a:lnTo>
                  <a:lnTo>
                    <a:pt x="348" y="140"/>
                  </a:lnTo>
                  <a:lnTo>
                    <a:pt x="350" y="136"/>
                  </a:lnTo>
                  <a:lnTo>
                    <a:pt x="356" y="132"/>
                  </a:lnTo>
                  <a:lnTo>
                    <a:pt x="372" y="120"/>
                  </a:lnTo>
                  <a:lnTo>
                    <a:pt x="366" y="92"/>
                  </a:lnTo>
                  <a:lnTo>
                    <a:pt x="366" y="84"/>
                  </a:lnTo>
                  <a:lnTo>
                    <a:pt x="366" y="78"/>
                  </a:lnTo>
                  <a:lnTo>
                    <a:pt x="368" y="74"/>
                  </a:lnTo>
                  <a:lnTo>
                    <a:pt x="372" y="68"/>
                  </a:lnTo>
                  <a:lnTo>
                    <a:pt x="372" y="64"/>
                  </a:lnTo>
                  <a:lnTo>
                    <a:pt x="364" y="64"/>
                  </a:lnTo>
                  <a:lnTo>
                    <a:pt x="360" y="64"/>
                  </a:lnTo>
                  <a:lnTo>
                    <a:pt x="356" y="76"/>
                  </a:lnTo>
                  <a:lnTo>
                    <a:pt x="352" y="80"/>
                  </a:lnTo>
                  <a:lnTo>
                    <a:pt x="348" y="82"/>
                  </a:lnTo>
                  <a:lnTo>
                    <a:pt x="346" y="82"/>
                  </a:lnTo>
                  <a:lnTo>
                    <a:pt x="338" y="76"/>
                  </a:lnTo>
                  <a:lnTo>
                    <a:pt x="336" y="76"/>
                  </a:lnTo>
                  <a:lnTo>
                    <a:pt x="336" y="74"/>
                  </a:lnTo>
                  <a:lnTo>
                    <a:pt x="334" y="68"/>
                  </a:lnTo>
                  <a:lnTo>
                    <a:pt x="332" y="60"/>
                  </a:lnTo>
                  <a:lnTo>
                    <a:pt x="332" y="64"/>
                  </a:lnTo>
                  <a:lnTo>
                    <a:pt x="316" y="64"/>
                  </a:lnTo>
                  <a:lnTo>
                    <a:pt x="316" y="60"/>
                  </a:lnTo>
                  <a:lnTo>
                    <a:pt x="312" y="52"/>
                  </a:lnTo>
                  <a:lnTo>
                    <a:pt x="312" y="40"/>
                  </a:lnTo>
                  <a:lnTo>
                    <a:pt x="304" y="24"/>
                  </a:lnTo>
                  <a:lnTo>
                    <a:pt x="304" y="12"/>
                  </a:lnTo>
                  <a:lnTo>
                    <a:pt x="300" y="6"/>
                  </a:lnTo>
                  <a:close/>
                </a:path>
              </a:pathLst>
            </a:custGeom>
            <a:noFill/>
            <a:ln w="3175" cap="flat" cmpd="sng">
              <a:solidFill>
                <a:schemeClr val="bg2"/>
              </a:solidFill>
              <a:bevel/>
              <a:headEnd/>
              <a:tailEnd/>
            </a:ln>
          </p:spPr>
          <p:txBody>
            <a:bodyPr anchor="ctr"/>
            <a:lstStyle/>
            <a:p>
              <a:endParaRPr lang="zh-CN" altLang="en-US"/>
            </a:p>
          </p:txBody>
        </p:sp>
        <p:sp>
          <p:nvSpPr>
            <p:cNvPr id="8205" name="Freeform 13"/>
            <p:cNvSpPr>
              <a:spLocks/>
            </p:cNvSpPr>
            <p:nvPr/>
          </p:nvSpPr>
          <p:spPr bwMode="auto">
            <a:xfrm>
              <a:off x="3150847" y="3734469"/>
              <a:ext cx="898707" cy="683877"/>
            </a:xfrm>
            <a:custGeom>
              <a:avLst/>
              <a:gdLst/>
              <a:ahLst/>
              <a:cxnLst>
                <a:cxn ang="0">
                  <a:pos x="404" y="12"/>
                </a:cxn>
                <a:cxn ang="0">
                  <a:pos x="378" y="36"/>
                </a:cxn>
                <a:cxn ang="0">
                  <a:pos x="360" y="32"/>
                </a:cxn>
                <a:cxn ang="0">
                  <a:pos x="336" y="42"/>
                </a:cxn>
                <a:cxn ang="0">
                  <a:pos x="316" y="48"/>
                </a:cxn>
                <a:cxn ang="0">
                  <a:pos x="282" y="60"/>
                </a:cxn>
                <a:cxn ang="0">
                  <a:pos x="270" y="70"/>
                </a:cxn>
                <a:cxn ang="0">
                  <a:pos x="276" y="82"/>
                </a:cxn>
                <a:cxn ang="0">
                  <a:pos x="240" y="94"/>
                </a:cxn>
                <a:cxn ang="0">
                  <a:pos x="224" y="102"/>
                </a:cxn>
                <a:cxn ang="0">
                  <a:pos x="194" y="98"/>
                </a:cxn>
                <a:cxn ang="0">
                  <a:pos x="178" y="84"/>
                </a:cxn>
                <a:cxn ang="0">
                  <a:pos x="160" y="92"/>
                </a:cxn>
                <a:cxn ang="0">
                  <a:pos x="148" y="102"/>
                </a:cxn>
                <a:cxn ang="0">
                  <a:pos x="126" y="116"/>
                </a:cxn>
                <a:cxn ang="0">
                  <a:pos x="70" y="134"/>
                </a:cxn>
                <a:cxn ang="0">
                  <a:pos x="20" y="130"/>
                </a:cxn>
                <a:cxn ang="0">
                  <a:pos x="2" y="138"/>
                </a:cxn>
                <a:cxn ang="0">
                  <a:pos x="4" y="158"/>
                </a:cxn>
                <a:cxn ang="0">
                  <a:pos x="40" y="158"/>
                </a:cxn>
                <a:cxn ang="0">
                  <a:pos x="42" y="186"/>
                </a:cxn>
                <a:cxn ang="0">
                  <a:pos x="74" y="184"/>
                </a:cxn>
                <a:cxn ang="0">
                  <a:pos x="94" y="176"/>
                </a:cxn>
                <a:cxn ang="0">
                  <a:pos x="104" y="188"/>
                </a:cxn>
                <a:cxn ang="0">
                  <a:pos x="92" y="232"/>
                </a:cxn>
                <a:cxn ang="0">
                  <a:pos x="70" y="248"/>
                </a:cxn>
                <a:cxn ang="0">
                  <a:pos x="108" y="258"/>
                </a:cxn>
                <a:cxn ang="0">
                  <a:pos x="152" y="268"/>
                </a:cxn>
                <a:cxn ang="0">
                  <a:pos x="140" y="300"/>
                </a:cxn>
                <a:cxn ang="0">
                  <a:pos x="144" y="326"/>
                </a:cxn>
                <a:cxn ang="0">
                  <a:pos x="194" y="356"/>
                </a:cxn>
                <a:cxn ang="0">
                  <a:pos x="216" y="348"/>
                </a:cxn>
                <a:cxn ang="0">
                  <a:pos x="252" y="360"/>
                </a:cxn>
                <a:cxn ang="0">
                  <a:pos x="256" y="358"/>
                </a:cxn>
                <a:cxn ang="0">
                  <a:pos x="294" y="368"/>
                </a:cxn>
                <a:cxn ang="0">
                  <a:pos x="314" y="370"/>
                </a:cxn>
                <a:cxn ang="0">
                  <a:pos x="320" y="380"/>
                </a:cxn>
                <a:cxn ang="0">
                  <a:pos x="358" y="356"/>
                </a:cxn>
                <a:cxn ang="0">
                  <a:pos x="392" y="328"/>
                </a:cxn>
                <a:cxn ang="0">
                  <a:pos x="400" y="306"/>
                </a:cxn>
                <a:cxn ang="0">
                  <a:pos x="410" y="288"/>
                </a:cxn>
                <a:cxn ang="0">
                  <a:pos x="414" y="274"/>
                </a:cxn>
                <a:cxn ang="0">
                  <a:pos x="456" y="230"/>
                </a:cxn>
                <a:cxn ang="0">
                  <a:pos x="466" y="210"/>
                </a:cxn>
                <a:cxn ang="0">
                  <a:pos x="496" y="156"/>
                </a:cxn>
                <a:cxn ang="0">
                  <a:pos x="496" y="132"/>
                </a:cxn>
                <a:cxn ang="0">
                  <a:pos x="478" y="126"/>
                </a:cxn>
                <a:cxn ang="0">
                  <a:pos x="460" y="126"/>
                </a:cxn>
                <a:cxn ang="0">
                  <a:pos x="450" y="114"/>
                </a:cxn>
                <a:cxn ang="0">
                  <a:pos x="442" y="102"/>
                </a:cxn>
                <a:cxn ang="0">
                  <a:pos x="424" y="114"/>
                </a:cxn>
                <a:cxn ang="0">
                  <a:pos x="422" y="92"/>
                </a:cxn>
                <a:cxn ang="0">
                  <a:pos x="428" y="86"/>
                </a:cxn>
                <a:cxn ang="0">
                  <a:pos x="450" y="36"/>
                </a:cxn>
                <a:cxn ang="0">
                  <a:pos x="440" y="12"/>
                </a:cxn>
                <a:cxn ang="0">
                  <a:pos x="434" y="0"/>
                </a:cxn>
                <a:cxn ang="0">
                  <a:pos x="426" y="8"/>
                </a:cxn>
                <a:cxn ang="0">
                  <a:pos x="410" y="8"/>
                </a:cxn>
              </a:cxnLst>
              <a:rect l="0" t="0" r="r" b="b"/>
              <a:pathLst>
                <a:path w="502" h="382">
                  <a:moveTo>
                    <a:pt x="402" y="8"/>
                  </a:moveTo>
                  <a:lnTo>
                    <a:pt x="402" y="10"/>
                  </a:lnTo>
                  <a:lnTo>
                    <a:pt x="404" y="12"/>
                  </a:lnTo>
                  <a:lnTo>
                    <a:pt x="394" y="28"/>
                  </a:lnTo>
                  <a:lnTo>
                    <a:pt x="386" y="34"/>
                  </a:lnTo>
                  <a:lnTo>
                    <a:pt x="378" y="36"/>
                  </a:lnTo>
                  <a:lnTo>
                    <a:pt x="376" y="36"/>
                  </a:lnTo>
                  <a:lnTo>
                    <a:pt x="368" y="30"/>
                  </a:lnTo>
                  <a:lnTo>
                    <a:pt x="360" y="32"/>
                  </a:lnTo>
                  <a:lnTo>
                    <a:pt x="344" y="44"/>
                  </a:lnTo>
                  <a:lnTo>
                    <a:pt x="340" y="44"/>
                  </a:lnTo>
                  <a:lnTo>
                    <a:pt x="336" y="42"/>
                  </a:lnTo>
                  <a:lnTo>
                    <a:pt x="328" y="32"/>
                  </a:lnTo>
                  <a:lnTo>
                    <a:pt x="322" y="42"/>
                  </a:lnTo>
                  <a:lnTo>
                    <a:pt x="316" y="48"/>
                  </a:lnTo>
                  <a:lnTo>
                    <a:pt x="306" y="48"/>
                  </a:lnTo>
                  <a:lnTo>
                    <a:pt x="294" y="52"/>
                  </a:lnTo>
                  <a:lnTo>
                    <a:pt x="282" y="60"/>
                  </a:lnTo>
                  <a:lnTo>
                    <a:pt x="278" y="60"/>
                  </a:lnTo>
                  <a:lnTo>
                    <a:pt x="274" y="64"/>
                  </a:lnTo>
                  <a:lnTo>
                    <a:pt x="270" y="70"/>
                  </a:lnTo>
                  <a:lnTo>
                    <a:pt x="270" y="72"/>
                  </a:lnTo>
                  <a:lnTo>
                    <a:pt x="270" y="74"/>
                  </a:lnTo>
                  <a:lnTo>
                    <a:pt x="276" y="82"/>
                  </a:lnTo>
                  <a:lnTo>
                    <a:pt x="254" y="80"/>
                  </a:lnTo>
                  <a:lnTo>
                    <a:pt x="242" y="90"/>
                  </a:lnTo>
                  <a:lnTo>
                    <a:pt x="240" y="94"/>
                  </a:lnTo>
                  <a:lnTo>
                    <a:pt x="238" y="100"/>
                  </a:lnTo>
                  <a:lnTo>
                    <a:pt x="236" y="102"/>
                  </a:lnTo>
                  <a:lnTo>
                    <a:pt x="224" y="102"/>
                  </a:lnTo>
                  <a:lnTo>
                    <a:pt x="210" y="96"/>
                  </a:lnTo>
                  <a:lnTo>
                    <a:pt x="206" y="96"/>
                  </a:lnTo>
                  <a:lnTo>
                    <a:pt x="194" y="98"/>
                  </a:lnTo>
                  <a:lnTo>
                    <a:pt x="190" y="96"/>
                  </a:lnTo>
                  <a:lnTo>
                    <a:pt x="186" y="94"/>
                  </a:lnTo>
                  <a:lnTo>
                    <a:pt x="178" y="84"/>
                  </a:lnTo>
                  <a:lnTo>
                    <a:pt x="170" y="80"/>
                  </a:lnTo>
                  <a:lnTo>
                    <a:pt x="162" y="92"/>
                  </a:lnTo>
                  <a:lnTo>
                    <a:pt x="160" y="92"/>
                  </a:lnTo>
                  <a:lnTo>
                    <a:pt x="150" y="100"/>
                  </a:lnTo>
                  <a:lnTo>
                    <a:pt x="148" y="100"/>
                  </a:lnTo>
                  <a:lnTo>
                    <a:pt x="148" y="102"/>
                  </a:lnTo>
                  <a:lnTo>
                    <a:pt x="146" y="102"/>
                  </a:lnTo>
                  <a:lnTo>
                    <a:pt x="138" y="104"/>
                  </a:lnTo>
                  <a:lnTo>
                    <a:pt x="126" y="116"/>
                  </a:lnTo>
                  <a:lnTo>
                    <a:pt x="112" y="122"/>
                  </a:lnTo>
                  <a:lnTo>
                    <a:pt x="102" y="134"/>
                  </a:lnTo>
                  <a:lnTo>
                    <a:pt x="70" y="134"/>
                  </a:lnTo>
                  <a:lnTo>
                    <a:pt x="46" y="124"/>
                  </a:lnTo>
                  <a:lnTo>
                    <a:pt x="32" y="124"/>
                  </a:lnTo>
                  <a:lnTo>
                    <a:pt x="20" y="130"/>
                  </a:lnTo>
                  <a:lnTo>
                    <a:pt x="18" y="130"/>
                  </a:lnTo>
                  <a:lnTo>
                    <a:pt x="10" y="132"/>
                  </a:lnTo>
                  <a:lnTo>
                    <a:pt x="2" y="138"/>
                  </a:lnTo>
                  <a:lnTo>
                    <a:pt x="0" y="142"/>
                  </a:lnTo>
                  <a:lnTo>
                    <a:pt x="0" y="152"/>
                  </a:lnTo>
                  <a:lnTo>
                    <a:pt x="4" y="158"/>
                  </a:lnTo>
                  <a:lnTo>
                    <a:pt x="22" y="152"/>
                  </a:lnTo>
                  <a:lnTo>
                    <a:pt x="30" y="154"/>
                  </a:lnTo>
                  <a:lnTo>
                    <a:pt x="40" y="158"/>
                  </a:lnTo>
                  <a:lnTo>
                    <a:pt x="42" y="158"/>
                  </a:lnTo>
                  <a:lnTo>
                    <a:pt x="42" y="160"/>
                  </a:lnTo>
                  <a:lnTo>
                    <a:pt x="42" y="186"/>
                  </a:lnTo>
                  <a:lnTo>
                    <a:pt x="46" y="188"/>
                  </a:lnTo>
                  <a:lnTo>
                    <a:pt x="64" y="188"/>
                  </a:lnTo>
                  <a:lnTo>
                    <a:pt x="74" y="184"/>
                  </a:lnTo>
                  <a:lnTo>
                    <a:pt x="76" y="184"/>
                  </a:lnTo>
                  <a:lnTo>
                    <a:pt x="86" y="180"/>
                  </a:lnTo>
                  <a:lnTo>
                    <a:pt x="94" y="176"/>
                  </a:lnTo>
                  <a:lnTo>
                    <a:pt x="98" y="176"/>
                  </a:lnTo>
                  <a:lnTo>
                    <a:pt x="100" y="178"/>
                  </a:lnTo>
                  <a:lnTo>
                    <a:pt x="104" y="188"/>
                  </a:lnTo>
                  <a:lnTo>
                    <a:pt x="106" y="216"/>
                  </a:lnTo>
                  <a:lnTo>
                    <a:pt x="106" y="218"/>
                  </a:lnTo>
                  <a:lnTo>
                    <a:pt x="92" y="232"/>
                  </a:lnTo>
                  <a:lnTo>
                    <a:pt x="92" y="234"/>
                  </a:lnTo>
                  <a:lnTo>
                    <a:pt x="74" y="242"/>
                  </a:lnTo>
                  <a:lnTo>
                    <a:pt x="70" y="248"/>
                  </a:lnTo>
                  <a:lnTo>
                    <a:pt x="72" y="252"/>
                  </a:lnTo>
                  <a:lnTo>
                    <a:pt x="106" y="256"/>
                  </a:lnTo>
                  <a:lnTo>
                    <a:pt x="108" y="258"/>
                  </a:lnTo>
                  <a:lnTo>
                    <a:pt x="122" y="266"/>
                  </a:lnTo>
                  <a:lnTo>
                    <a:pt x="152" y="264"/>
                  </a:lnTo>
                  <a:lnTo>
                    <a:pt x="152" y="268"/>
                  </a:lnTo>
                  <a:lnTo>
                    <a:pt x="154" y="284"/>
                  </a:lnTo>
                  <a:lnTo>
                    <a:pt x="154" y="286"/>
                  </a:lnTo>
                  <a:lnTo>
                    <a:pt x="140" y="300"/>
                  </a:lnTo>
                  <a:lnTo>
                    <a:pt x="140" y="312"/>
                  </a:lnTo>
                  <a:lnTo>
                    <a:pt x="142" y="320"/>
                  </a:lnTo>
                  <a:lnTo>
                    <a:pt x="144" y="326"/>
                  </a:lnTo>
                  <a:lnTo>
                    <a:pt x="150" y="330"/>
                  </a:lnTo>
                  <a:lnTo>
                    <a:pt x="174" y="344"/>
                  </a:lnTo>
                  <a:lnTo>
                    <a:pt x="194" y="356"/>
                  </a:lnTo>
                  <a:lnTo>
                    <a:pt x="212" y="348"/>
                  </a:lnTo>
                  <a:lnTo>
                    <a:pt x="214" y="348"/>
                  </a:lnTo>
                  <a:lnTo>
                    <a:pt x="216" y="348"/>
                  </a:lnTo>
                  <a:lnTo>
                    <a:pt x="242" y="368"/>
                  </a:lnTo>
                  <a:lnTo>
                    <a:pt x="246" y="368"/>
                  </a:lnTo>
                  <a:lnTo>
                    <a:pt x="252" y="360"/>
                  </a:lnTo>
                  <a:lnTo>
                    <a:pt x="254" y="360"/>
                  </a:lnTo>
                  <a:lnTo>
                    <a:pt x="254" y="358"/>
                  </a:lnTo>
                  <a:lnTo>
                    <a:pt x="256" y="358"/>
                  </a:lnTo>
                  <a:lnTo>
                    <a:pt x="270" y="360"/>
                  </a:lnTo>
                  <a:lnTo>
                    <a:pt x="274" y="334"/>
                  </a:lnTo>
                  <a:lnTo>
                    <a:pt x="294" y="368"/>
                  </a:lnTo>
                  <a:lnTo>
                    <a:pt x="310" y="370"/>
                  </a:lnTo>
                  <a:lnTo>
                    <a:pt x="312" y="370"/>
                  </a:lnTo>
                  <a:lnTo>
                    <a:pt x="314" y="370"/>
                  </a:lnTo>
                  <a:lnTo>
                    <a:pt x="314" y="372"/>
                  </a:lnTo>
                  <a:lnTo>
                    <a:pt x="314" y="382"/>
                  </a:lnTo>
                  <a:lnTo>
                    <a:pt x="320" y="380"/>
                  </a:lnTo>
                  <a:lnTo>
                    <a:pt x="346" y="346"/>
                  </a:lnTo>
                  <a:lnTo>
                    <a:pt x="358" y="362"/>
                  </a:lnTo>
                  <a:lnTo>
                    <a:pt x="358" y="356"/>
                  </a:lnTo>
                  <a:lnTo>
                    <a:pt x="366" y="340"/>
                  </a:lnTo>
                  <a:lnTo>
                    <a:pt x="372" y="328"/>
                  </a:lnTo>
                  <a:lnTo>
                    <a:pt x="392" y="328"/>
                  </a:lnTo>
                  <a:lnTo>
                    <a:pt x="396" y="304"/>
                  </a:lnTo>
                  <a:lnTo>
                    <a:pt x="398" y="304"/>
                  </a:lnTo>
                  <a:lnTo>
                    <a:pt x="400" y="306"/>
                  </a:lnTo>
                  <a:lnTo>
                    <a:pt x="414" y="308"/>
                  </a:lnTo>
                  <a:lnTo>
                    <a:pt x="416" y="300"/>
                  </a:lnTo>
                  <a:lnTo>
                    <a:pt x="410" y="288"/>
                  </a:lnTo>
                  <a:lnTo>
                    <a:pt x="410" y="286"/>
                  </a:lnTo>
                  <a:lnTo>
                    <a:pt x="414" y="276"/>
                  </a:lnTo>
                  <a:lnTo>
                    <a:pt x="414" y="274"/>
                  </a:lnTo>
                  <a:lnTo>
                    <a:pt x="416" y="274"/>
                  </a:lnTo>
                  <a:lnTo>
                    <a:pt x="458" y="252"/>
                  </a:lnTo>
                  <a:lnTo>
                    <a:pt x="456" y="230"/>
                  </a:lnTo>
                  <a:lnTo>
                    <a:pt x="456" y="228"/>
                  </a:lnTo>
                  <a:lnTo>
                    <a:pt x="464" y="212"/>
                  </a:lnTo>
                  <a:lnTo>
                    <a:pt x="466" y="210"/>
                  </a:lnTo>
                  <a:lnTo>
                    <a:pt x="478" y="180"/>
                  </a:lnTo>
                  <a:lnTo>
                    <a:pt x="490" y="168"/>
                  </a:lnTo>
                  <a:lnTo>
                    <a:pt x="496" y="156"/>
                  </a:lnTo>
                  <a:lnTo>
                    <a:pt x="502" y="146"/>
                  </a:lnTo>
                  <a:lnTo>
                    <a:pt x="496" y="134"/>
                  </a:lnTo>
                  <a:lnTo>
                    <a:pt x="496" y="132"/>
                  </a:lnTo>
                  <a:lnTo>
                    <a:pt x="496" y="120"/>
                  </a:lnTo>
                  <a:lnTo>
                    <a:pt x="490" y="120"/>
                  </a:lnTo>
                  <a:lnTo>
                    <a:pt x="478" y="126"/>
                  </a:lnTo>
                  <a:lnTo>
                    <a:pt x="472" y="128"/>
                  </a:lnTo>
                  <a:lnTo>
                    <a:pt x="468" y="128"/>
                  </a:lnTo>
                  <a:lnTo>
                    <a:pt x="460" y="126"/>
                  </a:lnTo>
                  <a:lnTo>
                    <a:pt x="454" y="122"/>
                  </a:lnTo>
                  <a:lnTo>
                    <a:pt x="452" y="118"/>
                  </a:lnTo>
                  <a:lnTo>
                    <a:pt x="450" y="114"/>
                  </a:lnTo>
                  <a:lnTo>
                    <a:pt x="452" y="98"/>
                  </a:lnTo>
                  <a:lnTo>
                    <a:pt x="446" y="98"/>
                  </a:lnTo>
                  <a:lnTo>
                    <a:pt x="442" y="102"/>
                  </a:lnTo>
                  <a:lnTo>
                    <a:pt x="432" y="112"/>
                  </a:lnTo>
                  <a:lnTo>
                    <a:pt x="428" y="114"/>
                  </a:lnTo>
                  <a:lnTo>
                    <a:pt x="424" y="114"/>
                  </a:lnTo>
                  <a:lnTo>
                    <a:pt x="422" y="108"/>
                  </a:lnTo>
                  <a:lnTo>
                    <a:pt x="422" y="100"/>
                  </a:lnTo>
                  <a:lnTo>
                    <a:pt x="422" y="92"/>
                  </a:lnTo>
                  <a:lnTo>
                    <a:pt x="424" y="88"/>
                  </a:lnTo>
                  <a:lnTo>
                    <a:pt x="426" y="86"/>
                  </a:lnTo>
                  <a:lnTo>
                    <a:pt x="428" y="86"/>
                  </a:lnTo>
                  <a:lnTo>
                    <a:pt x="444" y="58"/>
                  </a:lnTo>
                  <a:lnTo>
                    <a:pt x="448" y="48"/>
                  </a:lnTo>
                  <a:lnTo>
                    <a:pt x="450" y="36"/>
                  </a:lnTo>
                  <a:lnTo>
                    <a:pt x="442" y="28"/>
                  </a:lnTo>
                  <a:lnTo>
                    <a:pt x="440" y="22"/>
                  </a:lnTo>
                  <a:lnTo>
                    <a:pt x="440" y="12"/>
                  </a:lnTo>
                  <a:lnTo>
                    <a:pt x="440" y="8"/>
                  </a:lnTo>
                  <a:lnTo>
                    <a:pt x="438" y="4"/>
                  </a:lnTo>
                  <a:lnTo>
                    <a:pt x="434" y="0"/>
                  </a:lnTo>
                  <a:lnTo>
                    <a:pt x="432" y="2"/>
                  </a:lnTo>
                  <a:lnTo>
                    <a:pt x="430" y="6"/>
                  </a:lnTo>
                  <a:lnTo>
                    <a:pt x="426" y="8"/>
                  </a:lnTo>
                  <a:lnTo>
                    <a:pt x="422" y="10"/>
                  </a:lnTo>
                  <a:lnTo>
                    <a:pt x="416" y="8"/>
                  </a:lnTo>
                  <a:lnTo>
                    <a:pt x="410" y="8"/>
                  </a:lnTo>
                  <a:lnTo>
                    <a:pt x="402" y="8"/>
                  </a:lnTo>
                  <a:close/>
                </a:path>
              </a:pathLst>
            </a:custGeom>
            <a:noFill/>
            <a:ln w="3175" cap="flat" cmpd="sng">
              <a:solidFill>
                <a:schemeClr val="bg2"/>
              </a:solidFill>
              <a:bevel/>
              <a:headEnd/>
              <a:tailEnd/>
            </a:ln>
          </p:spPr>
          <p:txBody>
            <a:bodyPr anchor="ctr"/>
            <a:lstStyle/>
            <a:p>
              <a:endParaRPr lang="zh-CN" altLang="en-US"/>
            </a:p>
          </p:txBody>
        </p:sp>
        <p:sp>
          <p:nvSpPr>
            <p:cNvPr id="8206" name="Freeform 14"/>
            <p:cNvSpPr>
              <a:spLocks/>
            </p:cNvSpPr>
            <p:nvPr/>
          </p:nvSpPr>
          <p:spPr bwMode="auto">
            <a:xfrm>
              <a:off x="3276165" y="2982563"/>
              <a:ext cx="508432" cy="515593"/>
            </a:xfrm>
            <a:custGeom>
              <a:avLst/>
              <a:gdLst/>
              <a:ahLst/>
              <a:cxnLst>
                <a:cxn ang="0">
                  <a:pos x="278" y="44"/>
                </a:cxn>
                <a:cxn ang="0">
                  <a:pos x="260" y="30"/>
                </a:cxn>
                <a:cxn ang="0">
                  <a:pos x="258" y="28"/>
                </a:cxn>
                <a:cxn ang="0">
                  <a:pos x="248" y="24"/>
                </a:cxn>
                <a:cxn ang="0">
                  <a:pos x="234" y="28"/>
                </a:cxn>
                <a:cxn ang="0">
                  <a:pos x="222" y="22"/>
                </a:cxn>
                <a:cxn ang="0">
                  <a:pos x="220" y="20"/>
                </a:cxn>
                <a:cxn ang="0">
                  <a:pos x="204" y="4"/>
                </a:cxn>
                <a:cxn ang="0">
                  <a:pos x="188" y="8"/>
                </a:cxn>
                <a:cxn ang="0">
                  <a:pos x="172" y="40"/>
                </a:cxn>
                <a:cxn ang="0">
                  <a:pos x="162" y="60"/>
                </a:cxn>
                <a:cxn ang="0">
                  <a:pos x="144" y="86"/>
                </a:cxn>
                <a:cxn ang="0">
                  <a:pos x="124" y="104"/>
                </a:cxn>
                <a:cxn ang="0">
                  <a:pos x="114" y="120"/>
                </a:cxn>
                <a:cxn ang="0">
                  <a:pos x="96" y="132"/>
                </a:cxn>
                <a:cxn ang="0">
                  <a:pos x="74" y="164"/>
                </a:cxn>
                <a:cxn ang="0">
                  <a:pos x="8" y="160"/>
                </a:cxn>
                <a:cxn ang="0">
                  <a:pos x="0" y="180"/>
                </a:cxn>
                <a:cxn ang="0">
                  <a:pos x="20" y="226"/>
                </a:cxn>
                <a:cxn ang="0">
                  <a:pos x="32" y="234"/>
                </a:cxn>
                <a:cxn ang="0">
                  <a:pos x="42" y="252"/>
                </a:cxn>
                <a:cxn ang="0">
                  <a:pos x="38" y="266"/>
                </a:cxn>
                <a:cxn ang="0">
                  <a:pos x="44" y="268"/>
                </a:cxn>
                <a:cxn ang="0">
                  <a:pos x="50" y="258"/>
                </a:cxn>
                <a:cxn ang="0">
                  <a:pos x="64" y="266"/>
                </a:cxn>
                <a:cxn ang="0">
                  <a:pos x="68" y="260"/>
                </a:cxn>
                <a:cxn ang="0">
                  <a:pos x="78" y="244"/>
                </a:cxn>
                <a:cxn ang="0">
                  <a:pos x="88" y="242"/>
                </a:cxn>
                <a:cxn ang="0">
                  <a:pos x="110" y="232"/>
                </a:cxn>
                <a:cxn ang="0">
                  <a:pos x="112" y="212"/>
                </a:cxn>
                <a:cxn ang="0">
                  <a:pos x="120" y="206"/>
                </a:cxn>
                <a:cxn ang="0">
                  <a:pos x="134" y="208"/>
                </a:cxn>
                <a:cxn ang="0">
                  <a:pos x="136" y="220"/>
                </a:cxn>
                <a:cxn ang="0">
                  <a:pos x="138" y="232"/>
                </a:cxn>
                <a:cxn ang="0">
                  <a:pos x="144" y="226"/>
                </a:cxn>
                <a:cxn ang="0">
                  <a:pos x="160" y="212"/>
                </a:cxn>
                <a:cxn ang="0">
                  <a:pos x="162" y="210"/>
                </a:cxn>
                <a:cxn ang="0">
                  <a:pos x="174" y="214"/>
                </a:cxn>
                <a:cxn ang="0">
                  <a:pos x="180" y="226"/>
                </a:cxn>
                <a:cxn ang="0">
                  <a:pos x="188" y="252"/>
                </a:cxn>
                <a:cxn ang="0">
                  <a:pos x="188" y="264"/>
                </a:cxn>
                <a:cxn ang="0">
                  <a:pos x="194" y="270"/>
                </a:cxn>
                <a:cxn ang="0">
                  <a:pos x="198" y="264"/>
                </a:cxn>
                <a:cxn ang="0">
                  <a:pos x="208" y="272"/>
                </a:cxn>
                <a:cxn ang="0">
                  <a:pos x="216" y="288"/>
                </a:cxn>
                <a:cxn ang="0">
                  <a:pos x="220" y="276"/>
                </a:cxn>
                <a:cxn ang="0">
                  <a:pos x="224" y="274"/>
                </a:cxn>
                <a:cxn ang="0">
                  <a:pos x="230" y="270"/>
                </a:cxn>
                <a:cxn ang="0">
                  <a:pos x="236" y="266"/>
                </a:cxn>
                <a:cxn ang="0">
                  <a:pos x="232" y="226"/>
                </a:cxn>
                <a:cxn ang="0">
                  <a:pos x="188" y="168"/>
                </a:cxn>
                <a:cxn ang="0">
                  <a:pos x="184" y="146"/>
                </a:cxn>
                <a:cxn ang="0">
                  <a:pos x="174" y="128"/>
                </a:cxn>
                <a:cxn ang="0">
                  <a:pos x="180" y="104"/>
                </a:cxn>
                <a:cxn ang="0">
                  <a:pos x="184" y="104"/>
                </a:cxn>
                <a:cxn ang="0">
                  <a:pos x="260" y="88"/>
                </a:cxn>
                <a:cxn ang="0">
                  <a:pos x="274" y="82"/>
                </a:cxn>
                <a:cxn ang="0">
                  <a:pos x="280" y="76"/>
                </a:cxn>
                <a:cxn ang="0">
                  <a:pos x="284" y="58"/>
                </a:cxn>
              </a:cxnLst>
              <a:rect l="0" t="0" r="r" b="b"/>
              <a:pathLst>
                <a:path w="284" h="288">
                  <a:moveTo>
                    <a:pt x="284" y="58"/>
                  </a:moveTo>
                  <a:lnTo>
                    <a:pt x="278" y="44"/>
                  </a:lnTo>
                  <a:lnTo>
                    <a:pt x="268" y="32"/>
                  </a:lnTo>
                  <a:lnTo>
                    <a:pt x="260" y="30"/>
                  </a:lnTo>
                  <a:lnTo>
                    <a:pt x="258" y="30"/>
                  </a:lnTo>
                  <a:lnTo>
                    <a:pt x="258" y="28"/>
                  </a:lnTo>
                  <a:lnTo>
                    <a:pt x="250" y="24"/>
                  </a:lnTo>
                  <a:lnTo>
                    <a:pt x="248" y="24"/>
                  </a:lnTo>
                  <a:lnTo>
                    <a:pt x="244" y="26"/>
                  </a:lnTo>
                  <a:lnTo>
                    <a:pt x="234" y="28"/>
                  </a:lnTo>
                  <a:lnTo>
                    <a:pt x="232" y="26"/>
                  </a:lnTo>
                  <a:lnTo>
                    <a:pt x="222" y="22"/>
                  </a:lnTo>
                  <a:lnTo>
                    <a:pt x="220" y="22"/>
                  </a:lnTo>
                  <a:lnTo>
                    <a:pt x="220" y="20"/>
                  </a:lnTo>
                  <a:lnTo>
                    <a:pt x="212" y="12"/>
                  </a:lnTo>
                  <a:lnTo>
                    <a:pt x="204" y="4"/>
                  </a:lnTo>
                  <a:lnTo>
                    <a:pt x="196" y="0"/>
                  </a:lnTo>
                  <a:lnTo>
                    <a:pt x="188" y="8"/>
                  </a:lnTo>
                  <a:lnTo>
                    <a:pt x="176" y="16"/>
                  </a:lnTo>
                  <a:lnTo>
                    <a:pt x="172" y="40"/>
                  </a:lnTo>
                  <a:lnTo>
                    <a:pt x="162" y="58"/>
                  </a:lnTo>
                  <a:lnTo>
                    <a:pt x="162" y="60"/>
                  </a:lnTo>
                  <a:lnTo>
                    <a:pt x="154" y="68"/>
                  </a:lnTo>
                  <a:lnTo>
                    <a:pt x="144" y="86"/>
                  </a:lnTo>
                  <a:lnTo>
                    <a:pt x="144" y="88"/>
                  </a:lnTo>
                  <a:lnTo>
                    <a:pt x="124" y="104"/>
                  </a:lnTo>
                  <a:lnTo>
                    <a:pt x="116" y="118"/>
                  </a:lnTo>
                  <a:lnTo>
                    <a:pt x="114" y="120"/>
                  </a:lnTo>
                  <a:lnTo>
                    <a:pt x="110" y="124"/>
                  </a:lnTo>
                  <a:lnTo>
                    <a:pt x="96" y="132"/>
                  </a:lnTo>
                  <a:lnTo>
                    <a:pt x="88" y="144"/>
                  </a:lnTo>
                  <a:lnTo>
                    <a:pt x="74" y="164"/>
                  </a:lnTo>
                  <a:lnTo>
                    <a:pt x="72" y="164"/>
                  </a:lnTo>
                  <a:lnTo>
                    <a:pt x="8" y="160"/>
                  </a:lnTo>
                  <a:lnTo>
                    <a:pt x="0" y="168"/>
                  </a:lnTo>
                  <a:lnTo>
                    <a:pt x="0" y="180"/>
                  </a:lnTo>
                  <a:lnTo>
                    <a:pt x="6" y="208"/>
                  </a:lnTo>
                  <a:lnTo>
                    <a:pt x="20" y="226"/>
                  </a:lnTo>
                  <a:lnTo>
                    <a:pt x="32" y="232"/>
                  </a:lnTo>
                  <a:lnTo>
                    <a:pt x="32" y="234"/>
                  </a:lnTo>
                  <a:lnTo>
                    <a:pt x="40" y="244"/>
                  </a:lnTo>
                  <a:lnTo>
                    <a:pt x="42" y="252"/>
                  </a:lnTo>
                  <a:lnTo>
                    <a:pt x="42" y="262"/>
                  </a:lnTo>
                  <a:lnTo>
                    <a:pt x="38" y="266"/>
                  </a:lnTo>
                  <a:lnTo>
                    <a:pt x="40" y="268"/>
                  </a:lnTo>
                  <a:lnTo>
                    <a:pt x="44" y="268"/>
                  </a:lnTo>
                  <a:lnTo>
                    <a:pt x="48" y="258"/>
                  </a:lnTo>
                  <a:lnTo>
                    <a:pt x="50" y="258"/>
                  </a:lnTo>
                  <a:lnTo>
                    <a:pt x="62" y="262"/>
                  </a:lnTo>
                  <a:lnTo>
                    <a:pt x="64" y="266"/>
                  </a:lnTo>
                  <a:lnTo>
                    <a:pt x="70" y="266"/>
                  </a:lnTo>
                  <a:lnTo>
                    <a:pt x="68" y="260"/>
                  </a:lnTo>
                  <a:lnTo>
                    <a:pt x="76" y="246"/>
                  </a:lnTo>
                  <a:lnTo>
                    <a:pt x="78" y="244"/>
                  </a:lnTo>
                  <a:lnTo>
                    <a:pt x="80" y="242"/>
                  </a:lnTo>
                  <a:lnTo>
                    <a:pt x="88" y="242"/>
                  </a:lnTo>
                  <a:lnTo>
                    <a:pt x="102" y="242"/>
                  </a:lnTo>
                  <a:lnTo>
                    <a:pt x="110" y="232"/>
                  </a:lnTo>
                  <a:lnTo>
                    <a:pt x="110" y="222"/>
                  </a:lnTo>
                  <a:lnTo>
                    <a:pt x="112" y="212"/>
                  </a:lnTo>
                  <a:lnTo>
                    <a:pt x="114" y="210"/>
                  </a:lnTo>
                  <a:lnTo>
                    <a:pt x="120" y="206"/>
                  </a:lnTo>
                  <a:lnTo>
                    <a:pt x="122" y="206"/>
                  </a:lnTo>
                  <a:lnTo>
                    <a:pt x="134" y="208"/>
                  </a:lnTo>
                  <a:lnTo>
                    <a:pt x="134" y="210"/>
                  </a:lnTo>
                  <a:lnTo>
                    <a:pt x="136" y="220"/>
                  </a:lnTo>
                  <a:lnTo>
                    <a:pt x="136" y="224"/>
                  </a:lnTo>
                  <a:lnTo>
                    <a:pt x="138" y="232"/>
                  </a:lnTo>
                  <a:lnTo>
                    <a:pt x="140" y="232"/>
                  </a:lnTo>
                  <a:lnTo>
                    <a:pt x="144" y="226"/>
                  </a:lnTo>
                  <a:lnTo>
                    <a:pt x="152" y="216"/>
                  </a:lnTo>
                  <a:lnTo>
                    <a:pt x="160" y="212"/>
                  </a:lnTo>
                  <a:lnTo>
                    <a:pt x="162" y="212"/>
                  </a:lnTo>
                  <a:lnTo>
                    <a:pt x="162" y="210"/>
                  </a:lnTo>
                  <a:lnTo>
                    <a:pt x="172" y="214"/>
                  </a:lnTo>
                  <a:lnTo>
                    <a:pt x="174" y="214"/>
                  </a:lnTo>
                  <a:lnTo>
                    <a:pt x="176" y="214"/>
                  </a:lnTo>
                  <a:lnTo>
                    <a:pt x="180" y="226"/>
                  </a:lnTo>
                  <a:lnTo>
                    <a:pt x="180" y="236"/>
                  </a:lnTo>
                  <a:lnTo>
                    <a:pt x="188" y="252"/>
                  </a:lnTo>
                  <a:lnTo>
                    <a:pt x="188" y="254"/>
                  </a:lnTo>
                  <a:lnTo>
                    <a:pt x="188" y="264"/>
                  </a:lnTo>
                  <a:lnTo>
                    <a:pt x="192" y="270"/>
                  </a:lnTo>
                  <a:lnTo>
                    <a:pt x="194" y="270"/>
                  </a:lnTo>
                  <a:lnTo>
                    <a:pt x="196" y="266"/>
                  </a:lnTo>
                  <a:lnTo>
                    <a:pt x="198" y="264"/>
                  </a:lnTo>
                  <a:lnTo>
                    <a:pt x="208" y="270"/>
                  </a:lnTo>
                  <a:lnTo>
                    <a:pt x="208" y="272"/>
                  </a:lnTo>
                  <a:lnTo>
                    <a:pt x="212" y="286"/>
                  </a:lnTo>
                  <a:lnTo>
                    <a:pt x="216" y="288"/>
                  </a:lnTo>
                  <a:lnTo>
                    <a:pt x="216" y="286"/>
                  </a:lnTo>
                  <a:lnTo>
                    <a:pt x="220" y="276"/>
                  </a:lnTo>
                  <a:lnTo>
                    <a:pt x="222" y="274"/>
                  </a:lnTo>
                  <a:lnTo>
                    <a:pt x="224" y="274"/>
                  </a:lnTo>
                  <a:lnTo>
                    <a:pt x="228" y="270"/>
                  </a:lnTo>
                  <a:lnTo>
                    <a:pt x="230" y="270"/>
                  </a:lnTo>
                  <a:lnTo>
                    <a:pt x="236" y="270"/>
                  </a:lnTo>
                  <a:lnTo>
                    <a:pt x="236" y="266"/>
                  </a:lnTo>
                  <a:lnTo>
                    <a:pt x="236" y="264"/>
                  </a:lnTo>
                  <a:lnTo>
                    <a:pt x="232" y="226"/>
                  </a:lnTo>
                  <a:lnTo>
                    <a:pt x="216" y="202"/>
                  </a:lnTo>
                  <a:lnTo>
                    <a:pt x="188" y="168"/>
                  </a:lnTo>
                  <a:lnTo>
                    <a:pt x="186" y="168"/>
                  </a:lnTo>
                  <a:lnTo>
                    <a:pt x="184" y="146"/>
                  </a:lnTo>
                  <a:lnTo>
                    <a:pt x="176" y="128"/>
                  </a:lnTo>
                  <a:lnTo>
                    <a:pt x="174" y="128"/>
                  </a:lnTo>
                  <a:lnTo>
                    <a:pt x="176" y="126"/>
                  </a:lnTo>
                  <a:lnTo>
                    <a:pt x="180" y="104"/>
                  </a:lnTo>
                  <a:lnTo>
                    <a:pt x="182" y="104"/>
                  </a:lnTo>
                  <a:lnTo>
                    <a:pt x="184" y="104"/>
                  </a:lnTo>
                  <a:lnTo>
                    <a:pt x="234" y="102"/>
                  </a:lnTo>
                  <a:lnTo>
                    <a:pt x="260" y="88"/>
                  </a:lnTo>
                  <a:lnTo>
                    <a:pt x="262" y="86"/>
                  </a:lnTo>
                  <a:lnTo>
                    <a:pt x="274" y="82"/>
                  </a:lnTo>
                  <a:lnTo>
                    <a:pt x="278" y="78"/>
                  </a:lnTo>
                  <a:lnTo>
                    <a:pt x="280" y="76"/>
                  </a:lnTo>
                  <a:lnTo>
                    <a:pt x="282" y="68"/>
                  </a:lnTo>
                  <a:lnTo>
                    <a:pt x="284" y="58"/>
                  </a:lnTo>
                  <a:close/>
                </a:path>
              </a:pathLst>
            </a:custGeom>
            <a:noFill/>
            <a:ln w="3175" cap="flat" cmpd="sng">
              <a:solidFill>
                <a:schemeClr val="bg2"/>
              </a:solidFill>
              <a:bevel/>
              <a:headEnd/>
              <a:tailEnd/>
            </a:ln>
          </p:spPr>
          <p:txBody>
            <a:bodyPr anchor="ctr"/>
            <a:lstStyle/>
            <a:p>
              <a:endParaRPr lang="zh-CN" altLang="en-US"/>
            </a:p>
          </p:txBody>
        </p:sp>
        <p:sp>
          <p:nvSpPr>
            <p:cNvPr id="8207" name="Freeform 15"/>
            <p:cNvSpPr>
              <a:spLocks/>
            </p:cNvSpPr>
            <p:nvPr/>
          </p:nvSpPr>
          <p:spPr bwMode="auto">
            <a:xfrm>
              <a:off x="3276165" y="1980021"/>
              <a:ext cx="580042" cy="1034767"/>
            </a:xfrm>
            <a:custGeom>
              <a:avLst/>
              <a:gdLst/>
              <a:ahLst/>
              <a:cxnLst>
                <a:cxn ang="0">
                  <a:pos x="96" y="180"/>
                </a:cxn>
                <a:cxn ang="0">
                  <a:pos x="124" y="202"/>
                </a:cxn>
                <a:cxn ang="0">
                  <a:pos x="176" y="228"/>
                </a:cxn>
                <a:cxn ang="0">
                  <a:pos x="188" y="244"/>
                </a:cxn>
                <a:cxn ang="0">
                  <a:pos x="178" y="264"/>
                </a:cxn>
                <a:cxn ang="0">
                  <a:pos x="178" y="286"/>
                </a:cxn>
                <a:cxn ang="0">
                  <a:pos x="168" y="316"/>
                </a:cxn>
                <a:cxn ang="0">
                  <a:pos x="140" y="312"/>
                </a:cxn>
                <a:cxn ang="0">
                  <a:pos x="112" y="332"/>
                </a:cxn>
                <a:cxn ang="0">
                  <a:pos x="124" y="350"/>
                </a:cxn>
                <a:cxn ang="0">
                  <a:pos x="88" y="348"/>
                </a:cxn>
                <a:cxn ang="0">
                  <a:pos x="44" y="366"/>
                </a:cxn>
                <a:cxn ang="0">
                  <a:pos x="48" y="406"/>
                </a:cxn>
                <a:cxn ang="0">
                  <a:pos x="52" y="422"/>
                </a:cxn>
                <a:cxn ang="0">
                  <a:pos x="54" y="444"/>
                </a:cxn>
                <a:cxn ang="0">
                  <a:pos x="6" y="454"/>
                </a:cxn>
                <a:cxn ang="0">
                  <a:pos x="6" y="486"/>
                </a:cxn>
                <a:cxn ang="0">
                  <a:pos x="12" y="508"/>
                </a:cxn>
                <a:cxn ang="0">
                  <a:pos x="66" y="504"/>
                </a:cxn>
                <a:cxn ang="0">
                  <a:pos x="86" y="520"/>
                </a:cxn>
                <a:cxn ang="0">
                  <a:pos x="100" y="532"/>
                </a:cxn>
                <a:cxn ang="0">
                  <a:pos x="104" y="530"/>
                </a:cxn>
                <a:cxn ang="0">
                  <a:pos x="136" y="546"/>
                </a:cxn>
                <a:cxn ang="0">
                  <a:pos x="168" y="544"/>
                </a:cxn>
                <a:cxn ang="0">
                  <a:pos x="208" y="556"/>
                </a:cxn>
                <a:cxn ang="0">
                  <a:pos x="226" y="574"/>
                </a:cxn>
                <a:cxn ang="0">
                  <a:pos x="248" y="560"/>
                </a:cxn>
                <a:cxn ang="0">
                  <a:pos x="246" y="516"/>
                </a:cxn>
                <a:cxn ang="0">
                  <a:pos x="268" y="512"/>
                </a:cxn>
                <a:cxn ang="0">
                  <a:pos x="242" y="484"/>
                </a:cxn>
                <a:cxn ang="0">
                  <a:pos x="236" y="472"/>
                </a:cxn>
                <a:cxn ang="0">
                  <a:pos x="260" y="466"/>
                </a:cxn>
                <a:cxn ang="0">
                  <a:pos x="304" y="466"/>
                </a:cxn>
                <a:cxn ang="0">
                  <a:pos x="320" y="438"/>
                </a:cxn>
                <a:cxn ang="0">
                  <a:pos x="296" y="420"/>
                </a:cxn>
                <a:cxn ang="0">
                  <a:pos x="290" y="374"/>
                </a:cxn>
                <a:cxn ang="0">
                  <a:pos x="274" y="366"/>
                </a:cxn>
                <a:cxn ang="0">
                  <a:pos x="288" y="262"/>
                </a:cxn>
                <a:cxn ang="0">
                  <a:pos x="276" y="190"/>
                </a:cxn>
                <a:cxn ang="0">
                  <a:pos x="280" y="160"/>
                </a:cxn>
                <a:cxn ang="0">
                  <a:pos x="294" y="130"/>
                </a:cxn>
                <a:cxn ang="0">
                  <a:pos x="278" y="110"/>
                </a:cxn>
                <a:cxn ang="0">
                  <a:pos x="276" y="86"/>
                </a:cxn>
                <a:cxn ang="0">
                  <a:pos x="292" y="36"/>
                </a:cxn>
                <a:cxn ang="0">
                  <a:pos x="302" y="20"/>
                </a:cxn>
                <a:cxn ang="0">
                  <a:pos x="306" y="0"/>
                </a:cxn>
                <a:cxn ang="0">
                  <a:pos x="290" y="18"/>
                </a:cxn>
                <a:cxn ang="0">
                  <a:pos x="260" y="28"/>
                </a:cxn>
                <a:cxn ang="0">
                  <a:pos x="210" y="56"/>
                </a:cxn>
                <a:cxn ang="0">
                  <a:pos x="196" y="70"/>
                </a:cxn>
                <a:cxn ang="0">
                  <a:pos x="186" y="118"/>
                </a:cxn>
                <a:cxn ang="0">
                  <a:pos x="182" y="132"/>
                </a:cxn>
                <a:cxn ang="0">
                  <a:pos x="172" y="146"/>
                </a:cxn>
                <a:cxn ang="0">
                  <a:pos x="108" y="132"/>
                </a:cxn>
              </a:cxnLst>
              <a:rect l="0" t="0" r="r" b="b"/>
              <a:pathLst>
                <a:path w="324" h="578">
                  <a:moveTo>
                    <a:pt x="108" y="132"/>
                  </a:moveTo>
                  <a:lnTo>
                    <a:pt x="104" y="130"/>
                  </a:lnTo>
                  <a:lnTo>
                    <a:pt x="96" y="180"/>
                  </a:lnTo>
                  <a:lnTo>
                    <a:pt x="108" y="196"/>
                  </a:lnTo>
                  <a:lnTo>
                    <a:pt x="122" y="200"/>
                  </a:lnTo>
                  <a:lnTo>
                    <a:pt x="124" y="202"/>
                  </a:lnTo>
                  <a:lnTo>
                    <a:pt x="140" y="216"/>
                  </a:lnTo>
                  <a:lnTo>
                    <a:pt x="164" y="220"/>
                  </a:lnTo>
                  <a:lnTo>
                    <a:pt x="176" y="228"/>
                  </a:lnTo>
                  <a:lnTo>
                    <a:pt x="176" y="230"/>
                  </a:lnTo>
                  <a:lnTo>
                    <a:pt x="186" y="244"/>
                  </a:lnTo>
                  <a:lnTo>
                    <a:pt x="188" y="244"/>
                  </a:lnTo>
                  <a:lnTo>
                    <a:pt x="186" y="246"/>
                  </a:lnTo>
                  <a:lnTo>
                    <a:pt x="178" y="260"/>
                  </a:lnTo>
                  <a:lnTo>
                    <a:pt x="178" y="264"/>
                  </a:lnTo>
                  <a:lnTo>
                    <a:pt x="176" y="272"/>
                  </a:lnTo>
                  <a:lnTo>
                    <a:pt x="178" y="272"/>
                  </a:lnTo>
                  <a:lnTo>
                    <a:pt x="178" y="286"/>
                  </a:lnTo>
                  <a:lnTo>
                    <a:pt x="176" y="288"/>
                  </a:lnTo>
                  <a:lnTo>
                    <a:pt x="170" y="312"/>
                  </a:lnTo>
                  <a:lnTo>
                    <a:pt x="168" y="316"/>
                  </a:lnTo>
                  <a:lnTo>
                    <a:pt x="164" y="314"/>
                  </a:lnTo>
                  <a:lnTo>
                    <a:pt x="154" y="312"/>
                  </a:lnTo>
                  <a:lnTo>
                    <a:pt x="140" y="312"/>
                  </a:lnTo>
                  <a:lnTo>
                    <a:pt x="128" y="316"/>
                  </a:lnTo>
                  <a:lnTo>
                    <a:pt x="116" y="328"/>
                  </a:lnTo>
                  <a:lnTo>
                    <a:pt x="112" y="332"/>
                  </a:lnTo>
                  <a:lnTo>
                    <a:pt x="130" y="340"/>
                  </a:lnTo>
                  <a:lnTo>
                    <a:pt x="128" y="344"/>
                  </a:lnTo>
                  <a:lnTo>
                    <a:pt x="124" y="350"/>
                  </a:lnTo>
                  <a:lnTo>
                    <a:pt x="116" y="354"/>
                  </a:lnTo>
                  <a:lnTo>
                    <a:pt x="106" y="354"/>
                  </a:lnTo>
                  <a:lnTo>
                    <a:pt x="88" y="348"/>
                  </a:lnTo>
                  <a:lnTo>
                    <a:pt x="70" y="338"/>
                  </a:lnTo>
                  <a:lnTo>
                    <a:pt x="64" y="338"/>
                  </a:lnTo>
                  <a:lnTo>
                    <a:pt x="44" y="366"/>
                  </a:lnTo>
                  <a:lnTo>
                    <a:pt x="40" y="376"/>
                  </a:lnTo>
                  <a:lnTo>
                    <a:pt x="40" y="392"/>
                  </a:lnTo>
                  <a:lnTo>
                    <a:pt x="48" y="406"/>
                  </a:lnTo>
                  <a:lnTo>
                    <a:pt x="48" y="408"/>
                  </a:lnTo>
                  <a:lnTo>
                    <a:pt x="52" y="420"/>
                  </a:lnTo>
                  <a:lnTo>
                    <a:pt x="52" y="422"/>
                  </a:lnTo>
                  <a:lnTo>
                    <a:pt x="52" y="440"/>
                  </a:lnTo>
                  <a:lnTo>
                    <a:pt x="52" y="442"/>
                  </a:lnTo>
                  <a:lnTo>
                    <a:pt x="54" y="444"/>
                  </a:lnTo>
                  <a:lnTo>
                    <a:pt x="40" y="446"/>
                  </a:lnTo>
                  <a:lnTo>
                    <a:pt x="16" y="446"/>
                  </a:lnTo>
                  <a:lnTo>
                    <a:pt x="6" y="454"/>
                  </a:lnTo>
                  <a:lnTo>
                    <a:pt x="0" y="462"/>
                  </a:lnTo>
                  <a:lnTo>
                    <a:pt x="2" y="462"/>
                  </a:lnTo>
                  <a:lnTo>
                    <a:pt x="6" y="486"/>
                  </a:lnTo>
                  <a:lnTo>
                    <a:pt x="8" y="486"/>
                  </a:lnTo>
                  <a:lnTo>
                    <a:pt x="8" y="496"/>
                  </a:lnTo>
                  <a:lnTo>
                    <a:pt x="12" y="508"/>
                  </a:lnTo>
                  <a:lnTo>
                    <a:pt x="30" y="518"/>
                  </a:lnTo>
                  <a:lnTo>
                    <a:pt x="54" y="512"/>
                  </a:lnTo>
                  <a:lnTo>
                    <a:pt x="66" y="504"/>
                  </a:lnTo>
                  <a:lnTo>
                    <a:pt x="68" y="504"/>
                  </a:lnTo>
                  <a:lnTo>
                    <a:pt x="80" y="504"/>
                  </a:lnTo>
                  <a:lnTo>
                    <a:pt x="86" y="520"/>
                  </a:lnTo>
                  <a:lnTo>
                    <a:pt x="92" y="526"/>
                  </a:lnTo>
                  <a:lnTo>
                    <a:pt x="94" y="532"/>
                  </a:lnTo>
                  <a:lnTo>
                    <a:pt x="100" y="532"/>
                  </a:lnTo>
                  <a:lnTo>
                    <a:pt x="102" y="532"/>
                  </a:lnTo>
                  <a:lnTo>
                    <a:pt x="104" y="532"/>
                  </a:lnTo>
                  <a:lnTo>
                    <a:pt x="104" y="530"/>
                  </a:lnTo>
                  <a:lnTo>
                    <a:pt x="116" y="520"/>
                  </a:lnTo>
                  <a:lnTo>
                    <a:pt x="126" y="540"/>
                  </a:lnTo>
                  <a:lnTo>
                    <a:pt x="136" y="546"/>
                  </a:lnTo>
                  <a:lnTo>
                    <a:pt x="152" y="546"/>
                  </a:lnTo>
                  <a:lnTo>
                    <a:pt x="164" y="544"/>
                  </a:lnTo>
                  <a:lnTo>
                    <a:pt x="168" y="544"/>
                  </a:lnTo>
                  <a:lnTo>
                    <a:pt x="196" y="548"/>
                  </a:lnTo>
                  <a:lnTo>
                    <a:pt x="196" y="550"/>
                  </a:lnTo>
                  <a:lnTo>
                    <a:pt x="208" y="556"/>
                  </a:lnTo>
                  <a:lnTo>
                    <a:pt x="208" y="558"/>
                  </a:lnTo>
                  <a:lnTo>
                    <a:pt x="220" y="566"/>
                  </a:lnTo>
                  <a:lnTo>
                    <a:pt x="226" y="574"/>
                  </a:lnTo>
                  <a:lnTo>
                    <a:pt x="234" y="578"/>
                  </a:lnTo>
                  <a:lnTo>
                    <a:pt x="248" y="576"/>
                  </a:lnTo>
                  <a:lnTo>
                    <a:pt x="248" y="560"/>
                  </a:lnTo>
                  <a:lnTo>
                    <a:pt x="240" y="548"/>
                  </a:lnTo>
                  <a:lnTo>
                    <a:pt x="236" y="526"/>
                  </a:lnTo>
                  <a:lnTo>
                    <a:pt x="246" y="516"/>
                  </a:lnTo>
                  <a:lnTo>
                    <a:pt x="248" y="514"/>
                  </a:lnTo>
                  <a:lnTo>
                    <a:pt x="258" y="512"/>
                  </a:lnTo>
                  <a:lnTo>
                    <a:pt x="268" y="512"/>
                  </a:lnTo>
                  <a:lnTo>
                    <a:pt x="272" y="508"/>
                  </a:lnTo>
                  <a:lnTo>
                    <a:pt x="264" y="500"/>
                  </a:lnTo>
                  <a:lnTo>
                    <a:pt x="242" y="484"/>
                  </a:lnTo>
                  <a:lnTo>
                    <a:pt x="236" y="476"/>
                  </a:lnTo>
                  <a:lnTo>
                    <a:pt x="234" y="474"/>
                  </a:lnTo>
                  <a:lnTo>
                    <a:pt x="236" y="472"/>
                  </a:lnTo>
                  <a:lnTo>
                    <a:pt x="242" y="460"/>
                  </a:lnTo>
                  <a:lnTo>
                    <a:pt x="244" y="462"/>
                  </a:lnTo>
                  <a:lnTo>
                    <a:pt x="260" y="466"/>
                  </a:lnTo>
                  <a:lnTo>
                    <a:pt x="302" y="464"/>
                  </a:lnTo>
                  <a:lnTo>
                    <a:pt x="302" y="466"/>
                  </a:lnTo>
                  <a:lnTo>
                    <a:pt x="304" y="466"/>
                  </a:lnTo>
                  <a:lnTo>
                    <a:pt x="316" y="470"/>
                  </a:lnTo>
                  <a:lnTo>
                    <a:pt x="324" y="462"/>
                  </a:lnTo>
                  <a:lnTo>
                    <a:pt x="320" y="438"/>
                  </a:lnTo>
                  <a:lnTo>
                    <a:pt x="304" y="428"/>
                  </a:lnTo>
                  <a:lnTo>
                    <a:pt x="300" y="424"/>
                  </a:lnTo>
                  <a:lnTo>
                    <a:pt x="296" y="420"/>
                  </a:lnTo>
                  <a:lnTo>
                    <a:pt x="292" y="410"/>
                  </a:lnTo>
                  <a:lnTo>
                    <a:pt x="290" y="394"/>
                  </a:lnTo>
                  <a:lnTo>
                    <a:pt x="290" y="374"/>
                  </a:lnTo>
                  <a:lnTo>
                    <a:pt x="276" y="368"/>
                  </a:lnTo>
                  <a:lnTo>
                    <a:pt x="274" y="368"/>
                  </a:lnTo>
                  <a:lnTo>
                    <a:pt x="274" y="366"/>
                  </a:lnTo>
                  <a:lnTo>
                    <a:pt x="274" y="364"/>
                  </a:lnTo>
                  <a:lnTo>
                    <a:pt x="272" y="344"/>
                  </a:lnTo>
                  <a:lnTo>
                    <a:pt x="288" y="262"/>
                  </a:lnTo>
                  <a:lnTo>
                    <a:pt x="280" y="232"/>
                  </a:lnTo>
                  <a:lnTo>
                    <a:pt x="278" y="214"/>
                  </a:lnTo>
                  <a:lnTo>
                    <a:pt x="276" y="190"/>
                  </a:lnTo>
                  <a:lnTo>
                    <a:pt x="278" y="164"/>
                  </a:lnTo>
                  <a:lnTo>
                    <a:pt x="278" y="162"/>
                  </a:lnTo>
                  <a:lnTo>
                    <a:pt x="280" y="160"/>
                  </a:lnTo>
                  <a:lnTo>
                    <a:pt x="296" y="148"/>
                  </a:lnTo>
                  <a:lnTo>
                    <a:pt x="296" y="136"/>
                  </a:lnTo>
                  <a:lnTo>
                    <a:pt x="294" y="130"/>
                  </a:lnTo>
                  <a:lnTo>
                    <a:pt x="290" y="122"/>
                  </a:lnTo>
                  <a:lnTo>
                    <a:pt x="280" y="110"/>
                  </a:lnTo>
                  <a:lnTo>
                    <a:pt x="278" y="110"/>
                  </a:lnTo>
                  <a:lnTo>
                    <a:pt x="278" y="108"/>
                  </a:lnTo>
                  <a:lnTo>
                    <a:pt x="276" y="88"/>
                  </a:lnTo>
                  <a:lnTo>
                    <a:pt x="276" y="86"/>
                  </a:lnTo>
                  <a:lnTo>
                    <a:pt x="298" y="60"/>
                  </a:lnTo>
                  <a:lnTo>
                    <a:pt x="298" y="48"/>
                  </a:lnTo>
                  <a:lnTo>
                    <a:pt x="292" y="36"/>
                  </a:lnTo>
                  <a:lnTo>
                    <a:pt x="290" y="34"/>
                  </a:lnTo>
                  <a:lnTo>
                    <a:pt x="300" y="20"/>
                  </a:lnTo>
                  <a:lnTo>
                    <a:pt x="302" y="20"/>
                  </a:lnTo>
                  <a:lnTo>
                    <a:pt x="312" y="12"/>
                  </a:lnTo>
                  <a:lnTo>
                    <a:pt x="312" y="0"/>
                  </a:lnTo>
                  <a:lnTo>
                    <a:pt x="306" y="0"/>
                  </a:lnTo>
                  <a:lnTo>
                    <a:pt x="296" y="0"/>
                  </a:lnTo>
                  <a:lnTo>
                    <a:pt x="292" y="18"/>
                  </a:lnTo>
                  <a:lnTo>
                    <a:pt x="290" y="18"/>
                  </a:lnTo>
                  <a:lnTo>
                    <a:pt x="268" y="10"/>
                  </a:lnTo>
                  <a:lnTo>
                    <a:pt x="256" y="8"/>
                  </a:lnTo>
                  <a:lnTo>
                    <a:pt x="260" y="28"/>
                  </a:lnTo>
                  <a:lnTo>
                    <a:pt x="244" y="32"/>
                  </a:lnTo>
                  <a:lnTo>
                    <a:pt x="218" y="46"/>
                  </a:lnTo>
                  <a:lnTo>
                    <a:pt x="210" y="56"/>
                  </a:lnTo>
                  <a:lnTo>
                    <a:pt x="210" y="58"/>
                  </a:lnTo>
                  <a:lnTo>
                    <a:pt x="208" y="58"/>
                  </a:lnTo>
                  <a:lnTo>
                    <a:pt x="196" y="70"/>
                  </a:lnTo>
                  <a:lnTo>
                    <a:pt x="192" y="88"/>
                  </a:lnTo>
                  <a:lnTo>
                    <a:pt x="192" y="90"/>
                  </a:lnTo>
                  <a:lnTo>
                    <a:pt x="186" y="118"/>
                  </a:lnTo>
                  <a:lnTo>
                    <a:pt x="184" y="130"/>
                  </a:lnTo>
                  <a:lnTo>
                    <a:pt x="184" y="132"/>
                  </a:lnTo>
                  <a:lnTo>
                    <a:pt x="182" y="132"/>
                  </a:lnTo>
                  <a:lnTo>
                    <a:pt x="174" y="144"/>
                  </a:lnTo>
                  <a:lnTo>
                    <a:pt x="172" y="144"/>
                  </a:lnTo>
                  <a:lnTo>
                    <a:pt x="172" y="146"/>
                  </a:lnTo>
                  <a:lnTo>
                    <a:pt x="152" y="148"/>
                  </a:lnTo>
                  <a:lnTo>
                    <a:pt x="122" y="138"/>
                  </a:lnTo>
                  <a:lnTo>
                    <a:pt x="108" y="132"/>
                  </a:lnTo>
                  <a:close/>
                </a:path>
              </a:pathLst>
            </a:custGeom>
            <a:noFill/>
            <a:ln w="3175" cap="flat" cmpd="sng">
              <a:solidFill>
                <a:schemeClr val="bg2"/>
              </a:solidFill>
              <a:bevel/>
              <a:headEnd/>
              <a:tailEnd/>
            </a:ln>
          </p:spPr>
          <p:txBody>
            <a:bodyPr anchor="ctr"/>
            <a:lstStyle/>
            <a:p>
              <a:endParaRPr lang="zh-CN" altLang="en-US"/>
            </a:p>
          </p:txBody>
        </p:sp>
        <p:sp>
          <p:nvSpPr>
            <p:cNvPr id="8208" name="Freeform 16"/>
            <p:cNvSpPr>
              <a:spLocks/>
            </p:cNvSpPr>
            <p:nvPr/>
          </p:nvSpPr>
          <p:spPr bwMode="auto">
            <a:xfrm>
              <a:off x="3777436" y="1786673"/>
              <a:ext cx="386695" cy="848580"/>
            </a:xfrm>
            <a:custGeom>
              <a:avLst/>
              <a:gdLst/>
              <a:ahLst/>
              <a:cxnLst>
                <a:cxn ang="0">
                  <a:pos x="204" y="20"/>
                </a:cxn>
                <a:cxn ang="0">
                  <a:pos x="194" y="0"/>
                </a:cxn>
                <a:cxn ang="0">
                  <a:pos x="176" y="24"/>
                </a:cxn>
                <a:cxn ang="0">
                  <a:pos x="156" y="30"/>
                </a:cxn>
                <a:cxn ang="0">
                  <a:pos x="136" y="28"/>
                </a:cxn>
                <a:cxn ang="0">
                  <a:pos x="122" y="40"/>
                </a:cxn>
                <a:cxn ang="0">
                  <a:pos x="112" y="48"/>
                </a:cxn>
                <a:cxn ang="0">
                  <a:pos x="94" y="46"/>
                </a:cxn>
                <a:cxn ang="0">
                  <a:pos x="92" y="64"/>
                </a:cxn>
                <a:cxn ang="0">
                  <a:pos x="82" y="76"/>
                </a:cxn>
                <a:cxn ang="0">
                  <a:pos x="66" y="92"/>
                </a:cxn>
                <a:cxn ang="0">
                  <a:pos x="40" y="106"/>
                </a:cxn>
                <a:cxn ang="0">
                  <a:pos x="42" y="124"/>
                </a:cxn>
                <a:cxn ang="0">
                  <a:pos x="28" y="136"/>
                </a:cxn>
                <a:cxn ang="0">
                  <a:pos x="26" y="154"/>
                </a:cxn>
                <a:cxn ang="0">
                  <a:pos x="26" y="170"/>
                </a:cxn>
                <a:cxn ang="0">
                  <a:pos x="16" y="184"/>
                </a:cxn>
                <a:cxn ang="0">
                  <a:pos x="6" y="214"/>
                </a:cxn>
                <a:cxn ang="0">
                  <a:pos x="22" y="236"/>
                </a:cxn>
                <a:cxn ang="0">
                  <a:pos x="24" y="262"/>
                </a:cxn>
                <a:cxn ang="0">
                  <a:pos x="6" y="276"/>
                </a:cxn>
                <a:cxn ang="0">
                  <a:pos x="6" y="324"/>
                </a:cxn>
                <a:cxn ang="0">
                  <a:pos x="18" y="368"/>
                </a:cxn>
                <a:cxn ang="0">
                  <a:pos x="18" y="372"/>
                </a:cxn>
                <a:cxn ang="0">
                  <a:pos x="2" y="468"/>
                </a:cxn>
                <a:cxn ang="0">
                  <a:pos x="32" y="456"/>
                </a:cxn>
                <a:cxn ang="0">
                  <a:pos x="96" y="432"/>
                </a:cxn>
                <a:cxn ang="0">
                  <a:pos x="114" y="416"/>
                </a:cxn>
                <a:cxn ang="0">
                  <a:pos x="150" y="420"/>
                </a:cxn>
                <a:cxn ang="0">
                  <a:pos x="180" y="408"/>
                </a:cxn>
                <a:cxn ang="0">
                  <a:pos x="182" y="392"/>
                </a:cxn>
                <a:cxn ang="0">
                  <a:pos x="190" y="372"/>
                </a:cxn>
                <a:cxn ang="0">
                  <a:pos x="190" y="368"/>
                </a:cxn>
                <a:cxn ang="0">
                  <a:pos x="192" y="360"/>
                </a:cxn>
                <a:cxn ang="0">
                  <a:pos x="190" y="352"/>
                </a:cxn>
                <a:cxn ang="0">
                  <a:pos x="198" y="336"/>
                </a:cxn>
                <a:cxn ang="0">
                  <a:pos x="184" y="310"/>
                </a:cxn>
                <a:cxn ang="0">
                  <a:pos x="180" y="302"/>
                </a:cxn>
                <a:cxn ang="0">
                  <a:pos x="182" y="294"/>
                </a:cxn>
                <a:cxn ang="0">
                  <a:pos x="190" y="280"/>
                </a:cxn>
                <a:cxn ang="0">
                  <a:pos x="202" y="248"/>
                </a:cxn>
                <a:cxn ang="0">
                  <a:pos x="216" y="216"/>
                </a:cxn>
                <a:cxn ang="0">
                  <a:pos x="184" y="184"/>
                </a:cxn>
                <a:cxn ang="0">
                  <a:pos x="176" y="170"/>
                </a:cxn>
                <a:cxn ang="0">
                  <a:pos x="180" y="146"/>
                </a:cxn>
                <a:cxn ang="0">
                  <a:pos x="184" y="122"/>
                </a:cxn>
                <a:cxn ang="0">
                  <a:pos x="190" y="114"/>
                </a:cxn>
                <a:cxn ang="0">
                  <a:pos x="208" y="112"/>
                </a:cxn>
                <a:cxn ang="0">
                  <a:pos x="216" y="76"/>
                </a:cxn>
                <a:cxn ang="0">
                  <a:pos x="200" y="64"/>
                </a:cxn>
                <a:cxn ang="0">
                  <a:pos x="182" y="54"/>
                </a:cxn>
                <a:cxn ang="0">
                  <a:pos x="180" y="32"/>
                </a:cxn>
                <a:cxn ang="0">
                  <a:pos x="202" y="24"/>
                </a:cxn>
              </a:cxnLst>
              <a:rect l="0" t="0" r="r" b="b"/>
              <a:pathLst>
                <a:path w="216" h="474">
                  <a:moveTo>
                    <a:pt x="202" y="24"/>
                  </a:moveTo>
                  <a:lnTo>
                    <a:pt x="204" y="20"/>
                  </a:lnTo>
                  <a:lnTo>
                    <a:pt x="200" y="8"/>
                  </a:lnTo>
                  <a:lnTo>
                    <a:pt x="194" y="0"/>
                  </a:lnTo>
                  <a:lnTo>
                    <a:pt x="188" y="12"/>
                  </a:lnTo>
                  <a:lnTo>
                    <a:pt x="176" y="24"/>
                  </a:lnTo>
                  <a:lnTo>
                    <a:pt x="174" y="24"/>
                  </a:lnTo>
                  <a:lnTo>
                    <a:pt x="156" y="30"/>
                  </a:lnTo>
                  <a:lnTo>
                    <a:pt x="154" y="30"/>
                  </a:lnTo>
                  <a:lnTo>
                    <a:pt x="136" y="28"/>
                  </a:lnTo>
                  <a:lnTo>
                    <a:pt x="124" y="30"/>
                  </a:lnTo>
                  <a:lnTo>
                    <a:pt x="122" y="40"/>
                  </a:lnTo>
                  <a:lnTo>
                    <a:pt x="112" y="46"/>
                  </a:lnTo>
                  <a:lnTo>
                    <a:pt x="112" y="48"/>
                  </a:lnTo>
                  <a:lnTo>
                    <a:pt x="110" y="48"/>
                  </a:lnTo>
                  <a:lnTo>
                    <a:pt x="94" y="46"/>
                  </a:lnTo>
                  <a:lnTo>
                    <a:pt x="92" y="48"/>
                  </a:lnTo>
                  <a:lnTo>
                    <a:pt x="92" y="64"/>
                  </a:lnTo>
                  <a:lnTo>
                    <a:pt x="84" y="76"/>
                  </a:lnTo>
                  <a:lnTo>
                    <a:pt x="82" y="76"/>
                  </a:lnTo>
                  <a:lnTo>
                    <a:pt x="68" y="92"/>
                  </a:lnTo>
                  <a:lnTo>
                    <a:pt x="66" y="92"/>
                  </a:lnTo>
                  <a:lnTo>
                    <a:pt x="50" y="96"/>
                  </a:lnTo>
                  <a:lnTo>
                    <a:pt x="40" y="106"/>
                  </a:lnTo>
                  <a:lnTo>
                    <a:pt x="42" y="120"/>
                  </a:lnTo>
                  <a:lnTo>
                    <a:pt x="42" y="124"/>
                  </a:lnTo>
                  <a:lnTo>
                    <a:pt x="40" y="124"/>
                  </a:lnTo>
                  <a:lnTo>
                    <a:pt x="28" y="136"/>
                  </a:lnTo>
                  <a:lnTo>
                    <a:pt x="20" y="144"/>
                  </a:lnTo>
                  <a:lnTo>
                    <a:pt x="26" y="154"/>
                  </a:lnTo>
                  <a:lnTo>
                    <a:pt x="26" y="156"/>
                  </a:lnTo>
                  <a:lnTo>
                    <a:pt x="26" y="170"/>
                  </a:lnTo>
                  <a:lnTo>
                    <a:pt x="26" y="172"/>
                  </a:lnTo>
                  <a:lnTo>
                    <a:pt x="16" y="184"/>
                  </a:lnTo>
                  <a:lnTo>
                    <a:pt x="4" y="198"/>
                  </a:lnTo>
                  <a:lnTo>
                    <a:pt x="6" y="214"/>
                  </a:lnTo>
                  <a:lnTo>
                    <a:pt x="16" y="224"/>
                  </a:lnTo>
                  <a:lnTo>
                    <a:pt x="22" y="236"/>
                  </a:lnTo>
                  <a:lnTo>
                    <a:pt x="24" y="244"/>
                  </a:lnTo>
                  <a:lnTo>
                    <a:pt x="24" y="262"/>
                  </a:lnTo>
                  <a:lnTo>
                    <a:pt x="22" y="264"/>
                  </a:lnTo>
                  <a:lnTo>
                    <a:pt x="6" y="276"/>
                  </a:lnTo>
                  <a:lnTo>
                    <a:pt x="4" y="300"/>
                  </a:lnTo>
                  <a:lnTo>
                    <a:pt x="6" y="324"/>
                  </a:lnTo>
                  <a:lnTo>
                    <a:pt x="10" y="340"/>
                  </a:lnTo>
                  <a:lnTo>
                    <a:pt x="18" y="368"/>
                  </a:lnTo>
                  <a:lnTo>
                    <a:pt x="18" y="370"/>
                  </a:lnTo>
                  <a:lnTo>
                    <a:pt x="18" y="372"/>
                  </a:lnTo>
                  <a:lnTo>
                    <a:pt x="0" y="452"/>
                  </a:lnTo>
                  <a:lnTo>
                    <a:pt x="2" y="468"/>
                  </a:lnTo>
                  <a:lnTo>
                    <a:pt x="14" y="474"/>
                  </a:lnTo>
                  <a:lnTo>
                    <a:pt x="32" y="456"/>
                  </a:lnTo>
                  <a:lnTo>
                    <a:pt x="34" y="456"/>
                  </a:lnTo>
                  <a:lnTo>
                    <a:pt x="96" y="432"/>
                  </a:lnTo>
                  <a:lnTo>
                    <a:pt x="112" y="416"/>
                  </a:lnTo>
                  <a:lnTo>
                    <a:pt x="114" y="416"/>
                  </a:lnTo>
                  <a:lnTo>
                    <a:pt x="116" y="416"/>
                  </a:lnTo>
                  <a:lnTo>
                    <a:pt x="150" y="420"/>
                  </a:lnTo>
                  <a:lnTo>
                    <a:pt x="162" y="416"/>
                  </a:lnTo>
                  <a:lnTo>
                    <a:pt x="180" y="408"/>
                  </a:lnTo>
                  <a:lnTo>
                    <a:pt x="180" y="392"/>
                  </a:lnTo>
                  <a:lnTo>
                    <a:pt x="182" y="392"/>
                  </a:lnTo>
                  <a:lnTo>
                    <a:pt x="192" y="382"/>
                  </a:lnTo>
                  <a:lnTo>
                    <a:pt x="190" y="372"/>
                  </a:lnTo>
                  <a:lnTo>
                    <a:pt x="190" y="370"/>
                  </a:lnTo>
                  <a:lnTo>
                    <a:pt x="190" y="368"/>
                  </a:lnTo>
                  <a:lnTo>
                    <a:pt x="194" y="364"/>
                  </a:lnTo>
                  <a:lnTo>
                    <a:pt x="192" y="360"/>
                  </a:lnTo>
                  <a:lnTo>
                    <a:pt x="190" y="356"/>
                  </a:lnTo>
                  <a:lnTo>
                    <a:pt x="190" y="352"/>
                  </a:lnTo>
                  <a:lnTo>
                    <a:pt x="194" y="340"/>
                  </a:lnTo>
                  <a:lnTo>
                    <a:pt x="198" y="336"/>
                  </a:lnTo>
                  <a:lnTo>
                    <a:pt x="196" y="324"/>
                  </a:lnTo>
                  <a:lnTo>
                    <a:pt x="184" y="310"/>
                  </a:lnTo>
                  <a:lnTo>
                    <a:pt x="182" y="306"/>
                  </a:lnTo>
                  <a:lnTo>
                    <a:pt x="180" y="302"/>
                  </a:lnTo>
                  <a:lnTo>
                    <a:pt x="180" y="298"/>
                  </a:lnTo>
                  <a:lnTo>
                    <a:pt x="182" y="294"/>
                  </a:lnTo>
                  <a:lnTo>
                    <a:pt x="184" y="288"/>
                  </a:lnTo>
                  <a:lnTo>
                    <a:pt x="190" y="280"/>
                  </a:lnTo>
                  <a:lnTo>
                    <a:pt x="192" y="268"/>
                  </a:lnTo>
                  <a:lnTo>
                    <a:pt x="202" y="248"/>
                  </a:lnTo>
                  <a:lnTo>
                    <a:pt x="204" y="240"/>
                  </a:lnTo>
                  <a:lnTo>
                    <a:pt x="216" y="216"/>
                  </a:lnTo>
                  <a:lnTo>
                    <a:pt x="208" y="200"/>
                  </a:lnTo>
                  <a:lnTo>
                    <a:pt x="184" y="184"/>
                  </a:lnTo>
                  <a:lnTo>
                    <a:pt x="182" y="184"/>
                  </a:lnTo>
                  <a:lnTo>
                    <a:pt x="176" y="170"/>
                  </a:lnTo>
                  <a:lnTo>
                    <a:pt x="176" y="168"/>
                  </a:lnTo>
                  <a:lnTo>
                    <a:pt x="180" y="146"/>
                  </a:lnTo>
                  <a:lnTo>
                    <a:pt x="184" y="130"/>
                  </a:lnTo>
                  <a:lnTo>
                    <a:pt x="184" y="122"/>
                  </a:lnTo>
                  <a:lnTo>
                    <a:pt x="188" y="116"/>
                  </a:lnTo>
                  <a:lnTo>
                    <a:pt x="190" y="114"/>
                  </a:lnTo>
                  <a:lnTo>
                    <a:pt x="194" y="114"/>
                  </a:lnTo>
                  <a:lnTo>
                    <a:pt x="208" y="112"/>
                  </a:lnTo>
                  <a:lnTo>
                    <a:pt x="212" y="102"/>
                  </a:lnTo>
                  <a:lnTo>
                    <a:pt x="216" y="76"/>
                  </a:lnTo>
                  <a:lnTo>
                    <a:pt x="214" y="66"/>
                  </a:lnTo>
                  <a:lnTo>
                    <a:pt x="200" y="64"/>
                  </a:lnTo>
                  <a:lnTo>
                    <a:pt x="184" y="56"/>
                  </a:lnTo>
                  <a:lnTo>
                    <a:pt x="182" y="54"/>
                  </a:lnTo>
                  <a:lnTo>
                    <a:pt x="182" y="52"/>
                  </a:lnTo>
                  <a:lnTo>
                    <a:pt x="180" y="32"/>
                  </a:lnTo>
                  <a:lnTo>
                    <a:pt x="180" y="28"/>
                  </a:lnTo>
                  <a:lnTo>
                    <a:pt x="202" y="24"/>
                  </a:lnTo>
                  <a:close/>
                </a:path>
              </a:pathLst>
            </a:custGeom>
            <a:noFill/>
            <a:ln w="3175" cap="flat" cmpd="sng">
              <a:solidFill>
                <a:schemeClr val="bg2"/>
              </a:solidFill>
              <a:bevel/>
              <a:headEnd/>
              <a:tailEnd/>
            </a:ln>
          </p:spPr>
          <p:txBody>
            <a:bodyPr anchor="ctr"/>
            <a:lstStyle/>
            <a:p>
              <a:endParaRPr lang="zh-CN" altLang="en-US"/>
            </a:p>
          </p:txBody>
        </p:sp>
        <p:sp>
          <p:nvSpPr>
            <p:cNvPr id="8209" name="Freeform 17"/>
            <p:cNvSpPr>
              <a:spLocks/>
            </p:cNvSpPr>
            <p:nvPr/>
          </p:nvSpPr>
          <p:spPr bwMode="auto">
            <a:xfrm>
              <a:off x="3677181" y="3233198"/>
              <a:ext cx="615847" cy="716101"/>
            </a:xfrm>
            <a:custGeom>
              <a:avLst/>
              <a:gdLst/>
              <a:ahLst/>
              <a:cxnLst>
                <a:cxn ang="0">
                  <a:pos x="300" y="66"/>
                </a:cxn>
                <a:cxn ang="0">
                  <a:pos x="294" y="32"/>
                </a:cxn>
                <a:cxn ang="0">
                  <a:pos x="282" y="24"/>
                </a:cxn>
                <a:cxn ang="0">
                  <a:pos x="252" y="44"/>
                </a:cxn>
                <a:cxn ang="0">
                  <a:pos x="252" y="22"/>
                </a:cxn>
                <a:cxn ang="0">
                  <a:pos x="244" y="20"/>
                </a:cxn>
                <a:cxn ang="0">
                  <a:pos x="216" y="44"/>
                </a:cxn>
                <a:cxn ang="0">
                  <a:pos x="198" y="32"/>
                </a:cxn>
                <a:cxn ang="0">
                  <a:pos x="176" y="20"/>
                </a:cxn>
                <a:cxn ang="0">
                  <a:pos x="132" y="6"/>
                </a:cxn>
                <a:cxn ang="0">
                  <a:pos x="100" y="0"/>
                </a:cxn>
                <a:cxn ang="0">
                  <a:pos x="96" y="30"/>
                </a:cxn>
                <a:cxn ang="0">
                  <a:pos x="68" y="32"/>
                </a:cxn>
                <a:cxn ang="0">
                  <a:pos x="28" y="52"/>
                </a:cxn>
                <a:cxn ang="0">
                  <a:pos x="26" y="144"/>
                </a:cxn>
                <a:cxn ang="0">
                  <a:pos x="20" y="152"/>
                </a:cxn>
                <a:cxn ang="0">
                  <a:pos x="26" y="198"/>
                </a:cxn>
                <a:cxn ang="0">
                  <a:pos x="4" y="214"/>
                </a:cxn>
                <a:cxn ang="0">
                  <a:pos x="14" y="224"/>
                </a:cxn>
                <a:cxn ang="0">
                  <a:pos x="22" y="224"/>
                </a:cxn>
                <a:cxn ang="0">
                  <a:pos x="32" y="234"/>
                </a:cxn>
                <a:cxn ang="0">
                  <a:pos x="32" y="256"/>
                </a:cxn>
                <a:cxn ang="0">
                  <a:pos x="24" y="282"/>
                </a:cxn>
                <a:cxn ang="0">
                  <a:pos x="48" y="316"/>
                </a:cxn>
                <a:cxn ang="0">
                  <a:pos x="76" y="304"/>
                </a:cxn>
                <a:cxn ang="0">
                  <a:pos x="92" y="302"/>
                </a:cxn>
                <a:cxn ang="0">
                  <a:pos x="100" y="282"/>
                </a:cxn>
                <a:cxn ang="0">
                  <a:pos x="128" y="280"/>
                </a:cxn>
                <a:cxn ang="0">
                  <a:pos x="136" y="270"/>
                </a:cxn>
                <a:cxn ang="0">
                  <a:pos x="152" y="280"/>
                </a:cxn>
                <a:cxn ang="0">
                  <a:pos x="154" y="302"/>
                </a:cxn>
                <a:cxn ang="0">
                  <a:pos x="164" y="316"/>
                </a:cxn>
                <a:cxn ang="0">
                  <a:pos x="154" y="344"/>
                </a:cxn>
                <a:cxn ang="0">
                  <a:pos x="164" y="372"/>
                </a:cxn>
                <a:cxn ang="0">
                  <a:pos x="164" y="388"/>
                </a:cxn>
                <a:cxn ang="0">
                  <a:pos x="176" y="400"/>
                </a:cxn>
                <a:cxn ang="0">
                  <a:pos x="194" y="392"/>
                </a:cxn>
                <a:cxn ang="0">
                  <a:pos x="216" y="366"/>
                </a:cxn>
                <a:cxn ang="0">
                  <a:pos x="220" y="354"/>
                </a:cxn>
                <a:cxn ang="0">
                  <a:pos x="236" y="360"/>
                </a:cxn>
                <a:cxn ang="0">
                  <a:pos x="270" y="378"/>
                </a:cxn>
                <a:cxn ang="0">
                  <a:pos x="266" y="360"/>
                </a:cxn>
                <a:cxn ang="0">
                  <a:pos x="256" y="340"/>
                </a:cxn>
                <a:cxn ang="0">
                  <a:pos x="282" y="324"/>
                </a:cxn>
                <a:cxn ang="0">
                  <a:pos x="332" y="332"/>
                </a:cxn>
                <a:cxn ang="0">
                  <a:pos x="332" y="328"/>
                </a:cxn>
                <a:cxn ang="0">
                  <a:pos x="344" y="304"/>
                </a:cxn>
                <a:cxn ang="0">
                  <a:pos x="338" y="286"/>
                </a:cxn>
                <a:cxn ang="0">
                  <a:pos x="330" y="276"/>
                </a:cxn>
                <a:cxn ang="0">
                  <a:pos x="340" y="268"/>
                </a:cxn>
                <a:cxn ang="0">
                  <a:pos x="326" y="250"/>
                </a:cxn>
                <a:cxn ang="0">
                  <a:pos x="316" y="196"/>
                </a:cxn>
                <a:cxn ang="0">
                  <a:pos x="302" y="204"/>
                </a:cxn>
                <a:cxn ang="0">
                  <a:pos x="322" y="138"/>
                </a:cxn>
                <a:cxn ang="0">
                  <a:pos x="322" y="76"/>
                </a:cxn>
              </a:cxnLst>
              <a:rect l="0" t="0" r="r" b="b"/>
              <a:pathLst>
                <a:path w="344" h="400">
                  <a:moveTo>
                    <a:pt x="300" y="68"/>
                  </a:moveTo>
                  <a:lnTo>
                    <a:pt x="300" y="68"/>
                  </a:lnTo>
                  <a:lnTo>
                    <a:pt x="300" y="66"/>
                  </a:lnTo>
                  <a:lnTo>
                    <a:pt x="292" y="54"/>
                  </a:lnTo>
                  <a:lnTo>
                    <a:pt x="292" y="52"/>
                  </a:lnTo>
                  <a:lnTo>
                    <a:pt x="294" y="32"/>
                  </a:lnTo>
                  <a:lnTo>
                    <a:pt x="292" y="28"/>
                  </a:lnTo>
                  <a:lnTo>
                    <a:pt x="286" y="24"/>
                  </a:lnTo>
                  <a:lnTo>
                    <a:pt x="282" y="24"/>
                  </a:lnTo>
                  <a:lnTo>
                    <a:pt x="274" y="34"/>
                  </a:lnTo>
                  <a:lnTo>
                    <a:pt x="272" y="34"/>
                  </a:lnTo>
                  <a:lnTo>
                    <a:pt x="252" y="44"/>
                  </a:lnTo>
                  <a:lnTo>
                    <a:pt x="250" y="30"/>
                  </a:lnTo>
                  <a:lnTo>
                    <a:pt x="250" y="28"/>
                  </a:lnTo>
                  <a:lnTo>
                    <a:pt x="252" y="22"/>
                  </a:lnTo>
                  <a:lnTo>
                    <a:pt x="250" y="14"/>
                  </a:lnTo>
                  <a:lnTo>
                    <a:pt x="248" y="12"/>
                  </a:lnTo>
                  <a:lnTo>
                    <a:pt x="244" y="20"/>
                  </a:lnTo>
                  <a:lnTo>
                    <a:pt x="218" y="42"/>
                  </a:lnTo>
                  <a:lnTo>
                    <a:pt x="218" y="44"/>
                  </a:lnTo>
                  <a:lnTo>
                    <a:pt x="216" y="44"/>
                  </a:lnTo>
                  <a:lnTo>
                    <a:pt x="214" y="44"/>
                  </a:lnTo>
                  <a:lnTo>
                    <a:pt x="206" y="40"/>
                  </a:lnTo>
                  <a:lnTo>
                    <a:pt x="198" y="32"/>
                  </a:lnTo>
                  <a:lnTo>
                    <a:pt x="184" y="28"/>
                  </a:lnTo>
                  <a:lnTo>
                    <a:pt x="184" y="26"/>
                  </a:lnTo>
                  <a:lnTo>
                    <a:pt x="176" y="20"/>
                  </a:lnTo>
                  <a:lnTo>
                    <a:pt x="150" y="16"/>
                  </a:lnTo>
                  <a:lnTo>
                    <a:pt x="148" y="16"/>
                  </a:lnTo>
                  <a:lnTo>
                    <a:pt x="132" y="6"/>
                  </a:lnTo>
                  <a:lnTo>
                    <a:pt x="132" y="8"/>
                  </a:lnTo>
                  <a:lnTo>
                    <a:pt x="118" y="0"/>
                  </a:lnTo>
                  <a:lnTo>
                    <a:pt x="100" y="0"/>
                  </a:lnTo>
                  <a:lnTo>
                    <a:pt x="94" y="0"/>
                  </a:lnTo>
                  <a:lnTo>
                    <a:pt x="100" y="30"/>
                  </a:lnTo>
                  <a:lnTo>
                    <a:pt x="96" y="30"/>
                  </a:lnTo>
                  <a:lnTo>
                    <a:pt x="80" y="32"/>
                  </a:lnTo>
                  <a:lnTo>
                    <a:pt x="70" y="32"/>
                  </a:lnTo>
                  <a:lnTo>
                    <a:pt x="68" y="32"/>
                  </a:lnTo>
                  <a:lnTo>
                    <a:pt x="60" y="24"/>
                  </a:lnTo>
                  <a:lnTo>
                    <a:pt x="44" y="32"/>
                  </a:lnTo>
                  <a:lnTo>
                    <a:pt x="28" y="52"/>
                  </a:lnTo>
                  <a:lnTo>
                    <a:pt x="16" y="86"/>
                  </a:lnTo>
                  <a:lnTo>
                    <a:pt x="20" y="124"/>
                  </a:lnTo>
                  <a:lnTo>
                    <a:pt x="26" y="144"/>
                  </a:lnTo>
                  <a:lnTo>
                    <a:pt x="26" y="148"/>
                  </a:lnTo>
                  <a:lnTo>
                    <a:pt x="24" y="150"/>
                  </a:lnTo>
                  <a:lnTo>
                    <a:pt x="20" y="152"/>
                  </a:lnTo>
                  <a:lnTo>
                    <a:pt x="20" y="156"/>
                  </a:lnTo>
                  <a:lnTo>
                    <a:pt x="18" y="166"/>
                  </a:lnTo>
                  <a:lnTo>
                    <a:pt x="26" y="198"/>
                  </a:lnTo>
                  <a:lnTo>
                    <a:pt x="24" y="200"/>
                  </a:lnTo>
                  <a:lnTo>
                    <a:pt x="8" y="210"/>
                  </a:lnTo>
                  <a:lnTo>
                    <a:pt x="4" y="214"/>
                  </a:lnTo>
                  <a:lnTo>
                    <a:pt x="2" y="218"/>
                  </a:lnTo>
                  <a:lnTo>
                    <a:pt x="0" y="228"/>
                  </a:lnTo>
                  <a:lnTo>
                    <a:pt x="14" y="224"/>
                  </a:lnTo>
                  <a:lnTo>
                    <a:pt x="14" y="222"/>
                  </a:lnTo>
                  <a:lnTo>
                    <a:pt x="16" y="222"/>
                  </a:lnTo>
                  <a:lnTo>
                    <a:pt x="22" y="224"/>
                  </a:lnTo>
                  <a:lnTo>
                    <a:pt x="26" y="226"/>
                  </a:lnTo>
                  <a:lnTo>
                    <a:pt x="30" y="228"/>
                  </a:lnTo>
                  <a:lnTo>
                    <a:pt x="32" y="234"/>
                  </a:lnTo>
                  <a:lnTo>
                    <a:pt x="34" y="252"/>
                  </a:lnTo>
                  <a:lnTo>
                    <a:pt x="32" y="254"/>
                  </a:lnTo>
                  <a:lnTo>
                    <a:pt x="32" y="256"/>
                  </a:lnTo>
                  <a:lnTo>
                    <a:pt x="28" y="260"/>
                  </a:lnTo>
                  <a:lnTo>
                    <a:pt x="28" y="264"/>
                  </a:lnTo>
                  <a:lnTo>
                    <a:pt x="24" y="282"/>
                  </a:lnTo>
                  <a:lnTo>
                    <a:pt x="28" y="290"/>
                  </a:lnTo>
                  <a:lnTo>
                    <a:pt x="32" y="296"/>
                  </a:lnTo>
                  <a:lnTo>
                    <a:pt x="48" y="316"/>
                  </a:lnTo>
                  <a:lnTo>
                    <a:pt x="64" y="304"/>
                  </a:lnTo>
                  <a:lnTo>
                    <a:pt x="76" y="302"/>
                  </a:lnTo>
                  <a:lnTo>
                    <a:pt x="76" y="304"/>
                  </a:lnTo>
                  <a:lnTo>
                    <a:pt x="84" y="306"/>
                  </a:lnTo>
                  <a:lnTo>
                    <a:pt x="88" y="306"/>
                  </a:lnTo>
                  <a:lnTo>
                    <a:pt x="92" y="302"/>
                  </a:lnTo>
                  <a:lnTo>
                    <a:pt x="100" y="292"/>
                  </a:lnTo>
                  <a:lnTo>
                    <a:pt x="98" y="286"/>
                  </a:lnTo>
                  <a:lnTo>
                    <a:pt x="100" y="282"/>
                  </a:lnTo>
                  <a:lnTo>
                    <a:pt x="104" y="280"/>
                  </a:lnTo>
                  <a:lnTo>
                    <a:pt x="124" y="280"/>
                  </a:lnTo>
                  <a:lnTo>
                    <a:pt x="128" y="280"/>
                  </a:lnTo>
                  <a:lnTo>
                    <a:pt x="130" y="280"/>
                  </a:lnTo>
                  <a:lnTo>
                    <a:pt x="134" y="274"/>
                  </a:lnTo>
                  <a:lnTo>
                    <a:pt x="136" y="270"/>
                  </a:lnTo>
                  <a:lnTo>
                    <a:pt x="142" y="270"/>
                  </a:lnTo>
                  <a:lnTo>
                    <a:pt x="146" y="272"/>
                  </a:lnTo>
                  <a:lnTo>
                    <a:pt x="152" y="280"/>
                  </a:lnTo>
                  <a:lnTo>
                    <a:pt x="154" y="284"/>
                  </a:lnTo>
                  <a:lnTo>
                    <a:pt x="156" y="288"/>
                  </a:lnTo>
                  <a:lnTo>
                    <a:pt x="154" y="302"/>
                  </a:lnTo>
                  <a:lnTo>
                    <a:pt x="156" y="304"/>
                  </a:lnTo>
                  <a:lnTo>
                    <a:pt x="162" y="310"/>
                  </a:lnTo>
                  <a:lnTo>
                    <a:pt x="164" y="316"/>
                  </a:lnTo>
                  <a:lnTo>
                    <a:pt x="162" y="330"/>
                  </a:lnTo>
                  <a:lnTo>
                    <a:pt x="158" y="340"/>
                  </a:lnTo>
                  <a:lnTo>
                    <a:pt x="154" y="344"/>
                  </a:lnTo>
                  <a:lnTo>
                    <a:pt x="142" y="370"/>
                  </a:lnTo>
                  <a:lnTo>
                    <a:pt x="146" y="372"/>
                  </a:lnTo>
                  <a:lnTo>
                    <a:pt x="164" y="372"/>
                  </a:lnTo>
                  <a:lnTo>
                    <a:pt x="168" y="374"/>
                  </a:lnTo>
                  <a:lnTo>
                    <a:pt x="168" y="376"/>
                  </a:lnTo>
                  <a:lnTo>
                    <a:pt x="164" y="388"/>
                  </a:lnTo>
                  <a:lnTo>
                    <a:pt x="164" y="394"/>
                  </a:lnTo>
                  <a:lnTo>
                    <a:pt x="172" y="398"/>
                  </a:lnTo>
                  <a:lnTo>
                    <a:pt x="176" y="400"/>
                  </a:lnTo>
                  <a:lnTo>
                    <a:pt x="178" y="398"/>
                  </a:lnTo>
                  <a:lnTo>
                    <a:pt x="188" y="394"/>
                  </a:lnTo>
                  <a:lnTo>
                    <a:pt x="194" y="392"/>
                  </a:lnTo>
                  <a:lnTo>
                    <a:pt x="204" y="392"/>
                  </a:lnTo>
                  <a:lnTo>
                    <a:pt x="216" y="380"/>
                  </a:lnTo>
                  <a:lnTo>
                    <a:pt x="216" y="366"/>
                  </a:lnTo>
                  <a:lnTo>
                    <a:pt x="216" y="360"/>
                  </a:lnTo>
                  <a:lnTo>
                    <a:pt x="216" y="356"/>
                  </a:lnTo>
                  <a:lnTo>
                    <a:pt x="220" y="354"/>
                  </a:lnTo>
                  <a:lnTo>
                    <a:pt x="224" y="354"/>
                  </a:lnTo>
                  <a:lnTo>
                    <a:pt x="230" y="356"/>
                  </a:lnTo>
                  <a:lnTo>
                    <a:pt x="236" y="360"/>
                  </a:lnTo>
                  <a:lnTo>
                    <a:pt x="256" y="372"/>
                  </a:lnTo>
                  <a:lnTo>
                    <a:pt x="264" y="376"/>
                  </a:lnTo>
                  <a:lnTo>
                    <a:pt x="270" y="378"/>
                  </a:lnTo>
                  <a:lnTo>
                    <a:pt x="270" y="376"/>
                  </a:lnTo>
                  <a:lnTo>
                    <a:pt x="270" y="370"/>
                  </a:lnTo>
                  <a:lnTo>
                    <a:pt x="266" y="360"/>
                  </a:lnTo>
                  <a:lnTo>
                    <a:pt x="256" y="344"/>
                  </a:lnTo>
                  <a:lnTo>
                    <a:pt x="256" y="342"/>
                  </a:lnTo>
                  <a:lnTo>
                    <a:pt x="256" y="340"/>
                  </a:lnTo>
                  <a:lnTo>
                    <a:pt x="264" y="332"/>
                  </a:lnTo>
                  <a:lnTo>
                    <a:pt x="274" y="326"/>
                  </a:lnTo>
                  <a:lnTo>
                    <a:pt x="282" y="324"/>
                  </a:lnTo>
                  <a:lnTo>
                    <a:pt x="292" y="326"/>
                  </a:lnTo>
                  <a:lnTo>
                    <a:pt x="320" y="340"/>
                  </a:lnTo>
                  <a:lnTo>
                    <a:pt x="332" y="332"/>
                  </a:lnTo>
                  <a:lnTo>
                    <a:pt x="334" y="332"/>
                  </a:lnTo>
                  <a:lnTo>
                    <a:pt x="334" y="330"/>
                  </a:lnTo>
                  <a:lnTo>
                    <a:pt x="332" y="328"/>
                  </a:lnTo>
                  <a:lnTo>
                    <a:pt x="334" y="326"/>
                  </a:lnTo>
                  <a:lnTo>
                    <a:pt x="340" y="314"/>
                  </a:lnTo>
                  <a:lnTo>
                    <a:pt x="344" y="304"/>
                  </a:lnTo>
                  <a:lnTo>
                    <a:pt x="344" y="298"/>
                  </a:lnTo>
                  <a:lnTo>
                    <a:pt x="344" y="292"/>
                  </a:lnTo>
                  <a:lnTo>
                    <a:pt x="338" y="286"/>
                  </a:lnTo>
                  <a:lnTo>
                    <a:pt x="334" y="284"/>
                  </a:lnTo>
                  <a:lnTo>
                    <a:pt x="332" y="284"/>
                  </a:lnTo>
                  <a:lnTo>
                    <a:pt x="330" y="276"/>
                  </a:lnTo>
                  <a:lnTo>
                    <a:pt x="332" y="276"/>
                  </a:lnTo>
                  <a:lnTo>
                    <a:pt x="338" y="272"/>
                  </a:lnTo>
                  <a:lnTo>
                    <a:pt x="340" y="268"/>
                  </a:lnTo>
                  <a:lnTo>
                    <a:pt x="338" y="264"/>
                  </a:lnTo>
                  <a:lnTo>
                    <a:pt x="326" y="252"/>
                  </a:lnTo>
                  <a:lnTo>
                    <a:pt x="326" y="250"/>
                  </a:lnTo>
                  <a:lnTo>
                    <a:pt x="320" y="232"/>
                  </a:lnTo>
                  <a:lnTo>
                    <a:pt x="316" y="214"/>
                  </a:lnTo>
                  <a:lnTo>
                    <a:pt x="316" y="196"/>
                  </a:lnTo>
                  <a:lnTo>
                    <a:pt x="316" y="188"/>
                  </a:lnTo>
                  <a:lnTo>
                    <a:pt x="308" y="196"/>
                  </a:lnTo>
                  <a:lnTo>
                    <a:pt x="302" y="204"/>
                  </a:lnTo>
                  <a:lnTo>
                    <a:pt x="300" y="170"/>
                  </a:lnTo>
                  <a:lnTo>
                    <a:pt x="300" y="168"/>
                  </a:lnTo>
                  <a:lnTo>
                    <a:pt x="322" y="138"/>
                  </a:lnTo>
                  <a:lnTo>
                    <a:pt x="334" y="124"/>
                  </a:lnTo>
                  <a:lnTo>
                    <a:pt x="326" y="100"/>
                  </a:lnTo>
                  <a:lnTo>
                    <a:pt x="322" y="76"/>
                  </a:lnTo>
                  <a:lnTo>
                    <a:pt x="308" y="70"/>
                  </a:lnTo>
                  <a:lnTo>
                    <a:pt x="300" y="68"/>
                  </a:lnTo>
                  <a:close/>
                </a:path>
              </a:pathLst>
            </a:custGeom>
            <a:noFill/>
            <a:ln w="3175" cap="flat" cmpd="sng">
              <a:solidFill>
                <a:schemeClr val="bg2"/>
              </a:solidFill>
              <a:bevel/>
              <a:headEnd/>
              <a:tailEnd/>
            </a:ln>
          </p:spPr>
          <p:txBody>
            <a:bodyPr anchor="ctr"/>
            <a:lstStyle/>
            <a:p>
              <a:endParaRPr lang="zh-CN" altLang="en-US"/>
            </a:p>
          </p:txBody>
        </p:sp>
        <p:sp>
          <p:nvSpPr>
            <p:cNvPr id="8210" name="Freeform 18"/>
            <p:cNvSpPr>
              <a:spLocks/>
            </p:cNvSpPr>
            <p:nvPr/>
          </p:nvSpPr>
          <p:spPr bwMode="auto">
            <a:xfrm>
              <a:off x="3605571" y="2821440"/>
              <a:ext cx="873644" cy="547818"/>
            </a:xfrm>
            <a:custGeom>
              <a:avLst/>
              <a:gdLst/>
              <a:ahLst/>
              <a:cxnLst>
                <a:cxn ang="0">
                  <a:pos x="64" y="10"/>
                </a:cxn>
                <a:cxn ang="0">
                  <a:pos x="98" y="40"/>
                </a:cxn>
                <a:cxn ang="0">
                  <a:pos x="88" y="52"/>
                </a:cxn>
                <a:cxn ang="0">
                  <a:pos x="60" y="58"/>
                </a:cxn>
                <a:cxn ang="0">
                  <a:pos x="72" y="86"/>
                </a:cxn>
                <a:cxn ang="0">
                  <a:pos x="88" y="114"/>
                </a:cxn>
                <a:cxn ang="0">
                  <a:pos x="102" y="130"/>
                </a:cxn>
                <a:cxn ang="0">
                  <a:pos x="106" y="164"/>
                </a:cxn>
                <a:cxn ang="0">
                  <a:pos x="80" y="184"/>
                </a:cxn>
                <a:cxn ang="0">
                  <a:pos x="4" y="204"/>
                </a:cxn>
                <a:cxn ang="0">
                  <a:pos x="8" y="234"/>
                </a:cxn>
                <a:cxn ang="0">
                  <a:pos x="40" y="286"/>
                </a:cxn>
                <a:cxn ang="0">
                  <a:pos x="60" y="278"/>
                </a:cxn>
                <a:cxn ang="0">
                  <a:pos x="78" y="254"/>
                </a:cxn>
                <a:cxn ang="0">
                  <a:pos x="112" y="254"/>
                </a:cxn>
                <a:cxn ang="0">
                  <a:pos x="126" y="222"/>
                </a:cxn>
                <a:cxn ang="0">
                  <a:pos x="160" y="222"/>
                </a:cxn>
                <a:cxn ang="0">
                  <a:pos x="220" y="242"/>
                </a:cxn>
                <a:cxn ang="0">
                  <a:pos x="250" y="262"/>
                </a:cxn>
                <a:cxn ang="0">
                  <a:pos x="264" y="254"/>
                </a:cxn>
                <a:cxn ang="0">
                  <a:pos x="296" y="238"/>
                </a:cxn>
                <a:cxn ang="0">
                  <a:pos x="300" y="252"/>
                </a:cxn>
                <a:cxn ang="0">
                  <a:pos x="308" y="256"/>
                </a:cxn>
                <a:cxn ang="0">
                  <a:pos x="330" y="246"/>
                </a:cxn>
                <a:cxn ang="0">
                  <a:pos x="342" y="260"/>
                </a:cxn>
                <a:cxn ang="0">
                  <a:pos x="346" y="290"/>
                </a:cxn>
                <a:cxn ang="0">
                  <a:pos x="372" y="268"/>
                </a:cxn>
                <a:cxn ang="0">
                  <a:pos x="408" y="260"/>
                </a:cxn>
                <a:cxn ang="0">
                  <a:pos x="432" y="242"/>
                </a:cxn>
                <a:cxn ang="0">
                  <a:pos x="488" y="228"/>
                </a:cxn>
                <a:cxn ang="0">
                  <a:pos x="488" y="216"/>
                </a:cxn>
                <a:cxn ang="0">
                  <a:pos x="458" y="150"/>
                </a:cxn>
                <a:cxn ang="0">
                  <a:pos x="446" y="126"/>
                </a:cxn>
                <a:cxn ang="0">
                  <a:pos x="430" y="110"/>
                </a:cxn>
                <a:cxn ang="0">
                  <a:pos x="416" y="100"/>
                </a:cxn>
                <a:cxn ang="0">
                  <a:pos x="394" y="114"/>
                </a:cxn>
                <a:cxn ang="0">
                  <a:pos x="372" y="94"/>
                </a:cxn>
                <a:cxn ang="0">
                  <a:pos x="352" y="90"/>
                </a:cxn>
                <a:cxn ang="0">
                  <a:pos x="324" y="94"/>
                </a:cxn>
                <a:cxn ang="0">
                  <a:pos x="320" y="70"/>
                </a:cxn>
                <a:cxn ang="0">
                  <a:pos x="216" y="50"/>
                </a:cxn>
                <a:cxn ang="0">
                  <a:pos x="178" y="34"/>
                </a:cxn>
                <a:cxn ang="0">
                  <a:pos x="144" y="0"/>
                </a:cxn>
                <a:cxn ang="0">
                  <a:pos x="74" y="6"/>
                </a:cxn>
              </a:cxnLst>
              <a:rect l="0" t="0" r="r" b="b"/>
              <a:pathLst>
                <a:path w="488" h="306">
                  <a:moveTo>
                    <a:pt x="62" y="2"/>
                  </a:moveTo>
                  <a:lnTo>
                    <a:pt x="60" y="4"/>
                  </a:lnTo>
                  <a:lnTo>
                    <a:pt x="64" y="10"/>
                  </a:lnTo>
                  <a:lnTo>
                    <a:pt x="86" y="24"/>
                  </a:lnTo>
                  <a:lnTo>
                    <a:pt x="100" y="38"/>
                  </a:lnTo>
                  <a:lnTo>
                    <a:pt x="98" y="40"/>
                  </a:lnTo>
                  <a:lnTo>
                    <a:pt x="90" y="50"/>
                  </a:lnTo>
                  <a:lnTo>
                    <a:pt x="88" y="50"/>
                  </a:lnTo>
                  <a:lnTo>
                    <a:pt x="88" y="52"/>
                  </a:lnTo>
                  <a:lnTo>
                    <a:pt x="74" y="52"/>
                  </a:lnTo>
                  <a:lnTo>
                    <a:pt x="66" y="54"/>
                  </a:lnTo>
                  <a:lnTo>
                    <a:pt x="60" y="58"/>
                  </a:lnTo>
                  <a:lnTo>
                    <a:pt x="64" y="66"/>
                  </a:lnTo>
                  <a:lnTo>
                    <a:pt x="64" y="74"/>
                  </a:lnTo>
                  <a:lnTo>
                    <a:pt x="72" y="86"/>
                  </a:lnTo>
                  <a:lnTo>
                    <a:pt x="72" y="108"/>
                  </a:lnTo>
                  <a:lnTo>
                    <a:pt x="78" y="110"/>
                  </a:lnTo>
                  <a:lnTo>
                    <a:pt x="88" y="114"/>
                  </a:lnTo>
                  <a:lnTo>
                    <a:pt x="90" y="114"/>
                  </a:lnTo>
                  <a:lnTo>
                    <a:pt x="92" y="116"/>
                  </a:lnTo>
                  <a:lnTo>
                    <a:pt x="102" y="130"/>
                  </a:lnTo>
                  <a:lnTo>
                    <a:pt x="108" y="146"/>
                  </a:lnTo>
                  <a:lnTo>
                    <a:pt x="108" y="156"/>
                  </a:lnTo>
                  <a:lnTo>
                    <a:pt x="106" y="164"/>
                  </a:lnTo>
                  <a:lnTo>
                    <a:pt x="104" y="170"/>
                  </a:lnTo>
                  <a:lnTo>
                    <a:pt x="94" y="178"/>
                  </a:lnTo>
                  <a:lnTo>
                    <a:pt x="80" y="184"/>
                  </a:lnTo>
                  <a:lnTo>
                    <a:pt x="54" y="200"/>
                  </a:lnTo>
                  <a:lnTo>
                    <a:pt x="52" y="200"/>
                  </a:lnTo>
                  <a:lnTo>
                    <a:pt x="4" y="204"/>
                  </a:lnTo>
                  <a:lnTo>
                    <a:pt x="0" y="216"/>
                  </a:lnTo>
                  <a:lnTo>
                    <a:pt x="8" y="232"/>
                  </a:lnTo>
                  <a:lnTo>
                    <a:pt x="8" y="234"/>
                  </a:lnTo>
                  <a:lnTo>
                    <a:pt x="12" y="254"/>
                  </a:lnTo>
                  <a:lnTo>
                    <a:pt x="38" y="286"/>
                  </a:lnTo>
                  <a:lnTo>
                    <a:pt x="40" y="286"/>
                  </a:lnTo>
                  <a:lnTo>
                    <a:pt x="50" y="306"/>
                  </a:lnTo>
                  <a:lnTo>
                    <a:pt x="52" y="302"/>
                  </a:lnTo>
                  <a:lnTo>
                    <a:pt x="60" y="278"/>
                  </a:lnTo>
                  <a:lnTo>
                    <a:pt x="60" y="276"/>
                  </a:lnTo>
                  <a:lnTo>
                    <a:pt x="76" y="256"/>
                  </a:lnTo>
                  <a:lnTo>
                    <a:pt x="78" y="254"/>
                  </a:lnTo>
                  <a:lnTo>
                    <a:pt x="98" y="246"/>
                  </a:lnTo>
                  <a:lnTo>
                    <a:pt x="100" y="246"/>
                  </a:lnTo>
                  <a:lnTo>
                    <a:pt x="112" y="254"/>
                  </a:lnTo>
                  <a:lnTo>
                    <a:pt x="128" y="252"/>
                  </a:lnTo>
                  <a:lnTo>
                    <a:pt x="124" y="224"/>
                  </a:lnTo>
                  <a:lnTo>
                    <a:pt x="126" y="222"/>
                  </a:lnTo>
                  <a:lnTo>
                    <a:pt x="142" y="222"/>
                  </a:lnTo>
                  <a:lnTo>
                    <a:pt x="158" y="222"/>
                  </a:lnTo>
                  <a:lnTo>
                    <a:pt x="160" y="222"/>
                  </a:lnTo>
                  <a:lnTo>
                    <a:pt x="192" y="238"/>
                  </a:lnTo>
                  <a:lnTo>
                    <a:pt x="218" y="242"/>
                  </a:lnTo>
                  <a:lnTo>
                    <a:pt x="220" y="242"/>
                  </a:lnTo>
                  <a:lnTo>
                    <a:pt x="228" y="250"/>
                  </a:lnTo>
                  <a:lnTo>
                    <a:pt x="242" y="254"/>
                  </a:lnTo>
                  <a:lnTo>
                    <a:pt x="250" y="262"/>
                  </a:lnTo>
                  <a:lnTo>
                    <a:pt x="254" y="264"/>
                  </a:lnTo>
                  <a:lnTo>
                    <a:pt x="264" y="256"/>
                  </a:lnTo>
                  <a:lnTo>
                    <a:pt x="264" y="254"/>
                  </a:lnTo>
                  <a:lnTo>
                    <a:pt x="276" y="244"/>
                  </a:lnTo>
                  <a:lnTo>
                    <a:pt x="284" y="230"/>
                  </a:lnTo>
                  <a:lnTo>
                    <a:pt x="296" y="238"/>
                  </a:lnTo>
                  <a:lnTo>
                    <a:pt x="296" y="240"/>
                  </a:lnTo>
                  <a:lnTo>
                    <a:pt x="300" y="250"/>
                  </a:lnTo>
                  <a:lnTo>
                    <a:pt x="300" y="252"/>
                  </a:lnTo>
                  <a:lnTo>
                    <a:pt x="298" y="258"/>
                  </a:lnTo>
                  <a:lnTo>
                    <a:pt x="300" y="260"/>
                  </a:lnTo>
                  <a:lnTo>
                    <a:pt x="308" y="256"/>
                  </a:lnTo>
                  <a:lnTo>
                    <a:pt x="318" y="246"/>
                  </a:lnTo>
                  <a:lnTo>
                    <a:pt x="328" y="246"/>
                  </a:lnTo>
                  <a:lnTo>
                    <a:pt x="330" y="246"/>
                  </a:lnTo>
                  <a:lnTo>
                    <a:pt x="336" y="250"/>
                  </a:lnTo>
                  <a:lnTo>
                    <a:pt x="342" y="258"/>
                  </a:lnTo>
                  <a:lnTo>
                    <a:pt x="342" y="260"/>
                  </a:lnTo>
                  <a:lnTo>
                    <a:pt x="342" y="264"/>
                  </a:lnTo>
                  <a:lnTo>
                    <a:pt x="340" y="282"/>
                  </a:lnTo>
                  <a:lnTo>
                    <a:pt x="346" y="290"/>
                  </a:lnTo>
                  <a:lnTo>
                    <a:pt x="348" y="290"/>
                  </a:lnTo>
                  <a:lnTo>
                    <a:pt x="360" y="278"/>
                  </a:lnTo>
                  <a:lnTo>
                    <a:pt x="372" y="268"/>
                  </a:lnTo>
                  <a:lnTo>
                    <a:pt x="380" y="262"/>
                  </a:lnTo>
                  <a:lnTo>
                    <a:pt x="388" y="260"/>
                  </a:lnTo>
                  <a:lnTo>
                    <a:pt x="408" y="260"/>
                  </a:lnTo>
                  <a:lnTo>
                    <a:pt x="414" y="250"/>
                  </a:lnTo>
                  <a:lnTo>
                    <a:pt x="430" y="242"/>
                  </a:lnTo>
                  <a:lnTo>
                    <a:pt x="432" y="242"/>
                  </a:lnTo>
                  <a:lnTo>
                    <a:pt x="452" y="240"/>
                  </a:lnTo>
                  <a:lnTo>
                    <a:pt x="474" y="228"/>
                  </a:lnTo>
                  <a:lnTo>
                    <a:pt x="488" y="228"/>
                  </a:lnTo>
                  <a:lnTo>
                    <a:pt x="484" y="222"/>
                  </a:lnTo>
                  <a:lnTo>
                    <a:pt x="486" y="220"/>
                  </a:lnTo>
                  <a:lnTo>
                    <a:pt x="488" y="216"/>
                  </a:lnTo>
                  <a:lnTo>
                    <a:pt x="460" y="154"/>
                  </a:lnTo>
                  <a:lnTo>
                    <a:pt x="460" y="152"/>
                  </a:lnTo>
                  <a:lnTo>
                    <a:pt x="458" y="150"/>
                  </a:lnTo>
                  <a:lnTo>
                    <a:pt x="472" y="134"/>
                  </a:lnTo>
                  <a:lnTo>
                    <a:pt x="468" y="130"/>
                  </a:lnTo>
                  <a:lnTo>
                    <a:pt x="446" y="126"/>
                  </a:lnTo>
                  <a:lnTo>
                    <a:pt x="444" y="126"/>
                  </a:lnTo>
                  <a:lnTo>
                    <a:pt x="444" y="124"/>
                  </a:lnTo>
                  <a:lnTo>
                    <a:pt x="430" y="110"/>
                  </a:lnTo>
                  <a:lnTo>
                    <a:pt x="430" y="106"/>
                  </a:lnTo>
                  <a:lnTo>
                    <a:pt x="428" y="108"/>
                  </a:lnTo>
                  <a:lnTo>
                    <a:pt x="416" y="100"/>
                  </a:lnTo>
                  <a:lnTo>
                    <a:pt x="408" y="108"/>
                  </a:lnTo>
                  <a:lnTo>
                    <a:pt x="400" y="114"/>
                  </a:lnTo>
                  <a:lnTo>
                    <a:pt x="394" y="114"/>
                  </a:lnTo>
                  <a:lnTo>
                    <a:pt x="388" y="110"/>
                  </a:lnTo>
                  <a:lnTo>
                    <a:pt x="382" y="104"/>
                  </a:lnTo>
                  <a:lnTo>
                    <a:pt x="372" y="94"/>
                  </a:lnTo>
                  <a:lnTo>
                    <a:pt x="366" y="86"/>
                  </a:lnTo>
                  <a:lnTo>
                    <a:pt x="362" y="86"/>
                  </a:lnTo>
                  <a:lnTo>
                    <a:pt x="352" y="90"/>
                  </a:lnTo>
                  <a:lnTo>
                    <a:pt x="334" y="94"/>
                  </a:lnTo>
                  <a:lnTo>
                    <a:pt x="328" y="94"/>
                  </a:lnTo>
                  <a:lnTo>
                    <a:pt x="324" y="94"/>
                  </a:lnTo>
                  <a:lnTo>
                    <a:pt x="322" y="90"/>
                  </a:lnTo>
                  <a:lnTo>
                    <a:pt x="320" y="84"/>
                  </a:lnTo>
                  <a:lnTo>
                    <a:pt x="320" y="70"/>
                  </a:lnTo>
                  <a:lnTo>
                    <a:pt x="322" y="60"/>
                  </a:lnTo>
                  <a:lnTo>
                    <a:pt x="320" y="54"/>
                  </a:lnTo>
                  <a:lnTo>
                    <a:pt x="216" y="50"/>
                  </a:lnTo>
                  <a:lnTo>
                    <a:pt x="202" y="44"/>
                  </a:lnTo>
                  <a:lnTo>
                    <a:pt x="194" y="38"/>
                  </a:lnTo>
                  <a:lnTo>
                    <a:pt x="178" y="34"/>
                  </a:lnTo>
                  <a:lnTo>
                    <a:pt x="172" y="30"/>
                  </a:lnTo>
                  <a:lnTo>
                    <a:pt x="164" y="24"/>
                  </a:lnTo>
                  <a:lnTo>
                    <a:pt x="144" y="0"/>
                  </a:lnTo>
                  <a:lnTo>
                    <a:pt x="132" y="10"/>
                  </a:lnTo>
                  <a:lnTo>
                    <a:pt x="116" y="4"/>
                  </a:lnTo>
                  <a:lnTo>
                    <a:pt x="74" y="6"/>
                  </a:lnTo>
                  <a:lnTo>
                    <a:pt x="62" y="2"/>
                  </a:lnTo>
                  <a:close/>
                </a:path>
              </a:pathLst>
            </a:custGeom>
            <a:noFill/>
            <a:ln w="3175" cap="flat" cmpd="sng">
              <a:solidFill>
                <a:schemeClr val="bg2"/>
              </a:solidFill>
              <a:bevel/>
              <a:headEnd/>
              <a:tailEnd/>
            </a:ln>
          </p:spPr>
          <p:txBody>
            <a:bodyPr anchor="ctr"/>
            <a:lstStyle/>
            <a:p>
              <a:endParaRPr lang="zh-CN" altLang="en-US"/>
            </a:p>
          </p:txBody>
        </p:sp>
        <p:sp>
          <p:nvSpPr>
            <p:cNvPr id="8211" name="Freeform 19"/>
            <p:cNvSpPr>
              <a:spLocks/>
            </p:cNvSpPr>
            <p:nvPr/>
          </p:nvSpPr>
          <p:spPr bwMode="auto">
            <a:xfrm>
              <a:off x="3798919" y="3827562"/>
              <a:ext cx="909449" cy="719682"/>
            </a:xfrm>
            <a:custGeom>
              <a:avLst/>
              <a:gdLst/>
              <a:ahLst/>
              <a:cxnLst>
                <a:cxn ang="0">
                  <a:pos x="484" y="134"/>
                </a:cxn>
                <a:cxn ang="0">
                  <a:pos x="490" y="126"/>
                </a:cxn>
                <a:cxn ang="0">
                  <a:pos x="508" y="116"/>
                </a:cxn>
                <a:cxn ang="0">
                  <a:pos x="472" y="88"/>
                </a:cxn>
                <a:cxn ang="0">
                  <a:pos x="424" y="42"/>
                </a:cxn>
                <a:cxn ang="0">
                  <a:pos x="404" y="54"/>
                </a:cxn>
                <a:cxn ang="0">
                  <a:pos x="400" y="58"/>
                </a:cxn>
                <a:cxn ang="0">
                  <a:pos x="372" y="50"/>
                </a:cxn>
                <a:cxn ang="0">
                  <a:pos x="332" y="64"/>
                </a:cxn>
                <a:cxn ang="0">
                  <a:pos x="310" y="70"/>
                </a:cxn>
                <a:cxn ang="0">
                  <a:pos x="298" y="76"/>
                </a:cxn>
                <a:cxn ang="0">
                  <a:pos x="286" y="58"/>
                </a:cxn>
                <a:cxn ang="0">
                  <a:pos x="314" y="22"/>
                </a:cxn>
                <a:cxn ang="0">
                  <a:pos x="312" y="12"/>
                </a:cxn>
                <a:cxn ang="0">
                  <a:pos x="288" y="26"/>
                </a:cxn>
                <a:cxn ang="0">
                  <a:pos x="278" y="20"/>
                </a:cxn>
                <a:cxn ang="0">
                  <a:pos x="254" y="16"/>
                </a:cxn>
                <a:cxn ang="0">
                  <a:pos x="236" y="8"/>
                </a:cxn>
                <a:cxn ang="0">
                  <a:pos x="208" y="2"/>
                </a:cxn>
                <a:cxn ang="0">
                  <a:pos x="204" y="24"/>
                </a:cxn>
                <a:cxn ang="0">
                  <a:pos x="210" y="48"/>
                </a:cxn>
                <a:cxn ang="0">
                  <a:pos x="200" y="54"/>
                </a:cxn>
                <a:cxn ang="0">
                  <a:pos x="182" y="46"/>
                </a:cxn>
                <a:cxn ang="0">
                  <a:pos x="156" y="34"/>
                </a:cxn>
                <a:cxn ang="0">
                  <a:pos x="144" y="80"/>
                </a:cxn>
                <a:cxn ang="0">
                  <a:pos x="140" y="108"/>
                </a:cxn>
                <a:cxn ang="0">
                  <a:pos x="124" y="134"/>
                </a:cxn>
                <a:cxn ang="0">
                  <a:pos x="60" y="230"/>
                </a:cxn>
                <a:cxn ang="0">
                  <a:pos x="60" y="266"/>
                </a:cxn>
                <a:cxn ang="0">
                  <a:pos x="16" y="284"/>
                </a:cxn>
                <a:cxn ang="0">
                  <a:pos x="0" y="356"/>
                </a:cxn>
                <a:cxn ang="0">
                  <a:pos x="6" y="380"/>
                </a:cxn>
                <a:cxn ang="0">
                  <a:pos x="42" y="400"/>
                </a:cxn>
                <a:cxn ang="0">
                  <a:pos x="52" y="388"/>
                </a:cxn>
                <a:cxn ang="0">
                  <a:pos x="24" y="364"/>
                </a:cxn>
                <a:cxn ang="0">
                  <a:pos x="36" y="346"/>
                </a:cxn>
                <a:cxn ang="0">
                  <a:pos x="64" y="324"/>
                </a:cxn>
                <a:cxn ang="0">
                  <a:pos x="128" y="282"/>
                </a:cxn>
                <a:cxn ang="0">
                  <a:pos x="146" y="296"/>
                </a:cxn>
                <a:cxn ang="0">
                  <a:pos x="168" y="282"/>
                </a:cxn>
                <a:cxn ang="0">
                  <a:pos x="194" y="272"/>
                </a:cxn>
                <a:cxn ang="0">
                  <a:pos x="218" y="238"/>
                </a:cxn>
                <a:cxn ang="0">
                  <a:pos x="250" y="252"/>
                </a:cxn>
                <a:cxn ang="0">
                  <a:pos x="248" y="186"/>
                </a:cxn>
                <a:cxn ang="0">
                  <a:pos x="264" y="190"/>
                </a:cxn>
                <a:cxn ang="0">
                  <a:pos x="318" y="224"/>
                </a:cxn>
                <a:cxn ang="0">
                  <a:pos x="312" y="206"/>
                </a:cxn>
                <a:cxn ang="0">
                  <a:pos x="340" y="206"/>
                </a:cxn>
                <a:cxn ang="0">
                  <a:pos x="350" y="190"/>
                </a:cxn>
                <a:cxn ang="0">
                  <a:pos x="376" y="194"/>
                </a:cxn>
                <a:cxn ang="0">
                  <a:pos x="388" y="206"/>
                </a:cxn>
                <a:cxn ang="0">
                  <a:pos x="400" y="182"/>
                </a:cxn>
                <a:cxn ang="0">
                  <a:pos x="414" y="186"/>
                </a:cxn>
                <a:cxn ang="0">
                  <a:pos x="432" y="180"/>
                </a:cxn>
                <a:cxn ang="0">
                  <a:pos x="464" y="146"/>
                </a:cxn>
              </a:cxnLst>
              <a:rect l="0" t="0" r="r" b="b"/>
              <a:pathLst>
                <a:path w="508" h="402">
                  <a:moveTo>
                    <a:pt x="476" y="138"/>
                  </a:moveTo>
                  <a:lnTo>
                    <a:pt x="476" y="138"/>
                  </a:lnTo>
                  <a:lnTo>
                    <a:pt x="484" y="134"/>
                  </a:lnTo>
                  <a:lnTo>
                    <a:pt x="488" y="130"/>
                  </a:lnTo>
                  <a:lnTo>
                    <a:pt x="488" y="128"/>
                  </a:lnTo>
                  <a:lnTo>
                    <a:pt x="490" y="126"/>
                  </a:lnTo>
                  <a:lnTo>
                    <a:pt x="492" y="126"/>
                  </a:lnTo>
                  <a:lnTo>
                    <a:pt x="508" y="126"/>
                  </a:lnTo>
                  <a:lnTo>
                    <a:pt x="508" y="116"/>
                  </a:lnTo>
                  <a:lnTo>
                    <a:pt x="502" y="114"/>
                  </a:lnTo>
                  <a:lnTo>
                    <a:pt x="496" y="110"/>
                  </a:lnTo>
                  <a:lnTo>
                    <a:pt x="472" y="88"/>
                  </a:lnTo>
                  <a:lnTo>
                    <a:pt x="460" y="58"/>
                  </a:lnTo>
                  <a:lnTo>
                    <a:pt x="446" y="44"/>
                  </a:lnTo>
                  <a:lnTo>
                    <a:pt x="424" y="42"/>
                  </a:lnTo>
                  <a:lnTo>
                    <a:pt x="406" y="44"/>
                  </a:lnTo>
                  <a:lnTo>
                    <a:pt x="402" y="44"/>
                  </a:lnTo>
                  <a:lnTo>
                    <a:pt x="404" y="54"/>
                  </a:lnTo>
                  <a:lnTo>
                    <a:pt x="404" y="56"/>
                  </a:lnTo>
                  <a:lnTo>
                    <a:pt x="404" y="58"/>
                  </a:lnTo>
                  <a:lnTo>
                    <a:pt x="400" y="58"/>
                  </a:lnTo>
                  <a:lnTo>
                    <a:pt x="388" y="64"/>
                  </a:lnTo>
                  <a:lnTo>
                    <a:pt x="386" y="62"/>
                  </a:lnTo>
                  <a:lnTo>
                    <a:pt x="372" y="50"/>
                  </a:lnTo>
                  <a:lnTo>
                    <a:pt x="368" y="50"/>
                  </a:lnTo>
                  <a:lnTo>
                    <a:pt x="364" y="50"/>
                  </a:lnTo>
                  <a:lnTo>
                    <a:pt x="332" y="64"/>
                  </a:lnTo>
                  <a:lnTo>
                    <a:pt x="322" y="68"/>
                  </a:lnTo>
                  <a:lnTo>
                    <a:pt x="316" y="66"/>
                  </a:lnTo>
                  <a:lnTo>
                    <a:pt x="310" y="70"/>
                  </a:lnTo>
                  <a:lnTo>
                    <a:pt x="304" y="76"/>
                  </a:lnTo>
                  <a:lnTo>
                    <a:pt x="300" y="80"/>
                  </a:lnTo>
                  <a:lnTo>
                    <a:pt x="298" y="76"/>
                  </a:lnTo>
                  <a:lnTo>
                    <a:pt x="288" y="66"/>
                  </a:lnTo>
                  <a:lnTo>
                    <a:pt x="286" y="62"/>
                  </a:lnTo>
                  <a:lnTo>
                    <a:pt x="286" y="58"/>
                  </a:lnTo>
                  <a:lnTo>
                    <a:pt x="290" y="50"/>
                  </a:lnTo>
                  <a:lnTo>
                    <a:pt x="300" y="38"/>
                  </a:lnTo>
                  <a:lnTo>
                    <a:pt x="314" y="22"/>
                  </a:lnTo>
                  <a:lnTo>
                    <a:pt x="318" y="16"/>
                  </a:lnTo>
                  <a:lnTo>
                    <a:pt x="316" y="12"/>
                  </a:lnTo>
                  <a:lnTo>
                    <a:pt x="312" y="12"/>
                  </a:lnTo>
                  <a:lnTo>
                    <a:pt x="308" y="14"/>
                  </a:lnTo>
                  <a:lnTo>
                    <a:pt x="298" y="20"/>
                  </a:lnTo>
                  <a:lnTo>
                    <a:pt x="288" y="26"/>
                  </a:lnTo>
                  <a:lnTo>
                    <a:pt x="282" y="28"/>
                  </a:lnTo>
                  <a:lnTo>
                    <a:pt x="280" y="26"/>
                  </a:lnTo>
                  <a:lnTo>
                    <a:pt x="278" y="20"/>
                  </a:lnTo>
                  <a:lnTo>
                    <a:pt x="276" y="20"/>
                  </a:lnTo>
                  <a:lnTo>
                    <a:pt x="270" y="6"/>
                  </a:lnTo>
                  <a:lnTo>
                    <a:pt x="254" y="16"/>
                  </a:lnTo>
                  <a:lnTo>
                    <a:pt x="252" y="18"/>
                  </a:lnTo>
                  <a:lnTo>
                    <a:pt x="252" y="16"/>
                  </a:lnTo>
                  <a:lnTo>
                    <a:pt x="236" y="8"/>
                  </a:lnTo>
                  <a:lnTo>
                    <a:pt x="220" y="2"/>
                  </a:lnTo>
                  <a:lnTo>
                    <a:pt x="214" y="0"/>
                  </a:lnTo>
                  <a:lnTo>
                    <a:pt x="208" y="2"/>
                  </a:lnTo>
                  <a:lnTo>
                    <a:pt x="204" y="6"/>
                  </a:lnTo>
                  <a:lnTo>
                    <a:pt x="198" y="12"/>
                  </a:lnTo>
                  <a:lnTo>
                    <a:pt x="204" y="24"/>
                  </a:lnTo>
                  <a:lnTo>
                    <a:pt x="210" y="38"/>
                  </a:lnTo>
                  <a:lnTo>
                    <a:pt x="210" y="44"/>
                  </a:lnTo>
                  <a:lnTo>
                    <a:pt x="210" y="48"/>
                  </a:lnTo>
                  <a:lnTo>
                    <a:pt x="208" y="52"/>
                  </a:lnTo>
                  <a:lnTo>
                    <a:pt x="204" y="54"/>
                  </a:lnTo>
                  <a:lnTo>
                    <a:pt x="200" y="54"/>
                  </a:lnTo>
                  <a:lnTo>
                    <a:pt x="194" y="54"/>
                  </a:lnTo>
                  <a:lnTo>
                    <a:pt x="188" y="50"/>
                  </a:lnTo>
                  <a:lnTo>
                    <a:pt x="182" y="46"/>
                  </a:lnTo>
                  <a:lnTo>
                    <a:pt x="164" y="36"/>
                  </a:lnTo>
                  <a:lnTo>
                    <a:pt x="156" y="32"/>
                  </a:lnTo>
                  <a:lnTo>
                    <a:pt x="156" y="34"/>
                  </a:lnTo>
                  <a:lnTo>
                    <a:pt x="156" y="52"/>
                  </a:lnTo>
                  <a:lnTo>
                    <a:pt x="144" y="66"/>
                  </a:lnTo>
                  <a:lnTo>
                    <a:pt x="144" y="80"/>
                  </a:lnTo>
                  <a:lnTo>
                    <a:pt x="148" y="94"/>
                  </a:lnTo>
                  <a:lnTo>
                    <a:pt x="150" y="94"/>
                  </a:lnTo>
                  <a:lnTo>
                    <a:pt x="140" y="108"/>
                  </a:lnTo>
                  <a:lnTo>
                    <a:pt x="136" y="120"/>
                  </a:lnTo>
                  <a:lnTo>
                    <a:pt x="136" y="122"/>
                  </a:lnTo>
                  <a:lnTo>
                    <a:pt x="124" y="134"/>
                  </a:lnTo>
                  <a:lnTo>
                    <a:pt x="104" y="180"/>
                  </a:lnTo>
                  <a:lnTo>
                    <a:pt x="104" y="204"/>
                  </a:lnTo>
                  <a:lnTo>
                    <a:pt x="60" y="230"/>
                  </a:lnTo>
                  <a:lnTo>
                    <a:pt x="58" y="234"/>
                  </a:lnTo>
                  <a:lnTo>
                    <a:pt x="64" y="248"/>
                  </a:lnTo>
                  <a:lnTo>
                    <a:pt x="60" y="266"/>
                  </a:lnTo>
                  <a:lnTo>
                    <a:pt x="42" y="264"/>
                  </a:lnTo>
                  <a:lnTo>
                    <a:pt x="38" y="284"/>
                  </a:lnTo>
                  <a:lnTo>
                    <a:pt x="16" y="284"/>
                  </a:lnTo>
                  <a:lnTo>
                    <a:pt x="10" y="292"/>
                  </a:lnTo>
                  <a:lnTo>
                    <a:pt x="4" y="306"/>
                  </a:lnTo>
                  <a:lnTo>
                    <a:pt x="0" y="356"/>
                  </a:lnTo>
                  <a:lnTo>
                    <a:pt x="4" y="368"/>
                  </a:lnTo>
                  <a:lnTo>
                    <a:pt x="6" y="368"/>
                  </a:lnTo>
                  <a:lnTo>
                    <a:pt x="6" y="380"/>
                  </a:lnTo>
                  <a:lnTo>
                    <a:pt x="16" y="392"/>
                  </a:lnTo>
                  <a:lnTo>
                    <a:pt x="16" y="402"/>
                  </a:lnTo>
                  <a:lnTo>
                    <a:pt x="42" y="400"/>
                  </a:lnTo>
                  <a:lnTo>
                    <a:pt x="44" y="398"/>
                  </a:lnTo>
                  <a:lnTo>
                    <a:pt x="44" y="396"/>
                  </a:lnTo>
                  <a:lnTo>
                    <a:pt x="52" y="388"/>
                  </a:lnTo>
                  <a:lnTo>
                    <a:pt x="36" y="372"/>
                  </a:lnTo>
                  <a:lnTo>
                    <a:pt x="34" y="372"/>
                  </a:lnTo>
                  <a:lnTo>
                    <a:pt x="24" y="364"/>
                  </a:lnTo>
                  <a:lnTo>
                    <a:pt x="24" y="362"/>
                  </a:lnTo>
                  <a:lnTo>
                    <a:pt x="24" y="346"/>
                  </a:lnTo>
                  <a:lnTo>
                    <a:pt x="36" y="346"/>
                  </a:lnTo>
                  <a:lnTo>
                    <a:pt x="38" y="340"/>
                  </a:lnTo>
                  <a:lnTo>
                    <a:pt x="32" y="324"/>
                  </a:lnTo>
                  <a:lnTo>
                    <a:pt x="64" y="324"/>
                  </a:lnTo>
                  <a:lnTo>
                    <a:pt x="120" y="298"/>
                  </a:lnTo>
                  <a:lnTo>
                    <a:pt x="126" y="286"/>
                  </a:lnTo>
                  <a:lnTo>
                    <a:pt x="128" y="282"/>
                  </a:lnTo>
                  <a:lnTo>
                    <a:pt x="140" y="288"/>
                  </a:lnTo>
                  <a:lnTo>
                    <a:pt x="140" y="290"/>
                  </a:lnTo>
                  <a:lnTo>
                    <a:pt x="146" y="296"/>
                  </a:lnTo>
                  <a:lnTo>
                    <a:pt x="152" y="294"/>
                  </a:lnTo>
                  <a:lnTo>
                    <a:pt x="150" y="282"/>
                  </a:lnTo>
                  <a:lnTo>
                    <a:pt x="168" y="282"/>
                  </a:lnTo>
                  <a:lnTo>
                    <a:pt x="186" y="286"/>
                  </a:lnTo>
                  <a:lnTo>
                    <a:pt x="192" y="274"/>
                  </a:lnTo>
                  <a:lnTo>
                    <a:pt x="194" y="272"/>
                  </a:lnTo>
                  <a:lnTo>
                    <a:pt x="196" y="272"/>
                  </a:lnTo>
                  <a:lnTo>
                    <a:pt x="214" y="266"/>
                  </a:lnTo>
                  <a:lnTo>
                    <a:pt x="218" y="238"/>
                  </a:lnTo>
                  <a:lnTo>
                    <a:pt x="238" y="256"/>
                  </a:lnTo>
                  <a:lnTo>
                    <a:pt x="246" y="256"/>
                  </a:lnTo>
                  <a:lnTo>
                    <a:pt x="250" y="252"/>
                  </a:lnTo>
                  <a:lnTo>
                    <a:pt x="248" y="192"/>
                  </a:lnTo>
                  <a:lnTo>
                    <a:pt x="248" y="190"/>
                  </a:lnTo>
                  <a:lnTo>
                    <a:pt x="248" y="186"/>
                  </a:lnTo>
                  <a:lnTo>
                    <a:pt x="260" y="188"/>
                  </a:lnTo>
                  <a:lnTo>
                    <a:pt x="262" y="188"/>
                  </a:lnTo>
                  <a:lnTo>
                    <a:pt x="264" y="190"/>
                  </a:lnTo>
                  <a:lnTo>
                    <a:pt x="286" y="230"/>
                  </a:lnTo>
                  <a:lnTo>
                    <a:pt x="312" y="226"/>
                  </a:lnTo>
                  <a:lnTo>
                    <a:pt x="318" y="224"/>
                  </a:lnTo>
                  <a:lnTo>
                    <a:pt x="322" y="216"/>
                  </a:lnTo>
                  <a:lnTo>
                    <a:pt x="314" y="208"/>
                  </a:lnTo>
                  <a:lnTo>
                    <a:pt x="312" y="206"/>
                  </a:lnTo>
                  <a:lnTo>
                    <a:pt x="330" y="200"/>
                  </a:lnTo>
                  <a:lnTo>
                    <a:pt x="332" y="198"/>
                  </a:lnTo>
                  <a:lnTo>
                    <a:pt x="340" y="206"/>
                  </a:lnTo>
                  <a:lnTo>
                    <a:pt x="346" y="202"/>
                  </a:lnTo>
                  <a:lnTo>
                    <a:pt x="346" y="190"/>
                  </a:lnTo>
                  <a:lnTo>
                    <a:pt x="350" y="190"/>
                  </a:lnTo>
                  <a:lnTo>
                    <a:pt x="364" y="190"/>
                  </a:lnTo>
                  <a:lnTo>
                    <a:pt x="370" y="192"/>
                  </a:lnTo>
                  <a:lnTo>
                    <a:pt x="376" y="194"/>
                  </a:lnTo>
                  <a:lnTo>
                    <a:pt x="382" y="198"/>
                  </a:lnTo>
                  <a:lnTo>
                    <a:pt x="386" y="202"/>
                  </a:lnTo>
                  <a:lnTo>
                    <a:pt x="388" y="206"/>
                  </a:lnTo>
                  <a:lnTo>
                    <a:pt x="392" y="186"/>
                  </a:lnTo>
                  <a:lnTo>
                    <a:pt x="396" y="184"/>
                  </a:lnTo>
                  <a:lnTo>
                    <a:pt x="400" y="182"/>
                  </a:lnTo>
                  <a:lnTo>
                    <a:pt x="406" y="182"/>
                  </a:lnTo>
                  <a:lnTo>
                    <a:pt x="412" y="184"/>
                  </a:lnTo>
                  <a:lnTo>
                    <a:pt x="414" y="186"/>
                  </a:lnTo>
                  <a:lnTo>
                    <a:pt x="414" y="188"/>
                  </a:lnTo>
                  <a:lnTo>
                    <a:pt x="418" y="188"/>
                  </a:lnTo>
                  <a:lnTo>
                    <a:pt x="432" y="180"/>
                  </a:lnTo>
                  <a:lnTo>
                    <a:pt x="460" y="160"/>
                  </a:lnTo>
                  <a:lnTo>
                    <a:pt x="460" y="152"/>
                  </a:lnTo>
                  <a:lnTo>
                    <a:pt x="464" y="146"/>
                  </a:lnTo>
                  <a:lnTo>
                    <a:pt x="470" y="140"/>
                  </a:lnTo>
                  <a:lnTo>
                    <a:pt x="476" y="138"/>
                  </a:lnTo>
                  <a:close/>
                </a:path>
              </a:pathLst>
            </a:custGeom>
            <a:noFill/>
            <a:ln w="3175" cap="flat" cmpd="sng">
              <a:solidFill>
                <a:schemeClr val="bg2"/>
              </a:solidFill>
              <a:bevel/>
              <a:headEnd/>
              <a:tailEnd/>
            </a:ln>
          </p:spPr>
          <p:txBody>
            <a:bodyPr anchor="ctr"/>
            <a:lstStyle/>
            <a:p>
              <a:endParaRPr lang="zh-CN" altLang="en-US"/>
            </a:p>
          </p:txBody>
        </p:sp>
        <p:sp>
          <p:nvSpPr>
            <p:cNvPr id="8212" name="Freeform 20"/>
            <p:cNvSpPr>
              <a:spLocks/>
            </p:cNvSpPr>
            <p:nvPr/>
          </p:nvSpPr>
          <p:spPr bwMode="auto">
            <a:xfrm>
              <a:off x="4228580" y="3204554"/>
              <a:ext cx="544237" cy="741165"/>
            </a:xfrm>
            <a:custGeom>
              <a:avLst/>
              <a:gdLst/>
              <a:ahLst/>
              <a:cxnLst>
                <a:cxn ang="0">
                  <a:pos x="220" y="0"/>
                </a:cxn>
                <a:cxn ang="0">
                  <a:pos x="200" y="24"/>
                </a:cxn>
                <a:cxn ang="0">
                  <a:pos x="180" y="34"/>
                </a:cxn>
                <a:cxn ang="0">
                  <a:pos x="174" y="22"/>
                </a:cxn>
                <a:cxn ang="0">
                  <a:pos x="152" y="24"/>
                </a:cxn>
                <a:cxn ang="0">
                  <a:pos x="108" y="36"/>
                </a:cxn>
                <a:cxn ang="0">
                  <a:pos x="68" y="54"/>
                </a:cxn>
                <a:cxn ang="0">
                  <a:pos x="34" y="56"/>
                </a:cxn>
                <a:cxn ang="0">
                  <a:pos x="16" y="84"/>
                </a:cxn>
                <a:cxn ang="0">
                  <a:pos x="22" y="92"/>
                </a:cxn>
                <a:cxn ang="0">
                  <a:pos x="34" y="144"/>
                </a:cxn>
                <a:cxn ang="0">
                  <a:pos x="0" y="200"/>
                </a:cxn>
                <a:cxn ang="0">
                  <a:pos x="16" y="198"/>
                </a:cxn>
                <a:cxn ang="0">
                  <a:pos x="16" y="226"/>
                </a:cxn>
                <a:cxn ang="0">
                  <a:pos x="24" y="262"/>
                </a:cxn>
                <a:cxn ang="0">
                  <a:pos x="40" y="286"/>
                </a:cxn>
                <a:cxn ang="0">
                  <a:pos x="44" y="310"/>
                </a:cxn>
                <a:cxn ang="0">
                  <a:pos x="34" y="344"/>
                </a:cxn>
                <a:cxn ang="0">
                  <a:pos x="52" y="362"/>
                </a:cxn>
                <a:cxn ang="0">
                  <a:pos x="72" y="352"/>
                </a:cxn>
                <a:cxn ang="0">
                  <a:pos x="86" y="362"/>
                </a:cxn>
                <a:cxn ang="0">
                  <a:pos x="66" y="392"/>
                </a:cxn>
                <a:cxn ang="0">
                  <a:pos x="72" y="408"/>
                </a:cxn>
                <a:cxn ang="0">
                  <a:pos x="94" y="402"/>
                </a:cxn>
                <a:cxn ang="0">
                  <a:pos x="134" y="390"/>
                </a:cxn>
                <a:cxn ang="0">
                  <a:pos x="154" y="400"/>
                </a:cxn>
                <a:cxn ang="0">
                  <a:pos x="152" y="384"/>
                </a:cxn>
                <a:cxn ang="0">
                  <a:pos x="150" y="362"/>
                </a:cxn>
                <a:cxn ang="0">
                  <a:pos x="166" y="346"/>
                </a:cxn>
                <a:cxn ang="0">
                  <a:pos x="166" y="328"/>
                </a:cxn>
                <a:cxn ang="0">
                  <a:pos x="164" y="316"/>
                </a:cxn>
                <a:cxn ang="0">
                  <a:pos x="178" y="298"/>
                </a:cxn>
                <a:cxn ang="0">
                  <a:pos x="186" y="278"/>
                </a:cxn>
                <a:cxn ang="0">
                  <a:pos x="194" y="266"/>
                </a:cxn>
                <a:cxn ang="0">
                  <a:pos x="194" y="242"/>
                </a:cxn>
                <a:cxn ang="0">
                  <a:pos x="194" y="228"/>
                </a:cxn>
                <a:cxn ang="0">
                  <a:pos x="224" y="200"/>
                </a:cxn>
                <a:cxn ang="0">
                  <a:pos x="220" y="186"/>
                </a:cxn>
                <a:cxn ang="0">
                  <a:pos x="224" y="156"/>
                </a:cxn>
                <a:cxn ang="0">
                  <a:pos x="250" y="136"/>
                </a:cxn>
                <a:cxn ang="0">
                  <a:pos x="272" y="140"/>
                </a:cxn>
                <a:cxn ang="0">
                  <a:pos x="296" y="108"/>
                </a:cxn>
                <a:cxn ang="0">
                  <a:pos x="300" y="102"/>
                </a:cxn>
                <a:cxn ang="0">
                  <a:pos x="296" y="84"/>
                </a:cxn>
                <a:cxn ang="0">
                  <a:pos x="274" y="46"/>
                </a:cxn>
                <a:cxn ang="0">
                  <a:pos x="280" y="28"/>
                </a:cxn>
              </a:cxnLst>
              <a:rect l="0" t="0" r="r" b="b"/>
              <a:pathLst>
                <a:path w="304" h="414">
                  <a:moveTo>
                    <a:pt x="240" y="16"/>
                  </a:moveTo>
                  <a:lnTo>
                    <a:pt x="238" y="16"/>
                  </a:lnTo>
                  <a:lnTo>
                    <a:pt x="220" y="0"/>
                  </a:lnTo>
                  <a:lnTo>
                    <a:pt x="212" y="6"/>
                  </a:lnTo>
                  <a:lnTo>
                    <a:pt x="206" y="16"/>
                  </a:lnTo>
                  <a:lnTo>
                    <a:pt x="200" y="24"/>
                  </a:lnTo>
                  <a:lnTo>
                    <a:pt x="192" y="28"/>
                  </a:lnTo>
                  <a:lnTo>
                    <a:pt x="184" y="32"/>
                  </a:lnTo>
                  <a:lnTo>
                    <a:pt x="180" y="34"/>
                  </a:lnTo>
                  <a:lnTo>
                    <a:pt x="176" y="32"/>
                  </a:lnTo>
                  <a:lnTo>
                    <a:pt x="174" y="28"/>
                  </a:lnTo>
                  <a:lnTo>
                    <a:pt x="174" y="22"/>
                  </a:lnTo>
                  <a:lnTo>
                    <a:pt x="180" y="4"/>
                  </a:lnTo>
                  <a:lnTo>
                    <a:pt x="152" y="22"/>
                  </a:lnTo>
                  <a:lnTo>
                    <a:pt x="152" y="24"/>
                  </a:lnTo>
                  <a:lnTo>
                    <a:pt x="128" y="24"/>
                  </a:lnTo>
                  <a:lnTo>
                    <a:pt x="108" y="34"/>
                  </a:lnTo>
                  <a:lnTo>
                    <a:pt x="108" y="36"/>
                  </a:lnTo>
                  <a:lnTo>
                    <a:pt x="84" y="36"/>
                  </a:lnTo>
                  <a:lnTo>
                    <a:pt x="72" y="42"/>
                  </a:lnTo>
                  <a:lnTo>
                    <a:pt x="68" y="54"/>
                  </a:lnTo>
                  <a:lnTo>
                    <a:pt x="66" y="56"/>
                  </a:lnTo>
                  <a:lnTo>
                    <a:pt x="40" y="56"/>
                  </a:lnTo>
                  <a:lnTo>
                    <a:pt x="34" y="56"/>
                  </a:lnTo>
                  <a:lnTo>
                    <a:pt x="28" y="62"/>
                  </a:lnTo>
                  <a:lnTo>
                    <a:pt x="8" y="80"/>
                  </a:lnTo>
                  <a:lnTo>
                    <a:pt x="16" y="84"/>
                  </a:lnTo>
                  <a:lnTo>
                    <a:pt x="20" y="88"/>
                  </a:lnTo>
                  <a:lnTo>
                    <a:pt x="22" y="94"/>
                  </a:lnTo>
                  <a:lnTo>
                    <a:pt x="22" y="92"/>
                  </a:lnTo>
                  <a:lnTo>
                    <a:pt x="34" y="138"/>
                  </a:lnTo>
                  <a:lnTo>
                    <a:pt x="34" y="140"/>
                  </a:lnTo>
                  <a:lnTo>
                    <a:pt x="34" y="144"/>
                  </a:lnTo>
                  <a:lnTo>
                    <a:pt x="32" y="144"/>
                  </a:lnTo>
                  <a:lnTo>
                    <a:pt x="0" y="188"/>
                  </a:lnTo>
                  <a:lnTo>
                    <a:pt x="0" y="200"/>
                  </a:lnTo>
                  <a:lnTo>
                    <a:pt x="8" y="196"/>
                  </a:lnTo>
                  <a:lnTo>
                    <a:pt x="12" y="196"/>
                  </a:lnTo>
                  <a:lnTo>
                    <a:pt x="16" y="198"/>
                  </a:lnTo>
                  <a:lnTo>
                    <a:pt x="18" y="202"/>
                  </a:lnTo>
                  <a:lnTo>
                    <a:pt x="16" y="214"/>
                  </a:lnTo>
                  <a:lnTo>
                    <a:pt x="16" y="226"/>
                  </a:lnTo>
                  <a:lnTo>
                    <a:pt x="18" y="238"/>
                  </a:lnTo>
                  <a:lnTo>
                    <a:pt x="20" y="250"/>
                  </a:lnTo>
                  <a:lnTo>
                    <a:pt x="24" y="262"/>
                  </a:lnTo>
                  <a:lnTo>
                    <a:pt x="36" y="274"/>
                  </a:lnTo>
                  <a:lnTo>
                    <a:pt x="40" y="280"/>
                  </a:lnTo>
                  <a:lnTo>
                    <a:pt x="40" y="286"/>
                  </a:lnTo>
                  <a:lnTo>
                    <a:pt x="36" y="294"/>
                  </a:lnTo>
                  <a:lnTo>
                    <a:pt x="42" y="304"/>
                  </a:lnTo>
                  <a:lnTo>
                    <a:pt x="44" y="310"/>
                  </a:lnTo>
                  <a:lnTo>
                    <a:pt x="44" y="320"/>
                  </a:lnTo>
                  <a:lnTo>
                    <a:pt x="40" y="330"/>
                  </a:lnTo>
                  <a:lnTo>
                    <a:pt x="34" y="344"/>
                  </a:lnTo>
                  <a:lnTo>
                    <a:pt x="44" y="362"/>
                  </a:lnTo>
                  <a:lnTo>
                    <a:pt x="46" y="366"/>
                  </a:lnTo>
                  <a:lnTo>
                    <a:pt x="52" y="362"/>
                  </a:lnTo>
                  <a:lnTo>
                    <a:pt x="60" y="356"/>
                  </a:lnTo>
                  <a:lnTo>
                    <a:pt x="66" y="352"/>
                  </a:lnTo>
                  <a:lnTo>
                    <a:pt x="72" y="352"/>
                  </a:lnTo>
                  <a:lnTo>
                    <a:pt x="78" y="352"/>
                  </a:lnTo>
                  <a:lnTo>
                    <a:pt x="84" y="356"/>
                  </a:lnTo>
                  <a:lnTo>
                    <a:pt x="86" y="362"/>
                  </a:lnTo>
                  <a:lnTo>
                    <a:pt x="86" y="366"/>
                  </a:lnTo>
                  <a:lnTo>
                    <a:pt x="82" y="374"/>
                  </a:lnTo>
                  <a:lnTo>
                    <a:pt x="66" y="392"/>
                  </a:lnTo>
                  <a:lnTo>
                    <a:pt x="56" y="406"/>
                  </a:lnTo>
                  <a:lnTo>
                    <a:pt x="60" y="414"/>
                  </a:lnTo>
                  <a:lnTo>
                    <a:pt x="72" y="408"/>
                  </a:lnTo>
                  <a:lnTo>
                    <a:pt x="76" y="406"/>
                  </a:lnTo>
                  <a:lnTo>
                    <a:pt x="80" y="406"/>
                  </a:lnTo>
                  <a:lnTo>
                    <a:pt x="94" y="402"/>
                  </a:lnTo>
                  <a:lnTo>
                    <a:pt x="120" y="390"/>
                  </a:lnTo>
                  <a:lnTo>
                    <a:pt x="126" y="388"/>
                  </a:lnTo>
                  <a:lnTo>
                    <a:pt x="134" y="390"/>
                  </a:lnTo>
                  <a:lnTo>
                    <a:pt x="142" y="394"/>
                  </a:lnTo>
                  <a:lnTo>
                    <a:pt x="150" y="402"/>
                  </a:lnTo>
                  <a:lnTo>
                    <a:pt x="154" y="400"/>
                  </a:lnTo>
                  <a:lnTo>
                    <a:pt x="154" y="390"/>
                  </a:lnTo>
                  <a:lnTo>
                    <a:pt x="152" y="388"/>
                  </a:lnTo>
                  <a:lnTo>
                    <a:pt x="152" y="384"/>
                  </a:lnTo>
                  <a:lnTo>
                    <a:pt x="154" y="380"/>
                  </a:lnTo>
                  <a:lnTo>
                    <a:pt x="150" y="366"/>
                  </a:lnTo>
                  <a:lnTo>
                    <a:pt x="150" y="362"/>
                  </a:lnTo>
                  <a:lnTo>
                    <a:pt x="150" y="358"/>
                  </a:lnTo>
                  <a:lnTo>
                    <a:pt x="158" y="352"/>
                  </a:lnTo>
                  <a:lnTo>
                    <a:pt x="166" y="346"/>
                  </a:lnTo>
                  <a:lnTo>
                    <a:pt x="162" y="336"/>
                  </a:lnTo>
                  <a:lnTo>
                    <a:pt x="162" y="334"/>
                  </a:lnTo>
                  <a:lnTo>
                    <a:pt x="166" y="328"/>
                  </a:lnTo>
                  <a:lnTo>
                    <a:pt x="164" y="324"/>
                  </a:lnTo>
                  <a:lnTo>
                    <a:pt x="164" y="320"/>
                  </a:lnTo>
                  <a:lnTo>
                    <a:pt x="164" y="316"/>
                  </a:lnTo>
                  <a:lnTo>
                    <a:pt x="170" y="308"/>
                  </a:lnTo>
                  <a:lnTo>
                    <a:pt x="180" y="300"/>
                  </a:lnTo>
                  <a:lnTo>
                    <a:pt x="178" y="298"/>
                  </a:lnTo>
                  <a:lnTo>
                    <a:pt x="176" y="296"/>
                  </a:lnTo>
                  <a:lnTo>
                    <a:pt x="186" y="292"/>
                  </a:lnTo>
                  <a:lnTo>
                    <a:pt x="186" y="278"/>
                  </a:lnTo>
                  <a:lnTo>
                    <a:pt x="186" y="274"/>
                  </a:lnTo>
                  <a:lnTo>
                    <a:pt x="190" y="270"/>
                  </a:lnTo>
                  <a:lnTo>
                    <a:pt x="194" y="266"/>
                  </a:lnTo>
                  <a:lnTo>
                    <a:pt x="200" y="260"/>
                  </a:lnTo>
                  <a:lnTo>
                    <a:pt x="206" y="256"/>
                  </a:lnTo>
                  <a:lnTo>
                    <a:pt x="194" y="242"/>
                  </a:lnTo>
                  <a:lnTo>
                    <a:pt x="192" y="238"/>
                  </a:lnTo>
                  <a:lnTo>
                    <a:pt x="192" y="232"/>
                  </a:lnTo>
                  <a:lnTo>
                    <a:pt x="194" y="228"/>
                  </a:lnTo>
                  <a:lnTo>
                    <a:pt x="198" y="222"/>
                  </a:lnTo>
                  <a:lnTo>
                    <a:pt x="198" y="220"/>
                  </a:lnTo>
                  <a:lnTo>
                    <a:pt x="224" y="200"/>
                  </a:lnTo>
                  <a:lnTo>
                    <a:pt x="224" y="194"/>
                  </a:lnTo>
                  <a:lnTo>
                    <a:pt x="222" y="192"/>
                  </a:lnTo>
                  <a:lnTo>
                    <a:pt x="220" y="186"/>
                  </a:lnTo>
                  <a:lnTo>
                    <a:pt x="220" y="178"/>
                  </a:lnTo>
                  <a:lnTo>
                    <a:pt x="220" y="170"/>
                  </a:lnTo>
                  <a:lnTo>
                    <a:pt x="224" y="156"/>
                  </a:lnTo>
                  <a:lnTo>
                    <a:pt x="230" y="146"/>
                  </a:lnTo>
                  <a:lnTo>
                    <a:pt x="238" y="138"/>
                  </a:lnTo>
                  <a:lnTo>
                    <a:pt x="250" y="136"/>
                  </a:lnTo>
                  <a:lnTo>
                    <a:pt x="252" y="136"/>
                  </a:lnTo>
                  <a:lnTo>
                    <a:pt x="262" y="140"/>
                  </a:lnTo>
                  <a:lnTo>
                    <a:pt x="272" y="140"/>
                  </a:lnTo>
                  <a:lnTo>
                    <a:pt x="284" y="128"/>
                  </a:lnTo>
                  <a:lnTo>
                    <a:pt x="296" y="120"/>
                  </a:lnTo>
                  <a:lnTo>
                    <a:pt x="296" y="108"/>
                  </a:lnTo>
                  <a:lnTo>
                    <a:pt x="296" y="106"/>
                  </a:lnTo>
                  <a:lnTo>
                    <a:pt x="296" y="104"/>
                  </a:lnTo>
                  <a:lnTo>
                    <a:pt x="300" y="102"/>
                  </a:lnTo>
                  <a:lnTo>
                    <a:pt x="304" y="98"/>
                  </a:lnTo>
                  <a:lnTo>
                    <a:pt x="304" y="96"/>
                  </a:lnTo>
                  <a:lnTo>
                    <a:pt x="296" y="84"/>
                  </a:lnTo>
                  <a:lnTo>
                    <a:pt x="286" y="68"/>
                  </a:lnTo>
                  <a:lnTo>
                    <a:pt x="276" y="52"/>
                  </a:lnTo>
                  <a:lnTo>
                    <a:pt x="274" y="46"/>
                  </a:lnTo>
                  <a:lnTo>
                    <a:pt x="274" y="40"/>
                  </a:lnTo>
                  <a:lnTo>
                    <a:pt x="276" y="34"/>
                  </a:lnTo>
                  <a:lnTo>
                    <a:pt x="280" y="28"/>
                  </a:lnTo>
                  <a:lnTo>
                    <a:pt x="264" y="20"/>
                  </a:lnTo>
                  <a:lnTo>
                    <a:pt x="240" y="16"/>
                  </a:lnTo>
                  <a:close/>
                </a:path>
              </a:pathLst>
            </a:custGeom>
            <a:noFill/>
            <a:ln w="3175" cap="flat" cmpd="sng">
              <a:solidFill>
                <a:schemeClr val="bg2"/>
              </a:solidFill>
              <a:bevel/>
              <a:headEnd/>
              <a:tailEnd/>
            </a:ln>
          </p:spPr>
          <p:txBody>
            <a:bodyPr anchor="ctr"/>
            <a:lstStyle/>
            <a:p>
              <a:endParaRPr lang="zh-CN" altLang="en-US"/>
            </a:p>
          </p:txBody>
        </p:sp>
        <p:sp>
          <p:nvSpPr>
            <p:cNvPr id="8213" name="Freeform 21"/>
            <p:cNvSpPr>
              <a:spLocks/>
            </p:cNvSpPr>
            <p:nvPr/>
          </p:nvSpPr>
          <p:spPr bwMode="auto">
            <a:xfrm>
              <a:off x="4511440" y="3401482"/>
              <a:ext cx="504852" cy="615847"/>
            </a:xfrm>
            <a:custGeom>
              <a:avLst/>
              <a:gdLst/>
              <a:ahLst/>
              <a:cxnLst>
                <a:cxn ang="0">
                  <a:pos x="132" y="24"/>
                </a:cxn>
                <a:cxn ang="0">
                  <a:pos x="118" y="40"/>
                </a:cxn>
                <a:cxn ang="0">
                  <a:pos x="84" y="38"/>
                </a:cxn>
                <a:cxn ang="0">
                  <a:pos x="70" y="60"/>
                </a:cxn>
                <a:cxn ang="0">
                  <a:pos x="74" y="92"/>
                </a:cxn>
                <a:cxn ang="0">
                  <a:pos x="42" y="124"/>
                </a:cxn>
                <a:cxn ang="0">
                  <a:pos x="54" y="140"/>
                </a:cxn>
                <a:cxn ang="0">
                  <a:pos x="56" y="148"/>
                </a:cxn>
                <a:cxn ang="0">
                  <a:pos x="38" y="174"/>
                </a:cxn>
                <a:cxn ang="0">
                  <a:pos x="30" y="190"/>
                </a:cxn>
                <a:cxn ang="0">
                  <a:pos x="14" y="208"/>
                </a:cxn>
                <a:cxn ang="0">
                  <a:pos x="14" y="226"/>
                </a:cxn>
                <a:cxn ang="0">
                  <a:pos x="14" y="242"/>
                </a:cxn>
                <a:cxn ang="0">
                  <a:pos x="0" y="252"/>
                </a:cxn>
                <a:cxn ang="0">
                  <a:pos x="28" y="272"/>
                </a:cxn>
                <a:cxn ang="0">
                  <a:pos x="52" y="274"/>
                </a:cxn>
                <a:cxn ang="0">
                  <a:pos x="82" y="322"/>
                </a:cxn>
                <a:cxn ang="0">
                  <a:pos x="112" y="320"/>
                </a:cxn>
                <a:cxn ang="0">
                  <a:pos x="150" y="306"/>
                </a:cxn>
                <a:cxn ang="0">
                  <a:pos x="156" y="290"/>
                </a:cxn>
                <a:cxn ang="0">
                  <a:pos x="170" y="278"/>
                </a:cxn>
                <a:cxn ang="0">
                  <a:pos x="194" y="276"/>
                </a:cxn>
                <a:cxn ang="0">
                  <a:pos x="208" y="256"/>
                </a:cxn>
                <a:cxn ang="0">
                  <a:pos x="222" y="226"/>
                </a:cxn>
                <a:cxn ang="0">
                  <a:pos x="218" y="208"/>
                </a:cxn>
                <a:cxn ang="0">
                  <a:pos x="236" y="194"/>
                </a:cxn>
                <a:cxn ang="0">
                  <a:pos x="238" y="182"/>
                </a:cxn>
                <a:cxn ang="0">
                  <a:pos x="244" y="172"/>
                </a:cxn>
                <a:cxn ang="0">
                  <a:pos x="238" y="154"/>
                </a:cxn>
                <a:cxn ang="0">
                  <a:pos x="240" y="120"/>
                </a:cxn>
                <a:cxn ang="0">
                  <a:pos x="236" y="108"/>
                </a:cxn>
                <a:cxn ang="0">
                  <a:pos x="266" y="98"/>
                </a:cxn>
                <a:cxn ang="0">
                  <a:pos x="282" y="74"/>
                </a:cxn>
                <a:cxn ang="0">
                  <a:pos x="270" y="64"/>
                </a:cxn>
                <a:cxn ang="0">
                  <a:pos x="268" y="58"/>
                </a:cxn>
                <a:cxn ang="0">
                  <a:pos x="256" y="64"/>
                </a:cxn>
                <a:cxn ang="0">
                  <a:pos x="234" y="54"/>
                </a:cxn>
                <a:cxn ang="0">
                  <a:pos x="222" y="50"/>
                </a:cxn>
                <a:cxn ang="0">
                  <a:pos x="200" y="62"/>
                </a:cxn>
                <a:cxn ang="0">
                  <a:pos x="182" y="58"/>
                </a:cxn>
                <a:cxn ang="0">
                  <a:pos x="170" y="30"/>
                </a:cxn>
                <a:cxn ang="0">
                  <a:pos x="160" y="2"/>
                </a:cxn>
                <a:cxn ang="0">
                  <a:pos x="148" y="14"/>
                </a:cxn>
              </a:cxnLst>
              <a:rect l="0" t="0" r="r" b="b"/>
              <a:pathLst>
                <a:path w="282" h="344">
                  <a:moveTo>
                    <a:pt x="146" y="14"/>
                  </a:moveTo>
                  <a:lnTo>
                    <a:pt x="146" y="14"/>
                  </a:lnTo>
                  <a:lnTo>
                    <a:pt x="132" y="24"/>
                  </a:lnTo>
                  <a:lnTo>
                    <a:pt x="120" y="38"/>
                  </a:lnTo>
                  <a:lnTo>
                    <a:pt x="118" y="38"/>
                  </a:lnTo>
                  <a:lnTo>
                    <a:pt x="118" y="40"/>
                  </a:lnTo>
                  <a:lnTo>
                    <a:pt x="102" y="40"/>
                  </a:lnTo>
                  <a:lnTo>
                    <a:pt x="92" y="34"/>
                  </a:lnTo>
                  <a:lnTo>
                    <a:pt x="84" y="38"/>
                  </a:lnTo>
                  <a:lnTo>
                    <a:pt x="78" y="42"/>
                  </a:lnTo>
                  <a:lnTo>
                    <a:pt x="74" y="50"/>
                  </a:lnTo>
                  <a:lnTo>
                    <a:pt x="70" y="60"/>
                  </a:lnTo>
                  <a:lnTo>
                    <a:pt x="70" y="74"/>
                  </a:lnTo>
                  <a:lnTo>
                    <a:pt x="80" y="66"/>
                  </a:lnTo>
                  <a:lnTo>
                    <a:pt x="74" y="92"/>
                  </a:lnTo>
                  <a:lnTo>
                    <a:pt x="74" y="94"/>
                  </a:lnTo>
                  <a:lnTo>
                    <a:pt x="46" y="116"/>
                  </a:lnTo>
                  <a:lnTo>
                    <a:pt x="42" y="124"/>
                  </a:lnTo>
                  <a:lnTo>
                    <a:pt x="42" y="128"/>
                  </a:lnTo>
                  <a:lnTo>
                    <a:pt x="48" y="134"/>
                  </a:lnTo>
                  <a:lnTo>
                    <a:pt x="54" y="140"/>
                  </a:lnTo>
                  <a:lnTo>
                    <a:pt x="56" y="142"/>
                  </a:lnTo>
                  <a:lnTo>
                    <a:pt x="56" y="146"/>
                  </a:lnTo>
                  <a:lnTo>
                    <a:pt x="56" y="148"/>
                  </a:lnTo>
                  <a:lnTo>
                    <a:pt x="54" y="152"/>
                  </a:lnTo>
                  <a:lnTo>
                    <a:pt x="36" y="166"/>
                  </a:lnTo>
                  <a:lnTo>
                    <a:pt x="38" y="174"/>
                  </a:lnTo>
                  <a:lnTo>
                    <a:pt x="36" y="184"/>
                  </a:lnTo>
                  <a:lnTo>
                    <a:pt x="36" y="186"/>
                  </a:lnTo>
                  <a:lnTo>
                    <a:pt x="30" y="190"/>
                  </a:lnTo>
                  <a:lnTo>
                    <a:pt x="28" y="194"/>
                  </a:lnTo>
                  <a:lnTo>
                    <a:pt x="24" y="200"/>
                  </a:lnTo>
                  <a:lnTo>
                    <a:pt x="14" y="208"/>
                  </a:lnTo>
                  <a:lnTo>
                    <a:pt x="14" y="210"/>
                  </a:lnTo>
                  <a:lnTo>
                    <a:pt x="16" y="216"/>
                  </a:lnTo>
                  <a:lnTo>
                    <a:pt x="14" y="226"/>
                  </a:lnTo>
                  <a:lnTo>
                    <a:pt x="16" y="236"/>
                  </a:lnTo>
                  <a:lnTo>
                    <a:pt x="16" y="238"/>
                  </a:lnTo>
                  <a:lnTo>
                    <a:pt x="14" y="242"/>
                  </a:lnTo>
                  <a:lnTo>
                    <a:pt x="6" y="250"/>
                  </a:lnTo>
                  <a:lnTo>
                    <a:pt x="4" y="250"/>
                  </a:lnTo>
                  <a:lnTo>
                    <a:pt x="0" y="252"/>
                  </a:lnTo>
                  <a:lnTo>
                    <a:pt x="0" y="254"/>
                  </a:lnTo>
                  <a:lnTo>
                    <a:pt x="6" y="272"/>
                  </a:lnTo>
                  <a:lnTo>
                    <a:pt x="28" y="272"/>
                  </a:lnTo>
                  <a:lnTo>
                    <a:pt x="50" y="272"/>
                  </a:lnTo>
                  <a:lnTo>
                    <a:pt x="52" y="272"/>
                  </a:lnTo>
                  <a:lnTo>
                    <a:pt x="52" y="274"/>
                  </a:lnTo>
                  <a:lnTo>
                    <a:pt x="70" y="290"/>
                  </a:lnTo>
                  <a:lnTo>
                    <a:pt x="70" y="292"/>
                  </a:lnTo>
                  <a:lnTo>
                    <a:pt x="82" y="322"/>
                  </a:lnTo>
                  <a:lnTo>
                    <a:pt x="102" y="342"/>
                  </a:lnTo>
                  <a:lnTo>
                    <a:pt x="112" y="344"/>
                  </a:lnTo>
                  <a:lnTo>
                    <a:pt x="112" y="320"/>
                  </a:lnTo>
                  <a:lnTo>
                    <a:pt x="132" y="340"/>
                  </a:lnTo>
                  <a:lnTo>
                    <a:pt x="136" y="336"/>
                  </a:lnTo>
                  <a:lnTo>
                    <a:pt x="150" y="306"/>
                  </a:lnTo>
                  <a:lnTo>
                    <a:pt x="152" y="290"/>
                  </a:lnTo>
                  <a:lnTo>
                    <a:pt x="154" y="290"/>
                  </a:lnTo>
                  <a:lnTo>
                    <a:pt x="156" y="290"/>
                  </a:lnTo>
                  <a:lnTo>
                    <a:pt x="172" y="292"/>
                  </a:lnTo>
                  <a:lnTo>
                    <a:pt x="170" y="280"/>
                  </a:lnTo>
                  <a:lnTo>
                    <a:pt x="170" y="278"/>
                  </a:lnTo>
                  <a:lnTo>
                    <a:pt x="170" y="276"/>
                  </a:lnTo>
                  <a:lnTo>
                    <a:pt x="174" y="276"/>
                  </a:lnTo>
                  <a:lnTo>
                    <a:pt x="194" y="276"/>
                  </a:lnTo>
                  <a:lnTo>
                    <a:pt x="200" y="270"/>
                  </a:lnTo>
                  <a:lnTo>
                    <a:pt x="204" y="262"/>
                  </a:lnTo>
                  <a:lnTo>
                    <a:pt x="208" y="256"/>
                  </a:lnTo>
                  <a:lnTo>
                    <a:pt x="208" y="250"/>
                  </a:lnTo>
                  <a:lnTo>
                    <a:pt x="206" y="222"/>
                  </a:lnTo>
                  <a:lnTo>
                    <a:pt x="222" y="226"/>
                  </a:lnTo>
                  <a:lnTo>
                    <a:pt x="228" y="218"/>
                  </a:lnTo>
                  <a:lnTo>
                    <a:pt x="220" y="210"/>
                  </a:lnTo>
                  <a:lnTo>
                    <a:pt x="218" y="208"/>
                  </a:lnTo>
                  <a:lnTo>
                    <a:pt x="234" y="192"/>
                  </a:lnTo>
                  <a:lnTo>
                    <a:pt x="234" y="194"/>
                  </a:lnTo>
                  <a:lnTo>
                    <a:pt x="236" y="194"/>
                  </a:lnTo>
                  <a:lnTo>
                    <a:pt x="246" y="198"/>
                  </a:lnTo>
                  <a:lnTo>
                    <a:pt x="246" y="196"/>
                  </a:lnTo>
                  <a:lnTo>
                    <a:pt x="238" y="182"/>
                  </a:lnTo>
                  <a:lnTo>
                    <a:pt x="242" y="180"/>
                  </a:lnTo>
                  <a:lnTo>
                    <a:pt x="246" y="178"/>
                  </a:lnTo>
                  <a:lnTo>
                    <a:pt x="244" y="172"/>
                  </a:lnTo>
                  <a:lnTo>
                    <a:pt x="236" y="156"/>
                  </a:lnTo>
                  <a:lnTo>
                    <a:pt x="238" y="156"/>
                  </a:lnTo>
                  <a:lnTo>
                    <a:pt x="238" y="154"/>
                  </a:lnTo>
                  <a:lnTo>
                    <a:pt x="260" y="142"/>
                  </a:lnTo>
                  <a:lnTo>
                    <a:pt x="262" y="134"/>
                  </a:lnTo>
                  <a:lnTo>
                    <a:pt x="240" y="120"/>
                  </a:lnTo>
                  <a:lnTo>
                    <a:pt x="236" y="116"/>
                  </a:lnTo>
                  <a:lnTo>
                    <a:pt x="234" y="112"/>
                  </a:lnTo>
                  <a:lnTo>
                    <a:pt x="236" y="108"/>
                  </a:lnTo>
                  <a:lnTo>
                    <a:pt x="242" y="108"/>
                  </a:lnTo>
                  <a:lnTo>
                    <a:pt x="266" y="112"/>
                  </a:lnTo>
                  <a:lnTo>
                    <a:pt x="266" y="98"/>
                  </a:lnTo>
                  <a:lnTo>
                    <a:pt x="266" y="96"/>
                  </a:lnTo>
                  <a:lnTo>
                    <a:pt x="278" y="84"/>
                  </a:lnTo>
                  <a:lnTo>
                    <a:pt x="282" y="74"/>
                  </a:lnTo>
                  <a:lnTo>
                    <a:pt x="276" y="72"/>
                  </a:lnTo>
                  <a:lnTo>
                    <a:pt x="270" y="66"/>
                  </a:lnTo>
                  <a:lnTo>
                    <a:pt x="270" y="64"/>
                  </a:lnTo>
                  <a:lnTo>
                    <a:pt x="270" y="60"/>
                  </a:lnTo>
                  <a:lnTo>
                    <a:pt x="270" y="58"/>
                  </a:lnTo>
                  <a:lnTo>
                    <a:pt x="268" y="58"/>
                  </a:lnTo>
                  <a:lnTo>
                    <a:pt x="266" y="58"/>
                  </a:lnTo>
                  <a:lnTo>
                    <a:pt x="262" y="62"/>
                  </a:lnTo>
                  <a:lnTo>
                    <a:pt x="256" y="64"/>
                  </a:lnTo>
                  <a:lnTo>
                    <a:pt x="250" y="62"/>
                  </a:lnTo>
                  <a:lnTo>
                    <a:pt x="244" y="62"/>
                  </a:lnTo>
                  <a:lnTo>
                    <a:pt x="234" y="54"/>
                  </a:lnTo>
                  <a:lnTo>
                    <a:pt x="226" y="42"/>
                  </a:lnTo>
                  <a:lnTo>
                    <a:pt x="226" y="44"/>
                  </a:lnTo>
                  <a:lnTo>
                    <a:pt x="222" y="50"/>
                  </a:lnTo>
                  <a:lnTo>
                    <a:pt x="216" y="58"/>
                  </a:lnTo>
                  <a:lnTo>
                    <a:pt x="208" y="60"/>
                  </a:lnTo>
                  <a:lnTo>
                    <a:pt x="200" y="62"/>
                  </a:lnTo>
                  <a:lnTo>
                    <a:pt x="194" y="62"/>
                  </a:lnTo>
                  <a:lnTo>
                    <a:pt x="186" y="60"/>
                  </a:lnTo>
                  <a:lnTo>
                    <a:pt x="182" y="58"/>
                  </a:lnTo>
                  <a:lnTo>
                    <a:pt x="178" y="54"/>
                  </a:lnTo>
                  <a:lnTo>
                    <a:pt x="174" y="46"/>
                  </a:lnTo>
                  <a:lnTo>
                    <a:pt x="170" y="30"/>
                  </a:lnTo>
                  <a:lnTo>
                    <a:pt x="166" y="12"/>
                  </a:lnTo>
                  <a:lnTo>
                    <a:pt x="164" y="6"/>
                  </a:lnTo>
                  <a:lnTo>
                    <a:pt x="160" y="2"/>
                  </a:lnTo>
                  <a:lnTo>
                    <a:pt x="154" y="0"/>
                  </a:lnTo>
                  <a:lnTo>
                    <a:pt x="146" y="0"/>
                  </a:lnTo>
                  <a:lnTo>
                    <a:pt x="148" y="14"/>
                  </a:lnTo>
                  <a:lnTo>
                    <a:pt x="146" y="14"/>
                  </a:lnTo>
                  <a:close/>
                </a:path>
              </a:pathLst>
            </a:custGeom>
            <a:noFill/>
            <a:ln w="3175" cap="flat" cmpd="sng">
              <a:solidFill>
                <a:schemeClr val="bg2"/>
              </a:solidFill>
              <a:bevel/>
              <a:headEnd/>
              <a:tailEnd/>
            </a:ln>
          </p:spPr>
          <p:txBody>
            <a:bodyPr anchor="ctr"/>
            <a:lstStyle/>
            <a:p>
              <a:endParaRPr lang="zh-CN" altLang="en-US"/>
            </a:p>
          </p:txBody>
        </p:sp>
        <p:sp>
          <p:nvSpPr>
            <p:cNvPr id="8214" name="Freeform 22"/>
            <p:cNvSpPr>
              <a:spLocks/>
            </p:cNvSpPr>
            <p:nvPr/>
          </p:nvSpPr>
          <p:spPr bwMode="auto">
            <a:xfrm>
              <a:off x="4737012" y="3011207"/>
              <a:ext cx="433241" cy="501271"/>
            </a:xfrm>
            <a:custGeom>
              <a:avLst/>
              <a:gdLst/>
              <a:ahLst/>
              <a:cxnLst>
                <a:cxn ang="0">
                  <a:pos x="148" y="4"/>
                </a:cxn>
                <a:cxn ang="0">
                  <a:pos x="126" y="12"/>
                </a:cxn>
                <a:cxn ang="0">
                  <a:pos x="102" y="6"/>
                </a:cxn>
                <a:cxn ang="0">
                  <a:pos x="78" y="6"/>
                </a:cxn>
                <a:cxn ang="0">
                  <a:pos x="62" y="28"/>
                </a:cxn>
                <a:cxn ang="0">
                  <a:pos x="54" y="64"/>
                </a:cxn>
                <a:cxn ang="0">
                  <a:pos x="44" y="74"/>
                </a:cxn>
                <a:cxn ang="0">
                  <a:pos x="44" y="82"/>
                </a:cxn>
                <a:cxn ang="0">
                  <a:pos x="36" y="100"/>
                </a:cxn>
                <a:cxn ang="0">
                  <a:pos x="4" y="132"/>
                </a:cxn>
                <a:cxn ang="0">
                  <a:pos x="6" y="140"/>
                </a:cxn>
                <a:cxn ang="0">
                  <a:pos x="0" y="148"/>
                </a:cxn>
                <a:cxn ang="0">
                  <a:pos x="0" y="156"/>
                </a:cxn>
                <a:cxn ang="0">
                  <a:pos x="30" y="202"/>
                </a:cxn>
                <a:cxn ang="0">
                  <a:pos x="30" y="206"/>
                </a:cxn>
                <a:cxn ang="0">
                  <a:pos x="28" y="210"/>
                </a:cxn>
                <a:cxn ang="0">
                  <a:pos x="40" y="214"/>
                </a:cxn>
                <a:cxn ang="0">
                  <a:pos x="48" y="224"/>
                </a:cxn>
                <a:cxn ang="0">
                  <a:pos x="52" y="246"/>
                </a:cxn>
                <a:cxn ang="0">
                  <a:pos x="58" y="266"/>
                </a:cxn>
                <a:cxn ang="0">
                  <a:pos x="68" y="272"/>
                </a:cxn>
                <a:cxn ang="0">
                  <a:pos x="80" y="270"/>
                </a:cxn>
                <a:cxn ang="0">
                  <a:pos x="90" y="264"/>
                </a:cxn>
                <a:cxn ang="0">
                  <a:pos x="90" y="258"/>
                </a:cxn>
                <a:cxn ang="0">
                  <a:pos x="104" y="250"/>
                </a:cxn>
                <a:cxn ang="0">
                  <a:pos x="122" y="270"/>
                </a:cxn>
                <a:cxn ang="0">
                  <a:pos x="134" y="272"/>
                </a:cxn>
                <a:cxn ang="0">
                  <a:pos x="146" y="268"/>
                </a:cxn>
                <a:cxn ang="0">
                  <a:pos x="152" y="270"/>
                </a:cxn>
                <a:cxn ang="0">
                  <a:pos x="170" y="274"/>
                </a:cxn>
                <a:cxn ang="0">
                  <a:pos x="170" y="246"/>
                </a:cxn>
                <a:cxn ang="0">
                  <a:pos x="180" y="232"/>
                </a:cxn>
                <a:cxn ang="0">
                  <a:pos x="172" y="224"/>
                </a:cxn>
                <a:cxn ang="0">
                  <a:pos x="176" y="220"/>
                </a:cxn>
                <a:cxn ang="0">
                  <a:pos x="198" y="186"/>
                </a:cxn>
                <a:cxn ang="0">
                  <a:pos x="204" y="188"/>
                </a:cxn>
                <a:cxn ang="0">
                  <a:pos x="204" y="204"/>
                </a:cxn>
                <a:cxn ang="0">
                  <a:pos x="226" y="172"/>
                </a:cxn>
                <a:cxn ang="0">
                  <a:pos x="214" y="174"/>
                </a:cxn>
                <a:cxn ang="0">
                  <a:pos x="216" y="136"/>
                </a:cxn>
                <a:cxn ang="0">
                  <a:pos x="214" y="134"/>
                </a:cxn>
                <a:cxn ang="0">
                  <a:pos x="208" y="122"/>
                </a:cxn>
                <a:cxn ang="0">
                  <a:pos x="230" y="116"/>
                </a:cxn>
                <a:cxn ang="0">
                  <a:pos x="240" y="106"/>
                </a:cxn>
                <a:cxn ang="0">
                  <a:pos x="216" y="86"/>
                </a:cxn>
                <a:cxn ang="0">
                  <a:pos x="232" y="66"/>
                </a:cxn>
                <a:cxn ang="0">
                  <a:pos x="220" y="68"/>
                </a:cxn>
                <a:cxn ang="0">
                  <a:pos x="220" y="64"/>
                </a:cxn>
                <a:cxn ang="0">
                  <a:pos x="214" y="54"/>
                </a:cxn>
                <a:cxn ang="0">
                  <a:pos x="204" y="48"/>
                </a:cxn>
                <a:cxn ang="0">
                  <a:pos x="160" y="64"/>
                </a:cxn>
                <a:cxn ang="0">
                  <a:pos x="104" y="48"/>
                </a:cxn>
                <a:cxn ang="0">
                  <a:pos x="158" y="34"/>
                </a:cxn>
                <a:cxn ang="0">
                  <a:pos x="178" y="12"/>
                </a:cxn>
                <a:cxn ang="0">
                  <a:pos x="148" y="4"/>
                </a:cxn>
              </a:cxnLst>
              <a:rect l="0" t="0" r="r" b="b"/>
              <a:pathLst>
                <a:path w="242" h="280">
                  <a:moveTo>
                    <a:pt x="148" y="4"/>
                  </a:moveTo>
                  <a:lnTo>
                    <a:pt x="148" y="4"/>
                  </a:lnTo>
                  <a:lnTo>
                    <a:pt x="136" y="8"/>
                  </a:lnTo>
                  <a:lnTo>
                    <a:pt x="126" y="12"/>
                  </a:lnTo>
                  <a:lnTo>
                    <a:pt x="116" y="10"/>
                  </a:lnTo>
                  <a:lnTo>
                    <a:pt x="102" y="6"/>
                  </a:lnTo>
                  <a:lnTo>
                    <a:pt x="84" y="4"/>
                  </a:lnTo>
                  <a:lnTo>
                    <a:pt x="78" y="6"/>
                  </a:lnTo>
                  <a:lnTo>
                    <a:pt x="74" y="12"/>
                  </a:lnTo>
                  <a:lnTo>
                    <a:pt x="62" y="28"/>
                  </a:lnTo>
                  <a:lnTo>
                    <a:pt x="74" y="52"/>
                  </a:lnTo>
                  <a:lnTo>
                    <a:pt x="54" y="64"/>
                  </a:lnTo>
                  <a:lnTo>
                    <a:pt x="38" y="60"/>
                  </a:lnTo>
                  <a:lnTo>
                    <a:pt x="44" y="74"/>
                  </a:lnTo>
                  <a:lnTo>
                    <a:pt x="44" y="78"/>
                  </a:lnTo>
                  <a:lnTo>
                    <a:pt x="44" y="82"/>
                  </a:lnTo>
                  <a:lnTo>
                    <a:pt x="42" y="88"/>
                  </a:lnTo>
                  <a:lnTo>
                    <a:pt x="36" y="100"/>
                  </a:lnTo>
                  <a:lnTo>
                    <a:pt x="32" y="106"/>
                  </a:lnTo>
                  <a:lnTo>
                    <a:pt x="4" y="132"/>
                  </a:lnTo>
                  <a:lnTo>
                    <a:pt x="10" y="136"/>
                  </a:lnTo>
                  <a:lnTo>
                    <a:pt x="6" y="140"/>
                  </a:lnTo>
                  <a:lnTo>
                    <a:pt x="2" y="144"/>
                  </a:lnTo>
                  <a:lnTo>
                    <a:pt x="0" y="148"/>
                  </a:lnTo>
                  <a:lnTo>
                    <a:pt x="0" y="152"/>
                  </a:lnTo>
                  <a:lnTo>
                    <a:pt x="0" y="156"/>
                  </a:lnTo>
                  <a:lnTo>
                    <a:pt x="20" y="186"/>
                  </a:lnTo>
                  <a:lnTo>
                    <a:pt x="30" y="202"/>
                  </a:lnTo>
                  <a:lnTo>
                    <a:pt x="30" y="204"/>
                  </a:lnTo>
                  <a:lnTo>
                    <a:pt x="30" y="206"/>
                  </a:lnTo>
                  <a:lnTo>
                    <a:pt x="30" y="208"/>
                  </a:lnTo>
                  <a:lnTo>
                    <a:pt x="28" y="210"/>
                  </a:lnTo>
                  <a:lnTo>
                    <a:pt x="34" y="210"/>
                  </a:lnTo>
                  <a:lnTo>
                    <a:pt x="40" y="214"/>
                  </a:lnTo>
                  <a:lnTo>
                    <a:pt x="44" y="218"/>
                  </a:lnTo>
                  <a:lnTo>
                    <a:pt x="48" y="224"/>
                  </a:lnTo>
                  <a:lnTo>
                    <a:pt x="50" y="234"/>
                  </a:lnTo>
                  <a:lnTo>
                    <a:pt x="52" y="246"/>
                  </a:lnTo>
                  <a:lnTo>
                    <a:pt x="56" y="262"/>
                  </a:lnTo>
                  <a:lnTo>
                    <a:pt x="58" y="266"/>
                  </a:lnTo>
                  <a:lnTo>
                    <a:pt x="64" y="270"/>
                  </a:lnTo>
                  <a:lnTo>
                    <a:pt x="68" y="272"/>
                  </a:lnTo>
                  <a:lnTo>
                    <a:pt x="74" y="272"/>
                  </a:lnTo>
                  <a:lnTo>
                    <a:pt x="80" y="270"/>
                  </a:lnTo>
                  <a:lnTo>
                    <a:pt x="84" y="268"/>
                  </a:lnTo>
                  <a:lnTo>
                    <a:pt x="90" y="264"/>
                  </a:lnTo>
                  <a:lnTo>
                    <a:pt x="90" y="260"/>
                  </a:lnTo>
                  <a:lnTo>
                    <a:pt x="90" y="258"/>
                  </a:lnTo>
                  <a:lnTo>
                    <a:pt x="104" y="248"/>
                  </a:lnTo>
                  <a:lnTo>
                    <a:pt x="104" y="250"/>
                  </a:lnTo>
                  <a:lnTo>
                    <a:pt x="116" y="268"/>
                  </a:lnTo>
                  <a:lnTo>
                    <a:pt x="122" y="270"/>
                  </a:lnTo>
                  <a:lnTo>
                    <a:pt x="130" y="272"/>
                  </a:lnTo>
                  <a:lnTo>
                    <a:pt x="134" y="272"/>
                  </a:lnTo>
                  <a:lnTo>
                    <a:pt x="130" y="262"/>
                  </a:lnTo>
                  <a:lnTo>
                    <a:pt x="146" y="268"/>
                  </a:lnTo>
                  <a:lnTo>
                    <a:pt x="150" y="268"/>
                  </a:lnTo>
                  <a:lnTo>
                    <a:pt x="152" y="270"/>
                  </a:lnTo>
                  <a:lnTo>
                    <a:pt x="166" y="280"/>
                  </a:lnTo>
                  <a:lnTo>
                    <a:pt x="170" y="274"/>
                  </a:lnTo>
                  <a:lnTo>
                    <a:pt x="168" y="248"/>
                  </a:lnTo>
                  <a:lnTo>
                    <a:pt x="170" y="246"/>
                  </a:lnTo>
                  <a:lnTo>
                    <a:pt x="180" y="234"/>
                  </a:lnTo>
                  <a:lnTo>
                    <a:pt x="180" y="232"/>
                  </a:lnTo>
                  <a:lnTo>
                    <a:pt x="176" y="226"/>
                  </a:lnTo>
                  <a:lnTo>
                    <a:pt x="172" y="224"/>
                  </a:lnTo>
                  <a:lnTo>
                    <a:pt x="174" y="222"/>
                  </a:lnTo>
                  <a:lnTo>
                    <a:pt x="176" y="220"/>
                  </a:lnTo>
                  <a:lnTo>
                    <a:pt x="178" y="220"/>
                  </a:lnTo>
                  <a:lnTo>
                    <a:pt x="198" y="186"/>
                  </a:lnTo>
                  <a:lnTo>
                    <a:pt x="200" y="188"/>
                  </a:lnTo>
                  <a:lnTo>
                    <a:pt x="204" y="188"/>
                  </a:lnTo>
                  <a:lnTo>
                    <a:pt x="204" y="190"/>
                  </a:lnTo>
                  <a:lnTo>
                    <a:pt x="204" y="204"/>
                  </a:lnTo>
                  <a:lnTo>
                    <a:pt x="228" y="184"/>
                  </a:lnTo>
                  <a:lnTo>
                    <a:pt x="226" y="172"/>
                  </a:lnTo>
                  <a:lnTo>
                    <a:pt x="222" y="172"/>
                  </a:lnTo>
                  <a:lnTo>
                    <a:pt x="214" y="174"/>
                  </a:lnTo>
                  <a:lnTo>
                    <a:pt x="228" y="136"/>
                  </a:lnTo>
                  <a:lnTo>
                    <a:pt x="216" y="136"/>
                  </a:lnTo>
                  <a:lnTo>
                    <a:pt x="214" y="136"/>
                  </a:lnTo>
                  <a:lnTo>
                    <a:pt x="214" y="134"/>
                  </a:lnTo>
                  <a:lnTo>
                    <a:pt x="210" y="128"/>
                  </a:lnTo>
                  <a:lnTo>
                    <a:pt x="208" y="122"/>
                  </a:lnTo>
                  <a:lnTo>
                    <a:pt x="210" y="116"/>
                  </a:lnTo>
                  <a:lnTo>
                    <a:pt x="230" y="116"/>
                  </a:lnTo>
                  <a:lnTo>
                    <a:pt x="242" y="116"/>
                  </a:lnTo>
                  <a:lnTo>
                    <a:pt x="240" y="106"/>
                  </a:lnTo>
                  <a:lnTo>
                    <a:pt x="232" y="92"/>
                  </a:lnTo>
                  <a:lnTo>
                    <a:pt x="216" y="86"/>
                  </a:lnTo>
                  <a:lnTo>
                    <a:pt x="232" y="70"/>
                  </a:lnTo>
                  <a:lnTo>
                    <a:pt x="232" y="66"/>
                  </a:lnTo>
                  <a:lnTo>
                    <a:pt x="224" y="68"/>
                  </a:lnTo>
                  <a:lnTo>
                    <a:pt x="220" y="68"/>
                  </a:lnTo>
                  <a:lnTo>
                    <a:pt x="220" y="66"/>
                  </a:lnTo>
                  <a:lnTo>
                    <a:pt x="220" y="64"/>
                  </a:lnTo>
                  <a:lnTo>
                    <a:pt x="218" y="58"/>
                  </a:lnTo>
                  <a:lnTo>
                    <a:pt x="214" y="54"/>
                  </a:lnTo>
                  <a:lnTo>
                    <a:pt x="210" y="50"/>
                  </a:lnTo>
                  <a:lnTo>
                    <a:pt x="204" y="48"/>
                  </a:lnTo>
                  <a:lnTo>
                    <a:pt x="172" y="48"/>
                  </a:lnTo>
                  <a:lnTo>
                    <a:pt x="160" y="64"/>
                  </a:lnTo>
                  <a:lnTo>
                    <a:pt x="156" y="64"/>
                  </a:lnTo>
                  <a:lnTo>
                    <a:pt x="104" y="48"/>
                  </a:lnTo>
                  <a:lnTo>
                    <a:pt x="154" y="36"/>
                  </a:lnTo>
                  <a:lnTo>
                    <a:pt x="158" y="34"/>
                  </a:lnTo>
                  <a:lnTo>
                    <a:pt x="162" y="30"/>
                  </a:lnTo>
                  <a:lnTo>
                    <a:pt x="178" y="12"/>
                  </a:lnTo>
                  <a:lnTo>
                    <a:pt x="162" y="0"/>
                  </a:lnTo>
                  <a:lnTo>
                    <a:pt x="148" y="4"/>
                  </a:lnTo>
                  <a:close/>
                </a:path>
              </a:pathLst>
            </a:custGeom>
            <a:noFill/>
            <a:ln w="3175" cap="flat" cmpd="sng">
              <a:solidFill>
                <a:schemeClr val="bg2"/>
              </a:solidFill>
              <a:bevel/>
              <a:headEnd/>
              <a:tailEnd/>
            </a:ln>
          </p:spPr>
          <p:txBody>
            <a:bodyPr anchor="ctr"/>
            <a:lstStyle/>
            <a:p>
              <a:endParaRPr lang="zh-CN" altLang="en-US"/>
            </a:p>
          </p:txBody>
        </p:sp>
        <p:sp>
          <p:nvSpPr>
            <p:cNvPr id="8215" name="Freeform 23"/>
            <p:cNvSpPr>
              <a:spLocks/>
            </p:cNvSpPr>
            <p:nvPr/>
          </p:nvSpPr>
          <p:spPr bwMode="auto">
            <a:xfrm>
              <a:off x="4314512" y="2577965"/>
              <a:ext cx="547818" cy="669555"/>
            </a:xfrm>
            <a:custGeom>
              <a:avLst/>
              <a:gdLst/>
              <a:ahLst/>
              <a:cxnLst>
                <a:cxn ang="0">
                  <a:pos x="186" y="86"/>
                </a:cxn>
                <a:cxn ang="0">
                  <a:pos x="170" y="56"/>
                </a:cxn>
                <a:cxn ang="0">
                  <a:pos x="110" y="34"/>
                </a:cxn>
                <a:cxn ang="0">
                  <a:pos x="80" y="0"/>
                </a:cxn>
                <a:cxn ang="0">
                  <a:pos x="82" y="14"/>
                </a:cxn>
                <a:cxn ang="0">
                  <a:pos x="98" y="38"/>
                </a:cxn>
                <a:cxn ang="0">
                  <a:pos x="74" y="72"/>
                </a:cxn>
                <a:cxn ang="0">
                  <a:pos x="52" y="50"/>
                </a:cxn>
                <a:cxn ang="0">
                  <a:pos x="46" y="70"/>
                </a:cxn>
                <a:cxn ang="0">
                  <a:pos x="44" y="82"/>
                </a:cxn>
                <a:cxn ang="0">
                  <a:pos x="22" y="94"/>
                </a:cxn>
                <a:cxn ang="0">
                  <a:pos x="20" y="124"/>
                </a:cxn>
                <a:cxn ang="0">
                  <a:pos x="0" y="122"/>
                </a:cxn>
                <a:cxn ang="0">
                  <a:pos x="18" y="144"/>
                </a:cxn>
                <a:cxn ang="0">
                  <a:pos x="36" y="162"/>
                </a:cxn>
                <a:cxn ang="0">
                  <a:pos x="54" y="164"/>
                </a:cxn>
                <a:cxn ang="0">
                  <a:pos x="68" y="200"/>
                </a:cxn>
                <a:cxn ang="0">
                  <a:pos x="68" y="214"/>
                </a:cxn>
                <a:cxn ang="0">
                  <a:pos x="54" y="220"/>
                </a:cxn>
                <a:cxn ang="0">
                  <a:pos x="44" y="244"/>
                </a:cxn>
                <a:cxn ang="0">
                  <a:pos x="76" y="258"/>
                </a:cxn>
                <a:cxn ang="0">
                  <a:pos x="102" y="352"/>
                </a:cxn>
                <a:cxn ang="0">
                  <a:pos x="100" y="364"/>
                </a:cxn>
                <a:cxn ang="0">
                  <a:pos x="138" y="362"/>
                </a:cxn>
                <a:cxn ang="0">
                  <a:pos x="146" y="366"/>
                </a:cxn>
                <a:cxn ang="0">
                  <a:pos x="158" y="350"/>
                </a:cxn>
                <a:cxn ang="0">
                  <a:pos x="196" y="358"/>
                </a:cxn>
                <a:cxn ang="0">
                  <a:pos x="260" y="342"/>
                </a:cxn>
                <a:cxn ang="0">
                  <a:pos x="272" y="320"/>
                </a:cxn>
                <a:cxn ang="0">
                  <a:pos x="254" y="286"/>
                </a:cxn>
                <a:cxn ang="0">
                  <a:pos x="288" y="270"/>
                </a:cxn>
                <a:cxn ang="0">
                  <a:pos x="298" y="234"/>
                </a:cxn>
                <a:cxn ang="0">
                  <a:pos x="282" y="222"/>
                </a:cxn>
                <a:cxn ang="0">
                  <a:pos x="270" y="230"/>
                </a:cxn>
                <a:cxn ang="0">
                  <a:pos x="244" y="210"/>
                </a:cxn>
                <a:cxn ang="0">
                  <a:pos x="218" y="192"/>
                </a:cxn>
                <a:cxn ang="0">
                  <a:pos x="214" y="184"/>
                </a:cxn>
                <a:cxn ang="0">
                  <a:pos x="230" y="152"/>
                </a:cxn>
                <a:cxn ang="0">
                  <a:pos x="234" y="128"/>
                </a:cxn>
                <a:cxn ang="0">
                  <a:pos x="260" y="122"/>
                </a:cxn>
                <a:cxn ang="0">
                  <a:pos x="242" y="116"/>
                </a:cxn>
                <a:cxn ang="0">
                  <a:pos x="214" y="120"/>
                </a:cxn>
                <a:cxn ang="0">
                  <a:pos x="194" y="106"/>
                </a:cxn>
              </a:cxnLst>
              <a:rect l="0" t="0" r="r" b="b"/>
              <a:pathLst>
                <a:path w="306" h="374">
                  <a:moveTo>
                    <a:pt x="192" y="106"/>
                  </a:moveTo>
                  <a:lnTo>
                    <a:pt x="192" y="106"/>
                  </a:lnTo>
                  <a:lnTo>
                    <a:pt x="186" y="86"/>
                  </a:lnTo>
                  <a:lnTo>
                    <a:pt x="180" y="70"/>
                  </a:lnTo>
                  <a:lnTo>
                    <a:pt x="174" y="60"/>
                  </a:lnTo>
                  <a:lnTo>
                    <a:pt x="170" y="56"/>
                  </a:lnTo>
                  <a:lnTo>
                    <a:pt x="142" y="46"/>
                  </a:lnTo>
                  <a:lnTo>
                    <a:pt x="122" y="40"/>
                  </a:lnTo>
                  <a:lnTo>
                    <a:pt x="110" y="34"/>
                  </a:lnTo>
                  <a:lnTo>
                    <a:pt x="104" y="30"/>
                  </a:lnTo>
                  <a:lnTo>
                    <a:pt x="96" y="22"/>
                  </a:lnTo>
                  <a:lnTo>
                    <a:pt x="80" y="0"/>
                  </a:lnTo>
                  <a:lnTo>
                    <a:pt x="74" y="0"/>
                  </a:lnTo>
                  <a:lnTo>
                    <a:pt x="76" y="2"/>
                  </a:lnTo>
                  <a:lnTo>
                    <a:pt x="82" y="14"/>
                  </a:lnTo>
                  <a:lnTo>
                    <a:pt x="96" y="34"/>
                  </a:lnTo>
                  <a:lnTo>
                    <a:pt x="98" y="36"/>
                  </a:lnTo>
                  <a:lnTo>
                    <a:pt x="98" y="38"/>
                  </a:lnTo>
                  <a:lnTo>
                    <a:pt x="86" y="60"/>
                  </a:lnTo>
                  <a:lnTo>
                    <a:pt x="78" y="70"/>
                  </a:lnTo>
                  <a:lnTo>
                    <a:pt x="74" y="72"/>
                  </a:lnTo>
                  <a:lnTo>
                    <a:pt x="72" y="72"/>
                  </a:lnTo>
                  <a:lnTo>
                    <a:pt x="64" y="66"/>
                  </a:lnTo>
                  <a:lnTo>
                    <a:pt x="52" y="50"/>
                  </a:lnTo>
                  <a:lnTo>
                    <a:pt x="38" y="46"/>
                  </a:lnTo>
                  <a:lnTo>
                    <a:pt x="40" y="54"/>
                  </a:lnTo>
                  <a:lnTo>
                    <a:pt x="46" y="70"/>
                  </a:lnTo>
                  <a:lnTo>
                    <a:pt x="46" y="72"/>
                  </a:lnTo>
                  <a:lnTo>
                    <a:pt x="46" y="74"/>
                  </a:lnTo>
                  <a:lnTo>
                    <a:pt x="44" y="82"/>
                  </a:lnTo>
                  <a:lnTo>
                    <a:pt x="28" y="88"/>
                  </a:lnTo>
                  <a:lnTo>
                    <a:pt x="24" y="90"/>
                  </a:lnTo>
                  <a:lnTo>
                    <a:pt x="22" y="94"/>
                  </a:lnTo>
                  <a:lnTo>
                    <a:pt x="22" y="102"/>
                  </a:lnTo>
                  <a:lnTo>
                    <a:pt x="24" y="116"/>
                  </a:lnTo>
                  <a:lnTo>
                    <a:pt x="20" y="124"/>
                  </a:lnTo>
                  <a:lnTo>
                    <a:pt x="18" y="126"/>
                  </a:lnTo>
                  <a:lnTo>
                    <a:pt x="16" y="126"/>
                  </a:lnTo>
                  <a:lnTo>
                    <a:pt x="0" y="122"/>
                  </a:lnTo>
                  <a:lnTo>
                    <a:pt x="2" y="126"/>
                  </a:lnTo>
                  <a:lnTo>
                    <a:pt x="8" y="130"/>
                  </a:lnTo>
                  <a:lnTo>
                    <a:pt x="18" y="144"/>
                  </a:lnTo>
                  <a:lnTo>
                    <a:pt x="28" y="160"/>
                  </a:lnTo>
                  <a:lnTo>
                    <a:pt x="28" y="162"/>
                  </a:lnTo>
                  <a:lnTo>
                    <a:pt x="36" y="162"/>
                  </a:lnTo>
                  <a:lnTo>
                    <a:pt x="42" y="160"/>
                  </a:lnTo>
                  <a:lnTo>
                    <a:pt x="48" y="162"/>
                  </a:lnTo>
                  <a:lnTo>
                    <a:pt x="54" y="164"/>
                  </a:lnTo>
                  <a:lnTo>
                    <a:pt x="60" y="166"/>
                  </a:lnTo>
                  <a:lnTo>
                    <a:pt x="70" y="178"/>
                  </a:lnTo>
                  <a:lnTo>
                    <a:pt x="68" y="200"/>
                  </a:lnTo>
                  <a:lnTo>
                    <a:pt x="72" y="204"/>
                  </a:lnTo>
                  <a:lnTo>
                    <a:pt x="72" y="210"/>
                  </a:lnTo>
                  <a:lnTo>
                    <a:pt x="68" y="214"/>
                  </a:lnTo>
                  <a:lnTo>
                    <a:pt x="60" y="218"/>
                  </a:lnTo>
                  <a:lnTo>
                    <a:pt x="56" y="218"/>
                  </a:lnTo>
                  <a:lnTo>
                    <a:pt x="54" y="220"/>
                  </a:lnTo>
                  <a:lnTo>
                    <a:pt x="52" y="224"/>
                  </a:lnTo>
                  <a:lnTo>
                    <a:pt x="50" y="230"/>
                  </a:lnTo>
                  <a:lnTo>
                    <a:pt x="44" y="244"/>
                  </a:lnTo>
                  <a:lnTo>
                    <a:pt x="52" y="254"/>
                  </a:lnTo>
                  <a:lnTo>
                    <a:pt x="74" y="258"/>
                  </a:lnTo>
                  <a:lnTo>
                    <a:pt x="76" y="258"/>
                  </a:lnTo>
                  <a:lnTo>
                    <a:pt x="86" y="268"/>
                  </a:lnTo>
                  <a:lnTo>
                    <a:pt x="72" y="288"/>
                  </a:lnTo>
                  <a:lnTo>
                    <a:pt x="102" y="352"/>
                  </a:lnTo>
                  <a:lnTo>
                    <a:pt x="104" y="354"/>
                  </a:lnTo>
                  <a:lnTo>
                    <a:pt x="98" y="358"/>
                  </a:lnTo>
                  <a:lnTo>
                    <a:pt x="100" y="364"/>
                  </a:lnTo>
                  <a:lnTo>
                    <a:pt x="156" y="330"/>
                  </a:lnTo>
                  <a:lnTo>
                    <a:pt x="146" y="346"/>
                  </a:lnTo>
                  <a:lnTo>
                    <a:pt x="138" y="362"/>
                  </a:lnTo>
                  <a:lnTo>
                    <a:pt x="134" y="374"/>
                  </a:lnTo>
                  <a:lnTo>
                    <a:pt x="140" y="372"/>
                  </a:lnTo>
                  <a:lnTo>
                    <a:pt x="146" y="366"/>
                  </a:lnTo>
                  <a:lnTo>
                    <a:pt x="152" y="360"/>
                  </a:lnTo>
                  <a:lnTo>
                    <a:pt x="156" y="350"/>
                  </a:lnTo>
                  <a:lnTo>
                    <a:pt x="158" y="350"/>
                  </a:lnTo>
                  <a:lnTo>
                    <a:pt x="172" y="342"/>
                  </a:lnTo>
                  <a:lnTo>
                    <a:pt x="174" y="340"/>
                  </a:lnTo>
                  <a:lnTo>
                    <a:pt x="196" y="358"/>
                  </a:lnTo>
                  <a:lnTo>
                    <a:pt x="220" y="360"/>
                  </a:lnTo>
                  <a:lnTo>
                    <a:pt x="232" y="368"/>
                  </a:lnTo>
                  <a:lnTo>
                    <a:pt x="260" y="342"/>
                  </a:lnTo>
                  <a:lnTo>
                    <a:pt x="264" y="336"/>
                  </a:lnTo>
                  <a:lnTo>
                    <a:pt x="268" y="326"/>
                  </a:lnTo>
                  <a:lnTo>
                    <a:pt x="272" y="320"/>
                  </a:lnTo>
                  <a:lnTo>
                    <a:pt x="270" y="312"/>
                  </a:lnTo>
                  <a:lnTo>
                    <a:pt x="260" y="296"/>
                  </a:lnTo>
                  <a:lnTo>
                    <a:pt x="254" y="286"/>
                  </a:lnTo>
                  <a:lnTo>
                    <a:pt x="288" y="298"/>
                  </a:lnTo>
                  <a:lnTo>
                    <a:pt x="300" y="292"/>
                  </a:lnTo>
                  <a:lnTo>
                    <a:pt x="288" y="270"/>
                  </a:lnTo>
                  <a:lnTo>
                    <a:pt x="288" y="268"/>
                  </a:lnTo>
                  <a:lnTo>
                    <a:pt x="306" y="246"/>
                  </a:lnTo>
                  <a:lnTo>
                    <a:pt x="298" y="234"/>
                  </a:lnTo>
                  <a:lnTo>
                    <a:pt x="290" y="226"/>
                  </a:lnTo>
                  <a:lnTo>
                    <a:pt x="284" y="222"/>
                  </a:lnTo>
                  <a:lnTo>
                    <a:pt x="282" y="222"/>
                  </a:lnTo>
                  <a:lnTo>
                    <a:pt x="272" y="232"/>
                  </a:lnTo>
                  <a:lnTo>
                    <a:pt x="272" y="230"/>
                  </a:lnTo>
                  <a:lnTo>
                    <a:pt x="270" y="230"/>
                  </a:lnTo>
                  <a:lnTo>
                    <a:pt x="256" y="226"/>
                  </a:lnTo>
                  <a:lnTo>
                    <a:pt x="252" y="214"/>
                  </a:lnTo>
                  <a:lnTo>
                    <a:pt x="244" y="210"/>
                  </a:lnTo>
                  <a:lnTo>
                    <a:pt x="236" y="204"/>
                  </a:lnTo>
                  <a:lnTo>
                    <a:pt x="226" y="198"/>
                  </a:lnTo>
                  <a:lnTo>
                    <a:pt x="218" y="192"/>
                  </a:lnTo>
                  <a:lnTo>
                    <a:pt x="216" y="190"/>
                  </a:lnTo>
                  <a:lnTo>
                    <a:pt x="216" y="186"/>
                  </a:lnTo>
                  <a:lnTo>
                    <a:pt x="214" y="184"/>
                  </a:lnTo>
                  <a:lnTo>
                    <a:pt x="216" y="180"/>
                  </a:lnTo>
                  <a:lnTo>
                    <a:pt x="220" y="170"/>
                  </a:lnTo>
                  <a:lnTo>
                    <a:pt x="230" y="152"/>
                  </a:lnTo>
                  <a:lnTo>
                    <a:pt x="232" y="144"/>
                  </a:lnTo>
                  <a:lnTo>
                    <a:pt x="234" y="138"/>
                  </a:lnTo>
                  <a:lnTo>
                    <a:pt x="234" y="128"/>
                  </a:lnTo>
                  <a:lnTo>
                    <a:pt x="240" y="128"/>
                  </a:lnTo>
                  <a:lnTo>
                    <a:pt x="258" y="130"/>
                  </a:lnTo>
                  <a:lnTo>
                    <a:pt x="260" y="122"/>
                  </a:lnTo>
                  <a:lnTo>
                    <a:pt x="264" y="106"/>
                  </a:lnTo>
                  <a:lnTo>
                    <a:pt x="260" y="104"/>
                  </a:lnTo>
                  <a:lnTo>
                    <a:pt x="242" y="116"/>
                  </a:lnTo>
                  <a:lnTo>
                    <a:pt x="230" y="122"/>
                  </a:lnTo>
                  <a:lnTo>
                    <a:pt x="222" y="122"/>
                  </a:lnTo>
                  <a:lnTo>
                    <a:pt x="214" y="120"/>
                  </a:lnTo>
                  <a:lnTo>
                    <a:pt x="204" y="114"/>
                  </a:lnTo>
                  <a:lnTo>
                    <a:pt x="194" y="108"/>
                  </a:lnTo>
                  <a:lnTo>
                    <a:pt x="194" y="106"/>
                  </a:lnTo>
                  <a:lnTo>
                    <a:pt x="192" y="106"/>
                  </a:lnTo>
                  <a:close/>
                </a:path>
              </a:pathLst>
            </a:custGeom>
            <a:noFill/>
            <a:ln w="3175" cap="flat" cmpd="sng">
              <a:solidFill>
                <a:schemeClr val="bg2"/>
              </a:solidFill>
              <a:bevel/>
              <a:headEnd/>
              <a:tailEnd/>
            </a:ln>
          </p:spPr>
          <p:txBody>
            <a:bodyPr anchor="ctr"/>
            <a:lstStyle/>
            <a:p>
              <a:endParaRPr lang="zh-CN" altLang="en-US"/>
            </a:p>
          </p:txBody>
        </p:sp>
        <p:sp>
          <p:nvSpPr>
            <p:cNvPr id="8216" name="Freeform 24"/>
            <p:cNvSpPr>
              <a:spLocks/>
            </p:cNvSpPr>
            <p:nvPr/>
          </p:nvSpPr>
          <p:spPr bwMode="auto">
            <a:xfrm>
              <a:off x="4421927" y="1804576"/>
              <a:ext cx="143220" cy="207669"/>
            </a:xfrm>
            <a:custGeom>
              <a:avLst/>
              <a:gdLst/>
              <a:ahLst/>
              <a:cxnLst>
                <a:cxn ang="0">
                  <a:pos x="46" y="2"/>
                </a:cxn>
                <a:cxn ang="0">
                  <a:pos x="44" y="0"/>
                </a:cxn>
                <a:cxn ang="0">
                  <a:pos x="40" y="2"/>
                </a:cxn>
                <a:cxn ang="0">
                  <a:pos x="38" y="4"/>
                </a:cxn>
                <a:cxn ang="0">
                  <a:pos x="32" y="14"/>
                </a:cxn>
                <a:cxn ang="0">
                  <a:pos x="28" y="12"/>
                </a:cxn>
                <a:cxn ang="0">
                  <a:pos x="28" y="14"/>
                </a:cxn>
                <a:cxn ang="0">
                  <a:pos x="22" y="20"/>
                </a:cxn>
                <a:cxn ang="0">
                  <a:pos x="18" y="22"/>
                </a:cxn>
                <a:cxn ang="0">
                  <a:pos x="10" y="26"/>
                </a:cxn>
                <a:cxn ang="0">
                  <a:pos x="8" y="32"/>
                </a:cxn>
                <a:cxn ang="0">
                  <a:pos x="8" y="44"/>
                </a:cxn>
                <a:cxn ang="0">
                  <a:pos x="6" y="48"/>
                </a:cxn>
                <a:cxn ang="0">
                  <a:pos x="4" y="50"/>
                </a:cxn>
                <a:cxn ang="0">
                  <a:pos x="0" y="60"/>
                </a:cxn>
                <a:cxn ang="0">
                  <a:pos x="0" y="66"/>
                </a:cxn>
                <a:cxn ang="0">
                  <a:pos x="0" y="78"/>
                </a:cxn>
                <a:cxn ang="0">
                  <a:pos x="4" y="102"/>
                </a:cxn>
                <a:cxn ang="0">
                  <a:pos x="8" y="106"/>
                </a:cxn>
                <a:cxn ang="0">
                  <a:pos x="18" y="112"/>
                </a:cxn>
                <a:cxn ang="0">
                  <a:pos x="36" y="116"/>
                </a:cxn>
                <a:cxn ang="0">
                  <a:pos x="44" y="114"/>
                </a:cxn>
                <a:cxn ang="0">
                  <a:pos x="54" y="110"/>
                </a:cxn>
                <a:cxn ang="0">
                  <a:pos x="50" y="100"/>
                </a:cxn>
                <a:cxn ang="0">
                  <a:pos x="50" y="98"/>
                </a:cxn>
                <a:cxn ang="0">
                  <a:pos x="52" y="90"/>
                </a:cxn>
                <a:cxn ang="0">
                  <a:pos x="60" y="74"/>
                </a:cxn>
                <a:cxn ang="0">
                  <a:pos x="76" y="74"/>
                </a:cxn>
                <a:cxn ang="0">
                  <a:pos x="80" y="74"/>
                </a:cxn>
                <a:cxn ang="0">
                  <a:pos x="74" y="64"/>
                </a:cxn>
                <a:cxn ang="0">
                  <a:pos x="64" y="48"/>
                </a:cxn>
                <a:cxn ang="0">
                  <a:pos x="58" y="40"/>
                </a:cxn>
                <a:cxn ang="0">
                  <a:pos x="54" y="30"/>
                </a:cxn>
                <a:cxn ang="0">
                  <a:pos x="52" y="18"/>
                </a:cxn>
                <a:cxn ang="0">
                  <a:pos x="48" y="8"/>
                </a:cxn>
                <a:cxn ang="0">
                  <a:pos x="46" y="2"/>
                </a:cxn>
              </a:cxnLst>
              <a:rect l="0" t="0" r="r" b="b"/>
              <a:pathLst>
                <a:path w="80" h="116">
                  <a:moveTo>
                    <a:pt x="46" y="2"/>
                  </a:moveTo>
                  <a:lnTo>
                    <a:pt x="44" y="0"/>
                  </a:lnTo>
                  <a:lnTo>
                    <a:pt x="40" y="2"/>
                  </a:lnTo>
                  <a:lnTo>
                    <a:pt x="38" y="4"/>
                  </a:lnTo>
                  <a:lnTo>
                    <a:pt x="32" y="14"/>
                  </a:lnTo>
                  <a:lnTo>
                    <a:pt x="28" y="12"/>
                  </a:lnTo>
                  <a:lnTo>
                    <a:pt x="28" y="14"/>
                  </a:lnTo>
                  <a:lnTo>
                    <a:pt x="22" y="20"/>
                  </a:lnTo>
                  <a:lnTo>
                    <a:pt x="18" y="22"/>
                  </a:lnTo>
                  <a:lnTo>
                    <a:pt x="10" y="26"/>
                  </a:lnTo>
                  <a:lnTo>
                    <a:pt x="8" y="32"/>
                  </a:lnTo>
                  <a:lnTo>
                    <a:pt x="8" y="44"/>
                  </a:lnTo>
                  <a:lnTo>
                    <a:pt x="6" y="48"/>
                  </a:lnTo>
                  <a:lnTo>
                    <a:pt x="4" y="50"/>
                  </a:lnTo>
                  <a:lnTo>
                    <a:pt x="0" y="60"/>
                  </a:lnTo>
                  <a:lnTo>
                    <a:pt x="0" y="66"/>
                  </a:lnTo>
                  <a:lnTo>
                    <a:pt x="0" y="78"/>
                  </a:lnTo>
                  <a:lnTo>
                    <a:pt x="4" y="102"/>
                  </a:lnTo>
                  <a:lnTo>
                    <a:pt x="8" y="106"/>
                  </a:lnTo>
                  <a:lnTo>
                    <a:pt x="18" y="112"/>
                  </a:lnTo>
                  <a:lnTo>
                    <a:pt x="36" y="116"/>
                  </a:lnTo>
                  <a:lnTo>
                    <a:pt x="44" y="114"/>
                  </a:lnTo>
                  <a:lnTo>
                    <a:pt x="54" y="110"/>
                  </a:lnTo>
                  <a:lnTo>
                    <a:pt x="50" y="100"/>
                  </a:lnTo>
                  <a:lnTo>
                    <a:pt x="50" y="98"/>
                  </a:lnTo>
                  <a:lnTo>
                    <a:pt x="52" y="90"/>
                  </a:lnTo>
                  <a:lnTo>
                    <a:pt x="60" y="74"/>
                  </a:lnTo>
                  <a:lnTo>
                    <a:pt x="76" y="74"/>
                  </a:lnTo>
                  <a:lnTo>
                    <a:pt x="80" y="74"/>
                  </a:lnTo>
                  <a:lnTo>
                    <a:pt x="74" y="64"/>
                  </a:lnTo>
                  <a:lnTo>
                    <a:pt x="64" y="48"/>
                  </a:lnTo>
                  <a:lnTo>
                    <a:pt x="58" y="40"/>
                  </a:lnTo>
                  <a:lnTo>
                    <a:pt x="54" y="30"/>
                  </a:lnTo>
                  <a:lnTo>
                    <a:pt x="52" y="18"/>
                  </a:lnTo>
                  <a:lnTo>
                    <a:pt x="48" y="8"/>
                  </a:lnTo>
                  <a:lnTo>
                    <a:pt x="46" y="2"/>
                  </a:lnTo>
                  <a:close/>
                </a:path>
              </a:pathLst>
            </a:custGeom>
            <a:noFill/>
            <a:ln w="3175" cap="flat" cmpd="sng">
              <a:solidFill>
                <a:schemeClr val="bg2"/>
              </a:solidFill>
              <a:bevel/>
              <a:headEnd/>
              <a:tailEnd/>
            </a:ln>
          </p:spPr>
          <p:txBody>
            <a:bodyPr anchor="ctr"/>
            <a:lstStyle/>
            <a:p>
              <a:endParaRPr lang="zh-CN" altLang="en-US"/>
            </a:p>
          </p:txBody>
        </p:sp>
        <p:sp>
          <p:nvSpPr>
            <p:cNvPr id="8217" name="Freeform 25"/>
            <p:cNvSpPr>
              <a:spLocks/>
            </p:cNvSpPr>
            <p:nvPr/>
          </p:nvSpPr>
          <p:spPr bwMode="auto">
            <a:xfrm>
              <a:off x="4278707" y="1711483"/>
              <a:ext cx="189767" cy="204089"/>
            </a:xfrm>
            <a:custGeom>
              <a:avLst/>
              <a:gdLst/>
              <a:ahLst/>
              <a:cxnLst>
                <a:cxn ang="0">
                  <a:pos x="52" y="24"/>
                </a:cxn>
                <a:cxn ang="0">
                  <a:pos x="52" y="26"/>
                </a:cxn>
                <a:cxn ang="0">
                  <a:pos x="48" y="26"/>
                </a:cxn>
                <a:cxn ang="0">
                  <a:pos x="38" y="24"/>
                </a:cxn>
                <a:cxn ang="0">
                  <a:pos x="38" y="28"/>
                </a:cxn>
                <a:cxn ang="0">
                  <a:pos x="38" y="30"/>
                </a:cxn>
                <a:cxn ang="0">
                  <a:pos x="36" y="30"/>
                </a:cxn>
                <a:cxn ang="0">
                  <a:pos x="18" y="38"/>
                </a:cxn>
                <a:cxn ang="0">
                  <a:pos x="18" y="40"/>
                </a:cxn>
                <a:cxn ang="0">
                  <a:pos x="16" y="44"/>
                </a:cxn>
                <a:cxn ang="0">
                  <a:pos x="18" y="48"/>
                </a:cxn>
                <a:cxn ang="0">
                  <a:pos x="24" y="56"/>
                </a:cxn>
                <a:cxn ang="0">
                  <a:pos x="24" y="58"/>
                </a:cxn>
                <a:cxn ang="0">
                  <a:pos x="24" y="60"/>
                </a:cxn>
                <a:cxn ang="0">
                  <a:pos x="14" y="72"/>
                </a:cxn>
                <a:cxn ang="0">
                  <a:pos x="4" y="82"/>
                </a:cxn>
                <a:cxn ang="0">
                  <a:pos x="0" y="86"/>
                </a:cxn>
                <a:cxn ang="0">
                  <a:pos x="0" y="90"/>
                </a:cxn>
                <a:cxn ang="0">
                  <a:pos x="4" y="96"/>
                </a:cxn>
                <a:cxn ang="0">
                  <a:pos x="14" y="100"/>
                </a:cxn>
                <a:cxn ang="0">
                  <a:pos x="20" y="100"/>
                </a:cxn>
                <a:cxn ang="0">
                  <a:pos x="32" y="102"/>
                </a:cxn>
                <a:cxn ang="0">
                  <a:pos x="36" y="102"/>
                </a:cxn>
                <a:cxn ang="0">
                  <a:pos x="40" y="106"/>
                </a:cxn>
                <a:cxn ang="0">
                  <a:pos x="48" y="110"/>
                </a:cxn>
                <a:cxn ang="0">
                  <a:pos x="56" y="114"/>
                </a:cxn>
                <a:cxn ang="0">
                  <a:pos x="62" y="114"/>
                </a:cxn>
                <a:cxn ang="0">
                  <a:pos x="66" y="112"/>
                </a:cxn>
                <a:cxn ang="0">
                  <a:pos x="72" y="106"/>
                </a:cxn>
                <a:cxn ang="0">
                  <a:pos x="78" y="98"/>
                </a:cxn>
                <a:cxn ang="0">
                  <a:pos x="84" y="84"/>
                </a:cxn>
                <a:cxn ang="0">
                  <a:pos x="80" y="66"/>
                </a:cxn>
                <a:cxn ang="0">
                  <a:pos x="86" y="68"/>
                </a:cxn>
                <a:cxn ang="0">
                  <a:pos x="96" y="68"/>
                </a:cxn>
                <a:cxn ang="0">
                  <a:pos x="100" y="66"/>
                </a:cxn>
                <a:cxn ang="0">
                  <a:pos x="102" y="62"/>
                </a:cxn>
                <a:cxn ang="0">
                  <a:pos x="94" y="38"/>
                </a:cxn>
                <a:cxn ang="0">
                  <a:pos x="96" y="30"/>
                </a:cxn>
                <a:cxn ang="0">
                  <a:pos x="102" y="26"/>
                </a:cxn>
                <a:cxn ang="0">
                  <a:pos x="106" y="22"/>
                </a:cxn>
                <a:cxn ang="0">
                  <a:pos x="104" y="18"/>
                </a:cxn>
                <a:cxn ang="0">
                  <a:pos x="86" y="18"/>
                </a:cxn>
                <a:cxn ang="0">
                  <a:pos x="68" y="6"/>
                </a:cxn>
                <a:cxn ang="0">
                  <a:pos x="62" y="2"/>
                </a:cxn>
                <a:cxn ang="0">
                  <a:pos x="58" y="0"/>
                </a:cxn>
                <a:cxn ang="0">
                  <a:pos x="48" y="2"/>
                </a:cxn>
                <a:cxn ang="0">
                  <a:pos x="44" y="2"/>
                </a:cxn>
                <a:cxn ang="0">
                  <a:pos x="44" y="8"/>
                </a:cxn>
                <a:cxn ang="0">
                  <a:pos x="50" y="10"/>
                </a:cxn>
                <a:cxn ang="0">
                  <a:pos x="54" y="16"/>
                </a:cxn>
                <a:cxn ang="0">
                  <a:pos x="54" y="20"/>
                </a:cxn>
                <a:cxn ang="0">
                  <a:pos x="52" y="24"/>
                </a:cxn>
              </a:cxnLst>
              <a:rect l="0" t="0" r="r" b="b"/>
              <a:pathLst>
                <a:path w="106" h="114">
                  <a:moveTo>
                    <a:pt x="52" y="24"/>
                  </a:moveTo>
                  <a:lnTo>
                    <a:pt x="52" y="26"/>
                  </a:lnTo>
                  <a:lnTo>
                    <a:pt x="48" y="26"/>
                  </a:lnTo>
                  <a:lnTo>
                    <a:pt x="38" y="24"/>
                  </a:lnTo>
                  <a:lnTo>
                    <a:pt x="38" y="28"/>
                  </a:lnTo>
                  <a:lnTo>
                    <a:pt x="38" y="30"/>
                  </a:lnTo>
                  <a:lnTo>
                    <a:pt x="36" y="30"/>
                  </a:lnTo>
                  <a:lnTo>
                    <a:pt x="18" y="38"/>
                  </a:lnTo>
                  <a:lnTo>
                    <a:pt x="18" y="40"/>
                  </a:lnTo>
                  <a:lnTo>
                    <a:pt x="16" y="44"/>
                  </a:lnTo>
                  <a:lnTo>
                    <a:pt x="18" y="48"/>
                  </a:lnTo>
                  <a:lnTo>
                    <a:pt x="24" y="56"/>
                  </a:lnTo>
                  <a:lnTo>
                    <a:pt x="24" y="58"/>
                  </a:lnTo>
                  <a:lnTo>
                    <a:pt x="24" y="60"/>
                  </a:lnTo>
                  <a:lnTo>
                    <a:pt x="14" y="72"/>
                  </a:lnTo>
                  <a:lnTo>
                    <a:pt x="4" y="82"/>
                  </a:lnTo>
                  <a:lnTo>
                    <a:pt x="0" y="86"/>
                  </a:lnTo>
                  <a:lnTo>
                    <a:pt x="0" y="90"/>
                  </a:lnTo>
                  <a:lnTo>
                    <a:pt x="4" y="96"/>
                  </a:lnTo>
                  <a:lnTo>
                    <a:pt x="14" y="100"/>
                  </a:lnTo>
                  <a:lnTo>
                    <a:pt x="20" y="100"/>
                  </a:lnTo>
                  <a:lnTo>
                    <a:pt x="32" y="102"/>
                  </a:lnTo>
                  <a:lnTo>
                    <a:pt x="36" y="102"/>
                  </a:lnTo>
                  <a:lnTo>
                    <a:pt x="40" y="106"/>
                  </a:lnTo>
                  <a:lnTo>
                    <a:pt x="48" y="110"/>
                  </a:lnTo>
                  <a:lnTo>
                    <a:pt x="56" y="114"/>
                  </a:lnTo>
                  <a:lnTo>
                    <a:pt x="62" y="114"/>
                  </a:lnTo>
                  <a:lnTo>
                    <a:pt x="66" y="112"/>
                  </a:lnTo>
                  <a:lnTo>
                    <a:pt x="72" y="106"/>
                  </a:lnTo>
                  <a:lnTo>
                    <a:pt x="78" y="98"/>
                  </a:lnTo>
                  <a:lnTo>
                    <a:pt x="84" y="84"/>
                  </a:lnTo>
                  <a:lnTo>
                    <a:pt x="80" y="66"/>
                  </a:lnTo>
                  <a:lnTo>
                    <a:pt x="86" y="68"/>
                  </a:lnTo>
                  <a:lnTo>
                    <a:pt x="96" y="68"/>
                  </a:lnTo>
                  <a:lnTo>
                    <a:pt x="100" y="66"/>
                  </a:lnTo>
                  <a:lnTo>
                    <a:pt x="102" y="62"/>
                  </a:lnTo>
                  <a:lnTo>
                    <a:pt x="94" y="38"/>
                  </a:lnTo>
                  <a:lnTo>
                    <a:pt x="96" y="30"/>
                  </a:lnTo>
                  <a:lnTo>
                    <a:pt x="102" y="26"/>
                  </a:lnTo>
                  <a:lnTo>
                    <a:pt x="106" y="22"/>
                  </a:lnTo>
                  <a:lnTo>
                    <a:pt x="104" y="18"/>
                  </a:lnTo>
                  <a:lnTo>
                    <a:pt x="86" y="18"/>
                  </a:lnTo>
                  <a:lnTo>
                    <a:pt x="68" y="6"/>
                  </a:lnTo>
                  <a:lnTo>
                    <a:pt x="62" y="2"/>
                  </a:lnTo>
                  <a:lnTo>
                    <a:pt x="58" y="0"/>
                  </a:lnTo>
                  <a:lnTo>
                    <a:pt x="48" y="2"/>
                  </a:lnTo>
                  <a:lnTo>
                    <a:pt x="44" y="2"/>
                  </a:lnTo>
                  <a:lnTo>
                    <a:pt x="44" y="8"/>
                  </a:lnTo>
                  <a:lnTo>
                    <a:pt x="50" y="10"/>
                  </a:lnTo>
                  <a:lnTo>
                    <a:pt x="54" y="16"/>
                  </a:lnTo>
                  <a:lnTo>
                    <a:pt x="54" y="20"/>
                  </a:lnTo>
                  <a:lnTo>
                    <a:pt x="52" y="24"/>
                  </a:lnTo>
                  <a:close/>
                </a:path>
              </a:pathLst>
            </a:custGeom>
            <a:noFill/>
            <a:ln w="3175" cap="flat" cmpd="sng">
              <a:solidFill>
                <a:schemeClr val="bg2"/>
              </a:solidFill>
              <a:bevel/>
              <a:headEnd/>
              <a:tailEnd/>
            </a:ln>
          </p:spPr>
          <p:txBody>
            <a:bodyPr anchor="ctr"/>
            <a:lstStyle/>
            <a:p>
              <a:endParaRPr lang="zh-CN" altLang="en-US"/>
            </a:p>
          </p:txBody>
        </p:sp>
        <p:sp>
          <p:nvSpPr>
            <p:cNvPr id="8218" name="Freeform 26"/>
            <p:cNvSpPr>
              <a:spLocks/>
            </p:cNvSpPr>
            <p:nvPr/>
          </p:nvSpPr>
          <p:spPr bwMode="auto">
            <a:xfrm>
              <a:off x="4600952" y="1306885"/>
              <a:ext cx="673135" cy="640911"/>
            </a:xfrm>
            <a:custGeom>
              <a:avLst/>
              <a:gdLst/>
              <a:ahLst/>
              <a:cxnLst>
                <a:cxn ang="0">
                  <a:pos x="160" y="64"/>
                </a:cxn>
                <a:cxn ang="0">
                  <a:pos x="142" y="80"/>
                </a:cxn>
                <a:cxn ang="0">
                  <a:pos x="116" y="92"/>
                </a:cxn>
                <a:cxn ang="0">
                  <a:pos x="90" y="116"/>
                </a:cxn>
                <a:cxn ang="0">
                  <a:pos x="68" y="140"/>
                </a:cxn>
                <a:cxn ang="0">
                  <a:pos x="42" y="138"/>
                </a:cxn>
                <a:cxn ang="0">
                  <a:pos x="28" y="156"/>
                </a:cxn>
                <a:cxn ang="0">
                  <a:pos x="4" y="208"/>
                </a:cxn>
                <a:cxn ang="0">
                  <a:pos x="2" y="232"/>
                </a:cxn>
                <a:cxn ang="0">
                  <a:pos x="34" y="238"/>
                </a:cxn>
                <a:cxn ang="0">
                  <a:pos x="46" y="248"/>
                </a:cxn>
                <a:cxn ang="0">
                  <a:pos x="52" y="258"/>
                </a:cxn>
                <a:cxn ang="0">
                  <a:pos x="86" y="270"/>
                </a:cxn>
                <a:cxn ang="0">
                  <a:pos x="122" y="212"/>
                </a:cxn>
                <a:cxn ang="0">
                  <a:pos x="148" y="202"/>
                </a:cxn>
                <a:cxn ang="0">
                  <a:pos x="164" y="194"/>
                </a:cxn>
                <a:cxn ang="0">
                  <a:pos x="174" y="200"/>
                </a:cxn>
                <a:cxn ang="0">
                  <a:pos x="190" y="238"/>
                </a:cxn>
                <a:cxn ang="0">
                  <a:pos x="184" y="270"/>
                </a:cxn>
                <a:cxn ang="0">
                  <a:pos x="170" y="312"/>
                </a:cxn>
                <a:cxn ang="0">
                  <a:pos x="184" y="304"/>
                </a:cxn>
                <a:cxn ang="0">
                  <a:pos x="194" y="308"/>
                </a:cxn>
                <a:cxn ang="0">
                  <a:pos x="186" y="324"/>
                </a:cxn>
                <a:cxn ang="0">
                  <a:pos x="182" y="336"/>
                </a:cxn>
                <a:cxn ang="0">
                  <a:pos x="168" y="346"/>
                </a:cxn>
                <a:cxn ang="0">
                  <a:pos x="158" y="358"/>
                </a:cxn>
                <a:cxn ang="0">
                  <a:pos x="198" y="328"/>
                </a:cxn>
                <a:cxn ang="0">
                  <a:pos x="272" y="260"/>
                </a:cxn>
                <a:cxn ang="0">
                  <a:pos x="304" y="252"/>
                </a:cxn>
                <a:cxn ang="0">
                  <a:pos x="376" y="156"/>
                </a:cxn>
                <a:cxn ang="0">
                  <a:pos x="364" y="122"/>
                </a:cxn>
                <a:cxn ang="0">
                  <a:pos x="356" y="122"/>
                </a:cxn>
                <a:cxn ang="0">
                  <a:pos x="344" y="110"/>
                </a:cxn>
                <a:cxn ang="0">
                  <a:pos x="336" y="62"/>
                </a:cxn>
                <a:cxn ang="0">
                  <a:pos x="308" y="30"/>
                </a:cxn>
                <a:cxn ang="0">
                  <a:pos x="308" y="12"/>
                </a:cxn>
                <a:cxn ang="0">
                  <a:pos x="294" y="24"/>
                </a:cxn>
                <a:cxn ang="0">
                  <a:pos x="274" y="20"/>
                </a:cxn>
                <a:cxn ang="0">
                  <a:pos x="268" y="8"/>
                </a:cxn>
                <a:cxn ang="0">
                  <a:pos x="236" y="0"/>
                </a:cxn>
                <a:cxn ang="0">
                  <a:pos x="234" y="12"/>
                </a:cxn>
                <a:cxn ang="0">
                  <a:pos x="226" y="30"/>
                </a:cxn>
                <a:cxn ang="0">
                  <a:pos x="210" y="48"/>
                </a:cxn>
                <a:cxn ang="0">
                  <a:pos x="172" y="46"/>
                </a:cxn>
              </a:cxnLst>
              <a:rect l="0" t="0" r="r" b="b"/>
              <a:pathLst>
                <a:path w="376" h="358">
                  <a:moveTo>
                    <a:pt x="172" y="46"/>
                  </a:moveTo>
                  <a:lnTo>
                    <a:pt x="162" y="60"/>
                  </a:lnTo>
                  <a:lnTo>
                    <a:pt x="160" y="64"/>
                  </a:lnTo>
                  <a:lnTo>
                    <a:pt x="160" y="74"/>
                  </a:lnTo>
                  <a:lnTo>
                    <a:pt x="160" y="80"/>
                  </a:lnTo>
                  <a:lnTo>
                    <a:pt x="142" y="80"/>
                  </a:lnTo>
                  <a:lnTo>
                    <a:pt x="140" y="80"/>
                  </a:lnTo>
                  <a:lnTo>
                    <a:pt x="128" y="76"/>
                  </a:lnTo>
                  <a:lnTo>
                    <a:pt x="116" y="92"/>
                  </a:lnTo>
                  <a:lnTo>
                    <a:pt x="102" y="100"/>
                  </a:lnTo>
                  <a:lnTo>
                    <a:pt x="92" y="112"/>
                  </a:lnTo>
                  <a:lnTo>
                    <a:pt x="90" y="116"/>
                  </a:lnTo>
                  <a:lnTo>
                    <a:pt x="70" y="138"/>
                  </a:lnTo>
                  <a:lnTo>
                    <a:pt x="70" y="140"/>
                  </a:lnTo>
                  <a:lnTo>
                    <a:pt x="68" y="140"/>
                  </a:lnTo>
                  <a:lnTo>
                    <a:pt x="54" y="148"/>
                  </a:lnTo>
                  <a:lnTo>
                    <a:pt x="42" y="140"/>
                  </a:lnTo>
                  <a:lnTo>
                    <a:pt x="42" y="138"/>
                  </a:lnTo>
                  <a:lnTo>
                    <a:pt x="30" y="126"/>
                  </a:lnTo>
                  <a:lnTo>
                    <a:pt x="24" y="122"/>
                  </a:lnTo>
                  <a:lnTo>
                    <a:pt x="28" y="156"/>
                  </a:lnTo>
                  <a:lnTo>
                    <a:pt x="34" y="172"/>
                  </a:lnTo>
                  <a:lnTo>
                    <a:pt x="22" y="184"/>
                  </a:lnTo>
                  <a:lnTo>
                    <a:pt x="4" y="208"/>
                  </a:lnTo>
                  <a:lnTo>
                    <a:pt x="4" y="220"/>
                  </a:lnTo>
                  <a:lnTo>
                    <a:pt x="0" y="226"/>
                  </a:lnTo>
                  <a:lnTo>
                    <a:pt x="2" y="232"/>
                  </a:lnTo>
                  <a:lnTo>
                    <a:pt x="8" y="232"/>
                  </a:lnTo>
                  <a:lnTo>
                    <a:pt x="32" y="238"/>
                  </a:lnTo>
                  <a:lnTo>
                    <a:pt x="34" y="238"/>
                  </a:lnTo>
                  <a:lnTo>
                    <a:pt x="34" y="240"/>
                  </a:lnTo>
                  <a:lnTo>
                    <a:pt x="40" y="244"/>
                  </a:lnTo>
                  <a:lnTo>
                    <a:pt x="46" y="248"/>
                  </a:lnTo>
                  <a:lnTo>
                    <a:pt x="48" y="248"/>
                  </a:lnTo>
                  <a:lnTo>
                    <a:pt x="50" y="252"/>
                  </a:lnTo>
                  <a:lnTo>
                    <a:pt x="52" y="258"/>
                  </a:lnTo>
                  <a:lnTo>
                    <a:pt x="54" y="264"/>
                  </a:lnTo>
                  <a:lnTo>
                    <a:pt x="78" y="272"/>
                  </a:lnTo>
                  <a:lnTo>
                    <a:pt x="86" y="270"/>
                  </a:lnTo>
                  <a:lnTo>
                    <a:pt x="92" y="260"/>
                  </a:lnTo>
                  <a:lnTo>
                    <a:pt x="112" y="224"/>
                  </a:lnTo>
                  <a:lnTo>
                    <a:pt x="122" y="212"/>
                  </a:lnTo>
                  <a:lnTo>
                    <a:pt x="122" y="210"/>
                  </a:lnTo>
                  <a:lnTo>
                    <a:pt x="138" y="204"/>
                  </a:lnTo>
                  <a:lnTo>
                    <a:pt x="148" y="202"/>
                  </a:lnTo>
                  <a:lnTo>
                    <a:pt x="154" y="196"/>
                  </a:lnTo>
                  <a:lnTo>
                    <a:pt x="160" y="192"/>
                  </a:lnTo>
                  <a:lnTo>
                    <a:pt x="164" y="194"/>
                  </a:lnTo>
                  <a:lnTo>
                    <a:pt x="172" y="198"/>
                  </a:lnTo>
                  <a:lnTo>
                    <a:pt x="174" y="198"/>
                  </a:lnTo>
                  <a:lnTo>
                    <a:pt x="174" y="200"/>
                  </a:lnTo>
                  <a:lnTo>
                    <a:pt x="188" y="220"/>
                  </a:lnTo>
                  <a:lnTo>
                    <a:pt x="188" y="222"/>
                  </a:lnTo>
                  <a:lnTo>
                    <a:pt x="190" y="238"/>
                  </a:lnTo>
                  <a:lnTo>
                    <a:pt x="188" y="254"/>
                  </a:lnTo>
                  <a:lnTo>
                    <a:pt x="184" y="268"/>
                  </a:lnTo>
                  <a:lnTo>
                    <a:pt x="184" y="270"/>
                  </a:lnTo>
                  <a:lnTo>
                    <a:pt x="174" y="284"/>
                  </a:lnTo>
                  <a:lnTo>
                    <a:pt x="168" y="294"/>
                  </a:lnTo>
                  <a:lnTo>
                    <a:pt x="170" y="312"/>
                  </a:lnTo>
                  <a:lnTo>
                    <a:pt x="172" y="312"/>
                  </a:lnTo>
                  <a:lnTo>
                    <a:pt x="176" y="308"/>
                  </a:lnTo>
                  <a:lnTo>
                    <a:pt x="184" y="304"/>
                  </a:lnTo>
                  <a:lnTo>
                    <a:pt x="184" y="302"/>
                  </a:lnTo>
                  <a:lnTo>
                    <a:pt x="186" y="300"/>
                  </a:lnTo>
                  <a:lnTo>
                    <a:pt x="194" y="308"/>
                  </a:lnTo>
                  <a:lnTo>
                    <a:pt x="194" y="320"/>
                  </a:lnTo>
                  <a:lnTo>
                    <a:pt x="192" y="320"/>
                  </a:lnTo>
                  <a:lnTo>
                    <a:pt x="186" y="324"/>
                  </a:lnTo>
                  <a:lnTo>
                    <a:pt x="184" y="328"/>
                  </a:lnTo>
                  <a:lnTo>
                    <a:pt x="184" y="334"/>
                  </a:lnTo>
                  <a:lnTo>
                    <a:pt x="182" y="336"/>
                  </a:lnTo>
                  <a:lnTo>
                    <a:pt x="178" y="344"/>
                  </a:lnTo>
                  <a:lnTo>
                    <a:pt x="176" y="344"/>
                  </a:lnTo>
                  <a:lnTo>
                    <a:pt x="168" y="346"/>
                  </a:lnTo>
                  <a:lnTo>
                    <a:pt x="162" y="348"/>
                  </a:lnTo>
                  <a:lnTo>
                    <a:pt x="158" y="356"/>
                  </a:lnTo>
                  <a:lnTo>
                    <a:pt x="158" y="358"/>
                  </a:lnTo>
                  <a:lnTo>
                    <a:pt x="184" y="354"/>
                  </a:lnTo>
                  <a:lnTo>
                    <a:pt x="190" y="350"/>
                  </a:lnTo>
                  <a:lnTo>
                    <a:pt x="198" y="328"/>
                  </a:lnTo>
                  <a:lnTo>
                    <a:pt x="258" y="266"/>
                  </a:lnTo>
                  <a:lnTo>
                    <a:pt x="260" y="266"/>
                  </a:lnTo>
                  <a:lnTo>
                    <a:pt x="272" y="260"/>
                  </a:lnTo>
                  <a:lnTo>
                    <a:pt x="284" y="260"/>
                  </a:lnTo>
                  <a:lnTo>
                    <a:pt x="294" y="258"/>
                  </a:lnTo>
                  <a:lnTo>
                    <a:pt x="304" y="252"/>
                  </a:lnTo>
                  <a:lnTo>
                    <a:pt x="312" y="244"/>
                  </a:lnTo>
                  <a:lnTo>
                    <a:pt x="326" y="208"/>
                  </a:lnTo>
                  <a:lnTo>
                    <a:pt x="376" y="156"/>
                  </a:lnTo>
                  <a:lnTo>
                    <a:pt x="372" y="128"/>
                  </a:lnTo>
                  <a:lnTo>
                    <a:pt x="368" y="126"/>
                  </a:lnTo>
                  <a:lnTo>
                    <a:pt x="364" y="122"/>
                  </a:lnTo>
                  <a:lnTo>
                    <a:pt x="364" y="120"/>
                  </a:lnTo>
                  <a:lnTo>
                    <a:pt x="364" y="122"/>
                  </a:lnTo>
                  <a:lnTo>
                    <a:pt x="356" y="122"/>
                  </a:lnTo>
                  <a:lnTo>
                    <a:pt x="350" y="120"/>
                  </a:lnTo>
                  <a:lnTo>
                    <a:pt x="346" y="116"/>
                  </a:lnTo>
                  <a:lnTo>
                    <a:pt x="344" y="110"/>
                  </a:lnTo>
                  <a:lnTo>
                    <a:pt x="342" y="108"/>
                  </a:lnTo>
                  <a:lnTo>
                    <a:pt x="342" y="66"/>
                  </a:lnTo>
                  <a:lnTo>
                    <a:pt x="336" y="62"/>
                  </a:lnTo>
                  <a:lnTo>
                    <a:pt x="328" y="56"/>
                  </a:lnTo>
                  <a:lnTo>
                    <a:pt x="316" y="44"/>
                  </a:lnTo>
                  <a:lnTo>
                    <a:pt x="308" y="30"/>
                  </a:lnTo>
                  <a:lnTo>
                    <a:pt x="306" y="24"/>
                  </a:lnTo>
                  <a:lnTo>
                    <a:pt x="306" y="16"/>
                  </a:lnTo>
                  <a:lnTo>
                    <a:pt x="308" y="12"/>
                  </a:lnTo>
                  <a:lnTo>
                    <a:pt x="302" y="4"/>
                  </a:lnTo>
                  <a:lnTo>
                    <a:pt x="300" y="10"/>
                  </a:lnTo>
                  <a:lnTo>
                    <a:pt x="294" y="24"/>
                  </a:lnTo>
                  <a:lnTo>
                    <a:pt x="292" y="24"/>
                  </a:lnTo>
                  <a:lnTo>
                    <a:pt x="282" y="24"/>
                  </a:lnTo>
                  <a:lnTo>
                    <a:pt x="274" y="20"/>
                  </a:lnTo>
                  <a:lnTo>
                    <a:pt x="270" y="16"/>
                  </a:lnTo>
                  <a:lnTo>
                    <a:pt x="268" y="10"/>
                  </a:lnTo>
                  <a:lnTo>
                    <a:pt x="268" y="8"/>
                  </a:lnTo>
                  <a:lnTo>
                    <a:pt x="264" y="8"/>
                  </a:lnTo>
                  <a:lnTo>
                    <a:pt x="248" y="12"/>
                  </a:lnTo>
                  <a:lnTo>
                    <a:pt x="236" y="0"/>
                  </a:lnTo>
                  <a:lnTo>
                    <a:pt x="232" y="0"/>
                  </a:lnTo>
                  <a:lnTo>
                    <a:pt x="228" y="4"/>
                  </a:lnTo>
                  <a:lnTo>
                    <a:pt x="234" y="12"/>
                  </a:lnTo>
                  <a:lnTo>
                    <a:pt x="236" y="14"/>
                  </a:lnTo>
                  <a:lnTo>
                    <a:pt x="228" y="30"/>
                  </a:lnTo>
                  <a:lnTo>
                    <a:pt x="226" y="30"/>
                  </a:lnTo>
                  <a:lnTo>
                    <a:pt x="226" y="32"/>
                  </a:lnTo>
                  <a:lnTo>
                    <a:pt x="212" y="48"/>
                  </a:lnTo>
                  <a:lnTo>
                    <a:pt x="210" y="48"/>
                  </a:lnTo>
                  <a:lnTo>
                    <a:pt x="208" y="48"/>
                  </a:lnTo>
                  <a:lnTo>
                    <a:pt x="186" y="50"/>
                  </a:lnTo>
                  <a:lnTo>
                    <a:pt x="172" y="46"/>
                  </a:lnTo>
                  <a:close/>
                </a:path>
              </a:pathLst>
            </a:custGeom>
            <a:noFill/>
            <a:ln w="3175" cap="flat" cmpd="sng">
              <a:solidFill>
                <a:schemeClr val="bg2"/>
              </a:solidFill>
              <a:bevel/>
              <a:headEnd/>
              <a:tailEnd/>
            </a:ln>
          </p:spPr>
          <p:txBody>
            <a:bodyPr anchor="ctr"/>
            <a:lstStyle/>
            <a:p>
              <a:endParaRPr lang="zh-CN" altLang="en-US"/>
            </a:p>
          </p:txBody>
        </p:sp>
        <p:sp>
          <p:nvSpPr>
            <p:cNvPr id="8219" name="Freeform 27"/>
            <p:cNvSpPr>
              <a:spLocks/>
            </p:cNvSpPr>
            <p:nvPr/>
          </p:nvSpPr>
          <p:spPr bwMode="auto">
            <a:xfrm>
              <a:off x="4751334" y="920190"/>
              <a:ext cx="959576" cy="651652"/>
            </a:xfrm>
            <a:custGeom>
              <a:avLst/>
              <a:gdLst/>
              <a:ahLst/>
              <a:cxnLst>
                <a:cxn ang="0">
                  <a:pos x="92" y="6"/>
                </a:cxn>
                <a:cxn ang="0">
                  <a:pos x="70" y="20"/>
                </a:cxn>
                <a:cxn ang="0">
                  <a:pos x="58" y="36"/>
                </a:cxn>
                <a:cxn ang="0">
                  <a:pos x="28" y="40"/>
                </a:cxn>
                <a:cxn ang="0">
                  <a:pos x="0" y="40"/>
                </a:cxn>
                <a:cxn ang="0">
                  <a:pos x="34" y="64"/>
                </a:cxn>
                <a:cxn ang="0">
                  <a:pos x="50" y="140"/>
                </a:cxn>
                <a:cxn ang="0">
                  <a:pos x="88" y="122"/>
                </a:cxn>
                <a:cxn ang="0">
                  <a:pos x="126" y="176"/>
                </a:cxn>
                <a:cxn ang="0">
                  <a:pos x="128" y="220"/>
                </a:cxn>
                <a:cxn ang="0">
                  <a:pos x="158" y="208"/>
                </a:cxn>
                <a:cxn ang="0">
                  <a:pos x="188" y="216"/>
                </a:cxn>
                <a:cxn ang="0">
                  <a:pos x="194" y="228"/>
                </a:cxn>
                <a:cxn ang="0">
                  <a:pos x="210" y="214"/>
                </a:cxn>
                <a:cxn ang="0">
                  <a:pos x="230" y="218"/>
                </a:cxn>
                <a:cxn ang="0">
                  <a:pos x="232" y="242"/>
                </a:cxn>
                <a:cxn ang="0">
                  <a:pos x="262" y="274"/>
                </a:cxn>
                <a:cxn ang="0">
                  <a:pos x="268" y="324"/>
                </a:cxn>
                <a:cxn ang="0">
                  <a:pos x="282" y="330"/>
                </a:cxn>
                <a:cxn ang="0">
                  <a:pos x="298" y="344"/>
                </a:cxn>
                <a:cxn ang="0">
                  <a:pos x="326" y="304"/>
                </a:cxn>
                <a:cxn ang="0">
                  <a:pos x="352" y="294"/>
                </a:cxn>
                <a:cxn ang="0">
                  <a:pos x="400" y="272"/>
                </a:cxn>
                <a:cxn ang="0">
                  <a:pos x="404" y="260"/>
                </a:cxn>
                <a:cxn ang="0">
                  <a:pos x="430" y="256"/>
                </a:cxn>
                <a:cxn ang="0">
                  <a:pos x="454" y="228"/>
                </a:cxn>
                <a:cxn ang="0">
                  <a:pos x="476" y="170"/>
                </a:cxn>
                <a:cxn ang="0">
                  <a:pos x="496" y="168"/>
                </a:cxn>
                <a:cxn ang="0">
                  <a:pos x="518" y="176"/>
                </a:cxn>
                <a:cxn ang="0">
                  <a:pos x="536" y="124"/>
                </a:cxn>
                <a:cxn ang="0">
                  <a:pos x="504" y="118"/>
                </a:cxn>
                <a:cxn ang="0">
                  <a:pos x="484" y="104"/>
                </a:cxn>
                <a:cxn ang="0">
                  <a:pos x="470" y="112"/>
                </a:cxn>
                <a:cxn ang="0">
                  <a:pos x="446" y="110"/>
                </a:cxn>
                <a:cxn ang="0">
                  <a:pos x="446" y="136"/>
                </a:cxn>
                <a:cxn ang="0">
                  <a:pos x="428" y="146"/>
                </a:cxn>
                <a:cxn ang="0">
                  <a:pos x="414" y="140"/>
                </a:cxn>
                <a:cxn ang="0">
                  <a:pos x="374" y="104"/>
                </a:cxn>
                <a:cxn ang="0">
                  <a:pos x="366" y="88"/>
                </a:cxn>
                <a:cxn ang="0">
                  <a:pos x="368" y="100"/>
                </a:cxn>
                <a:cxn ang="0">
                  <a:pos x="340" y="116"/>
                </a:cxn>
                <a:cxn ang="0">
                  <a:pos x="336" y="100"/>
                </a:cxn>
                <a:cxn ang="0">
                  <a:pos x="314" y="84"/>
                </a:cxn>
                <a:cxn ang="0">
                  <a:pos x="288" y="80"/>
                </a:cxn>
                <a:cxn ang="0">
                  <a:pos x="284" y="56"/>
                </a:cxn>
                <a:cxn ang="0">
                  <a:pos x="252" y="70"/>
                </a:cxn>
                <a:cxn ang="0">
                  <a:pos x="234" y="66"/>
                </a:cxn>
                <a:cxn ang="0">
                  <a:pos x="212" y="46"/>
                </a:cxn>
                <a:cxn ang="0">
                  <a:pos x="194" y="46"/>
                </a:cxn>
                <a:cxn ang="0">
                  <a:pos x="152" y="58"/>
                </a:cxn>
                <a:cxn ang="0">
                  <a:pos x="120" y="42"/>
                </a:cxn>
              </a:cxnLst>
              <a:rect l="0" t="0" r="r" b="b"/>
              <a:pathLst>
                <a:path w="536" h="364">
                  <a:moveTo>
                    <a:pt x="104" y="18"/>
                  </a:moveTo>
                  <a:lnTo>
                    <a:pt x="102" y="0"/>
                  </a:lnTo>
                  <a:lnTo>
                    <a:pt x="94" y="6"/>
                  </a:lnTo>
                  <a:lnTo>
                    <a:pt x="92" y="6"/>
                  </a:lnTo>
                  <a:lnTo>
                    <a:pt x="74" y="12"/>
                  </a:lnTo>
                  <a:lnTo>
                    <a:pt x="72" y="12"/>
                  </a:lnTo>
                  <a:lnTo>
                    <a:pt x="70" y="10"/>
                  </a:lnTo>
                  <a:lnTo>
                    <a:pt x="70" y="20"/>
                  </a:lnTo>
                  <a:lnTo>
                    <a:pt x="68" y="20"/>
                  </a:lnTo>
                  <a:lnTo>
                    <a:pt x="60" y="34"/>
                  </a:lnTo>
                  <a:lnTo>
                    <a:pt x="58" y="34"/>
                  </a:lnTo>
                  <a:lnTo>
                    <a:pt x="58" y="36"/>
                  </a:lnTo>
                  <a:lnTo>
                    <a:pt x="44" y="48"/>
                  </a:lnTo>
                  <a:lnTo>
                    <a:pt x="42" y="48"/>
                  </a:lnTo>
                  <a:lnTo>
                    <a:pt x="40" y="48"/>
                  </a:lnTo>
                  <a:lnTo>
                    <a:pt x="28" y="40"/>
                  </a:lnTo>
                  <a:lnTo>
                    <a:pt x="22" y="34"/>
                  </a:lnTo>
                  <a:lnTo>
                    <a:pt x="18" y="32"/>
                  </a:lnTo>
                  <a:lnTo>
                    <a:pt x="8" y="34"/>
                  </a:lnTo>
                  <a:lnTo>
                    <a:pt x="0" y="40"/>
                  </a:lnTo>
                  <a:lnTo>
                    <a:pt x="18" y="54"/>
                  </a:lnTo>
                  <a:lnTo>
                    <a:pt x="32" y="60"/>
                  </a:lnTo>
                  <a:lnTo>
                    <a:pt x="34" y="62"/>
                  </a:lnTo>
                  <a:lnTo>
                    <a:pt x="34" y="64"/>
                  </a:lnTo>
                  <a:lnTo>
                    <a:pt x="36" y="80"/>
                  </a:lnTo>
                  <a:lnTo>
                    <a:pt x="36" y="104"/>
                  </a:lnTo>
                  <a:lnTo>
                    <a:pt x="40" y="118"/>
                  </a:lnTo>
                  <a:lnTo>
                    <a:pt x="50" y="140"/>
                  </a:lnTo>
                  <a:lnTo>
                    <a:pt x="60" y="152"/>
                  </a:lnTo>
                  <a:lnTo>
                    <a:pt x="70" y="144"/>
                  </a:lnTo>
                  <a:lnTo>
                    <a:pt x="76" y="136"/>
                  </a:lnTo>
                  <a:lnTo>
                    <a:pt x="88" y="122"/>
                  </a:lnTo>
                  <a:lnTo>
                    <a:pt x="98" y="132"/>
                  </a:lnTo>
                  <a:lnTo>
                    <a:pt x="108" y="152"/>
                  </a:lnTo>
                  <a:lnTo>
                    <a:pt x="120" y="156"/>
                  </a:lnTo>
                  <a:lnTo>
                    <a:pt x="126" y="176"/>
                  </a:lnTo>
                  <a:lnTo>
                    <a:pt x="124" y="194"/>
                  </a:lnTo>
                  <a:lnTo>
                    <a:pt x="124" y="196"/>
                  </a:lnTo>
                  <a:lnTo>
                    <a:pt x="120" y="212"/>
                  </a:lnTo>
                  <a:lnTo>
                    <a:pt x="128" y="220"/>
                  </a:lnTo>
                  <a:lnTo>
                    <a:pt x="138" y="214"/>
                  </a:lnTo>
                  <a:lnTo>
                    <a:pt x="148" y="204"/>
                  </a:lnTo>
                  <a:lnTo>
                    <a:pt x="150" y="206"/>
                  </a:lnTo>
                  <a:lnTo>
                    <a:pt x="158" y="208"/>
                  </a:lnTo>
                  <a:lnTo>
                    <a:pt x="168" y="218"/>
                  </a:lnTo>
                  <a:lnTo>
                    <a:pt x="178" y="216"/>
                  </a:lnTo>
                  <a:lnTo>
                    <a:pt x="184" y="214"/>
                  </a:lnTo>
                  <a:lnTo>
                    <a:pt x="188" y="216"/>
                  </a:lnTo>
                  <a:lnTo>
                    <a:pt x="190" y="218"/>
                  </a:lnTo>
                  <a:lnTo>
                    <a:pt x="192" y="220"/>
                  </a:lnTo>
                  <a:lnTo>
                    <a:pt x="192" y="228"/>
                  </a:lnTo>
                  <a:lnTo>
                    <a:pt x="194" y="228"/>
                  </a:lnTo>
                  <a:lnTo>
                    <a:pt x="204" y="232"/>
                  </a:lnTo>
                  <a:lnTo>
                    <a:pt x="210" y="222"/>
                  </a:lnTo>
                  <a:lnTo>
                    <a:pt x="210" y="218"/>
                  </a:lnTo>
                  <a:lnTo>
                    <a:pt x="210" y="214"/>
                  </a:lnTo>
                  <a:lnTo>
                    <a:pt x="212" y="210"/>
                  </a:lnTo>
                  <a:lnTo>
                    <a:pt x="220" y="212"/>
                  </a:lnTo>
                  <a:lnTo>
                    <a:pt x="226" y="214"/>
                  </a:lnTo>
                  <a:lnTo>
                    <a:pt x="230" y="218"/>
                  </a:lnTo>
                  <a:lnTo>
                    <a:pt x="232" y="222"/>
                  </a:lnTo>
                  <a:lnTo>
                    <a:pt x="232" y="228"/>
                  </a:lnTo>
                  <a:lnTo>
                    <a:pt x="232" y="232"/>
                  </a:lnTo>
                  <a:lnTo>
                    <a:pt x="232" y="242"/>
                  </a:lnTo>
                  <a:lnTo>
                    <a:pt x="240" y="256"/>
                  </a:lnTo>
                  <a:lnTo>
                    <a:pt x="250" y="266"/>
                  </a:lnTo>
                  <a:lnTo>
                    <a:pt x="256" y="272"/>
                  </a:lnTo>
                  <a:lnTo>
                    <a:pt x="262" y="274"/>
                  </a:lnTo>
                  <a:lnTo>
                    <a:pt x="264" y="274"/>
                  </a:lnTo>
                  <a:lnTo>
                    <a:pt x="266" y="278"/>
                  </a:lnTo>
                  <a:lnTo>
                    <a:pt x="268" y="288"/>
                  </a:lnTo>
                  <a:lnTo>
                    <a:pt x="268" y="324"/>
                  </a:lnTo>
                  <a:lnTo>
                    <a:pt x="270" y="328"/>
                  </a:lnTo>
                  <a:lnTo>
                    <a:pt x="274" y="330"/>
                  </a:lnTo>
                  <a:lnTo>
                    <a:pt x="276" y="330"/>
                  </a:lnTo>
                  <a:lnTo>
                    <a:pt x="282" y="330"/>
                  </a:lnTo>
                  <a:lnTo>
                    <a:pt x="288" y="332"/>
                  </a:lnTo>
                  <a:lnTo>
                    <a:pt x="290" y="334"/>
                  </a:lnTo>
                  <a:lnTo>
                    <a:pt x="294" y="338"/>
                  </a:lnTo>
                  <a:lnTo>
                    <a:pt x="298" y="344"/>
                  </a:lnTo>
                  <a:lnTo>
                    <a:pt x="300" y="364"/>
                  </a:lnTo>
                  <a:lnTo>
                    <a:pt x="318" y="328"/>
                  </a:lnTo>
                  <a:lnTo>
                    <a:pt x="322" y="314"/>
                  </a:lnTo>
                  <a:lnTo>
                    <a:pt x="326" y="304"/>
                  </a:lnTo>
                  <a:lnTo>
                    <a:pt x="332" y="296"/>
                  </a:lnTo>
                  <a:lnTo>
                    <a:pt x="338" y="294"/>
                  </a:lnTo>
                  <a:lnTo>
                    <a:pt x="344" y="294"/>
                  </a:lnTo>
                  <a:lnTo>
                    <a:pt x="352" y="294"/>
                  </a:lnTo>
                  <a:lnTo>
                    <a:pt x="372" y="304"/>
                  </a:lnTo>
                  <a:lnTo>
                    <a:pt x="424" y="308"/>
                  </a:lnTo>
                  <a:lnTo>
                    <a:pt x="424" y="296"/>
                  </a:lnTo>
                  <a:lnTo>
                    <a:pt x="400" y="272"/>
                  </a:lnTo>
                  <a:lnTo>
                    <a:pt x="388" y="264"/>
                  </a:lnTo>
                  <a:lnTo>
                    <a:pt x="386" y="262"/>
                  </a:lnTo>
                  <a:lnTo>
                    <a:pt x="386" y="258"/>
                  </a:lnTo>
                  <a:lnTo>
                    <a:pt x="404" y="260"/>
                  </a:lnTo>
                  <a:lnTo>
                    <a:pt x="412" y="260"/>
                  </a:lnTo>
                  <a:lnTo>
                    <a:pt x="418" y="260"/>
                  </a:lnTo>
                  <a:lnTo>
                    <a:pt x="424" y="260"/>
                  </a:lnTo>
                  <a:lnTo>
                    <a:pt x="430" y="256"/>
                  </a:lnTo>
                  <a:lnTo>
                    <a:pt x="436" y="252"/>
                  </a:lnTo>
                  <a:lnTo>
                    <a:pt x="442" y="246"/>
                  </a:lnTo>
                  <a:lnTo>
                    <a:pt x="452" y="228"/>
                  </a:lnTo>
                  <a:lnTo>
                    <a:pt x="454" y="228"/>
                  </a:lnTo>
                  <a:lnTo>
                    <a:pt x="472" y="212"/>
                  </a:lnTo>
                  <a:lnTo>
                    <a:pt x="474" y="174"/>
                  </a:lnTo>
                  <a:lnTo>
                    <a:pt x="474" y="170"/>
                  </a:lnTo>
                  <a:lnTo>
                    <a:pt x="476" y="170"/>
                  </a:lnTo>
                  <a:lnTo>
                    <a:pt x="478" y="170"/>
                  </a:lnTo>
                  <a:lnTo>
                    <a:pt x="492" y="168"/>
                  </a:lnTo>
                  <a:lnTo>
                    <a:pt x="494" y="168"/>
                  </a:lnTo>
                  <a:lnTo>
                    <a:pt x="496" y="168"/>
                  </a:lnTo>
                  <a:lnTo>
                    <a:pt x="524" y="198"/>
                  </a:lnTo>
                  <a:lnTo>
                    <a:pt x="532" y="196"/>
                  </a:lnTo>
                  <a:lnTo>
                    <a:pt x="532" y="190"/>
                  </a:lnTo>
                  <a:lnTo>
                    <a:pt x="518" y="176"/>
                  </a:lnTo>
                  <a:lnTo>
                    <a:pt x="516" y="174"/>
                  </a:lnTo>
                  <a:lnTo>
                    <a:pt x="514" y="172"/>
                  </a:lnTo>
                  <a:lnTo>
                    <a:pt x="536" y="158"/>
                  </a:lnTo>
                  <a:lnTo>
                    <a:pt x="536" y="124"/>
                  </a:lnTo>
                  <a:lnTo>
                    <a:pt x="526" y="126"/>
                  </a:lnTo>
                  <a:lnTo>
                    <a:pt x="524" y="126"/>
                  </a:lnTo>
                  <a:lnTo>
                    <a:pt x="512" y="120"/>
                  </a:lnTo>
                  <a:lnTo>
                    <a:pt x="504" y="118"/>
                  </a:lnTo>
                  <a:lnTo>
                    <a:pt x="492" y="110"/>
                  </a:lnTo>
                  <a:lnTo>
                    <a:pt x="486" y="106"/>
                  </a:lnTo>
                  <a:lnTo>
                    <a:pt x="484" y="102"/>
                  </a:lnTo>
                  <a:lnTo>
                    <a:pt x="484" y="104"/>
                  </a:lnTo>
                  <a:lnTo>
                    <a:pt x="482" y="108"/>
                  </a:lnTo>
                  <a:lnTo>
                    <a:pt x="480" y="108"/>
                  </a:lnTo>
                  <a:lnTo>
                    <a:pt x="476" y="110"/>
                  </a:lnTo>
                  <a:lnTo>
                    <a:pt x="470" y="112"/>
                  </a:lnTo>
                  <a:lnTo>
                    <a:pt x="468" y="112"/>
                  </a:lnTo>
                  <a:lnTo>
                    <a:pt x="468" y="110"/>
                  </a:lnTo>
                  <a:lnTo>
                    <a:pt x="456" y="102"/>
                  </a:lnTo>
                  <a:lnTo>
                    <a:pt x="446" y="110"/>
                  </a:lnTo>
                  <a:lnTo>
                    <a:pt x="440" y="116"/>
                  </a:lnTo>
                  <a:lnTo>
                    <a:pt x="438" y="120"/>
                  </a:lnTo>
                  <a:lnTo>
                    <a:pt x="444" y="132"/>
                  </a:lnTo>
                  <a:lnTo>
                    <a:pt x="446" y="136"/>
                  </a:lnTo>
                  <a:lnTo>
                    <a:pt x="444" y="138"/>
                  </a:lnTo>
                  <a:lnTo>
                    <a:pt x="440" y="142"/>
                  </a:lnTo>
                  <a:lnTo>
                    <a:pt x="434" y="144"/>
                  </a:lnTo>
                  <a:lnTo>
                    <a:pt x="428" y="146"/>
                  </a:lnTo>
                  <a:lnTo>
                    <a:pt x="422" y="148"/>
                  </a:lnTo>
                  <a:lnTo>
                    <a:pt x="418" y="146"/>
                  </a:lnTo>
                  <a:lnTo>
                    <a:pt x="416" y="144"/>
                  </a:lnTo>
                  <a:lnTo>
                    <a:pt x="414" y="140"/>
                  </a:lnTo>
                  <a:lnTo>
                    <a:pt x="392" y="120"/>
                  </a:lnTo>
                  <a:lnTo>
                    <a:pt x="382" y="114"/>
                  </a:lnTo>
                  <a:lnTo>
                    <a:pt x="376" y="108"/>
                  </a:lnTo>
                  <a:lnTo>
                    <a:pt x="374" y="104"/>
                  </a:lnTo>
                  <a:lnTo>
                    <a:pt x="374" y="100"/>
                  </a:lnTo>
                  <a:lnTo>
                    <a:pt x="372" y="92"/>
                  </a:lnTo>
                  <a:lnTo>
                    <a:pt x="370" y="86"/>
                  </a:lnTo>
                  <a:lnTo>
                    <a:pt x="366" y="88"/>
                  </a:lnTo>
                  <a:lnTo>
                    <a:pt x="364" y="90"/>
                  </a:lnTo>
                  <a:lnTo>
                    <a:pt x="366" y="94"/>
                  </a:lnTo>
                  <a:lnTo>
                    <a:pt x="368" y="98"/>
                  </a:lnTo>
                  <a:lnTo>
                    <a:pt x="368" y="100"/>
                  </a:lnTo>
                  <a:lnTo>
                    <a:pt x="370" y="100"/>
                  </a:lnTo>
                  <a:lnTo>
                    <a:pt x="368" y="102"/>
                  </a:lnTo>
                  <a:lnTo>
                    <a:pt x="358" y="120"/>
                  </a:lnTo>
                  <a:lnTo>
                    <a:pt x="340" y="116"/>
                  </a:lnTo>
                  <a:lnTo>
                    <a:pt x="336" y="114"/>
                  </a:lnTo>
                  <a:lnTo>
                    <a:pt x="336" y="112"/>
                  </a:lnTo>
                  <a:lnTo>
                    <a:pt x="336" y="106"/>
                  </a:lnTo>
                  <a:lnTo>
                    <a:pt x="336" y="100"/>
                  </a:lnTo>
                  <a:lnTo>
                    <a:pt x="332" y="94"/>
                  </a:lnTo>
                  <a:lnTo>
                    <a:pt x="318" y="84"/>
                  </a:lnTo>
                  <a:lnTo>
                    <a:pt x="316" y="82"/>
                  </a:lnTo>
                  <a:lnTo>
                    <a:pt x="314" y="84"/>
                  </a:lnTo>
                  <a:lnTo>
                    <a:pt x="312" y="86"/>
                  </a:lnTo>
                  <a:lnTo>
                    <a:pt x="298" y="84"/>
                  </a:lnTo>
                  <a:lnTo>
                    <a:pt x="292" y="82"/>
                  </a:lnTo>
                  <a:lnTo>
                    <a:pt x="288" y="80"/>
                  </a:lnTo>
                  <a:lnTo>
                    <a:pt x="288" y="76"/>
                  </a:lnTo>
                  <a:lnTo>
                    <a:pt x="288" y="70"/>
                  </a:lnTo>
                  <a:lnTo>
                    <a:pt x="290" y="68"/>
                  </a:lnTo>
                  <a:lnTo>
                    <a:pt x="284" y="56"/>
                  </a:lnTo>
                  <a:lnTo>
                    <a:pt x="256" y="58"/>
                  </a:lnTo>
                  <a:lnTo>
                    <a:pt x="256" y="64"/>
                  </a:lnTo>
                  <a:lnTo>
                    <a:pt x="254" y="68"/>
                  </a:lnTo>
                  <a:lnTo>
                    <a:pt x="252" y="70"/>
                  </a:lnTo>
                  <a:lnTo>
                    <a:pt x="248" y="72"/>
                  </a:lnTo>
                  <a:lnTo>
                    <a:pt x="240" y="72"/>
                  </a:lnTo>
                  <a:lnTo>
                    <a:pt x="234" y="68"/>
                  </a:lnTo>
                  <a:lnTo>
                    <a:pt x="234" y="66"/>
                  </a:lnTo>
                  <a:lnTo>
                    <a:pt x="226" y="56"/>
                  </a:lnTo>
                  <a:lnTo>
                    <a:pt x="224" y="48"/>
                  </a:lnTo>
                  <a:lnTo>
                    <a:pt x="220" y="40"/>
                  </a:lnTo>
                  <a:lnTo>
                    <a:pt x="212" y="46"/>
                  </a:lnTo>
                  <a:lnTo>
                    <a:pt x="202" y="50"/>
                  </a:lnTo>
                  <a:lnTo>
                    <a:pt x="200" y="50"/>
                  </a:lnTo>
                  <a:lnTo>
                    <a:pt x="196" y="48"/>
                  </a:lnTo>
                  <a:lnTo>
                    <a:pt x="194" y="46"/>
                  </a:lnTo>
                  <a:lnTo>
                    <a:pt x="186" y="48"/>
                  </a:lnTo>
                  <a:lnTo>
                    <a:pt x="164" y="54"/>
                  </a:lnTo>
                  <a:lnTo>
                    <a:pt x="158" y="58"/>
                  </a:lnTo>
                  <a:lnTo>
                    <a:pt x="152" y="58"/>
                  </a:lnTo>
                  <a:lnTo>
                    <a:pt x="150" y="58"/>
                  </a:lnTo>
                  <a:lnTo>
                    <a:pt x="140" y="56"/>
                  </a:lnTo>
                  <a:lnTo>
                    <a:pt x="134" y="52"/>
                  </a:lnTo>
                  <a:lnTo>
                    <a:pt x="120" y="42"/>
                  </a:lnTo>
                  <a:lnTo>
                    <a:pt x="104" y="18"/>
                  </a:lnTo>
                  <a:close/>
                </a:path>
              </a:pathLst>
            </a:custGeom>
            <a:noFill/>
            <a:ln w="3175" cap="flat" cmpd="sng">
              <a:solidFill>
                <a:schemeClr val="bg2"/>
              </a:solidFill>
              <a:bevel/>
              <a:headEnd/>
              <a:tailEnd/>
            </a:ln>
          </p:spPr>
          <p:txBody>
            <a:bodyPr anchor="ctr"/>
            <a:lstStyle/>
            <a:p>
              <a:endParaRPr lang="zh-CN" altLang="en-US"/>
            </a:p>
          </p:txBody>
        </p:sp>
        <p:sp>
          <p:nvSpPr>
            <p:cNvPr id="8220" name="Freeform 28"/>
            <p:cNvSpPr>
              <a:spLocks/>
            </p:cNvSpPr>
            <p:nvPr/>
          </p:nvSpPr>
          <p:spPr bwMode="auto">
            <a:xfrm>
              <a:off x="4547245" y="0"/>
              <a:ext cx="1285402" cy="1167245"/>
            </a:xfrm>
            <a:custGeom>
              <a:avLst/>
              <a:gdLst/>
              <a:ahLst/>
              <a:cxnLst>
                <a:cxn ang="0">
                  <a:pos x="712" y="290"/>
                </a:cxn>
                <a:cxn ang="0">
                  <a:pos x="704" y="270"/>
                </a:cxn>
                <a:cxn ang="0">
                  <a:pos x="692" y="234"/>
                </a:cxn>
                <a:cxn ang="0">
                  <a:pos x="662" y="254"/>
                </a:cxn>
                <a:cxn ang="0">
                  <a:pos x="632" y="276"/>
                </a:cxn>
                <a:cxn ang="0">
                  <a:pos x="618" y="320"/>
                </a:cxn>
                <a:cxn ang="0">
                  <a:pos x="510" y="308"/>
                </a:cxn>
                <a:cxn ang="0">
                  <a:pos x="496" y="280"/>
                </a:cxn>
                <a:cxn ang="0">
                  <a:pos x="452" y="246"/>
                </a:cxn>
                <a:cxn ang="0">
                  <a:pos x="332" y="234"/>
                </a:cxn>
                <a:cxn ang="0">
                  <a:pos x="258" y="110"/>
                </a:cxn>
                <a:cxn ang="0">
                  <a:pos x="164" y="14"/>
                </a:cxn>
                <a:cxn ang="0">
                  <a:pos x="94" y="6"/>
                </a:cxn>
                <a:cxn ang="0">
                  <a:pos x="54" y="4"/>
                </a:cxn>
                <a:cxn ang="0">
                  <a:pos x="8" y="36"/>
                </a:cxn>
                <a:cxn ang="0">
                  <a:pos x="0" y="62"/>
                </a:cxn>
                <a:cxn ang="0">
                  <a:pos x="22" y="86"/>
                </a:cxn>
                <a:cxn ang="0">
                  <a:pos x="42" y="70"/>
                </a:cxn>
                <a:cxn ang="0">
                  <a:pos x="74" y="94"/>
                </a:cxn>
                <a:cxn ang="0">
                  <a:pos x="96" y="140"/>
                </a:cxn>
                <a:cxn ang="0">
                  <a:pos x="124" y="148"/>
                </a:cxn>
                <a:cxn ang="0">
                  <a:pos x="176" y="110"/>
                </a:cxn>
                <a:cxn ang="0">
                  <a:pos x="230" y="138"/>
                </a:cxn>
                <a:cxn ang="0">
                  <a:pos x="238" y="196"/>
                </a:cxn>
                <a:cxn ang="0">
                  <a:pos x="240" y="250"/>
                </a:cxn>
                <a:cxn ang="0">
                  <a:pos x="232" y="284"/>
                </a:cxn>
                <a:cxn ang="0">
                  <a:pos x="228" y="330"/>
                </a:cxn>
                <a:cxn ang="0">
                  <a:pos x="214" y="366"/>
                </a:cxn>
                <a:cxn ang="0">
                  <a:pos x="180" y="370"/>
                </a:cxn>
                <a:cxn ang="0">
                  <a:pos x="154" y="414"/>
                </a:cxn>
                <a:cxn ang="0">
                  <a:pos x="144" y="446"/>
                </a:cxn>
                <a:cxn ang="0">
                  <a:pos x="178" y="476"/>
                </a:cxn>
                <a:cxn ang="0">
                  <a:pos x="188" y="516"/>
                </a:cxn>
                <a:cxn ang="0">
                  <a:pos x="226" y="528"/>
                </a:cxn>
                <a:cxn ang="0">
                  <a:pos x="254" y="560"/>
                </a:cxn>
                <a:cxn ang="0">
                  <a:pos x="274" y="560"/>
                </a:cxn>
                <a:cxn ang="0">
                  <a:pos x="308" y="552"/>
                </a:cxn>
                <a:cxn ang="0">
                  <a:pos x="334" y="544"/>
                </a:cxn>
                <a:cxn ang="0">
                  <a:pos x="344" y="556"/>
                </a:cxn>
                <a:cxn ang="0">
                  <a:pos x="362" y="576"/>
                </a:cxn>
                <a:cxn ang="0">
                  <a:pos x="364" y="564"/>
                </a:cxn>
                <a:cxn ang="0">
                  <a:pos x="402" y="562"/>
                </a:cxn>
                <a:cxn ang="0">
                  <a:pos x="422" y="588"/>
                </a:cxn>
                <a:cxn ang="0">
                  <a:pos x="456" y="608"/>
                </a:cxn>
                <a:cxn ang="0">
                  <a:pos x="474" y="616"/>
                </a:cxn>
                <a:cxn ang="0">
                  <a:pos x="474" y="596"/>
                </a:cxn>
                <a:cxn ang="0">
                  <a:pos x="486" y="590"/>
                </a:cxn>
                <a:cxn ang="0">
                  <a:pos x="496" y="616"/>
                </a:cxn>
                <a:cxn ang="0">
                  <a:pos x="512" y="626"/>
                </a:cxn>
                <a:cxn ang="0">
                  <a:pos x="544" y="638"/>
                </a:cxn>
                <a:cxn ang="0">
                  <a:pos x="556" y="618"/>
                </a:cxn>
                <a:cxn ang="0">
                  <a:pos x="592" y="598"/>
                </a:cxn>
                <a:cxn ang="0">
                  <a:pos x="610" y="600"/>
                </a:cxn>
                <a:cxn ang="0">
                  <a:pos x="610" y="618"/>
                </a:cxn>
                <a:cxn ang="0">
                  <a:pos x="640" y="630"/>
                </a:cxn>
                <a:cxn ang="0">
                  <a:pos x="624" y="562"/>
                </a:cxn>
                <a:cxn ang="0">
                  <a:pos x="616" y="518"/>
                </a:cxn>
                <a:cxn ang="0">
                  <a:pos x="662" y="482"/>
                </a:cxn>
                <a:cxn ang="0">
                  <a:pos x="704" y="476"/>
                </a:cxn>
                <a:cxn ang="0">
                  <a:pos x="716" y="382"/>
                </a:cxn>
              </a:cxnLst>
              <a:rect l="0" t="0" r="r" b="b"/>
              <a:pathLst>
                <a:path w="718" h="652">
                  <a:moveTo>
                    <a:pt x="716" y="382"/>
                  </a:moveTo>
                  <a:lnTo>
                    <a:pt x="704" y="302"/>
                  </a:lnTo>
                  <a:lnTo>
                    <a:pt x="706" y="302"/>
                  </a:lnTo>
                  <a:lnTo>
                    <a:pt x="712" y="290"/>
                  </a:lnTo>
                  <a:lnTo>
                    <a:pt x="714" y="284"/>
                  </a:lnTo>
                  <a:lnTo>
                    <a:pt x="714" y="280"/>
                  </a:lnTo>
                  <a:lnTo>
                    <a:pt x="710" y="274"/>
                  </a:lnTo>
                  <a:lnTo>
                    <a:pt x="704" y="270"/>
                  </a:lnTo>
                  <a:lnTo>
                    <a:pt x="700" y="260"/>
                  </a:lnTo>
                  <a:lnTo>
                    <a:pt x="700" y="250"/>
                  </a:lnTo>
                  <a:lnTo>
                    <a:pt x="700" y="234"/>
                  </a:lnTo>
                  <a:lnTo>
                    <a:pt x="692" y="234"/>
                  </a:lnTo>
                  <a:lnTo>
                    <a:pt x="684" y="236"/>
                  </a:lnTo>
                  <a:lnTo>
                    <a:pt x="674" y="240"/>
                  </a:lnTo>
                  <a:lnTo>
                    <a:pt x="666" y="248"/>
                  </a:lnTo>
                  <a:lnTo>
                    <a:pt x="662" y="254"/>
                  </a:lnTo>
                  <a:lnTo>
                    <a:pt x="660" y="262"/>
                  </a:lnTo>
                  <a:lnTo>
                    <a:pt x="652" y="268"/>
                  </a:lnTo>
                  <a:lnTo>
                    <a:pt x="644" y="272"/>
                  </a:lnTo>
                  <a:lnTo>
                    <a:pt x="632" y="276"/>
                  </a:lnTo>
                  <a:lnTo>
                    <a:pt x="628" y="302"/>
                  </a:lnTo>
                  <a:lnTo>
                    <a:pt x="626" y="302"/>
                  </a:lnTo>
                  <a:lnTo>
                    <a:pt x="618" y="318"/>
                  </a:lnTo>
                  <a:lnTo>
                    <a:pt x="618" y="320"/>
                  </a:lnTo>
                  <a:lnTo>
                    <a:pt x="616" y="320"/>
                  </a:lnTo>
                  <a:lnTo>
                    <a:pt x="536" y="334"/>
                  </a:lnTo>
                  <a:lnTo>
                    <a:pt x="534" y="334"/>
                  </a:lnTo>
                  <a:lnTo>
                    <a:pt x="510" y="308"/>
                  </a:lnTo>
                  <a:lnTo>
                    <a:pt x="518" y="302"/>
                  </a:lnTo>
                  <a:lnTo>
                    <a:pt x="508" y="290"/>
                  </a:lnTo>
                  <a:lnTo>
                    <a:pt x="498" y="282"/>
                  </a:lnTo>
                  <a:lnTo>
                    <a:pt x="496" y="280"/>
                  </a:lnTo>
                  <a:lnTo>
                    <a:pt x="496" y="278"/>
                  </a:lnTo>
                  <a:lnTo>
                    <a:pt x="492" y="258"/>
                  </a:lnTo>
                  <a:lnTo>
                    <a:pt x="470" y="258"/>
                  </a:lnTo>
                  <a:lnTo>
                    <a:pt x="452" y="246"/>
                  </a:lnTo>
                  <a:lnTo>
                    <a:pt x="388" y="236"/>
                  </a:lnTo>
                  <a:lnTo>
                    <a:pt x="336" y="234"/>
                  </a:lnTo>
                  <a:lnTo>
                    <a:pt x="334" y="234"/>
                  </a:lnTo>
                  <a:lnTo>
                    <a:pt x="332" y="234"/>
                  </a:lnTo>
                  <a:lnTo>
                    <a:pt x="330" y="232"/>
                  </a:lnTo>
                  <a:lnTo>
                    <a:pt x="298" y="164"/>
                  </a:lnTo>
                  <a:lnTo>
                    <a:pt x="286" y="146"/>
                  </a:lnTo>
                  <a:lnTo>
                    <a:pt x="258" y="110"/>
                  </a:lnTo>
                  <a:lnTo>
                    <a:pt x="230" y="76"/>
                  </a:lnTo>
                  <a:lnTo>
                    <a:pt x="216" y="62"/>
                  </a:lnTo>
                  <a:lnTo>
                    <a:pt x="170" y="18"/>
                  </a:lnTo>
                  <a:lnTo>
                    <a:pt x="164" y="14"/>
                  </a:lnTo>
                  <a:lnTo>
                    <a:pt x="108" y="12"/>
                  </a:lnTo>
                  <a:lnTo>
                    <a:pt x="106" y="12"/>
                  </a:lnTo>
                  <a:lnTo>
                    <a:pt x="106" y="10"/>
                  </a:lnTo>
                  <a:lnTo>
                    <a:pt x="94" y="6"/>
                  </a:lnTo>
                  <a:lnTo>
                    <a:pt x="80" y="0"/>
                  </a:lnTo>
                  <a:lnTo>
                    <a:pt x="76" y="0"/>
                  </a:lnTo>
                  <a:lnTo>
                    <a:pt x="70" y="0"/>
                  </a:lnTo>
                  <a:lnTo>
                    <a:pt x="54" y="4"/>
                  </a:lnTo>
                  <a:lnTo>
                    <a:pt x="34" y="12"/>
                  </a:lnTo>
                  <a:lnTo>
                    <a:pt x="8" y="24"/>
                  </a:lnTo>
                  <a:lnTo>
                    <a:pt x="6" y="26"/>
                  </a:lnTo>
                  <a:lnTo>
                    <a:pt x="8" y="36"/>
                  </a:lnTo>
                  <a:lnTo>
                    <a:pt x="8" y="38"/>
                  </a:lnTo>
                  <a:lnTo>
                    <a:pt x="2" y="52"/>
                  </a:lnTo>
                  <a:lnTo>
                    <a:pt x="0" y="52"/>
                  </a:lnTo>
                  <a:lnTo>
                    <a:pt x="0" y="62"/>
                  </a:lnTo>
                  <a:lnTo>
                    <a:pt x="0" y="72"/>
                  </a:lnTo>
                  <a:lnTo>
                    <a:pt x="4" y="82"/>
                  </a:lnTo>
                  <a:lnTo>
                    <a:pt x="10" y="86"/>
                  </a:lnTo>
                  <a:lnTo>
                    <a:pt x="22" y="86"/>
                  </a:lnTo>
                  <a:lnTo>
                    <a:pt x="32" y="88"/>
                  </a:lnTo>
                  <a:lnTo>
                    <a:pt x="36" y="86"/>
                  </a:lnTo>
                  <a:lnTo>
                    <a:pt x="38" y="76"/>
                  </a:lnTo>
                  <a:lnTo>
                    <a:pt x="42" y="70"/>
                  </a:lnTo>
                  <a:lnTo>
                    <a:pt x="50" y="70"/>
                  </a:lnTo>
                  <a:lnTo>
                    <a:pt x="78" y="78"/>
                  </a:lnTo>
                  <a:lnTo>
                    <a:pt x="84" y="80"/>
                  </a:lnTo>
                  <a:lnTo>
                    <a:pt x="74" y="94"/>
                  </a:lnTo>
                  <a:lnTo>
                    <a:pt x="74" y="114"/>
                  </a:lnTo>
                  <a:lnTo>
                    <a:pt x="76" y="118"/>
                  </a:lnTo>
                  <a:lnTo>
                    <a:pt x="80" y="124"/>
                  </a:lnTo>
                  <a:lnTo>
                    <a:pt x="96" y="140"/>
                  </a:lnTo>
                  <a:lnTo>
                    <a:pt x="108" y="148"/>
                  </a:lnTo>
                  <a:lnTo>
                    <a:pt x="116" y="150"/>
                  </a:lnTo>
                  <a:lnTo>
                    <a:pt x="120" y="150"/>
                  </a:lnTo>
                  <a:lnTo>
                    <a:pt x="124" y="148"/>
                  </a:lnTo>
                  <a:lnTo>
                    <a:pt x="138" y="134"/>
                  </a:lnTo>
                  <a:lnTo>
                    <a:pt x="148" y="128"/>
                  </a:lnTo>
                  <a:lnTo>
                    <a:pt x="170" y="124"/>
                  </a:lnTo>
                  <a:lnTo>
                    <a:pt x="176" y="110"/>
                  </a:lnTo>
                  <a:lnTo>
                    <a:pt x="194" y="100"/>
                  </a:lnTo>
                  <a:lnTo>
                    <a:pt x="212" y="110"/>
                  </a:lnTo>
                  <a:lnTo>
                    <a:pt x="214" y="110"/>
                  </a:lnTo>
                  <a:lnTo>
                    <a:pt x="230" y="138"/>
                  </a:lnTo>
                  <a:lnTo>
                    <a:pt x="236" y="156"/>
                  </a:lnTo>
                  <a:lnTo>
                    <a:pt x="236" y="158"/>
                  </a:lnTo>
                  <a:lnTo>
                    <a:pt x="232" y="182"/>
                  </a:lnTo>
                  <a:lnTo>
                    <a:pt x="238" y="196"/>
                  </a:lnTo>
                  <a:lnTo>
                    <a:pt x="238" y="198"/>
                  </a:lnTo>
                  <a:lnTo>
                    <a:pt x="234" y="216"/>
                  </a:lnTo>
                  <a:lnTo>
                    <a:pt x="234" y="232"/>
                  </a:lnTo>
                  <a:lnTo>
                    <a:pt x="240" y="250"/>
                  </a:lnTo>
                  <a:lnTo>
                    <a:pt x="242" y="258"/>
                  </a:lnTo>
                  <a:lnTo>
                    <a:pt x="240" y="272"/>
                  </a:lnTo>
                  <a:lnTo>
                    <a:pt x="240" y="274"/>
                  </a:lnTo>
                  <a:lnTo>
                    <a:pt x="232" y="284"/>
                  </a:lnTo>
                  <a:lnTo>
                    <a:pt x="232" y="286"/>
                  </a:lnTo>
                  <a:lnTo>
                    <a:pt x="224" y="294"/>
                  </a:lnTo>
                  <a:lnTo>
                    <a:pt x="222" y="312"/>
                  </a:lnTo>
                  <a:lnTo>
                    <a:pt x="228" y="330"/>
                  </a:lnTo>
                  <a:lnTo>
                    <a:pt x="228" y="332"/>
                  </a:lnTo>
                  <a:lnTo>
                    <a:pt x="222" y="360"/>
                  </a:lnTo>
                  <a:lnTo>
                    <a:pt x="218" y="364"/>
                  </a:lnTo>
                  <a:lnTo>
                    <a:pt x="214" y="366"/>
                  </a:lnTo>
                  <a:lnTo>
                    <a:pt x="206" y="364"/>
                  </a:lnTo>
                  <a:lnTo>
                    <a:pt x="198" y="356"/>
                  </a:lnTo>
                  <a:lnTo>
                    <a:pt x="190" y="358"/>
                  </a:lnTo>
                  <a:lnTo>
                    <a:pt x="180" y="370"/>
                  </a:lnTo>
                  <a:lnTo>
                    <a:pt x="168" y="402"/>
                  </a:lnTo>
                  <a:lnTo>
                    <a:pt x="168" y="404"/>
                  </a:lnTo>
                  <a:lnTo>
                    <a:pt x="156" y="414"/>
                  </a:lnTo>
                  <a:lnTo>
                    <a:pt x="154" y="414"/>
                  </a:lnTo>
                  <a:lnTo>
                    <a:pt x="148" y="414"/>
                  </a:lnTo>
                  <a:lnTo>
                    <a:pt x="136" y="434"/>
                  </a:lnTo>
                  <a:lnTo>
                    <a:pt x="142" y="446"/>
                  </a:lnTo>
                  <a:lnTo>
                    <a:pt x="144" y="446"/>
                  </a:lnTo>
                  <a:lnTo>
                    <a:pt x="160" y="466"/>
                  </a:lnTo>
                  <a:lnTo>
                    <a:pt x="160" y="468"/>
                  </a:lnTo>
                  <a:lnTo>
                    <a:pt x="160" y="474"/>
                  </a:lnTo>
                  <a:lnTo>
                    <a:pt x="178" y="476"/>
                  </a:lnTo>
                  <a:lnTo>
                    <a:pt x="180" y="492"/>
                  </a:lnTo>
                  <a:lnTo>
                    <a:pt x="180" y="494"/>
                  </a:lnTo>
                  <a:lnTo>
                    <a:pt x="182" y="512"/>
                  </a:lnTo>
                  <a:lnTo>
                    <a:pt x="188" y="516"/>
                  </a:lnTo>
                  <a:lnTo>
                    <a:pt x="204" y="512"/>
                  </a:lnTo>
                  <a:lnTo>
                    <a:pt x="218" y="502"/>
                  </a:lnTo>
                  <a:lnTo>
                    <a:pt x="222" y="502"/>
                  </a:lnTo>
                  <a:lnTo>
                    <a:pt x="226" y="528"/>
                  </a:lnTo>
                  <a:lnTo>
                    <a:pt x="234" y="538"/>
                  </a:lnTo>
                  <a:lnTo>
                    <a:pt x="236" y="540"/>
                  </a:lnTo>
                  <a:lnTo>
                    <a:pt x="242" y="550"/>
                  </a:lnTo>
                  <a:lnTo>
                    <a:pt x="254" y="560"/>
                  </a:lnTo>
                  <a:lnTo>
                    <a:pt x="258" y="562"/>
                  </a:lnTo>
                  <a:lnTo>
                    <a:pt x="262" y="562"/>
                  </a:lnTo>
                  <a:lnTo>
                    <a:pt x="266" y="564"/>
                  </a:lnTo>
                  <a:lnTo>
                    <a:pt x="274" y="560"/>
                  </a:lnTo>
                  <a:lnTo>
                    <a:pt x="282" y="558"/>
                  </a:lnTo>
                  <a:lnTo>
                    <a:pt x="292" y="554"/>
                  </a:lnTo>
                  <a:lnTo>
                    <a:pt x="296" y="552"/>
                  </a:lnTo>
                  <a:lnTo>
                    <a:pt x="308" y="552"/>
                  </a:lnTo>
                  <a:lnTo>
                    <a:pt x="312" y="552"/>
                  </a:lnTo>
                  <a:lnTo>
                    <a:pt x="316" y="554"/>
                  </a:lnTo>
                  <a:lnTo>
                    <a:pt x="332" y="544"/>
                  </a:lnTo>
                  <a:lnTo>
                    <a:pt x="334" y="544"/>
                  </a:lnTo>
                  <a:lnTo>
                    <a:pt x="334" y="546"/>
                  </a:lnTo>
                  <a:lnTo>
                    <a:pt x="336" y="544"/>
                  </a:lnTo>
                  <a:lnTo>
                    <a:pt x="338" y="546"/>
                  </a:lnTo>
                  <a:lnTo>
                    <a:pt x="344" y="556"/>
                  </a:lnTo>
                  <a:lnTo>
                    <a:pt x="346" y="562"/>
                  </a:lnTo>
                  <a:lnTo>
                    <a:pt x="354" y="574"/>
                  </a:lnTo>
                  <a:lnTo>
                    <a:pt x="360" y="576"/>
                  </a:lnTo>
                  <a:lnTo>
                    <a:pt x="362" y="576"/>
                  </a:lnTo>
                  <a:lnTo>
                    <a:pt x="360" y="574"/>
                  </a:lnTo>
                  <a:lnTo>
                    <a:pt x="360" y="570"/>
                  </a:lnTo>
                  <a:lnTo>
                    <a:pt x="360" y="566"/>
                  </a:lnTo>
                  <a:lnTo>
                    <a:pt x="364" y="564"/>
                  </a:lnTo>
                  <a:lnTo>
                    <a:pt x="370" y="562"/>
                  </a:lnTo>
                  <a:lnTo>
                    <a:pt x="398" y="562"/>
                  </a:lnTo>
                  <a:lnTo>
                    <a:pt x="400" y="562"/>
                  </a:lnTo>
                  <a:lnTo>
                    <a:pt x="402" y="562"/>
                  </a:lnTo>
                  <a:lnTo>
                    <a:pt x="412" y="580"/>
                  </a:lnTo>
                  <a:lnTo>
                    <a:pt x="410" y="588"/>
                  </a:lnTo>
                  <a:lnTo>
                    <a:pt x="422" y="590"/>
                  </a:lnTo>
                  <a:lnTo>
                    <a:pt x="422" y="588"/>
                  </a:lnTo>
                  <a:lnTo>
                    <a:pt x="422" y="586"/>
                  </a:lnTo>
                  <a:lnTo>
                    <a:pt x="426" y="584"/>
                  </a:lnTo>
                  <a:lnTo>
                    <a:pt x="454" y="602"/>
                  </a:lnTo>
                  <a:lnTo>
                    <a:pt x="456" y="608"/>
                  </a:lnTo>
                  <a:lnTo>
                    <a:pt x="458" y="612"/>
                  </a:lnTo>
                  <a:lnTo>
                    <a:pt x="458" y="624"/>
                  </a:lnTo>
                  <a:lnTo>
                    <a:pt x="468" y="626"/>
                  </a:lnTo>
                  <a:lnTo>
                    <a:pt x="474" y="616"/>
                  </a:lnTo>
                  <a:lnTo>
                    <a:pt x="470" y="608"/>
                  </a:lnTo>
                  <a:lnTo>
                    <a:pt x="470" y="602"/>
                  </a:lnTo>
                  <a:lnTo>
                    <a:pt x="472" y="598"/>
                  </a:lnTo>
                  <a:lnTo>
                    <a:pt x="474" y="596"/>
                  </a:lnTo>
                  <a:lnTo>
                    <a:pt x="478" y="594"/>
                  </a:lnTo>
                  <a:lnTo>
                    <a:pt x="478" y="592"/>
                  </a:lnTo>
                  <a:lnTo>
                    <a:pt x="480" y="590"/>
                  </a:lnTo>
                  <a:lnTo>
                    <a:pt x="486" y="590"/>
                  </a:lnTo>
                  <a:lnTo>
                    <a:pt x="490" y="594"/>
                  </a:lnTo>
                  <a:lnTo>
                    <a:pt x="492" y="598"/>
                  </a:lnTo>
                  <a:lnTo>
                    <a:pt x="496" y="614"/>
                  </a:lnTo>
                  <a:lnTo>
                    <a:pt x="496" y="616"/>
                  </a:lnTo>
                  <a:lnTo>
                    <a:pt x="498" y="618"/>
                  </a:lnTo>
                  <a:lnTo>
                    <a:pt x="502" y="622"/>
                  </a:lnTo>
                  <a:lnTo>
                    <a:pt x="510" y="626"/>
                  </a:lnTo>
                  <a:lnTo>
                    <a:pt x="512" y="626"/>
                  </a:lnTo>
                  <a:lnTo>
                    <a:pt x="538" y="652"/>
                  </a:lnTo>
                  <a:lnTo>
                    <a:pt x="550" y="648"/>
                  </a:lnTo>
                  <a:lnTo>
                    <a:pt x="548" y="644"/>
                  </a:lnTo>
                  <a:lnTo>
                    <a:pt x="544" y="638"/>
                  </a:lnTo>
                  <a:lnTo>
                    <a:pt x="544" y="634"/>
                  </a:lnTo>
                  <a:lnTo>
                    <a:pt x="544" y="630"/>
                  </a:lnTo>
                  <a:lnTo>
                    <a:pt x="546" y="626"/>
                  </a:lnTo>
                  <a:lnTo>
                    <a:pt x="556" y="618"/>
                  </a:lnTo>
                  <a:lnTo>
                    <a:pt x="570" y="606"/>
                  </a:lnTo>
                  <a:lnTo>
                    <a:pt x="586" y="616"/>
                  </a:lnTo>
                  <a:lnTo>
                    <a:pt x="588" y="616"/>
                  </a:lnTo>
                  <a:lnTo>
                    <a:pt x="592" y="598"/>
                  </a:lnTo>
                  <a:lnTo>
                    <a:pt x="592" y="596"/>
                  </a:lnTo>
                  <a:lnTo>
                    <a:pt x="594" y="594"/>
                  </a:lnTo>
                  <a:lnTo>
                    <a:pt x="608" y="596"/>
                  </a:lnTo>
                  <a:lnTo>
                    <a:pt x="610" y="600"/>
                  </a:lnTo>
                  <a:lnTo>
                    <a:pt x="612" y="606"/>
                  </a:lnTo>
                  <a:lnTo>
                    <a:pt x="610" y="610"/>
                  </a:lnTo>
                  <a:lnTo>
                    <a:pt x="606" y="616"/>
                  </a:lnTo>
                  <a:lnTo>
                    <a:pt x="610" y="618"/>
                  </a:lnTo>
                  <a:lnTo>
                    <a:pt x="620" y="622"/>
                  </a:lnTo>
                  <a:lnTo>
                    <a:pt x="628" y="626"/>
                  </a:lnTo>
                  <a:lnTo>
                    <a:pt x="630" y="626"/>
                  </a:lnTo>
                  <a:lnTo>
                    <a:pt x="640" y="630"/>
                  </a:lnTo>
                  <a:lnTo>
                    <a:pt x="648" y="630"/>
                  </a:lnTo>
                  <a:lnTo>
                    <a:pt x="636" y="572"/>
                  </a:lnTo>
                  <a:lnTo>
                    <a:pt x="630" y="568"/>
                  </a:lnTo>
                  <a:lnTo>
                    <a:pt x="624" y="562"/>
                  </a:lnTo>
                  <a:lnTo>
                    <a:pt x="614" y="546"/>
                  </a:lnTo>
                  <a:lnTo>
                    <a:pt x="610" y="538"/>
                  </a:lnTo>
                  <a:lnTo>
                    <a:pt x="612" y="528"/>
                  </a:lnTo>
                  <a:lnTo>
                    <a:pt x="616" y="518"/>
                  </a:lnTo>
                  <a:lnTo>
                    <a:pt x="624" y="506"/>
                  </a:lnTo>
                  <a:lnTo>
                    <a:pt x="636" y="494"/>
                  </a:lnTo>
                  <a:lnTo>
                    <a:pt x="650" y="482"/>
                  </a:lnTo>
                  <a:lnTo>
                    <a:pt x="662" y="482"/>
                  </a:lnTo>
                  <a:lnTo>
                    <a:pt x="672" y="486"/>
                  </a:lnTo>
                  <a:lnTo>
                    <a:pt x="692" y="486"/>
                  </a:lnTo>
                  <a:lnTo>
                    <a:pt x="698" y="482"/>
                  </a:lnTo>
                  <a:lnTo>
                    <a:pt x="704" y="476"/>
                  </a:lnTo>
                  <a:lnTo>
                    <a:pt x="714" y="452"/>
                  </a:lnTo>
                  <a:lnTo>
                    <a:pt x="718" y="442"/>
                  </a:lnTo>
                  <a:lnTo>
                    <a:pt x="718" y="426"/>
                  </a:lnTo>
                  <a:lnTo>
                    <a:pt x="716" y="382"/>
                  </a:lnTo>
                  <a:close/>
                </a:path>
              </a:pathLst>
            </a:custGeom>
            <a:noFill/>
            <a:ln w="3175" cap="flat" cmpd="sng">
              <a:solidFill>
                <a:schemeClr val="bg2"/>
              </a:solidFill>
              <a:bevel/>
              <a:headEnd/>
              <a:tailEnd/>
            </a:ln>
          </p:spPr>
          <p:txBody>
            <a:bodyPr anchor="ctr"/>
            <a:lstStyle/>
            <a:p>
              <a:endParaRPr lang="zh-CN" altLang="en-US"/>
            </a:p>
          </p:txBody>
        </p:sp>
        <p:sp>
          <p:nvSpPr>
            <p:cNvPr id="8221" name="Freeform 29"/>
            <p:cNvSpPr>
              <a:spLocks/>
            </p:cNvSpPr>
            <p:nvPr/>
          </p:nvSpPr>
          <p:spPr bwMode="auto">
            <a:xfrm>
              <a:off x="4293029" y="2094597"/>
              <a:ext cx="776970" cy="486949"/>
            </a:xfrm>
            <a:custGeom>
              <a:avLst/>
              <a:gdLst/>
              <a:ahLst/>
              <a:cxnLst>
                <a:cxn ang="0">
                  <a:pos x="396" y="8"/>
                </a:cxn>
                <a:cxn ang="0">
                  <a:pos x="388" y="14"/>
                </a:cxn>
                <a:cxn ang="0">
                  <a:pos x="330" y="6"/>
                </a:cxn>
                <a:cxn ang="0">
                  <a:pos x="270" y="42"/>
                </a:cxn>
                <a:cxn ang="0">
                  <a:pos x="268" y="62"/>
                </a:cxn>
                <a:cxn ang="0">
                  <a:pos x="228" y="62"/>
                </a:cxn>
                <a:cxn ang="0">
                  <a:pos x="218" y="60"/>
                </a:cxn>
                <a:cxn ang="0">
                  <a:pos x="212" y="52"/>
                </a:cxn>
                <a:cxn ang="0">
                  <a:pos x="168" y="0"/>
                </a:cxn>
                <a:cxn ang="0">
                  <a:pos x="150" y="20"/>
                </a:cxn>
                <a:cxn ang="0">
                  <a:pos x="144" y="0"/>
                </a:cxn>
                <a:cxn ang="0">
                  <a:pos x="120" y="18"/>
                </a:cxn>
                <a:cxn ang="0">
                  <a:pos x="102" y="24"/>
                </a:cxn>
                <a:cxn ang="0">
                  <a:pos x="56" y="70"/>
                </a:cxn>
                <a:cxn ang="0">
                  <a:pos x="22" y="148"/>
                </a:cxn>
                <a:cxn ang="0">
                  <a:pos x="20" y="152"/>
                </a:cxn>
                <a:cxn ang="0">
                  <a:pos x="20" y="160"/>
                </a:cxn>
                <a:cxn ang="0">
                  <a:pos x="32" y="188"/>
                </a:cxn>
                <a:cxn ang="0">
                  <a:pos x="34" y="206"/>
                </a:cxn>
                <a:cxn ang="0">
                  <a:pos x="0" y="228"/>
                </a:cxn>
                <a:cxn ang="0">
                  <a:pos x="16" y="244"/>
                </a:cxn>
                <a:cxn ang="0">
                  <a:pos x="18" y="252"/>
                </a:cxn>
                <a:cxn ang="0">
                  <a:pos x="36" y="264"/>
                </a:cxn>
                <a:cxn ang="0">
                  <a:pos x="74" y="266"/>
                </a:cxn>
                <a:cxn ang="0">
                  <a:pos x="92" y="230"/>
                </a:cxn>
                <a:cxn ang="0">
                  <a:pos x="118" y="240"/>
                </a:cxn>
                <a:cxn ang="0">
                  <a:pos x="118" y="244"/>
                </a:cxn>
                <a:cxn ang="0">
                  <a:pos x="116" y="256"/>
                </a:cxn>
                <a:cxn ang="0">
                  <a:pos x="124" y="264"/>
                </a:cxn>
                <a:cxn ang="0">
                  <a:pos x="160" y="260"/>
                </a:cxn>
                <a:cxn ang="0">
                  <a:pos x="172" y="252"/>
                </a:cxn>
                <a:cxn ang="0">
                  <a:pos x="184" y="252"/>
                </a:cxn>
                <a:cxn ang="0">
                  <a:pos x="202" y="258"/>
                </a:cxn>
                <a:cxn ang="0">
                  <a:pos x="212" y="250"/>
                </a:cxn>
                <a:cxn ang="0">
                  <a:pos x="216" y="248"/>
                </a:cxn>
                <a:cxn ang="0">
                  <a:pos x="224" y="236"/>
                </a:cxn>
                <a:cxn ang="0">
                  <a:pos x="238" y="220"/>
                </a:cxn>
                <a:cxn ang="0">
                  <a:pos x="250" y="212"/>
                </a:cxn>
                <a:cxn ang="0">
                  <a:pos x="252" y="214"/>
                </a:cxn>
                <a:cxn ang="0">
                  <a:pos x="260" y="216"/>
                </a:cxn>
                <a:cxn ang="0">
                  <a:pos x="280" y="172"/>
                </a:cxn>
                <a:cxn ang="0">
                  <a:pos x="296" y="160"/>
                </a:cxn>
                <a:cxn ang="0">
                  <a:pos x="300" y="150"/>
                </a:cxn>
                <a:cxn ang="0">
                  <a:pos x="294" y="128"/>
                </a:cxn>
                <a:cxn ang="0">
                  <a:pos x="298" y="120"/>
                </a:cxn>
                <a:cxn ang="0">
                  <a:pos x="310" y="120"/>
                </a:cxn>
                <a:cxn ang="0">
                  <a:pos x="322" y="112"/>
                </a:cxn>
                <a:cxn ang="0">
                  <a:pos x="322" y="108"/>
                </a:cxn>
                <a:cxn ang="0">
                  <a:pos x="338" y="96"/>
                </a:cxn>
                <a:cxn ang="0">
                  <a:pos x="328" y="94"/>
                </a:cxn>
                <a:cxn ang="0">
                  <a:pos x="328" y="88"/>
                </a:cxn>
                <a:cxn ang="0">
                  <a:pos x="332" y="86"/>
                </a:cxn>
                <a:cxn ang="0">
                  <a:pos x="342" y="84"/>
                </a:cxn>
                <a:cxn ang="0">
                  <a:pos x="404" y="40"/>
                </a:cxn>
                <a:cxn ang="0">
                  <a:pos x="428" y="48"/>
                </a:cxn>
                <a:cxn ang="0">
                  <a:pos x="424" y="28"/>
                </a:cxn>
                <a:cxn ang="0">
                  <a:pos x="432" y="12"/>
                </a:cxn>
                <a:cxn ang="0">
                  <a:pos x="426" y="14"/>
                </a:cxn>
                <a:cxn ang="0">
                  <a:pos x="408" y="16"/>
                </a:cxn>
                <a:cxn ang="0">
                  <a:pos x="404" y="12"/>
                </a:cxn>
                <a:cxn ang="0">
                  <a:pos x="396" y="8"/>
                </a:cxn>
              </a:cxnLst>
              <a:rect l="0" t="0" r="r" b="b"/>
              <a:pathLst>
                <a:path w="434" h="272">
                  <a:moveTo>
                    <a:pt x="396" y="8"/>
                  </a:moveTo>
                  <a:lnTo>
                    <a:pt x="396" y="8"/>
                  </a:lnTo>
                  <a:lnTo>
                    <a:pt x="394" y="12"/>
                  </a:lnTo>
                  <a:lnTo>
                    <a:pt x="388" y="14"/>
                  </a:lnTo>
                  <a:lnTo>
                    <a:pt x="358" y="12"/>
                  </a:lnTo>
                  <a:lnTo>
                    <a:pt x="330" y="6"/>
                  </a:lnTo>
                  <a:lnTo>
                    <a:pt x="314" y="0"/>
                  </a:lnTo>
                  <a:lnTo>
                    <a:pt x="270" y="42"/>
                  </a:lnTo>
                  <a:lnTo>
                    <a:pt x="272" y="60"/>
                  </a:lnTo>
                  <a:lnTo>
                    <a:pt x="268" y="62"/>
                  </a:lnTo>
                  <a:lnTo>
                    <a:pt x="246" y="64"/>
                  </a:lnTo>
                  <a:lnTo>
                    <a:pt x="228" y="62"/>
                  </a:lnTo>
                  <a:lnTo>
                    <a:pt x="222" y="62"/>
                  </a:lnTo>
                  <a:lnTo>
                    <a:pt x="218" y="60"/>
                  </a:lnTo>
                  <a:lnTo>
                    <a:pt x="214" y="56"/>
                  </a:lnTo>
                  <a:lnTo>
                    <a:pt x="212" y="52"/>
                  </a:lnTo>
                  <a:lnTo>
                    <a:pt x="208" y="2"/>
                  </a:lnTo>
                  <a:lnTo>
                    <a:pt x="168" y="0"/>
                  </a:lnTo>
                  <a:lnTo>
                    <a:pt x="152" y="36"/>
                  </a:lnTo>
                  <a:lnTo>
                    <a:pt x="150" y="20"/>
                  </a:lnTo>
                  <a:lnTo>
                    <a:pt x="148" y="6"/>
                  </a:lnTo>
                  <a:lnTo>
                    <a:pt x="144" y="0"/>
                  </a:lnTo>
                  <a:lnTo>
                    <a:pt x="128" y="8"/>
                  </a:lnTo>
                  <a:lnTo>
                    <a:pt x="120" y="18"/>
                  </a:lnTo>
                  <a:lnTo>
                    <a:pt x="118" y="20"/>
                  </a:lnTo>
                  <a:lnTo>
                    <a:pt x="102" y="24"/>
                  </a:lnTo>
                  <a:lnTo>
                    <a:pt x="78" y="48"/>
                  </a:lnTo>
                  <a:lnTo>
                    <a:pt x="56" y="70"/>
                  </a:lnTo>
                  <a:lnTo>
                    <a:pt x="12" y="128"/>
                  </a:lnTo>
                  <a:lnTo>
                    <a:pt x="22" y="148"/>
                  </a:lnTo>
                  <a:lnTo>
                    <a:pt x="22" y="152"/>
                  </a:lnTo>
                  <a:lnTo>
                    <a:pt x="20" y="152"/>
                  </a:lnTo>
                  <a:lnTo>
                    <a:pt x="20" y="156"/>
                  </a:lnTo>
                  <a:lnTo>
                    <a:pt x="20" y="160"/>
                  </a:lnTo>
                  <a:lnTo>
                    <a:pt x="24" y="172"/>
                  </a:lnTo>
                  <a:lnTo>
                    <a:pt x="32" y="188"/>
                  </a:lnTo>
                  <a:lnTo>
                    <a:pt x="34" y="198"/>
                  </a:lnTo>
                  <a:lnTo>
                    <a:pt x="34" y="206"/>
                  </a:lnTo>
                  <a:lnTo>
                    <a:pt x="34" y="208"/>
                  </a:lnTo>
                  <a:lnTo>
                    <a:pt x="0" y="228"/>
                  </a:lnTo>
                  <a:lnTo>
                    <a:pt x="0" y="236"/>
                  </a:lnTo>
                  <a:lnTo>
                    <a:pt x="16" y="244"/>
                  </a:lnTo>
                  <a:lnTo>
                    <a:pt x="18" y="248"/>
                  </a:lnTo>
                  <a:lnTo>
                    <a:pt x="18" y="252"/>
                  </a:lnTo>
                  <a:lnTo>
                    <a:pt x="22" y="256"/>
                  </a:lnTo>
                  <a:lnTo>
                    <a:pt x="36" y="264"/>
                  </a:lnTo>
                  <a:lnTo>
                    <a:pt x="64" y="272"/>
                  </a:lnTo>
                  <a:lnTo>
                    <a:pt x="74" y="266"/>
                  </a:lnTo>
                  <a:lnTo>
                    <a:pt x="84" y="252"/>
                  </a:lnTo>
                  <a:lnTo>
                    <a:pt x="92" y="230"/>
                  </a:lnTo>
                  <a:lnTo>
                    <a:pt x="114" y="238"/>
                  </a:lnTo>
                  <a:lnTo>
                    <a:pt x="118" y="240"/>
                  </a:lnTo>
                  <a:lnTo>
                    <a:pt x="118" y="242"/>
                  </a:lnTo>
                  <a:lnTo>
                    <a:pt x="118" y="244"/>
                  </a:lnTo>
                  <a:lnTo>
                    <a:pt x="116" y="250"/>
                  </a:lnTo>
                  <a:lnTo>
                    <a:pt x="116" y="256"/>
                  </a:lnTo>
                  <a:lnTo>
                    <a:pt x="118" y="260"/>
                  </a:lnTo>
                  <a:lnTo>
                    <a:pt x="124" y="264"/>
                  </a:lnTo>
                  <a:lnTo>
                    <a:pt x="148" y="264"/>
                  </a:lnTo>
                  <a:lnTo>
                    <a:pt x="160" y="260"/>
                  </a:lnTo>
                  <a:lnTo>
                    <a:pt x="170" y="256"/>
                  </a:lnTo>
                  <a:lnTo>
                    <a:pt x="172" y="252"/>
                  </a:lnTo>
                  <a:lnTo>
                    <a:pt x="176" y="252"/>
                  </a:lnTo>
                  <a:lnTo>
                    <a:pt x="184" y="252"/>
                  </a:lnTo>
                  <a:lnTo>
                    <a:pt x="198" y="256"/>
                  </a:lnTo>
                  <a:lnTo>
                    <a:pt x="202" y="258"/>
                  </a:lnTo>
                  <a:lnTo>
                    <a:pt x="208" y="264"/>
                  </a:lnTo>
                  <a:lnTo>
                    <a:pt x="212" y="250"/>
                  </a:lnTo>
                  <a:lnTo>
                    <a:pt x="214" y="248"/>
                  </a:lnTo>
                  <a:lnTo>
                    <a:pt x="216" y="248"/>
                  </a:lnTo>
                  <a:lnTo>
                    <a:pt x="220" y="242"/>
                  </a:lnTo>
                  <a:lnTo>
                    <a:pt x="224" y="236"/>
                  </a:lnTo>
                  <a:lnTo>
                    <a:pt x="230" y="228"/>
                  </a:lnTo>
                  <a:lnTo>
                    <a:pt x="238" y="220"/>
                  </a:lnTo>
                  <a:lnTo>
                    <a:pt x="248" y="214"/>
                  </a:lnTo>
                  <a:lnTo>
                    <a:pt x="250" y="212"/>
                  </a:lnTo>
                  <a:lnTo>
                    <a:pt x="250" y="214"/>
                  </a:lnTo>
                  <a:lnTo>
                    <a:pt x="252" y="214"/>
                  </a:lnTo>
                  <a:lnTo>
                    <a:pt x="258" y="216"/>
                  </a:lnTo>
                  <a:lnTo>
                    <a:pt x="260" y="216"/>
                  </a:lnTo>
                  <a:lnTo>
                    <a:pt x="268" y="176"/>
                  </a:lnTo>
                  <a:lnTo>
                    <a:pt x="280" y="172"/>
                  </a:lnTo>
                  <a:lnTo>
                    <a:pt x="290" y="166"/>
                  </a:lnTo>
                  <a:lnTo>
                    <a:pt x="296" y="160"/>
                  </a:lnTo>
                  <a:lnTo>
                    <a:pt x="298" y="156"/>
                  </a:lnTo>
                  <a:lnTo>
                    <a:pt x="300" y="150"/>
                  </a:lnTo>
                  <a:lnTo>
                    <a:pt x="296" y="138"/>
                  </a:lnTo>
                  <a:lnTo>
                    <a:pt x="294" y="128"/>
                  </a:lnTo>
                  <a:lnTo>
                    <a:pt x="296" y="122"/>
                  </a:lnTo>
                  <a:lnTo>
                    <a:pt x="298" y="120"/>
                  </a:lnTo>
                  <a:lnTo>
                    <a:pt x="302" y="120"/>
                  </a:lnTo>
                  <a:lnTo>
                    <a:pt x="310" y="120"/>
                  </a:lnTo>
                  <a:lnTo>
                    <a:pt x="320" y="124"/>
                  </a:lnTo>
                  <a:lnTo>
                    <a:pt x="322" y="112"/>
                  </a:lnTo>
                  <a:lnTo>
                    <a:pt x="322" y="110"/>
                  </a:lnTo>
                  <a:lnTo>
                    <a:pt x="322" y="108"/>
                  </a:lnTo>
                  <a:lnTo>
                    <a:pt x="336" y="102"/>
                  </a:lnTo>
                  <a:lnTo>
                    <a:pt x="338" y="96"/>
                  </a:lnTo>
                  <a:lnTo>
                    <a:pt x="330" y="96"/>
                  </a:lnTo>
                  <a:lnTo>
                    <a:pt x="328" y="94"/>
                  </a:lnTo>
                  <a:lnTo>
                    <a:pt x="328" y="90"/>
                  </a:lnTo>
                  <a:lnTo>
                    <a:pt x="328" y="88"/>
                  </a:lnTo>
                  <a:lnTo>
                    <a:pt x="330" y="86"/>
                  </a:lnTo>
                  <a:lnTo>
                    <a:pt x="332" y="86"/>
                  </a:lnTo>
                  <a:lnTo>
                    <a:pt x="334" y="86"/>
                  </a:lnTo>
                  <a:lnTo>
                    <a:pt x="342" y="84"/>
                  </a:lnTo>
                  <a:lnTo>
                    <a:pt x="352" y="76"/>
                  </a:lnTo>
                  <a:lnTo>
                    <a:pt x="404" y="40"/>
                  </a:lnTo>
                  <a:lnTo>
                    <a:pt x="420" y="48"/>
                  </a:lnTo>
                  <a:lnTo>
                    <a:pt x="428" y="48"/>
                  </a:lnTo>
                  <a:lnTo>
                    <a:pt x="424" y="30"/>
                  </a:lnTo>
                  <a:lnTo>
                    <a:pt x="424" y="28"/>
                  </a:lnTo>
                  <a:lnTo>
                    <a:pt x="434" y="12"/>
                  </a:lnTo>
                  <a:lnTo>
                    <a:pt x="432" y="12"/>
                  </a:lnTo>
                  <a:lnTo>
                    <a:pt x="426" y="12"/>
                  </a:lnTo>
                  <a:lnTo>
                    <a:pt x="426" y="14"/>
                  </a:lnTo>
                  <a:lnTo>
                    <a:pt x="424" y="14"/>
                  </a:lnTo>
                  <a:lnTo>
                    <a:pt x="408" y="16"/>
                  </a:lnTo>
                  <a:lnTo>
                    <a:pt x="404" y="16"/>
                  </a:lnTo>
                  <a:lnTo>
                    <a:pt x="404" y="12"/>
                  </a:lnTo>
                  <a:lnTo>
                    <a:pt x="400" y="8"/>
                  </a:lnTo>
                  <a:lnTo>
                    <a:pt x="396" y="8"/>
                  </a:lnTo>
                  <a:close/>
                </a:path>
              </a:pathLst>
            </a:custGeom>
            <a:noFill/>
            <a:ln w="3175" cap="flat" cmpd="sng">
              <a:solidFill>
                <a:schemeClr val="bg2"/>
              </a:solidFill>
              <a:bevel/>
              <a:headEnd/>
              <a:tailEnd/>
            </a:ln>
          </p:spPr>
          <p:txBody>
            <a:bodyPr anchor="ctr"/>
            <a:lstStyle/>
            <a:p>
              <a:endParaRPr lang="zh-CN" altLang="en-US"/>
            </a:p>
          </p:txBody>
        </p:sp>
        <p:sp>
          <p:nvSpPr>
            <p:cNvPr id="8222" name="Freeform 30"/>
            <p:cNvSpPr>
              <a:spLocks/>
            </p:cNvSpPr>
            <p:nvPr/>
          </p:nvSpPr>
          <p:spPr bwMode="auto">
            <a:xfrm>
              <a:off x="5019872" y="2903792"/>
              <a:ext cx="121737" cy="107415"/>
            </a:xfrm>
            <a:custGeom>
              <a:avLst/>
              <a:gdLst/>
              <a:ahLst/>
              <a:cxnLst>
                <a:cxn ang="0">
                  <a:pos x="62" y="32"/>
                </a:cxn>
                <a:cxn ang="0">
                  <a:pos x="68" y="24"/>
                </a:cxn>
                <a:cxn ang="0">
                  <a:pos x="48" y="8"/>
                </a:cxn>
                <a:cxn ang="0">
                  <a:pos x="40" y="4"/>
                </a:cxn>
                <a:cxn ang="0">
                  <a:pos x="34" y="0"/>
                </a:cxn>
                <a:cxn ang="0">
                  <a:pos x="28" y="0"/>
                </a:cxn>
                <a:cxn ang="0">
                  <a:pos x="22" y="0"/>
                </a:cxn>
                <a:cxn ang="0">
                  <a:pos x="14" y="2"/>
                </a:cxn>
                <a:cxn ang="0">
                  <a:pos x="14" y="20"/>
                </a:cxn>
                <a:cxn ang="0">
                  <a:pos x="10" y="28"/>
                </a:cxn>
                <a:cxn ang="0">
                  <a:pos x="4" y="36"/>
                </a:cxn>
                <a:cxn ang="0">
                  <a:pos x="0" y="40"/>
                </a:cxn>
                <a:cxn ang="0">
                  <a:pos x="8" y="48"/>
                </a:cxn>
                <a:cxn ang="0">
                  <a:pos x="10" y="48"/>
                </a:cxn>
                <a:cxn ang="0">
                  <a:pos x="12" y="56"/>
                </a:cxn>
                <a:cxn ang="0">
                  <a:pos x="22" y="60"/>
                </a:cxn>
                <a:cxn ang="0">
                  <a:pos x="28" y="56"/>
                </a:cxn>
                <a:cxn ang="0">
                  <a:pos x="34" y="54"/>
                </a:cxn>
                <a:cxn ang="0">
                  <a:pos x="52" y="58"/>
                </a:cxn>
                <a:cxn ang="0">
                  <a:pos x="52" y="52"/>
                </a:cxn>
                <a:cxn ang="0">
                  <a:pos x="54" y="44"/>
                </a:cxn>
                <a:cxn ang="0">
                  <a:pos x="56" y="38"/>
                </a:cxn>
                <a:cxn ang="0">
                  <a:pos x="58" y="34"/>
                </a:cxn>
                <a:cxn ang="0">
                  <a:pos x="62" y="32"/>
                </a:cxn>
              </a:cxnLst>
              <a:rect l="0" t="0" r="r" b="b"/>
              <a:pathLst>
                <a:path w="68" h="60">
                  <a:moveTo>
                    <a:pt x="62" y="32"/>
                  </a:moveTo>
                  <a:lnTo>
                    <a:pt x="68" y="24"/>
                  </a:lnTo>
                  <a:lnTo>
                    <a:pt x="48" y="8"/>
                  </a:lnTo>
                  <a:lnTo>
                    <a:pt x="40" y="4"/>
                  </a:lnTo>
                  <a:lnTo>
                    <a:pt x="34" y="0"/>
                  </a:lnTo>
                  <a:lnTo>
                    <a:pt x="28" y="0"/>
                  </a:lnTo>
                  <a:lnTo>
                    <a:pt x="22" y="0"/>
                  </a:lnTo>
                  <a:lnTo>
                    <a:pt x="14" y="2"/>
                  </a:lnTo>
                  <a:lnTo>
                    <a:pt x="14" y="20"/>
                  </a:lnTo>
                  <a:lnTo>
                    <a:pt x="10" y="28"/>
                  </a:lnTo>
                  <a:lnTo>
                    <a:pt x="4" y="36"/>
                  </a:lnTo>
                  <a:lnTo>
                    <a:pt x="0" y="40"/>
                  </a:lnTo>
                  <a:lnTo>
                    <a:pt x="8" y="48"/>
                  </a:lnTo>
                  <a:lnTo>
                    <a:pt x="10" y="48"/>
                  </a:lnTo>
                  <a:lnTo>
                    <a:pt x="12" y="56"/>
                  </a:lnTo>
                  <a:lnTo>
                    <a:pt x="22" y="60"/>
                  </a:lnTo>
                  <a:lnTo>
                    <a:pt x="28" y="56"/>
                  </a:lnTo>
                  <a:lnTo>
                    <a:pt x="34" y="54"/>
                  </a:lnTo>
                  <a:lnTo>
                    <a:pt x="52" y="58"/>
                  </a:lnTo>
                  <a:lnTo>
                    <a:pt x="52" y="52"/>
                  </a:lnTo>
                  <a:lnTo>
                    <a:pt x="54" y="44"/>
                  </a:lnTo>
                  <a:lnTo>
                    <a:pt x="56" y="38"/>
                  </a:lnTo>
                  <a:lnTo>
                    <a:pt x="58" y="34"/>
                  </a:lnTo>
                  <a:lnTo>
                    <a:pt x="62" y="32"/>
                  </a:lnTo>
                  <a:close/>
                </a:path>
              </a:pathLst>
            </a:custGeom>
            <a:noFill/>
            <a:ln w="3175" cap="flat" cmpd="sng">
              <a:solidFill>
                <a:schemeClr val="bg2"/>
              </a:solidFill>
              <a:bevel/>
              <a:headEnd/>
              <a:tailEnd/>
            </a:ln>
          </p:spPr>
          <p:txBody>
            <a:bodyPr anchor="ctr"/>
            <a:lstStyle/>
            <a:p>
              <a:endParaRPr lang="zh-CN" altLang="en-US"/>
            </a:p>
          </p:txBody>
        </p:sp>
        <p:sp>
          <p:nvSpPr>
            <p:cNvPr id="8223" name="Freeform 31"/>
            <p:cNvSpPr>
              <a:spLocks/>
            </p:cNvSpPr>
            <p:nvPr/>
          </p:nvSpPr>
          <p:spPr bwMode="auto">
            <a:xfrm>
              <a:off x="4450571" y="2492033"/>
              <a:ext cx="676716" cy="522754"/>
            </a:xfrm>
            <a:custGeom>
              <a:avLst/>
              <a:gdLst/>
              <a:ahLst/>
              <a:cxnLst>
                <a:cxn ang="0">
                  <a:pos x="264" y="86"/>
                </a:cxn>
                <a:cxn ang="0">
                  <a:pos x="252" y="70"/>
                </a:cxn>
                <a:cxn ang="0">
                  <a:pos x="226" y="44"/>
                </a:cxn>
                <a:cxn ang="0">
                  <a:pos x="204" y="38"/>
                </a:cxn>
                <a:cxn ang="0">
                  <a:pos x="194" y="28"/>
                </a:cxn>
                <a:cxn ang="0">
                  <a:pos x="170" y="18"/>
                </a:cxn>
                <a:cxn ang="0">
                  <a:pos x="170" y="2"/>
                </a:cxn>
                <a:cxn ang="0">
                  <a:pos x="164" y="0"/>
                </a:cxn>
                <a:cxn ang="0">
                  <a:pos x="148" y="12"/>
                </a:cxn>
                <a:cxn ang="0">
                  <a:pos x="140" y="26"/>
                </a:cxn>
                <a:cxn ang="0">
                  <a:pos x="126" y="46"/>
                </a:cxn>
                <a:cxn ang="0">
                  <a:pos x="120" y="52"/>
                </a:cxn>
                <a:cxn ang="0">
                  <a:pos x="116" y="48"/>
                </a:cxn>
                <a:cxn ang="0">
                  <a:pos x="102" y="40"/>
                </a:cxn>
                <a:cxn ang="0">
                  <a:pos x="88" y="40"/>
                </a:cxn>
                <a:cxn ang="0">
                  <a:pos x="62" y="50"/>
                </a:cxn>
                <a:cxn ang="0">
                  <a:pos x="26" y="44"/>
                </a:cxn>
                <a:cxn ang="0">
                  <a:pos x="20" y="32"/>
                </a:cxn>
                <a:cxn ang="0">
                  <a:pos x="8" y="18"/>
                </a:cxn>
                <a:cxn ang="0">
                  <a:pos x="4" y="36"/>
                </a:cxn>
                <a:cxn ang="0">
                  <a:pos x="0" y="40"/>
                </a:cxn>
                <a:cxn ang="0">
                  <a:pos x="10" y="42"/>
                </a:cxn>
                <a:cxn ang="0">
                  <a:pos x="40" y="76"/>
                </a:cxn>
                <a:cxn ang="0">
                  <a:pos x="98" y="96"/>
                </a:cxn>
                <a:cxn ang="0">
                  <a:pos x="112" y="112"/>
                </a:cxn>
                <a:cxn ang="0">
                  <a:pos x="124" y="150"/>
                </a:cxn>
                <a:cxn ang="0">
                  <a:pos x="146" y="162"/>
                </a:cxn>
                <a:cxn ang="0">
                  <a:pos x="180" y="144"/>
                </a:cxn>
                <a:cxn ang="0">
                  <a:pos x="184" y="144"/>
                </a:cxn>
                <a:cxn ang="0">
                  <a:pos x="200" y="146"/>
                </a:cxn>
                <a:cxn ang="0">
                  <a:pos x="198" y="152"/>
                </a:cxn>
                <a:cxn ang="0">
                  <a:pos x="186" y="186"/>
                </a:cxn>
                <a:cxn ang="0">
                  <a:pos x="166" y="194"/>
                </a:cxn>
                <a:cxn ang="0">
                  <a:pos x="152" y="222"/>
                </a:cxn>
                <a:cxn ang="0">
                  <a:pos x="148" y="234"/>
                </a:cxn>
                <a:cxn ang="0">
                  <a:pos x="172" y="252"/>
                </a:cxn>
                <a:cxn ang="0">
                  <a:pos x="182" y="254"/>
                </a:cxn>
                <a:cxn ang="0">
                  <a:pos x="194" y="270"/>
                </a:cxn>
                <a:cxn ang="0">
                  <a:pos x="204" y="262"/>
                </a:cxn>
                <a:cxn ang="0">
                  <a:pos x="214" y="264"/>
                </a:cxn>
                <a:cxn ang="0">
                  <a:pos x="224" y="270"/>
                </a:cxn>
                <a:cxn ang="0">
                  <a:pos x="236" y="286"/>
                </a:cxn>
                <a:cxn ang="0">
                  <a:pos x="242" y="284"/>
                </a:cxn>
                <a:cxn ang="0">
                  <a:pos x="264" y="288"/>
                </a:cxn>
                <a:cxn ang="0">
                  <a:pos x="304" y="286"/>
                </a:cxn>
                <a:cxn ang="0">
                  <a:pos x="318" y="278"/>
                </a:cxn>
                <a:cxn ang="0">
                  <a:pos x="312" y="268"/>
                </a:cxn>
                <a:cxn ang="0">
                  <a:pos x="322" y="256"/>
                </a:cxn>
                <a:cxn ang="0">
                  <a:pos x="324" y="238"/>
                </a:cxn>
                <a:cxn ang="0">
                  <a:pos x="326" y="230"/>
                </a:cxn>
                <a:cxn ang="0">
                  <a:pos x="340" y="222"/>
                </a:cxn>
                <a:cxn ang="0">
                  <a:pos x="356" y="226"/>
                </a:cxn>
                <a:cxn ang="0">
                  <a:pos x="378" y="238"/>
                </a:cxn>
                <a:cxn ang="0">
                  <a:pos x="364" y="210"/>
                </a:cxn>
                <a:cxn ang="0">
                  <a:pos x="348" y="194"/>
                </a:cxn>
                <a:cxn ang="0">
                  <a:pos x="294" y="170"/>
                </a:cxn>
                <a:cxn ang="0">
                  <a:pos x="292" y="146"/>
                </a:cxn>
                <a:cxn ang="0">
                  <a:pos x="270" y="94"/>
                </a:cxn>
              </a:cxnLst>
              <a:rect l="0" t="0" r="r" b="b"/>
              <a:pathLst>
                <a:path w="378" h="292">
                  <a:moveTo>
                    <a:pt x="264" y="86"/>
                  </a:moveTo>
                  <a:lnTo>
                    <a:pt x="264" y="86"/>
                  </a:lnTo>
                  <a:lnTo>
                    <a:pt x="258" y="78"/>
                  </a:lnTo>
                  <a:lnTo>
                    <a:pt x="252" y="70"/>
                  </a:lnTo>
                  <a:lnTo>
                    <a:pt x="240" y="46"/>
                  </a:lnTo>
                  <a:lnTo>
                    <a:pt x="226" y="44"/>
                  </a:lnTo>
                  <a:lnTo>
                    <a:pt x="214" y="42"/>
                  </a:lnTo>
                  <a:lnTo>
                    <a:pt x="204" y="38"/>
                  </a:lnTo>
                  <a:lnTo>
                    <a:pt x="198" y="34"/>
                  </a:lnTo>
                  <a:lnTo>
                    <a:pt x="194" y="28"/>
                  </a:lnTo>
                  <a:lnTo>
                    <a:pt x="188" y="24"/>
                  </a:lnTo>
                  <a:lnTo>
                    <a:pt x="170" y="18"/>
                  </a:lnTo>
                  <a:lnTo>
                    <a:pt x="166" y="16"/>
                  </a:lnTo>
                  <a:lnTo>
                    <a:pt x="170" y="2"/>
                  </a:lnTo>
                  <a:lnTo>
                    <a:pt x="168" y="2"/>
                  </a:lnTo>
                  <a:lnTo>
                    <a:pt x="164" y="0"/>
                  </a:lnTo>
                  <a:lnTo>
                    <a:pt x="152" y="8"/>
                  </a:lnTo>
                  <a:lnTo>
                    <a:pt x="148" y="12"/>
                  </a:lnTo>
                  <a:lnTo>
                    <a:pt x="144" y="16"/>
                  </a:lnTo>
                  <a:lnTo>
                    <a:pt x="140" y="26"/>
                  </a:lnTo>
                  <a:lnTo>
                    <a:pt x="132" y="32"/>
                  </a:lnTo>
                  <a:lnTo>
                    <a:pt x="126" y="46"/>
                  </a:lnTo>
                  <a:lnTo>
                    <a:pt x="124" y="50"/>
                  </a:lnTo>
                  <a:lnTo>
                    <a:pt x="120" y="52"/>
                  </a:lnTo>
                  <a:lnTo>
                    <a:pt x="118" y="52"/>
                  </a:lnTo>
                  <a:lnTo>
                    <a:pt x="116" y="48"/>
                  </a:lnTo>
                  <a:lnTo>
                    <a:pt x="108" y="42"/>
                  </a:lnTo>
                  <a:lnTo>
                    <a:pt x="102" y="40"/>
                  </a:lnTo>
                  <a:lnTo>
                    <a:pt x="96" y="38"/>
                  </a:lnTo>
                  <a:lnTo>
                    <a:pt x="88" y="40"/>
                  </a:lnTo>
                  <a:lnTo>
                    <a:pt x="76" y="46"/>
                  </a:lnTo>
                  <a:lnTo>
                    <a:pt x="62" y="50"/>
                  </a:lnTo>
                  <a:lnTo>
                    <a:pt x="32" y="50"/>
                  </a:lnTo>
                  <a:lnTo>
                    <a:pt x="26" y="44"/>
                  </a:lnTo>
                  <a:lnTo>
                    <a:pt x="22" y="38"/>
                  </a:lnTo>
                  <a:lnTo>
                    <a:pt x="20" y="32"/>
                  </a:lnTo>
                  <a:lnTo>
                    <a:pt x="20" y="22"/>
                  </a:lnTo>
                  <a:lnTo>
                    <a:pt x="8" y="18"/>
                  </a:lnTo>
                  <a:lnTo>
                    <a:pt x="4" y="34"/>
                  </a:lnTo>
                  <a:lnTo>
                    <a:pt x="4" y="36"/>
                  </a:lnTo>
                  <a:lnTo>
                    <a:pt x="2" y="36"/>
                  </a:lnTo>
                  <a:lnTo>
                    <a:pt x="0" y="40"/>
                  </a:lnTo>
                  <a:lnTo>
                    <a:pt x="8" y="42"/>
                  </a:lnTo>
                  <a:lnTo>
                    <a:pt x="10" y="42"/>
                  </a:lnTo>
                  <a:lnTo>
                    <a:pt x="28" y="66"/>
                  </a:lnTo>
                  <a:lnTo>
                    <a:pt x="40" y="76"/>
                  </a:lnTo>
                  <a:lnTo>
                    <a:pt x="68" y="86"/>
                  </a:lnTo>
                  <a:lnTo>
                    <a:pt x="98" y="96"/>
                  </a:lnTo>
                  <a:lnTo>
                    <a:pt x="104" y="102"/>
                  </a:lnTo>
                  <a:lnTo>
                    <a:pt x="112" y="112"/>
                  </a:lnTo>
                  <a:lnTo>
                    <a:pt x="118" y="128"/>
                  </a:lnTo>
                  <a:lnTo>
                    <a:pt x="124" y="150"/>
                  </a:lnTo>
                  <a:lnTo>
                    <a:pt x="140" y="158"/>
                  </a:lnTo>
                  <a:lnTo>
                    <a:pt x="146" y="162"/>
                  </a:lnTo>
                  <a:lnTo>
                    <a:pt x="152" y="162"/>
                  </a:lnTo>
                  <a:lnTo>
                    <a:pt x="180" y="144"/>
                  </a:lnTo>
                  <a:lnTo>
                    <a:pt x="182" y="142"/>
                  </a:lnTo>
                  <a:lnTo>
                    <a:pt x="184" y="144"/>
                  </a:lnTo>
                  <a:lnTo>
                    <a:pt x="198" y="146"/>
                  </a:lnTo>
                  <a:lnTo>
                    <a:pt x="200" y="146"/>
                  </a:lnTo>
                  <a:lnTo>
                    <a:pt x="200" y="150"/>
                  </a:lnTo>
                  <a:lnTo>
                    <a:pt x="198" y="152"/>
                  </a:lnTo>
                  <a:lnTo>
                    <a:pt x="192" y="174"/>
                  </a:lnTo>
                  <a:lnTo>
                    <a:pt x="186" y="186"/>
                  </a:lnTo>
                  <a:lnTo>
                    <a:pt x="168" y="186"/>
                  </a:lnTo>
                  <a:lnTo>
                    <a:pt x="166" y="194"/>
                  </a:lnTo>
                  <a:lnTo>
                    <a:pt x="164" y="202"/>
                  </a:lnTo>
                  <a:lnTo>
                    <a:pt x="152" y="222"/>
                  </a:lnTo>
                  <a:lnTo>
                    <a:pt x="148" y="228"/>
                  </a:lnTo>
                  <a:lnTo>
                    <a:pt x="148" y="234"/>
                  </a:lnTo>
                  <a:lnTo>
                    <a:pt x="166" y="246"/>
                  </a:lnTo>
                  <a:lnTo>
                    <a:pt x="172" y="252"/>
                  </a:lnTo>
                  <a:lnTo>
                    <a:pt x="178" y="254"/>
                  </a:lnTo>
                  <a:lnTo>
                    <a:pt x="182" y="254"/>
                  </a:lnTo>
                  <a:lnTo>
                    <a:pt x="186" y="266"/>
                  </a:lnTo>
                  <a:lnTo>
                    <a:pt x="194" y="270"/>
                  </a:lnTo>
                  <a:lnTo>
                    <a:pt x="200" y="266"/>
                  </a:lnTo>
                  <a:lnTo>
                    <a:pt x="204" y="262"/>
                  </a:lnTo>
                  <a:lnTo>
                    <a:pt x="208" y="262"/>
                  </a:lnTo>
                  <a:lnTo>
                    <a:pt x="214" y="264"/>
                  </a:lnTo>
                  <a:lnTo>
                    <a:pt x="218" y="266"/>
                  </a:lnTo>
                  <a:lnTo>
                    <a:pt x="224" y="270"/>
                  </a:lnTo>
                  <a:lnTo>
                    <a:pt x="230" y="278"/>
                  </a:lnTo>
                  <a:lnTo>
                    <a:pt x="236" y="286"/>
                  </a:lnTo>
                  <a:lnTo>
                    <a:pt x="238" y="286"/>
                  </a:lnTo>
                  <a:lnTo>
                    <a:pt x="242" y="284"/>
                  </a:lnTo>
                  <a:lnTo>
                    <a:pt x="248" y="284"/>
                  </a:lnTo>
                  <a:lnTo>
                    <a:pt x="264" y="288"/>
                  </a:lnTo>
                  <a:lnTo>
                    <a:pt x="284" y="292"/>
                  </a:lnTo>
                  <a:lnTo>
                    <a:pt x="304" y="286"/>
                  </a:lnTo>
                  <a:lnTo>
                    <a:pt x="312" y="282"/>
                  </a:lnTo>
                  <a:lnTo>
                    <a:pt x="318" y="278"/>
                  </a:lnTo>
                  <a:lnTo>
                    <a:pt x="312" y="272"/>
                  </a:lnTo>
                  <a:lnTo>
                    <a:pt x="312" y="268"/>
                  </a:lnTo>
                  <a:lnTo>
                    <a:pt x="316" y="262"/>
                  </a:lnTo>
                  <a:lnTo>
                    <a:pt x="322" y="256"/>
                  </a:lnTo>
                  <a:lnTo>
                    <a:pt x="324" y="248"/>
                  </a:lnTo>
                  <a:lnTo>
                    <a:pt x="324" y="238"/>
                  </a:lnTo>
                  <a:lnTo>
                    <a:pt x="324" y="232"/>
                  </a:lnTo>
                  <a:lnTo>
                    <a:pt x="326" y="230"/>
                  </a:lnTo>
                  <a:lnTo>
                    <a:pt x="330" y="226"/>
                  </a:lnTo>
                  <a:lnTo>
                    <a:pt x="340" y="222"/>
                  </a:lnTo>
                  <a:lnTo>
                    <a:pt x="348" y="222"/>
                  </a:lnTo>
                  <a:lnTo>
                    <a:pt x="356" y="226"/>
                  </a:lnTo>
                  <a:lnTo>
                    <a:pt x="366" y="230"/>
                  </a:lnTo>
                  <a:lnTo>
                    <a:pt x="378" y="238"/>
                  </a:lnTo>
                  <a:lnTo>
                    <a:pt x="372" y="222"/>
                  </a:lnTo>
                  <a:lnTo>
                    <a:pt x="364" y="210"/>
                  </a:lnTo>
                  <a:lnTo>
                    <a:pt x="362" y="196"/>
                  </a:lnTo>
                  <a:lnTo>
                    <a:pt x="348" y="194"/>
                  </a:lnTo>
                  <a:lnTo>
                    <a:pt x="312" y="172"/>
                  </a:lnTo>
                  <a:lnTo>
                    <a:pt x="294" y="170"/>
                  </a:lnTo>
                  <a:lnTo>
                    <a:pt x="294" y="166"/>
                  </a:lnTo>
                  <a:lnTo>
                    <a:pt x="292" y="146"/>
                  </a:lnTo>
                  <a:lnTo>
                    <a:pt x="276" y="106"/>
                  </a:lnTo>
                  <a:lnTo>
                    <a:pt x="270" y="94"/>
                  </a:lnTo>
                  <a:lnTo>
                    <a:pt x="264" y="86"/>
                  </a:lnTo>
                  <a:close/>
                </a:path>
              </a:pathLst>
            </a:custGeom>
            <a:noFill/>
            <a:ln w="3175" cap="flat" cmpd="sng">
              <a:solidFill>
                <a:schemeClr val="bg2"/>
              </a:solidFill>
              <a:bevel/>
              <a:headEnd/>
              <a:tailEnd/>
            </a:ln>
          </p:spPr>
          <p:txBody>
            <a:bodyPr anchor="ctr"/>
            <a:lstStyle/>
            <a:p>
              <a:endParaRPr lang="zh-CN" altLang="en-US"/>
            </a:p>
          </p:txBody>
        </p:sp>
        <p:sp>
          <p:nvSpPr>
            <p:cNvPr id="8224" name="Freeform 32"/>
            <p:cNvSpPr>
              <a:spLocks/>
            </p:cNvSpPr>
            <p:nvPr/>
          </p:nvSpPr>
          <p:spPr bwMode="auto">
            <a:xfrm>
              <a:off x="4096101" y="1493072"/>
              <a:ext cx="630169" cy="898707"/>
            </a:xfrm>
            <a:custGeom>
              <a:avLst/>
              <a:gdLst/>
              <a:ahLst/>
              <a:cxnLst>
                <a:cxn ang="0">
                  <a:pos x="312" y="144"/>
                </a:cxn>
                <a:cxn ang="0">
                  <a:pos x="270" y="122"/>
                </a:cxn>
                <a:cxn ang="0">
                  <a:pos x="278" y="102"/>
                </a:cxn>
                <a:cxn ang="0">
                  <a:pos x="246" y="88"/>
                </a:cxn>
                <a:cxn ang="0">
                  <a:pos x="234" y="48"/>
                </a:cxn>
                <a:cxn ang="0">
                  <a:pos x="226" y="40"/>
                </a:cxn>
                <a:cxn ang="0">
                  <a:pos x="210" y="30"/>
                </a:cxn>
                <a:cxn ang="0">
                  <a:pos x="200" y="0"/>
                </a:cxn>
                <a:cxn ang="0">
                  <a:pos x="178" y="16"/>
                </a:cxn>
                <a:cxn ang="0">
                  <a:pos x="146" y="64"/>
                </a:cxn>
                <a:cxn ang="0">
                  <a:pos x="130" y="68"/>
                </a:cxn>
                <a:cxn ang="0">
                  <a:pos x="114" y="78"/>
                </a:cxn>
                <a:cxn ang="0">
                  <a:pos x="80" y="96"/>
                </a:cxn>
                <a:cxn ang="0">
                  <a:pos x="50" y="94"/>
                </a:cxn>
                <a:cxn ang="0">
                  <a:pos x="42" y="56"/>
                </a:cxn>
                <a:cxn ang="0">
                  <a:pos x="16" y="96"/>
                </a:cxn>
                <a:cxn ang="0">
                  <a:pos x="0" y="122"/>
                </a:cxn>
                <a:cxn ang="0">
                  <a:pos x="38" y="186"/>
                </a:cxn>
                <a:cxn ang="0">
                  <a:pos x="12" y="200"/>
                </a:cxn>
                <a:cxn ang="0">
                  <a:pos x="48" y="240"/>
                </a:cxn>
                <a:cxn ang="0">
                  <a:pos x="36" y="284"/>
                </a:cxn>
                <a:cxn ang="0">
                  <a:pos x="8" y="332"/>
                </a:cxn>
                <a:cxn ang="0">
                  <a:pos x="48" y="376"/>
                </a:cxn>
                <a:cxn ang="0">
                  <a:pos x="32" y="416"/>
                </a:cxn>
                <a:cxn ang="0">
                  <a:pos x="14" y="456"/>
                </a:cxn>
                <a:cxn ang="0">
                  <a:pos x="14" y="468"/>
                </a:cxn>
                <a:cxn ang="0">
                  <a:pos x="28" y="488"/>
                </a:cxn>
                <a:cxn ang="0">
                  <a:pos x="80" y="500"/>
                </a:cxn>
                <a:cxn ang="0">
                  <a:pos x="122" y="486"/>
                </a:cxn>
                <a:cxn ang="0">
                  <a:pos x="158" y="400"/>
                </a:cxn>
                <a:cxn ang="0">
                  <a:pos x="240" y="332"/>
                </a:cxn>
                <a:cxn ang="0">
                  <a:pos x="226" y="302"/>
                </a:cxn>
                <a:cxn ang="0">
                  <a:pos x="196" y="292"/>
                </a:cxn>
                <a:cxn ang="0">
                  <a:pos x="176" y="256"/>
                </a:cxn>
                <a:cxn ang="0">
                  <a:pos x="146" y="240"/>
                </a:cxn>
                <a:cxn ang="0">
                  <a:pos x="110" y="226"/>
                </a:cxn>
                <a:cxn ang="0">
                  <a:pos x="96" y="210"/>
                </a:cxn>
                <a:cxn ang="0">
                  <a:pos x="110" y="192"/>
                </a:cxn>
                <a:cxn ang="0">
                  <a:pos x="112" y="164"/>
                </a:cxn>
                <a:cxn ang="0">
                  <a:pos x="120" y="152"/>
                </a:cxn>
                <a:cxn ang="0">
                  <a:pos x="150" y="140"/>
                </a:cxn>
                <a:cxn ang="0">
                  <a:pos x="140" y="128"/>
                </a:cxn>
                <a:cxn ang="0">
                  <a:pos x="160" y="116"/>
                </a:cxn>
                <a:cxn ang="0">
                  <a:pos x="208" y="134"/>
                </a:cxn>
                <a:cxn ang="0">
                  <a:pos x="210" y="152"/>
                </a:cxn>
                <a:cxn ang="0">
                  <a:pos x="210" y="180"/>
                </a:cxn>
                <a:cxn ang="0">
                  <a:pos x="234" y="172"/>
                </a:cxn>
                <a:cxn ang="0">
                  <a:pos x="246" y="210"/>
                </a:cxn>
                <a:cxn ang="0">
                  <a:pos x="300" y="244"/>
                </a:cxn>
                <a:cxn ang="0">
                  <a:pos x="336" y="188"/>
                </a:cxn>
                <a:cxn ang="0">
                  <a:pos x="350" y="176"/>
                </a:cxn>
                <a:cxn ang="0">
                  <a:pos x="326" y="156"/>
                </a:cxn>
              </a:cxnLst>
              <a:rect l="0" t="0" r="r" b="b"/>
              <a:pathLst>
                <a:path w="352" h="502">
                  <a:moveTo>
                    <a:pt x="324" y="152"/>
                  </a:moveTo>
                  <a:lnTo>
                    <a:pt x="318" y="148"/>
                  </a:lnTo>
                  <a:lnTo>
                    <a:pt x="316" y="148"/>
                  </a:lnTo>
                  <a:lnTo>
                    <a:pt x="312" y="144"/>
                  </a:lnTo>
                  <a:lnTo>
                    <a:pt x="290" y="136"/>
                  </a:lnTo>
                  <a:lnTo>
                    <a:pt x="284" y="136"/>
                  </a:lnTo>
                  <a:lnTo>
                    <a:pt x="280" y="138"/>
                  </a:lnTo>
                  <a:lnTo>
                    <a:pt x="270" y="122"/>
                  </a:lnTo>
                  <a:lnTo>
                    <a:pt x="272" y="120"/>
                  </a:lnTo>
                  <a:lnTo>
                    <a:pt x="278" y="112"/>
                  </a:lnTo>
                  <a:lnTo>
                    <a:pt x="278" y="104"/>
                  </a:lnTo>
                  <a:lnTo>
                    <a:pt x="278" y="102"/>
                  </a:lnTo>
                  <a:lnTo>
                    <a:pt x="282" y="96"/>
                  </a:lnTo>
                  <a:lnTo>
                    <a:pt x="280" y="94"/>
                  </a:lnTo>
                  <a:lnTo>
                    <a:pt x="268" y="92"/>
                  </a:lnTo>
                  <a:lnTo>
                    <a:pt x="246" y="88"/>
                  </a:lnTo>
                  <a:lnTo>
                    <a:pt x="234" y="76"/>
                  </a:lnTo>
                  <a:lnTo>
                    <a:pt x="230" y="68"/>
                  </a:lnTo>
                  <a:lnTo>
                    <a:pt x="228" y="64"/>
                  </a:lnTo>
                  <a:lnTo>
                    <a:pt x="234" y="48"/>
                  </a:lnTo>
                  <a:lnTo>
                    <a:pt x="234" y="36"/>
                  </a:lnTo>
                  <a:lnTo>
                    <a:pt x="234" y="32"/>
                  </a:lnTo>
                  <a:lnTo>
                    <a:pt x="228" y="40"/>
                  </a:lnTo>
                  <a:lnTo>
                    <a:pt x="226" y="40"/>
                  </a:lnTo>
                  <a:lnTo>
                    <a:pt x="226" y="42"/>
                  </a:lnTo>
                  <a:lnTo>
                    <a:pt x="224" y="40"/>
                  </a:lnTo>
                  <a:lnTo>
                    <a:pt x="222" y="40"/>
                  </a:lnTo>
                  <a:lnTo>
                    <a:pt x="210" y="30"/>
                  </a:lnTo>
                  <a:lnTo>
                    <a:pt x="208" y="28"/>
                  </a:lnTo>
                  <a:lnTo>
                    <a:pt x="208" y="26"/>
                  </a:lnTo>
                  <a:lnTo>
                    <a:pt x="206" y="8"/>
                  </a:lnTo>
                  <a:lnTo>
                    <a:pt x="200" y="0"/>
                  </a:lnTo>
                  <a:lnTo>
                    <a:pt x="188" y="0"/>
                  </a:lnTo>
                  <a:lnTo>
                    <a:pt x="180" y="14"/>
                  </a:lnTo>
                  <a:lnTo>
                    <a:pt x="180" y="16"/>
                  </a:lnTo>
                  <a:lnTo>
                    <a:pt x="178" y="16"/>
                  </a:lnTo>
                  <a:lnTo>
                    <a:pt x="160" y="12"/>
                  </a:lnTo>
                  <a:lnTo>
                    <a:pt x="156" y="30"/>
                  </a:lnTo>
                  <a:lnTo>
                    <a:pt x="156" y="48"/>
                  </a:lnTo>
                  <a:lnTo>
                    <a:pt x="146" y="64"/>
                  </a:lnTo>
                  <a:lnTo>
                    <a:pt x="146" y="66"/>
                  </a:lnTo>
                  <a:lnTo>
                    <a:pt x="144" y="66"/>
                  </a:lnTo>
                  <a:lnTo>
                    <a:pt x="142" y="66"/>
                  </a:lnTo>
                  <a:lnTo>
                    <a:pt x="130" y="68"/>
                  </a:lnTo>
                  <a:lnTo>
                    <a:pt x="118" y="76"/>
                  </a:lnTo>
                  <a:lnTo>
                    <a:pt x="118" y="78"/>
                  </a:lnTo>
                  <a:lnTo>
                    <a:pt x="116" y="78"/>
                  </a:lnTo>
                  <a:lnTo>
                    <a:pt x="114" y="78"/>
                  </a:lnTo>
                  <a:lnTo>
                    <a:pt x="92" y="70"/>
                  </a:lnTo>
                  <a:lnTo>
                    <a:pt x="90" y="78"/>
                  </a:lnTo>
                  <a:lnTo>
                    <a:pt x="90" y="80"/>
                  </a:lnTo>
                  <a:lnTo>
                    <a:pt x="80" y="96"/>
                  </a:lnTo>
                  <a:lnTo>
                    <a:pt x="76" y="100"/>
                  </a:lnTo>
                  <a:lnTo>
                    <a:pt x="74" y="100"/>
                  </a:lnTo>
                  <a:lnTo>
                    <a:pt x="64" y="100"/>
                  </a:lnTo>
                  <a:lnTo>
                    <a:pt x="50" y="94"/>
                  </a:lnTo>
                  <a:lnTo>
                    <a:pt x="48" y="92"/>
                  </a:lnTo>
                  <a:lnTo>
                    <a:pt x="48" y="90"/>
                  </a:lnTo>
                  <a:lnTo>
                    <a:pt x="46" y="72"/>
                  </a:lnTo>
                  <a:lnTo>
                    <a:pt x="42" y="56"/>
                  </a:lnTo>
                  <a:lnTo>
                    <a:pt x="38" y="52"/>
                  </a:lnTo>
                  <a:lnTo>
                    <a:pt x="34" y="64"/>
                  </a:lnTo>
                  <a:lnTo>
                    <a:pt x="24" y="76"/>
                  </a:lnTo>
                  <a:lnTo>
                    <a:pt x="16" y="96"/>
                  </a:lnTo>
                  <a:lnTo>
                    <a:pt x="14" y="96"/>
                  </a:lnTo>
                  <a:lnTo>
                    <a:pt x="8" y="108"/>
                  </a:lnTo>
                  <a:lnTo>
                    <a:pt x="6" y="114"/>
                  </a:lnTo>
                  <a:lnTo>
                    <a:pt x="0" y="122"/>
                  </a:lnTo>
                  <a:lnTo>
                    <a:pt x="6" y="140"/>
                  </a:lnTo>
                  <a:lnTo>
                    <a:pt x="30" y="168"/>
                  </a:lnTo>
                  <a:lnTo>
                    <a:pt x="38" y="184"/>
                  </a:lnTo>
                  <a:lnTo>
                    <a:pt x="38" y="186"/>
                  </a:lnTo>
                  <a:lnTo>
                    <a:pt x="36" y="188"/>
                  </a:lnTo>
                  <a:lnTo>
                    <a:pt x="30" y="196"/>
                  </a:lnTo>
                  <a:lnTo>
                    <a:pt x="28" y="196"/>
                  </a:lnTo>
                  <a:lnTo>
                    <a:pt x="12" y="200"/>
                  </a:lnTo>
                  <a:lnTo>
                    <a:pt x="14" y="212"/>
                  </a:lnTo>
                  <a:lnTo>
                    <a:pt x="26" y="220"/>
                  </a:lnTo>
                  <a:lnTo>
                    <a:pt x="42" y="224"/>
                  </a:lnTo>
                  <a:lnTo>
                    <a:pt x="48" y="240"/>
                  </a:lnTo>
                  <a:lnTo>
                    <a:pt x="44" y="268"/>
                  </a:lnTo>
                  <a:lnTo>
                    <a:pt x="38" y="280"/>
                  </a:lnTo>
                  <a:lnTo>
                    <a:pt x="38" y="284"/>
                  </a:lnTo>
                  <a:lnTo>
                    <a:pt x="36" y="284"/>
                  </a:lnTo>
                  <a:lnTo>
                    <a:pt x="16" y="286"/>
                  </a:lnTo>
                  <a:lnTo>
                    <a:pt x="16" y="294"/>
                  </a:lnTo>
                  <a:lnTo>
                    <a:pt x="10" y="312"/>
                  </a:lnTo>
                  <a:lnTo>
                    <a:pt x="8" y="332"/>
                  </a:lnTo>
                  <a:lnTo>
                    <a:pt x="12" y="344"/>
                  </a:lnTo>
                  <a:lnTo>
                    <a:pt x="36" y="358"/>
                  </a:lnTo>
                  <a:lnTo>
                    <a:pt x="38" y="360"/>
                  </a:lnTo>
                  <a:lnTo>
                    <a:pt x="48" y="376"/>
                  </a:lnTo>
                  <a:lnTo>
                    <a:pt x="48" y="378"/>
                  </a:lnTo>
                  <a:lnTo>
                    <a:pt x="48" y="380"/>
                  </a:lnTo>
                  <a:lnTo>
                    <a:pt x="34" y="408"/>
                  </a:lnTo>
                  <a:lnTo>
                    <a:pt x="32" y="416"/>
                  </a:lnTo>
                  <a:lnTo>
                    <a:pt x="24" y="434"/>
                  </a:lnTo>
                  <a:lnTo>
                    <a:pt x="20" y="448"/>
                  </a:lnTo>
                  <a:lnTo>
                    <a:pt x="20" y="450"/>
                  </a:lnTo>
                  <a:lnTo>
                    <a:pt x="14" y="456"/>
                  </a:lnTo>
                  <a:lnTo>
                    <a:pt x="12" y="462"/>
                  </a:lnTo>
                  <a:lnTo>
                    <a:pt x="12" y="464"/>
                  </a:lnTo>
                  <a:lnTo>
                    <a:pt x="12" y="466"/>
                  </a:lnTo>
                  <a:lnTo>
                    <a:pt x="14" y="468"/>
                  </a:lnTo>
                  <a:lnTo>
                    <a:pt x="22" y="476"/>
                  </a:lnTo>
                  <a:lnTo>
                    <a:pt x="26" y="482"/>
                  </a:lnTo>
                  <a:lnTo>
                    <a:pt x="28" y="484"/>
                  </a:lnTo>
                  <a:lnTo>
                    <a:pt x="28" y="488"/>
                  </a:lnTo>
                  <a:lnTo>
                    <a:pt x="30" y="492"/>
                  </a:lnTo>
                  <a:lnTo>
                    <a:pt x="36" y="496"/>
                  </a:lnTo>
                  <a:lnTo>
                    <a:pt x="66" y="502"/>
                  </a:lnTo>
                  <a:lnTo>
                    <a:pt x="80" y="500"/>
                  </a:lnTo>
                  <a:lnTo>
                    <a:pt x="94" y="496"/>
                  </a:lnTo>
                  <a:lnTo>
                    <a:pt x="108" y="492"/>
                  </a:lnTo>
                  <a:lnTo>
                    <a:pt x="122" y="492"/>
                  </a:lnTo>
                  <a:lnTo>
                    <a:pt x="122" y="486"/>
                  </a:lnTo>
                  <a:lnTo>
                    <a:pt x="114" y="464"/>
                  </a:lnTo>
                  <a:lnTo>
                    <a:pt x="112" y="464"/>
                  </a:lnTo>
                  <a:lnTo>
                    <a:pt x="114" y="464"/>
                  </a:lnTo>
                  <a:lnTo>
                    <a:pt x="158" y="400"/>
                  </a:lnTo>
                  <a:lnTo>
                    <a:pt x="208" y="352"/>
                  </a:lnTo>
                  <a:lnTo>
                    <a:pt x="224" y="348"/>
                  </a:lnTo>
                  <a:lnTo>
                    <a:pt x="232" y="338"/>
                  </a:lnTo>
                  <a:lnTo>
                    <a:pt x="240" y="332"/>
                  </a:lnTo>
                  <a:lnTo>
                    <a:pt x="250" y="328"/>
                  </a:lnTo>
                  <a:lnTo>
                    <a:pt x="246" y="324"/>
                  </a:lnTo>
                  <a:lnTo>
                    <a:pt x="234" y="312"/>
                  </a:lnTo>
                  <a:lnTo>
                    <a:pt x="226" y="302"/>
                  </a:lnTo>
                  <a:lnTo>
                    <a:pt x="226" y="300"/>
                  </a:lnTo>
                  <a:lnTo>
                    <a:pt x="230" y="294"/>
                  </a:lnTo>
                  <a:lnTo>
                    <a:pt x="218" y="296"/>
                  </a:lnTo>
                  <a:lnTo>
                    <a:pt x="196" y="292"/>
                  </a:lnTo>
                  <a:lnTo>
                    <a:pt x="186" y="284"/>
                  </a:lnTo>
                  <a:lnTo>
                    <a:pt x="182" y="280"/>
                  </a:lnTo>
                  <a:lnTo>
                    <a:pt x="180" y="276"/>
                  </a:lnTo>
                  <a:lnTo>
                    <a:pt x="176" y="256"/>
                  </a:lnTo>
                  <a:lnTo>
                    <a:pt x="174" y="238"/>
                  </a:lnTo>
                  <a:lnTo>
                    <a:pt x="170" y="242"/>
                  </a:lnTo>
                  <a:lnTo>
                    <a:pt x="164" y="244"/>
                  </a:lnTo>
                  <a:lnTo>
                    <a:pt x="146" y="240"/>
                  </a:lnTo>
                  <a:lnTo>
                    <a:pt x="136" y="232"/>
                  </a:lnTo>
                  <a:lnTo>
                    <a:pt x="122" y="228"/>
                  </a:lnTo>
                  <a:lnTo>
                    <a:pt x="116" y="228"/>
                  </a:lnTo>
                  <a:lnTo>
                    <a:pt x="110" y="226"/>
                  </a:lnTo>
                  <a:lnTo>
                    <a:pt x="104" y="224"/>
                  </a:lnTo>
                  <a:lnTo>
                    <a:pt x="98" y="218"/>
                  </a:lnTo>
                  <a:lnTo>
                    <a:pt x="96" y="214"/>
                  </a:lnTo>
                  <a:lnTo>
                    <a:pt x="96" y="210"/>
                  </a:lnTo>
                  <a:lnTo>
                    <a:pt x="96" y="206"/>
                  </a:lnTo>
                  <a:lnTo>
                    <a:pt x="98" y="202"/>
                  </a:lnTo>
                  <a:lnTo>
                    <a:pt x="102" y="200"/>
                  </a:lnTo>
                  <a:lnTo>
                    <a:pt x="110" y="192"/>
                  </a:lnTo>
                  <a:lnTo>
                    <a:pt x="118" y="180"/>
                  </a:lnTo>
                  <a:lnTo>
                    <a:pt x="116" y="176"/>
                  </a:lnTo>
                  <a:lnTo>
                    <a:pt x="114" y="170"/>
                  </a:lnTo>
                  <a:lnTo>
                    <a:pt x="112" y="164"/>
                  </a:lnTo>
                  <a:lnTo>
                    <a:pt x="114" y="160"/>
                  </a:lnTo>
                  <a:lnTo>
                    <a:pt x="114" y="158"/>
                  </a:lnTo>
                  <a:lnTo>
                    <a:pt x="116" y="156"/>
                  </a:lnTo>
                  <a:lnTo>
                    <a:pt x="120" y="152"/>
                  </a:lnTo>
                  <a:lnTo>
                    <a:pt x="134" y="148"/>
                  </a:lnTo>
                  <a:lnTo>
                    <a:pt x="136" y="142"/>
                  </a:lnTo>
                  <a:lnTo>
                    <a:pt x="138" y="140"/>
                  </a:lnTo>
                  <a:lnTo>
                    <a:pt x="150" y="140"/>
                  </a:lnTo>
                  <a:lnTo>
                    <a:pt x="148" y="140"/>
                  </a:lnTo>
                  <a:lnTo>
                    <a:pt x="142" y="136"/>
                  </a:lnTo>
                  <a:lnTo>
                    <a:pt x="140" y="132"/>
                  </a:lnTo>
                  <a:lnTo>
                    <a:pt x="140" y="128"/>
                  </a:lnTo>
                  <a:lnTo>
                    <a:pt x="142" y="122"/>
                  </a:lnTo>
                  <a:lnTo>
                    <a:pt x="148" y="118"/>
                  </a:lnTo>
                  <a:lnTo>
                    <a:pt x="154" y="116"/>
                  </a:lnTo>
                  <a:lnTo>
                    <a:pt x="160" y="116"/>
                  </a:lnTo>
                  <a:lnTo>
                    <a:pt x="166" y="118"/>
                  </a:lnTo>
                  <a:lnTo>
                    <a:pt x="172" y="120"/>
                  </a:lnTo>
                  <a:lnTo>
                    <a:pt x="190" y="134"/>
                  </a:lnTo>
                  <a:lnTo>
                    <a:pt x="208" y="134"/>
                  </a:lnTo>
                  <a:lnTo>
                    <a:pt x="214" y="138"/>
                  </a:lnTo>
                  <a:lnTo>
                    <a:pt x="214" y="144"/>
                  </a:lnTo>
                  <a:lnTo>
                    <a:pt x="214" y="150"/>
                  </a:lnTo>
                  <a:lnTo>
                    <a:pt x="210" y="152"/>
                  </a:lnTo>
                  <a:lnTo>
                    <a:pt x="206" y="152"/>
                  </a:lnTo>
                  <a:lnTo>
                    <a:pt x="204" y="154"/>
                  </a:lnTo>
                  <a:lnTo>
                    <a:pt x="202" y="160"/>
                  </a:lnTo>
                  <a:lnTo>
                    <a:pt x="210" y="180"/>
                  </a:lnTo>
                  <a:lnTo>
                    <a:pt x="218" y="170"/>
                  </a:lnTo>
                  <a:lnTo>
                    <a:pt x="226" y="168"/>
                  </a:lnTo>
                  <a:lnTo>
                    <a:pt x="230" y="168"/>
                  </a:lnTo>
                  <a:lnTo>
                    <a:pt x="234" y="172"/>
                  </a:lnTo>
                  <a:lnTo>
                    <a:pt x="236" y="180"/>
                  </a:lnTo>
                  <a:lnTo>
                    <a:pt x="240" y="190"/>
                  </a:lnTo>
                  <a:lnTo>
                    <a:pt x="242" y="202"/>
                  </a:lnTo>
                  <a:lnTo>
                    <a:pt x="246" y="210"/>
                  </a:lnTo>
                  <a:lnTo>
                    <a:pt x="252" y="220"/>
                  </a:lnTo>
                  <a:lnTo>
                    <a:pt x="264" y="236"/>
                  </a:lnTo>
                  <a:lnTo>
                    <a:pt x="268" y="248"/>
                  </a:lnTo>
                  <a:lnTo>
                    <a:pt x="300" y="244"/>
                  </a:lnTo>
                  <a:lnTo>
                    <a:pt x="314" y="236"/>
                  </a:lnTo>
                  <a:lnTo>
                    <a:pt x="326" y="220"/>
                  </a:lnTo>
                  <a:lnTo>
                    <a:pt x="332" y="204"/>
                  </a:lnTo>
                  <a:lnTo>
                    <a:pt x="336" y="188"/>
                  </a:lnTo>
                  <a:lnTo>
                    <a:pt x="336" y="186"/>
                  </a:lnTo>
                  <a:lnTo>
                    <a:pt x="336" y="184"/>
                  </a:lnTo>
                  <a:lnTo>
                    <a:pt x="338" y="184"/>
                  </a:lnTo>
                  <a:lnTo>
                    <a:pt x="350" y="176"/>
                  </a:lnTo>
                  <a:lnTo>
                    <a:pt x="352" y="176"/>
                  </a:lnTo>
                  <a:lnTo>
                    <a:pt x="350" y="174"/>
                  </a:lnTo>
                  <a:lnTo>
                    <a:pt x="330" y="168"/>
                  </a:lnTo>
                  <a:lnTo>
                    <a:pt x="326" y="156"/>
                  </a:lnTo>
                  <a:lnTo>
                    <a:pt x="324" y="152"/>
                  </a:lnTo>
                  <a:close/>
                </a:path>
              </a:pathLst>
            </a:custGeom>
            <a:noFill/>
            <a:ln w="3175" cap="flat" cmpd="sng">
              <a:solidFill>
                <a:schemeClr val="bg2"/>
              </a:solidFill>
              <a:bevel/>
              <a:headEnd/>
              <a:tailEnd/>
            </a:ln>
          </p:spPr>
          <p:txBody>
            <a:bodyPr anchor="ctr"/>
            <a:lstStyle/>
            <a:p>
              <a:endParaRPr lang="zh-CN" altLang="en-US"/>
            </a:p>
          </p:txBody>
        </p:sp>
        <p:sp>
          <p:nvSpPr>
            <p:cNvPr id="8225" name="Freeform 33"/>
            <p:cNvSpPr>
              <a:spLocks/>
            </p:cNvSpPr>
            <p:nvPr/>
          </p:nvSpPr>
          <p:spPr bwMode="auto">
            <a:xfrm>
              <a:off x="3809660" y="2355974"/>
              <a:ext cx="662394" cy="655233"/>
            </a:xfrm>
            <a:custGeom>
              <a:avLst/>
              <a:gdLst/>
              <a:ahLst/>
              <a:cxnLst>
                <a:cxn ang="0">
                  <a:pos x="80" y="120"/>
                </a:cxn>
                <a:cxn ang="0">
                  <a:pos x="2" y="162"/>
                </a:cxn>
                <a:cxn ang="0">
                  <a:pos x="2" y="196"/>
                </a:cxn>
                <a:cxn ang="0">
                  <a:pos x="10" y="210"/>
                </a:cxn>
                <a:cxn ang="0">
                  <a:pos x="30" y="222"/>
                </a:cxn>
                <a:cxn ang="0">
                  <a:pos x="54" y="276"/>
                </a:cxn>
                <a:cxn ang="0">
                  <a:pos x="66" y="286"/>
                </a:cxn>
                <a:cxn ang="0">
                  <a:pos x="86" y="290"/>
                </a:cxn>
                <a:cxn ang="0">
                  <a:pos x="104" y="300"/>
                </a:cxn>
                <a:cxn ang="0">
                  <a:pos x="194" y="304"/>
                </a:cxn>
                <a:cxn ang="0">
                  <a:pos x="210" y="310"/>
                </a:cxn>
                <a:cxn ang="0">
                  <a:pos x="214" y="318"/>
                </a:cxn>
                <a:cxn ang="0">
                  <a:pos x="214" y="342"/>
                </a:cxn>
                <a:cxn ang="0">
                  <a:pos x="234" y="342"/>
                </a:cxn>
                <a:cxn ang="0">
                  <a:pos x="250" y="338"/>
                </a:cxn>
                <a:cxn ang="0">
                  <a:pos x="258" y="342"/>
                </a:cxn>
                <a:cxn ang="0">
                  <a:pos x="278" y="362"/>
                </a:cxn>
                <a:cxn ang="0">
                  <a:pos x="282" y="366"/>
                </a:cxn>
                <a:cxn ang="0">
                  <a:pos x="298" y="350"/>
                </a:cxn>
                <a:cxn ang="0">
                  <a:pos x="314" y="358"/>
                </a:cxn>
                <a:cxn ang="0">
                  <a:pos x="326" y="342"/>
                </a:cxn>
                <a:cxn ang="0">
                  <a:pos x="334" y="334"/>
                </a:cxn>
                <a:cxn ang="0">
                  <a:pos x="346" y="330"/>
                </a:cxn>
                <a:cxn ang="0">
                  <a:pos x="342" y="326"/>
                </a:cxn>
                <a:cxn ang="0">
                  <a:pos x="338" y="300"/>
                </a:cxn>
                <a:cxn ang="0">
                  <a:pos x="328" y="294"/>
                </a:cxn>
                <a:cxn ang="0">
                  <a:pos x="310" y="296"/>
                </a:cxn>
                <a:cxn ang="0">
                  <a:pos x="302" y="294"/>
                </a:cxn>
                <a:cxn ang="0">
                  <a:pos x="302" y="286"/>
                </a:cxn>
                <a:cxn ang="0">
                  <a:pos x="282" y="262"/>
                </a:cxn>
                <a:cxn ang="0">
                  <a:pos x="274" y="250"/>
                </a:cxn>
                <a:cxn ang="0">
                  <a:pos x="274" y="238"/>
                </a:cxn>
                <a:cxn ang="0">
                  <a:pos x="298" y="240"/>
                </a:cxn>
                <a:cxn ang="0">
                  <a:pos x="296" y="216"/>
                </a:cxn>
                <a:cxn ang="0">
                  <a:pos x="300" y="210"/>
                </a:cxn>
                <a:cxn ang="0">
                  <a:pos x="310" y="204"/>
                </a:cxn>
                <a:cxn ang="0">
                  <a:pos x="318" y="196"/>
                </a:cxn>
                <a:cxn ang="0">
                  <a:pos x="312" y="170"/>
                </a:cxn>
                <a:cxn ang="0">
                  <a:pos x="318" y="162"/>
                </a:cxn>
                <a:cxn ang="0">
                  <a:pos x="338" y="166"/>
                </a:cxn>
                <a:cxn ang="0">
                  <a:pos x="340" y="168"/>
                </a:cxn>
                <a:cxn ang="0">
                  <a:pos x="370" y="162"/>
                </a:cxn>
                <a:cxn ang="0">
                  <a:pos x="348" y="128"/>
                </a:cxn>
                <a:cxn ang="0">
                  <a:pos x="334" y="134"/>
                </a:cxn>
                <a:cxn ang="0">
                  <a:pos x="292" y="122"/>
                </a:cxn>
                <a:cxn ang="0">
                  <a:pos x="280" y="110"/>
                </a:cxn>
                <a:cxn ang="0">
                  <a:pos x="260" y="96"/>
                </a:cxn>
                <a:cxn ang="0">
                  <a:pos x="294" y="58"/>
                </a:cxn>
                <a:cxn ang="0">
                  <a:pos x="286" y="30"/>
                </a:cxn>
                <a:cxn ang="0">
                  <a:pos x="258" y="22"/>
                </a:cxn>
                <a:cxn ang="0">
                  <a:pos x="226" y="28"/>
                </a:cxn>
                <a:cxn ang="0">
                  <a:pos x="200" y="14"/>
                </a:cxn>
                <a:cxn ang="0">
                  <a:pos x="190" y="10"/>
                </a:cxn>
                <a:cxn ang="0">
                  <a:pos x="186" y="2"/>
                </a:cxn>
                <a:cxn ang="0">
                  <a:pos x="184" y="22"/>
                </a:cxn>
                <a:cxn ang="0">
                  <a:pos x="180" y="34"/>
                </a:cxn>
                <a:cxn ang="0">
                  <a:pos x="184" y="40"/>
                </a:cxn>
                <a:cxn ang="0">
                  <a:pos x="182" y="50"/>
                </a:cxn>
                <a:cxn ang="0">
                  <a:pos x="184" y="68"/>
                </a:cxn>
                <a:cxn ang="0">
                  <a:pos x="182" y="70"/>
                </a:cxn>
                <a:cxn ang="0">
                  <a:pos x="172" y="96"/>
                </a:cxn>
                <a:cxn ang="0">
                  <a:pos x="148" y="106"/>
                </a:cxn>
                <a:cxn ang="0">
                  <a:pos x="98" y="106"/>
                </a:cxn>
              </a:cxnLst>
              <a:rect l="0" t="0" r="r" b="b"/>
              <a:pathLst>
                <a:path w="370" h="366">
                  <a:moveTo>
                    <a:pt x="82" y="120"/>
                  </a:moveTo>
                  <a:lnTo>
                    <a:pt x="80" y="120"/>
                  </a:lnTo>
                  <a:lnTo>
                    <a:pt x="20" y="146"/>
                  </a:lnTo>
                  <a:lnTo>
                    <a:pt x="2" y="162"/>
                  </a:lnTo>
                  <a:lnTo>
                    <a:pt x="0" y="182"/>
                  </a:lnTo>
                  <a:lnTo>
                    <a:pt x="2" y="196"/>
                  </a:lnTo>
                  <a:lnTo>
                    <a:pt x="4" y="206"/>
                  </a:lnTo>
                  <a:lnTo>
                    <a:pt x="10" y="210"/>
                  </a:lnTo>
                  <a:lnTo>
                    <a:pt x="28" y="222"/>
                  </a:lnTo>
                  <a:lnTo>
                    <a:pt x="30" y="222"/>
                  </a:lnTo>
                  <a:lnTo>
                    <a:pt x="34" y="252"/>
                  </a:lnTo>
                  <a:lnTo>
                    <a:pt x="54" y="276"/>
                  </a:lnTo>
                  <a:lnTo>
                    <a:pt x="60" y="282"/>
                  </a:lnTo>
                  <a:lnTo>
                    <a:pt x="66" y="286"/>
                  </a:lnTo>
                  <a:lnTo>
                    <a:pt x="82" y="290"/>
                  </a:lnTo>
                  <a:lnTo>
                    <a:pt x="86" y="290"/>
                  </a:lnTo>
                  <a:lnTo>
                    <a:pt x="92" y="296"/>
                  </a:lnTo>
                  <a:lnTo>
                    <a:pt x="104" y="300"/>
                  </a:lnTo>
                  <a:lnTo>
                    <a:pt x="152" y="302"/>
                  </a:lnTo>
                  <a:lnTo>
                    <a:pt x="194" y="304"/>
                  </a:lnTo>
                  <a:lnTo>
                    <a:pt x="204" y="306"/>
                  </a:lnTo>
                  <a:lnTo>
                    <a:pt x="210" y="310"/>
                  </a:lnTo>
                  <a:lnTo>
                    <a:pt x="214" y="312"/>
                  </a:lnTo>
                  <a:lnTo>
                    <a:pt x="214" y="318"/>
                  </a:lnTo>
                  <a:lnTo>
                    <a:pt x="214" y="332"/>
                  </a:lnTo>
                  <a:lnTo>
                    <a:pt x="214" y="342"/>
                  </a:lnTo>
                  <a:lnTo>
                    <a:pt x="216" y="346"/>
                  </a:lnTo>
                  <a:lnTo>
                    <a:pt x="234" y="342"/>
                  </a:lnTo>
                  <a:lnTo>
                    <a:pt x="242" y="340"/>
                  </a:lnTo>
                  <a:lnTo>
                    <a:pt x="250" y="338"/>
                  </a:lnTo>
                  <a:lnTo>
                    <a:pt x="256" y="340"/>
                  </a:lnTo>
                  <a:lnTo>
                    <a:pt x="258" y="342"/>
                  </a:lnTo>
                  <a:lnTo>
                    <a:pt x="266" y="350"/>
                  </a:lnTo>
                  <a:lnTo>
                    <a:pt x="278" y="362"/>
                  </a:lnTo>
                  <a:lnTo>
                    <a:pt x="280" y="364"/>
                  </a:lnTo>
                  <a:lnTo>
                    <a:pt x="282" y="366"/>
                  </a:lnTo>
                  <a:lnTo>
                    <a:pt x="290" y="360"/>
                  </a:lnTo>
                  <a:lnTo>
                    <a:pt x="298" y="350"/>
                  </a:lnTo>
                  <a:lnTo>
                    <a:pt x="300" y="348"/>
                  </a:lnTo>
                  <a:lnTo>
                    <a:pt x="314" y="358"/>
                  </a:lnTo>
                  <a:lnTo>
                    <a:pt x="324" y="350"/>
                  </a:lnTo>
                  <a:lnTo>
                    <a:pt x="326" y="342"/>
                  </a:lnTo>
                  <a:lnTo>
                    <a:pt x="330" y="338"/>
                  </a:lnTo>
                  <a:lnTo>
                    <a:pt x="334" y="334"/>
                  </a:lnTo>
                  <a:lnTo>
                    <a:pt x="342" y="332"/>
                  </a:lnTo>
                  <a:lnTo>
                    <a:pt x="346" y="330"/>
                  </a:lnTo>
                  <a:lnTo>
                    <a:pt x="344" y="328"/>
                  </a:lnTo>
                  <a:lnTo>
                    <a:pt x="342" y="326"/>
                  </a:lnTo>
                  <a:lnTo>
                    <a:pt x="344" y="306"/>
                  </a:lnTo>
                  <a:lnTo>
                    <a:pt x="338" y="300"/>
                  </a:lnTo>
                  <a:lnTo>
                    <a:pt x="334" y="296"/>
                  </a:lnTo>
                  <a:lnTo>
                    <a:pt x="328" y="294"/>
                  </a:lnTo>
                  <a:lnTo>
                    <a:pt x="320" y="294"/>
                  </a:lnTo>
                  <a:lnTo>
                    <a:pt x="310" y="296"/>
                  </a:lnTo>
                  <a:lnTo>
                    <a:pt x="306" y="296"/>
                  </a:lnTo>
                  <a:lnTo>
                    <a:pt x="302" y="294"/>
                  </a:lnTo>
                  <a:lnTo>
                    <a:pt x="302" y="290"/>
                  </a:lnTo>
                  <a:lnTo>
                    <a:pt x="302" y="286"/>
                  </a:lnTo>
                  <a:lnTo>
                    <a:pt x="292" y="272"/>
                  </a:lnTo>
                  <a:lnTo>
                    <a:pt x="282" y="262"/>
                  </a:lnTo>
                  <a:lnTo>
                    <a:pt x="278" y="256"/>
                  </a:lnTo>
                  <a:lnTo>
                    <a:pt x="274" y="250"/>
                  </a:lnTo>
                  <a:lnTo>
                    <a:pt x="272" y="244"/>
                  </a:lnTo>
                  <a:lnTo>
                    <a:pt x="274" y="238"/>
                  </a:lnTo>
                  <a:lnTo>
                    <a:pt x="274" y="236"/>
                  </a:lnTo>
                  <a:lnTo>
                    <a:pt x="298" y="240"/>
                  </a:lnTo>
                  <a:lnTo>
                    <a:pt x="296" y="226"/>
                  </a:lnTo>
                  <a:lnTo>
                    <a:pt x="296" y="216"/>
                  </a:lnTo>
                  <a:lnTo>
                    <a:pt x="298" y="212"/>
                  </a:lnTo>
                  <a:lnTo>
                    <a:pt x="300" y="210"/>
                  </a:lnTo>
                  <a:lnTo>
                    <a:pt x="304" y="206"/>
                  </a:lnTo>
                  <a:lnTo>
                    <a:pt x="310" y="204"/>
                  </a:lnTo>
                  <a:lnTo>
                    <a:pt x="318" y="200"/>
                  </a:lnTo>
                  <a:lnTo>
                    <a:pt x="318" y="196"/>
                  </a:lnTo>
                  <a:lnTo>
                    <a:pt x="312" y="178"/>
                  </a:lnTo>
                  <a:lnTo>
                    <a:pt x="312" y="170"/>
                  </a:lnTo>
                  <a:lnTo>
                    <a:pt x="312" y="166"/>
                  </a:lnTo>
                  <a:lnTo>
                    <a:pt x="318" y="162"/>
                  </a:lnTo>
                  <a:lnTo>
                    <a:pt x="324" y="162"/>
                  </a:lnTo>
                  <a:lnTo>
                    <a:pt x="338" y="166"/>
                  </a:lnTo>
                  <a:lnTo>
                    <a:pt x="340" y="166"/>
                  </a:lnTo>
                  <a:lnTo>
                    <a:pt x="340" y="168"/>
                  </a:lnTo>
                  <a:lnTo>
                    <a:pt x="356" y="186"/>
                  </a:lnTo>
                  <a:lnTo>
                    <a:pt x="370" y="162"/>
                  </a:lnTo>
                  <a:lnTo>
                    <a:pt x="356" y="140"/>
                  </a:lnTo>
                  <a:lnTo>
                    <a:pt x="348" y="128"/>
                  </a:lnTo>
                  <a:lnTo>
                    <a:pt x="336" y="136"/>
                  </a:lnTo>
                  <a:lnTo>
                    <a:pt x="334" y="134"/>
                  </a:lnTo>
                  <a:lnTo>
                    <a:pt x="302" y="126"/>
                  </a:lnTo>
                  <a:lnTo>
                    <a:pt x="292" y="122"/>
                  </a:lnTo>
                  <a:lnTo>
                    <a:pt x="286" y="116"/>
                  </a:lnTo>
                  <a:lnTo>
                    <a:pt x="280" y="110"/>
                  </a:lnTo>
                  <a:lnTo>
                    <a:pt x="278" y="106"/>
                  </a:lnTo>
                  <a:lnTo>
                    <a:pt x="260" y="96"/>
                  </a:lnTo>
                  <a:lnTo>
                    <a:pt x="260" y="78"/>
                  </a:lnTo>
                  <a:lnTo>
                    <a:pt x="294" y="58"/>
                  </a:lnTo>
                  <a:lnTo>
                    <a:pt x="292" y="44"/>
                  </a:lnTo>
                  <a:lnTo>
                    <a:pt x="286" y="30"/>
                  </a:lnTo>
                  <a:lnTo>
                    <a:pt x="282" y="18"/>
                  </a:lnTo>
                  <a:lnTo>
                    <a:pt x="258" y="22"/>
                  </a:lnTo>
                  <a:lnTo>
                    <a:pt x="242" y="26"/>
                  </a:lnTo>
                  <a:lnTo>
                    <a:pt x="226" y="28"/>
                  </a:lnTo>
                  <a:lnTo>
                    <a:pt x="200" y="22"/>
                  </a:lnTo>
                  <a:lnTo>
                    <a:pt x="200" y="14"/>
                  </a:lnTo>
                  <a:lnTo>
                    <a:pt x="196" y="14"/>
                  </a:lnTo>
                  <a:lnTo>
                    <a:pt x="190" y="10"/>
                  </a:lnTo>
                  <a:lnTo>
                    <a:pt x="188" y="6"/>
                  </a:lnTo>
                  <a:lnTo>
                    <a:pt x="186" y="2"/>
                  </a:lnTo>
                  <a:lnTo>
                    <a:pt x="186" y="0"/>
                  </a:lnTo>
                  <a:lnTo>
                    <a:pt x="184" y="22"/>
                  </a:lnTo>
                  <a:lnTo>
                    <a:pt x="182" y="28"/>
                  </a:lnTo>
                  <a:lnTo>
                    <a:pt x="180" y="34"/>
                  </a:lnTo>
                  <a:lnTo>
                    <a:pt x="182" y="36"/>
                  </a:lnTo>
                  <a:lnTo>
                    <a:pt x="184" y="40"/>
                  </a:lnTo>
                  <a:lnTo>
                    <a:pt x="184" y="46"/>
                  </a:lnTo>
                  <a:lnTo>
                    <a:pt x="182" y="50"/>
                  </a:lnTo>
                  <a:lnTo>
                    <a:pt x="180" y="54"/>
                  </a:lnTo>
                  <a:lnTo>
                    <a:pt x="184" y="68"/>
                  </a:lnTo>
                  <a:lnTo>
                    <a:pt x="182" y="68"/>
                  </a:lnTo>
                  <a:lnTo>
                    <a:pt x="182" y="70"/>
                  </a:lnTo>
                  <a:lnTo>
                    <a:pt x="172" y="78"/>
                  </a:lnTo>
                  <a:lnTo>
                    <a:pt x="172" y="96"/>
                  </a:lnTo>
                  <a:lnTo>
                    <a:pt x="170" y="98"/>
                  </a:lnTo>
                  <a:lnTo>
                    <a:pt x="148" y="106"/>
                  </a:lnTo>
                  <a:lnTo>
                    <a:pt x="132" y="110"/>
                  </a:lnTo>
                  <a:lnTo>
                    <a:pt x="98" y="106"/>
                  </a:lnTo>
                  <a:lnTo>
                    <a:pt x="82" y="120"/>
                  </a:lnTo>
                  <a:close/>
                </a:path>
              </a:pathLst>
            </a:custGeom>
            <a:noFill/>
            <a:ln w="3175" cap="flat" cmpd="sng">
              <a:solidFill>
                <a:schemeClr val="bg2"/>
              </a:solidFill>
              <a:bevel/>
              <a:headEnd/>
              <a:tailEnd/>
            </a:ln>
          </p:spPr>
          <p:txBody>
            <a:bodyPr anchor="ctr"/>
            <a:lstStyle/>
            <a:p>
              <a:endParaRPr lang="zh-CN" altLang="en-US"/>
            </a:p>
          </p:txBody>
        </p:sp>
        <p:sp>
          <p:nvSpPr>
            <p:cNvPr id="8226" name="Freeform 34"/>
            <p:cNvSpPr>
              <a:spLocks/>
            </p:cNvSpPr>
            <p:nvPr/>
          </p:nvSpPr>
          <p:spPr bwMode="auto">
            <a:xfrm>
              <a:off x="5055677" y="3755952"/>
              <a:ext cx="189767" cy="458305"/>
            </a:xfrm>
            <a:custGeom>
              <a:avLst/>
              <a:gdLst/>
              <a:ahLst/>
              <a:cxnLst>
                <a:cxn ang="0">
                  <a:pos x="80" y="0"/>
                </a:cxn>
                <a:cxn ang="0">
                  <a:pos x="80" y="0"/>
                </a:cxn>
                <a:cxn ang="0">
                  <a:pos x="62" y="14"/>
                </a:cxn>
                <a:cxn ang="0">
                  <a:pos x="46" y="32"/>
                </a:cxn>
                <a:cxn ang="0">
                  <a:pos x="34" y="50"/>
                </a:cxn>
                <a:cxn ang="0">
                  <a:pos x="24" y="70"/>
                </a:cxn>
                <a:cxn ang="0">
                  <a:pos x="10" y="98"/>
                </a:cxn>
                <a:cxn ang="0">
                  <a:pos x="4" y="104"/>
                </a:cxn>
                <a:cxn ang="0">
                  <a:pos x="0" y="108"/>
                </a:cxn>
                <a:cxn ang="0">
                  <a:pos x="6" y="152"/>
                </a:cxn>
                <a:cxn ang="0">
                  <a:pos x="6" y="154"/>
                </a:cxn>
                <a:cxn ang="0">
                  <a:pos x="2" y="184"/>
                </a:cxn>
                <a:cxn ang="0">
                  <a:pos x="2" y="196"/>
                </a:cxn>
                <a:cxn ang="0">
                  <a:pos x="2" y="200"/>
                </a:cxn>
                <a:cxn ang="0">
                  <a:pos x="4" y="202"/>
                </a:cxn>
                <a:cxn ang="0">
                  <a:pos x="36" y="224"/>
                </a:cxn>
                <a:cxn ang="0">
                  <a:pos x="38" y="224"/>
                </a:cxn>
                <a:cxn ang="0">
                  <a:pos x="38" y="226"/>
                </a:cxn>
                <a:cxn ang="0">
                  <a:pos x="42" y="236"/>
                </a:cxn>
                <a:cxn ang="0">
                  <a:pos x="50" y="248"/>
                </a:cxn>
                <a:cxn ang="0">
                  <a:pos x="56" y="252"/>
                </a:cxn>
                <a:cxn ang="0">
                  <a:pos x="62" y="256"/>
                </a:cxn>
                <a:cxn ang="0">
                  <a:pos x="66" y="204"/>
                </a:cxn>
                <a:cxn ang="0">
                  <a:pos x="66" y="202"/>
                </a:cxn>
                <a:cxn ang="0">
                  <a:pos x="90" y="146"/>
                </a:cxn>
                <a:cxn ang="0">
                  <a:pos x="98" y="80"/>
                </a:cxn>
                <a:cxn ang="0">
                  <a:pos x="98" y="78"/>
                </a:cxn>
                <a:cxn ang="0">
                  <a:pos x="106" y="60"/>
                </a:cxn>
                <a:cxn ang="0">
                  <a:pos x="100" y="44"/>
                </a:cxn>
                <a:cxn ang="0">
                  <a:pos x="98" y="44"/>
                </a:cxn>
                <a:cxn ang="0">
                  <a:pos x="98" y="24"/>
                </a:cxn>
                <a:cxn ang="0">
                  <a:pos x="98" y="22"/>
                </a:cxn>
                <a:cxn ang="0">
                  <a:pos x="102" y="16"/>
                </a:cxn>
                <a:cxn ang="0">
                  <a:pos x="106" y="12"/>
                </a:cxn>
                <a:cxn ang="0">
                  <a:pos x="80" y="0"/>
                </a:cxn>
              </a:cxnLst>
              <a:rect l="0" t="0" r="r" b="b"/>
              <a:pathLst>
                <a:path w="106" h="256">
                  <a:moveTo>
                    <a:pt x="80" y="0"/>
                  </a:moveTo>
                  <a:lnTo>
                    <a:pt x="80" y="0"/>
                  </a:lnTo>
                  <a:lnTo>
                    <a:pt x="62" y="14"/>
                  </a:lnTo>
                  <a:lnTo>
                    <a:pt x="46" y="32"/>
                  </a:lnTo>
                  <a:lnTo>
                    <a:pt x="34" y="50"/>
                  </a:lnTo>
                  <a:lnTo>
                    <a:pt x="24" y="70"/>
                  </a:lnTo>
                  <a:lnTo>
                    <a:pt x="10" y="98"/>
                  </a:lnTo>
                  <a:lnTo>
                    <a:pt x="4" y="104"/>
                  </a:lnTo>
                  <a:lnTo>
                    <a:pt x="0" y="108"/>
                  </a:lnTo>
                  <a:lnTo>
                    <a:pt x="6" y="152"/>
                  </a:lnTo>
                  <a:lnTo>
                    <a:pt x="6" y="154"/>
                  </a:lnTo>
                  <a:lnTo>
                    <a:pt x="2" y="184"/>
                  </a:lnTo>
                  <a:lnTo>
                    <a:pt x="2" y="196"/>
                  </a:lnTo>
                  <a:lnTo>
                    <a:pt x="2" y="200"/>
                  </a:lnTo>
                  <a:lnTo>
                    <a:pt x="4" y="202"/>
                  </a:lnTo>
                  <a:lnTo>
                    <a:pt x="36" y="224"/>
                  </a:lnTo>
                  <a:lnTo>
                    <a:pt x="38" y="224"/>
                  </a:lnTo>
                  <a:lnTo>
                    <a:pt x="38" y="226"/>
                  </a:lnTo>
                  <a:lnTo>
                    <a:pt x="42" y="236"/>
                  </a:lnTo>
                  <a:lnTo>
                    <a:pt x="50" y="248"/>
                  </a:lnTo>
                  <a:lnTo>
                    <a:pt x="56" y="252"/>
                  </a:lnTo>
                  <a:lnTo>
                    <a:pt x="62" y="256"/>
                  </a:lnTo>
                  <a:lnTo>
                    <a:pt x="66" y="204"/>
                  </a:lnTo>
                  <a:lnTo>
                    <a:pt x="66" y="202"/>
                  </a:lnTo>
                  <a:lnTo>
                    <a:pt x="90" y="146"/>
                  </a:lnTo>
                  <a:lnTo>
                    <a:pt x="98" y="80"/>
                  </a:lnTo>
                  <a:lnTo>
                    <a:pt x="98" y="78"/>
                  </a:lnTo>
                  <a:lnTo>
                    <a:pt x="106" y="60"/>
                  </a:lnTo>
                  <a:lnTo>
                    <a:pt x="100" y="44"/>
                  </a:lnTo>
                  <a:lnTo>
                    <a:pt x="98" y="44"/>
                  </a:lnTo>
                  <a:lnTo>
                    <a:pt x="98" y="24"/>
                  </a:lnTo>
                  <a:lnTo>
                    <a:pt x="98" y="22"/>
                  </a:lnTo>
                  <a:lnTo>
                    <a:pt x="102" y="16"/>
                  </a:lnTo>
                  <a:lnTo>
                    <a:pt x="106" y="12"/>
                  </a:lnTo>
                  <a:lnTo>
                    <a:pt x="80" y="0"/>
                  </a:lnTo>
                  <a:close/>
                </a:path>
              </a:pathLst>
            </a:custGeom>
            <a:noFill/>
            <a:ln w="3175" cap="flat" cmpd="sng">
              <a:solidFill>
                <a:schemeClr val="bg2"/>
              </a:solidFill>
              <a:bevel/>
              <a:headEnd/>
              <a:tailEnd/>
            </a:ln>
          </p:spPr>
          <p:txBody>
            <a:bodyPr anchor="ctr"/>
            <a:lstStyle/>
            <a:p>
              <a:endParaRPr lang="zh-CN" altLang="en-US"/>
            </a:p>
          </p:txBody>
        </p:sp>
        <p:sp>
          <p:nvSpPr>
            <p:cNvPr id="8227" name="Freeform 35"/>
            <p:cNvSpPr>
              <a:spLocks/>
            </p:cNvSpPr>
            <p:nvPr/>
          </p:nvSpPr>
          <p:spPr bwMode="auto">
            <a:xfrm>
              <a:off x="3659279" y="4568727"/>
              <a:ext cx="286441" cy="250636"/>
            </a:xfrm>
            <a:custGeom>
              <a:avLst/>
              <a:gdLst/>
              <a:ahLst/>
              <a:cxnLst>
                <a:cxn ang="0">
                  <a:pos x="72" y="14"/>
                </a:cxn>
                <a:cxn ang="0">
                  <a:pos x="70" y="18"/>
                </a:cxn>
                <a:cxn ang="0">
                  <a:pos x="68" y="20"/>
                </a:cxn>
                <a:cxn ang="0">
                  <a:pos x="36" y="28"/>
                </a:cxn>
                <a:cxn ang="0">
                  <a:pos x="38" y="32"/>
                </a:cxn>
                <a:cxn ang="0">
                  <a:pos x="48" y="44"/>
                </a:cxn>
                <a:cxn ang="0">
                  <a:pos x="44" y="46"/>
                </a:cxn>
                <a:cxn ang="0">
                  <a:pos x="30" y="54"/>
                </a:cxn>
                <a:cxn ang="0">
                  <a:pos x="6" y="72"/>
                </a:cxn>
                <a:cxn ang="0">
                  <a:pos x="2" y="80"/>
                </a:cxn>
                <a:cxn ang="0">
                  <a:pos x="0" y="92"/>
                </a:cxn>
                <a:cxn ang="0">
                  <a:pos x="4" y="108"/>
                </a:cxn>
                <a:cxn ang="0">
                  <a:pos x="10" y="126"/>
                </a:cxn>
                <a:cxn ang="0">
                  <a:pos x="34" y="128"/>
                </a:cxn>
                <a:cxn ang="0">
                  <a:pos x="36" y="128"/>
                </a:cxn>
                <a:cxn ang="0">
                  <a:pos x="60" y="140"/>
                </a:cxn>
                <a:cxn ang="0">
                  <a:pos x="86" y="136"/>
                </a:cxn>
                <a:cxn ang="0">
                  <a:pos x="94" y="132"/>
                </a:cxn>
                <a:cxn ang="0">
                  <a:pos x="102" y="126"/>
                </a:cxn>
                <a:cxn ang="0">
                  <a:pos x="112" y="118"/>
                </a:cxn>
                <a:cxn ang="0">
                  <a:pos x="122" y="106"/>
                </a:cxn>
                <a:cxn ang="0">
                  <a:pos x="124" y="106"/>
                </a:cxn>
                <a:cxn ang="0">
                  <a:pos x="126" y="104"/>
                </a:cxn>
                <a:cxn ang="0">
                  <a:pos x="136" y="100"/>
                </a:cxn>
                <a:cxn ang="0">
                  <a:pos x="134" y="66"/>
                </a:cxn>
                <a:cxn ang="0">
                  <a:pos x="148" y="44"/>
                </a:cxn>
                <a:cxn ang="0">
                  <a:pos x="160" y="34"/>
                </a:cxn>
                <a:cxn ang="0">
                  <a:pos x="160" y="22"/>
                </a:cxn>
                <a:cxn ang="0">
                  <a:pos x="158" y="14"/>
                </a:cxn>
                <a:cxn ang="0">
                  <a:pos x="156" y="10"/>
                </a:cxn>
                <a:cxn ang="0">
                  <a:pos x="152" y="2"/>
                </a:cxn>
                <a:cxn ang="0">
                  <a:pos x="146" y="0"/>
                </a:cxn>
                <a:cxn ang="0">
                  <a:pos x="146" y="12"/>
                </a:cxn>
                <a:cxn ang="0">
                  <a:pos x="126" y="8"/>
                </a:cxn>
                <a:cxn ang="0">
                  <a:pos x="116" y="14"/>
                </a:cxn>
                <a:cxn ang="0">
                  <a:pos x="114" y="14"/>
                </a:cxn>
                <a:cxn ang="0">
                  <a:pos x="72" y="14"/>
                </a:cxn>
              </a:cxnLst>
              <a:rect l="0" t="0" r="r" b="b"/>
              <a:pathLst>
                <a:path w="160" h="140">
                  <a:moveTo>
                    <a:pt x="72" y="14"/>
                  </a:moveTo>
                  <a:lnTo>
                    <a:pt x="70" y="18"/>
                  </a:lnTo>
                  <a:lnTo>
                    <a:pt x="68" y="20"/>
                  </a:lnTo>
                  <a:lnTo>
                    <a:pt x="36" y="28"/>
                  </a:lnTo>
                  <a:lnTo>
                    <a:pt x="38" y="32"/>
                  </a:lnTo>
                  <a:lnTo>
                    <a:pt x="48" y="44"/>
                  </a:lnTo>
                  <a:lnTo>
                    <a:pt x="44" y="46"/>
                  </a:lnTo>
                  <a:lnTo>
                    <a:pt x="30" y="54"/>
                  </a:lnTo>
                  <a:lnTo>
                    <a:pt x="6" y="72"/>
                  </a:lnTo>
                  <a:lnTo>
                    <a:pt x="2" y="80"/>
                  </a:lnTo>
                  <a:lnTo>
                    <a:pt x="0" y="92"/>
                  </a:lnTo>
                  <a:lnTo>
                    <a:pt x="4" y="108"/>
                  </a:lnTo>
                  <a:lnTo>
                    <a:pt x="10" y="126"/>
                  </a:lnTo>
                  <a:lnTo>
                    <a:pt x="34" y="128"/>
                  </a:lnTo>
                  <a:lnTo>
                    <a:pt x="36" y="128"/>
                  </a:lnTo>
                  <a:lnTo>
                    <a:pt x="60" y="140"/>
                  </a:lnTo>
                  <a:lnTo>
                    <a:pt x="86" y="136"/>
                  </a:lnTo>
                  <a:lnTo>
                    <a:pt x="94" y="132"/>
                  </a:lnTo>
                  <a:lnTo>
                    <a:pt x="102" y="126"/>
                  </a:lnTo>
                  <a:lnTo>
                    <a:pt x="112" y="118"/>
                  </a:lnTo>
                  <a:lnTo>
                    <a:pt x="122" y="106"/>
                  </a:lnTo>
                  <a:lnTo>
                    <a:pt x="124" y="106"/>
                  </a:lnTo>
                  <a:lnTo>
                    <a:pt x="126" y="104"/>
                  </a:lnTo>
                  <a:lnTo>
                    <a:pt x="136" y="100"/>
                  </a:lnTo>
                  <a:lnTo>
                    <a:pt x="134" y="66"/>
                  </a:lnTo>
                  <a:lnTo>
                    <a:pt x="148" y="44"/>
                  </a:lnTo>
                  <a:lnTo>
                    <a:pt x="160" y="34"/>
                  </a:lnTo>
                  <a:lnTo>
                    <a:pt x="160" y="22"/>
                  </a:lnTo>
                  <a:lnTo>
                    <a:pt x="158" y="14"/>
                  </a:lnTo>
                  <a:lnTo>
                    <a:pt x="156" y="10"/>
                  </a:lnTo>
                  <a:lnTo>
                    <a:pt x="152" y="2"/>
                  </a:lnTo>
                  <a:lnTo>
                    <a:pt x="146" y="0"/>
                  </a:lnTo>
                  <a:lnTo>
                    <a:pt x="146" y="12"/>
                  </a:lnTo>
                  <a:lnTo>
                    <a:pt x="126" y="8"/>
                  </a:lnTo>
                  <a:lnTo>
                    <a:pt x="116" y="14"/>
                  </a:lnTo>
                  <a:lnTo>
                    <a:pt x="114" y="14"/>
                  </a:lnTo>
                  <a:lnTo>
                    <a:pt x="72" y="14"/>
                  </a:lnTo>
                  <a:close/>
                </a:path>
              </a:pathLst>
            </a:custGeom>
            <a:noFill/>
            <a:ln w="3175" cap="flat" cmpd="sng">
              <a:solidFill>
                <a:schemeClr val="bg2"/>
              </a:solidFill>
              <a:bevel/>
              <a:headEnd/>
              <a:tailEnd/>
            </a:ln>
          </p:spPr>
          <p:txBody>
            <a:bodyPr anchor="ctr"/>
            <a:lstStyle/>
            <a:p>
              <a:endParaRPr lang="zh-CN" altLang="en-US"/>
            </a:p>
          </p:txBody>
        </p:sp>
      </p:grpSp>
      <p:sp>
        <p:nvSpPr>
          <p:cNvPr id="8228" name="Line 36"/>
          <p:cNvSpPr>
            <a:spLocks noChangeShapeType="1"/>
          </p:cNvSpPr>
          <p:nvPr/>
        </p:nvSpPr>
        <p:spPr bwMode="auto">
          <a:xfrm>
            <a:off x="0" y="3862388"/>
            <a:ext cx="539750" cy="0"/>
          </a:xfrm>
          <a:prstGeom prst="line">
            <a:avLst/>
          </a:prstGeom>
          <a:noFill/>
          <a:ln w="50800" cmpd="sng">
            <a:solidFill>
              <a:schemeClr val="bg2"/>
            </a:solidFill>
            <a:round/>
            <a:headEnd/>
            <a:tailEnd/>
          </a:ln>
          <a:effectLst/>
        </p:spPr>
        <p:txBody>
          <a:bodyPr/>
          <a:lstStyle/>
          <a:p>
            <a:endParaRPr lang="zh-CN" altLang="en-US"/>
          </a:p>
        </p:txBody>
      </p:sp>
      <p:sp>
        <p:nvSpPr>
          <p:cNvPr id="8229" name="Line 37"/>
          <p:cNvSpPr>
            <a:spLocks noChangeShapeType="1"/>
          </p:cNvSpPr>
          <p:nvPr/>
        </p:nvSpPr>
        <p:spPr bwMode="auto">
          <a:xfrm>
            <a:off x="539750" y="3860800"/>
            <a:ext cx="73025" cy="215900"/>
          </a:xfrm>
          <a:prstGeom prst="line">
            <a:avLst/>
          </a:prstGeom>
          <a:noFill/>
          <a:ln w="50800" cmpd="sng">
            <a:solidFill>
              <a:schemeClr val="bg2"/>
            </a:solidFill>
            <a:round/>
            <a:headEnd/>
            <a:tailEnd/>
          </a:ln>
          <a:effectLst/>
        </p:spPr>
        <p:txBody>
          <a:bodyPr/>
          <a:lstStyle/>
          <a:p>
            <a:endParaRPr lang="zh-CN" altLang="en-US"/>
          </a:p>
        </p:txBody>
      </p:sp>
      <p:sp>
        <p:nvSpPr>
          <p:cNvPr id="8230" name="Line 38"/>
          <p:cNvSpPr>
            <a:spLocks noChangeShapeType="1"/>
          </p:cNvSpPr>
          <p:nvPr/>
        </p:nvSpPr>
        <p:spPr bwMode="auto">
          <a:xfrm flipV="1">
            <a:off x="612775" y="3141663"/>
            <a:ext cx="431800" cy="935037"/>
          </a:xfrm>
          <a:prstGeom prst="line">
            <a:avLst/>
          </a:prstGeom>
          <a:noFill/>
          <a:ln w="50800" cmpd="sng">
            <a:solidFill>
              <a:schemeClr val="bg2"/>
            </a:solidFill>
            <a:round/>
            <a:headEnd/>
            <a:tailEnd/>
          </a:ln>
          <a:effectLst/>
        </p:spPr>
        <p:txBody>
          <a:bodyPr/>
          <a:lstStyle/>
          <a:p>
            <a:endParaRPr lang="zh-CN" altLang="en-US"/>
          </a:p>
        </p:txBody>
      </p:sp>
      <p:sp>
        <p:nvSpPr>
          <p:cNvPr id="8231" name="Line 39"/>
          <p:cNvSpPr>
            <a:spLocks noChangeShapeType="1"/>
          </p:cNvSpPr>
          <p:nvPr/>
        </p:nvSpPr>
        <p:spPr bwMode="auto">
          <a:xfrm>
            <a:off x="1044575" y="3141663"/>
            <a:ext cx="215900" cy="719137"/>
          </a:xfrm>
          <a:prstGeom prst="line">
            <a:avLst/>
          </a:prstGeom>
          <a:noFill/>
          <a:ln w="50800" cmpd="sng">
            <a:solidFill>
              <a:schemeClr val="bg2"/>
            </a:solidFill>
            <a:round/>
            <a:headEnd/>
            <a:tailEnd/>
          </a:ln>
          <a:effectLst/>
        </p:spPr>
        <p:txBody>
          <a:bodyPr/>
          <a:lstStyle/>
          <a:p>
            <a:endParaRPr lang="zh-CN" altLang="en-US"/>
          </a:p>
        </p:txBody>
      </p:sp>
      <p:sp>
        <p:nvSpPr>
          <p:cNvPr id="8232" name="Line 40"/>
          <p:cNvSpPr>
            <a:spLocks noChangeShapeType="1"/>
          </p:cNvSpPr>
          <p:nvPr/>
        </p:nvSpPr>
        <p:spPr bwMode="auto">
          <a:xfrm flipV="1">
            <a:off x="1260475" y="3644900"/>
            <a:ext cx="71438" cy="215900"/>
          </a:xfrm>
          <a:prstGeom prst="line">
            <a:avLst/>
          </a:prstGeom>
          <a:noFill/>
          <a:ln w="50800" cmpd="sng">
            <a:solidFill>
              <a:schemeClr val="bg2"/>
            </a:solidFill>
            <a:round/>
            <a:headEnd/>
            <a:tailEnd/>
          </a:ln>
          <a:effectLst/>
        </p:spPr>
        <p:txBody>
          <a:bodyPr/>
          <a:lstStyle/>
          <a:p>
            <a:endParaRPr lang="zh-CN" altLang="en-US"/>
          </a:p>
        </p:txBody>
      </p:sp>
      <p:sp>
        <p:nvSpPr>
          <p:cNvPr id="8233" name="Line 41"/>
          <p:cNvSpPr>
            <a:spLocks noChangeShapeType="1"/>
          </p:cNvSpPr>
          <p:nvPr/>
        </p:nvSpPr>
        <p:spPr bwMode="auto">
          <a:xfrm>
            <a:off x="1331913" y="3644900"/>
            <a:ext cx="217487" cy="576263"/>
          </a:xfrm>
          <a:prstGeom prst="line">
            <a:avLst/>
          </a:prstGeom>
          <a:noFill/>
          <a:ln w="50800" cmpd="sng">
            <a:solidFill>
              <a:schemeClr val="bg2"/>
            </a:solidFill>
            <a:round/>
            <a:headEnd/>
            <a:tailEnd/>
          </a:ln>
          <a:effectLst/>
        </p:spPr>
        <p:txBody>
          <a:bodyPr/>
          <a:lstStyle/>
          <a:p>
            <a:endParaRPr lang="zh-CN" altLang="en-US"/>
          </a:p>
        </p:txBody>
      </p:sp>
      <p:sp>
        <p:nvSpPr>
          <p:cNvPr id="8234" name="Line 42"/>
          <p:cNvSpPr>
            <a:spLocks noChangeShapeType="1"/>
          </p:cNvSpPr>
          <p:nvPr/>
        </p:nvSpPr>
        <p:spPr bwMode="auto">
          <a:xfrm flipV="1">
            <a:off x="1549400" y="3357563"/>
            <a:ext cx="287338" cy="863600"/>
          </a:xfrm>
          <a:prstGeom prst="line">
            <a:avLst/>
          </a:prstGeom>
          <a:noFill/>
          <a:ln w="50800" cmpd="sng">
            <a:solidFill>
              <a:schemeClr val="bg2"/>
            </a:solidFill>
            <a:round/>
            <a:headEnd/>
            <a:tailEnd/>
          </a:ln>
          <a:effectLst/>
        </p:spPr>
        <p:txBody>
          <a:bodyPr/>
          <a:lstStyle/>
          <a:p>
            <a:endParaRPr lang="zh-CN" altLang="en-US"/>
          </a:p>
        </p:txBody>
      </p:sp>
      <p:sp>
        <p:nvSpPr>
          <p:cNvPr id="8235" name="Line 43"/>
          <p:cNvSpPr>
            <a:spLocks noChangeShapeType="1"/>
          </p:cNvSpPr>
          <p:nvPr/>
        </p:nvSpPr>
        <p:spPr bwMode="auto">
          <a:xfrm>
            <a:off x="1835150" y="3357563"/>
            <a:ext cx="184150" cy="523875"/>
          </a:xfrm>
          <a:prstGeom prst="line">
            <a:avLst/>
          </a:prstGeom>
          <a:noFill/>
          <a:ln w="50800" cmpd="sng">
            <a:solidFill>
              <a:schemeClr val="bg2"/>
            </a:solidFill>
            <a:round/>
            <a:headEnd/>
            <a:tailEnd/>
          </a:ln>
          <a:effectLst/>
        </p:spPr>
        <p:txBody>
          <a:bodyPr/>
          <a:lstStyle/>
          <a:p>
            <a:endParaRPr lang="zh-CN" altLang="en-US"/>
          </a:p>
        </p:txBody>
      </p:sp>
      <p:sp>
        <p:nvSpPr>
          <p:cNvPr id="8236" name="Line 44"/>
          <p:cNvSpPr>
            <a:spLocks noChangeShapeType="1"/>
          </p:cNvSpPr>
          <p:nvPr/>
        </p:nvSpPr>
        <p:spPr bwMode="auto">
          <a:xfrm flipV="1">
            <a:off x="1990725" y="3867150"/>
            <a:ext cx="709613" cy="0"/>
          </a:xfrm>
          <a:prstGeom prst="line">
            <a:avLst/>
          </a:prstGeom>
          <a:noFill/>
          <a:ln w="50800" cmpd="sng">
            <a:solidFill>
              <a:schemeClr val="bg2"/>
            </a:solidFill>
            <a:round/>
            <a:headEnd/>
            <a:tailEnd/>
          </a:ln>
          <a:effectLst/>
        </p:spPr>
        <p:txBody>
          <a:bodyPr/>
          <a:lstStyle/>
          <a:p>
            <a:endParaRPr lang="zh-CN" altLang="en-US"/>
          </a:p>
        </p:txBody>
      </p:sp>
      <p:sp>
        <p:nvSpPr>
          <p:cNvPr id="8237" name="AutoShape 45"/>
          <p:cNvSpPr>
            <a:spLocks/>
          </p:cNvSpPr>
          <p:nvPr/>
        </p:nvSpPr>
        <p:spPr bwMode="auto">
          <a:xfrm>
            <a:off x="2636838" y="2000250"/>
            <a:ext cx="2881312" cy="2016125"/>
          </a:xfrm>
          <a:custGeom>
            <a:avLst/>
            <a:gdLst>
              <a:gd name="T0" fmla="*/ 5037 w 21600"/>
              <a:gd name="T1" fmla="*/ 2277 h 21600"/>
              <a:gd name="T2" fmla="*/ 16557 w 21600"/>
              <a:gd name="T3" fmla="*/ 13677 h 21600"/>
            </a:gdLst>
            <a:ahLst/>
            <a:cxnLst>
              <a:cxn ang="0">
                <a:pos x="10860" y="2187"/>
              </a:cxn>
              <a:cxn ang="0">
                <a:pos x="9015" y="730"/>
              </a:cxn>
              <a:cxn ang="0">
                <a:pos x="5415" y="0"/>
              </a:cxn>
              <a:cxn ang="0">
                <a:pos x="1967" y="1305"/>
              </a:cxn>
              <a:cxn ang="0">
                <a:pos x="242" y="4220"/>
              </a:cxn>
              <a:cxn ang="0">
                <a:pos x="575" y="7597"/>
              </a:cxn>
              <a:cxn ang="0">
                <a:pos x="10860" y="21600"/>
              </a:cxn>
              <a:cxn ang="0">
                <a:pos x="20995" y="7597"/>
              </a:cxn>
              <a:cxn ang="0">
                <a:pos x="21480" y="4220"/>
              </a:cxn>
              <a:cxn ang="0">
                <a:pos x="19632" y="1305"/>
              </a:cxn>
              <a:cxn ang="0">
                <a:pos x="16275" y="0"/>
              </a:cxn>
              <a:cxn ang="0">
                <a:pos x="12705" y="730"/>
              </a:cxn>
              <a:cxn ang="0">
                <a:pos x="10860" y="2187"/>
              </a:cxn>
            </a:cxnLst>
            <a:rect l="T0" t="T1" r="T2" b="T3"/>
            <a:pathLst>
              <a:path w="21600" h="21600">
                <a:moveTo>
                  <a:pt x="10860" y="2187"/>
                </a:moveTo>
                <a:cubicBezTo>
                  <a:pt x="10451" y="1746"/>
                  <a:pt x="9529" y="1018"/>
                  <a:pt x="9015" y="730"/>
                </a:cubicBezTo>
                <a:cubicBezTo>
                  <a:pt x="7865" y="152"/>
                  <a:pt x="6685" y="0"/>
                  <a:pt x="5415" y="0"/>
                </a:cubicBezTo>
                <a:cubicBezTo>
                  <a:pt x="4175" y="152"/>
                  <a:pt x="2995" y="575"/>
                  <a:pt x="1967" y="1305"/>
                </a:cubicBezTo>
                <a:cubicBezTo>
                  <a:pt x="1150" y="2187"/>
                  <a:pt x="575" y="3222"/>
                  <a:pt x="242" y="4220"/>
                </a:cubicBezTo>
                <a:cubicBezTo>
                  <a:pt x="0" y="5410"/>
                  <a:pt x="242" y="6560"/>
                  <a:pt x="575" y="7597"/>
                </a:cubicBezTo>
                <a:lnTo>
                  <a:pt x="10860" y="21600"/>
                </a:lnTo>
                <a:lnTo>
                  <a:pt x="20995" y="7597"/>
                </a:lnTo>
                <a:cubicBezTo>
                  <a:pt x="21480" y="6560"/>
                  <a:pt x="21600" y="5410"/>
                  <a:pt x="21480" y="4220"/>
                </a:cubicBezTo>
                <a:cubicBezTo>
                  <a:pt x="21115" y="3222"/>
                  <a:pt x="20420" y="2187"/>
                  <a:pt x="19632" y="1305"/>
                </a:cubicBezTo>
                <a:cubicBezTo>
                  <a:pt x="18575" y="575"/>
                  <a:pt x="17425" y="152"/>
                  <a:pt x="16275" y="0"/>
                </a:cubicBezTo>
                <a:cubicBezTo>
                  <a:pt x="15005" y="0"/>
                  <a:pt x="13735" y="152"/>
                  <a:pt x="12705" y="730"/>
                </a:cubicBezTo>
                <a:cubicBezTo>
                  <a:pt x="12176" y="1018"/>
                  <a:pt x="11254" y="1746"/>
                  <a:pt x="10860" y="2187"/>
                </a:cubicBezTo>
                <a:close/>
              </a:path>
            </a:pathLst>
          </a:custGeom>
          <a:noFill/>
          <a:ln w="50800" cap="flat" cmpd="sng">
            <a:solidFill>
              <a:schemeClr val="bg2"/>
            </a:solidFill>
            <a:round/>
            <a:headEnd/>
            <a:tailEnd/>
          </a:ln>
          <a:effectLst/>
        </p:spPr>
        <p:txBody>
          <a:bodyPr anchor="ctr"/>
          <a:lstStyle/>
          <a:p>
            <a:endParaRPr lang="zh-CN" altLang="en-US"/>
          </a:p>
        </p:txBody>
      </p:sp>
      <p:sp>
        <p:nvSpPr>
          <p:cNvPr id="8238" name="AutoShape 46"/>
          <p:cNvSpPr>
            <a:spLocks noChangeArrowheads="1"/>
          </p:cNvSpPr>
          <p:nvPr/>
        </p:nvSpPr>
        <p:spPr bwMode="auto">
          <a:xfrm>
            <a:off x="3565525" y="3897313"/>
            <a:ext cx="1079500" cy="325437"/>
          </a:xfrm>
          <a:prstGeom prst="flowChartProcess">
            <a:avLst/>
          </a:prstGeom>
          <a:solidFill>
            <a:srgbClr val="1D3245"/>
          </a:solidFill>
          <a:ln w="9525">
            <a:noFill/>
            <a:miter lim="800000"/>
            <a:headEnd/>
            <a:tailEnd/>
          </a:ln>
          <a:effectLst/>
        </p:spPr>
        <p:txBody>
          <a:bodyPr anchor="ctr"/>
          <a:lstStyle/>
          <a:p>
            <a:endParaRPr lang="zh-CN" altLang="en-US"/>
          </a:p>
        </p:txBody>
      </p:sp>
      <p:grpSp>
        <p:nvGrpSpPr>
          <p:cNvPr id="8239" name="Group 47"/>
          <p:cNvGrpSpPr>
            <a:grpSpLocks/>
          </p:cNvGrpSpPr>
          <p:nvPr/>
        </p:nvGrpSpPr>
        <p:grpSpPr bwMode="auto">
          <a:xfrm>
            <a:off x="4202113" y="3765550"/>
            <a:ext cx="4826000" cy="215900"/>
            <a:chOff x="0" y="0"/>
            <a:chExt cx="7600" cy="340"/>
          </a:xfrm>
        </p:grpSpPr>
        <p:sp>
          <p:nvSpPr>
            <p:cNvPr id="8240" name="燕尾形箭头3 234"/>
            <p:cNvSpPr>
              <a:spLocks noChangeArrowheads="1"/>
            </p:cNvSpPr>
            <p:nvPr/>
          </p:nvSpPr>
          <p:spPr bwMode="auto">
            <a:xfrm>
              <a:off x="7148" y="0"/>
              <a:ext cx="453" cy="341"/>
            </a:xfrm>
            <a:prstGeom prst="chevron">
              <a:avLst>
                <a:gd name="adj" fmla="val 66422"/>
              </a:avLst>
            </a:prstGeom>
            <a:solidFill>
              <a:schemeClr val="bg2"/>
            </a:solidFill>
            <a:ln w="9525">
              <a:noFill/>
              <a:miter lim="800000"/>
              <a:headEnd/>
              <a:tailEnd/>
            </a:ln>
            <a:effectLst/>
          </p:spPr>
          <p:txBody>
            <a:bodyPr lIns="90170" tIns="46990" rIns="90170" bIns="46990" anchor="ctr"/>
            <a:lstStyle/>
            <a:p>
              <a:endParaRPr lang="zh-CN" altLang="en-US"/>
            </a:p>
          </p:txBody>
        </p:sp>
        <p:sp>
          <p:nvSpPr>
            <p:cNvPr id="8241" name="Line 49"/>
            <p:cNvSpPr>
              <a:spLocks noChangeShapeType="1"/>
            </p:cNvSpPr>
            <p:nvPr/>
          </p:nvSpPr>
          <p:spPr bwMode="auto">
            <a:xfrm>
              <a:off x="0" y="170"/>
              <a:ext cx="7371" cy="4"/>
            </a:xfrm>
            <a:prstGeom prst="line">
              <a:avLst/>
            </a:prstGeom>
            <a:noFill/>
            <a:ln w="50800" cmpd="sng">
              <a:solidFill>
                <a:schemeClr val="bg2"/>
              </a:solidFill>
              <a:round/>
              <a:headEnd/>
              <a:tailEnd/>
            </a:ln>
            <a:effectLst/>
          </p:spPr>
          <p:txBody>
            <a:bodyPr/>
            <a:lstStyle/>
            <a:p>
              <a:endParaRPr lang="zh-CN" altLang="en-US"/>
            </a:p>
          </p:txBody>
        </p:sp>
      </p:grpSp>
      <p:sp>
        <p:nvSpPr>
          <p:cNvPr id="8242" name="Line 50"/>
          <p:cNvSpPr>
            <a:spLocks noChangeShapeType="1"/>
          </p:cNvSpPr>
          <p:nvPr/>
        </p:nvSpPr>
        <p:spPr bwMode="auto">
          <a:xfrm flipV="1">
            <a:off x="2641600" y="3860800"/>
            <a:ext cx="1282700" cy="1588"/>
          </a:xfrm>
          <a:prstGeom prst="line">
            <a:avLst/>
          </a:prstGeom>
          <a:noFill/>
          <a:ln w="50800" cmpd="sng">
            <a:solidFill>
              <a:schemeClr val="bg2"/>
            </a:solidFill>
            <a:round/>
            <a:headEnd/>
            <a:tailEnd/>
          </a:ln>
          <a:effectLst/>
        </p:spPr>
        <p:txBody>
          <a:bodyPr/>
          <a:lstStyle/>
          <a:p>
            <a:endParaRPr lang="zh-CN" altLang="en-US"/>
          </a:p>
        </p:txBody>
      </p:sp>
      <p:pic>
        <p:nvPicPr>
          <p:cNvPr id="51"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8311" y="0"/>
            <a:ext cx="2005689" cy="100892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228"/>
                                        </p:tgtEl>
                                        <p:attrNameLst>
                                          <p:attrName>style.visibility</p:attrName>
                                        </p:attrNameLst>
                                      </p:cBhvr>
                                      <p:to>
                                        <p:strVal val="visible"/>
                                      </p:to>
                                    </p:set>
                                    <p:animEffect transition="in" filter="wipe(left)">
                                      <p:cBhvr>
                                        <p:cTn id="7" dur="500"/>
                                        <p:tgtEl>
                                          <p:spTgt spid="822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229"/>
                                        </p:tgtEl>
                                        <p:attrNameLst>
                                          <p:attrName>style.visibility</p:attrName>
                                        </p:attrNameLst>
                                      </p:cBhvr>
                                      <p:to>
                                        <p:strVal val="visible"/>
                                      </p:to>
                                    </p:set>
                                    <p:animEffect transition="in" filter="wipe(left)">
                                      <p:cBhvr>
                                        <p:cTn id="11" dur="500"/>
                                        <p:tgtEl>
                                          <p:spTgt spid="822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230"/>
                                        </p:tgtEl>
                                        <p:attrNameLst>
                                          <p:attrName>style.visibility</p:attrName>
                                        </p:attrNameLst>
                                      </p:cBhvr>
                                      <p:to>
                                        <p:strVal val="visible"/>
                                      </p:to>
                                    </p:set>
                                    <p:animEffect transition="in" filter="wipe(left)">
                                      <p:cBhvr>
                                        <p:cTn id="15" dur="500"/>
                                        <p:tgtEl>
                                          <p:spTgt spid="823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8231"/>
                                        </p:tgtEl>
                                        <p:attrNameLst>
                                          <p:attrName>style.visibility</p:attrName>
                                        </p:attrNameLst>
                                      </p:cBhvr>
                                      <p:to>
                                        <p:strVal val="visible"/>
                                      </p:to>
                                    </p:set>
                                    <p:animEffect transition="in" filter="wipe(left)">
                                      <p:cBhvr>
                                        <p:cTn id="19" dur="500"/>
                                        <p:tgtEl>
                                          <p:spTgt spid="8231"/>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8232"/>
                                        </p:tgtEl>
                                        <p:attrNameLst>
                                          <p:attrName>style.visibility</p:attrName>
                                        </p:attrNameLst>
                                      </p:cBhvr>
                                      <p:to>
                                        <p:strVal val="visible"/>
                                      </p:to>
                                    </p:set>
                                    <p:animEffect transition="in" filter="wipe(left)">
                                      <p:cBhvr>
                                        <p:cTn id="23" dur="500"/>
                                        <p:tgtEl>
                                          <p:spTgt spid="8232"/>
                                        </p:tgtEl>
                                      </p:cBhvr>
                                    </p:animEffect>
                                  </p:childTnLst>
                                </p:cTn>
                              </p:par>
                            </p:childTnLst>
                          </p:cTn>
                        </p:par>
                        <p:par>
                          <p:cTn id="24" fill="hold">
                            <p:stCondLst>
                              <p:cond delay="2500"/>
                            </p:stCondLst>
                            <p:childTnLst>
                              <p:par>
                                <p:cTn id="25" presetID="22" presetClass="entr" presetSubtype="8" fill="hold" grpId="0" nodeType="afterEffect">
                                  <p:stCondLst>
                                    <p:cond delay="0"/>
                                  </p:stCondLst>
                                  <p:childTnLst>
                                    <p:set>
                                      <p:cBhvr>
                                        <p:cTn id="26" dur="1" fill="hold">
                                          <p:stCondLst>
                                            <p:cond delay="0"/>
                                          </p:stCondLst>
                                        </p:cTn>
                                        <p:tgtEl>
                                          <p:spTgt spid="8233"/>
                                        </p:tgtEl>
                                        <p:attrNameLst>
                                          <p:attrName>style.visibility</p:attrName>
                                        </p:attrNameLst>
                                      </p:cBhvr>
                                      <p:to>
                                        <p:strVal val="visible"/>
                                      </p:to>
                                    </p:set>
                                    <p:animEffect transition="in" filter="wipe(left)">
                                      <p:cBhvr>
                                        <p:cTn id="27" dur="500"/>
                                        <p:tgtEl>
                                          <p:spTgt spid="8233"/>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8234"/>
                                        </p:tgtEl>
                                        <p:attrNameLst>
                                          <p:attrName>style.visibility</p:attrName>
                                        </p:attrNameLst>
                                      </p:cBhvr>
                                      <p:to>
                                        <p:strVal val="visible"/>
                                      </p:to>
                                    </p:set>
                                    <p:animEffect transition="in" filter="wipe(left)">
                                      <p:cBhvr>
                                        <p:cTn id="31" dur="500"/>
                                        <p:tgtEl>
                                          <p:spTgt spid="8234"/>
                                        </p:tgtEl>
                                      </p:cBhvr>
                                    </p:animEffect>
                                  </p:childTnLst>
                                </p:cTn>
                              </p:par>
                            </p:childTnLst>
                          </p:cTn>
                        </p:par>
                        <p:par>
                          <p:cTn id="32" fill="hold">
                            <p:stCondLst>
                              <p:cond delay="3500"/>
                            </p:stCondLst>
                            <p:childTnLst>
                              <p:par>
                                <p:cTn id="33" presetID="22" presetClass="entr" presetSubtype="8" fill="hold" grpId="0" nodeType="afterEffect">
                                  <p:stCondLst>
                                    <p:cond delay="0"/>
                                  </p:stCondLst>
                                  <p:childTnLst>
                                    <p:set>
                                      <p:cBhvr>
                                        <p:cTn id="34" dur="1" fill="hold">
                                          <p:stCondLst>
                                            <p:cond delay="0"/>
                                          </p:stCondLst>
                                        </p:cTn>
                                        <p:tgtEl>
                                          <p:spTgt spid="8235"/>
                                        </p:tgtEl>
                                        <p:attrNameLst>
                                          <p:attrName>style.visibility</p:attrName>
                                        </p:attrNameLst>
                                      </p:cBhvr>
                                      <p:to>
                                        <p:strVal val="visible"/>
                                      </p:to>
                                    </p:set>
                                    <p:animEffect transition="in" filter="wipe(left)">
                                      <p:cBhvr>
                                        <p:cTn id="35" dur="500"/>
                                        <p:tgtEl>
                                          <p:spTgt spid="8235"/>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8236"/>
                                        </p:tgtEl>
                                        <p:attrNameLst>
                                          <p:attrName>style.visibility</p:attrName>
                                        </p:attrNameLst>
                                      </p:cBhvr>
                                      <p:to>
                                        <p:strVal val="visible"/>
                                      </p:to>
                                    </p:set>
                                    <p:animEffect transition="in" filter="wipe(left)">
                                      <p:cBhvr>
                                        <p:cTn id="39" dur="500"/>
                                        <p:tgtEl>
                                          <p:spTgt spid="8236"/>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8242"/>
                                        </p:tgtEl>
                                        <p:attrNameLst>
                                          <p:attrName>style.visibility</p:attrName>
                                        </p:attrNameLst>
                                      </p:cBhvr>
                                      <p:to>
                                        <p:strVal val="visible"/>
                                      </p:to>
                                    </p:set>
                                    <p:animEffect transition="in" filter="wipe(left)">
                                      <p:cBhvr>
                                        <p:cTn id="43" dur="500"/>
                                        <p:tgtEl>
                                          <p:spTgt spid="8242"/>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8237"/>
                                        </p:tgtEl>
                                        <p:attrNameLst>
                                          <p:attrName>style.visibility</p:attrName>
                                        </p:attrNameLst>
                                      </p:cBhvr>
                                      <p:to>
                                        <p:strVal val="visible"/>
                                      </p:to>
                                    </p:set>
                                    <p:animEffect transition="in" filter="wipe(left)">
                                      <p:cBhvr>
                                        <p:cTn id="47" dur="500"/>
                                        <p:tgtEl>
                                          <p:spTgt spid="8237"/>
                                        </p:tgtEl>
                                      </p:cBhvr>
                                    </p:animEffect>
                                  </p:childTnLst>
                                </p:cTn>
                              </p:par>
                              <p:par>
                                <p:cTn id="48" presetID="10" presetClass="entr" presetSubtype="0" fill="hold" nodeType="withEffect">
                                  <p:stCondLst>
                                    <p:cond delay="0"/>
                                  </p:stCondLst>
                                  <p:childTnLst>
                                    <p:set>
                                      <p:cBhvr>
                                        <p:cTn id="49" dur="1" fill="hold">
                                          <p:stCondLst>
                                            <p:cond delay="0"/>
                                          </p:stCondLst>
                                        </p:cTn>
                                        <p:tgtEl>
                                          <p:spTgt spid="8195"/>
                                        </p:tgtEl>
                                        <p:attrNameLst>
                                          <p:attrName>style.visibility</p:attrName>
                                        </p:attrNameLst>
                                      </p:cBhvr>
                                      <p:to>
                                        <p:strVal val="visible"/>
                                      </p:to>
                                    </p:set>
                                    <p:animEffect transition="in" filter="fade">
                                      <p:cBhvr>
                                        <p:cTn id="50" dur="500"/>
                                        <p:tgtEl>
                                          <p:spTgt spid="8195"/>
                                        </p:tgtEl>
                                      </p:cBhvr>
                                    </p:animEffect>
                                  </p:childTnLst>
                                </p:cTn>
                              </p:par>
                            </p:childTnLst>
                          </p:cTn>
                        </p:par>
                        <p:par>
                          <p:cTn id="51" fill="hold">
                            <p:stCondLst>
                              <p:cond delay="5500"/>
                            </p:stCondLst>
                            <p:childTnLst>
                              <p:par>
                                <p:cTn id="52" presetID="22" presetClass="entr" presetSubtype="8" fill="hold" nodeType="afterEffect">
                                  <p:stCondLst>
                                    <p:cond delay="0"/>
                                  </p:stCondLst>
                                  <p:childTnLst>
                                    <p:set>
                                      <p:cBhvr>
                                        <p:cTn id="53" dur="1" fill="hold">
                                          <p:stCondLst>
                                            <p:cond delay="0"/>
                                          </p:stCondLst>
                                        </p:cTn>
                                        <p:tgtEl>
                                          <p:spTgt spid="8239"/>
                                        </p:tgtEl>
                                        <p:attrNameLst>
                                          <p:attrName>style.visibility</p:attrName>
                                        </p:attrNameLst>
                                      </p:cBhvr>
                                      <p:to>
                                        <p:strVal val="visible"/>
                                      </p:to>
                                    </p:set>
                                    <p:animEffect transition="in" filter="wipe(left)">
                                      <p:cBhvr>
                                        <p:cTn id="54" dur="500"/>
                                        <p:tgtEl>
                                          <p:spTgt spid="8239"/>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8194"/>
                                        </p:tgtEl>
                                        <p:attrNameLst>
                                          <p:attrName>style.visibility</p:attrName>
                                        </p:attrNameLst>
                                      </p:cBhvr>
                                      <p:to>
                                        <p:strVal val="visible"/>
                                      </p:to>
                                    </p:set>
                                    <p:animEffect transition="in" filter="fade">
                                      <p:cBhvr>
                                        <p:cTn id="57" dur="500"/>
                                        <p:tgtEl>
                                          <p:spTgt spid="81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4" grpId="0" animBg="1"/>
      <p:bldP spid="8228" grpId="0" animBg="1"/>
      <p:bldP spid="8229" grpId="0" animBg="1"/>
      <p:bldP spid="8230" grpId="0" animBg="1"/>
      <p:bldP spid="8231" grpId="0" animBg="1"/>
      <p:bldP spid="8232" grpId="0" animBg="1"/>
      <p:bldP spid="8233" grpId="0" animBg="1"/>
      <p:bldP spid="8234" grpId="0" animBg="1"/>
      <p:bldP spid="8235" grpId="0" animBg="1"/>
      <p:bldP spid="8236" grpId="0" animBg="1"/>
      <p:bldP spid="8237" grpId="0" animBg="1"/>
      <p:bldP spid="8242" grpId="0" animBg="1"/>
    </p:bldLst>
  </p:timing>
</p:sld>
</file>

<file path=ppt/theme/theme1.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44185029</TotalTime>
  <Pages>0</Pages>
  <Words>6774</Words>
  <Characters>0</Characters>
  <Application>Microsoft Office PowerPoint</Application>
  <DocSecurity>0</DocSecurity>
  <PresentationFormat>全屏显示(4:3)</PresentationFormat>
  <Lines>0</Lines>
  <Paragraphs>963</Paragraphs>
  <Slides>56</Slides>
  <Notes>50</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56</vt:i4>
      </vt:variant>
    </vt:vector>
  </HeadingPairs>
  <TitlesOfParts>
    <vt:vector size="58" baseType="lpstr">
      <vt:lpstr>默认设计模板</vt:lpstr>
      <vt:lpstr>包装程序外壳对象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王标</cp:lastModifiedBy>
  <cp:revision>1602</cp:revision>
  <dcterms:created xsi:type="dcterms:W3CDTF">2015-01-11T02:38:55Z</dcterms:created>
  <dcterms:modified xsi:type="dcterms:W3CDTF">2017-10-23T06:09:06Z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2052-9.1.0.4994</vt:lpwstr>
  </property>
</Properties>
</file>